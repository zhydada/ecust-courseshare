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emf" ContentType="image/x-emf"/>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3"/>
  </p:notesMasterIdLst>
  <p:sldIdLst>
    <p:sldId id="256" r:id="rId2"/>
    <p:sldId id="652" r:id="rId3"/>
    <p:sldId id="439" r:id="rId4"/>
    <p:sldId id="468" r:id="rId5"/>
    <p:sldId id="310" r:id="rId6"/>
    <p:sldId id="653" r:id="rId7"/>
    <p:sldId id="322" r:id="rId8"/>
    <p:sldId id="323" r:id="rId9"/>
    <p:sldId id="324" r:id="rId10"/>
    <p:sldId id="325" r:id="rId11"/>
    <p:sldId id="326" r:id="rId12"/>
    <p:sldId id="655" r:id="rId13"/>
    <p:sldId id="656" r:id="rId14"/>
    <p:sldId id="657" r:id="rId15"/>
    <p:sldId id="658" r:id="rId16"/>
    <p:sldId id="659" r:id="rId17"/>
    <p:sldId id="660" r:id="rId18"/>
    <p:sldId id="661" r:id="rId19"/>
    <p:sldId id="662" r:id="rId20"/>
    <p:sldId id="663" r:id="rId21"/>
    <p:sldId id="664" r:id="rId22"/>
    <p:sldId id="665" r:id="rId23"/>
    <p:sldId id="738" r:id="rId24"/>
    <p:sldId id="739" r:id="rId25"/>
    <p:sldId id="740" r:id="rId26"/>
    <p:sldId id="728" r:id="rId27"/>
    <p:sldId id="729" r:id="rId28"/>
    <p:sldId id="730" r:id="rId29"/>
    <p:sldId id="731" r:id="rId30"/>
    <p:sldId id="732" r:id="rId31"/>
    <p:sldId id="733" r:id="rId32"/>
    <p:sldId id="734" r:id="rId33"/>
    <p:sldId id="735" r:id="rId34"/>
    <p:sldId id="736" r:id="rId35"/>
    <p:sldId id="737" r:id="rId36"/>
    <p:sldId id="331" r:id="rId37"/>
    <p:sldId id="666" r:id="rId38"/>
    <p:sldId id="667" r:id="rId39"/>
    <p:sldId id="668" r:id="rId40"/>
    <p:sldId id="741" r:id="rId41"/>
    <p:sldId id="742" r:id="rId42"/>
    <p:sldId id="743" r:id="rId43"/>
    <p:sldId id="744" r:id="rId44"/>
    <p:sldId id="745" r:id="rId45"/>
    <p:sldId id="746" r:id="rId46"/>
    <p:sldId id="678" r:id="rId47"/>
    <p:sldId id="679" r:id="rId48"/>
    <p:sldId id="680" r:id="rId49"/>
    <p:sldId id="681" r:id="rId50"/>
    <p:sldId id="682" r:id="rId51"/>
    <p:sldId id="683" r:id="rId52"/>
    <p:sldId id="684" r:id="rId53"/>
    <p:sldId id="685" r:id="rId54"/>
    <p:sldId id="686" r:id="rId55"/>
    <p:sldId id="687" r:id="rId56"/>
    <p:sldId id="688" r:id="rId57"/>
    <p:sldId id="689" r:id="rId58"/>
    <p:sldId id="690" r:id="rId59"/>
    <p:sldId id="691" r:id="rId60"/>
    <p:sldId id="692" r:id="rId61"/>
    <p:sldId id="693" r:id="rId62"/>
    <p:sldId id="694" r:id="rId63"/>
    <p:sldId id="695" r:id="rId64"/>
    <p:sldId id="696" r:id="rId65"/>
    <p:sldId id="697" r:id="rId66"/>
    <p:sldId id="698" r:id="rId67"/>
    <p:sldId id="713" r:id="rId68"/>
    <p:sldId id="714" r:id="rId69"/>
    <p:sldId id="715" r:id="rId70"/>
    <p:sldId id="716" r:id="rId71"/>
    <p:sldId id="718" r:id="rId72"/>
    <p:sldId id="719" r:id="rId73"/>
    <p:sldId id="720" r:id="rId74"/>
    <p:sldId id="700" r:id="rId75"/>
    <p:sldId id="721" r:id="rId76"/>
    <p:sldId id="722" r:id="rId77"/>
    <p:sldId id="723" r:id="rId78"/>
    <p:sldId id="724" r:id="rId79"/>
    <p:sldId id="725" r:id="rId80"/>
    <p:sldId id="726" r:id="rId81"/>
    <p:sldId id="727" r:id="rId8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1.wmf"/><Relationship Id="rId13" Type="http://schemas.openxmlformats.org/officeDocument/2006/relationships/image" Target="../media/image16.wmf"/><Relationship Id="rId18" Type="http://schemas.openxmlformats.org/officeDocument/2006/relationships/image" Target="../media/image21.wmf"/><Relationship Id="rId3" Type="http://schemas.openxmlformats.org/officeDocument/2006/relationships/image" Target="../media/image6.wmf"/><Relationship Id="rId21" Type="http://schemas.openxmlformats.org/officeDocument/2006/relationships/image" Target="../media/image24.wmf"/><Relationship Id="rId7" Type="http://schemas.openxmlformats.org/officeDocument/2006/relationships/image" Target="../media/image10.wmf"/><Relationship Id="rId12" Type="http://schemas.openxmlformats.org/officeDocument/2006/relationships/image" Target="../media/image15.wmf"/><Relationship Id="rId17" Type="http://schemas.openxmlformats.org/officeDocument/2006/relationships/image" Target="../media/image20.wmf"/><Relationship Id="rId2" Type="http://schemas.openxmlformats.org/officeDocument/2006/relationships/image" Target="../media/image5.wmf"/><Relationship Id="rId16" Type="http://schemas.openxmlformats.org/officeDocument/2006/relationships/image" Target="../media/image19.wmf"/><Relationship Id="rId20" Type="http://schemas.openxmlformats.org/officeDocument/2006/relationships/image" Target="../media/image23.wmf"/><Relationship Id="rId1" Type="http://schemas.openxmlformats.org/officeDocument/2006/relationships/image" Target="../media/image4.png"/><Relationship Id="rId6" Type="http://schemas.openxmlformats.org/officeDocument/2006/relationships/image" Target="../media/image9.wmf"/><Relationship Id="rId11" Type="http://schemas.openxmlformats.org/officeDocument/2006/relationships/image" Target="../media/image14.wmf"/><Relationship Id="rId24" Type="http://schemas.openxmlformats.org/officeDocument/2006/relationships/image" Target="../media/image27.wmf"/><Relationship Id="rId5" Type="http://schemas.openxmlformats.org/officeDocument/2006/relationships/image" Target="../media/image8.wmf"/><Relationship Id="rId15" Type="http://schemas.openxmlformats.org/officeDocument/2006/relationships/image" Target="../media/image18.wmf"/><Relationship Id="rId23" Type="http://schemas.openxmlformats.org/officeDocument/2006/relationships/image" Target="../media/image26.wmf"/><Relationship Id="rId10" Type="http://schemas.openxmlformats.org/officeDocument/2006/relationships/image" Target="../media/image13.wmf"/><Relationship Id="rId19" Type="http://schemas.openxmlformats.org/officeDocument/2006/relationships/image" Target="../media/image22.wmf"/><Relationship Id="rId4" Type="http://schemas.openxmlformats.org/officeDocument/2006/relationships/image" Target="../media/image7.wmf"/><Relationship Id="rId9" Type="http://schemas.openxmlformats.org/officeDocument/2006/relationships/image" Target="../media/image12.wmf"/><Relationship Id="rId14" Type="http://schemas.openxmlformats.org/officeDocument/2006/relationships/image" Target="../media/image17.wmf"/><Relationship Id="rId22"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4"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49.wmf"/><Relationship Id="rId7" Type="http://schemas.openxmlformats.org/officeDocument/2006/relationships/image" Target="../media/image53.wmf"/><Relationship Id="rId2" Type="http://schemas.openxmlformats.org/officeDocument/2006/relationships/image" Target="../media/image48.wmf"/><Relationship Id="rId1" Type="http://schemas.openxmlformats.org/officeDocument/2006/relationships/image" Target="../media/image47.wmf"/><Relationship Id="rId6" Type="http://schemas.openxmlformats.org/officeDocument/2006/relationships/image" Target="../media/image52.wmf"/><Relationship Id="rId5" Type="http://schemas.openxmlformats.org/officeDocument/2006/relationships/image" Target="../media/image51.wmf"/><Relationship Id="rId10" Type="http://schemas.openxmlformats.org/officeDocument/2006/relationships/image" Target="../media/image56.wmf"/><Relationship Id="rId4" Type="http://schemas.openxmlformats.org/officeDocument/2006/relationships/image" Target="../media/image50.wmf"/><Relationship Id="rId9" Type="http://schemas.openxmlformats.org/officeDocument/2006/relationships/image" Target="../media/image55.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8.wmf"/><Relationship Id="rId1" Type="http://schemas.openxmlformats.org/officeDocument/2006/relationships/image" Target="../media/image6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8.wmf"/><Relationship Id="rId1" Type="http://schemas.openxmlformats.org/officeDocument/2006/relationships/image" Target="../media/image7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6" Type="http://schemas.openxmlformats.org/officeDocument/2006/relationships/image" Target="../media/image84.wmf"/><Relationship Id="rId5" Type="http://schemas.openxmlformats.org/officeDocument/2006/relationships/image" Target="../media/image83.wmf"/><Relationship Id="rId4" Type="http://schemas.openxmlformats.org/officeDocument/2006/relationships/image" Target="../media/image82.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jpeg"/><Relationship Id="rId1" Type="http://schemas.openxmlformats.org/officeDocument/2006/relationships/image" Target="../media/image9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96.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00.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01.e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11.wmf"/><Relationship Id="rId1" Type="http://schemas.openxmlformats.org/officeDocument/2006/relationships/image" Target="../media/image110.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19.wmf"/><Relationship Id="rId1" Type="http://schemas.openxmlformats.org/officeDocument/2006/relationships/image" Target="../media/image118.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21.png"/></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22.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130.wmf"/><Relationship Id="rId3" Type="http://schemas.openxmlformats.org/officeDocument/2006/relationships/image" Target="../media/image125.wmf"/><Relationship Id="rId7" Type="http://schemas.openxmlformats.org/officeDocument/2006/relationships/image" Target="../media/image129.wmf"/><Relationship Id="rId12" Type="http://schemas.openxmlformats.org/officeDocument/2006/relationships/image" Target="../media/image134.wmf"/><Relationship Id="rId2" Type="http://schemas.openxmlformats.org/officeDocument/2006/relationships/image" Target="../media/image124.wmf"/><Relationship Id="rId1" Type="http://schemas.openxmlformats.org/officeDocument/2006/relationships/image" Target="../media/image123.wmf"/><Relationship Id="rId6" Type="http://schemas.openxmlformats.org/officeDocument/2006/relationships/image" Target="../media/image128.wmf"/><Relationship Id="rId11" Type="http://schemas.openxmlformats.org/officeDocument/2006/relationships/image" Target="../media/image133.wmf"/><Relationship Id="rId5" Type="http://schemas.openxmlformats.org/officeDocument/2006/relationships/image" Target="../media/image127.wmf"/><Relationship Id="rId10" Type="http://schemas.openxmlformats.org/officeDocument/2006/relationships/image" Target="../media/image132.wmf"/><Relationship Id="rId4" Type="http://schemas.openxmlformats.org/officeDocument/2006/relationships/image" Target="../media/image126.wmf"/><Relationship Id="rId9" Type="http://schemas.openxmlformats.org/officeDocument/2006/relationships/image" Target="../media/image131.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35.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 Id="rId4" Type="http://schemas.openxmlformats.org/officeDocument/2006/relationships/image" Target="../media/image139.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141.wmf"/><Relationship Id="rId1" Type="http://schemas.openxmlformats.org/officeDocument/2006/relationships/image" Target="../media/image140.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BBC842-CF19-4115-B259-066F9C6E2807}" type="datetimeFigureOut">
              <a:rPr lang="zh-CN" altLang="en-US" smtClean="0"/>
              <a:t>2026/6/4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2C2C7A-9419-4705-94ED-5F70E720244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p:txBody>
          <a:bodyPr/>
          <a:lstStyle/>
          <a:p>
            <a:fld id="{381CBBA2-FA37-493D-B642-71446D106A26}" type="slidenum">
              <a:rPr lang="en-US" altLang="zh-CN"/>
              <a:t>23</a:t>
            </a:fld>
            <a:endParaRPr lang="en-US" altLang="zh-CN"/>
          </a:p>
        </p:txBody>
      </p:sp>
      <p:sp>
        <p:nvSpPr>
          <p:cNvPr id="402434" name="Rectangle 2"/>
          <p:cNvSpPr>
            <a:spLocks noGrp="1" noRot="1" noChangeAspect="1" noChangeArrowheads="1" noTextEdit="1"/>
          </p:cNvSpPr>
          <p:nvPr>
            <p:ph type="sldImg"/>
          </p:nvPr>
        </p:nvSpPr>
        <p:spPr/>
      </p:sp>
      <p:sp>
        <p:nvSpPr>
          <p:cNvPr id="402435" name="Rectangle 3"/>
          <p:cNvSpPr>
            <a:spLocks noGrp="1" noChangeArrowheads="1"/>
          </p:cNvSpPr>
          <p:nvPr>
            <p:ph type="body" idx="1"/>
          </p:nvPr>
        </p:nvSpPr>
        <p:spPr/>
        <p:txBody>
          <a:bodyPr/>
          <a:lstStyle/>
          <a:p>
            <a:r>
              <a:rPr lang="zh-CN" altLang="en-US"/>
              <a:t>等效电路由三个基本元件构成</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TextEdit="1"/>
          </p:cNvSpPr>
          <p:nvPr>
            <p:ph type="sldImg"/>
          </p:nvPr>
        </p:nvSpPr>
        <p:spPr/>
      </p:sp>
      <p:sp>
        <p:nvSpPr>
          <p:cNvPr id="192515" name="Rectangle 3"/>
          <p:cNvSpPr>
            <a:spLocks noGrp="1"/>
          </p:cNvSpPr>
          <p:nvPr>
            <p:ph type="body"/>
          </p:nvPr>
        </p:nvSpPr>
        <p:spPr/>
        <p:txBody>
          <a:bodyPr wrap="square" lIns="91440" tIns="45720" rIns="91440" bIns="45720" anchor="t" anchorCtr="0"/>
          <a:lstStyle/>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Rot="1" noChangeAspect="1" noTextEdit="1"/>
          </p:cNvSpPr>
          <p:nvPr>
            <p:ph type="sldImg"/>
          </p:nvPr>
        </p:nvSpPr>
        <p:spPr/>
      </p:sp>
      <p:sp>
        <p:nvSpPr>
          <p:cNvPr id="194563" name="Rectangle 3"/>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    当输入包含奇数个“</a:t>
            </a:r>
            <a:r>
              <a:rPr lang="en-US" altLang="zh-CN" dirty="0">
                <a:ea typeface="宋体" panose="02010600030101010101" pitchFamily="2" charset="-122"/>
              </a:rPr>
              <a:t>1”</a:t>
            </a:r>
            <a:r>
              <a:rPr lang="zh-CN" altLang="en-US" dirty="0">
                <a:ea typeface="宋体" panose="02010600030101010101" pitchFamily="2" charset="-122"/>
              </a:rPr>
              <a:t>时，</a:t>
            </a:r>
            <a:r>
              <a:rPr lang="en-US" altLang="zh-CN" dirty="0">
                <a:ea typeface="宋体" panose="02010600030101010101" pitchFamily="2" charset="-122"/>
              </a:rPr>
              <a:t>FOD=1</a:t>
            </a:r>
            <a:r>
              <a:rPr lang="zh-CN" altLang="en-US" dirty="0">
                <a:ea typeface="宋体" panose="02010600030101010101" pitchFamily="2" charset="-122"/>
              </a:rPr>
              <a:t>，</a:t>
            </a:r>
            <a:r>
              <a:rPr lang="en-US" altLang="zh-CN" dirty="0">
                <a:ea typeface="宋体" panose="02010600030101010101" pitchFamily="2" charset="-122"/>
              </a:rPr>
              <a:t>FEV=0</a:t>
            </a:r>
            <a:r>
              <a:rPr lang="zh-CN" altLang="en-US" dirty="0">
                <a:ea typeface="宋体" panose="02010600030101010101" pitchFamily="2" charset="-122"/>
              </a:rPr>
              <a:t>；当输入包含偶数个“</a:t>
            </a:r>
            <a:r>
              <a:rPr lang="en-US" altLang="zh-CN" dirty="0">
                <a:ea typeface="宋体" panose="02010600030101010101" pitchFamily="2" charset="-122"/>
              </a:rPr>
              <a:t>1”</a:t>
            </a:r>
            <a:r>
              <a:rPr lang="zh-CN" altLang="en-US" dirty="0">
                <a:ea typeface="宋体" panose="02010600030101010101" pitchFamily="2" charset="-122"/>
              </a:rPr>
              <a:t>时，</a:t>
            </a:r>
            <a:r>
              <a:rPr lang="en-US" altLang="zh-CN" dirty="0">
                <a:ea typeface="宋体" panose="02010600030101010101" pitchFamily="2" charset="-122"/>
              </a:rPr>
              <a:t>FOD=0</a:t>
            </a:r>
            <a:r>
              <a:rPr lang="zh-CN" altLang="en-US" dirty="0">
                <a:ea typeface="宋体" panose="02010600030101010101" pitchFamily="2" charset="-122"/>
              </a:rPr>
              <a:t>，</a:t>
            </a:r>
            <a:r>
              <a:rPr lang="en-US" altLang="zh-CN" dirty="0">
                <a:ea typeface="宋体" panose="02010600030101010101" pitchFamily="2" charset="-122"/>
              </a:rPr>
              <a:t>FEV=1</a:t>
            </a:r>
            <a:r>
              <a:rPr lang="zh-CN" altLang="en-US" dirty="0">
                <a:ea typeface="宋体" panose="02010600030101010101" pitchFamily="2" charset="-122"/>
              </a:rPr>
              <a:t>。显然，</a:t>
            </a:r>
            <a:r>
              <a:rPr lang="zh-CN" altLang="en-US" dirty="0">
                <a:solidFill>
                  <a:srgbClr val="CC3300"/>
                </a:solidFill>
                <a:ea typeface="楷体_GB2312" pitchFamily="49" charset="-122"/>
              </a:rPr>
              <a:t>判奇输出端与判偶输出端互非。</a:t>
            </a:r>
          </a:p>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noRot="1" noChangeAspect="1" noTextEdit="1"/>
          </p:cNvSpPr>
          <p:nvPr>
            <p:ph type="sldImg"/>
          </p:nvPr>
        </p:nvSpPr>
        <p:spPr/>
      </p:sp>
      <p:sp>
        <p:nvSpPr>
          <p:cNvPr id="196611" name="Rectangle 3"/>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根据“</a:t>
            </a:r>
            <a:r>
              <a:rPr lang="zh-CN" altLang="en-US" dirty="0">
                <a:solidFill>
                  <a:srgbClr val="FF0000"/>
                </a:solidFill>
                <a:ea typeface="宋体" panose="02010600030101010101" pitchFamily="2" charset="-122"/>
              </a:rPr>
              <a:t>模</a:t>
            </a:r>
            <a:r>
              <a:rPr lang="en-US" altLang="zh-CN" dirty="0">
                <a:solidFill>
                  <a:srgbClr val="FF0000"/>
                </a:solidFill>
                <a:ea typeface="宋体" panose="02010600030101010101" pitchFamily="2" charset="-122"/>
              </a:rPr>
              <a:t>2</a:t>
            </a:r>
            <a:r>
              <a:rPr lang="zh-CN" altLang="en-US" dirty="0">
                <a:solidFill>
                  <a:srgbClr val="FF0000"/>
                </a:solidFill>
                <a:ea typeface="宋体" panose="02010600030101010101" pitchFamily="2" charset="-122"/>
              </a:rPr>
              <a:t>加</a:t>
            </a:r>
            <a:r>
              <a:rPr lang="zh-CN" altLang="en-US" dirty="0">
                <a:ea typeface="宋体" panose="02010600030101010101" pitchFamily="2" charset="-122"/>
              </a:rPr>
              <a:t>”运算的性质，可以由</a:t>
            </a:r>
            <a:r>
              <a:rPr lang="en-US" altLang="zh-CN" dirty="0">
                <a:ea typeface="宋体" panose="02010600030101010101" pitchFamily="2" charset="-122"/>
              </a:rPr>
              <a:t>n</a:t>
            </a:r>
            <a:r>
              <a:rPr lang="zh-CN" altLang="en-US" dirty="0">
                <a:ea typeface="宋体" panose="02010600030101010101" pitchFamily="2" charset="-122"/>
              </a:rPr>
              <a:t>个</a:t>
            </a:r>
            <a:r>
              <a:rPr lang="zh-CN" altLang="en-US" dirty="0">
                <a:ea typeface="楷体_GB2312" pitchFamily="49" charset="-122"/>
              </a:rPr>
              <a:t>（</a:t>
            </a:r>
            <a:r>
              <a:rPr lang="en-US" altLang="zh-CN" dirty="0">
                <a:ea typeface="楷体_GB2312" pitchFamily="49" charset="-122"/>
              </a:rPr>
              <a:t>1</a:t>
            </a:r>
            <a:r>
              <a:rPr lang="zh-CN" altLang="en-US" dirty="0">
                <a:ea typeface="楷体_GB2312" pitchFamily="49" charset="-122"/>
              </a:rPr>
              <a:t>位）二进制</a:t>
            </a:r>
            <a:r>
              <a:rPr lang="zh-CN" altLang="en-US" dirty="0">
                <a:ea typeface="宋体" panose="02010600030101010101" pitchFamily="2" charset="-122"/>
              </a:rPr>
              <a:t>数相加的和为</a:t>
            </a:r>
            <a:r>
              <a:rPr lang="en-US" altLang="zh-CN" dirty="0">
                <a:ea typeface="宋体" panose="02010600030101010101" pitchFamily="2" charset="-122"/>
              </a:rPr>
              <a:t>1</a:t>
            </a:r>
            <a:r>
              <a:rPr lang="zh-CN" altLang="en-US" dirty="0">
                <a:ea typeface="宋体" panose="02010600030101010101" pitchFamily="2" charset="-122"/>
              </a:rPr>
              <a:t>或</a:t>
            </a:r>
            <a:r>
              <a:rPr lang="en-US" altLang="zh-CN" dirty="0">
                <a:ea typeface="宋体" panose="02010600030101010101" pitchFamily="2" charset="-122"/>
              </a:rPr>
              <a:t>0</a:t>
            </a:r>
            <a:r>
              <a:rPr lang="zh-CN" altLang="en-US" dirty="0">
                <a:ea typeface="宋体" panose="02010600030101010101" pitchFamily="2" charset="-122"/>
              </a:rPr>
              <a:t>判断输入有</a:t>
            </a:r>
            <a:r>
              <a:rPr lang="zh-CN" altLang="en-US" dirty="0">
                <a:solidFill>
                  <a:srgbClr val="CC0066"/>
                </a:solidFill>
                <a:ea typeface="宋体" panose="02010600030101010101" pitchFamily="2" charset="-122"/>
              </a:rPr>
              <a:t>奇数个“</a:t>
            </a:r>
            <a:r>
              <a:rPr lang="en-US" altLang="zh-CN" dirty="0">
                <a:solidFill>
                  <a:srgbClr val="CC0066"/>
                </a:solidFill>
                <a:ea typeface="宋体" panose="02010600030101010101" pitchFamily="2" charset="-122"/>
              </a:rPr>
              <a:t>1”</a:t>
            </a:r>
            <a:r>
              <a:rPr lang="zh-CN" altLang="en-US" dirty="0">
                <a:ea typeface="宋体" panose="02010600030101010101" pitchFamily="2" charset="-122"/>
              </a:rPr>
              <a:t>还是有偶数个“</a:t>
            </a:r>
            <a:r>
              <a:rPr lang="en-US" altLang="zh-CN" dirty="0">
                <a:ea typeface="宋体" panose="02010600030101010101" pitchFamily="2" charset="-122"/>
              </a:rPr>
              <a:t>1”</a:t>
            </a:r>
            <a:r>
              <a:rPr lang="zh-CN" altLang="en-US" dirty="0">
                <a:ea typeface="宋体" panose="02010600030101010101" pitchFamily="2" charset="-122"/>
              </a:rP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Rot="1" noChangeAspect="1" noTextEdit="1"/>
          </p:cNvSpPr>
          <p:nvPr>
            <p:ph type="sldImg"/>
          </p:nvPr>
        </p:nvSpPr>
        <p:spPr/>
      </p:sp>
      <p:sp>
        <p:nvSpPr>
          <p:cNvPr id="198659" name="Rectangle 3"/>
          <p:cNvSpPr>
            <a:spLocks noGrp="1"/>
          </p:cNvSpPr>
          <p:nvPr>
            <p:ph type="body"/>
          </p:nvPr>
        </p:nvSpPr>
        <p:spPr/>
        <p:txBody>
          <a:bodyPr wrap="square" lIns="91440" tIns="45720" rIns="91440" bIns="45720" anchor="t" anchorCtr="0"/>
          <a:lstStyle/>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Rot="1" noChangeAspect="1" noTextEdit="1"/>
          </p:cNvSpPr>
          <p:nvPr>
            <p:ph type="sldImg"/>
          </p:nvPr>
        </p:nvSpPr>
        <p:spPr/>
      </p:sp>
      <p:sp>
        <p:nvSpPr>
          <p:cNvPr id="200707" name="Rectangle 3"/>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    奇偶校验器不仅有判断输入数据中为</a:t>
            </a:r>
            <a:r>
              <a:rPr lang="en-US" altLang="zh-CN" dirty="0">
                <a:ea typeface="宋体" panose="02010600030101010101" pitchFamily="2" charset="-122"/>
              </a:rPr>
              <a:t>1</a:t>
            </a:r>
            <a:r>
              <a:rPr lang="zh-CN" altLang="en-US" dirty="0">
                <a:ea typeface="宋体" panose="02010600030101010101" pitchFamily="2" charset="-122"/>
              </a:rPr>
              <a:t>的个数为偶数或奇数的功能，还有奇偶产生的功能，通常称为奇偶校验器</a:t>
            </a:r>
            <a:r>
              <a:rPr lang="en-US" altLang="zh-CN" dirty="0">
                <a:ea typeface="宋体" panose="02010600030101010101" pitchFamily="2" charset="-122"/>
              </a:rPr>
              <a:t>/</a:t>
            </a:r>
            <a:r>
              <a:rPr lang="zh-CN" altLang="en-US" dirty="0">
                <a:ea typeface="宋体" panose="02010600030101010101" pitchFamily="2" charset="-122"/>
              </a:rPr>
              <a:t>产生器。</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Rot="1" noChangeAspect="1" noTextEdit="1"/>
          </p:cNvSpPr>
          <p:nvPr>
            <p:ph type="sldImg"/>
          </p:nvPr>
        </p:nvSpPr>
        <p:spPr/>
      </p:sp>
      <p:sp>
        <p:nvSpPr>
          <p:cNvPr id="202755" name="Rectangle 3"/>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    一个简单的</a:t>
            </a:r>
            <a:r>
              <a:rPr lang="zh-CN" altLang="en-US" dirty="0">
                <a:solidFill>
                  <a:srgbClr val="FFCC00"/>
                </a:solidFill>
                <a:ea typeface="黑体" panose="02010609060101010101" pitchFamily="49" charset="-122"/>
              </a:rPr>
              <a:t>奇偶校验系统</a:t>
            </a:r>
            <a:r>
              <a:rPr lang="zh-CN" altLang="en-US" dirty="0">
                <a:ea typeface="宋体" panose="02010600030101010101" pitchFamily="2" charset="-122"/>
              </a:rPr>
              <a:t>利用两片</a:t>
            </a:r>
            <a:r>
              <a:rPr lang="en-US" altLang="zh-CN" dirty="0">
                <a:ea typeface="宋体" panose="02010600030101010101" pitchFamily="2" charset="-122"/>
              </a:rPr>
              <a:t>8</a:t>
            </a:r>
            <a:r>
              <a:rPr lang="zh-CN" altLang="en-US" dirty="0">
                <a:ea typeface="宋体" panose="02010600030101010101" pitchFamily="2" charset="-122"/>
              </a:rPr>
              <a:t>位</a:t>
            </a:r>
            <a:r>
              <a:rPr lang="zh-CN" altLang="en-US" dirty="0">
                <a:solidFill>
                  <a:srgbClr val="990000"/>
                </a:solidFill>
                <a:ea typeface="华文新魏" panose="02010800040101010101" pitchFamily="2" charset="-122"/>
              </a:rPr>
              <a:t>奇偶校验器</a:t>
            </a:r>
            <a:r>
              <a:rPr lang="en-US" altLang="zh-CN" dirty="0">
                <a:solidFill>
                  <a:srgbClr val="990000"/>
                </a:solidFill>
                <a:ea typeface="华文新魏" panose="02010800040101010101" pitchFamily="2" charset="-122"/>
              </a:rPr>
              <a:t>/</a:t>
            </a:r>
            <a:r>
              <a:rPr lang="zh-CN" altLang="en-US" dirty="0">
                <a:solidFill>
                  <a:srgbClr val="990000"/>
                </a:solidFill>
                <a:ea typeface="华文新魏" panose="02010800040101010101" pitchFamily="2" charset="-122"/>
              </a:rPr>
              <a:t>产生器检测</a:t>
            </a:r>
            <a:r>
              <a:rPr lang="en-US" altLang="zh-CN" dirty="0">
                <a:solidFill>
                  <a:srgbClr val="990000"/>
                </a:solidFill>
                <a:ea typeface="华文新魏" panose="02010800040101010101" pitchFamily="2" charset="-122"/>
              </a:rPr>
              <a:t>8</a:t>
            </a:r>
            <a:r>
              <a:rPr lang="zh-CN" altLang="en-US" dirty="0">
                <a:solidFill>
                  <a:srgbClr val="990000"/>
                </a:solidFill>
                <a:ea typeface="华文新魏" panose="02010800040101010101" pitchFamily="2" charset="-122"/>
              </a:rPr>
              <a:t>位数据传输是否正确。</a:t>
            </a:r>
            <a:endParaRPr lang="en-US" altLang="zh-CN" dirty="0">
              <a:solidFill>
                <a:srgbClr val="990000"/>
              </a:solidFill>
              <a:ea typeface="华文新魏" panose="02010800040101010101" pitchFamily="2" charset="-122"/>
            </a:endParaRPr>
          </a:p>
          <a:p>
            <a:pPr lvl="0"/>
            <a:r>
              <a:rPr lang="zh-CN" altLang="en-US" dirty="0">
                <a:ea typeface="宋体" panose="02010600030101010101" pitchFamily="2" charset="-122"/>
              </a:rPr>
              <a:t>    在发送端利用奇产生器使由</a:t>
            </a:r>
            <a:r>
              <a:rPr lang="en-US" altLang="zh-CN" dirty="0">
                <a:ea typeface="宋体" panose="02010600030101010101" pitchFamily="2" charset="-122"/>
              </a:rPr>
              <a:t>D0~D7</a:t>
            </a:r>
            <a:r>
              <a:rPr lang="zh-CN" altLang="en-US" dirty="0">
                <a:ea typeface="宋体" panose="02010600030101010101" pitchFamily="2" charset="-122"/>
              </a:rPr>
              <a:t>和</a:t>
            </a:r>
            <a:r>
              <a:rPr lang="en-US" altLang="zh-CN" dirty="0">
                <a:ea typeface="宋体" panose="02010600030101010101" pitchFamily="2" charset="-122"/>
              </a:rPr>
              <a:t>F</a:t>
            </a:r>
            <a:r>
              <a:rPr lang="en-US" altLang="zh-CN" baseline="-25000" dirty="0">
                <a:ea typeface="宋体" panose="02010600030101010101" pitchFamily="2" charset="-122"/>
              </a:rPr>
              <a:t>OD</a:t>
            </a:r>
            <a:r>
              <a:rPr lang="zh-CN" altLang="en-US" dirty="0">
                <a:ea typeface="宋体" panose="02010600030101010101" pitchFamily="2" charset="-122"/>
              </a:rPr>
              <a:t>组成的</a:t>
            </a:r>
            <a:r>
              <a:rPr lang="en-US" altLang="zh-CN" dirty="0">
                <a:ea typeface="宋体" panose="02010600030101010101" pitchFamily="2" charset="-122"/>
              </a:rPr>
              <a:t>9</a:t>
            </a:r>
            <a:r>
              <a:rPr lang="zh-CN" altLang="en-US" dirty="0">
                <a:ea typeface="宋体" panose="02010600030101010101" pitchFamily="2" charset="-122"/>
              </a:rPr>
              <a:t>位数据中</a:t>
            </a:r>
            <a:r>
              <a:rPr lang="en-US" altLang="zh-CN" dirty="0">
                <a:ea typeface="宋体" panose="02010600030101010101" pitchFamily="2" charset="-122"/>
              </a:rPr>
              <a:t>1</a:t>
            </a:r>
            <a:r>
              <a:rPr lang="zh-CN" altLang="en-US" dirty="0">
                <a:ea typeface="宋体" panose="02010600030101010101" pitchFamily="2" charset="-122"/>
              </a:rPr>
              <a:t>的个数一定是奇数；然后在接收端利用奇校验器判断是否</a:t>
            </a:r>
            <a:r>
              <a:rPr lang="en-US" altLang="zh-CN" dirty="0">
                <a:ea typeface="宋体" panose="02010600030101010101" pitchFamily="2" charset="-122"/>
              </a:rPr>
              <a:t>F</a:t>
            </a:r>
            <a:r>
              <a:rPr lang="en-US" altLang="zh-CN" baseline="-25000" dirty="0">
                <a:ea typeface="宋体" panose="02010600030101010101" pitchFamily="2" charset="-122"/>
              </a:rPr>
              <a:t>OD</a:t>
            </a:r>
            <a:r>
              <a:rPr lang="en-US" altLang="zh-CN" dirty="0">
                <a:ea typeface="宋体" panose="02010600030101010101" pitchFamily="2" charset="-122"/>
              </a:rPr>
              <a:t>=1</a:t>
            </a:r>
            <a:r>
              <a:rPr lang="zh-CN" altLang="en-US" dirty="0">
                <a:ea typeface="宋体" panose="02010600030101010101" pitchFamily="2" charset="-122"/>
              </a:rPr>
              <a:t>，</a:t>
            </a:r>
            <a:r>
              <a:rPr lang="en-US" altLang="zh-CN" dirty="0">
                <a:ea typeface="宋体" panose="02010600030101010101" pitchFamily="2" charset="-122"/>
              </a:rPr>
              <a:t>F</a:t>
            </a:r>
            <a:r>
              <a:rPr lang="en-US" altLang="zh-CN" baseline="-25000" dirty="0">
                <a:ea typeface="宋体" panose="02010600030101010101" pitchFamily="2" charset="-122"/>
              </a:rPr>
              <a:t>EV</a:t>
            </a:r>
            <a:r>
              <a:rPr lang="en-US" altLang="zh-CN" dirty="0">
                <a:ea typeface="宋体" panose="02010600030101010101" pitchFamily="2" charset="-122"/>
              </a:rPr>
              <a:t>=0</a:t>
            </a:r>
            <a:r>
              <a:rPr lang="zh-CN" altLang="en-US" dirty="0">
                <a:ea typeface="宋体" panose="02010600030101010101" pitchFamily="2" charset="-122"/>
              </a:rPr>
              <a:t>，若是，则数据传输正确，否则数据传输有差错。</a:t>
            </a:r>
          </a:p>
          <a:p>
            <a:pPr lvl="0"/>
            <a:r>
              <a:rPr lang="zh-CN" altLang="en-US" b="1" dirty="0">
                <a:solidFill>
                  <a:srgbClr val="CC6600"/>
                </a:solidFill>
                <a:ea typeface="宋体" panose="02010600030101010101" pitchFamily="2" charset="-122"/>
              </a:rPr>
              <a:t>    奇产生器</a:t>
            </a:r>
            <a:r>
              <a:rPr lang="en-US" altLang="zh-CN" b="1" dirty="0">
                <a:solidFill>
                  <a:srgbClr val="CC6600"/>
                </a:solidFill>
                <a:ea typeface="宋体" panose="02010600030101010101" pitchFamily="2" charset="-122"/>
              </a:rPr>
              <a:t>——</a:t>
            </a:r>
            <a:r>
              <a:rPr lang="zh-CN" altLang="en-US" dirty="0">
                <a:ea typeface="宋体" panose="02010600030101010101" pitchFamily="2" charset="-122"/>
              </a:rPr>
              <a:t>无论</a:t>
            </a:r>
            <a:r>
              <a:rPr lang="en-US" altLang="zh-CN" dirty="0">
                <a:ea typeface="宋体" panose="02010600030101010101" pitchFamily="2" charset="-122"/>
              </a:rPr>
              <a:t>D0~D7</a:t>
            </a:r>
            <a:r>
              <a:rPr lang="zh-CN" altLang="en-US" dirty="0">
                <a:ea typeface="宋体" panose="02010600030101010101" pitchFamily="2" charset="-122"/>
              </a:rPr>
              <a:t>中</a:t>
            </a:r>
            <a:r>
              <a:rPr lang="en-US" altLang="zh-CN" dirty="0">
                <a:ea typeface="宋体" panose="02010600030101010101" pitchFamily="2" charset="-122"/>
              </a:rPr>
              <a:t>1</a:t>
            </a:r>
            <a:r>
              <a:rPr lang="zh-CN" altLang="en-US" dirty="0">
                <a:ea typeface="宋体" panose="02010600030101010101" pitchFamily="2" charset="-122"/>
              </a:rPr>
              <a:t>的个数为偶数还是奇数，加上</a:t>
            </a:r>
            <a:r>
              <a:rPr lang="zh-CN" altLang="en-US" dirty="0">
                <a:ea typeface="宋体" panose="02010600030101010101" pitchFamily="2" charset="-122"/>
                <a:sym typeface="Wingdings" panose="05000000000000000000" pitchFamily="2" charset="2"/>
              </a:rPr>
              <a:t>片</a:t>
            </a:r>
            <a:r>
              <a:rPr lang="zh-CN" altLang="en-US" dirty="0">
                <a:solidFill>
                  <a:srgbClr val="CC6600"/>
                </a:solidFill>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的</a:t>
            </a:r>
            <a:r>
              <a:rPr lang="en-US" altLang="zh-CN" dirty="0">
                <a:ea typeface="宋体" panose="02010600030101010101" pitchFamily="2" charset="-122"/>
              </a:rPr>
              <a:t>F</a:t>
            </a:r>
            <a:r>
              <a:rPr lang="en-US" altLang="zh-CN" baseline="-25000" dirty="0">
                <a:ea typeface="宋体" panose="02010600030101010101" pitchFamily="2" charset="-122"/>
              </a:rPr>
              <a:t>OD</a:t>
            </a:r>
            <a:r>
              <a:rPr lang="zh-CN" altLang="en-US" dirty="0">
                <a:ea typeface="宋体" panose="02010600030101010101" pitchFamily="2" charset="-122"/>
              </a:rPr>
              <a:t>后，组成</a:t>
            </a:r>
            <a:r>
              <a:rPr lang="en-US" altLang="zh-CN" dirty="0">
                <a:ea typeface="宋体" panose="02010600030101010101" pitchFamily="2" charset="-122"/>
              </a:rPr>
              <a:t>9</a:t>
            </a:r>
            <a:r>
              <a:rPr lang="zh-CN" altLang="en-US" dirty="0">
                <a:ea typeface="宋体" panose="02010600030101010101" pitchFamily="2" charset="-122"/>
              </a:rPr>
              <a:t>位数据中</a:t>
            </a:r>
            <a:r>
              <a:rPr lang="en-US" altLang="zh-CN" dirty="0">
                <a:ea typeface="宋体" panose="02010600030101010101" pitchFamily="2" charset="-122"/>
              </a:rPr>
              <a:t>1</a:t>
            </a:r>
            <a:r>
              <a:rPr lang="zh-CN" altLang="en-US" dirty="0">
                <a:ea typeface="宋体" panose="02010600030101010101" pitchFamily="2" charset="-122"/>
              </a:rPr>
              <a:t>的个数一定是</a:t>
            </a:r>
            <a:r>
              <a:rPr lang="zh-CN" altLang="en-US" dirty="0">
                <a:solidFill>
                  <a:srgbClr val="CC0066"/>
                </a:solidFill>
                <a:ea typeface="宋体" panose="02010600030101010101" pitchFamily="2" charset="-122"/>
              </a:rPr>
              <a:t>奇数。</a:t>
            </a:r>
          </a:p>
          <a:p>
            <a:pPr lvl="0"/>
            <a:r>
              <a:rPr lang="zh-CN" altLang="en-US" b="1" dirty="0">
                <a:solidFill>
                  <a:srgbClr val="CC6600"/>
                </a:solidFill>
                <a:ea typeface="宋体" panose="02010600030101010101" pitchFamily="2" charset="-122"/>
              </a:rPr>
              <a:t>    奇校验器</a:t>
            </a:r>
            <a:r>
              <a:rPr lang="en-US" altLang="zh-CN" dirty="0">
                <a:solidFill>
                  <a:srgbClr val="CC6600"/>
                </a:solidFill>
                <a:ea typeface="宋体" panose="02010600030101010101" pitchFamily="2" charset="-122"/>
              </a:rPr>
              <a:t>——</a:t>
            </a:r>
            <a:r>
              <a:rPr lang="zh-CN" altLang="en-US" dirty="0">
                <a:solidFill>
                  <a:srgbClr val="CC6600"/>
                </a:solidFill>
                <a:ea typeface="宋体" panose="02010600030101010101" pitchFamily="2" charset="-122"/>
              </a:rPr>
              <a:t>若</a:t>
            </a:r>
            <a:r>
              <a:rPr lang="zh-CN" altLang="en-US" dirty="0">
                <a:ea typeface="宋体" panose="02010600030101010101" pitchFamily="2" charset="-122"/>
              </a:rPr>
              <a:t>片</a:t>
            </a:r>
            <a:r>
              <a:rPr lang="zh-CN" altLang="en-US" dirty="0">
                <a:solidFill>
                  <a:srgbClr val="CC6600"/>
                </a:solidFill>
                <a:ea typeface="宋体" panose="02010600030101010101" pitchFamily="2" charset="-122"/>
                <a:sym typeface="Wingdings" panose="05000000000000000000" pitchFamily="2" charset="2"/>
              </a:rPr>
              <a:t></a:t>
            </a:r>
            <a:r>
              <a:rPr lang="zh-CN" altLang="en-US" dirty="0">
                <a:solidFill>
                  <a:srgbClr val="CC6600"/>
                </a:solidFill>
                <a:ea typeface="宋体" panose="02010600030101010101" pitchFamily="2" charset="-122"/>
              </a:rPr>
              <a:t> </a:t>
            </a:r>
            <a:r>
              <a:rPr lang="zh-CN" altLang="en-US" dirty="0">
                <a:ea typeface="宋体" panose="02010600030101010101" pitchFamily="2" charset="-122"/>
              </a:rPr>
              <a:t>的</a:t>
            </a:r>
            <a:r>
              <a:rPr lang="en-US" altLang="zh-CN" dirty="0">
                <a:solidFill>
                  <a:srgbClr val="CC0066"/>
                </a:solidFill>
                <a:ea typeface="宋体" panose="02010600030101010101" pitchFamily="2" charset="-122"/>
              </a:rPr>
              <a:t>F</a:t>
            </a:r>
            <a:r>
              <a:rPr lang="en-US" altLang="zh-CN" baseline="-25000" dirty="0">
                <a:ea typeface="宋体" panose="02010600030101010101" pitchFamily="2" charset="-122"/>
              </a:rPr>
              <a:t>OD</a:t>
            </a:r>
            <a:r>
              <a:rPr lang="en-US" altLang="zh-CN" dirty="0">
                <a:solidFill>
                  <a:srgbClr val="CC0066"/>
                </a:solidFill>
                <a:ea typeface="宋体" panose="02010600030101010101" pitchFamily="2" charset="-122"/>
              </a:rPr>
              <a:t>=1</a:t>
            </a:r>
            <a:r>
              <a:rPr lang="zh-CN" altLang="en-US" dirty="0">
                <a:solidFill>
                  <a:srgbClr val="CC0066"/>
                </a:solidFill>
                <a:ea typeface="宋体" panose="02010600030101010101" pitchFamily="2" charset="-122"/>
              </a:rPr>
              <a:t> ，</a:t>
            </a:r>
            <a:r>
              <a:rPr lang="en-US" altLang="zh-CN" dirty="0">
                <a:solidFill>
                  <a:srgbClr val="CC0066"/>
                </a:solidFill>
                <a:ea typeface="宋体" panose="02010600030101010101" pitchFamily="2" charset="-122"/>
              </a:rPr>
              <a:t>F</a:t>
            </a:r>
            <a:r>
              <a:rPr lang="en-US" altLang="zh-CN" baseline="-25000" dirty="0">
                <a:ea typeface="宋体" panose="02010600030101010101" pitchFamily="2" charset="-122"/>
              </a:rPr>
              <a:t>EV</a:t>
            </a:r>
            <a:r>
              <a:rPr lang="en-US" altLang="zh-CN" dirty="0">
                <a:solidFill>
                  <a:srgbClr val="CC0066"/>
                </a:solidFill>
                <a:ea typeface="宋体" panose="02010600030101010101" pitchFamily="2" charset="-122"/>
              </a:rPr>
              <a:t>=0</a:t>
            </a:r>
            <a:r>
              <a:rPr lang="zh-CN" altLang="en-US" dirty="0">
                <a:ea typeface="宋体" panose="02010600030101010101" pitchFamily="2" charset="-122"/>
              </a:rPr>
              <a:t>，表示数据传输正确；</a:t>
            </a:r>
            <a:r>
              <a:rPr lang="zh-CN" altLang="en-US" dirty="0">
                <a:solidFill>
                  <a:srgbClr val="CC6600"/>
                </a:solidFill>
                <a:ea typeface="宋体" panose="02010600030101010101" pitchFamily="2" charset="-122"/>
              </a:rPr>
              <a:t>若</a:t>
            </a:r>
            <a:r>
              <a:rPr lang="zh-CN" altLang="en-US" dirty="0">
                <a:ea typeface="宋体" panose="02010600030101010101" pitchFamily="2" charset="-122"/>
              </a:rPr>
              <a:t>片</a:t>
            </a:r>
            <a:r>
              <a:rPr lang="zh-CN" altLang="en-US" dirty="0">
                <a:solidFill>
                  <a:srgbClr val="CC6600"/>
                </a:solidFill>
                <a:ea typeface="宋体" panose="02010600030101010101" pitchFamily="2" charset="-122"/>
                <a:sym typeface="Wingdings" panose="05000000000000000000" pitchFamily="2" charset="2"/>
              </a:rPr>
              <a:t></a:t>
            </a:r>
            <a:r>
              <a:rPr lang="zh-CN" altLang="en-US" dirty="0">
                <a:solidFill>
                  <a:srgbClr val="CC6600"/>
                </a:solidFill>
                <a:ea typeface="宋体" panose="02010600030101010101" pitchFamily="2" charset="-122"/>
              </a:rPr>
              <a:t> </a:t>
            </a:r>
            <a:r>
              <a:rPr lang="zh-CN" altLang="en-US" dirty="0">
                <a:ea typeface="宋体" panose="02010600030101010101" pitchFamily="2" charset="-122"/>
              </a:rPr>
              <a:t>的</a:t>
            </a:r>
            <a:r>
              <a:rPr lang="en-US" altLang="zh-CN" dirty="0">
                <a:solidFill>
                  <a:srgbClr val="CC0066"/>
                </a:solidFill>
                <a:ea typeface="宋体" panose="02010600030101010101" pitchFamily="2" charset="-122"/>
              </a:rPr>
              <a:t>F</a:t>
            </a:r>
            <a:r>
              <a:rPr lang="en-US" altLang="zh-CN" baseline="-25000" dirty="0">
                <a:ea typeface="宋体" panose="02010600030101010101" pitchFamily="2" charset="-122"/>
              </a:rPr>
              <a:t>OD</a:t>
            </a:r>
            <a:r>
              <a:rPr lang="en-US" altLang="zh-CN" dirty="0">
                <a:solidFill>
                  <a:srgbClr val="CC0066"/>
                </a:solidFill>
                <a:ea typeface="宋体" panose="02010600030101010101" pitchFamily="2" charset="-122"/>
              </a:rPr>
              <a:t>=0</a:t>
            </a:r>
            <a:r>
              <a:rPr lang="zh-CN" altLang="en-US" dirty="0">
                <a:solidFill>
                  <a:srgbClr val="CC0066"/>
                </a:solidFill>
                <a:ea typeface="宋体" panose="02010600030101010101" pitchFamily="2" charset="-122"/>
              </a:rPr>
              <a:t> ，</a:t>
            </a:r>
            <a:r>
              <a:rPr lang="en-US" altLang="zh-CN" dirty="0">
                <a:solidFill>
                  <a:srgbClr val="CC0066"/>
                </a:solidFill>
                <a:ea typeface="宋体" panose="02010600030101010101" pitchFamily="2" charset="-122"/>
              </a:rPr>
              <a:t>F</a:t>
            </a:r>
            <a:r>
              <a:rPr lang="en-US" altLang="zh-CN" baseline="-25000" dirty="0">
                <a:ea typeface="宋体" panose="02010600030101010101" pitchFamily="2" charset="-122"/>
              </a:rPr>
              <a:t>EV</a:t>
            </a:r>
            <a:r>
              <a:rPr lang="en-US" altLang="zh-CN" dirty="0">
                <a:solidFill>
                  <a:srgbClr val="CC0066"/>
                </a:solidFill>
                <a:ea typeface="宋体" panose="02010600030101010101" pitchFamily="2" charset="-122"/>
              </a:rPr>
              <a:t>=1</a:t>
            </a:r>
            <a:r>
              <a:rPr lang="zh-CN" altLang="en-US" dirty="0">
                <a:ea typeface="宋体" panose="02010600030101010101" pitchFamily="2" charset="-122"/>
              </a:rPr>
              <a:t>，表示数据传输有差错。</a:t>
            </a:r>
            <a:endParaRPr lang="en-US" altLang="zh-CN" dirty="0">
              <a:ea typeface="宋体" panose="02010600030101010101" pitchFamily="2" charset="-122"/>
            </a:endParaRPr>
          </a:p>
          <a:p>
            <a:pPr lvl="0"/>
            <a:r>
              <a:rPr lang="zh-CN" altLang="en-US" dirty="0">
                <a:ea typeface="宋体" panose="02010600030101010101" pitchFamily="2" charset="-122"/>
              </a:rPr>
              <a:t>    若原数据</a:t>
            </a:r>
            <a:r>
              <a:rPr lang="en-US" altLang="zh-CN" dirty="0">
                <a:ea typeface="宋体" panose="02010600030101010101" pitchFamily="2" charset="-122"/>
              </a:rPr>
              <a:t>D0~D7</a:t>
            </a:r>
            <a:r>
              <a:rPr lang="zh-CN" altLang="en-US" dirty="0">
                <a:ea typeface="宋体" panose="02010600030101010101" pitchFamily="2" charset="-122"/>
              </a:rPr>
              <a:t>中有偶数个</a:t>
            </a:r>
            <a:r>
              <a:rPr lang="en-US" altLang="zh-CN" dirty="0">
                <a:ea typeface="宋体" panose="02010600030101010101" pitchFamily="2" charset="-122"/>
              </a:rPr>
              <a:t>1</a:t>
            </a:r>
            <a:r>
              <a:rPr lang="zh-CN" altLang="en-US" dirty="0">
                <a:ea typeface="宋体" panose="02010600030101010101" pitchFamily="2" charset="-122"/>
              </a:rPr>
              <a:t>，则片</a:t>
            </a:r>
            <a:r>
              <a:rPr lang="en-US" altLang="zh-CN" dirty="0">
                <a:ea typeface="宋体" panose="02010600030101010101" pitchFamily="2" charset="-122"/>
              </a:rPr>
              <a:t>1</a:t>
            </a:r>
            <a:r>
              <a:rPr lang="zh-CN" altLang="en-US" dirty="0">
                <a:ea typeface="宋体" panose="02010600030101010101" pitchFamily="2" charset="-122"/>
              </a:rPr>
              <a:t>的</a:t>
            </a:r>
            <a:r>
              <a:rPr lang="en-US" altLang="zh-CN" dirty="0">
                <a:ea typeface="宋体" panose="02010600030101010101" pitchFamily="2" charset="-122"/>
              </a:rPr>
              <a:t>F</a:t>
            </a:r>
            <a:r>
              <a:rPr lang="en-US" altLang="zh-CN" baseline="-25000" dirty="0">
                <a:ea typeface="宋体" panose="02010600030101010101" pitchFamily="2" charset="-122"/>
              </a:rPr>
              <a:t>OD</a:t>
            </a:r>
            <a:r>
              <a:rPr lang="en-US" altLang="zh-CN" dirty="0">
                <a:ea typeface="宋体" panose="02010600030101010101" pitchFamily="2" charset="-122"/>
              </a:rPr>
              <a:t>=1</a:t>
            </a:r>
            <a:r>
              <a:rPr lang="zh-CN" altLang="en-US" dirty="0">
                <a:ea typeface="宋体" panose="02010600030101010101" pitchFamily="2" charset="-122"/>
              </a:rPr>
              <a:t>，也即片</a:t>
            </a:r>
            <a:r>
              <a:rPr lang="en-US" altLang="zh-CN" dirty="0">
                <a:ea typeface="宋体" panose="02010600030101010101" pitchFamily="2" charset="-122"/>
              </a:rPr>
              <a:t>2</a:t>
            </a:r>
            <a:r>
              <a:rPr lang="zh-CN" altLang="en-US" dirty="0">
                <a:ea typeface="宋体" panose="02010600030101010101" pitchFamily="2" charset="-122"/>
              </a:rPr>
              <a:t>的</a:t>
            </a:r>
            <a:r>
              <a:rPr lang="en-US" altLang="zh-CN" dirty="0">
                <a:ea typeface="宋体" panose="02010600030101010101" pitchFamily="2" charset="-122"/>
              </a:rPr>
              <a:t>ODD=1</a:t>
            </a:r>
            <a:r>
              <a:rPr lang="zh-CN" altLang="en-US" dirty="0">
                <a:ea typeface="宋体" panose="02010600030101010101" pitchFamily="2" charset="-122"/>
              </a:rPr>
              <a:t>，</a:t>
            </a:r>
            <a:r>
              <a:rPr lang="en-US" altLang="zh-CN" dirty="0">
                <a:ea typeface="宋体" panose="02010600030101010101" pitchFamily="2" charset="-122"/>
              </a:rPr>
              <a:t>EVEN=0</a:t>
            </a:r>
            <a:r>
              <a:rPr lang="zh-CN" altLang="en-US" dirty="0">
                <a:ea typeface="宋体" panose="02010600030101010101" pitchFamily="2" charset="-122"/>
              </a:rPr>
              <a:t>。当传输无误时，根据真值表第</a:t>
            </a:r>
            <a:r>
              <a:rPr lang="en-US" altLang="zh-CN" dirty="0">
                <a:ea typeface="宋体" panose="02010600030101010101" pitchFamily="2" charset="-122"/>
              </a:rPr>
              <a:t>3</a:t>
            </a:r>
            <a:r>
              <a:rPr lang="zh-CN" altLang="en-US" dirty="0">
                <a:ea typeface="宋体" panose="02010600030101010101" pitchFamily="2" charset="-122"/>
              </a:rPr>
              <a:t>行，片</a:t>
            </a:r>
            <a:r>
              <a:rPr lang="en-US" altLang="zh-CN" dirty="0">
                <a:ea typeface="宋体" panose="02010600030101010101" pitchFamily="2" charset="-122"/>
              </a:rPr>
              <a:t>2</a:t>
            </a:r>
            <a:r>
              <a:rPr lang="zh-CN" altLang="en-US" dirty="0">
                <a:ea typeface="宋体" panose="02010600030101010101" pitchFamily="2" charset="-122"/>
              </a:rPr>
              <a:t>的</a:t>
            </a:r>
            <a:r>
              <a:rPr lang="en-US" altLang="zh-CN" b="1" dirty="0">
                <a:ea typeface="宋体" panose="02010600030101010101" pitchFamily="2" charset="-122"/>
              </a:rPr>
              <a:t>F</a:t>
            </a:r>
            <a:r>
              <a:rPr lang="en-US" altLang="zh-CN" b="1" baseline="-25000" dirty="0">
                <a:ea typeface="宋体" panose="02010600030101010101" pitchFamily="2" charset="-122"/>
              </a:rPr>
              <a:t>OD</a:t>
            </a:r>
            <a:r>
              <a:rPr lang="en-US" altLang="zh-CN" b="1" dirty="0">
                <a:ea typeface="宋体" panose="02010600030101010101" pitchFamily="2" charset="-122"/>
              </a:rPr>
              <a:t>=1</a:t>
            </a:r>
            <a:r>
              <a:rPr lang="zh-CN" altLang="en-US" b="1" dirty="0">
                <a:ea typeface="宋体" panose="02010600030101010101" pitchFamily="2" charset="-122"/>
              </a:rPr>
              <a:t>，</a:t>
            </a:r>
            <a:r>
              <a:rPr lang="en-US" altLang="zh-CN" b="1" dirty="0">
                <a:ea typeface="宋体" panose="02010600030101010101" pitchFamily="2" charset="-122"/>
              </a:rPr>
              <a:t>F</a:t>
            </a:r>
            <a:r>
              <a:rPr lang="en-US" altLang="zh-CN" b="1" baseline="-25000" dirty="0">
                <a:ea typeface="宋体" panose="02010600030101010101" pitchFamily="2" charset="-122"/>
              </a:rPr>
              <a:t>EV</a:t>
            </a:r>
            <a:r>
              <a:rPr lang="en-US" altLang="zh-CN" b="1" dirty="0">
                <a:ea typeface="宋体" panose="02010600030101010101" pitchFamily="2" charset="-122"/>
              </a:rPr>
              <a:t>=0</a:t>
            </a:r>
            <a:r>
              <a:rPr lang="zh-CN" altLang="en-US" dirty="0">
                <a:ea typeface="宋体" panose="02010600030101010101" pitchFamily="2" charset="-122"/>
              </a:rPr>
              <a:t>，表示</a:t>
            </a:r>
            <a:r>
              <a:rPr lang="zh-CN" altLang="en-US" b="1" dirty="0">
                <a:ea typeface="宋体" panose="02010600030101010101" pitchFamily="2" charset="-122"/>
              </a:rPr>
              <a:t>数据传输正确</a:t>
            </a:r>
            <a:r>
              <a:rPr lang="zh-CN" altLang="en-US" dirty="0">
                <a:ea typeface="宋体" panose="02010600030101010101" pitchFamily="2" charset="-122"/>
              </a:rPr>
              <a:t>；若传输过程中有一个数据位发生差错，则片</a:t>
            </a:r>
            <a:r>
              <a:rPr lang="en-US" altLang="zh-CN" dirty="0">
                <a:ea typeface="宋体" panose="02010600030101010101" pitchFamily="2" charset="-122"/>
              </a:rPr>
              <a:t>2</a:t>
            </a:r>
            <a:r>
              <a:rPr lang="zh-CN" altLang="en-US" dirty="0">
                <a:ea typeface="宋体" panose="02010600030101010101" pitchFamily="2" charset="-122"/>
              </a:rPr>
              <a:t>接收的</a:t>
            </a:r>
            <a:r>
              <a:rPr lang="en-US" altLang="zh-CN" dirty="0">
                <a:ea typeface="宋体" panose="02010600030101010101" pitchFamily="2" charset="-122"/>
              </a:rPr>
              <a:t>A~H</a:t>
            </a:r>
            <a:r>
              <a:rPr lang="zh-CN" altLang="en-US" dirty="0">
                <a:ea typeface="宋体" panose="02010600030101010101" pitchFamily="2" charset="-122"/>
              </a:rPr>
              <a:t>中</a:t>
            </a:r>
            <a:r>
              <a:rPr lang="en-US" altLang="zh-CN" dirty="0">
                <a:ea typeface="宋体" panose="02010600030101010101" pitchFamily="2" charset="-122"/>
              </a:rPr>
              <a:t>1</a:t>
            </a:r>
            <a:r>
              <a:rPr lang="zh-CN" altLang="en-US" dirty="0">
                <a:ea typeface="宋体" panose="02010600030101010101" pitchFamily="2" charset="-122"/>
              </a:rPr>
              <a:t>的个数变为奇数，根据真值表第</a:t>
            </a:r>
            <a:r>
              <a:rPr lang="en-US" altLang="zh-CN" dirty="0">
                <a:ea typeface="宋体" panose="02010600030101010101" pitchFamily="2" charset="-122"/>
              </a:rPr>
              <a:t>4</a:t>
            </a:r>
            <a:r>
              <a:rPr lang="zh-CN" altLang="en-US" dirty="0">
                <a:ea typeface="宋体" panose="02010600030101010101" pitchFamily="2" charset="-122"/>
              </a:rPr>
              <a:t>行，片</a:t>
            </a:r>
            <a:r>
              <a:rPr lang="en-US" altLang="zh-CN" dirty="0">
                <a:ea typeface="宋体" panose="02010600030101010101" pitchFamily="2" charset="-122"/>
              </a:rPr>
              <a:t>2</a:t>
            </a:r>
            <a:r>
              <a:rPr lang="zh-CN" altLang="en-US" dirty="0">
                <a:ea typeface="宋体" panose="02010600030101010101" pitchFamily="2" charset="-122"/>
              </a:rPr>
              <a:t>的</a:t>
            </a:r>
            <a:r>
              <a:rPr lang="en-US" altLang="zh-CN" b="1" dirty="0">
                <a:ea typeface="宋体" panose="02010600030101010101" pitchFamily="2" charset="-122"/>
              </a:rPr>
              <a:t>F</a:t>
            </a:r>
            <a:r>
              <a:rPr lang="en-US" altLang="zh-CN" b="1" baseline="-25000" dirty="0">
                <a:ea typeface="宋体" panose="02010600030101010101" pitchFamily="2" charset="-122"/>
              </a:rPr>
              <a:t>OD</a:t>
            </a:r>
            <a:r>
              <a:rPr lang="en-US" altLang="zh-CN" b="1" dirty="0">
                <a:ea typeface="宋体" panose="02010600030101010101" pitchFamily="2" charset="-122"/>
              </a:rPr>
              <a:t>=0 </a:t>
            </a:r>
            <a:r>
              <a:rPr lang="zh-CN" altLang="en-US" b="1" dirty="0">
                <a:ea typeface="宋体" panose="02010600030101010101" pitchFamily="2" charset="-122"/>
              </a:rPr>
              <a:t>，</a:t>
            </a:r>
            <a:r>
              <a:rPr lang="en-US" altLang="zh-CN" b="1" dirty="0">
                <a:ea typeface="宋体" panose="02010600030101010101" pitchFamily="2" charset="-122"/>
              </a:rPr>
              <a:t>F</a:t>
            </a:r>
            <a:r>
              <a:rPr lang="en-US" altLang="zh-CN" b="1" baseline="-25000" dirty="0">
                <a:ea typeface="宋体" panose="02010600030101010101" pitchFamily="2" charset="-122"/>
              </a:rPr>
              <a:t>EV</a:t>
            </a:r>
            <a:r>
              <a:rPr lang="en-US" altLang="zh-CN" b="1" dirty="0">
                <a:ea typeface="宋体" panose="02010600030101010101" pitchFamily="2" charset="-122"/>
              </a:rPr>
              <a:t>=1</a:t>
            </a:r>
            <a:r>
              <a:rPr lang="zh-CN" altLang="en-US" dirty="0">
                <a:ea typeface="宋体" panose="02010600030101010101" pitchFamily="2" charset="-122"/>
              </a:rPr>
              <a:t>，表示</a:t>
            </a:r>
            <a:r>
              <a:rPr lang="zh-CN" altLang="en-US" b="1" dirty="0">
                <a:ea typeface="宋体" panose="02010600030101010101" pitchFamily="2" charset="-122"/>
              </a:rPr>
              <a:t>数据传输有差错</a:t>
            </a:r>
            <a:r>
              <a:rPr lang="zh-CN" altLang="en-US" dirty="0">
                <a:ea typeface="宋体" panose="02010600030101010101" pitchFamily="2" charset="-122"/>
              </a:rPr>
              <a:t>。</a:t>
            </a:r>
          </a:p>
          <a:p>
            <a:pPr lvl="0"/>
            <a:r>
              <a:rPr lang="zh-CN" altLang="en-US" dirty="0">
                <a:ea typeface="宋体" panose="02010600030101010101" pitchFamily="2" charset="-122"/>
              </a:rPr>
              <a:t>    若原数据</a:t>
            </a:r>
            <a:r>
              <a:rPr lang="en-US" altLang="zh-CN" dirty="0">
                <a:ea typeface="宋体" panose="02010600030101010101" pitchFamily="2" charset="-122"/>
              </a:rPr>
              <a:t>D0~D7</a:t>
            </a:r>
            <a:r>
              <a:rPr lang="zh-CN" altLang="en-US" dirty="0">
                <a:ea typeface="宋体" panose="02010600030101010101" pitchFamily="2" charset="-122"/>
              </a:rPr>
              <a:t>中有奇数个</a:t>
            </a:r>
            <a:r>
              <a:rPr lang="en-US" altLang="zh-CN" dirty="0">
                <a:ea typeface="宋体" panose="02010600030101010101" pitchFamily="2" charset="-122"/>
              </a:rPr>
              <a:t>1</a:t>
            </a:r>
            <a:r>
              <a:rPr lang="zh-CN" altLang="en-US" dirty="0">
                <a:ea typeface="宋体" panose="02010600030101010101" pitchFamily="2" charset="-122"/>
              </a:rPr>
              <a:t>，则片</a:t>
            </a:r>
            <a:r>
              <a:rPr lang="en-US" altLang="zh-CN" dirty="0">
                <a:ea typeface="宋体" panose="02010600030101010101" pitchFamily="2" charset="-122"/>
              </a:rPr>
              <a:t>1</a:t>
            </a:r>
            <a:r>
              <a:rPr lang="zh-CN" altLang="en-US" dirty="0">
                <a:ea typeface="宋体" panose="02010600030101010101" pitchFamily="2" charset="-122"/>
              </a:rPr>
              <a:t>的</a:t>
            </a:r>
            <a:r>
              <a:rPr lang="en-US" altLang="zh-CN" dirty="0">
                <a:ea typeface="宋体" panose="02010600030101010101" pitchFamily="2" charset="-122"/>
              </a:rPr>
              <a:t>F</a:t>
            </a:r>
            <a:r>
              <a:rPr lang="en-US" altLang="zh-CN" baseline="-25000" dirty="0">
                <a:ea typeface="宋体" panose="02010600030101010101" pitchFamily="2" charset="-122"/>
              </a:rPr>
              <a:t>OD</a:t>
            </a:r>
            <a:r>
              <a:rPr lang="en-US" altLang="zh-CN" dirty="0">
                <a:ea typeface="宋体" panose="02010600030101010101" pitchFamily="2" charset="-122"/>
              </a:rPr>
              <a:t>=0</a:t>
            </a:r>
            <a:r>
              <a:rPr lang="zh-CN" altLang="en-US" dirty="0">
                <a:ea typeface="宋体" panose="02010600030101010101" pitchFamily="2" charset="-122"/>
              </a:rPr>
              <a:t>，片</a:t>
            </a:r>
            <a:r>
              <a:rPr lang="en-US" altLang="zh-CN" dirty="0">
                <a:ea typeface="宋体" panose="02010600030101010101" pitchFamily="2" charset="-122"/>
              </a:rPr>
              <a:t>2</a:t>
            </a:r>
            <a:r>
              <a:rPr lang="zh-CN" altLang="en-US" dirty="0">
                <a:ea typeface="宋体" panose="02010600030101010101" pitchFamily="2" charset="-122"/>
              </a:rPr>
              <a:t>的</a:t>
            </a:r>
            <a:r>
              <a:rPr lang="en-US" altLang="zh-CN" dirty="0">
                <a:ea typeface="宋体" panose="02010600030101010101" pitchFamily="2" charset="-122"/>
              </a:rPr>
              <a:t>ODD=0</a:t>
            </a:r>
            <a:r>
              <a:rPr lang="zh-CN" altLang="en-US" dirty="0">
                <a:ea typeface="宋体" panose="02010600030101010101" pitchFamily="2" charset="-122"/>
              </a:rPr>
              <a:t>，</a:t>
            </a:r>
            <a:r>
              <a:rPr lang="en-US" altLang="zh-CN" dirty="0">
                <a:ea typeface="宋体" panose="02010600030101010101" pitchFamily="2" charset="-122"/>
              </a:rPr>
              <a:t>EVEN=1</a:t>
            </a:r>
            <a:r>
              <a:rPr lang="zh-CN" altLang="en-US" dirty="0">
                <a:ea typeface="宋体" panose="02010600030101010101" pitchFamily="2" charset="-122"/>
              </a:rPr>
              <a:t>。在传输无误时，根据真值表第</a:t>
            </a:r>
            <a:r>
              <a:rPr lang="en-US" altLang="zh-CN" dirty="0">
                <a:ea typeface="宋体" panose="02010600030101010101" pitchFamily="2" charset="-122"/>
              </a:rPr>
              <a:t>1</a:t>
            </a:r>
            <a:r>
              <a:rPr lang="zh-CN" altLang="en-US" dirty="0">
                <a:ea typeface="宋体" panose="02010600030101010101" pitchFamily="2" charset="-122"/>
              </a:rPr>
              <a:t>行，片</a:t>
            </a:r>
            <a:r>
              <a:rPr lang="en-US" altLang="zh-CN" dirty="0">
                <a:ea typeface="宋体" panose="02010600030101010101" pitchFamily="2" charset="-122"/>
              </a:rPr>
              <a:t>2</a:t>
            </a:r>
            <a:r>
              <a:rPr lang="zh-CN" altLang="en-US" dirty="0">
                <a:ea typeface="宋体" panose="02010600030101010101" pitchFamily="2" charset="-122"/>
              </a:rPr>
              <a:t>的</a:t>
            </a:r>
            <a:r>
              <a:rPr lang="en-US" altLang="zh-CN" dirty="0">
                <a:ea typeface="宋体" panose="02010600030101010101" pitchFamily="2" charset="-122"/>
              </a:rPr>
              <a:t>F</a:t>
            </a:r>
            <a:r>
              <a:rPr lang="en-US" altLang="zh-CN" baseline="-25000" dirty="0">
                <a:ea typeface="宋体" panose="02010600030101010101" pitchFamily="2" charset="-122"/>
              </a:rPr>
              <a:t>OD</a:t>
            </a:r>
            <a:r>
              <a:rPr lang="en-US" altLang="zh-CN" dirty="0">
                <a:ea typeface="宋体" panose="02010600030101010101" pitchFamily="2" charset="-122"/>
              </a:rPr>
              <a:t>=1</a:t>
            </a:r>
            <a:r>
              <a:rPr lang="zh-CN" altLang="en-US" dirty="0">
                <a:ea typeface="宋体" panose="02010600030101010101" pitchFamily="2" charset="-122"/>
              </a:rPr>
              <a:t>，</a:t>
            </a:r>
            <a:r>
              <a:rPr lang="en-US" altLang="zh-CN" dirty="0">
                <a:ea typeface="宋体" panose="02010600030101010101" pitchFamily="2" charset="-122"/>
              </a:rPr>
              <a:t>F</a:t>
            </a:r>
            <a:r>
              <a:rPr lang="en-US" altLang="zh-CN" baseline="-25000" dirty="0">
                <a:ea typeface="宋体" panose="02010600030101010101" pitchFamily="2" charset="-122"/>
              </a:rPr>
              <a:t>EV</a:t>
            </a:r>
            <a:r>
              <a:rPr lang="en-US" altLang="zh-CN" dirty="0">
                <a:ea typeface="宋体" panose="02010600030101010101" pitchFamily="2" charset="-122"/>
              </a:rPr>
              <a:t>=0</a:t>
            </a:r>
            <a:r>
              <a:rPr lang="zh-CN" altLang="en-US" dirty="0">
                <a:ea typeface="宋体" panose="02010600030101010101" pitchFamily="2" charset="-122"/>
              </a:rPr>
              <a:t>，表示数据传输正确；若传输过程中有一个数据位发生差错，则片</a:t>
            </a:r>
            <a:r>
              <a:rPr lang="en-US" altLang="zh-CN" dirty="0">
                <a:ea typeface="宋体" panose="02010600030101010101" pitchFamily="2" charset="-122"/>
              </a:rPr>
              <a:t>2</a:t>
            </a:r>
            <a:r>
              <a:rPr lang="zh-CN" altLang="en-US" dirty="0">
                <a:ea typeface="宋体" panose="02010600030101010101" pitchFamily="2" charset="-122"/>
              </a:rPr>
              <a:t>接收的</a:t>
            </a:r>
            <a:r>
              <a:rPr lang="en-US" altLang="zh-CN" dirty="0">
                <a:ea typeface="宋体" panose="02010600030101010101" pitchFamily="2" charset="-122"/>
              </a:rPr>
              <a:t>A~H</a:t>
            </a:r>
            <a:r>
              <a:rPr lang="zh-CN" altLang="en-US" dirty="0">
                <a:ea typeface="宋体" panose="02010600030101010101" pitchFamily="2" charset="-122"/>
              </a:rPr>
              <a:t>中</a:t>
            </a:r>
            <a:r>
              <a:rPr lang="en-US" altLang="zh-CN" dirty="0">
                <a:ea typeface="宋体" panose="02010600030101010101" pitchFamily="2" charset="-122"/>
              </a:rPr>
              <a:t>1</a:t>
            </a:r>
            <a:r>
              <a:rPr lang="zh-CN" altLang="en-US" dirty="0">
                <a:ea typeface="宋体" panose="02010600030101010101" pitchFamily="2" charset="-122"/>
              </a:rPr>
              <a:t>的个数变为偶数，根据真值表第</a:t>
            </a:r>
            <a:r>
              <a:rPr lang="en-US" altLang="zh-CN" dirty="0">
                <a:ea typeface="宋体" panose="02010600030101010101" pitchFamily="2" charset="-122"/>
              </a:rPr>
              <a:t>2</a:t>
            </a:r>
            <a:r>
              <a:rPr lang="zh-CN" altLang="en-US" dirty="0">
                <a:ea typeface="宋体" panose="02010600030101010101" pitchFamily="2" charset="-122"/>
              </a:rPr>
              <a:t>行，片</a:t>
            </a:r>
            <a:r>
              <a:rPr lang="en-US" altLang="zh-CN" dirty="0">
                <a:ea typeface="宋体" panose="02010600030101010101" pitchFamily="2" charset="-122"/>
              </a:rPr>
              <a:t>2</a:t>
            </a:r>
            <a:r>
              <a:rPr lang="zh-CN" altLang="en-US" dirty="0">
                <a:ea typeface="宋体" panose="02010600030101010101" pitchFamily="2" charset="-122"/>
              </a:rPr>
              <a:t>的</a:t>
            </a:r>
            <a:r>
              <a:rPr lang="en-US" altLang="zh-CN" b="1" dirty="0">
                <a:ea typeface="宋体" panose="02010600030101010101" pitchFamily="2" charset="-122"/>
              </a:rPr>
              <a:t>F</a:t>
            </a:r>
            <a:r>
              <a:rPr lang="en-US" altLang="zh-CN" b="1" baseline="-25000" dirty="0">
                <a:ea typeface="宋体" panose="02010600030101010101" pitchFamily="2" charset="-122"/>
              </a:rPr>
              <a:t>OD</a:t>
            </a:r>
            <a:r>
              <a:rPr lang="en-US" altLang="zh-CN" b="1" dirty="0">
                <a:ea typeface="宋体" panose="02010600030101010101" pitchFamily="2" charset="-122"/>
              </a:rPr>
              <a:t>=0 </a:t>
            </a:r>
            <a:r>
              <a:rPr lang="zh-CN" altLang="en-US" b="1" dirty="0">
                <a:ea typeface="宋体" panose="02010600030101010101" pitchFamily="2" charset="-122"/>
              </a:rPr>
              <a:t>，</a:t>
            </a:r>
            <a:r>
              <a:rPr lang="en-US" altLang="zh-CN" b="1" dirty="0">
                <a:ea typeface="宋体" panose="02010600030101010101" pitchFamily="2" charset="-122"/>
              </a:rPr>
              <a:t>F</a:t>
            </a:r>
            <a:r>
              <a:rPr lang="en-US" altLang="zh-CN" b="1" baseline="-25000" dirty="0">
                <a:ea typeface="宋体" panose="02010600030101010101" pitchFamily="2" charset="-122"/>
              </a:rPr>
              <a:t>EV</a:t>
            </a:r>
            <a:r>
              <a:rPr lang="en-US" altLang="zh-CN" b="1" dirty="0">
                <a:ea typeface="宋体" panose="02010600030101010101" pitchFamily="2" charset="-122"/>
              </a:rPr>
              <a:t>=1</a:t>
            </a:r>
            <a:r>
              <a:rPr lang="zh-CN" altLang="en-US" dirty="0">
                <a:ea typeface="宋体" panose="02010600030101010101" pitchFamily="2" charset="-122"/>
              </a:rPr>
              <a:t>，表示</a:t>
            </a:r>
            <a:r>
              <a:rPr lang="zh-CN" altLang="en-US" b="1" dirty="0">
                <a:ea typeface="宋体" panose="02010600030101010101" pitchFamily="2" charset="-122"/>
              </a:rPr>
              <a:t>数据传输有差错</a:t>
            </a:r>
            <a:r>
              <a:rPr lang="zh-CN" altLang="en-US" dirty="0">
                <a:ea typeface="宋体" panose="02010600030101010101" pitchFamily="2" charset="-122"/>
              </a:rPr>
              <a:t>。</a:t>
            </a:r>
          </a:p>
          <a:p>
            <a:pPr lvl="0"/>
            <a:endParaRPr lang="en-US" altLang="zh-CN"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TextEdit="1"/>
          </p:cNvSpPr>
          <p:nvPr>
            <p:ph type="sldImg"/>
          </p:nvPr>
        </p:nvSpPr>
        <p:spPr/>
      </p:sp>
      <p:sp>
        <p:nvSpPr>
          <p:cNvPr id="204803" name="Rectangle 3"/>
          <p:cNvSpPr>
            <a:spLocks noGrp="1"/>
          </p:cNvSpPr>
          <p:nvPr>
            <p:ph type="body"/>
          </p:nvPr>
        </p:nvSpPr>
        <p:spPr/>
        <p:txBody>
          <a:bodyPr wrap="square" lIns="91440" tIns="45720" rIns="91440" bIns="45720" anchor="t" anchorCtr="0"/>
          <a:lstStyle/>
          <a:p>
            <a:pPr lvl="0">
              <a:spcBef>
                <a:spcPct val="50000"/>
              </a:spcBef>
            </a:pPr>
            <a:r>
              <a:rPr lang="zh-CN" altLang="en-US" dirty="0">
                <a:ea typeface="楷体_GB2312" pitchFamily="49" charset="-122"/>
              </a:rPr>
              <a:t>由于片</a:t>
            </a:r>
            <a:r>
              <a:rPr lang="zh-CN" altLang="en-US" dirty="0">
                <a:ea typeface="宋体" panose="02010600030101010101" pitchFamily="2" charset="-122"/>
                <a:sym typeface="Wingdings" panose="05000000000000000000" pitchFamily="2" charset="2"/>
              </a:rPr>
              <a:t></a:t>
            </a:r>
            <a:r>
              <a:rPr lang="zh-CN" altLang="en-US" dirty="0">
                <a:ea typeface="楷体_GB2312" pitchFamily="49" charset="-122"/>
              </a:rPr>
              <a:t>的</a:t>
            </a:r>
            <a:r>
              <a:rPr lang="en-US" altLang="zh-CN" dirty="0">
                <a:ea typeface="楷体_GB2312" pitchFamily="49" charset="-122"/>
              </a:rPr>
              <a:t>ODD=1</a:t>
            </a:r>
            <a:r>
              <a:rPr lang="zh-CN" altLang="en-US" dirty="0">
                <a:ea typeface="楷体_GB2312" pitchFamily="49" charset="-122"/>
              </a:rPr>
              <a:t>， </a:t>
            </a:r>
            <a:r>
              <a:rPr lang="en-US" altLang="zh-CN" dirty="0">
                <a:ea typeface="楷体_GB2312" pitchFamily="49" charset="-122"/>
              </a:rPr>
              <a:t>EVEN=0</a:t>
            </a:r>
            <a:r>
              <a:rPr lang="zh-CN" altLang="en-US" dirty="0">
                <a:ea typeface="楷体_GB2312" pitchFamily="49" charset="-122"/>
              </a:rPr>
              <a:t>，则根据真值表的第</a:t>
            </a:r>
            <a:r>
              <a:rPr lang="en-US" altLang="zh-CN" dirty="0">
                <a:ea typeface="楷体_GB2312" pitchFamily="49" charset="-122"/>
              </a:rPr>
              <a:t>3</a:t>
            </a:r>
            <a:r>
              <a:rPr lang="zh-CN" altLang="en-US" dirty="0">
                <a:ea typeface="楷体_GB2312" pitchFamily="49" charset="-122"/>
              </a:rPr>
              <a:t>、</a:t>
            </a:r>
            <a:r>
              <a:rPr lang="en-US" altLang="zh-CN" dirty="0">
                <a:ea typeface="楷体_GB2312" pitchFamily="49" charset="-122"/>
              </a:rPr>
              <a:t>4</a:t>
            </a:r>
            <a:r>
              <a:rPr lang="zh-CN" altLang="en-US" dirty="0">
                <a:ea typeface="楷体_GB2312" pitchFamily="49" charset="-122"/>
              </a:rPr>
              <a:t>行判断输出</a:t>
            </a:r>
            <a:r>
              <a:rPr lang="en-US" altLang="zh-CN" dirty="0">
                <a:ea typeface="楷体_GB2312" pitchFamily="49" charset="-122"/>
              </a:rPr>
              <a:t>F</a:t>
            </a:r>
            <a:r>
              <a:rPr lang="en-US" altLang="zh-CN" baseline="-25000" dirty="0">
                <a:ea typeface="楷体_GB2312" pitchFamily="49" charset="-122"/>
              </a:rPr>
              <a:t>OD</a:t>
            </a:r>
            <a:endParaRPr lang="zh-CN" altLang="en-US" dirty="0">
              <a:ea typeface="楷体_GB2312" pitchFamily="49"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Grp="1" noRot="1" noChangeAspect="1" noTextEdit="1"/>
          </p:cNvSpPr>
          <p:nvPr>
            <p:ph type="sldImg"/>
          </p:nvPr>
        </p:nvSpPr>
        <p:spPr/>
      </p:sp>
      <p:sp>
        <p:nvSpPr>
          <p:cNvPr id="206851" name="Rectangle 3"/>
          <p:cNvSpPr>
            <a:spLocks noGrp="1"/>
          </p:cNvSpPr>
          <p:nvPr>
            <p:ph type="body"/>
          </p:nvPr>
        </p:nvSpPr>
        <p:spPr/>
        <p:txBody>
          <a:bodyPr wrap="square" lIns="91440" tIns="45720" rIns="91440" bIns="45720" anchor="t" anchorCtr="0"/>
          <a:lstStyle/>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Rot="1" noChangeAspect="1" noTextEdit="1"/>
          </p:cNvSpPr>
          <p:nvPr>
            <p:ph type="sldImg"/>
          </p:nvPr>
        </p:nvSpPr>
        <p:spPr/>
      </p:sp>
      <p:sp>
        <p:nvSpPr>
          <p:cNvPr id="208899" name="Rectangle 3"/>
          <p:cNvSpPr>
            <a:spLocks noGrp="1"/>
          </p:cNvSpPr>
          <p:nvPr>
            <p:ph type="body"/>
          </p:nvPr>
        </p:nvSpPr>
        <p:spPr/>
        <p:txBody>
          <a:bodyPr wrap="square" lIns="91440" tIns="45720" rIns="91440" bIns="45720" anchor="t" anchorCtr="0"/>
          <a:lstStyle/>
          <a:p>
            <a:pPr lvl="0"/>
            <a:r>
              <a:rPr lang="zh-CN" altLang="en-US" b="1" dirty="0">
                <a:ea typeface="宋体" panose="02010600030101010101" pitchFamily="2" charset="-122"/>
              </a:rPr>
              <a:t>关键：怎样描述一组输入数据中为</a:t>
            </a:r>
            <a:r>
              <a:rPr lang="en-US" altLang="zh-CN" b="1" dirty="0">
                <a:ea typeface="宋体" panose="02010600030101010101" pitchFamily="2" charset="-122"/>
              </a:rPr>
              <a:t>1</a:t>
            </a:r>
            <a:r>
              <a:rPr lang="zh-CN" altLang="en-US" b="1" dirty="0">
                <a:ea typeface="宋体" panose="02010600030101010101" pitchFamily="2" charset="-122"/>
              </a:rPr>
              <a:t>的个数是奇数或偶数？</a:t>
            </a:r>
            <a:r>
              <a:rPr lang="en-US" altLang="zh-CN" dirty="0">
                <a:ea typeface="宋体" panose="02010600030101010101" pitchFamily="2" charset="-122"/>
              </a:rPr>
              <a:t>——</a:t>
            </a:r>
            <a:r>
              <a:rPr lang="zh-CN" altLang="en-US" dirty="0">
                <a:ea typeface="宋体" panose="02010600030101010101" pitchFamily="2" charset="-122"/>
              </a:rPr>
              <a:t>利用异或运算（也称为“模</a:t>
            </a:r>
            <a:r>
              <a:rPr lang="en-US" altLang="zh-CN" dirty="0">
                <a:ea typeface="宋体" panose="02010600030101010101" pitchFamily="2" charset="-122"/>
              </a:rPr>
              <a:t>2</a:t>
            </a:r>
            <a:r>
              <a:rPr lang="zh-CN" altLang="en-US" dirty="0">
                <a:ea typeface="宋体" panose="02010600030101010101" pitchFamily="2" charset="-122"/>
              </a:rPr>
              <a:t>加”运算）的性质：</a:t>
            </a:r>
            <a:r>
              <a:rPr lang="zh-CN" altLang="en-US" b="1" dirty="0">
                <a:ea typeface="宋体" panose="02010600030101010101" pitchFamily="2" charset="-122"/>
              </a:rPr>
              <a:t>当</a:t>
            </a:r>
            <a:r>
              <a:rPr lang="en-US" altLang="zh-CN" b="1" dirty="0">
                <a:ea typeface="宋体" panose="02010600030101010101" pitchFamily="2" charset="-122"/>
              </a:rPr>
              <a:t>n</a:t>
            </a:r>
            <a:r>
              <a:rPr lang="zh-CN" altLang="en-US" b="1" dirty="0">
                <a:ea typeface="宋体" panose="02010600030101010101" pitchFamily="2" charset="-122"/>
              </a:rPr>
              <a:t>个（</a:t>
            </a:r>
            <a:r>
              <a:rPr lang="en-US" altLang="zh-CN" b="1" dirty="0">
                <a:ea typeface="宋体" panose="02010600030101010101" pitchFamily="2" charset="-122"/>
              </a:rPr>
              <a:t>1</a:t>
            </a:r>
            <a:r>
              <a:rPr lang="zh-CN" altLang="en-US" b="1" dirty="0">
                <a:ea typeface="宋体" panose="02010600030101010101" pitchFamily="2" charset="-122"/>
              </a:rPr>
              <a:t>位）二进制数“模</a:t>
            </a:r>
            <a:r>
              <a:rPr lang="en-US" altLang="zh-CN" b="1" dirty="0">
                <a:ea typeface="宋体" panose="02010600030101010101" pitchFamily="2" charset="-122"/>
              </a:rPr>
              <a:t>2</a:t>
            </a:r>
            <a:r>
              <a:rPr lang="zh-CN" altLang="en-US" b="1" dirty="0">
                <a:ea typeface="宋体" panose="02010600030101010101" pitchFamily="2" charset="-122"/>
              </a:rPr>
              <a:t>加”时，若和为</a:t>
            </a:r>
            <a:r>
              <a:rPr lang="en-US" altLang="zh-CN" b="1" dirty="0">
                <a:ea typeface="宋体" panose="02010600030101010101" pitchFamily="2" charset="-122"/>
              </a:rPr>
              <a:t>1</a:t>
            </a:r>
            <a:r>
              <a:rPr lang="zh-CN" altLang="en-US" b="1" dirty="0">
                <a:ea typeface="宋体" panose="02010600030101010101" pitchFamily="2" charset="-122"/>
              </a:rPr>
              <a:t>，表示</a:t>
            </a:r>
            <a:r>
              <a:rPr lang="en-US" altLang="zh-CN" b="1" dirty="0">
                <a:ea typeface="宋体" panose="02010600030101010101" pitchFamily="2" charset="-122"/>
              </a:rPr>
              <a:t>n</a:t>
            </a:r>
            <a:r>
              <a:rPr lang="zh-CN" altLang="en-US" b="1" dirty="0">
                <a:ea typeface="宋体" panose="02010600030101010101" pitchFamily="2" charset="-122"/>
              </a:rPr>
              <a:t>个数中有奇数个“</a:t>
            </a:r>
            <a:r>
              <a:rPr lang="en-US" altLang="zh-CN" b="1" dirty="0">
                <a:ea typeface="宋体" panose="02010600030101010101" pitchFamily="2" charset="-122"/>
              </a:rPr>
              <a:t>1”</a:t>
            </a:r>
            <a:r>
              <a:rPr lang="zh-CN" altLang="en-US" b="1" dirty="0">
                <a:ea typeface="宋体" panose="02010600030101010101" pitchFamily="2" charset="-122"/>
              </a:rPr>
              <a:t>；若和为</a:t>
            </a:r>
            <a:r>
              <a:rPr lang="en-US" altLang="zh-CN" b="1" dirty="0">
                <a:ea typeface="宋体" panose="02010600030101010101" pitchFamily="2" charset="-122"/>
              </a:rPr>
              <a:t>0</a:t>
            </a:r>
            <a:r>
              <a:rPr lang="zh-CN" altLang="en-US" b="1" dirty="0">
                <a:ea typeface="宋体" panose="02010600030101010101" pitchFamily="2" charset="-122"/>
              </a:rPr>
              <a:t>，表示有偶数个“</a:t>
            </a:r>
            <a:r>
              <a:rPr lang="en-US" altLang="zh-CN" b="1" dirty="0">
                <a:ea typeface="宋体" panose="02010600030101010101" pitchFamily="2" charset="-122"/>
              </a:rPr>
              <a:t>1”</a:t>
            </a:r>
            <a:r>
              <a:rPr lang="zh-CN" altLang="en-US" b="1" dirty="0">
                <a:ea typeface="宋体" panose="02010600030101010101" pitchFamily="2" charset="-122"/>
              </a:rPr>
              <a:t>。</a:t>
            </a:r>
            <a:endParaRPr lang="zh-CN" altLang="en-US" dirty="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Rot="1" noChangeAspect="1" noTextEdit="1"/>
          </p:cNvSpPr>
          <p:nvPr>
            <p:ph type="sldImg"/>
          </p:nvPr>
        </p:nvSpPr>
        <p:spPr/>
      </p:sp>
      <p:sp>
        <p:nvSpPr>
          <p:cNvPr id="210947" name="Rectangle 3"/>
          <p:cNvSpPr>
            <a:spLocks noGrp="1"/>
          </p:cNvSpPr>
          <p:nvPr>
            <p:ph type="body"/>
          </p:nvPr>
        </p:nvSpPr>
        <p:spPr/>
        <p:txBody>
          <a:bodyPr wrap="square" lIns="91440" tIns="45720" rIns="91440" bIns="45720" anchor="t" anchorCtr="0"/>
          <a:lstStyle/>
          <a:p>
            <a:pPr lvl="0"/>
            <a:r>
              <a:rPr lang="zh-CN" altLang="en-US" dirty="0">
                <a:ea typeface="宋体" panose="02010600030101010101" pitchFamily="2" charset="-122"/>
              </a:rPr>
              <a:t>若异或结果</a:t>
            </a:r>
            <a:r>
              <a:rPr lang="zh-CN" altLang="en-US" dirty="0">
                <a:solidFill>
                  <a:srgbClr val="CC0066"/>
                </a:solidFill>
                <a:ea typeface="宋体" panose="02010600030101010101" pitchFamily="2" charset="-122"/>
              </a:rPr>
              <a:t>为</a:t>
            </a:r>
            <a:r>
              <a:rPr lang="en-US" altLang="zh-CN" dirty="0">
                <a:solidFill>
                  <a:srgbClr val="CC0066"/>
                </a:solidFill>
                <a:ea typeface="宋体" panose="02010600030101010101" pitchFamily="2" charset="-122"/>
              </a:rPr>
              <a:t>1</a:t>
            </a:r>
            <a:r>
              <a:rPr lang="zh-CN" altLang="en-US" dirty="0">
                <a:ea typeface="宋体" panose="02010600030101010101" pitchFamily="2" charset="-122"/>
              </a:rPr>
              <a:t>，表示</a:t>
            </a:r>
            <a:r>
              <a:rPr lang="en-US" altLang="zh-CN" dirty="0">
                <a:ea typeface="宋体" panose="02010600030101010101" pitchFamily="2" charset="-122"/>
              </a:rPr>
              <a:t>n</a:t>
            </a:r>
            <a:r>
              <a:rPr lang="zh-CN" altLang="en-US" dirty="0">
                <a:ea typeface="宋体" panose="02010600030101010101" pitchFamily="2" charset="-122"/>
              </a:rPr>
              <a:t>个数中有</a:t>
            </a:r>
            <a:r>
              <a:rPr lang="zh-CN" altLang="en-US" dirty="0">
                <a:solidFill>
                  <a:srgbClr val="CC0066"/>
                </a:solidFill>
                <a:ea typeface="宋体" panose="02010600030101010101" pitchFamily="2" charset="-122"/>
              </a:rPr>
              <a:t>奇数个“</a:t>
            </a:r>
            <a:r>
              <a:rPr lang="en-US" altLang="zh-CN" dirty="0">
                <a:solidFill>
                  <a:srgbClr val="CC0066"/>
                </a:solidFill>
                <a:ea typeface="宋体" panose="02010600030101010101" pitchFamily="2" charset="-122"/>
              </a:rPr>
              <a:t>1”, </a:t>
            </a:r>
            <a:r>
              <a:rPr lang="en-US" altLang="zh-CN" b="1" dirty="0">
                <a:solidFill>
                  <a:srgbClr val="FF0066"/>
                </a:solidFill>
                <a:ea typeface="宋体" panose="02010600030101010101" pitchFamily="2" charset="-122"/>
              </a:rPr>
              <a:t>FE_SIGNAL =</a:t>
            </a:r>
            <a:r>
              <a:rPr lang="en-US" altLang="zh-CN" dirty="0">
                <a:ea typeface="宋体" panose="02010600030101010101" pitchFamily="2" charset="-122"/>
              </a:rPr>
              <a:t> 1</a:t>
            </a:r>
            <a:r>
              <a:rPr lang="zh-CN" altLang="en-US" dirty="0">
                <a:ea typeface="宋体" panose="02010600030101010101" pitchFamily="2" charset="-122"/>
              </a:rPr>
              <a:t>；若异或结果为</a:t>
            </a:r>
            <a:r>
              <a:rPr lang="en-US" altLang="zh-CN" dirty="0">
                <a:ea typeface="宋体" panose="02010600030101010101" pitchFamily="2" charset="-122"/>
              </a:rPr>
              <a:t>0</a:t>
            </a:r>
            <a:r>
              <a:rPr lang="zh-CN" altLang="en-US" dirty="0">
                <a:ea typeface="宋体" panose="02010600030101010101" pitchFamily="2" charset="-122"/>
              </a:rPr>
              <a:t>，表示有偶数个“</a:t>
            </a:r>
            <a:r>
              <a:rPr lang="en-US" altLang="zh-CN" dirty="0">
                <a:ea typeface="宋体" panose="02010600030101010101" pitchFamily="2" charset="-122"/>
              </a:rPr>
              <a:t>1”, </a:t>
            </a:r>
            <a:r>
              <a:rPr lang="en-US" altLang="zh-CN" b="1" dirty="0">
                <a:solidFill>
                  <a:srgbClr val="FF0066"/>
                </a:solidFill>
                <a:ea typeface="宋体" panose="02010600030101010101" pitchFamily="2" charset="-122"/>
              </a:rPr>
              <a:t>FE_SIGNAL =</a:t>
            </a:r>
            <a:r>
              <a:rPr lang="en-US" altLang="zh-CN" dirty="0">
                <a:ea typeface="宋体" panose="02010600030101010101" pitchFamily="2" charset="-122"/>
              </a:rPr>
              <a:t> 0</a:t>
            </a:r>
            <a:r>
              <a:rPr lang="zh-CN" altLang="en-US" dirty="0">
                <a:ea typeface="宋体" panose="02010600030101010101" pitchFamily="2" charset="-122"/>
              </a:rP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2"/>
          <p:cNvSpPr>
            <a:spLocks noGrp="1" noRot="1" noChangeAspect="1" noChangeArrowheads="1" noTextEdit="1"/>
          </p:cNvSpPr>
          <p:nvPr>
            <p:ph type="sldImg" idx="4294967295"/>
          </p:nvPr>
        </p:nvSpPr>
        <p:spPr/>
      </p:sp>
      <p:sp>
        <p:nvSpPr>
          <p:cNvPr id="100354" name="Rectangle 3"/>
          <p:cNvSpPr>
            <a:spLocks noGrp="1" noChangeArrowheads="1"/>
          </p:cNvSpPr>
          <p:nvPr>
            <p:ph type="body" idx="4294967295"/>
          </p:nvPr>
        </p:nvSpPr>
        <p:spPr/>
        <p:txBody>
          <a:bodyPr/>
          <a:lstStyle/>
          <a:p>
            <a:pPr algn="just" eaLnBrk="1" hangingPunct="1"/>
            <a:r>
              <a:rPr lang="zh-CN" altLang="en-US"/>
              <a:t>    钟控</a:t>
            </a:r>
            <a:r>
              <a:rPr lang="en-US" altLang="zh-CN"/>
              <a:t>D</a:t>
            </a:r>
            <a:r>
              <a:rPr lang="zh-CN" altLang="en-US"/>
              <a:t>触发器由于用一个非门把</a:t>
            </a:r>
            <a:r>
              <a:rPr lang="en-US" altLang="zh-CN"/>
              <a:t>2</a:t>
            </a:r>
            <a:r>
              <a:rPr lang="zh-CN" altLang="en-US"/>
              <a:t>个输入信号分开，</a:t>
            </a:r>
            <a:r>
              <a:rPr lang="zh-CN" altLang="en-US" b="1"/>
              <a:t>避免了钟控</a:t>
            </a:r>
            <a:r>
              <a:rPr lang="en-US" altLang="zh-CN" b="1"/>
              <a:t>RS</a:t>
            </a:r>
            <a:r>
              <a:rPr lang="zh-CN" altLang="en-US" b="1"/>
              <a:t>触发器的不定状态</a:t>
            </a:r>
            <a:r>
              <a:rPr lang="zh-CN" altLang="en-US"/>
              <a:t>（</a:t>
            </a:r>
            <a:r>
              <a:rPr lang="en-US" altLang="zh-CN"/>
              <a:t>S</a:t>
            </a:r>
            <a:r>
              <a:rPr lang="zh-CN" altLang="en-US"/>
              <a:t>、</a:t>
            </a:r>
            <a:r>
              <a:rPr lang="en-US" altLang="zh-CN"/>
              <a:t>R</a:t>
            </a:r>
            <a:r>
              <a:rPr lang="zh-CN" altLang="en-US"/>
              <a:t>总是互非的，不可能出现</a:t>
            </a:r>
            <a:r>
              <a:rPr lang="en-US" altLang="zh-CN"/>
              <a:t>S=1</a:t>
            </a:r>
            <a:r>
              <a:rPr lang="zh-CN" altLang="en-US"/>
              <a:t>、</a:t>
            </a:r>
            <a:r>
              <a:rPr lang="en-US" altLang="zh-CN"/>
              <a:t>R=1</a:t>
            </a:r>
            <a:r>
              <a:rPr lang="zh-CN" altLang="en-US"/>
              <a:t>的情况，即不会出现不定状态），但同时</a:t>
            </a:r>
            <a:r>
              <a:rPr lang="zh-CN" altLang="en-US" b="1"/>
              <a:t>功能较少</a:t>
            </a:r>
            <a:r>
              <a:rPr lang="zh-CN" altLang="en-US"/>
              <a:t>（</a:t>
            </a:r>
            <a:r>
              <a:rPr lang="en-US" altLang="zh-CN"/>
              <a:t>CP=1</a:t>
            </a:r>
            <a:r>
              <a:rPr lang="zh-CN" altLang="en-US"/>
              <a:t>时没有保持功能）。</a:t>
            </a:r>
          </a:p>
          <a:p>
            <a:pPr algn="just" eaLnBrk="1" hangingPunct="1"/>
            <a:r>
              <a:rPr lang="zh-CN" altLang="en-US"/>
              <a:t>    在扑克牌中，</a:t>
            </a:r>
            <a:r>
              <a:rPr lang="en-US" altLang="zh-CN"/>
              <a:t>J</a:t>
            </a:r>
            <a:r>
              <a:rPr lang="zh-CN" altLang="en-US"/>
              <a:t>代表王子，</a:t>
            </a:r>
            <a:r>
              <a:rPr lang="en-US" altLang="zh-CN"/>
              <a:t>K</a:t>
            </a:r>
            <a:r>
              <a:rPr lang="zh-CN" altLang="en-US"/>
              <a:t>代表国王，</a:t>
            </a:r>
            <a:r>
              <a:rPr lang="en-US" altLang="zh-CN"/>
              <a:t>JK</a:t>
            </a:r>
            <a:r>
              <a:rPr lang="zh-CN" altLang="en-US"/>
              <a:t>触发器就是王牌触发器。这是因为它的功能比较完善，既能置</a:t>
            </a:r>
            <a:r>
              <a:rPr lang="en-US" altLang="zh-CN"/>
              <a:t>0</a:t>
            </a:r>
            <a:r>
              <a:rPr lang="zh-CN" altLang="en-US"/>
              <a:t>和置</a:t>
            </a:r>
            <a:r>
              <a:rPr lang="en-US" altLang="zh-CN"/>
              <a:t>1</a:t>
            </a:r>
            <a:r>
              <a:rPr lang="zh-CN" altLang="en-US"/>
              <a:t>，又能分频计数，还可以保持原状态不变。所以，这种触发器的应用十分广泛。 </a:t>
            </a:r>
          </a:p>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p:cNvSpPr>
            <a:spLocks noGrp="1" noRot="1" noChangeAspect="1" noTextEdit="1"/>
          </p:cNvSpPr>
          <p:nvPr>
            <p:ph type="sldImg"/>
          </p:nvPr>
        </p:nvSpPr>
        <p:spPr/>
      </p:sp>
      <p:sp>
        <p:nvSpPr>
          <p:cNvPr id="116738" name="Rectangle 3"/>
          <p:cNvSpPr>
            <a:spLocks noGrp="1"/>
          </p:cNvSpPr>
          <p:nvPr>
            <p:ph type="body"/>
          </p:nvPr>
        </p:nvSpPr>
        <p:spPr/>
        <p:txBody>
          <a:bodyPr wrap="square" lIns="91440" tIns="45720" rIns="91440" bIns="45720" anchor="t" anchorCtr="0"/>
          <a:lstStyle/>
          <a:p>
            <a:pPr lvl="0" eaLnBrk="1" hangingPunct="1"/>
            <a:r>
              <a:rPr lang="zh-CN" altLang="en-US" dirty="0"/>
              <a:t>具备这种逻辑功能的触发器称为</a:t>
            </a:r>
            <a:r>
              <a:rPr lang="en-US" altLang="zh-CN" sz="1400" dirty="0"/>
              <a:t>T</a:t>
            </a:r>
            <a:r>
              <a:rPr lang="zh-CN" altLang="en-US" sz="1400" dirty="0"/>
              <a:t>触发器。</a:t>
            </a:r>
          </a:p>
          <a:p>
            <a:pPr lvl="0" eaLnBrk="1" hangingPunct="1"/>
            <a:r>
              <a:rPr lang="zh-CN" altLang="en-US" dirty="0"/>
              <a:t>我们知道</a:t>
            </a:r>
            <a:r>
              <a:rPr lang="en-US" altLang="zh-CN" dirty="0"/>
              <a:t>,JK</a:t>
            </a:r>
            <a:r>
              <a:rPr lang="zh-CN" altLang="en-US" dirty="0"/>
              <a:t>触发器当</a:t>
            </a:r>
            <a:r>
              <a:rPr lang="en-US" altLang="zh-CN" dirty="0"/>
              <a:t>JK=11</a:t>
            </a:r>
            <a:r>
              <a:rPr lang="zh-CN" altLang="en-US" dirty="0"/>
              <a:t>时翻转；当</a:t>
            </a:r>
            <a:r>
              <a:rPr lang="en-US" altLang="zh-CN" dirty="0"/>
              <a:t>JK=00</a:t>
            </a:r>
            <a:r>
              <a:rPr lang="zh-CN" altLang="en-US" dirty="0"/>
              <a:t>时保持。如果把</a:t>
            </a:r>
            <a:r>
              <a:rPr lang="en-US" altLang="zh-CN" dirty="0"/>
              <a:t>JK</a:t>
            </a:r>
            <a:r>
              <a:rPr lang="zh-CN" altLang="en-US" dirty="0"/>
              <a:t>触发器的两个输入端合并为一个输入端</a:t>
            </a:r>
            <a:r>
              <a:rPr lang="en-US" altLang="zh-CN" dirty="0"/>
              <a:t>T</a:t>
            </a:r>
            <a:r>
              <a:rPr lang="zh-CN" altLang="en-US" dirty="0"/>
              <a:t>，就得到</a:t>
            </a:r>
            <a:r>
              <a:rPr lang="en-US" altLang="zh-CN" dirty="0"/>
              <a:t>T</a:t>
            </a:r>
            <a:r>
              <a:rPr lang="zh-CN" altLang="en-US" dirty="0"/>
              <a:t>触发器</a:t>
            </a:r>
            <a:r>
              <a:rPr lang="en-US" altLang="zh-CN" dirty="0"/>
              <a:t>——</a:t>
            </a:r>
            <a:r>
              <a:rPr lang="zh-CN" altLang="en-US" dirty="0"/>
              <a:t>正因为如此，在触发器的定型产品中通常没有专门的</a:t>
            </a:r>
            <a:r>
              <a:rPr lang="en-US" altLang="zh-CN" dirty="0"/>
              <a:t>T</a:t>
            </a:r>
            <a:r>
              <a:rPr lang="zh-CN" altLang="en-US" dirty="0"/>
              <a:t>触发器。</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p:cNvSpPr>
            <a:spLocks noGrp="1" noRot="1" noChangeAspect="1" noTextEdit="1"/>
          </p:cNvSpPr>
          <p:nvPr>
            <p:ph type="sldImg"/>
          </p:nvPr>
        </p:nvSpPr>
        <p:spPr/>
      </p:sp>
      <p:sp>
        <p:nvSpPr>
          <p:cNvPr id="118786"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p:cNvSpPr>
            <a:spLocks noGrp="1" noRot="1" noChangeAspect="1" noTextEdit="1"/>
          </p:cNvSpPr>
          <p:nvPr>
            <p:ph type="sldImg"/>
          </p:nvPr>
        </p:nvSpPr>
        <p:spPr/>
      </p:sp>
      <p:sp>
        <p:nvSpPr>
          <p:cNvPr id="120834"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TextEdit="1"/>
          </p:cNvSpPr>
          <p:nvPr>
            <p:ph type="sldImg"/>
          </p:nvPr>
        </p:nvSpPr>
        <p:spPr/>
      </p:sp>
      <p:sp>
        <p:nvSpPr>
          <p:cNvPr id="90115" name="Rectangle 3"/>
          <p:cNvSpPr>
            <a:spLocks noGrp="1"/>
          </p:cNvSpPr>
          <p:nvPr>
            <p:ph type="body"/>
          </p:nvPr>
        </p:nvSpPr>
        <p:spPr/>
        <p:txBody>
          <a:bodyPr wrap="square" lIns="91440" tIns="45720" rIns="91440" bIns="45720" anchor="t" anchorCtr="0"/>
          <a:lstStyle/>
          <a:p>
            <a:pPr lvl="0" eaLnBrk="1" hangingPunct="1"/>
            <a:r>
              <a:rPr lang="zh-CN" altLang="en-US" dirty="0"/>
              <a:t>    由于钟控</a:t>
            </a:r>
            <a:r>
              <a:rPr lang="en-US" altLang="zh-CN" dirty="0"/>
              <a:t>RS</a:t>
            </a:r>
            <a:r>
              <a:rPr lang="zh-CN" altLang="en-US" dirty="0"/>
              <a:t>触发器的不定状态是在</a:t>
            </a:r>
            <a:r>
              <a:rPr lang="en-US" altLang="zh-CN" dirty="0"/>
              <a:t>R</a:t>
            </a:r>
            <a:r>
              <a:rPr lang="zh-CN" altLang="en-US" dirty="0"/>
              <a:t>和</a:t>
            </a:r>
            <a:r>
              <a:rPr lang="en-US" altLang="zh-CN" dirty="0"/>
              <a:t>S</a:t>
            </a:r>
            <a:r>
              <a:rPr lang="zh-CN" altLang="en-US" dirty="0"/>
              <a:t>同时为高电平时产生的，只要设法使</a:t>
            </a:r>
            <a:r>
              <a:rPr lang="en-US" altLang="zh-CN" dirty="0"/>
              <a:t>RS=11</a:t>
            </a:r>
            <a:r>
              <a:rPr lang="zh-CN" altLang="en-US" dirty="0"/>
              <a:t>的情况永远不会发生，就可以避免产生不定状态。</a:t>
            </a:r>
          </a:p>
          <a:p>
            <a:pPr lvl="0" eaLnBrk="1" hangingPunct="1"/>
            <a:r>
              <a:rPr lang="en-US" altLang="zh-CN" dirty="0"/>
              <a:t>    </a:t>
            </a:r>
            <a:r>
              <a:rPr lang="zh-CN" altLang="en-US" dirty="0"/>
              <a:t>可以通过一个非门使</a:t>
            </a:r>
            <a:r>
              <a:rPr lang="en-US" altLang="zh-CN" dirty="0"/>
              <a:t>2</a:t>
            </a:r>
            <a:r>
              <a:rPr lang="zh-CN" altLang="en-US" dirty="0"/>
              <a:t>个输入信号总是互非，即将其</a:t>
            </a:r>
            <a:r>
              <a:rPr lang="en-US" altLang="zh-CN" dirty="0"/>
              <a:t>S</a:t>
            </a:r>
            <a:r>
              <a:rPr lang="zh-CN" altLang="en-US" dirty="0"/>
              <a:t>输入端改为</a:t>
            </a:r>
            <a:r>
              <a:rPr lang="en-US" altLang="zh-CN" dirty="0"/>
              <a:t>D</a:t>
            </a:r>
            <a:r>
              <a:rPr lang="zh-CN" altLang="en-US" dirty="0"/>
              <a:t>输入端，然后经过非门接</a:t>
            </a:r>
            <a:r>
              <a:rPr lang="en-US" altLang="zh-CN" dirty="0"/>
              <a:t>R</a:t>
            </a:r>
            <a:r>
              <a:rPr lang="zh-CN" altLang="en-US" dirty="0"/>
              <a:t>端。</a:t>
            </a:r>
            <a:r>
              <a:rPr lang="en-US" altLang="zh-CN" dirty="0"/>
              <a:t>S</a:t>
            </a:r>
            <a:r>
              <a:rPr lang="zh-CN" altLang="en-US" dirty="0"/>
              <a:t>＝</a:t>
            </a:r>
            <a:r>
              <a:rPr lang="en-US" altLang="zh-CN" dirty="0"/>
              <a:t>D</a:t>
            </a:r>
            <a:r>
              <a:rPr lang="zh-CN" altLang="en-US" dirty="0"/>
              <a:t>，</a:t>
            </a:r>
            <a:r>
              <a:rPr lang="en-US" altLang="zh-CN" dirty="0"/>
              <a:t>R</a:t>
            </a:r>
            <a:r>
              <a:rPr lang="zh-CN" altLang="en-US" dirty="0"/>
              <a:t>＝</a:t>
            </a:r>
            <a:r>
              <a:rPr lang="en-US" altLang="zh-CN" dirty="0"/>
              <a:t>/D</a:t>
            </a:r>
            <a:r>
              <a:rPr lang="zh-CN" altLang="en-US" dirty="0"/>
              <a:t>（</a:t>
            </a:r>
            <a:r>
              <a:rPr lang="en-US" altLang="zh-CN" dirty="0"/>
              <a:t>S</a:t>
            </a:r>
            <a:r>
              <a:rPr lang="zh-CN" altLang="en-US" dirty="0"/>
              <a:t>、</a:t>
            </a:r>
            <a:r>
              <a:rPr lang="en-US" altLang="zh-CN" dirty="0"/>
              <a:t>R</a:t>
            </a:r>
            <a:r>
              <a:rPr lang="zh-CN" altLang="en-US" dirty="0"/>
              <a:t>总是互非的，不可能出现</a:t>
            </a:r>
            <a:r>
              <a:rPr lang="en-US" altLang="zh-CN" dirty="0"/>
              <a:t>S=1</a:t>
            </a:r>
            <a:r>
              <a:rPr lang="zh-CN" altLang="en-US" dirty="0"/>
              <a:t>、</a:t>
            </a:r>
            <a:r>
              <a:rPr lang="en-US" altLang="zh-CN" dirty="0"/>
              <a:t>R=1</a:t>
            </a:r>
            <a:r>
              <a:rPr lang="zh-CN" altLang="en-US" dirty="0"/>
              <a:t>的情况，即不会出现不定状态；但也不可能出现</a:t>
            </a:r>
            <a:r>
              <a:rPr lang="en-US" altLang="zh-CN" dirty="0"/>
              <a:t>S=0</a:t>
            </a:r>
            <a:r>
              <a:rPr lang="zh-CN" altLang="en-US" dirty="0"/>
              <a:t>、</a:t>
            </a:r>
            <a:r>
              <a:rPr lang="en-US" altLang="zh-CN" dirty="0"/>
              <a:t>R=0</a:t>
            </a:r>
            <a:r>
              <a:rPr lang="zh-CN" altLang="en-US" dirty="0"/>
              <a:t>的情况，即没有保持功能）</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TextEdit="1"/>
          </p:cNvSpPr>
          <p:nvPr>
            <p:ph type="sldImg"/>
          </p:nvPr>
        </p:nvSpPr>
        <p:spPr/>
      </p:sp>
      <p:sp>
        <p:nvSpPr>
          <p:cNvPr id="92163" name="Rectangle 3"/>
          <p:cNvSpPr>
            <a:spLocks noGrp="1"/>
          </p:cNvSpPr>
          <p:nvPr>
            <p:ph type="body"/>
          </p:nvPr>
        </p:nvSpPr>
        <p:spPr/>
        <p:txBody>
          <a:bodyPr wrap="square" lIns="91440" tIns="45720" rIns="91440" bIns="45720" anchor="t" anchorCtr="0"/>
          <a:lstStyle/>
          <a:p>
            <a:pPr lvl="0" eaLnBrk="1" hangingPunct="1"/>
            <a:r>
              <a:rPr lang="zh-CN" altLang="en-US" dirty="0"/>
              <a:t>由特性表推导出输出的逻辑函数表达式</a:t>
            </a:r>
            <a:endParaRPr lang="en-US" altLang="zh-CN" dirty="0"/>
          </a:p>
          <a:p>
            <a:pPr lvl="0" eaLnBrk="1" hangingPunct="1"/>
            <a:r>
              <a:rPr lang="zh-CN" altLang="en-US" dirty="0"/>
              <a:t>从时序图我们可以看出，</a:t>
            </a:r>
            <a:r>
              <a:rPr lang="zh-CN" altLang="en-US" dirty="0">
                <a:solidFill>
                  <a:srgbClr val="FF0066"/>
                </a:solidFill>
                <a:latin typeface="Times New Roman" panose="02020603050405020304" pitchFamily="18" charset="0"/>
              </a:rPr>
              <a:t>当</a:t>
            </a:r>
            <a:r>
              <a:rPr lang="en-US" altLang="zh-CN" dirty="0">
                <a:solidFill>
                  <a:srgbClr val="FF0066"/>
                </a:solidFill>
                <a:latin typeface="Times New Roman" panose="02020603050405020304" pitchFamily="18" charset="0"/>
              </a:rPr>
              <a:t>CP=1</a:t>
            </a:r>
            <a:r>
              <a:rPr lang="zh-CN" altLang="en-US" dirty="0">
                <a:solidFill>
                  <a:srgbClr val="FF0066"/>
                </a:solidFill>
                <a:latin typeface="Times New Roman" panose="02020603050405020304" pitchFamily="18" charset="0"/>
              </a:rPr>
              <a:t>时，输出</a:t>
            </a:r>
            <a:r>
              <a:rPr lang="en-US" altLang="zh-CN" dirty="0">
                <a:solidFill>
                  <a:srgbClr val="FF0066"/>
                </a:solidFill>
                <a:latin typeface="Times New Roman" panose="02020603050405020304" pitchFamily="18" charset="0"/>
              </a:rPr>
              <a:t>Q</a:t>
            </a:r>
            <a:r>
              <a:rPr lang="zh-CN" altLang="en-US" dirty="0">
                <a:solidFill>
                  <a:srgbClr val="FF0066"/>
                </a:solidFill>
                <a:latin typeface="Times New Roman" panose="02020603050405020304" pitchFamily="18" charset="0"/>
              </a:rPr>
              <a:t>的波形与输入</a:t>
            </a:r>
            <a:r>
              <a:rPr lang="en-US" altLang="zh-CN" dirty="0">
                <a:solidFill>
                  <a:srgbClr val="FF0066"/>
                </a:solidFill>
                <a:latin typeface="Times New Roman" panose="02020603050405020304" pitchFamily="18" charset="0"/>
              </a:rPr>
              <a:t>D</a:t>
            </a:r>
            <a:r>
              <a:rPr lang="zh-CN" altLang="en-US" dirty="0">
                <a:solidFill>
                  <a:srgbClr val="FF0066"/>
                </a:solidFill>
                <a:latin typeface="Times New Roman" panose="02020603050405020304" pitchFamily="18" charset="0"/>
              </a:rPr>
              <a:t>的波形完全相同；</a:t>
            </a:r>
            <a:r>
              <a:rPr lang="zh-CN" altLang="en-US" dirty="0">
                <a:solidFill>
                  <a:srgbClr val="FF0066"/>
                </a:solidFill>
                <a:latin typeface="Times New Roman" panose="02020603050405020304" pitchFamily="18" charset="0"/>
                <a:ea typeface="楷体_GB2312" pitchFamily="49" charset="-122"/>
              </a:rPr>
              <a:t>当</a:t>
            </a:r>
            <a:r>
              <a:rPr lang="en-US" altLang="zh-CN" dirty="0">
                <a:solidFill>
                  <a:srgbClr val="FF0066"/>
                </a:solidFill>
                <a:latin typeface="Times New Roman" panose="02020603050405020304" pitchFamily="18" charset="0"/>
                <a:ea typeface="楷体_GB2312" pitchFamily="49" charset="-122"/>
              </a:rPr>
              <a:t>CP=0</a:t>
            </a:r>
            <a:r>
              <a:rPr lang="zh-CN" altLang="en-US" dirty="0">
                <a:solidFill>
                  <a:srgbClr val="FF0066"/>
                </a:solidFill>
                <a:latin typeface="Times New Roman" panose="02020603050405020304" pitchFamily="18" charset="0"/>
                <a:ea typeface="楷体_GB2312" pitchFamily="49" charset="-122"/>
              </a:rPr>
              <a:t>时，</a:t>
            </a:r>
            <a:r>
              <a:rPr lang="en-US" altLang="zh-CN" dirty="0">
                <a:solidFill>
                  <a:srgbClr val="FF0066"/>
                </a:solidFill>
                <a:latin typeface="Times New Roman" panose="02020603050405020304" pitchFamily="18" charset="0"/>
                <a:ea typeface="楷体_GB2312" pitchFamily="49" charset="-122"/>
              </a:rPr>
              <a:t>Q</a:t>
            </a:r>
            <a:r>
              <a:rPr lang="zh-CN" altLang="en-US" dirty="0">
                <a:solidFill>
                  <a:srgbClr val="FF0066"/>
                </a:solidFill>
                <a:latin typeface="Times New Roman" panose="02020603050405020304" pitchFamily="18" charset="0"/>
                <a:ea typeface="楷体_GB2312" pitchFamily="49" charset="-122"/>
              </a:rPr>
              <a:t>保持原来的状态</a:t>
            </a:r>
            <a:r>
              <a:rPr lang="en-US" altLang="zh-CN" dirty="0">
                <a:solidFill>
                  <a:srgbClr val="FF0066"/>
                </a:solidFill>
                <a:latin typeface="Times New Roman" panose="02020603050405020304" pitchFamily="18" charset="0"/>
                <a:ea typeface="楷体_GB2312" pitchFamily="49" charset="-122"/>
              </a:rPr>
              <a:t>,</a:t>
            </a:r>
            <a:r>
              <a:rPr lang="zh-CN" altLang="en-US" dirty="0">
                <a:solidFill>
                  <a:srgbClr val="FF0066"/>
                </a:solidFill>
                <a:latin typeface="Times New Roman" panose="02020603050405020304" pitchFamily="18" charset="0"/>
                <a:ea typeface="楷体_GB2312" pitchFamily="49" charset="-122"/>
              </a:rPr>
              <a:t>并不会随</a:t>
            </a:r>
            <a:r>
              <a:rPr lang="en-US" altLang="zh-CN" dirty="0">
                <a:solidFill>
                  <a:srgbClr val="FF0066"/>
                </a:solidFill>
                <a:latin typeface="Times New Roman" panose="02020603050405020304" pitchFamily="18" charset="0"/>
                <a:ea typeface="楷体_GB2312" pitchFamily="49" charset="-122"/>
              </a:rPr>
              <a:t>D</a:t>
            </a:r>
            <a:r>
              <a:rPr lang="zh-CN" altLang="en-US" dirty="0">
                <a:solidFill>
                  <a:srgbClr val="FF0066"/>
                </a:solidFill>
                <a:latin typeface="Times New Roman" panose="02020603050405020304" pitchFamily="18" charset="0"/>
                <a:ea typeface="楷体_GB2312" pitchFamily="49" charset="-122"/>
              </a:rPr>
              <a:t>的变化而变化</a:t>
            </a:r>
            <a:endParaRPr lang="en-US" altLang="zh-CN" dirty="0">
              <a:solidFill>
                <a:srgbClr val="FF0066"/>
              </a:solidFill>
              <a:latin typeface="Times New Roman" panose="02020603050405020304" pitchFamily="18" charset="0"/>
              <a:ea typeface="楷体_GB2312" pitchFamily="49" charset="-122"/>
            </a:endParaRPr>
          </a:p>
          <a:p>
            <a:pPr lvl="0" eaLnBrk="1" hangingPunct="1"/>
            <a:endParaRPr lang="zh-CN" altLang="en-US" dirty="0">
              <a:solidFill>
                <a:srgbClr val="FF0066"/>
              </a:solidFill>
              <a:latin typeface="Times New Roman" panose="02020603050405020304" pitchFamily="18" charset="0"/>
            </a:endParaRPr>
          </a:p>
          <a:p>
            <a:pPr lvl="0" eaLnBrk="1" hangingPunct="1"/>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spect="1" noTextEdit="1"/>
          </p:cNvSpPr>
          <p:nvPr>
            <p:ph type="sldImg"/>
          </p:nvPr>
        </p:nvSpPr>
        <p:spPr/>
      </p:sp>
      <p:sp>
        <p:nvSpPr>
          <p:cNvPr id="94211"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TextEdit="1"/>
          </p:cNvSpPr>
          <p:nvPr>
            <p:ph type="sldImg"/>
          </p:nvPr>
        </p:nvSpPr>
        <p:spPr/>
      </p:sp>
      <p:sp>
        <p:nvSpPr>
          <p:cNvPr id="96259" name="Rectangle 3"/>
          <p:cNvSpPr>
            <a:spLocks noGrp="1"/>
          </p:cNvSpPr>
          <p:nvPr>
            <p:ph type="body"/>
          </p:nvPr>
        </p:nvSpPr>
        <p:spPr/>
        <p:txBody>
          <a:bodyPr wrap="square" lIns="91440" tIns="45720" rIns="91440" bIns="45720" anchor="t" anchorCtr="0"/>
          <a:lstStyle/>
          <a:p>
            <a:pPr lvl="0" eaLnBrk="1" hangingPunct="1"/>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TextEdit="1"/>
          </p:cNvSpPr>
          <p:nvPr>
            <p:ph type="sldImg"/>
          </p:nvPr>
        </p:nvSpPr>
        <p:spPr/>
      </p:sp>
      <p:sp>
        <p:nvSpPr>
          <p:cNvPr id="98307" name="Rectangle 3"/>
          <p:cNvSpPr>
            <a:spLocks noGrp="1"/>
          </p:cNvSpPr>
          <p:nvPr>
            <p:ph type="body"/>
          </p:nvPr>
        </p:nvSpPr>
        <p:spPr/>
        <p:txBody>
          <a:bodyPr wrap="square" lIns="91440" tIns="45720" rIns="91440" bIns="45720" anchor="t" anchorCtr="0"/>
          <a:lstStyle/>
          <a:p>
            <a:pPr lvl="0" eaLnBrk="1" hangingPunct="1"/>
            <a:r>
              <a:rPr lang="zh-CN" altLang="en-US" dirty="0"/>
              <a:t>刚上电时触发器的状态是随机的，由于</a:t>
            </a:r>
            <a:r>
              <a:rPr lang="en-US" altLang="zh-CN" dirty="0"/>
              <a:t>CP=0</a:t>
            </a:r>
            <a:r>
              <a:rPr lang="zh-CN" altLang="en-US" dirty="0"/>
              <a:t>时</a:t>
            </a:r>
            <a:r>
              <a:rPr lang="en-US" altLang="zh-CN" dirty="0"/>
              <a:t>D</a:t>
            </a:r>
            <a:r>
              <a:rPr lang="zh-CN" altLang="en-US" dirty="0"/>
              <a:t>锁存器保持原态，故在</a:t>
            </a:r>
            <a:r>
              <a:rPr lang="en-US" altLang="zh-CN" dirty="0"/>
              <a:t>0~100ns</a:t>
            </a:r>
            <a:r>
              <a:rPr lang="zh-CN" altLang="en-US" dirty="0"/>
              <a:t>期间触发器保持初始的未知状态。</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spect="1" noTextEdit="1"/>
          </p:cNvSpPr>
          <p:nvPr>
            <p:ph type="sldImg"/>
          </p:nvPr>
        </p:nvSpPr>
        <p:spPr/>
      </p:sp>
      <p:sp>
        <p:nvSpPr>
          <p:cNvPr id="100355" name="Rectangle 3"/>
          <p:cNvSpPr>
            <a:spLocks noGrp="1"/>
          </p:cNvSpPr>
          <p:nvPr>
            <p:ph type="body"/>
          </p:nvPr>
        </p:nvSpPr>
        <p:spPr/>
        <p:txBody>
          <a:bodyPr wrap="square" lIns="91440" tIns="45720" rIns="91440" bIns="45720" anchor="t" anchorCtr="0"/>
          <a:lstStyle/>
          <a:p>
            <a:pPr lvl="0" algn="just" eaLnBrk="1" hangingPunct="1"/>
            <a:r>
              <a:rPr lang="zh-CN" altLang="en-US" dirty="0"/>
              <a:t>    钟控</a:t>
            </a:r>
            <a:r>
              <a:rPr lang="en-US" altLang="zh-CN" dirty="0"/>
              <a:t>D</a:t>
            </a:r>
            <a:r>
              <a:rPr lang="zh-CN" altLang="en-US" dirty="0"/>
              <a:t>触发器由于用一个非门把</a:t>
            </a:r>
            <a:r>
              <a:rPr lang="en-US" altLang="zh-CN" dirty="0"/>
              <a:t>2</a:t>
            </a:r>
            <a:r>
              <a:rPr lang="zh-CN" altLang="en-US" dirty="0"/>
              <a:t>个输入信号分开，</a:t>
            </a:r>
            <a:r>
              <a:rPr lang="zh-CN" altLang="en-US" b="1" dirty="0"/>
              <a:t>避免了钟控</a:t>
            </a:r>
            <a:r>
              <a:rPr lang="en-US" altLang="zh-CN" b="1" dirty="0"/>
              <a:t>RS</a:t>
            </a:r>
            <a:r>
              <a:rPr lang="zh-CN" altLang="en-US" b="1" dirty="0"/>
              <a:t>触发器的不定状态</a:t>
            </a:r>
            <a:r>
              <a:rPr lang="zh-CN" altLang="en-US" dirty="0"/>
              <a:t>（</a:t>
            </a:r>
            <a:r>
              <a:rPr lang="en-US" altLang="zh-CN" dirty="0"/>
              <a:t>S</a:t>
            </a:r>
            <a:r>
              <a:rPr lang="zh-CN" altLang="en-US" dirty="0"/>
              <a:t>、</a:t>
            </a:r>
            <a:r>
              <a:rPr lang="en-US" altLang="zh-CN" dirty="0"/>
              <a:t>R</a:t>
            </a:r>
            <a:r>
              <a:rPr lang="zh-CN" altLang="en-US" dirty="0"/>
              <a:t>总是互非的，不可能出现</a:t>
            </a:r>
            <a:r>
              <a:rPr lang="en-US" altLang="zh-CN" dirty="0"/>
              <a:t>S=1</a:t>
            </a:r>
            <a:r>
              <a:rPr lang="zh-CN" altLang="en-US" dirty="0"/>
              <a:t>、</a:t>
            </a:r>
            <a:r>
              <a:rPr lang="en-US" altLang="zh-CN" dirty="0"/>
              <a:t>R=1</a:t>
            </a:r>
            <a:r>
              <a:rPr lang="zh-CN" altLang="en-US" dirty="0"/>
              <a:t>的情况，即不会出现不定状态），但同时</a:t>
            </a:r>
            <a:r>
              <a:rPr lang="zh-CN" altLang="en-US" b="1" dirty="0"/>
              <a:t>功能较少</a:t>
            </a:r>
            <a:r>
              <a:rPr lang="zh-CN" altLang="en-US" dirty="0"/>
              <a:t>（</a:t>
            </a:r>
            <a:r>
              <a:rPr lang="en-US" altLang="zh-CN" dirty="0"/>
              <a:t>CP=1</a:t>
            </a:r>
            <a:r>
              <a:rPr lang="zh-CN" altLang="en-US" dirty="0"/>
              <a:t>时没有保持功能）。</a:t>
            </a:r>
          </a:p>
          <a:p>
            <a:pPr lvl="0" algn="just" eaLnBrk="1" hangingPunct="1"/>
            <a:r>
              <a:rPr lang="zh-CN" altLang="en-US" dirty="0"/>
              <a:t>    在扑克牌中，</a:t>
            </a:r>
            <a:r>
              <a:rPr lang="en-US" altLang="zh-CN" dirty="0"/>
              <a:t>J</a:t>
            </a:r>
            <a:r>
              <a:rPr lang="zh-CN" altLang="en-US" dirty="0"/>
              <a:t>代表王子，</a:t>
            </a:r>
            <a:r>
              <a:rPr lang="en-US" altLang="zh-CN" dirty="0"/>
              <a:t>K</a:t>
            </a:r>
            <a:r>
              <a:rPr lang="zh-CN" altLang="en-US" dirty="0"/>
              <a:t>代表国王，</a:t>
            </a:r>
            <a:r>
              <a:rPr lang="en-US" altLang="zh-CN" dirty="0"/>
              <a:t>JK</a:t>
            </a:r>
            <a:r>
              <a:rPr lang="zh-CN" altLang="en-US" dirty="0"/>
              <a:t>触发器就是王牌触发器。这是因为它的功能比较完善，既能置</a:t>
            </a:r>
            <a:r>
              <a:rPr lang="en-US" altLang="zh-CN" dirty="0"/>
              <a:t>0</a:t>
            </a:r>
            <a:r>
              <a:rPr lang="zh-CN" altLang="en-US" dirty="0"/>
              <a:t>和置</a:t>
            </a:r>
            <a:r>
              <a:rPr lang="en-US" altLang="zh-CN" dirty="0"/>
              <a:t>1</a:t>
            </a:r>
            <a:r>
              <a:rPr lang="zh-CN" altLang="en-US" dirty="0"/>
              <a:t>，又能分频计数，还可以保持原状态不变。所以，这种触发器的应用十分广泛。 </a:t>
            </a:r>
          </a:p>
          <a:p>
            <a:pPr lvl="0" eaLnBrk="1" hangingPunct="1"/>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Rectangle 2"/>
          <p:cNvSpPr>
            <a:spLocks noGrp="1" noRot="1" noChangeAspect="1" noChangeArrowheads="1" noTextEdit="1"/>
          </p:cNvSpPr>
          <p:nvPr>
            <p:ph type="sldImg"/>
          </p:nvPr>
        </p:nvSpPr>
        <p:spPr/>
      </p:sp>
      <p:sp>
        <p:nvSpPr>
          <p:cNvPr id="232451" name="Rectangle 3"/>
          <p:cNvSpPr>
            <a:spLocks noGrp="1" noChangeArrowheads="1"/>
          </p:cNvSpPr>
          <p:nvPr>
            <p:ph type="body" idx="1"/>
          </p:nvPr>
        </p:nvSpPr>
        <p:spPr>
          <a:noFill/>
        </p:spPr>
        <p:txBody>
          <a:bodyPr/>
          <a:lstStyle/>
          <a:p>
            <a:r>
              <a:rPr lang="zh-CN" altLang="en-US" smtClean="0"/>
              <a:t>参见</a:t>
            </a:r>
            <a:r>
              <a:rPr lang="en-US" altLang="zh-CN" smtClean="0"/>
              <a:t>《</a:t>
            </a:r>
            <a:r>
              <a:rPr lang="zh-CN" altLang="en-US" smtClean="0"/>
              <a:t>数字系统设计与</a:t>
            </a:r>
            <a:r>
              <a:rPr lang="en-US" altLang="zh-CN" smtClean="0"/>
              <a:t>Verilog HDL</a:t>
            </a:r>
            <a:r>
              <a:rPr lang="zh-CN" altLang="en-US" smtClean="0"/>
              <a:t>（第</a:t>
            </a:r>
            <a:r>
              <a:rPr lang="en-US" altLang="zh-CN" smtClean="0"/>
              <a:t>4</a:t>
            </a:r>
            <a:r>
              <a:rPr lang="zh-CN" altLang="en-US" smtClean="0"/>
              <a:t>版）</a:t>
            </a:r>
            <a:r>
              <a:rPr lang="en-US" altLang="zh-CN" smtClean="0"/>
              <a:t>》</a:t>
            </a:r>
            <a:r>
              <a:rPr lang="zh-CN" altLang="en-US" smtClean="0"/>
              <a:t>第</a:t>
            </a:r>
            <a:r>
              <a:rPr lang="en-US" altLang="zh-CN" smtClean="0"/>
              <a:t>8</a:t>
            </a:r>
            <a:r>
              <a:rPr lang="zh-CN" altLang="en-US" smtClean="0"/>
              <a:t>章“</a:t>
            </a:r>
            <a:r>
              <a:rPr lang="en-US" altLang="zh-CN" smtClean="0"/>
              <a:t>Verilog HDL</a:t>
            </a:r>
            <a:r>
              <a:rPr lang="zh-CN" altLang="en-US" smtClean="0">
                <a:solidFill>
                  <a:srgbClr val="FFCC00"/>
                </a:solidFill>
                <a:ea typeface="黑体" panose="02010609060101010101" pitchFamily="49" charset="-122"/>
              </a:rPr>
              <a:t>有限状态机设计”，</a:t>
            </a:r>
            <a:r>
              <a:rPr lang="en-US" altLang="zh-CN" smtClean="0">
                <a:solidFill>
                  <a:srgbClr val="FFCC00"/>
                </a:solidFill>
                <a:ea typeface="黑体" panose="02010609060101010101" pitchFamily="49" charset="-122"/>
              </a:rPr>
              <a:t>P195</a:t>
            </a:r>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Rot="1" noChangeAspect="1" noChangeArrowheads="1" noTextEdit="1"/>
          </p:cNvSpPr>
          <p:nvPr>
            <p:ph type="sldImg"/>
          </p:nvPr>
        </p:nvSpPr>
        <p:spPr/>
      </p:sp>
      <p:sp>
        <p:nvSpPr>
          <p:cNvPr id="233475"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Rot="1" noChangeAspect="1" noChangeArrowheads="1" noTextEdit="1"/>
          </p:cNvSpPr>
          <p:nvPr>
            <p:ph type="sldImg"/>
          </p:nvPr>
        </p:nvSpPr>
        <p:spPr/>
      </p:sp>
      <p:sp>
        <p:nvSpPr>
          <p:cNvPr id="234499" name="Rectangle 3"/>
          <p:cNvSpPr>
            <a:spLocks noGrp="1" noChangeArrowheads="1"/>
          </p:cNvSpPr>
          <p:nvPr>
            <p:ph type="body" idx="1"/>
          </p:nvPr>
        </p:nvSpPr>
        <p:spPr>
          <a:noFill/>
        </p:spPr>
        <p:txBody>
          <a:bodyPr/>
          <a:lstStyle/>
          <a:p>
            <a:r>
              <a:rPr kumimoji="1" lang="zh-CN" altLang="en-US" dirty="0" smtClean="0">
                <a:solidFill>
                  <a:srgbClr val="000000"/>
                </a:solidFill>
                <a:latin typeface="宋体" panose="02010600030101010101" pitchFamily="2" charset="-122"/>
              </a:rPr>
              <a:t>    状态图是最常用的表示方式。“</a:t>
            </a:r>
            <a:r>
              <a:rPr kumimoji="1" lang="en-US" altLang="zh-CN" dirty="0" smtClean="0">
                <a:solidFill>
                  <a:srgbClr val="000000"/>
                </a:solidFill>
                <a:latin typeface="宋体" panose="02010600030101010101" pitchFamily="2" charset="-122"/>
              </a:rPr>
              <a:t>Q</a:t>
            </a:r>
            <a:r>
              <a:rPr kumimoji="1" lang="en-US" altLang="zh-CN" baseline="-25000" dirty="0" smtClean="0">
                <a:solidFill>
                  <a:srgbClr val="000000"/>
                </a:solidFill>
                <a:latin typeface="宋体" panose="02010600030101010101" pitchFamily="2" charset="-122"/>
              </a:rPr>
              <a:t>2</a:t>
            </a:r>
            <a:r>
              <a:rPr kumimoji="1" lang="en-US" altLang="zh-CN" dirty="0" smtClean="0">
                <a:solidFill>
                  <a:srgbClr val="000000"/>
                </a:solidFill>
                <a:latin typeface="宋体" panose="02010600030101010101" pitchFamily="2" charset="-122"/>
              </a:rPr>
              <a:t>Q</a:t>
            </a:r>
            <a:r>
              <a:rPr kumimoji="1" lang="en-US" altLang="zh-CN" baseline="-25000" dirty="0" smtClean="0">
                <a:solidFill>
                  <a:srgbClr val="000000"/>
                </a:solidFill>
                <a:latin typeface="宋体" panose="02010600030101010101" pitchFamily="2" charset="-122"/>
              </a:rPr>
              <a:t>1</a:t>
            </a:r>
            <a:r>
              <a:rPr kumimoji="1" lang="en-US" altLang="zh-CN" dirty="0" smtClean="0">
                <a:solidFill>
                  <a:srgbClr val="000000"/>
                </a:solidFill>
                <a:latin typeface="宋体" panose="02010600030101010101" pitchFamily="2" charset="-122"/>
              </a:rPr>
              <a:t>Q</a:t>
            </a:r>
            <a:r>
              <a:rPr kumimoji="1" lang="en-US" altLang="zh-CN" baseline="-25000" dirty="0" smtClean="0">
                <a:solidFill>
                  <a:srgbClr val="000000"/>
                </a:solidFill>
                <a:latin typeface="宋体" panose="02010600030101010101" pitchFamily="2" charset="-122"/>
              </a:rPr>
              <a:t>0</a:t>
            </a:r>
            <a:r>
              <a:rPr kumimoji="1" lang="en-US" altLang="zh-CN" dirty="0" smtClean="0">
                <a:solidFill>
                  <a:srgbClr val="000000"/>
                </a:solidFill>
                <a:latin typeface="宋体" panose="02010600030101010101" pitchFamily="2" charset="-122"/>
              </a:rPr>
              <a:t>/C”</a:t>
            </a:r>
            <a:r>
              <a:rPr kumimoji="1" lang="zh-CN" altLang="en-US" dirty="0" smtClean="0">
                <a:solidFill>
                  <a:srgbClr val="000000"/>
                </a:solidFill>
                <a:latin typeface="宋体" panose="02010600030101010101" pitchFamily="2" charset="-122"/>
              </a:rPr>
              <a:t>表示图例，斜线左边表示状态组合的顺序，从左至右为</a:t>
            </a:r>
            <a:r>
              <a:rPr kumimoji="1" lang="en-US" altLang="zh-CN" dirty="0" smtClean="0">
                <a:solidFill>
                  <a:srgbClr val="000000"/>
                </a:solidFill>
                <a:latin typeface="宋体" panose="02010600030101010101" pitchFamily="2" charset="-122"/>
              </a:rPr>
              <a:t>Q</a:t>
            </a:r>
            <a:r>
              <a:rPr kumimoji="1" lang="en-US" altLang="zh-CN" baseline="-25000" dirty="0" smtClean="0">
                <a:solidFill>
                  <a:srgbClr val="000000"/>
                </a:solidFill>
                <a:latin typeface="宋体" panose="02010600030101010101" pitchFamily="2" charset="-122"/>
              </a:rPr>
              <a:t>2</a:t>
            </a:r>
            <a:r>
              <a:rPr kumimoji="1" lang="zh-CN" altLang="en-US" dirty="0" smtClean="0">
                <a:solidFill>
                  <a:srgbClr val="000000"/>
                </a:solidFill>
                <a:latin typeface="宋体" panose="02010600030101010101" pitchFamily="2" charset="-122"/>
              </a:rPr>
              <a:t>、</a:t>
            </a:r>
            <a:r>
              <a:rPr kumimoji="1" lang="en-US" altLang="zh-CN" dirty="0" smtClean="0">
                <a:solidFill>
                  <a:srgbClr val="000000"/>
                </a:solidFill>
                <a:latin typeface="宋体" panose="02010600030101010101" pitchFamily="2" charset="-122"/>
              </a:rPr>
              <a:t>Q</a:t>
            </a:r>
            <a:r>
              <a:rPr kumimoji="1" lang="en-US" altLang="zh-CN" baseline="-25000" dirty="0" smtClean="0">
                <a:solidFill>
                  <a:srgbClr val="000000"/>
                </a:solidFill>
                <a:latin typeface="宋体" panose="02010600030101010101" pitchFamily="2" charset="-122"/>
              </a:rPr>
              <a:t>1</a:t>
            </a:r>
            <a:r>
              <a:rPr kumimoji="1" lang="zh-CN" altLang="en-US" dirty="0" smtClean="0">
                <a:solidFill>
                  <a:srgbClr val="000000"/>
                </a:solidFill>
                <a:latin typeface="宋体" panose="02010600030101010101" pitchFamily="2" charset="-122"/>
              </a:rPr>
              <a:t>、</a:t>
            </a:r>
            <a:r>
              <a:rPr kumimoji="1" lang="en-US" altLang="zh-CN" dirty="0" smtClean="0">
                <a:solidFill>
                  <a:srgbClr val="000000"/>
                </a:solidFill>
                <a:latin typeface="宋体" panose="02010600030101010101" pitchFamily="2" charset="-122"/>
              </a:rPr>
              <a:t>Q</a:t>
            </a:r>
            <a:r>
              <a:rPr kumimoji="1" lang="en-US" altLang="zh-CN" baseline="-25000" dirty="0" smtClean="0">
                <a:solidFill>
                  <a:srgbClr val="000000"/>
                </a:solidFill>
                <a:latin typeface="宋体" panose="02010600030101010101" pitchFamily="2" charset="-122"/>
              </a:rPr>
              <a:t>0</a:t>
            </a:r>
            <a:r>
              <a:rPr kumimoji="1" lang="zh-CN" altLang="en-US" dirty="0" smtClean="0">
                <a:solidFill>
                  <a:srgbClr val="000000"/>
                </a:solidFill>
                <a:latin typeface="宋体" panose="02010600030101010101" pitchFamily="2" charset="-122"/>
              </a:rPr>
              <a:t>；斜线右边表示输出信号</a:t>
            </a:r>
            <a:endParaRPr kumimoji="1" lang="en-US" altLang="zh-CN" dirty="0" smtClean="0">
              <a:solidFill>
                <a:srgbClr val="000000"/>
              </a:solidFill>
              <a:latin typeface="宋体" panose="02010600030101010101" pitchFamily="2" charset="-122"/>
            </a:endParaRPr>
          </a:p>
          <a:p>
            <a:r>
              <a:rPr lang="en-US" altLang="zh-CN" sz="1200" kern="1200" dirty="0" smtClean="0">
                <a:solidFill>
                  <a:schemeClr val="tx1"/>
                </a:solidFill>
                <a:latin typeface="Arial" panose="020B0604020202020204" pitchFamily="34" charset="0"/>
                <a:ea typeface="宋体" panose="02010600030101010101" pitchFamily="2" charset="-122"/>
                <a:cs typeface="+mn-cs"/>
              </a:rPr>
              <a:t>    </a:t>
            </a:r>
            <a:r>
              <a:rPr lang="zh-CN" altLang="zh-CN" sz="1200" kern="1200" dirty="0" smtClean="0">
                <a:solidFill>
                  <a:schemeClr val="tx1"/>
                </a:solidFill>
                <a:latin typeface="Arial" panose="020B0604020202020204" pitchFamily="34" charset="0"/>
                <a:ea typeface="宋体" panose="02010600030101010101" pitchFamily="2" charset="-122"/>
                <a:cs typeface="+mn-cs"/>
              </a:rPr>
              <a:t>用圆圈表示每个状态，用箭头表示状态的转移。引起状态转移的条件（输入信号）标注在线上。如果是在时钟控制下顺序发生转移，而没有其他引起转移的条件，则不必标注。</a:t>
            </a:r>
            <a:endParaRPr lang="en-US" altLang="zh-CN" sz="1200" kern="1200" dirty="0" smtClean="0">
              <a:solidFill>
                <a:schemeClr val="tx1"/>
              </a:solidFill>
              <a:latin typeface="Arial" panose="020B0604020202020204" pitchFamily="34" charset="0"/>
              <a:ea typeface="宋体" panose="02010600030101010101" pitchFamily="2" charset="-122"/>
              <a:cs typeface="+mn-cs"/>
            </a:endParaRPr>
          </a:p>
          <a:p>
            <a:pPr marL="0" marR="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smtClean="0">
                <a:solidFill>
                  <a:schemeClr val="tx1"/>
                </a:solidFill>
                <a:latin typeface="Arial" panose="020B0604020202020204" pitchFamily="34" charset="0"/>
                <a:ea typeface="宋体" panose="02010600030101010101" pitchFamily="2" charset="-122"/>
                <a:cs typeface="+mn-cs"/>
              </a:rPr>
              <a:t>    </a:t>
            </a:r>
            <a:r>
              <a:rPr kumimoji="1" lang="zh-CN" altLang="en-US" sz="1200" kern="1200" dirty="0" smtClean="0">
                <a:solidFill>
                  <a:schemeClr val="tx1"/>
                </a:solidFill>
                <a:latin typeface="Arial" panose="020B0604020202020204" pitchFamily="34" charset="0"/>
                <a:ea typeface="宋体" panose="02010600030101010101" pitchFamily="2" charset="-122"/>
                <a:cs typeface="+mn-cs"/>
              </a:rPr>
              <a:t>注意：在</a:t>
            </a:r>
            <a:r>
              <a:rPr lang="zh-CN" altLang="en-US" dirty="0" smtClean="0">
                <a:solidFill>
                  <a:srgbClr val="C00000"/>
                </a:solidFill>
                <a:ea typeface="楷体_GB2312" pitchFamily="49" charset="-122"/>
              </a:rPr>
              <a:t>状态（转换）表中，最右边一列的输出，对应的是初态下的输出。</a:t>
            </a:r>
            <a:endParaRPr kumimoji="1" lang="en-US" altLang="zh-CN" dirty="0" smtClean="0">
              <a:solidFill>
                <a:srgbClr val="000000"/>
              </a:solidFill>
              <a:latin typeface="宋体" panose="02010600030101010101" pitchFamily="2" charset="-122"/>
            </a:endParaRPr>
          </a:p>
          <a:p>
            <a:r>
              <a:rPr kumimoji="1" lang="zh-CN" altLang="en-US" dirty="0" smtClean="0">
                <a:solidFill>
                  <a:srgbClr val="000000"/>
                </a:solidFill>
                <a:latin typeface="宋体" panose="02010600030101010101" pitchFamily="2" charset="-122"/>
              </a:rPr>
              <a:t>    流程图不如状态图直观，这里不作介绍</a:t>
            </a:r>
            <a:endParaRPr lang="zh-CN" alt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Rot="1" noChangeAspect="1" noChangeArrowheads="1" noTextEdit="1"/>
          </p:cNvSpPr>
          <p:nvPr>
            <p:ph type="sldImg"/>
          </p:nvPr>
        </p:nvSpPr>
        <p:spPr/>
      </p:sp>
      <p:sp>
        <p:nvSpPr>
          <p:cNvPr id="235523"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Rot="1" noChangeAspect="1" noChangeArrowheads="1" noTextEdit="1"/>
          </p:cNvSpPr>
          <p:nvPr>
            <p:ph type="sldImg"/>
          </p:nvPr>
        </p:nvSpPr>
        <p:spPr/>
      </p:sp>
      <p:sp>
        <p:nvSpPr>
          <p:cNvPr id="236547" name="Rectangle 3"/>
          <p:cNvSpPr>
            <a:spLocks noGrp="1" noChangeArrowheads="1"/>
          </p:cNvSpPr>
          <p:nvPr>
            <p:ph type="body" idx="1"/>
          </p:nvPr>
        </p:nvSpPr>
        <p:spPr>
          <a:noFill/>
        </p:spPr>
        <p:txBody>
          <a:bodyPr/>
          <a:lstStyle/>
          <a:p>
            <a:pPr eaLnBrk="1" hangingPunct="1"/>
            <a:r>
              <a:rPr kumimoji="1" lang="zh-CN" altLang="en-US" dirty="0" smtClean="0">
                <a:solidFill>
                  <a:srgbClr val="CC3300"/>
                </a:solidFill>
                <a:cs typeface="Arial" panose="020B0604020202020204" pitchFamily="34" charset="0"/>
              </a:rPr>
              <a:t>    二进制编码</a:t>
            </a:r>
            <a:r>
              <a:rPr kumimoji="1" lang="zh-CN" altLang="en-US" dirty="0" smtClean="0">
                <a:cs typeface="Arial" panose="020B0604020202020204" pitchFamily="34" charset="0"/>
              </a:rPr>
              <a:t>：采用</a:t>
            </a:r>
            <a:r>
              <a:rPr kumimoji="1" lang="en-US" altLang="zh-CN" dirty="0" smtClean="0">
                <a:cs typeface="Arial" panose="020B0604020202020204" pitchFamily="34" charset="0"/>
              </a:rPr>
              <a:t>log</a:t>
            </a:r>
            <a:r>
              <a:rPr kumimoji="1" lang="en-US" altLang="zh-CN" baseline="-25000" dirty="0" smtClean="0">
                <a:cs typeface="Arial" panose="020B0604020202020204" pitchFamily="34" charset="0"/>
              </a:rPr>
              <a:t>2</a:t>
            </a:r>
            <a:r>
              <a:rPr kumimoji="1" lang="en-US" altLang="zh-CN" dirty="0" smtClean="0">
                <a:cs typeface="Arial" panose="020B0604020202020204" pitchFamily="34" charset="0"/>
              </a:rPr>
              <a:t>N</a:t>
            </a:r>
            <a:r>
              <a:rPr kumimoji="1" lang="zh-CN" altLang="en-US" dirty="0" smtClean="0">
                <a:cs typeface="Arial" panose="020B0604020202020204" pitchFamily="34" charset="0"/>
              </a:rPr>
              <a:t>个触发器来表示这</a:t>
            </a:r>
            <a:r>
              <a:rPr kumimoji="1" lang="en-US" altLang="zh-CN" dirty="0" smtClean="0">
                <a:cs typeface="Arial" panose="020B0604020202020204" pitchFamily="34" charset="0"/>
              </a:rPr>
              <a:t>N</a:t>
            </a:r>
            <a:r>
              <a:rPr kumimoji="1" lang="zh-CN" altLang="en-US" dirty="0" smtClean="0">
                <a:cs typeface="Arial" panose="020B0604020202020204" pitchFamily="34" charset="0"/>
              </a:rPr>
              <a:t>个状态</a:t>
            </a:r>
            <a:r>
              <a:rPr kumimoji="1" lang="en-US" altLang="zh-CN" dirty="0" smtClean="0">
                <a:cs typeface="Arial" panose="020B0604020202020204" pitchFamily="34" charset="0"/>
              </a:rPr>
              <a:t>——</a:t>
            </a:r>
            <a:r>
              <a:rPr kumimoji="1" lang="zh-CN" altLang="en-US" dirty="0" smtClean="0">
                <a:cs typeface="Arial" panose="020B0604020202020204" pitchFamily="34" charset="0"/>
              </a:rPr>
              <a:t>例如，假定状态机有</a:t>
            </a:r>
            <a:r>
              <a:rPr kumimoji="1" lang="en-US" altLang="zh-CN" dirty="0" smtClean="0">
                <a:cs typeface="Arial" panose="020B0604020202020204" pitchFamily="34" charset="0"/>
              </a:rPr>
              <a:t>8</a:t>
            </a:r>
            <a:r>
              <a:rPr kumimoji="1" lang="zh-CN" altLang="en-US" dirty="0" smtClean="0">
                <a:cs typeface="Arial" panose="020B0604020202020204" pitchFamily="34" charset="0"/>
              </a:rPr>
              <a:t>个状态，则要采用</a:t>
            </a:r>
            <a:r>
              <a:rPr kumimoji="1" lang="en-US" altLang="zh-CN" dirty="0" smtClean="0">
                <a:cs typeface="Arial" panose="020B0604020202020204" pitchFamily="34" charset="0"/>
              </a:rPr>
              <a:t>log</a:t>
            </a:r>
            <a:r>
              <a:rPr kumimoji="1" lang="en-US" altLang="zh-CN" baseline="-25000" dirty="0" smtClean="0">
                <a:cs typeface="Arial" panose="020B0604020202020204" pitchFamily="34" charset="0"/>
              </a:rPr>
              <a:t>2</a:t>
            </a:r>
            <a:r>
              <a:rPr kumimoji="1" lang="en-US" altLang="zh-CN" dirty="0" smtClean="0">
                <a:cs typeface="Arial" panose="020B0604020202020204" pitchFamily="34" charset="0"/>
              </a:rPr>
              <a:t>8=3</a:t>
            </a:r>
            <a:r>
              <a:rPr kumimoji="1" lang="zh-CN" altLang="en-US" dirty="0" smtClean="0">
                <a:cs typeface="Arial" panose="020B0604020202020204" pitchFamily="34" charset="0"/>
              </a:rPr>
              <a:t>个触发器来表示；假定状态机有</a:t>
            </a:r>
            <a:r>
              <a:rPr kumimoji="1" lang="en-US" altLang="zh-CN" dirty="0" smtClean="0">
                <a:cs typeface="Arial" panose="020B0604020202020204" pitchFamily="34" charset="0"/>
              </a:rPr>
              <a:t>10</a:t>
            </a:r>
            <a:r>
              <a:rPr kumimoji="1" lang="zh-CN" altLang="en-US" dirty="0" smtClean="0">
                <a:cs typeface="Arial" panose="020B0604020202020204" pitchFamily="34" charset="0"/>
              </a:rPr>
              <a:t>个状态，则要采用</a:t>
            </a:r>
            <a:r>
              <a:rPr kumimoji="1" lang="en-US" altLang="zh-CN" dirty="0" smtClean="0">
                <a:cs typeface="Arial" panose="020B0604020202020204" pitchFamily="34" charset="0"/>
              </a:rPr>
              <a:t>log</a:t>
            </a:r>
            <a:r>
              <a:rPr kumimoji="1" lang="en-US" altLang="zh-CN" baseline="-25000" dirty="0" smtClean="0">
                <a:cs typeface="Arial" panose="020B0604020202020204" pitchFamily="34" charset="0"/>
              </a:rPr>
              <a:t>2</a:t>
            </a:r>
            <a:r>
              <a:rPr kumimoji="1" lang="en-US" altLang="zh-CN" dirty="0" smtClean="0">
                <a:cs typeface="Arial" panose="020B0604020202020204" pitchFamily="34" charset="0"/>
              </a:rPr>
              <a:t>10=4</a:t>
            </a:r>
            <a:r>
              <a:rPr kumimoji="1" lang="zh-CN" altLang="en-US" dirty="0" smtClean="0">
                <a:cs typeface="Arial" panose="020B0604020202020204" pitchFamily="34" charset="0"/>
              </a:rPr>
              <a:t>个触发器来表示（只用到触发器的</a:t>
            </a:r>
            <a:r>
              <a:rPr kumimoji="1" lang="en-US" altLang="zh-CN" dirty="0" smtClean="0">
                <a:cs typeface="Arial" panose="020B0604020202020204" pitchFamily="34" charset="0"/>
              </a:rPr>
              <a:t>10</a:t>
            </a:r>
            <a:r>
              <a:rPr kumimoji="1" lang="zh-CN" altLang="en-US" dirty="0" smtClean="0">
                <a:cs typeface="Arial" panose="020B0604020202020204" pitchFamily="34" charset="0"/>
              </a:rPr>
              <a:t>种输出组合）。但可能产生毛刺</a:t>
            </a:r>
            <a:r>
              <a:rPr kumimoji="1" lang="en-US" altLang="zh-CN" dirty="0" smtClean="0">
                <a:cs typeface="Arial" panose="020B0604020202020204" pitchFamily="34" charset="0"/>
              </a:rPr>
              <a:t>——</a:t>
            </a:r>
            <a:r>
              <a:rPr kumimoji="1" lang="zh-CN" altLang="en-US" dirty="0" smtClean="0">
                <a:cs typeface="Arial" panose="020B0604020202020204" pitchFamily="34" charset="0"/>
              </a:rPr>
              <a:t>因为在状态的顺序转换中，相邻状态可能有多个比特位产生变化；而由于门的延迟时间差异，可能多个比特位不是同时发生变化，而是有先有后，这样就可能产生一个中间状态</a:t>
            </a:r>
            <a:r>
              <a:rPr kumimoji="1" lang="en-US" altLang="zh-CN" dirty="0" smtClean="0">
                <a:cs typeface="Arial" panose="020B0604020202020204" pitchFamily="34" charset="0"/>
              </a:rPr>
              <a:t>——</a:t>
            </a:r>
            <a:r>
              <a:rPr kumimoji="1" lang="zh-CN" altLang="en-US" dirty="0" smtClean="0">
                <a:cs typeface="Arial" panose="020B0604020202020204" pitchFamily="34" charset="0"/>
              </a:rPr>
              <a:t>称为毛刺。例如前面的例子用</a:t>
            </a:r>
            <a:r>
              <a:rPr kumimoji="1" lang="en-US" altLang="zh-CN" dirty="0" smtClean="0">
                <a:cs typeface="Arial" panose="020B0604020202020204" pitchFamily="34" charset="0"/>
              </a:rPr>
              <a:t>3</a:t>
            </a:r>
            <a:r>
              <a:rPr kumimoji="1" lang="zh-CN" altLang="en-US" dirty="0" smtClean="0">
                <a:cs typeface="Arial" panose="020B0604020202020204" pitchFamily="34" charset="0"/>
              </a:rPr>
              <a:t>个触发器表示</a:t>
            </a:r>
            <a:r>
              <a:rPr kumimoji="1" lang="en-US" altLang="zh-CN" dirty="0" smtClean="0">
                <a:cs typeface="Arial" panose="020B0604020202020204" pitchFamily="34" charset="0"/>
              </a:rPr>
              <a:t>5</a:t>
            </a:r>
            <a:r>
              <a:rPr kumimoji="1" lang="zh-CN" altLang="en-US" dirty="0" smtClean="0">
                <a:cs typeface="Arial" panose="020B0604020202020204" pitchFamily="34" charset="0"/>
              </a:rPr>
              <a:t>个状态，当从状态</a:t>
            </a:r>
            <a:r>
              <a:rPr kumimoji="1" lang="en-US" altLang="zh-CN" dirty="0" smtClean="0">
                <a:cs typeface="Arial" panose="020B0604020202020204" pitchFamily="34" charset="0"/>
              </a:rPr>
              <a:t>001</a:t>
            </a:r>
            <a:r>
              <a:rPr kumimoji="1" lang="zh-CN" altLang="en-US" dirty="0" smtClean="0">
                <a:cs typeface="Arial" panose="020B0604020202020204" pitchFamily="34" charset="0"/>
              </a:rPr>
              <a:t>转移到</a:t>
            </a:r>
            <a:r>
              <a:rPr kumimoji="1" lang="en-US" altLang="zh-CN" dirty="0" smtClean="0">
                <a:cs typeface="Arial" panose="020B0604020202020204" pitchFamily="34" charset="0"/>
              </a:rPr>
              <a:t>010</a:t>
            </a:r>
            <a:r>
              <a:rPr kumimoji="1" lang="zh-CN" altLang="en-US" dirty="0" smtClean="0">
                <a:cs typeface="Arial" panose="020B0604020202020204" pitchFamily="34" charset="0"/>
              </a:rPr>
              <a:t>的过程中，</a:t>
            </a:r>
            <a:r>
              <a:rPr kumimoji="1" lang="en-US" altLang="zh-CN" dirty="0" smtClean="0">
                <a:cs typeface="Arial" panose="020B0604020202020204" pitchFamily="34" charset="0"/>
              </a:rPr>
              <a:t>Q1</a:t>
            </a:r>
            <a:r>
              <a:rPr kumimoji="1" lang="zh-CN" altLang="en-US" dirty="0" smtClean="0">
                <a:cs typeface="Arial" panose="020B0604020202020204" pitchFamily="34" charset="0"/>
              </a:rPr>
              <a:t>、</a:t>
            </a:r>
            <a:r>
              <a:rPr kumimoji="1" lang="en-US" altLang="zh-CN" dirty="0" smtClean="0">
                <a:cs typeface="Arial" panose="020B0604020202020204" pitchFamily="34" charset="0"/>
              </a:rPr>
              <a:t>Q0</a:t>
            </a:r>
            <a:r>
              <a:rPr kumimoji="1" lang="zh-CN" altLang="en-US" dirty="0" smtClean="0">
                <a:cs typeface="Arial" panose="020B0604020202020204" pitchFamily="34" charset="0"/>
              </a:rPr>
              <a:t>从</a:t>
            </a:r>
            <a:r>
              <a:rPr kumimoji="1" lang="en-US" altLang="zh-CN" dirty="0" smtClean="0">
                <a:cs typeface="Arial" panose="020B0604020202020204" pitchFamily="34" charset="0"/>
              </a:rPr>
              <a:t>01</a:t>
            </a:r>
            <a:r>
              <a:rPr kumimoji="1" lang="zh-CN" altLang="en-US" dirty="0" smtClean="0">
                <a:cs typeface="Arial" panose="020B0604020202020204" pitchFamily="34" charset="0"/>
              </a:rPr>
              <a:t>变为</a:t>
            </a:r>
            <a:r>
              <a:rPr kumimoji="1" lang="en-US" altLang="zh-CN" dirty="0" smtClean="0">
                <a:cs typeface="Arial" panose="020B0604020202020204" pitchFamily="34" charset="0"/>
              </a:rPr>
              <a:t>10</a:t>
            </a:r>
            <a:r>
              <a:rPr kumimoji="1" lang="zh-CN" altLang="en-US" dirty="0" smtClean="0">
                <a:cs typeface="Arial" panose="020B0604020202020204" pitchFamily="34" charset="0"/>
              </a:rPr>
              <a:t>，</a:t>
            </a:r>
            <a:r>
              <a:rPr kumimoji="1" lang="en-US" altLang="zh-CN" dirty="0" smtClean="0">
                <a:cs typeface="Arial" panose="020B0604020202020204" pitchFamily="34" charset="0"/>
              </a:rPr>
              <a:t>2</a:t>
            </a:r>
            <a:r>
              <a:rPr kumimoji="1" lang="zh-CN" altLang="en-US" dirty="0" smtClean="0">
                <a:cs typeface="Arial" panose="020B0604020202020204" pitchFamily="34" charset="0"/>
              </a:rPr>
              <a:t>个比特位发生变化，</a:t>
            </a:r>
            <a:r>
              <a:rPr kumimoji="1" lang="en-US" altLang="zh-CN" dirty="0" smtClean="0">
                <a:cs typeface="Arial" panose="020B0604020202020204" pitchFamily="34" charset="0"/>
              </a:rPr>
              <a:t>Q2Q1Q0</a:t>
            </a:r>
            <a:r>
              <a:rPr kumimoji="1" lang="zh-CN" altLang="en-US" dirty="0" smtClean="0">
                <a:cs typeface="Arial" panose="020B0604020202020204" pitchFamily="34" charset="0"/>
              </a:rPr>
              <a:t>很可能出现中间状态</a:t>
            </a:r>
            <a:r>
              <a:rPr kumimoji="1" lang="en-US" altLang="zh-CN" dirty="0" smtClean="0">
                <a:cs typeface="Arial" panose="020B0604020202020204" pitchFamily="34" charset="0"/>
              </a:rPr>
              <a:t>011</a:t>
            </a:r>
            <a:r>
              <a:rPr kumimoji="1" lang="zh-CN" altLang="en-US" dirty="0" smtClean="0">
                <a:cs typeface="Arial" panose="020B0604020202020204" pitchFamily="34" charset="0"/>
              </a:rPr>
              <a:t>，这是</a:t>
            </a:r>
            <a:r>
              <a:rPr lang="zh-CN" altLang="zh-CN" dirty="0" smtClean="0"/>
              <a:t>一个</a:t>
            </a:r>
            <a:r>
              <a:rPr kumimoji="1" lang="zh-CN" altLang="en-US" dirty="0" smtClean="0">
                <a:cs typeface="Arial" panose="020B0604020202020204" pitchFamily="34" charset="0"/>
              </a:rPr>
              <a:t>错误的输出，但它又是有效状态，因此可能使后续电路产生误动作。因此采用</a:t>
            </a:r>
            <a:r>
              <a:rPr kumimoji="1" lang="zh-CN" altLang="en-US" dirty="0" smtClean="0">
                <a:solidFill>
                  <a:srgbClr val="CC3300"/>
                </a:solidFill>
                <a:cs typeface="Arial" panose="020B0604020202020204" pitchFamily="34" charset="0"/>
              </a:rPr>
              <a:t>二进制对状态进行编码，电路可靠性不够高。</a:t>
            </a:r>
            <a:endParaRPr kumimoji="1" lang="en-US" altLang="zh-CN" dirty="0" smtClean="0">
              <a:solidFill>
                <a:srgbClr val="CC3300"/>
              </a:solidFill>
              <a:cs typeface="Arial" panose="020B0604020202020204" pitchFamily="34" charset="0"/>
            </a:endParaRPr>
          </a:p>
          <a:p>
            <a:pPr eaLnBrk="1" hangingPunct="1"/>
            <a:r>
              <a:rPr kumimoji="1" lang="zh-CN" altLang="en-US" dirty="0" smtClean="0">
                <a:solidFill>
                  <a:srgbClr val="FF0000"/>
                </a:solidFill>
                <a:cs typeface="Arial" panose="020B0604020202020204" pitchFamily="34" charset="0"/>
              </a:rPr>
              <a:t>    一位热码编码</a:t>
            </a:r>
            <a:r>
              <a:rPr kumimoji="1" lang="zh-CN" altLang="en-US" dirty="0" smtClean="0">
                <a:latin typeface="Arial" panose="020B0604020202020204" pitchFamily="34" charset="0"/>
                <a:cs typeface="Arial" panose="020B0604020202020204" pitchFamily="34" charset="0"/>
              </a:rPr>
              <a:t>：采用</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个触发器来表示这</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个状态，每个状态下只有</a:t>
            </a:r>
            <a:r>
              <a:rPr kumimoji="1" lang="en-US" altLang="zh-CN" dirty="0" smtClean="0">
                <a:latin typeface="Arial" panose="020B0604020202020204" pitchFamily="34" charset="0"/>
                <a:cs typeface="Arial" panose="020B0604020202020204" pitchFamily="34" charset="0"/>
              </a:rPr>
              <a:t>1</a:t>
            </a:r>
            <a:r>
              <a:rPr kumimoji="1" lang="zh-CN" altLang="en-US" dirty="0" smtClean="0">
                <a:latin typeface="Arial" panose="020B0604020202020204" pitchFamily="34" charset="0"/>
                <a:cs typeface="Arial" panose="020B0604020202020204" pitchFamily="34" charset="0"/>
              </a:rPr>
              <a:t>位为“</a:t>
            </a:r>
            <a:r>
              <a:rPr kumimoji="1" lang="en-US" altLang="zh-CN" dirty="0" smtClean="0">
                <a:latin typeface="Arial" panose="020B0604020202020204" pitchFamily="34" charset="0"/>
                <a:cs typeface="Arial" panose="020B0604020202020204" pitchFamily="34" charset="0"/>
              </a:rPr>
              <a:t>1</a:t>
            </a:r>
            <a:r>
              <a:rPr kumimoji="1" lang="zh-CN" altLang="en-US" dirty="0" smtClean="0">
                <a:latin typeface="Arial" panose="020B0604020202020204" pitchFamily="34" charset="0"/>
                <a:cs typeface="Arial" panose="020B0604020202020204" pitchFamily="34" charset="0"/>
              </a:rPr>
              <a:t>”，其余位为“</a:t>
            </a:r>
            <a:r>
              <a:rPr kumimoji="1" lang="en-US" altLang="zh-CN" dirty="0" smtClean="0">
                <a:latin typeface="Arial" panose="020B0604020202020204" pitchFamily="34" charset="0"/>
                <a:cs typeface="Arial" panose="020B0604020202020204" pitchFamily="34" charset="0"/>
              </a:rPr>
              <a:t>0</a:t>
            </a:r>
            <a:r>
              <a:rPr kumimoji="1" lang="zh-CN" altLang="en-US" dirty="0" smtClean="0">
                <a:latin typeface="Arial" panose="020B0604020202020204" pitchFamily="34" charset="0"/>
                <a:cs typeface="Arial" panose="020B0604020202020204" pitchFamily="34" charset="0"/>
              </a:rPr>
              <a:t>”。</a:t>
            </a:r>
            <a:r>
              <a:rPr kumimoji="1" lang="zh-CN" altLang="en-US" dirty="0" smtClean="0">
                <a:solidFill>
                  <a:srgbClr val="FF0000"/>
                </a:solidFill>
                <a:cs typeface="Arial" panose="020B0604020202020204" pitchFamily="34" charset="0"/>
              </a:rPr>
              <a:t>尽管由于各触发器的延迟不同，不可能同时翻转，从而造成状态机可能出现中间状态，如从</a:t>
            </a:r>
            <a:r>
              <a:rPr kumimoji="1" lang="en-US" altLang="zh-CN" dirty="0" smtClean="0">
                <a:solidFill>
                  <a:srgbClr val="FF0000"/>
                </a:solidFill>
                <a:cs typeface="Arial" panose="020B0604020202020204" pitchFamily="34" charset="0"/>
              </a:rPr>
              <a:t>0000 0001</a:t>
            </a:r>
            <a:r>
              <a:rPr kumimoji="1" lang="zh-CN" altLang="en-US" dirty="0" smtClean="0">
                <a:solidFill>
                  <a:srgbClr val="FF0000"/>
                </a:solidFill>
                <a:cs typeface="Arial" panose="020B0604020202020204" pitchFamily="34" charset="0"/>
              </a:rPr>
              <a:t>变为</a:t>
            </a:r>
            <a:r>
              <a:rPr kumimoji="1" lang="en-US" altLang="zh-CN" dirty="0" smtClean="0">
                <a:solidFill>
                  <a:srgbClr val="FF0000"/>
                </a:solidFill>
                <a:cs typeface="Arial" panose="020B0604020202020204" pitchFamily="34" charset="0"/>
              </a:rPr>
              <a:t>0000 0010</a:t>
            </a:r>
            <a:r>
              <a:rPr kumimoji="1" lang="zh-CN" altLang="en-US" dirty="0" smtClean="0">
                <a:solidFill>
                  <a:srgbClr val="FF0000"/>
                </a:solidFill>
                <a:cs typeface="Arial" panose="020B0604020202020204" pitchFamily="34" charset="0"/>
              </a:rPr>
              <a:t>的过程中，可能出现</a:t>
            </a:r>
            <a:r>
              <a:rPr kumimoji="1" lang="en-US" altLang="zh-CN" dirty="0" smtClean="0">
                <a:solidFill>
                  <a:srgbClr val="FF0000"/>
                </a:solidFill>
                <a:cs typeface="Arial" panose="020B0604020202020204" pitchFamily="34" charset="0"/>
              </a:rPr>
              <a:t>0000 0011</a:t>
            </a:r>
            <a:r>
              <a:rPr kumimoji="1" lang="zh-CN" altLang="en-US" dirty="0" smtClean="0">
                <a:solidFill>
                  <a:srgbClr val="FF0000"/>
                </a:solidFill>
                <a:cs typeface="Arial" panose="020B0604020202020204" pitchFamily="34" charset="0"/>
              </a:rPr>
              <a:t>，但这不是有效状态，不会造成状态机的输出错误。在状态机的现态和次态时序逻辑中，一定要有</a:t>
            </a:r>
            <a:r>
              <a:rPr kumimoji="1" lang="en-US" altLang="zh-CN" dirty="0" smtClean="0">
                <a:solidFill>
                  <a:srgbClr val="FF0000"/>
                </a:solidFill>
                <a:cs typeface="Arial" panose="020B0604020202020204" pitchFamily="34" charset="0"/>
              </a:rPr>
              <a:t>default</a:t>
            </a:r>
            <a:r>
              <a:rPr kumimoji="1" lang="zh-CN" altLang="en-US" dirty="0" smtClean="0">
                <a:solidFill>
                  <a:srgbClr val="FF0000"/>
                </a:solidFill>
                <a:cs typeface="Arial" panose="020B0604020202020204" pitchFamily="34" charset="0"/>
              </a:rPr>
              <a:t>语句，使得在其他无效状态下，状态机都会返回起始状态。</a:t>
            </a:r>
            <a:endParaRPr lang="zh-CN" alt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Rot="1" noChangeAspect="1" noChangeArrowheads="1" noTextEdit="1"/>
          </p:cNvSpPr>
          <p:nvPr>
            <p:ph type="sldImg"/>
          </p:nvPr>
        </p:nvSpPr>
        <p:spPr/>
      </p:sp>
      <p:sp>
        <p:nvSpPr>
          <p:cNvPr id="237571" name="Rectangle 3"/>
          <p:cNvSpPr>
            <a:spLocks noGrp="1" noChangeArrowheads="1"/>
          </p:cNvSpPr>
          <p:nvPr>
            <p:ph type="body" idx="1"/>
          </p:nvPr>
        </p:nvSpPr>
        <p:spPr>
          <a:noFill/>
        </p:spPr>
        <p:txBody>
          <a:bodyPr/>
          <a:lstStyle/>
          <a:p>
            <a:pPr eaLnBrk="1" hangingPunct="1"/>
            <a:endParaRPr lang="zh-CN"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Rot="1" noChangeAspect="1" noChangeArrowheads="1" noTextEdit="1"/>
          </p:cNvSpPr>
          <p:nvPr>
            <p:ph type="sldImg"/>
          </p:nvPr>
        </p:nvSpPr>
        <p:spPr/>
      </p:sp>
      <p:sp>
        <p:nvSpPr>
          <p:cNvPr id="238595" name="Rectangle 3"/>
          <p:cNvSpPr>
            <a:spLocks noGrp="1" noChangeArrowheads="1"/>
          </p:cNvSpPr>
          <p:nvPr>
            <p:ph type="body" idx="1"/>
          </p:nvPr>
        </p:nvSpPr>
        <p:spPr>
          <a:noFill/>
        </p:spPr>
        <p:txBody>
          <a:bodyPr/>
          <a:lstStyle/>
          <a:p>
            <a:pPr eaLnBrk="1" hangingPunct="1"/>
            <a:r>
              <a:rPr lang="zh-CN" altLang="en-US" smtClean="0"/>
              <a:t>    建议采用方式一，用</a:t>
            </a:r>
            <a:r>
              <a:rPr lang="en-US" altLang="zh-CN" smtClean="0"/>
              <a:t>n</a:t>
            </a:r>
            <a:r>
              <a:rPr lang="zh-CN" altLang="en-US" smtClean="0"/>
              <a:t>个</a:t>
            </a:r>
            <a:r>
              <a:rPr lang="en-US" altLang="zh-CN" smtClean="0"/>
              <a:t>parameter</a:t>
            </a:r>
            <a:r>
              <a:rPr lang="zh-CN" altLang="en-US" smtClean="0"/>
              <a:t>常量表示</a:t>
            </a:r>
            <a:r>
              <a:rPr lang="en-US" altLang="zh-CN" smtClean="0"/>
              <a:t>n</a:t>
            </a:r>
            <a:r>
              <a:rPr lang="zh-CN" altLang="en-US" smtClean="0"/>
              <a:t>个状态</a:t>
            </a:r>
          </a:p>
          <a:p>
            <a:pPr eaLnBrk="1" hangingPunct="1">
              <a:spcBef>
                <a:spcPct val="0"/>
              </a:spcBef>
            </a:pPr>
            <a:r>
              <a:rPr lang="zh-CN" altLang="en-US" b="1" smtClean="0">
                <a:solidFill>
                  <a:srgbClr val="00B050"/>
                </a:solidFill>
              </a:rPr>
              <a:t>    </a:t>
            </a:r>
            <a:r>
              <a:rPr lang="zh-CN" altLang="en-US" smtClean="0">
                <a:solidFill>
                  <a:srgbClr val="00B050"/>
                </a:solidFill>
              </a:rPr>
              <a:t>方式二：用</a:t>
            </a:r>
            <a:r>
              <a:rPr lang="en-US" altLang="zh-CN" smtClean="0">
                <a:solidFill>
                  <a:srgbClr val="00B050"/>
                </a:solidFill>
              </a:rPr>
              <a:t>‵define</a:t>
            </a:r>
            <a:r>
              <a:rPr lang="zh-CN" altLang="en-US" smtClean="0">
                <a:solidFill>
                  <a:srgbClr val="00B050"/>
                </a:solidFill>
              </a:rPr>
              <a:t>语句定义</a:t>
            </a:r>
            <a:r>
              <a:rPr lang="en-US" altLang="zh-CN" smtClean="0">
                <a:solidFill>
                  <a:srgbClr val="00B050"/>
                </a:solidFill>
              </a:rPr>
              <a:t>——</a:t>
            </a:r>
            <a:r>
              <a:rPr lang="zh-CN" altLang="en-US" smtClean="0">
                <a:solidFill>
                  <a:srgbClr val="00B050"/>
                </a:solidFill>
              </a:rPr>
              <a:t>用</a:t>
            </a:r>
            <a:r>
              <a:rPr lang="en-US" altLang="zh-CN" smtClean="0"/>
              <a:t>n</a:t>
            </a:r>
            <a:r>
              <a:rPr lang="zh-CN" altLang="en-US" smtClean="0"/>
              <a:t>个宏名表示</a:t>
            </a:r>
            <a:r>
              <a:rPr lang="en-US" altLang="zh-CN" smtClean="0"/>
              <a:t>n</a:t>
            </a:r>
            <a:r>
              <a:rPr lang="zh-CN" altLang="en-US" smtClean="0"/>
              <a:t>个状态</a:t>
            </a:r>
            <a:endParaRPr lang="zh-CN" altLang="en-US" smtClean="0">
              <a:solidFill>
                <a:srgbClr val="00B050"/>
              </a:solidFill>
            </a:endParaRPr>
          </a:p>
          <a:p>
            <a:pPr eaLnBrk="1" hangingPunct="1">
              <a:spcBef>
                <a:spcPct val="0"/>
              </a:spcBef>
            </a:pPr>
            <a:endParaRPr lang="en-US"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Rot="1" noChangeAspect="1" noChangeArrowheads="1" noTextEdit="1"/>
          </p:cNvSpPr>
          <p:nvPr>
            <p:ph type="sldImg"/>
          </p:nvPr>
        </p:nvSpPr>
        <p:spPr/>
      </p:sp>
      <p:sp>
        <p:nvSpPr>
          <p:cNvPr id="239619" name="Rectangle 3"/>
          <p:cNvSpPr>
            <a:spLocks noGrp="1" noChangeArrowheads="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defRPr/>
            </a:pPr>
            <a:r>
              <a:rPr lang="en-US" altLang="zh-CN" sz="1200" kern="1200" dirty="0" smtClean="0">
                <a:solidFill>
                  <a:schemeClr val="tx1"/>
                </a:solidFill>
                <a:latin typeface="Arial" panose="020B0604020202020204" pitchFamily="34" charset="0"/>
                <a:ea typeface="宋体" panose="02010600030101010101" pitchFamily="2" charset="-122"/>
                <a:cs typeface="+mn-cs"/>
              </a:rPr>
              <a:t>    </a:t>
            </a:r>
            <a:r>
              <a:rPr lang="zh-CN" altLang="zh-CN" sz="1200" kern="1200" dirty="0" smtClean="0">
                <a:solidFill>
                  <a:schemeClr val="tx1"/>
                </a:solidFill>
                <a:latin typeface="Arial" panose="020B0604020202020204" pitchFamily="34" charset="0"/>
                <a:ea typeface="宋体" panose="02010600030101010101" pitchFamily="2" charset="-122"/>
                <a:cs typeface="+mn-cs"/>
              </a:rPr>
              <a:t>在用</a:t>
            </a:r>
            <a:r>
              <a:rPr lang="en-US" altLang="zh-CN" sz="1200" kern="1200" dirty="0" smtClean="0">
                <a:solidFill>
                  <a:schemeClr val="tx1"/>
                </a:solidFill>
                <a:latin typeface="Arial" panose="020B0604020202020204" pitchFamily="34" charset="0"/>
                <a:ea typeface="宋体" panose="02010600030101010101" pitchFamily="2" charset="-122"/>
                <a:cs typeface="+mn-cs"/>
              </a:rPr>
              <a:t>n</a:t>
            </a:r>
            <a:r>
              <a:rPr lang="zh-CN" altLang="zh-CN" sz="1200" kern="1200" dirty="0" smtClean="0">
                <a:solidFill>
                  <a:schemeClr val="tx1"/>
                </a:solidFill>
                <a:latin typeface="Arial" panose="020B0604020202020204" pitchFamily="34" charset="0"/>
                <a:ea typeface="宋体" panose="02010600030101010101" pitchFamily="2" charset="-122"/>
                <a:cs typeface="+mn-cs"/>
              </a:rPr>
              <a:t>位二进制数进行状态编码时，一共可以定义</a:t>
            </a:r>
            <a:r>
              <a:rPr lang="en-US" altLang="zh-CN" sz="1200" kern="1200" dirty="0" smtClean="0">
                <a:solidFill>
                  <a:schemeClr val="tx1"/>
                </a:solidFill>
                <a:latin typeface="Arial" panose="020B0604020202020204" pitchFamily="34" charset="0"/>
                <a:ea typeface="宋体" panose="02010600030101010101" pitchFamily="2" charset="-122"/>
                <a:cs typeface="+mn-cs"/>
              </a:rPr>
              <a:t>2</a:t>
            </a:r>
            <a:r>
              <a:rPr lang="en-US" altLang="zh-CN" sz="1200" kern="1200" baseline="30000" dirty="0" smtClean="0">
                <a:solidFill>
                  <a:schemeClr val="tx1"/>
                </a:solidFill>
                <a:latin typeface="Arial" panose="020B0604020202020204" pitchFamily="34" charset="0"/>
                <a:ea typeface="宋体" panose="02010600030101010101" pitchFamily="2" charset="-122"/>
                <a:cs typeface="+mn-cs"/>
              </a:rPr>
              <a:t>n</a:t>
            </a:r>
            <a:r>
              <a:rPr lang="zh-CN" altLang="zh-CN" sz="1200" kern="1200" dirty="0" smtClean="0">
                <a:solidFill>
                  <a:schemeClr val="tx1"/>
                </a:solidFill>
                <a:latin typeface="Arial" panose="020B0604020202020204" pitchFamily="34" charset="0"/>
                <a:ea typeface="宋体" panose="02010600030101010101" pitchFamily="2" charset="-122"/>
                <a:cs typeface="+mn-cs"/>
              </a:rPr>
              <a:t>个状态，但可能状态机的有效状态没有这么多，则会出现多余状态（有效状态之外的状态），或称为无效状态、非法状态。</a:t>
            </a:r>
          </a:p>
          <a:p>
            <a:pPr eaLnBrk="1" hangingPunct="1"/>
            <a:endParaRPr lang="zh-CN" altLang="en-US"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p:sp>
      <p:sp>
        <p:nvSpPr>
          <p:cNvPr id="246787" name="Rectangle 3"/>
          <p:cNvSpPr>
            <a:spLocks noGrp="1" noChangeArrowheads="1"/>
          </p:cNvSpPr>
          <p:nvPr>
            <p:ph type="body" idx="1"/>
          </p:nvPr>
        </p:nvSpPr>
        <p:spPr>
          <a:noFill/>
        </p:spPr>
        <p:txBody>
          <a:bodyPr/>
          <a:lstStyle/>
          <a:p>
            <a:r>
              <a:rPr lang="en-US" altLang="zh-CN" sz="1200" kern="1200" dirty="0" smtClean="0">
                <a:solidFill>
                  <a:schemeClr val="tx1"/>
                </a:solidFill>
                <a:latin typeface="Arial" panose="020B0604020202020204" pitchFamily="34" charset="0"/>
                <a:ea typeface="宋体" panose="02010600030101010101" pitchFamily="2" charset="-122"/>
                <a:cs typeface="+mn-cs"/>
              </a:rPr>
              <a:t>    </a:t>
            </a:r>
            <a:r>
              <a:rPr lang="zh-CN" altLang="zh-CN" sz="1200" kern="1200" dirty="0" smtClean="0">
                <a:solidFill>
                  <a:schemeClr val="tx1"/>
                </a:solidFill>
                <a:latin typeface="Arial" panose="020B0604020202020204" pitchFamily="34" charset="0"/>
                <a:ea typeface="宋体" panose="02010600030101010101" pitchFamily="2" charset="-122"/>
                <a:cs typeface="+mn-cs"/>
              </a:rPr>
              <a:t>在用</a:t>
            </a:r>
            <a:r>
              <a:rPr lang="en-US" altLang="zh-CN" sz="1200" kern="1200" dirty="0" err="1" smtClean="0">
                <a:solidFill>
                  <a:schemeClr val="tx1"/>
                </a:solidFill>
                <a:latin typeface="Arial" panose="020B0604020202020204" pitchFamily="34" charset="0"/>
                <a:ea typeface="宋体" panose="02010600030101010101" pitchFamily="2" charset="-122"/>
                <a:cs typeface="+mn-cs"/>
              </a:rPr>
              <a:t>Verilog</a:t>
            </a:r>
            <a:r>
              <a:rPr lang="en-US" altLang="zh-CN" sz="1200" kern="1200" dirty="0" smtClean="0">
                <a:solidFill>
                  <a:schemeClr val="tx1"/>
                </a:solidFill>
                <a:latin typeface="Arial" panose="020B0604020202020204" pitchFamily="34" charset="0"/>
                <a:ea typeface="宋体" panose="02010600030101010101" pitchFamily="2" charset="-122"/>
                <a:cs typeface="+mn-cs"/>
              </a:rPr>
              <a:t> HDL</a:t>
            </a:r>
            <a:r>
              <a:rPr lang="zh-CN" altLang="zh-CN" sz="1200" kern="1200" dirty="0" smtClean="0">
                <a:solidFill>
                  <a:schemeClr val="tx1"/>
                </a:solidFill>
                <a:latin typeface="Arial" panose="020B0604020202020204" pitchFamily="34" charset="0"/>
                <a:ea typeface="宋体" panose="02010600030101010101" pitchFamily="2" charset="-122"/>
                <a:cs typeface="+mn-cs"/>
              </a:rPr>
              <a:t>描述有限状态机时，有</a:t>
            </a:r>
            <a:r>
              <a:rPr lang="en-US" altLang="zh-CN" sz="1200" kern="1200" dirty="0" smtClean="0">
                <a:solidFill>
                  <a:schemeClr val="tx1"/>
                </a:solidFill>
                <a:latin typeface="Arial" panose="020B0604020202020204" pitchFamily="34" charset="0"/>
                <a:ea typeface="宋体" panose="02010600030101010101" pitchFamily="2" charset="-122"/>
                <a:cs typeface="+mn-cs"/>
              </a:rPr>
              <a:t>5</a:t>
            </a:r>
            <a:r>
              <a:rPr lang="zh-CN" altLang="zh-CN" sz="1200" kern="1200" dirty="0" smtClean="0">
                <a:solidFill>
                  <a:schemeClr val="tx1"/>
                </a:solidFill>
                <a:latin typeface="Arial" panose="020B0604020202020204" pitchFamily="34" charset="0"/>
                <a:ea typeface="宋体" panose="02010600030101010101" pitchFamily="2" charset="-122"/>
                <a:cs typeface="+mn-cs"/>
              </a:rPr>
              <a:t>种不同的描述风格。其中风格</a:t>
            </a:r>
            <a:r>
              <a:rPr lang="en-US" altLang="zh-CN" sz="1200" kern="1200" dirty="0" smtClean="0">
                <a:solidFill>
                  <a:schemeClr val="tx1"/>
                </a:solidFill>
                <a:latin typeface="Arial" panose="020B0604020202020204" pitchFamily="34" charset="0"/>
                <a:ea typeface="宋体" panose="02010600030101010101" pitchFamily="2" charset="-122"/>
                <a:cs typeface="+mn-cs"/>
              </a:rPr>
              <a:t>C</a:t>
            </a:r>
            <a:r>
              <a:rPr lang="zh-CN" altLang="zh-CN" sz="1200" kern="1200" dirty="0" smtClean="0">
                <a:solidFill>
                  <a:schemeClr val="tx1"/>
                </a:solidFill>
                <a:latin typeface="Arial" panose="020B0604020202020204" pitchFamily="34" charset="0"/>
                <a:ea typeface="宋体" panose="02010600030101010101" pitchFamily="2" charset="-122"/>
                <a:cs typeface="+mn-cs"/>
              </a:rPr>
              <a:t>为双过程描述，最常用，因为它逻辑清晰，表述简单。</a:t>
            </a:r>
          </a:p>
          <a:p>
            <a:r>
              <a:rPr lang="en-US" altLang="zh-CN" sz="1200" kern="1200" dirty="0" smtClean="0">
                <a:solidFill>
                  <a:schemeClr val="tx1"/>
                </a:solidFill>
                <a:latin typeface="Arial" panose="020B0604020202020204" pitchFamily="34" charset="0"/>
                <a:ea typeface="宋体" panose="02010600030101010101" pitchFamily="2" charset="-122"/>
                <a:cs typeface="+mn-cs"/>
              </a:rPr>
              <a:t>    </a:t>
            </a:r>
            <a:r>
              <a:rPr lang="zh-CN" altLang="zh-CN" sz="1200" kern="1200" dirty="0" smtClean="0">
                <a:solidFill>
                  <a:schemeClr val="tx1"/>
                </a:solidFill>
                <a:latin typeface="Arial" panose="020B0604020202020204" pitchFamily="34" charset="0"/>
                <a:ea typeface="宋体" panose="02010600030101010101" pitchFamily="2" charset="-122"/>
                <a:cs typeface="+mn-cs"/>
              </a:rPr>
              <a:t>风格</a:t>
            </a:r>
            <a:r>
              <a:rPr lang="en-US" altLang="zh-CN" sz="1200" kern="1200" dirty="0" smtClean="0">
                <a:solidFill>
                  <a:schemeClr val="tx1"/>
                </a:solidFill>
                <a:latin typeface="Arial" panose="020B0604020202020204" pitchFamily="34" charset="0"/>
                <a:ea typeface="宋体" panose="02010600030101010101" pitchFamily="2" charset="-122"/>
                <a:cs typeface="+mn-cs"/>
              </a:rPr>
              <a:t>B</a:t>
            </a:r>
            <a:r>
              <a:rPr lang="zh-CN" altLang="zh-CN" sz="1200" kern="1200" dirty="0" smtClean="0">
                <a:solidFill>
                  <a:schemeClr val="tx1"/>
                </a:solidFill>
                <a:latin typeface="Arial" panose="020B0604020202020204" pitchFamily="34" charset="0"/>
                <a:ea typeface="宋体" panose="02010600030101010101" pitchFamily="2" charset="-122"/>
                <a:cs typeface="+mn-cs"/>
              </a:rPr>
              <a:t>为单过程描述，有时也会用到。</a:t>
            </a:r>
            <a:endParaRPr lang="zh-CN" altLang="zh-CN" sz="1200" kern="1200" dirty="0">
              <a:solidFill>
                <a:schemeClr val="tx1"/>
              </a:solidFill>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p:sp>
      <p:sp>
        <p:nvSpPr>
          <p:cNvPr id="246787"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Rot="1" noChangeAspect="1" noChangeArrowheads="1" noTextEdit="1"/>
          </p:cNvSpPr>
          <p:nvPr>
            <p:ph type="sldImg"/>
          </p:nvPr>
        </p:nvSpPr>
        <p:spPr/>
      </p:sp>
      <p:sp>
        <p:nvSpPr>
          <p:cNvPr id="246787"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幻灯片图像占位符 1"/>
          <p:cNvSpPr>
            <a:spLocks noGrp="1" noRot="1" noChangeAspect="1" noTextEdit="1"/>
          </p:cNvSpPr>
          <p:nvPr>
            <p:ph type="sldImg"/>
          </p:nvPr>
        </p:nvSpPr>
        <p:spPr/>
      </p:sp>
      <p:sp>
        <p:nvSpPr>
          <p:cNvPr id="240643" name="备注占位符 2"/>
          <p:cNvSpPr>
            <a:spLocks noGrp="1"/>
          </p:cNvSpPr>
          <p:nvPr>
            <p:ph type="body" idx="1"/>
          </p:nvPr>
        </p:nvSpPr>
        <p:spPr>
          <a:noFill/>
        </p:spPr>
        <p:txBody>
          <a:bodyPr/>
          <a:lstStyle/>
          <a:p>
            <a:pPr eaLnBrk="1" hangingPunct="1"/>
            <a:r>
              <a:rPr lang="en-US" altLang="zh-CN" dirty="0" smtClean="0">
                <a:solidFill>
                  <a:srgbClr val="FFCC00"/>
                </a:solidFill>
                <a:latin typeface="Arial" panose="020B0604020202020204" pitchFamily="34" charset="0"/>
                <a:ea typeface="黑体" panose="02010609060101010101" pitchFamily="49" charset="-122"/>
              </a:rPr>
              <a:t>    Moore</a:t>
            </a:r>
            <a:r>
              <a:rPr lang="zh-CN" altLang="en-US" dirty="0" smtClean="0">
                <a:solidFill>
                  <a:srgbClr val="FFCC00"/>
                </a:solidFill>
                <a:latin typeface="Arial" panose="020B0604020202020204" pitchFamily="34" charset="0"/>
                <a:ea typeface="黑体" panose="02010609060101010101" pitchFamily="49" charset="-122"/>
              </a:rPr>
              <a:t>型有限状态机的</a:t>
            </a:r>
            <a:r>
              <a:rPr kumimoji="1" lang="zh-CN" altLang="en-US" sz="1200" dirty="0" smtClean="0">
                <a:solidFill>
                  <a:srgbClr val="000000"/>
                </a:solidFill>
                <a:latin typeface="宋体" panose="02010600030101010101" pitchFamily="2" charset="-122"/>
              </a:rPr>
              <a:t>输出信号仅与当前状态有关。</a:t>
            </a:r>
            <a:endParaRPr kumimoji="1" lang="en-US" altLang="zh-CN" sz="1200" dirty="0" smtClean="0">
              <a:solidFill>
                <a:srgbClr val="000000"/>
              </a:solidFill>
              <a:latin typeface="宋体" panose="02010600030101010101" pitchFamily="2" charset="-122"/>
            </a:endParaRPr>
          </a:p>
          <a:p>
            <a:pPr eaLnBrk="1" hangingPunct="1"/>
            <a:r>
              <a:rPr lang="zh-CN" altLang="en-US" dirty="0" smtClean="0"/>
              <a:t>    在“</a:t>
            </a:r>
            <a:r>
              <a:rPr lang="en-US" altLang="zh-CN" dirty="0" smtClean="0"/>
              <a:t>Moore</a:t>
            </a:r>
            <a:r>
              <a:rPr lang="zh-CN" altLang="en-US" dirty="0" smtClean="0"/>
              <a:t>型状态图的表示”中，每个圆圈表示状态机的一个状态，每个箭头表示状态之间的一次转移；每个圆圈内横线上方文字为状态机的状态，横线下方文字为状态机的输出信号；引起状态转换的输入信号标注在箭头上。由于</a:t>
            </a:r>
            <a:r>
              <a:rPr lang="en-US" altLang="zh-CN" dirty="0" smtClean="0"/>
              <a:t>Moore</a:t>
            </a:r>
            <a:r>
              <a:rPr lang="zh-CN" altLang="en-US" dirty="0" smtClean="0"/>
              <a:t>型状态机的输出只为状态机当前状态的函数，所以直接将输出标在当前状态的下方。</a:t>
            </a:r>
          </a:p>
          <a:p>
            <a:pPr eaLnBrk="1" hangingPunct="1"/>
            <a:endParaRPr lang="zh-CN" altLang="en-US" dirty="0" smtClean="0"/>
          </a:p>
        </p:txBody>
      </p:sp>
      <p:sp>
        <p:nvSpPr>
          <p:cNvPr id="240644" name="灯片编号占位符 3"/>
          <p:cNvSpPr>
            <a:spLocks noGrp="1"/>
          </p:cNvSpPr>
          <p:nvPr>
            <p:ph type="sldNum" sz="quarter" idx="5"/>
          </p:nvPr>
        </p:nvSpPr>
        <p:spPr>
          <a:noFill/>
        </p:spPr>
        <p:txBody>
          <a:bodyPr/>
          <a:lstStyle/>
          <a:p>
            <a:fld id="{F1AC7F74-B0DA-4BF7-B338-91D347A5E9B8}" type="slidenum">
              <a:rPr lang="ko-KR" altLang="en-US" smtClean="0">
                <a:ea typeface="Gulim" panose="020B0600000101010101" pitchFamily="34" charset="-127"/>
              </a:rPr>
              <a:t>57</a:t>
            </a:fld>
            <a:endParaRPr lang="en-US" altLang="ko-KR" smtClean="0">
              <a:ea typeface="Gulim" panose="020B0600000101010101" pitchFamily="34" charset="-127"/>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Rot="1" noChangeAspect="1" noChangeArrowheads="1" noTextEdit="1"/>
          </p:cNvSpPr>
          <p:nvPr>
            <p:ph type="sldImg"/>
          </p:nvPr>
        </p:nvSpPr>
        <p:spPr/>
      </p:sp>
      <p:sp>
        <p:nvSpPr>
          <p:cNvPr id="241667"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幻灯片图像占位符 1"/>
          <p:cNvSpPr>
            <a:spLocks noGrp="1" noRot="1" noChangeAspect="1" noTextEdit="1"/>
          </p:cNvSpPr>
          <p:nvPr>
            <p:ph type="sldImg"/>
          </p:nvPr>
        </p:nvSpPr>
        <p:spPr/>
      </p:sp>
      <p:sp>
        <p:nvSpPr>
          <p:cNvPr id="242691" name="备注占位符 2"/>
          <p:cNvSpPr>
            <a:spLocks noGrp="1"/>
          </p:cNvSpPr>
          <p:nvPr>
            <p:ph type="body" idx="1"/>
          </p:nvPr>
        </p:nvSpPr>
        <p:spPr>
          <a:noFill/>
        </p:spPr>
        <p:txBody>
          <a:bodyPr/>
          <a:lstStyle/>
          <a:p>
            <a:pPr eaLnBrk="1" hangingPunct="1"/>
            <a:r>
              <a:rPr lang="en-US" altLang="zh-CN" dirty="0" smtClean="0">
                <a:solidFill>
                  <a:srgbClr val="FF66CC"/>
                </a:solidFill>
                <a:latin typeface="Verdana" panose="020B0604030504040204" pitchFamily="34" charset="0"/>
              </a:rPr>
              <a:t>    S</a:t>
            </a:r>
            <a:r>
              <a:rPr lang="en-US" altLang="zh-CN" baseline="-25000" dirty="0" smtClean="0">
                <a:solidFill>
                  <a:srgbClr val="FF66CC"/>
                </a:solidFill>
                <a:latin typeface="Verdana" panose="020B0604030504040204" pitchFamily="34" charset="0"/>
              </a:rPr>
              <a:t>i</a:t>
            </a:r>
            <a:r>
              <a:rPr lang="zh-CN" altLang="en-US" dirty="0" smtClean="0"/>
              <a:t>中下标</a:t>
            </a:r>
            <a:r>
              <a:rPr lang="en-US" altLang="zh-CN" dirty="0" err="1" smtClean="0"/>
              <a:t>i</a:t>
            </a:r>
            <a:r>
              <a:rPr lang="zh-CN" altLang="en-US" dirty="0" smtClean="0"/>
              <a:t>表示第</a:t>
            </a:r>
            <a:r>
              <a:rPr lang="en-US" altLang="zh-CN" dirty="0" err="1" smtClean="0"/>
              <a:t>i</a:t>
            </a:r>
            <a:r>
              <a:rPr lang="zh-CN" altLang="en-US" dirty="0" smtClean="0"/>
              <a:t>个状态。斜杠左边表示状态，右边表示该状态下的输出</a:t>
            </a:r>
          </a:p>
          <a:p>
            <a:r>
              <a:rPr lang="en-US" altLang="zh-CN" sz="1200" kern="1200" dirty="0" smtClean="0">
                <a:solidFill>
                  <a:schemeClr val="tx1"/>
                </a:solidFill>
                <a:latin typeface="Arial" panose="020B0604020202020204" pitchFamily="34" charset="0"/>
                <a:ea typeface="宋体" panose="02010600030101010101" pitchFamily="2" charset="-122"/>
                <a:cs typeface="+mn-cs"/>
              </a:rPr>
              <a:t>    </a:t>
            </a:r>
            <a:r>
              <a:rPr lang="zh-CN" altLang="zh-CN" sz="1200" kern="1200" dirty="0" smtClean="0">
                <a:solidFill>
                  <a:schemeClr val="tx1"/>
                </a:solidFill>
                <a:latin typeface="Arial" panose="020B0604020202020204" pitchFamily="34" charset="0"/>
                <a:ea typeface="宋体" panose="02010600030101010101" pitchFamily="2" charset="-122"/>
                <a:cs typeface="+mn-cs"/>
              </a:rPr>
              <a:t>先画出如果接收到的是正确的序列，状态转移情况。再分析在每种状态下，输入分别为</a:t>
            </a:r>
            <a:r>
              <a:rPr lang="en-US" altLang="zh-CN" sz="1200" kern="1200" dirty="0" smtClean="0">
                <a:solidFill>
                  <a:schemeClr val="tx1"/>
                </a:solidFill>
                <a:latin typeface="Arial" panose="020B0604020202020204" pitchFamily="34" charset="0"/>
                <a:ea typeface="宋体" panose="02010600030101010101" pitchFamily="2" charset="-122"/>
                <a:cs typeface="+mn-cs"/>
              </a:rPr>
              <a:t>0</a:t>
            </a:r>
            <a:r>
              <a:rPr lang="zh-CN" altLang="zh-CN" sz="1200" kern="1200" dirty="0" smtClean="0">
                <a:solidFill>
                  <a:schemeClr val="tx1"/>
                </a:solidFill>
                <a:latin typeface="Arial" panose="020B0604020202020204" pitchFamily="34" charset="0"/>
                <a:ea typeface="宋体" panose="02010600030101010101" pitchFamily="2" charset="-122"/>
                <a:cs typeface="+mn-cs"/>
              </a:rPr>
              <a:t>和</a:t>
            </a:r>
            <a:r>
              <a:rPr lang="en-US" altLang="zh-CN" sz="1200" kern="1200" dirty="0" smtClean="0">
                <a:solidFill>
                  <a:schemeClr val="tx1"/>
                </a:solidFill>
                <a:latin typeface="Arial" panose="020B0604020202020204" pitchFamily="34" charset="0"/>
                <a:ea typeface="宋体" panose="02010600030101010101" pitchFamily="2" charset="-122"/>
                <a:cs typeface="+mn-cs"/>
              </a:rPr>
              <a:t>1</a:t>
            </a:r>
            <a:r>
              <a:rPr lang="zh-CN" altLang="zh-CN" sz="1200" kern="1200" dirty="0" smtClean="0">
                <a:solidFill>
                  <a:schemeClr val="tx1"/>
                </a:solidFill>
                <a:latin typeface="Arial" panose="020B0604020202020204" pitchFamily="34" charset="0"/>
                <a:ea typeface="宋体" panose="02010600030101010101" pitchFamily="2" charset="-122"/>
                <a:cs typeface="+mn-cs"/>
              </a:rPr>
              <a:t>时，应跳转到哪个状态。即可画出完整的状态图。</a:t>
            </a:r>
          </a:p>
          <a:p>
            <a:pPr eaLnBrk="1" hangingPunct="1"/>
            <a:r>
              <a:rPr lang="zh-CN" altLang="en-US" dirty="0" smtClean="0"/>
              <a:t>    说明：课件中，在</a:t>
            </a:r>
            <a:r>
              <a:rPr lang="en-US" altLang="zh-CN" dirty="0" smtClean="0"/>
              <a:t>S4</a:t>
            </a:r>
            <a:r>
              <a:rPr lang="zh-CN" altLang="en-US" dirty="0" smtClean="0"/>
              <a:t>状态下，当输入为“</a:t>
            </a:r>
            <a:r>
              <a:rPr lang="en-US" altLang="zh-CN" dirty="0" smtClean="0"/>
              <a:t>1</a:t>
            </a:r>
            <a:r>
              <a:rPr lang="zh-CN" altLang="en-US" dirty="0" smtClean="0"/>
              <a:t>”时，</a:t>
            </a:r>
            <a:r>
              <a:rPr lang="en-US" altLang="zh-CN" dirty="0" smtClean="0"/>
              <a:t>S4</a:t>
            </a:r>
            <a:r>
              <a:rPr lang="zh-CN" altLang="en-US" dirty="0" smtClean="0"/>
              <a:t>转移到</a:t>
            </a:r>
            <a:r>
              <a:rPr lang="en-US" altLang="zh-CN" dirty="0" smtClean="0"/>
              <a:t>S1</a:t>
            </a:r>
            <a:r>
              <a:rPr lang="zh-CN" altLang="en-US" dirty="0" smtClean="0"/>
              <a:t>是正确的。因为此时接收的数据为</a:t>
            </a:r>
            <a:r>
              <a:rPr lang="en-US" altLang="zh-CN" dirty="0" smtClean="0"/>
              <a:t>1101</a:t>
            </a:r>
            <a:r>
              <a:rPr lang="zh-CN" altLang="en-US" dirty="0" smtClean="0"/>
              <a:t>，是正确的</a:t>
            </a:r>
            <a:r>
              <a:rPr kumimoji="1" lang="zh-CN" altLang="en-US" sz="1200" dirty="0" smtClean="0">
                <a:cs typeface="Arial" panose="020B0604020202020204" pitchFamily="34" charset="0"/>
              </a:rPr>
              <a:t>序列，同时</a:t>
            </a:r>
            <a:r>
              <a:rPr kumimoji="1" lang="en-US" altLang="zh-CN" sz="1200" dirty="0" err="1" smtClean="0">
                <a:cs typeface="Arial" panose="020B0604020202020204" pitchFamily="34" charset="0"/>
              </a:rPr>
              <a:t>Zo</a:t>
            </a:r>
            <a:r>
              <a:rPr kumimoji="1" lang="en-US" altLang="zh-CN" sz="1200" dirty="0" smtClean="0">
                <a:cs typeface="Arial" panose="020B0604020202020204" pitchFamily="34" charset="0"/>
              </a:rPr>
              <a:t>=1</a:t>
            </a:r>
            <a:r>
              <a:rPr kumimoji="1" lang="zh-CN" altLang="en-US" sz="1200" dirty="0" smtClean="0">
                <a:cs typeface="Arial" panose="020B0604020202020204" pitchFamily="34" charset="0"/>
              </a:rPr>
              <a:t>；当再输入一个“</a:t>
            </a:r>
            <a:r>
              <a:rPr kumimoji="1" lang="en-US" altLang="zh-CN" sz="1200" dirty="0" smtClean="0">
                <a:cs typeface="Arial" panose="020B0604020202020204" pitchFamily="34" charset="0"/>
              </a:rPr>
              <a:t>1</a:t>
            </a:r>
            <a:r>
              <a:rPr kumimoji="1" lang="zh-CN" altLang="en-US" sz="1200" dirty="0" smtClean="0">
                <a:cs typeface="Arial" panose="020B0604020202020204" pitchFamily="34" charset="0"/>
              </a:rPr>
              <a:t>”，则认为接收到新的序列的一个有效位，应转移到</a:t>
            </a:r>
            <a:r>
              <a:rPr kumimoji="1" lang="en-US" altLang="zh-CN" sz="1200" dirty="0" smtClean="0">
                <a:cs typeface="Arial" panose="020B0604020202020204" pitchFamily="34" charset="0"/>
              </a:rPr>
              <a:t>S1</a:t>
            </a:r>
            <a:r>
              <a:rPr kumimoji="1" lang="zh-CN" altLang="en-US" sz="1200" dirty="0" smtClean="0">
                <a:cs typeface="Arial" panose="020B0604020202020204" pitchFamily="34" charset="0"/>
              </a:rPr>
              <a:t>。</a:t>
            </a:r>
            <a:endParaRPr lang="en-US" altLang="zh-CN" dirty="0" smtClean="0"/>
          </a:p>
        </p:txBody>
      </p:sp>
      <p:sp>
        <p:nvSpPr>
          <p:cNvPr id="242692" name="灯片编号占位符 3"/>
          <p:cNvSpPr>
            <a:spLocks noGrp="1"/>
          </p:cNvSpPr>
          <p:nvPr>
            <p:ph type="sldNum" sz="quarter" idx="5"/>
          </p:nvPr>
        </p:nvSpPr>
        <p:spPr>
          <a:noFill/>
        </p:spPr>
        <p:txBody>
          <a:bodyPr/>
          <a:lstStyle/>
          <a:p>
            <a:fld id="{4B58FB13-2C86-4220-A2AA-533D0652E311}" type="slidenum">
              <a:rPr lang="ko-KR" altLang="en-US" smtClean="0">
                <a:ea typeface="Gulim" panose="020B0600000101010101" pitchFamily="34" charset="-127"/>
              </a:rPr>
              <a:t>59</a:t>
            </a:fld>
            <a:endParaRPr lang="en-US" altLang="ko-KR" smtClean="0">
              <a:ea typeface="Gulim" panose="020B0600000101010101" pitchFamily="34" charset="-127"/>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Rot="1" noChangeAspect="1" noChangeArrowheads="1" noTextEdit="1"/>
          </p:cNvSpPr>
          <p:nvPr>
            <p:ph type="sldImg"/>
          </p:nvPr>
        </p:nvSpPr>
        <p:spPr/>
      </p:sp>
      <p:sp>
        <p:nvSpPr>
          <p:cNvPr id="243715" name="Rectangle 3"/>
          <p:cNvSpPr>
            <a:spLocks noGrp="1" noChangeArrowheads="1"/>
          </p:cNvSpPr>
          <p:nvPr>
            <p:ph type="body" idx="1"/>
          </p:nvPr>
        </p:nvSpPr>
        <p:spPr>
          <a:noFill/>
        </p:spPr>
        <p:txBody>
          <a:bodyPr/>
          <a:lstStyle/>
          <a:p>
            <a:r>
              <a:rPr lang="zh-CN" altLang="en-US" dirty="0" smtClean="0"/>
              <a:t>    一般采用双过程描述：一个过程描述现态和次态时序逻辑；另一个过程描述输出逻辑（组合逻辑）。这样写结构清晰；将时序逻辑和组合逻辑分开描述，便于修改。</a:t>
            </a:r>
            <a:endParaRPr lang="en-US" altLang="zh-CN" dirty="0" smtClean="0"/>
          </a:p>
          <a:p>
            <a:r>
              <a:rPr lang="zh-CN" altLang="en-US" dirty="0" smtClean="0"/>
              <a:t>    有时也采用</a:t>
            </a:r>
            <a:r>
              <a:rPr lang="zh-CN" altLang="zh-CN" sz="1200" b="1" kern="1200" dirty="0" smtClean="0">
                <a:solidFill>
                  <a:schemeClr val="tx1"/>
                </a:solidFill>
                <a:latin typeface="Arial" panose="020B0604020202020204" pitchFamily="34" charset="0"/>
                <a:ea typeface="宋体" panose="02010600030101010101" pitchFamily="2" charset="-122"/>
                <a:cs typeface="+mn-cs"/>
              </a:rPr>
              <a:t>风格</a:t>
            </a:r>
            <a:r>
              <a:rPr lang="en-US" altLang="zh-CN" sz="1200" b="1" kern="1200" dirty="0" smtClean="0">
                <a:solidFill>
                  <a:schemeClr val="tx1"/>
                </a:solidFill>
                <a:latin typeface="Arial" panose="020B0604020202020204" pitchFamily="34" charset="0"/>
                <a:ea typeface="宋体" panose="02010600030101010101" pitchFamily="2" charset="-122"/>
                <a:cs typeface="+mn-cs"/>
              </a:rPr>
              <a:t>B</a:t>
            </a:r>
            <a:r>
              <a:rPr lang="en-US" altLang="zh-CN" sz="1200" b="0" kern="1200" dirty="0" smtClean="0">
                <a:solidFill>
                  <a:schemeClr val="tx1"/>
                </a:solidFill>
                <a:latin typeface="Arial" panose="020B0604020202020204" pitchFamily="34" charset="0"/>
                <a:ea typeface="宋体" panose="02010600030101010101" pitchFamily="2" charset="-122"/>
                <a:cs typeface="+mn-cs"/>
              </a:rPr>
              <a:t>(</a:t>
            </a:r>
            <a:r>
              <a:rPr lang="zh-CN" altLang="en-US" dirty="0" smtClean="0"/>
              <a:t>单过程</a:t>
            </a:r>
            <a:r>
              <a:rPr lang="en-US" altLang="zh-CN" dirty="0" smtClean="0"/>
              <a:t>)</a:t>
            </a:r>
            <a:r>
              <a:rPr lang="zh-CN" altLang="en-US" dirty="0" smtClean="0"/>
              <a:t>描述方式，即将状态机的现态、次态和输出逻辑放在一个</a:t>
            </a:r>
            <a:r>
              <a:rPr lang="en-US" altLang="zh-CN" dirty="0" smtClean="0"/>
              <a:t>always</a:t>
            </a:r>
            <a:r>
              <a:rPr lang="zh-CN" altLang="en-US" dirty="0" smtClean="0"/>
              <a:t>块中进行描述。其优点是采用时钟信号来同步输出信号，可以克服输出信号出现毛刺的问题，适于输出信号作为控制逻辑的场合使用，有效避免了因输出信号带有毛刺而产生错误的控制逻辑；但不足是输出信号会比双过程描述方式中的输出信号延迟一个时钟周期的时间。</a:t>
            </a:r>
          </a:p>
          <a:p>
            <a:endParaRPr lang="zh-CN" altLang="en-US"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Rectangle 2"/>
          <p:cNvSpPr>
            <a:spLocks noGrp="1" noRot="1" noChangeAspect="1" noChangeArrowheads="1" noTextEdit="1"/>
          </p:cNvSpPr>
          <p:nvPr>
            <p:ph type="sldImg"/>
          </p:nvPr>
        </p:nvSpPr>
        <p:spPr/>
      </p:sp>
      <p:sp>
        <p:nvSpPr>
          <p:cNvPr id="244739" name="Rectangle 3"/>
          <p:cNvSpPr>
            <a:spLocks noGrp="1" noChangeArrowheads="1"/>
          </p:cNvSpPr>
          <p:nvPr>
            <p:ph type="body" idx="1"/>
          </p:nvPr>
        </p:nvSpPr>
        <p:spPr>
          <a:noFill/>
        </p:spPr>
        <p:txBody>
          <a:bodyPr/>
          <a:lstStyle/>
          <a:p>
            <a:r>
              <a:rPr lang="zh-CN" altLang="en-US" dirty="0" smtClean="0"/>
              <a:t>程序见</a:t>
            </a:r>
            <a:r>
              <a:rPr lang="en-US" altLang="zh-CN" dirty="0" smtClean="0"/>
              <a:t>monitor</a:t>
            </a:r>
            <a:r>
              <a:rPr lang="zh-CN" altLang="en-US" dirty="0" smtClean="0"/>
              <a:t>文件夹中</a:t>
            </a:r>
            <a:r>
              <a:rPr lang="en-US" altLang="zh-CN" dirty="0" err="1" smtClean="0"/>
              <a:t>monitor.v</a:t>
            </a:r>
            <a:r>
              <a:rPr lang="zh-CN" altLang="en-US" dirty="0" smtClean="0"/>
              <a:t>。</a:t>
            </a:r>
            <a:endParaRPr lang="en-US" altLang="zh-CN" dirty="0" smtClean="0"/>
          </a:p>
          <a:p>
            <a:r>
              <a:rPr lang="en-US" altLang="zh-CN" dirty="0" smtClean="0"/>
              <a:t>【</a:t>
            </a:r>
            <a:r>
              <a:rPr lang="zh-CN" altLang="en-US" dirty="0" smtClean="0"/>
              <a:t>提问：这里状态编码采用的是什么方式？</a:t>
            </a:r>
            <a:r>
              <a:rPr lang="en-US" altLang="zh-CN" dirty="0" smtClean="0"/>
              <a:t>】</a:t>
            </a:r>
          </a:p>
          <a:p>
            <a:r>
              <a:rPr lang="en-US" altLang="zh-CN" dirty="0" smtClean="0"/>
              <a:t>Moore</a:t>
            </a:r>
            <a:r>
              <a:rPr lang="zh-CN" altLang="en-US" dirty="0" smtClean="0"/>
              <a:t>型状态机的描述一般包括</a:t>
            </a:r>
            <a:r>
              <a:rPr lang="en-US" altLang="zh-CN" dirty="0" smtClean="0"/>
              <a:t>3</a:t>
            </a:r>
            <a:r>
              <a:rPr lang="zh-CN" altLang="en-US" dirty="0" smtClean="0"/>
              <a:t>个部分：</a:t>
            </a:r>
          </a:p>
          <a:p>
            <a:r>
              <a:rPr lang="zh-CN" altLang="en-US" dirty="0" smtClean="0"/>
              <a:t>（</a:t>
            </a:r>
            <a:r>
              <a:rPr lang="en-US" altLang="zh-CN" dirty="0" smtClean="0"/>
              <a:t>1</a:t>
            </a:r>
            <a:r>
              <a:rPr lang="zh-CN" altLang="en-US" dirty="0" smtClean="0"/>
              <a:t>）复位时回到初始状态；</a:t>
            </a:r>
          </a:p>
          <a:p>
            <a:r>
              <a:rPr lang="zh-CN" altLang="en-US" dirty="0" smtClean="0"/>
              <a:t>（</a:t>
            </a:r>
            <a:r>
              <a:rPr lang="en-US" altLang="zh-CN" dirty="0" smtClean="0"/>
              <a:t>2</a:t>
            </a:r>
            <a:r>
              <a:rPr lang="zh-CN" altLang="en-US" dirty="0" smtClean="0"/>
              <a:t>）状态的转移；</a:t>
            </a:r>
          </a:p>
          <a:p>
            <a:r>
              <a:rPr lang="zh-CN" altLang="en-US" dirty="0" smtClean="0"/>
              <a:t>（</a:t>
            </a:r>
            <a:r>
              <a:rPr lang="en-US" altLang="zh-CN" dirty="0" smtClean="0"/>
              <a:t>3</a:t>
            </a:r>
            <a:r>
              <a:rPr lang="zh-CN" altLang="en-US" dirty="0" smtClean="0"/>
              <a:t>）状态机的输出信号。</a:t>
            </a:r>
          </a:p>
          <a:p>
            <a:r>
              <a:rPr lang="en-US" altLang="zh-CN" dirty="0" smtClean="0"/>
              <a:t>Moore</a:t>
            </a:r>
            <a:r>
              <a:rPr lang="zh-CN" altLang="en-US" dirty="0" smtClean="0"/>
              <a:t>型状态机的输出信号可以根据其与状态的关系直接写出表达式，与外部输入无关。因此如果输出表达式很简单，可以单独用一条赋值语句写出。</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Rot="1" noChangeAspect="1" noChangeArrowheads="1" noTextEdit="1"/>
          </p:cNvSpPr>
          <p:nvPr>
            <p:ph type="sldImg"/>
          </p:nvPr>
        </p:nvSpPr>
        <p:spPr/>
      </p:sp>
      <p:sp>
        <p:nvSpPr>
          <p:cNvPr id="245763" name="Rectangle 3"/>
          <p:cNvSpPr>
            <a:spLocks noGrp="1" noChangeArrowheads="1"/>
          </p:cNvSpPr>
          <p:nvPr>
            <p:ph type="body" idx="1"/>
          </p:nvPr>
        </p:nvSpPr>
        <p:spPr>
          <a:noFill/>
        </p:spPr>
        <p:txBody>
          <a:bodyPr/>
          <a:lstStyle/>
          <a:p>
            <a:r>
              <a:rPr lang="zh-CN" altLang="en-US" smtClean="0"/>
              <a:t>程序见</a:t>
            </a:r>
            <a:r>
              <a:rPr lang="en-US" altLang="zh-CN" smtClean="0"/>
              <a:t>monitor_good.v</a:t>
            </a:r>
            <a:r>
              <a:rPr lang="zh-CN" altLang="en-US" smtClean="0"/>
              <a:t>。两种写法的仿真波形一样。</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Rot="1" noChangeAspect="1" noChangeArrowheads="1" noTextEdit="1"/>
          </p:cNvSpPr>
          <p:nvPr>
            <p:ph type="sldImg"/>
          </p:nvPr>
        </p:nvSpPr>
        <p:spPr/>
      </p:sp>
      <p:sp>
        <p:nvSpPr>
          <p:cNvPr id="247811" name="Rectangle 3"/>
          <p:cNvSpPr>
            <a:spLocks noGrp="1" noChangeArrowheads="1"/>
          </p:cNvSpPr>
          <p:nvPr>
            <p:ph type="body" idx="1"/>
          </p:nvPr>
        </p:nvSpPr>
        <p:spPr>
          <a:noFill/>
        </p:spPr>
        <p:txBody>
          <a:bodyPr/>
          <a:lstStyle/>
          <a:p>
            <a:r>
              <a:rPr lang="en-US" altLang="zh-CN" smtClean="0">
                <a:solidFill>
                  <a:srgbClr val="0000FF"/>
                </a:solidFill>
              </a:rPr>
              <a:t>Mealy</a:t>
            </a:r>
            <a:r>
              <a:rPr lang="zh-CN" altLang="en-US" smtClean="0">
                <a:solidFill>
                  <a:srgbClr val="0000FF"/>
                </a:solidFill>
              </a:rPr>
              <a:t>型状态机输出不仅和存储电路状态有关，还和外部输入信号有关</a:t>
            </a:r>
            <a:r>
              <a:rPr lang="zh-CN" altLang="zh-CN" smtClean="0"/>
              <a:t>——在状态图中，线上的输出表示根据现态和输入决定输出。</a:t>
            </a:r>
            <a:endParaRPr lang="zh-CN" altLang="en-US" smtClean="0">
              <a:solidFill>
                <a:srgbClr val="0000FF"/>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Rot="1" noChangeAspect="1" noChangeArrowheads="1" noTextEdit="1"/>
          </p:cNvSpPr>
          <p:nvPr>
            <p:ph type="sldImg"/>
          </p:nvPr>
        </p:nvSpPr>
        <p:spPr/>
      </p:sp>
      <p:sp>
        <p:nvSpPr>
          <p:cNvPr id="248835" name="Rectangle 3"/>
          <p:cNvSpPr>
            <a:spLocks noGrp="1" noChangeArrowheads="1"/>
          </p:cNvSpPr>
          <p:nvPr>
            <p:ph type="body" idx="1"/>
          </p:nvPr>
        </p:nvSpPr>
        <p:spPr>
          <a:noFill/>
        </p:spPr>
        <p:txBody>
          <a:bodyPr/>
          <a:lstStyle/>
          <a:p>
            <a:endParaRPr lang="zh-CN" alt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Rot="1" noChangeAspect="1" noChangeArrowheads="1" noTextEdit="1"/>
          </p:cNvSpPr>
          <p:nvPr>
            <p:ph type="sldImg"/>
          </p:nvPr>
        </p:nvSpPr>
        <p:spPr/>
      </p:sp>
      <p:sp>
        <p:nvSpPr>
          <p:cNvPr id="249859" name="Rectangle 3"/>
          <p:cNvSpPr>
            <a:spLocks noGrp="1" noChangeArrowheads="1"/>
          </p:cNvSpPr>
          <p:nvPr>
            <p:ph type="body" idx="1"/>
          </p:nvPr>
        </p:nvSpPr>
        <p:spPr>
          <a:noFill/>
        </p:spPr>
        <p:txBody>
          <a:bodyPr/>
          <a:lstStyle/>
          <a:p>
            <a:endParaRPr lang="zh-CN" altLang="en-US" smtClean="0"/>
          </a:p>
          <a:p>
            <a:endParaRPr lang="zh-CN" altLang="en-US" smtClean="0">
              <a:solidFill>
                <a:srgbClr val="FF0066"/>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Rot="1" noChangeAspect="1" noChangeArrowheads="1" noTextEdit="1"/>
          </p:cNvSpPr>
          <p:nvPr>
            <p:ph type="sldImg"/>
          </p:nvPr>
        </p:nvSpPr>
        <p:spPr/>
      </p:sp>
      <p:sp>
        <p:nvSpPr>
          <p:cNvPr id="250883" name="Rectangle 3"/>
          <p:cNvSpPr>
            <a:spLocks noGrp="1" noChangeArrowheads="1"/>
          </p:cNvSpPr>
          <p:nvPr>
            <p:ph type="body" idx="1"/>
          </p:nvPr>
        </p:nvSpPr>
        <p:spPr>
          <a:noFill/>
        </p:spPr>
        <p:txBody>
          <a:bodyPr/>
          <a:lstStyle/>
          <a:p>
            <a:r>
              <a:rPr lang="zh-CN" altLang="en-US" smtClean="0"/>
              <a:t>    这里与</a:t>
            </a:r>
            <a:r>
              <a:rPr lang="en-US" altLang="zh-CN" smtClean="0"/>
              <a:t>monitor_good.v</a:t>
            </a:r>
            <a:r>
              <a:rPr lang="zh-CN" altLang="en-US" smtClean="0"/>
              <a:t>的区别是，在</a:t>
            </a:r>
            <a:r>
              <a:rPr lang="en-US" altLang="zh-CN" smtClean="0"/>
              <a:t>S3</a:t>
            </a:r>
            <a:r>
              <a:rPr lang="zh-CN" altLang="en-US" smtClean="0"/>
              <a:t>时若</a:t>
            </a:r>
            <a:r>
              <a:rPr lang="en-US" altLang="zh-CN" smtClean="0"/>
              <a:t>data=1</a:t>
            </a:r>
            <a:r>
              <a:rPr lang="zh-CN" altLang="en-US" smtClean="0"/>
              <a:t>，则</a:t>
            </a:r>
            <a:r>
              <a:rPr lang="en-US" altLang="zh-CN" smtClean="0">
                <a:solidFill>
                  <a:srgbClr val="FF0066"/>
                </a:solidFill>
              </a:rPr>
              <a:t>zo</a:t>
            </a:r>
            <a:r>
              <a:rPr lang="zh-CN" altLang="en-US" smtClean="0">
                <a:solidFill>
                  <a:srgbClr val="FF0066"/>
                </a:solidFill>
              </a:rPr>
              <a:t>置</a:t>
            </a:r>
            <a:r>
              <a:rPr lang="en-US" altLang="zh-CN" smtClean="0">
                <a:solidFill>
                  <a:srgbClr val="FF0066"/>
                </a:solidFill>
              </a:rPr>
              <a:t>1</a:t>
            </a:r>
            <a:r>
              <a:rPr lang="zh-CN" altLang="en-US" smtClean="0">
                <a:solidFill>
                  <a:srgbClr val="FF0066"/>
                </a:solidFill>
              </a:rPr>
              <a:t>，否则</a:t>
            </a:r>
            <a:r>
              <a:rPr lang="en-US" altLang="zh-CN" smtClean="0">
                <a:solidFill>
                  <a:srgbClr val="FF0066"/>
                </a:solidFill>
              </a:rPr>
              <a:t>zo=0</a:t>
            </a:r>
            <a:r>
              <a:rPr lang="zh-CN" altLang="en-US" smtClean="0">
                <a:solidFill>
                  <a:srgbClr val="FF0066"/>
                </a:solidFill>
              </a:rPr>
              <a:t>，表明</a:t>
            </a:r>
            <a:r>
              <a:rPr lang="zh-CN" altLang="en-US" smtClean="0"/>
              <a:t>输出是内部状态和外部输入的函数。</a:t>
            </a:r>
          </a:p>
          <a:p>
            <a:r>
              <a:rPr lang="zh-CN" altLang="en-US" smtClean="0"/>
              <a:t>    而在</a:t>
            </a:r>
            <a:r>
              <a:rPr lang="en-US" altLang="zh-CN" smtClean="0"/>
              <a:t>monitor.v</a:t>
            </a:r>
            <a:r>
              <a:rPr lang="zh-CN" altLang="en-US" smtClean="0"/>
              <a:t>中，实际上是在</a:t>
            </a:r>
            <a:r>
              <a:rPr lang="en-US" altLang="zh-CN" smtClean="0"/>
              <a:t>S4</a:t>
            </a:r>
            <a:r>
              <a:rPr lang="zh-CN" altLang="en-US" smtClean="0"/>
              <a:t>时给</a:t>
            </a:r>
            <a:r>
              <a:rPr lang="en-US" altLang="zh-CN" smtClean="0">
                <a:solidFill>
                  <a:srgbClr val="FF0066"/>
                </a:solidFill>
              </a:rPr>
              <a:t>zo</a:t>
            </a:r>
            <a:r>
              <a:rPr lang="zh-CN" altLang="en-US" smtClean="0">
                <a:solidFill>
                  <a:srgbClr val="FF0066"/>
                </a:solidFill>
              </a:rPr>
              <a:t>置</a:t>
            </a:r>
            <a:r>
              <a:rPr lang="en-US" altLang="zh-CN" smtClean="0">
                <a:solidFill>
                  <a:srgbClr val="FF0066"/>
                </a:solidFill>
              </a:rPr>
              <a:t>1——</a:t>
            </a:r>
            <a:r>
              <a:rPr lang="zh-CN" altLang="en-US" smtClean="0">
                <a:solidFill>
                  <a:srgbClr val="FF0066"/>
                </a:solidFill>
              </a:rPr>
              <a:t>说明</a:t>
            </a:r>
            <a:r>
              <a:rPr lang="zh-CN" altLang="en-US" smtClean="0"/>
              <a:t>输出只是内部状态的函数</a:t>
            </a:r>
            <a:r>
              <a:rPr lang="zh-CN" altLang="en-US" smtClean="0">
                <a:solidFill>
                  <a:srgbClr val="FF0066"/>
                </a:solidFill>
              </a:rPr>
              <a:t>，而与外部输入无关！</a:t>
            </a:r>
            <a:endParaRPr lang="en-US" altLang="zh-CN" smtClean="0">
              <a:solidFill>
                <a:srgbClr val="FF0066"/>
              </a:solidFill>
            </a:endParaRPr>
          </a:p>
          <a:p>
            <a:r>
              <a:rPr lang="zh-CN" altLang="en-US" smtClean="0">
                <a:ea typeface="楷体_GB2312" pitchFamily="49" charset="-122"/>
              </a:rPr>
              <a:t>    采用</a:t>
            </a:r>
            <a:r>
              <a:rPr lang="en-US" altLang="zh-CN" smtClean="0">
                <a:ea typeface="楷体_GB2312" pitchFamily="49" charset="-122"/>
              </a:rPr>
              <a:t>Mealy</a:t>
            </a:r>
            <a:r>
              <a:rPr lang="zh-CN" altLang="en-US" smtClean="0">
                <a:ea typeface="楷体_GB2312" pitchFamily="49" charset="-122"/>
              </a:rPr>
              <a:t>型状态机描述序列检测器与采用</a:t>
            </a:r>
            <a:r>
              <a:rPr lang="en-US" altLang="zh-CN" smtClean="0">
                <a:ea typeface="楷体_GB2312" pitchFamily="49" charset="-122"/>
              </a:rPr>
              <a:t>Moore</a:t>
            </a:r>
            <a:r>
              <a:rPr lang="zh-CN" altLang="en-US" smtClean="0">
                <a:ea typeface="楷体_GB2312" pitchFamily="49" charset="-122"/>
              </a:rPr>
              <a:t>型状态机的仿真波形稍有区别</a:t>
            </a:r>
            <a:r>
              <a:rPr lang="en-US" altLang="zh-CN" smtClean="0">
                <a:ea typeface="楷体_GB2312" pitchFamily="49" charset="-122"/>
              </a:rPr>
              <a:t>——</a:t>
            </a:r>
            <a:r>
              <a:rPr lang="zh-CN" altLang="en-US" smtClean="0">
                <a:ea typeface="楷体_GB2312" pitchFamily="49" charset="-122"/>
              </a:rPr>
              <a:t>这里在</a:t>
            </a:r>
            <a:r>
              <a:rPr lang="en-US" altLang="zh-CN" smtClean="0">
                <a:ea typeface="楷体_GB2312" pitchFamily="49" charset="-122"/>
              </a:rPr>
              <a:t>state=S3</a:t>
            </a:r>
            <a:r>
              <a:rPr lang="zh-CN" altLang="en-US" smtClean="0">
                <a:ea typeface="楷体_GB2312" pitchFamily="49" charset="-122"/>
              </a:rPr>
              <a:t>时，</a:t>
            </a:r>
            <a:r>
              <a:rPr lang="en-US" altLang="zh-CN" smtClean="0">
                <a:solidFill>
                  <a:srgbClr val="FF0066"/>
                </a:solidFill>
                <a:ea typeface="楷体_GB2312" pitchFamily="49" charset="-122"/>
              </a:rPr>
              <a:t>data=1</a:t>
            </a:r>
            <a:r>
              <a:rPr lang="zh-CN" altLang="en-US" smtClean="0">
                <a:ea typeface="楷体_GB2312" pitchFamily="49" charset="-122"/>
              </a:rPr>
              <a:t>，则</a:t>
            </a:r>
            <a:r>
              <a:rPr lang="en-US" altLang="zh-CN" smtClean="0">
                <a:solidFill>
                  <a:srgbClr val="FF0066"/>
                </a:solidFill>
                <a:ea typeface="楷体_GB2312" pitchFamily="49" charset="-122"/>
              </a:rPr>
              <a:t>zo</a:t>
            </a:r>
            <a:r>
              <a:rPr lang="zh-CN" altLang="en-US" smtClean="0">
                <a:solidFill>
                  <a:srgbClr val="FF0066"/>
                </a:solidFill>
                <a:ea typeface="楷体_GB2312" pitchFamily="49" charset="-122"/>
              </a:rPr>
              <a:t>置</a:t>
            </a:r>
            <a:r>
              <a:rPr lang="en-US" altLang="zh-CN" smtClean="0">
                <a:solidFill>
                  <a:srgbClr val="FF0066"/>
                </a:solidFill>
                <a:ea typeface="楷体_GB2312" pitchFamily="49" charset="-122"/>
              </a:rPr>
              <a:t>1</a:t>
            </a:r>
            <a:r>
              <a:rPr lang="zh-CN" altLang="en-US" smtClean="0">
                <a:solidFill>
                  <a:srgbClr val="FF0066"/>
                </a:solidFill>
                <a:ea typeface="楷体_GB2312" pitchFamily="49" charset="-122"/>
              </a:rPr>
              <a:t>，表示检测到正确的序列；然后跳转到下一状态</a:t>
            </a:r>
            <a:r>
              <a:rPr lang="en-US" altLang="zh-CN" smtClean="0">
                <a:solidFill>
                  <a:srgbClr val="FF0066"/>
                </a:solidFill>
                <a:ea typeface="楷体_GB2312" pitchFamily="49" charset="-122"/>
              </a:rPr>
              <a:t>S4</a:t>
            </a:r>
            <a:r>
              <a:rPr lang="zh-CN" altLang="en-US" smtClean="0">
                <a:solidFill>
                  <a:srgbClr val="FF0066"/>
                </a:solidFill>
                <a:ea typeface="楷体_GB2312" pitchFamily="49" charset="-122"/>
              </a:rPr>
              <a:t>，</a:t>
            </a:r>
            <a:r>
              <a:rPr lang="en-US" altLang="zh-CN" smtClean="0">
                <a:solidFill>
                  <a:srgbClr val="FF0066"/>
                </a:solidFill>
                <a:ea typeface="楷体_GB2312" pitchFamily="49" charset="-122"/>
              </a:rPr>
              <a:t>zo</a:t>
            </a:r>
            <a:r>
              <a:rPr lang="zh-CN" altLang="en-US" smtClean="0">
                <a:solidFill>
                  <a:srgbClr val="FF0066"/>
                </a:solidFill>
                <a:ea typeface="楷体_GB2312" pitchFamily="49" charset="-122"/>
              </a:rPr>
              <a:t>变为</a:t>
            </a:r>
            <a:r>
              <a:rPr lang="en-US" altLang="zh-CN" smtClean="0">
                <a:solidFill>
                  <a:srgbClr val="FF0066"/>
                </a:solidFill>
                <a:ea typeface="楷体_GB2312" pitchFamily="49" charset="-122"/>
              </a:rPr>
              <a:t>0</a:t>
            </a:r>
            <a:r>
              <a:rPr lang="zh-CN" altLang="en-US" smtClean="0">
                <a:solidFill>
                  <a:srgbClr val="FF0066"/>
                </a:solidFill>
                <a:ea typeface="楷体_GB2312" pitchFamily="49" charset="-122"/>
              </a:rPr>
              <a:t>，故</a:t>
            </a:r>
            <a:r>
              <a:rPr lang="en-US" altLang="zh-CN" smtClean="0">
                <a:solidFill>
                  <a:srgbClr val="FF0066"/>
                </a:solidFill>
                <a:ea typeface="楷体_GB2312" pitchFamily="49" charset="-122"/>
              </a:rPr>
              <a:t>zo=1</a:t>
            </a:r>
            <a:r>
              <a:rPr lang="zh-CN" altLang="en-US" smtClean="0">
                <a:solidFill>
                  <a:srgbClr val="FF0066"/>
                </a:solidFill>
                <a:ea typeface="楷体_GB2312" pitchFamily="49" charset="-122"/>
              </a:rPr>
              <a:t>很短</a:t>
            </a:r>
            <a:r>
              <a:rPr lang="zh-CN" altLang="en-US" smtClean="0">
                <a:ea typeface="楷体_GB2312" pitchFamily="49" charset="-122"/>
              </a:rPr>
              <a:t>。而在采用</a:t>
            </a:r>
            <a:r>
              <a:rPr lang="en-US" altLang="zh-CN" smtClean="0">
                <a:ea typeface="楷体_GB2312" pitchFamily="49" charset="-122"/>
              </a:rPr>
              <a:t>Moore</a:t>
            </a:r>
            <a:r>
              <a:rPr lang="zh-CN" altLang="en-US" smtClean="0">
                <a:ea typeface="楷体_GB2312" pitchFamily="49" charset="-122"/>
              </a:rPr>
              <a:t>型状态机描述时，是当已经跳转到</a:t>
            </a:r>
            <a:r>
              <a:rPr lang="en-US" altLang="zh-CN" smtClean="0">
                <a:ea typeface="楷体_GB2312" pitchFamily="49" charset="-122"/>
              </a:rPr>
              <a:t>S4</a:t>
            </a:r>
            <a:r>
              <a:rPr lang="zh-CN" altLang="en-US" smtClean="0">
                <a:ea typeface="楷体_GB2312" pitchFamily="49" charset="-122"/>
              </a:rPr>
              <a:t>时，</a:t>
            </a:r>
            <a:r>
              <a:rPr lang="en-US" altLang="zh-CN" smtClean="0">
                <a:solidFill>
                  <a:srgbClr val="FF0066"/>
                </a:solidFill>
                <a:ea typeface="楷体_GB2312" pitchFamily="49" charset="-122"/>
              </a:rPr>
              <a:t>zo</a:t>
            </a:r>
            <a:r>
              <a:rPr lang="zh-CN" altLang="en-US" smtClean="0">
                <a:solidFill>
                  <a:srgbClr val="FF0066"/>
                </a:solidFill>
                <a:ea typeface="楷体_GB2312" pitchFamily="49" charset="-122"/>
              </a:rPr>
              <a:t>置</a:t>
            </a:r>
            <a:r>
              <a:rPr lang="en-US" altLang="zh-CN" smtClean="0">
                <a:solidFill>
                  <a:srgbClr val="FF0066"/>
                </a:solidFill>
                <a:ea typeface="楷体_GB2312" pitchFamily="49" charset="-122"/>
              </a:rPr>
              <a:t>1</a:t>
            </a:r>
            <a:r>
              <a:rPr lang="zh-CN" altLang="en-US" smtClean="0">
                <a:solidFill>
                  <a:srgbClr val="FF0066"/>
                </a:solidFill>
                <a:ea typeface="楷体_GB2312" pitchFamily="49" charset="-122"/>
              </a:rPr>
              <a:t>，表示检测到正确的序列，故在整个</a:t>
            </a:r>
            <a:r>
              <a:rPr lang="en-US" altLang="zh-CN" smtClean="0">
                <a:solidFill>
                  <a:srgbClr val="FF0066"/>
                </a:solidFill>
                <a:ea typeface="楷体_GB2312" pitchFamily="49" charset="-122"/>
              </a:rPr>
              <a:t>S4</a:t>
            </a:r>
            <a:r>
              <a:rPr lang="zh-CN" altLang="en-US" smtClean="0">
                <a:solidFill>
                  <a:srgbClr val="FF0066"/>
                </a:solidFill>
                <a:ea typeface="楷体_GB2312" pitchFamily="49" charset="-122"/>
              </a:rPr>
              <a:t>期间，都有</a:t>
            </a:r>
            <a:r>
              <a:rPr lang="en-US" altLang="zh-CN" smtClean="0">
                <a:solidFill>
                  <a:srgbClr val="FF0066"/>
                </a:solidFill>
                <a:ea typeface="楷体_GB2312" pitchFamily="49" charset="-122"/>
              </a:rPr>
              <a:t>zo=1</a:t>
            </a:r>
            <a:r>
              <a:rPr lang="zh-CN" altLang="en-US" smtClean="0">
                <a:solidFill>
                  <a:srgbClr val="FF0066"/>
                </a:solidFill>
                <a:ea typeface="楷体_GB2312" pitchFamily="49" charset="-122"/>
              </a:rPr>
              <a:t>。</a:t>
            </a:r>
            <a:endParaRPr lang="zh-CN" altLang="en-US" smtClean="0"/>
          </a:p>
          <a:p>
            <a:endParaRPr lang="zh-CN" alt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Rot="1" noChangeAspect="1" noChangeArrowheads="1" noTextEdit="1"/>
          </p:cNvSpPr>
          <p:nvPr>
            <p:ph type="sldImg"/>
          </p:nvPr>
        </p:nvSpPr>
        <p:spPr/>
      </p:sp>
      <p:sp>
        <p:nvSpPr>
          <p:cNvPr id="293891" name="Rectangle 3"/>
          <p:cNvSpPr>
            <a:spLocks noGrp="1" noChangeArrowheads="1"/>
          </p:cNvSpPr>
          <p:nvPr>
            <p:ph type="body" idx="1"/>
          </p:nvPr>
        </p:nvSpPr>
        <p:spPr>
          <a:noFill/>
        </p:spPr>
        <p:txBody>
          <a:bodyPr/>
          <a:lstStyle/>
          <a:p>
            <a:r>
              <a:rPr lang="zh-CN" altLang="en-US"/>
              <a:t>驱动方程、输出方程、状态方程（将驱动方程代入</a:t>
            </a:r>
            <a:r>
              <a:rPr lang="en-US" altLang="zh-CN"/>
              <a:t>JK</a:t>
            </a:r>
            <a:r>
              <a:rPr lang="zh-CN" altLang="en-US"/>
              <a:t>触发器的特性方程得到状态方程）</a:t>
            </a:r>
          </a:p>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Rot="1" noChangeAspect="1" noChangeArrowheads="1" noTextEdit="1"/>
          </p:cNvSpPr>
          <p:nvPr>
            <p:ph type="sldImg"/>
          </p:nvPr>
        </p:nvSpPr>
        <p:spPr/>
      </p:sp>
      <p:sp>
        <p:nvSpPr>
          <p:cNvPr id="294915" name="Rectangle 3"/>
          <p:cNvSpPr>
            <a:spLocks noGrp="1" noChangeArrowheads="1"/>
          </p:cNvSpPr>
          <p:nvPr>
            <p:ph type="body" idx="1"/>
          </p:nvPr>
        </p:nvSpPr>
        <p:spPr>
          <a:noFill/>
        </p:spPr>
        <p:txBody>
          <a:bodyPr/>
          <a:lstStyle/>
          <a:p>
            <a:r>
              <a:rPr lang="zh-CN" altLang="en-US"/>
              <a:t>    将</a:t>
            </a:r>
            <a:r>
              <a:rPr lang="en-US" altLang="zh-CN"/>
              <a:t>4</a:t>
            </a:r>
            <a:r>
              <a:rPr lang="zh-CN" altLang="en-US"/>
              <a:t>级触发器的全部初态</a:t>
            </a:r>
            <a:r>
              <a:rPr lang="en-US" altLang="zh-CN"/>
              <a:t>0000~1111</a:t>
            </a:r>
            <a:r>
              <a:rPr lang="zh-CN" altLang="en-US"/>
              <a:t>代入</a:t>
            </a:r>
            <a:r>
              <a:rPr lang="zh-CN" altLang="zh-CN"/>
              <a:t>状态方程</a:t>
            </a:r>
            <a:r>
              <a:rPr lang="zh-CN" altLang="en-US"/>
              <a:t>和</a:t>
            </a:r>
            <a:r>
              <a:rPr lang="zh-CN" altLang="zh-CN"/>
              <a:t>输出方程</a:t>
            </a:r>
            <a:r>
              <a:rPr lang="zh-CN" altLang="en-US"/>
              <a:t>，计算得到触发器次态和电路的输出，由此列出状态转换表</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Rot="1" noChangeAspect="1" noChangeArrowheads="1" noTextEdit="1"/>
          </p:cNvSpPr>
          <p:nvPr>
            <p:ph type="sldImg"/>
          </p:nvPr>
        </p:nvSpPr>
        <p:spPr/>
      </p:sp>
      <p:sp>
        <p:nvSpPr>
          <p:cNvPr id="295939" name="Rectangle 3"/>
          <p:cNvSpPr>
            <a:spLocks noGrp="1" noChangeArrowheads="1"/>
          </p:cNvSpPr>
          <p:nvPr>
            <p:ph type="body" idx="1"/>
          </p:nvPr>
        </p:nvSpPr>
        <p:spPr>
          <a:noFill/>
        </p:spPr>
        <p:txBody>
          <a:bodyPr/>
          <a:lstStyle/>
          <a:p>
            <a:r>
              <a:rPr lang="zh-CN" altLang="en-US"/>
              <a:t>    </a:t>
            </a:r>
            <a:r>
              <a:rPr lang="zh-CN" altLang="zh-CN"/>
              <a:t>在状态转换图中，在转移线上用斜杠标出状态变化的输入条件和输出结果。本例</a:t>
            </a:r>
            <a:r>
              <a:rPr lang="zh-CN" altLang="en-US"/>
              <a:t>除了</a:t>
            </a:r>
            <a:r>
              <a:rPr lang="en-US" altLang="zh-CN"/>
              <a:t>CP</a:t>
            </a:r>
            <a:r>
              <a:rPr lang="zh-CN" altLang="en-US"/>
              <a:t>外</a:t>
            </a:r>
            <a:r>
              <a:rPr lang="zh-CN" altLang="zh-CN"/>
              <a:t>没有</a:t>
            </a:r>
            <a:r>
              <a:rPr lang="zh-CN" altLang="en-US"/>
              <a:t>其它</a:t>
            </a:r>
            <a:r>
              <a:rPr lang="zh-CN" altLang="zh-CN"/>
              <a:t>输入，只有进位输出</a:t>
            </a:r>
            <a:r>
              <a:rPr lang="en-US" altLang="zh-CN"/>
              <a:t>C</a:t>
            </a:r>
            <a:r>
              <a:rPr lang="zh-CN" altLang="zh-CN"/>
              <a:t>，所以斜杠右边表示进位输出</a:t>
            </a:r>
            <a:r>
              <a:rPr lang="en-US" altLang="zh-CN"/>
              <a:t>C</a:t>
            </a:r>
            <a:r>
              <a:rPr lang="zh-CN" altLang="zh-CN"/>
              <a:t>。</a:t>
            </a:r>
            <a:endParaRPr lang="en-US" altLang="zh-CN"/>
          </a:p>
          <a:p>
            <a:r>
              <a:rPr lang="zh-CN" altLang="en-US">
                <a:latin typeface="宋体" panose="02010600030101010101" pitchFamily="2" charset="-122"/>
                <a:ea typeface="楷体_GB2312" pitchFamily="49" charset="-122"/>
              </a:rPr>
              <a:t>    时序图可以从状态转换表或状态转换图推导画出。但从状态转换图推出更直观。从时序图可以看出，当</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3</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2</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1</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0</a:t>
            </a:r>
            <a:r>
              <a:rPr lang="en-US" altLang="zh-CN">
                <a:latin typeface="宋体" panose="02010600030101010101" pitchFamily="2" charset="-122"/>
                <a:ea typeface="楷体_GB2312" pitchFamily="49" charset="-122"/>
              </a:rPr>
              <a:t>=1001</a:t>
            </a:r>
            <a:r>
              <a:rPr lang="zh-CN" altLang="en-US">
                <a:latin typeface="宋体" panose="02010600030101010101" pitchFamily="2" charset="-122"/>
                <a:ea typeface="楷体_GB2312" pitchFamily="49" charset="-122"/>
              </a:rPr>
              <a:t>时，</a:t>
            </a:r>
            <a:r>
              <a:rPr lang="en-US" altLang="zh-CN">
                <a:latin typeface="宋体" panose="02010600030101010101" pitchFamily="2" charset="-122"/>
                <a:ea typeface="楷体_GB2312" pitchFamily="49" charset="-122"/>
              </a:rPr>
              <a:t>C=1</a:t>
            </a:r>
            <a:r>
              <a:rPr lang="zh-CN" altLang="en-US">
                <a:latin typeface="宋体" panose="02010600030101010101" pitchFamily="2" charset="-122"/>
                <a:ea typeface="楷体_GB2312" pitchFamily="49" charset="-122"/>
              </a:rPr>
              <a:t>；下一个</a:t>
            </a:r>
            <a:r>
              <a:rPr lang="en-US" altLang="zh-CN">
                <a:latin typeface="宋体" panose="02010600030101010101" pitchFamily="2" charset="-122"/>
                <a:ea typeface="楷体_GB2312" pitchFamily="49" charset="-122"/>
              </a:rPr>
              <a:t>CP</a:t>
            </a:r>
            <a:r>
              <a:rPr lang="zh-CN" altLang="en-US">
                <a:latin typeface="宋体" panose="02010600030101010101" pitchFamily="2" charset="-122"/>
                <a:ea typeface="楷体_GB2312" pitchFamily="49" charset="-122"/>
              </a:rPr>
              <a:t>下降沿到来时，</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3</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2</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1</a:t>
            </a:r>
            <a:r>
              <a:rPr lang="en-US" altLang="zh-CN">
                <a:latin typeface="宋体" panose="02010600030101010101" pitchFamily="2" charset="-122"/>
                <a:ea typeface="楷体_GB2312" pitchFamily="49" charset="-122"/>
              </a:rPr>
              <a:t>Q</a:t>
            </a:r>
            <a:r>
              <a:rPr lang="en-US" altLang="zh-CN" baseline="-25000">
                <a:latin typeface="宋体" panose="02010600030101010101" pitchFamily="2" charset="-122"/>
                <a:ea typeface="楷体_GB2312" pitchFamily="49" charset="-122"/>
              </a:rPr>
              <a:t>0</a:t>
            </a:r>
            <a:r>
              <a:rPr lang="zh-CN" altLang="en-US">
                <a:latin typeface="宋体" panose="02010600030101010101" pitchFamily="2" charset="-122"/>
                <a:ea typeface="楷体_GB2312" pitchFamily="49" charset="-122"/>
              </a:rPr>
              <a:t>变为</a:t>
            </a:r>
            <a:r>
              <a:rPr lang="en-US" altLang="zh-CN">
                <a:latin typeface="宋体" panose="02010600030101010101" pitchFamily="2" charset="-122"/>
                <a:ea typeface="楷体_GB2312" pitchFamily="49" charset="-122"/>
              </a:rPr>
              <a:t>0000</a:t>
            </a:r>
            <a:r>
              <a:rPr lang="zh-CN" altLang="en-US">
                <a:latin typeface="宋体" panose="02010600030101010101" pitchFamily="2" charset="-122"/>
                <a:ea typeface="楷体_GB2312" pitchFamily="49" charset="-122"/>
              </a:rPr>
              <a:t>，完成一个计数循环。</a:t>
            </a:r>
            <a:endParaRPr lang="zh-CN" altLang="zh-CN">
              <a:latin typeface="宋体" panose="02010600030101010101" pitchFamily="2" charset="-122"/>
              <a:ea typeface="楷体_GB2312" pitchFamily="49" charset="-122"/>
            </a:endParaRPr>
          </a:p>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2"/>
          <p:cNvSpPr>
            <a:spLocks noGrp="1" noRot="1" noChangeAspect="1" noChangeArrowheads="1" noTextEdit="1"/>
          </p:cNvSpPr>
          <p:nvPr>
            <p:ph type="sldImg"/>
          </p:nvPr>
        </p:nvSpPr>
        <p:spPr/>
      </p:sp>
      <p:sp>
        <p:nvSpPr>
          <p:cNvPr id="296963" name="Rectangle 3"/>
          <p:cNvSpPr>
            <a:spLocks noGrp="1" noChangeArrowheads="1"/>
          </p:cNvSpPr>
          <p:nvPr>
            <p:ph type="body" idx="1"/>
          </p:nvPr>
        </p:nvSpPr>
        <p:spPr>
          <a:noFill/>
        </p:spPr>
        <p:txBody>
          <a:bodyPr/>
          <a:lstStyle/>
          <a:p>
            <a:r>
              <a:rPr lang="en-US" altLang="zh-CN"/>
              <a:t>M</a:t>
            </a:r>
            <a:r>
              <a:rPr lang="zh-CN" altLang="en-US"/>
              <a:t>进制计数器也称为模</a:t>
            </a:r>
            <a:r>
              <a:rPr lang="en-US" altLang="zh-CN"/>
              <a:t>M</a:t>
            </a:r>
            <a:r>
              <a:rPr lang="zh-CN" altLang="en-US"/>
              <a:t>计数器</a:t>
            </a:r>
          </a:p>
          <a:p>
            <a:r>
              <a:rPr lang="zh-CN" altLang="en-US">
                <a:solidFill>
                  <a:srgbClr val="CC0000"/>
                </a:solidFill>
                <a:ea typeface="华文行楷" panose="02010800040101010101" pitchFamily="2" charset="-122"/>
              </a:rPr>
              <a:t>设计计数器时，不允许存在死循环！</a:t>
            </a:r>
            <a:r>
              <a:rPr lang="en-US" altLang="zh-CN">
                <a:solidFill>
                  <a:srgbClr val="CC0000"/>
                </a:solidFill>
                <a:ea typeface="华文行楷" panose="02010800040101010101" pitchFamily="2" charset="-122"/>
              </a:rPr>
              <a:t>——</a:t>
            </a:r>
            <a:r>
              <a:rPr lang="zh-CN" altLang="en-US">
                <a:solidFill>
                  <a:srgbClr val="CC0000"/>
                </a:solidFill>
                <a:ea typeface="华文行楷" panose="02010800040101010101" pitchFamily="2" charset="-122"/>
              </a:rPr>
              <a:t>否则计数器工作时，由于外界的干扰，计数器很可能会跳到死循环中，则计数的模值就会改变，将产生错误的计数结果。</a:t>
            </a:r>
            <a:r>
              <a:rPr lang="zh-CN" altLang="zh-CN"/>
              <a:t>没有死循环（即具有自启动能力）</a:t>
            </a:r>
            <a:r>
              <a:rPr lang="zh-CN" altLang="en-US">
                <a:solidFill>
                  <a:srgbClr val="CC0000"/>
                </a:solidFill>
                <a:ea typeface="华文行楷" panose="02010800040101010101" pitchFamily="2" charset="-122"/>
              </a:rPr>
              <a:t>的计数器才是完善的计数器！</a:t>
            </a:r>
          </a:p>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幻灯片图像占位符 1"/>
          <p:cNvSpPr>
            <a:spLocks noGrp="1" noRot="1" noChangeAspect="1" noTextEdit="1"/>
          </p:cNvSpPr>
          <p:nvPr>
            <p:ph type="sldImg"/>
          </p:nvPr>
        </p:nvSpPr>
        <p:spPr/>
      </p:sp>
      <p:sp>
        <p:nvSpPr>
          <p:cNvPr id="299011" name="备注占位符 2"/>
          <p:cNvSpPr>
            <a:spLocks noGrp="1"/>
          </p:cNvSpPr>
          <p:nvPr>
            <p:ph type="body" idx="1"/>
          </p:nvPr>
        </p:nvSpPr>
        <p:spPr>
          <a:noFill/>
        </p:spPr>
        <p:txBody>
          <a:bodyPr/>
          <a:lstStyle/>
          <a:p>
            <a:pPr eaLnBrk="1" hangingPunct="1"/>
            <a:endParaRPr lang="zh-CN" altLang="en-US"/>
          </a:p>
        </p:txBody>
      </p:sp>
      <p:sp>
        <p:nvSpPr>
          <p:cNvPr id="299012" name="灯片编号占位符 3"/>
          <p:cNvSpPr txBox="1">
            <a:spLocks noGrp="1"/>
          </p:cNvSpPr>
          <p:nvPr/>
        </p:nvSpPr>
        <p:spPr bwMode="auto">
          <a:xfrm>
            <a:off x="3886200" y="8686800"/>
            <a:ext cx="2971800" cy="457200"/>
          </a:xfrm>
          <a:prstGeom prst="rect">
            <a:avLst/>
          </a:prstGeom>
          <a:noFill/>
          <a:ln w="9525">
            <a:noFill/>
            <a:miter lim="800000"/>
          </a:ln>
        </p:spPr>
        <p:txBody>
          <a:bodyPr anchor="b"/>
          <a:lstStyle/>
          <a:p>
            <a:pPr algn="r" eaLnBrk="0" hangingPunct="0">
              <a:lnSpc>
                <a:spcPct val="100000"/>
              </a:lnSpc>
              <a:spcBef>
                <a:spcPct val="0"/>
              </a:spcBef>
            </a:pPr>
            <a:fld id="{D2859D9F-C1E7-4918-89DA-B972EA91DC1A}" type="slidenum">
              <a:rPr lang="ko-KR" altLang="en-US" sz="1200">
                <a:solidFill>
                  <a:schemeClr val="accent1"/>
                </a:solidFill>
                <a:latin typeface="Lucida Sans Unicode" panose="020B0602030504020204" pitchFamily="34" charset="0"/>
                <a:ea typeface="Gulim" panose="020B0600000101010101" pitchFamily="34" charset="-127"/>
              </a:rPr>
              <a:t>71</a:t>
            </a:fld>
            <a:endParaRPr lang="en-US" altLang="ko-KR" sz="1200">
              <a:solidFill>
                <a:schemeClr val="accent1"/>
              </a:solidFill>
              <a:latin typeface="Lucida Sans Unicode" panose="020B0602030504020204" pitchFamily="34" charset="0"/>
              <a:ea typeface="Gulim" panose="020B0600000101010101" pitchFamily="34" charset="-127"/>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幻灯片图像占位符 1"/>
          <p:cNvSpPr>
            <a:spLocks noGrp="1" noRot="1" noChangeAspect="1" noTextEdit="1"/>
          </p:cNvSpPr>
          <p:nvPr>
            <p:ph type="sldImg"/>
          </p:nvPr>
        </p:nvSpPr>
        <p:spPr/>
      </p:sp>
      <p:sp>
        <p:nvSpPr>
          <p:cNvPr id="300035" name="备注占位符 2"/>
          <p:cNvSpPr>
            <a:spLocks noGrp="1"/>
          </p:cNvSpPr>
          <p:nvPr>
            <p:ph type="body" idx="1"/>
          </p:nvPr>
        </p:nvSpPr>
        <p:spPr>
          <a:noFill/>
        </p:spPr>
        <p:txBody>
          <a:bodyPr/>
          <a:lstStyle/>
          <a:p>
            <a:pPr eaLnBrk="1" hangingPunct="1"/>
            <a:r>
              <a:rPr lang="zh-CN" altLang="en-US"/>
              <a:t>     将</a:t>
            </a:r>
            <a:r>
              <a:rPr lang="en-US" altLang="zh-CN"/>
              <a:t>4</a:t>
            </a:r>
            <a:r>
              <a:rPr lang="zh-CN" altLang="en-US"/>
              <a:t>级触发器的全部初态</a:t>
            </a:r>
            <a:r>
              <a:rPr lang="en-US" altLang="zh-CN"/>
              <a:t>0000~1111</a:t>
            </a:r>
            <a:r>
              <a:rPr lang="zh-CN" altLang="en-US"/>
              <a:t>代入状态方程和输出方程，计算得到触发器次态和电路的输出，由此列出状态转换表。</a:t>
            </a:r>
          </a:p>
          <a:p>
            <a:pPr eaLnBrk="1" hangingPunct="1"/>
            <a:r>
              <a:rPr lang="zh-CN" altLang="en-US"/>
              <a:t> 当</a:t>
            </a:r>
            <a:r>
              <a:rPr lang="en-US" altLang="zh-CN" sz="900"/>
              <a:t>Q</a:t>
            </a:r>
            <a:r>
              <a:rPr lang="en-US" altLang="zh-CN" sz="900" baseline="-30000"/>
              <a:t>3</a:t>
            </a:r>
            <a:r>
              <a:rPr lang="en-US" altLang="zh-CN" sz="900" baseline="30000"/>
              <a:t>n</a:t>
            </a:r>
            <a:r>
              <a:rPr lang="en-US" altLang="zh-CN" sz="900"/>
              <a:t> Q</a:t>
            </a:r>
            <a:r>
              <a:rPr lang="en-US" altLang="zh-CN" sz="900" baseline="-30000"/>
              <a:t>2</a:t>
            </a:r>
            <a:r>
              <a:rPr lang="en-US" altLang="zh-CN" sz="900" baseline="30000"/>
              <a:t>n</a:t>
            </a:r>
            <a:r>
              <a:rPr lang="en-US" altLang="zh-CN" sz="900"/>
              <a:t>Q</a:t>
            </a:r>
            <a:r>
              <a:rPr lang="en-US" altLang="zh-CN" sz="900" baseline="-30000"/>
              <a:t>1</a:t>
            </a:r>
            <a:r>
              <a:rPr lang="en-US" altLang="zh-CN" sz="900" baseline="30000"/>
              <a:t>n</a:t>
            </a:r>
            <a:r>
              <a:rPr lang="en-US" altLang="zh-CN" sz="900"/>
              <a:t>Q</a:t>
            </a:r>
            <a:r>
              <a:rPr lang="en-US" altLang="zh-CN" sz="900" baseline="-30000"/>
              <a:t>0</a:t>
            </a:r>
            <a:r>
              <a:rPr lang="en-US" altLang="zh-CN" sz="900" baseline="30000"/>
              <a:t>n</a:t>
            </a:r>
            <a:r>
              <a:rPr lang="en-US" altLang="zh-CN"/>
              <a:t>=1111</a:t>
            </a:r>
            <a:r>
              <a:rPr lang="zh-CN" altLang="en-US"/>
              <a:t>时，</a:t>
            </a:r>
            <a:r>
              <a:rPr lang="en-US" altLang="zh-CN"/>
              <a:t>C= </a:t>
            </a:r>
            <a:r>
              <a:rPr lang="en-US" altLang="zh-CN" sz="900"/>
              <a:t>Q</a:t>
            </a:r>
            <a:r>
              <a:rPr lang="en-US" altLang="zh-CN" sz="900" baseline="-30000"/>
              <a:t>3</a:t>
            </a:r>
            <a:r>
              <a:rPr lang="en-US" altLang="zh-CN" sz="900" baseline="30000"/>
              <a:t>n</a:t>
            </a:r>
            <a:r>
              <a:rPr lang="en-US" altLang="zh-CN" sz="900"/>
              <a:t> Q</a:t>
            </a:r>
            <a:r>
              <a:rPr lang="en-US" altLang="zh-CN" sz="900" baseline="-30000"/>
              <a:t>2</a:t>
            </a:r>
            <a:r>
              <a:rPr lang="en-US" altLang="zh-CN" sz="900" baseline="30000"/>
              <a:t>n</a:t>
            </a:r>
            <a:r>
              <a:rPr lang="en-US" altLang="zh-CN" sz="900"/>
              <a:t>Q</a:t>
            </a:r>
            <a:r>
              <a:rPr lang="en-US" altLang="zh-CN" sz="900" baseline="-30000"/>
              <a:t>1</a:t>
            </a:r>
            <a:r>
              <a:rPr lang="en-US" altLang="zh-CN" sz="900" baseline="30000"/>
              <a:t>n</a:t>
            </a:r>
            <a:r>
              <a:rPr lang="en-US" altLang="zh-CN" sz="900"/>
              <a:t>Q</a:t>
            </a:r>
            <a:r>
              <a:rPr lang="en-US" altLang="zh-CN" sz="900" baseline="-30000"/>
              <a:t>0</a:t>
            </a:r>
            <a:r>
              <a:rPr lang="en-US" altLang="zh-CN" sz="900" baseline="30000"/>
              <a:t>n</a:t>
            </a:r>
            <a:r>
              <a:rPr lang="en-US" altLang="zh-CN"/>
              <a:t>=1</a:t>
            </a:r>
          </a:p>
          <a:p>
            <a:pPr eaLnBrk="1" hangingPunct="1"/>
            <a:endParaRPr lang="zh-CN" altLang="en-US"/>
          </a:p>
        </p:txBody>
      </p:sp>
      <p:sp>
        <p:nvSpPr>
          <p:cNvPr id="300036" name="灯片编号占位符 3"/>
          <p:cNvSpPr txBox="1">
            <a:spLocks noGrp="1"/>
          </p:cNvSpPr>
          <p:nvPr/>
        </p:nvSpPr>
        <p:spPr bwMode="auto">
          <a:xfrm>
            <a:off x="3886200" y="8686800"/>
            <a:ext cx="2971800" cy="457200"/>
          </a:xfrm>
          <a:prstGeom prst="rect">
            <a:avLst/>
          </a:prstGeom>
          <a:noFill/>
          <a:ln w="9525">
            <a:noFill/>
            <a:miter lim="800000"/>
          </a:ln>
        </p:spPr>
        <p:txBody>
          <a:bodyPr anchor="b"/>
          <a:lstStyle/>
          <a:p>
            <a:pPr algn="r" eaLnBrk="0" hangingPunct="0">
              <a:lnSpc>
                <a:spcPct val="100000"/>
              </a:lnSpc>
              <a:spcBef>
                <a:spcPct val="0"/>
              </a:spcBef>
            </a:pPr>
            <a:fld id="{F72D0577-81F5-4D37-8F8D-4BBE89899F4D}" type="slidenum">
              <a:rPr lang="ko-KR" altLang="en-US" sz="1200">
                <a:solidFill>
                  <a:schemeClr val="accent1"/>
                </a:solidFill>
                <a:latin typeface="Lucida Sans Unicode" panose="020B0602030504020204" pitchFamily="34" charset="0"/>
                <a:ea typeface="Gulim" panose="020B0600000101010101" pitchFamily="34" charset="-127"/>
              </a:rPr>
              <a:t>72</a:t>
            </a:fld>
            <a:endParaRPr lang="en-US" altLang="ko-KR" sz="1200">
              <a:solidFill>
                <a:schemeClr val="accent1"/>
              </a:solidFill>
              <a:latin typeface="Lucida Sans Unicode" panose="020B0602030504020204" pitchFamily="34" charset="0"/>
              <a:ea typeface="Gulim" panose="020B0600000101010101" pitchFamily="34" charset="-127"/>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幻灯片图像占位符 1"/>
          <p:cNvSpPr>
            <a:spLocks noGrp="1" noRot="1" noChangeAspect="1" noTextEdit="1"/>
          </p:cNvSpPr>
          <p:nvPr>
            <p:ph type="sldImg"/>
          </p:nvPr>
        </p:nvSpPr>
        <p:spPr/>
      </p:sp>
      <p:sp>
        <p:nvSpPr>
          <p:cNvPr id="301059" name="备注占位符 2"/>
          <p:cNvSpPr>
            <a:spLocks noGrp="1"/>
          </p:cNvSpPr>
          <p:nvPr>
            <p:ph type="body" idx="1"/>
          </p:nvPr>
        </p:nvSpPr>
        <p:spPr>
          <a:noFill/>
        </p:spPr>
        <p:txBody>
          <a:bodyPr/>
          <a:lstStyle/>
          <a:p>
            <a:pPr eaLnBrk="1" hangingPunct="1"/>
            <a:r>
              <a:rPr lang="zh-CN" altLang="en-US"/>
              <a:t>    </a:t>
            </a:r>
            <a:r>
              <a:rPr lang="en-US" altLang="zh-CN"/>
              <a:t>CP</a:t>
            </a:r>
            <a:r>
              <a:rPr lang="zh-CN" altLang="en-US"/>
              <a:t>下降沿触发。当计到</a:t>
            </a:r>
            <a:r>
              <a:rPr lang="en-US" altLang="zh-CN"/>
              <a:t>1111</a:t>
            </a:r>
            <a:r>
              <a:rPr lang="zh-CN" altLang="en-US"/>
              <a:t>时，产生进位输出</a:t>
            </a:r>
            <a:r>
              <a:rPr lang="en-US" altLang="zh-CN"/>
              <a:t>C=1</a:t>
            </a:r>
            <a:r>
              <a:rPr lang="zh-CN" altLang="en-US"/>
              <a:t>。</a:t>
            </a:r>
          </a:p>
        </p:txBody>
      </p:sp>
      <p:sp>
        <p:nvSpPr>
          <p:cNvPr id="301060" name="灯片编号占位符 3"/>
          <p:cNvSpPr>
            <a:spLocks noGrp="1"/>
          </p:cNvSpPr>
          <p:nvPr>
            <p:ph type="sldNum" sz="quarter" idx="5"/>
          </p:nvPr>
        </p:nvSpPr>
        <p:spPr>
          <a:noFill/>
        </p:spPr>
        <p:txBody>
          <a:bodyPr/>
          <a:lstStyle/>
          <a:p>
            <a:fld id="{F7C87617-AA10-4332-99E2-6907FB033DFC}" type="slidenum">
              <a:rPr lang="ko-KR" altLang="en-US" smtClean="0">
                <a:ea typeface="Gulim" panose="020B0600000101010101" pitchFamily="34" charset="-127"/>
              </a:rPr>
              <a:t>73</a:t>
            </a:fld>
            <a:endParaRPr lang="en-US" altLang="ko-KR">
              <a:ea typeface="Gulim" panose="020B0600000101010101" pitchFamily="34" charset="-127"/>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Rot="1" noChangeAspect="1" noChangeArrowheads="1" noTextEdit="1"/>
          </p:cNvSpPr>
          <p:nvPr>
            <p:ph type="sldImg"/>
          </p:nvPr>
        </p:nvSpPr>
        <p:spPr/>
      </p:sp>
      <p:sp>
        <p:nvSpPr>
          <p:cNvPr id="133123" name="Rectangle 3"/>
          <p:cNvSpPr>
            <a:spLocks noGrp="1" noChangeArrowheads="1"/>
          </p:cNvSpPr>
          <p:nvPr>
            <p:ph type="body" idx="1"/>
          </p:nvPr>
        </p:nvSpPr>
        <p:spPr>
          <a:xfrm>
            <a:off x="685800" y="4343400"/>
            <a:ext cx="5486400" cy="4114800"/>
          </a:xfrm>
          <a:noFill/>
        </p:spPr>
        <p:txBody>
          <a:bodyPr/>
          <a:lstStyle/>
          <a:p>
            <a:r>
              <a:rPr lang="en-US" altLang="zh-CN" smtClean="0"/>
              <a:t>8</a:t>
            </a:r>
            <a:r>
              <a:rPr lang="zh-CN" altLang="en-US" smtClean="0"/>
              <a:t>片</a:t>
            </a:r>
            <a:r>
              <a:rPr lang="en-US" altLang="zh-CN" smtClean="0"/>
              <a:t>SRAM</a:t>
            </a:r>
            <a:r>
              <a:rPr lang="zh-CN" altLang="en-US" smtClean="0"/>
              <a:t>的低</a:t>
            </a:r>
            <a:r>
              <a:rPr lang="en-US" altLang="zh-CN" smtClean="0"/>
              <a:t>10</a:t>
            </a:r>
            <a:r>
              <a:rPr lang="zh-CN" altLang="en-US" smtClean="0"/>
              <a:t>位地址是相同的，分别并联后与</a:t>
            </a:r>
            <a:r>
              <a:rPr lang="en-US" altLang="zh-CN" smtClean="0"/>
              <a:t>A9~A0</a:t>
            </a:r>
            <a:r>
              <a:rPr lang="zh-CN" altLang="en-US" smtClean="0"/>
              <a:t>相接；</a:t>
            </a:r>
          </a:p>
          <a:p>
            <a:r>
              <a:rPr lang="zh-CN" altLang="en-US" smtClean="0"/>
              <a:t>每</a:t>
            </a:r>
            <a:r>
              <a:rPr lang="en-US" altLang="zh-CN" smtClean="0"/>
              <a:t>2</a:t>
            </a:r>
            <a:r>
              <a:rPr lang="zh-CN" altLang="en-US" smtClean="0"/>
              <a:t>片芯片为一组，进行</a:t>
            </a:r>
            <a:r>
              <a:rPr lang="zh-CN" altLang="en-US" b="1" smtClean="0"/>
              <a:t>位扩展</a:t>
            </a:r>
            <a:r>
              <a:rPr lang="zh-CN" altLang="en-US" smtClean="0"/>
              <a:t>，</a:t>
            </a:r>
            <a:r>
              <a:rPr lang="en-US" altLang="zh-CN" smtClean="0"/>
              <a:t>2</a:t>
            </a:r>
            <a:r>
              <a:rPr lang="zh-CN" altLang="en-US" smtClean="0"/>
              <a:t>片公用一个片选信号，高位片的数据端接数据线</a:t>
            </a:r>
            <a:r>
              <a:rPr lang="en-US" altLang="zh-CN" smtClean="0"/>
              <a:t>D7~D4</a:t>
            </a:r>
            <a:r>
              <a:rPr lang="zh-CN" altLang="en-US" smtClean="0"/>
              <a:t>，低位片的数据端接</a:t>
            </a:r>
            <a:r>
              <a:rPr lang="en-US" altLang="zh-CN" smtClean="0"/>
              <a:t>D3~D0</a:t>
            </a:r>
            <a:r>
              <a:rPr lang="zh-CN" altLang="en-US" smtClean="0"/>
              <a:t>，构成1</a:t>
            </a:r>
            <a:r>
              <a:rPr lang="en-US" altLang="zh-CN" smtClean="0"/>
              <a:t>K×</a:t>
            </a:r>
            <a:r>
              <a:rPr lang="en-US" altLang="zh-CN" smtClean="0">
                <a:solidFill>
                  <a:srgbClr val="CC0066"/>
                </a:solidFill>
              </a:rPr>
              <a:t>8</a:t>
            </a:r>
            <a:r>
              <a:rPr lang="zh-CN" altLang="en-US" smtClean="0"/>
              <a:t>位存储器；</a:t>
            </a:r>
          </a:p>
          <a:p>
            <a:r>
              <a:rPr lang="en-US" altLang="zh-CN" smtClean="0"/>
              <a:t>8</a:t>
            </a:r>
            <a:r>
              <a:rPr lang="zh-CN" altLang="en-US" smtClean="0"/>
              <a:t>片</a:t>
            </a:r>
            <a:r>
              <a:rPr lang="en-US" altLang="zh-CN" smtClean="0"/>
              <a:t>SRAM</a:t>
            </a:r>
            <a:r>
              <a:rPr lang="zh-CN" altLang="en-US" smtClean="0"/>
              <a:t>的写控制端并接后与</a:t>
            </a:r>
            <a:r>
              <a:rPr lang="en-US" altLang="zh-CN" smtClean="0"/>
              <a:t>/WE</a:t>
            </a:r>
            <a:r>
              <a:rPr lang="zh-CN" altLang="en-US" smtClean="0"/>
              <a:t>信号相连；</a:t>
            </a:r>
          </a:p>
          <a:p>
            <a:r>
              <a:rPr lang="zh-CN" altLang="en-US" smtClean="0"/>
              <a:t>进行</a:t>
            </a:r>
            <a:r>
              <a:rPr lang="zh-CN" altLang="en-US" b="1" smtClean="0"/>
              <a:t>字扩展</a:t>
            </a:r>
            <a:r>
              <a:rPr lang="zh-CN" altLang="en-US" smtClean="0"/>
              <a:t>：增加的</a:t>
            </a:r>
            <a:r>
              <a:rPr lang="en-US" altLang="zh-CN" smtClean="0"/>
              <a:t>2</a:t>
            </a:r>
            <a:r>
              <a:rPr lang="zh-CN" altLang="en-US" smtClean="0"/>
              <a:t>个地址信号</a:t>
            </a:r>
            <a:r>
              <a:rPr lang="en-US" altLang="zh-CN" smtClean="0"/>
              <a:t>A11</a:t>
            </a:r>
            <a:r>
              <a:rPr lang="zh-CN" altLang="en-US" smtClean="0"/>
              <a:t>、</a:t>
            </a:r>
            <a:r>
              <a:rPr lang="en-US" altLang="zh-CN" smtClean="0"/>
              <a:t>A10</a:t>
            </a:r>
            <a:r>
              <a:rPr lang="zh-CN" altLang="en-US" smtClean="0"/>
              <a:t>经过 </a:t>
            </a:r>
            <a:r>
              <a:rPr lang="en-US" altLang="zh-CN" smtClean="0"/>
              <a:t>2</a:t>
            </a:r>
            <a:r>
              <a:rPr lang="zh-CN" altLang="en-US" smtClean="0"/>
              <a:t>线</a:t>
            </a:r>
            <a:r>
              <a:rPr lang="en-US" altLang="zh-CN" smtClean="0"/>
              <a:t>-4</a:t>
            </a:r>
            <a:r>
              <a:rPr lang="zh-CN" altLang="en-US" smtClean="0"/>
              <a:t>线译码器译码后，产生</a:t>
            </a:r>
            <a:r>
              <a:rPr lang="en-US" altLang="zh-CN" smtClean="0"/>
              <a:t>4</a:t>
            </a:r>
            <a:r>
              <a:rPr lang="zh-CN" altLang="en-US" smtClean="0"/>
              <a:t>个片选信号，分别控制</a:t>
            </a:r>
            <a:r>
              <a:rPr lang="en-US" altLang="zh-CN" smtClean="0"/>
              <a:t>4</a:t>
            </a:r>
            <a:r>
              <a:rPr lang="zh-CN" altLang="en-US" smtClean="0"/>
              <a:t>组位扩展的芯片，将字数从</a:t>
            </a:r>
            <a:r>
              <a:rPr lang="en-US" altLang="zh-CN" smtClean="0"/>
              <a:t>1K</a:t>
            </a:r>
            <a:r>
              <a:rPr lang="zh-CN" altLang="en-US" smtClean="0"/>
              <a:t>扩展到</a:t>
            </a:r>
            <a:r>
              <a:rPr lang="en-US" altLang="zh-CN" smtClean="0"/>
              <a:t>4K</a:t>
            </a:r>
            <a:r>
              <a:rPr lang="zh-CN" altLang="en-US" smtClean="0"/>
              <a:t>，从而构成</a:t>
            </a:r>
            <a:r>
              <a:rPr lang="en-US" altLang="zh-CN" smtClean="0"/>
              <a:t>4K×8</a:t>
            </a:r>
            <a:r>
              <a:rPr lang="zh-CN" altLang="en-US" smtClean="0"/>
              <a:t>位存储器。</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67C5B36-791E-441B-8D2D-23C510191E5B}" type="datetimeFigureOut">
              <a:rPr lang="zh-CN" altLang="en-US" smtClean="0"/>
              <a:t>2026/6/4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4F218A-42DC-4F75-9D6F-E66C47F9C432}"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336800" y="304800"/>
            <a:ext cx="9144000" cy="6096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219200" y="1317626"/>
            <a:ext cx="5029200" cy="47783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451600" y="1317626"/>
            <a:ext cx="5029200" cy="47783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25"/>
          <p:cNvSpPr>
            <a:spLocks noGrp="1" noChangeArrowheads="1"/>
          </p:cNvSpPr>
          <p:nvPr>
            <p:ph type="sldNum" sz="quarter" idx="10"/>
          </p:nvPr>
        </p:nvSpPr>
        <p:spPr/>
        <p:txBody>
          <a:bodyPr/>
          <a:lstStyle>
            <a:lvl1pPr>
              <a:defRPr/>
            </a:lvl1pPr>
          </a:lstStyle>
          <a:p>
            <a:fld id="{AF043DCC-BE68-4B93-BDDF-47DE8299C41F}" type="slidenum">
              <a:rPr lang="ko-KR" altLang="en-US"/>
              <a:t>‹#›</a:t>
            </a:fld>
            <a:endParaRPr lang="ko-KR" altLang="en-US"/>
          </a:p>
        </p:txBody>
      </p:sp>
      <p:sp>
        <p:nvSpPr>
          <p:cNvPr id="6" name="日期占位符 4"/>
          <p:cNvSpPr>
            <a:spLocks noGrp="1"/>
          </p:cNvSpPr>
          <p:nvPr>
            <p:ph type="dt" sz="half" idx="11"/>
          </p:nvPr>
        </p:nvSpPr>
        <p:spPr/>
        <p:txBody>
          <a:bodyPr/>
          <a:lstStyle>
            <a:lvl1pPr>
              <a:defRPr/>
            </a:lvl1pPr>
          </a:lstStyle>
          <a:p>
            <a:pPr>
              <a:defRPr/>
            </a:pPr>
            <a:r>
              <a:rPr lang="zh-CN" altLang="en-US"/>
              <a:t>数字系统设计</a:t>
            </a:r>
          </a:p>
        </p:txBody>
      </p:sp>
      <p:sp>
        <p:nvSpPr>
          <p:cNvPr id="7" name="页脚占位符 5"/>
          <p:cNvSpPr>
            <a:spLocks noGrp="1"/>
          </p:cNvSpPr>
          <p:nvPr>
            <p:ph type="ftr" sz="quarter" idx="12"/>
          </p:nvPr>
        </p:nvSpPr>
        <p:spPr/>
        <p:txBody>
          <a:bodyPr/>
          <a:lstStyle>
            <a:lvl1pPr>
              <a:defRPr/>
            </a:lvl1pPr>
          </a:lstStyle>
          <a:p>
            <a:pPr>
              <a:defRPr/>
            </a:pPr>
            <a:r>
              <a:rPr lang="zh-CN" altLang="en-US"/>
              <a:t>华东理工大学电子与通信工程系</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7C5B36-791E-441B-8D2D-23C510191E5B}" type="datetimeFigureOut">
              <a:rPr lang="zh-CN" altLang="en-US" smtClean="0"/>
              <a:t>2026/6/4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4F218A-42DC-4F75-9D6F-E66C47F9C43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3" Type="http://schemas.openxmlformats.org/officeDocument/2006/relationships/oleObject" Target="../embeddings/oleObject8.bin"/><Relationship Id="rId18" Type="http://schemas.openxmlformats.org/officeDocument/2006/relationships/image" Target="../media/image11.wmf"/><Relationship Id="rId26" Type="http://schemas.openxmlformats.org/officeDocument/2006/relationships/image" Target="../media/image15.wmf"/><Relationship Id="rId39" Type="http://schemas.openxmlformats.org/officeDocument/2006/relationships/oleObject" Target="../embeddings/oleObject21.bin"/><Relationship Id="rId21" Type="http://schemas.openxmlformats.org/officeDocument/2006/relationships/oleObject" Target="../embeddings/oleObject12.bin"/><Relationship Id="rId34" Type="http://schemas.openxmlformats.org/officeDocument/2006/relationships/image" Target="../media/image19.wmf"/><Relationship Id="rId42" Type="http://schemas.openxmlformats.org/officeDocument/2006/relationships/image" Target="../media/image23.wmf"/><Relationship Id="rId47" Type="http://schemas.openxmlformats.org/officeDocument/2006/relationships/oleObject" Target="../embeddings/oleObject25.bin"/><Relationship Id="rId50" Type="http://schemas.openxmlformats.org/officeDocument/2006/relationships/image" Target="../media/image27.wmf"/><Relationship Id="rId7" Type="http://schemas.openxmlformats.org/officeDocument/2006/relationships/oleObject" Target="../embeddings/oleObject5.bin"/><Relationship Id="rId2" Type="http://schemas.openxmlformats.org/officeDocument/2006/relationships/slideLayout" Target="../slideLayouts/slideLayout7.xml"/><Relationship Id="rId16" Type="http://schemas.openxmlformats.org/officeDocument/2006/relationships/image" Target="../media/image10.wmf"/><Relationship Id="rId29" Type="http://schemas.openxmlformats.org/officeDocument/2006/relationships/oleObject" Target="../embeddings/oleObject16.bin"/><Relationship Id="rId11" Type="http://schemas.openxmlformats.org/officeDocument/2006/relationships/oleObject" Target="../embeddings/oleObject7.bin"/><Relationship Id="rId24" Type="http://schemas.openxmlformats.org/officeDocument/2006/relationships/image" Target="../media/image14.wmf"/><Relationship Id="rId32" Type="http://schemas.openxmlformats.org/officeDocument/2006/relationships/image" Target="../media/image18.wmf"/><Relationship Id="rId37" Type="http://schemas.openxmlformats.org/officeDocument/2006/relationships/oleObject" Target="../embeddings/oleObject20.bin"/><Relationship Id="rId40" Type="http://schemas.openxmlformats.org/officeDocument/2006/relationships/image" Target="../media/image22.wmf"/><Relationship Id="rId45" Type="http://schemas.openxmlformats.org/officeDocument/2006/relationships/oleObject" Target="../embeddings/oleObject24.bin"/><Relationship Id="rId5" Type="http://schemas.openxmlformats.org/officeDocument/2006/relationships/oleObject" Target="../embeddings/oleObject4.bin"/><Relationship Id="rId15" Type="http://schemas.openxmlformats.org/officeDocument/2006/relationships/oleObject" Target="../embeddings/oleObject9.bin"/><Relationship Id="rId23" Type="http://schemas.openxmlformats.org/officeDocument/2006/relationships/oleObject" Target="../embeddings/oleObject13.bin"/><Relationship Id="rId28" Type="http://schemas.openxmlformats.org/officeDocument/2006/relationships/image" Target="../media/image16.wmf"/><Relationship Id="rId36" Type="http://schemas.openxmlformats.org/officeDocument/2006/relationships/image" Target="../media/image20.wmf"/><Relationship Id="rId49" Type="http://schemas.openxmlformats.org/officeDocument/2006/relationships/oleObject" Target="../embeddings/oleObject26.bin"/><Relationship Id="rId10" Type="http://schemas.openxmlformats.org/officeDocument/2006/relationships/image" Target="../media/image7.wmf"/><Relationship Id="rId19" Type="http://schemas.openxmlformats.org/officeDocument/2006/relationships/oleObject" Target="../embeddings/oleObject11.bin"/><Relationship Id="rId31" Type="http://schemas.openxmlformats.org/officeDocument/2006/relationships/oleObject" Target="../embeddings/oleObject17.bin"/><Relationship Id="rId44" Type="http://schemas.openxmlformats.org/officeDocument/2006/relationships/image" Target="../media/image24.wmf"/><Relationship Id="rId4" Type="http://schemas.openxmlformats.org/officeDocument/2006/relationships/image" Target="../media/image4.png"/><Relationship Id="rId9" Type="http://schemas.openxmlformats.org/officeDocument/2006/relationships/oleObject" Target="../embeddings/oleObject6.bin"/><Relationship Id="rId14" Type="http://schemas.openxmlformats.org/officeDocument/2006/relationships/image" Target="../media/image9.wmf"/><Relationship Id="rId22" Type="http://schemas.openxmlformats.org/officeDocument/2006/relationships/image" Target="../media/image13.wmf"/><Relationship Id="rId27" Type="http://schemas.openxmlformats.org/officeDocument/2006/relationships/oleObject" Target="../embeddings/oleObject15.bin"/><Relationship Id="rId30" Type="http://schemas.openxmlformats.org/officeDocument/2006/relationships/image" Target="../media/image17.wmf"/><Relationship Id="rId35" Type="http://schemas.openxmlformats.org/officeDocument/2006/relationships/oleObject" Target="../embeddings/oleObject19.bin"/><Relationship Id="rId43" Type="http://schemas.openxmlformats.org/officeDocument/2006/relationships/oleObject" Target="../embeddings/oleObject23.bin"/><Relationship Id="rId48" Type="http://schemas.openxmlformats.org/officeDocument/2006/relationships/image" Target="../media/image26.wmf"/><Relationship Id="rId8" Type="http://schemas.openxmlformats.org/officeDocument/2006/relationships/image" Target="../media/image6.wmf"/><Relationship Id="rId3" Type="http://schemas.openxmlformats.org/officeDocument/2006/relationships/oleObject" Target="../embeddings/oleObject3.bin"/><Relationship Id="rId12" Type="http://schemas.openxmlformats.org/officeDocument/2006/relationships/image" Target="../media/image8.wmf"/><Relationship Id="rId17" Type="http://schemas.openxmlformats.org/officeDocument/2006/relationships/oleObject" Target="../embeddings/oleObject10.bin"/><Relationship Id="rId25" Type="http://schemas.openxmlformats.org/officeDocument/2006/relationships/oleObject" Target="../embeddings/oleObject14.bin"/><Relationship Id="rId33" Type="http://schemas.openxmlformats.org/officeDocument/2006/relationships/oleObject" Target="../embeddings/oleObject18.bin"/><Relationship Id="rId38" Type="http://schemas.openxmlformats.org/officeDocument/2006/relationships/image" Target="../media/image21.wmf"/><Relationship Id="rId46" Type="http://schemas.openxmlformats.org/officeDocument/2006/relationships/image" Target="../media/image25.wmf"/><Relationship Id="rId20" Type="http://schemas.openxmlformats.org/officeDocument/2006/relationships/image" Target="../media/image12.wmf"/><Relationship Id="rId41" Type="http://schemas.openxmlformats.org/officeDocument/2006/relationships/oleObject" Target="../embeddings/oleObject22.bin"/><Relationship Id="rId1" Type="http://schemas.openxmlformats.org/officeDocument/2006/relationships/vmlDrawing" Target="../drawings/vmlDrawing2.vml"/><Relationship Id="rId6" Type="http://schemas.openxmlformats.org/officeDocument/2006/relationships/image" Target="../media/image5.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29.wmf"/><Relationship Id="rId5" Type="http://schemas.openxmlformats.org/officeDocument/2006/relationships/oleObject" Target="../embeddings/oleObject28.bin"/><Relationship Id="rId4" Type="http://schemas.openxmlformats.org/officeDocument/2006/relationships/image" Target="../media/image28.wmf"/></Relationships>
</file>

<file path=ppt/slides/_rels/slide8.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31.wmf"/><Relationship Id="rId5" Type="http://schemas.openxmlformats.org/officeDocument/2006/relationships/oleObject" Target="../embeddings/oleObject30.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32.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5.wmf"/><Relationship Id="rId5" Type="http://schemas.openxmlformats.org/officeDocument/2006/relationships/oleObject" Target="../embeddings/oleObject34.bin"/><Relationship Id="rId4" Type="http://schemas.openxmlformats.org/officeDocument/2006/relationships/image" Target="../media/image34.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37.wmf"/><Relationship Id="rId5" Type="http://schemas.openxmlformats.org/officeDocument/2006/relationships/oleObject" Target="../embeddings/oleObject36.bin"/><Relationship Id="rId4" Type="http://schemas.openxmlformats.org/officeDocument/2006/relationships/image" Target="../media/image36.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audio" Target="../media/audio2.wav"/><Relationship Id="rId7" Type="http://schemas.openxmlformats.org/officeDocument/2006/relationships/image" Target="../media/image39.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38.bin"/><Relationship Id="rId5" Type="http://schemas.openxmlformats.org/officeDocument/2006/relationships/image" Target="../media/image38.wmf"/><Relationship Id="rId4" Type="http://schemas.openxmlformats.org/officeDocument/2006/relationships/oleObject" Target="../embeddings/oleObject37.bin"/><Relationship Id="rId9" Type="http://schemas.openxmlformats.org/officeDocument/2006/relationships/image" Target="../media/image40.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41.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43.wmf"/><Relationship Id="rId5" Type="http://schemas.openxmlformats.org/officeDocument/2006/relationships/oleObject" Target="../embeddings/oleObject42.bin"/><Relationship Id="rId4" Type="http://schemas.openxmlformats.org/officeDocument/2006/relationships/image" Target="../media/image42.wmf"/></Relationships>
</file>

<file path=ppt/slides/_rels/slide14.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5.wmf"/><Relationship Id="rId5" Type="http://schemas.openxmlformats.org/officeDocument/2006/relationships/oleObject" Target="../embeddings/oleObject44.bin"/><Relationship Id="rId4" Type="http://schemas.openxmlformats.org/officeDocument/2006/relationships/image" Target="../media/image44.wmf"/></Relationships>
</file>

<file path=ppt/slides/_rels/slide15.xml.rels><?xml version="1.0" encoding="UTF-8" standalone="yes"?>
<Relationships xmlns="http://schemas.openxmlformats.org/package/2006/relationships"><Relationship Id="rId8" Type="http://schemas.openxmlformats.org/officeDocument/2006/relationships/image" Target="../media/image49.wmf"/><Relationship Id="rId13" Type="http://schemas.openxmlformats.org/officeDocument/2006/relationships/oleObject" Target="../embeddings/oleObject51.bin"/><Relationship Id="rId18" Type="http://schemas.openxmlformats.org/officeDocument/2006/relationships/image" Target="../media/image54.wmf"/><Relationship Id="rId3" Type="http://schemas.openxmlformats.org/officeDocument/2006/relationships/oleObject" Target="../embeddings/oleObject46.bin"/><Relationship Id="rId21" Type="http://schemas.openxmlformats.org/officeDocument/2006/relationships/oleObject" Target="../embeddings/oleObject55.bin"/><Relationship Id="rId7" Type="http://schemas.openxmlformats.org/officeDocument/2006/relationships/oleObject" Target="../embeddings/oleObject48.bin"/><Relationship Id="rId12" Type="http://schemas.openxmlformats.org/officeDocument/2006/relationships/image" Target="../media/image51.wmf"/><Relationship Id="rId17" Type="http://schemas.openxmlformats.org/officeDocument/2006/relationships/oleObject" Target="../embeddings/oleObject53.bin"/><Relationship Id="rId2" Type="http://schemas.openxmlformats.org/officeDocument/2006/relationships/slideLayout" Target="../slideLayouts/slideLayout7.xml"/><Relationship Id="rId16" Type="http://schemas.openxmlformats.org/officeDocument/2006/relationships/image" Target="../media/image53.wmf"/><Relationship Id="rId20" Type="http://schemas.openxmlformats.org/officeDocument/2006/relationships/image" Target="../media/image55.wmf"/><Relationship Id="rId1" Type="http://schemas.openxmlformats.org/officeDocument/2006/relationships/vmlDrawing" Target="../drawings/vmlDrawing11.vml"/><Relationship Id="rId6" Type="http://schemas.openxmlformats.org/officeDocument/2006/relationships/image" Target="../media/image48.wmf"/><Relationship Id="rId11" Type="http://schemas.openxmlformats.org/officeDocument/2006/relationships/oleObject" Target="../embeddings/oleObject50.bin"/><Relationship Id="rId5" Type="http://schemas.openxmlformats.org/officeDocument/2006/relationships/oleObject" Target="../embeddings/oleObject47.bin"/><Relationship Id="rId15" Type="http://schemas.openxmlformats.org/officeDocument/2006/relationships/oleObject" Target="../embeddings/oleObject52.bin"/><Relationship Id="rId10" Type="http://schemas.openxmlformats.org/officeDocument/2006/relationships/image" Target="../media/image50.wmf"/><Relationship Id="rId19" Type="http://schemas.openxmlformats.org/officeDocument/2006/relationships/oleObject" Target="../embeddings/oleObject54.bin"/><Relationship Id="rId4" Type="http://schemas.openxmlformats.org/officeDocument/2006/relationships/image" Target="../media/image47.wmf"/><Relationship Id="rId9" Type="http://schemas.openxmlformats.org/officeDocument/2006/relationships/oleObject" Target="../embeddings/oleObject49.bin"/><Relationship Id="rId14" Type="http://schemas.openxmlformats.org/officeDocument/2006/relationships/image" Target="../media/image52.wmf"/><Relationship Id="rId22" Type="http://schemas.openxmlformats.org/officeDocument/2006/relationships/image" Target="../media/image56.wmf"/></Relationships>
</file>

<file path=ppt/slides/_rels/slide16.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61.bin"/><Relationship Id="rId3" Type="http://schemas.openxmlformats.org/officeDocument/2006/relationships/oleObject" Target="../embeddings/oleObject56.bin"/><Relationship Id="rId7" Type="http://schemas.openxmlformats.org/officeDocument/2006/relationships/oleObject" Target="../embeddings/oleObject58.bin"/><Relationship Id="rId12" Type="http://schemas.openxmlformats.org/officeDocument/2006/relationships/image" Target="../media/image61.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58.wmf"/><Relationship Id="rId11" Type="http://schemas.openxmlformats.org/officeDocument/2006/relationships/oleObject" Target="../embeddings/oleObject60.bin"/><Relationship Id="rId5" Type="http://schemas.openxmlformats.org/officeDocument/2006/relationships/oleObject" Target="../embeddings/oleObject57.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59.bin"/><Relationship Id="rId14" Type="http://schemas.openxmlformats.org/officeDocument/2006/relationships/image" Target="../media/image6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64.wmf"/><Relationship Id="rId5" Type="http://schemas.openxmlformats.org/officeDocument/2006/relationships/oleObject" Target="../embeddings/oleObject63.bin"/><Relationship Id="rId4" Type="http://schemas.openxmlformats.org/officeDocument/2006/relationships/image" Target="../media/image63.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66.wmf"/><Relationship Id="rId5" Type="http://schemas.openxmlformats.org/officeDocument/2006/relationships/oleObject" Target="../embeddings/oleObject65.bin"/><Relationship Id="rId4" Type="http://schemas.openxmlformats.org/officeDocument/2006/relationships/image" Target="../media/image65.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8.wmf"/><Relationship Id="rId5" Type="http://schemas.openxmlformats.org/officeDocument/2006/relationships/oleObject" Target="../embeddings/oleObject67.bin"/><Relationship Id="rId4" Type="http://schemas.openxmlformats.org/officeDocument/2006/relationships/image" Target="../media/image67.wmf"/></Relationships>
</file>

<file path=ppt/slides/_rels/slide20.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oleObject" Target="../embeddings/oleObject68.bin"/><Relationship Id="rId7" Type="http://schemas.openxmlformats.org/officeDocument/2006/relationships/oleObject" Target="../embeddings/oleObject70.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68.wmf"/><Relationship Id="rId5" Type="http://schemas.openxmlformats.org/officeDocument/2006/relationships/oleObject" Target="../embeddings/oleObject69.bin"/><Relationship Id="rId4" Type="http://schemas.openxmlformats.org/officeDocument/2006/relationships/image" Target="../media/image69.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73.bin"/><Relationship Id="rId3" Type="http://schemas.openxmlformats.org/officeDocument/2006/relationships/audio" Target="NULL"/><Relationship Id="rId7" Type="http://schemas.openxmlformats.org/officeDocument/2006/relationships/image" Target="../media/image72.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72.bin"/><Relationship Id="rId5" Type="http://schemas.openxmlformats.org/officeDocument/2006/relationships/image" Target="../media/image71.wmf"/><Relationship Id="rId4" Type="http://schemas.openxmlformats.org/officeDocument/2006/relationships/oleObject" Target="../embeddings/oleObject71.bin"/><Relationship Id="rId9" Type="http://schemas.openxmlformats.org/officeDocument/2006/relationships/image" Target="../media/image73.wmf"/></Relationships>
</file>

<file path=ppt/slides/_rels/slide22.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75.wmf"/><Relationship Id="rId5" Type="http://schemas.openxmlformats.org/officeDocument/2006/relationships/oleObject" Target="../embeddings/oleObject75.bin"/><Relationship Id="rId4" Type="http://schemas.openxmlformats.org/officeDocument/2006/relationships/image" Target="../media/image74.wmf"/></Relationships>
</file>

<file path=ppt/slides/_rels/slide2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image" Target="../media/image78.wmf"/><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oleObject" Target="../embeddings/oleObject78.bin"/><Relationship Id="rId5" Type="http://schemas.openxmlformats.org/officeDocument/2006/relationships/image" Target="../media/image77.wmf"/><Relationship Id="rId4" Type="http://schemas.openxmlformats.org/officeDocument/2006/relationships/oleObject" Target="../embeddings/oleObject77.bin"/></Relationships>
</file>

<file path=ppt/slides/_rels/slide25.x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oleObject" Target="../embeddings/oleObject84.bin"/><Relationship Id="rId3" Type="http://schemas.openxmlformats.org/officeDocument/2006/relationships/oleObject" Target="../embeddings/oleObject79.bin"/><Relationship Id="rId7" Type="http://schemas.openxmlformats.org/officeDocument/2006/relationships/oleObject" Target="../embeddings/oleObject81.bin"/><Relationship Id="rId12" Type="http://schemas.openxmlformats.org/officeDocument/2006/relationships/image" Target="../media/image83.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80.wmf"/><Relationship Id="rId11" Type="http://schemas.openxmlformats.org/officeDocument/2006/relationships/oleObject" Target="../embeddings/oleObject83.bin"/><Relationship Id="rId5" Type="http://schemas.openxmlformats.org/officeDocument/2006/relationships/oleObject" Target="../embeddings/oleObject80.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82.bin"/><Relationship Id="rId14" Type="http://schemas.openxmlformats.org/officeDocument/2006/relationships/image" Target="../media/image84.wmf"/></Relationships>
</file>

<file path=ppt/slides/_rels/slide2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notesSlide" Target="../notesSlides/notesSlide3.xml"/><Relationship Id="rId7" Type="http://schemas.openxmlformats.org/officeDocument/2006/relationships/oleObject" Target="../embeddings/oleObject86.bin"/><Relationship Id="rId2" Type="http://schemas.openxmlformats.org/officeDocument/2006/relationships/slideLayout" Target="../slideLayouts/slideLayout12.xml"/><Relationship Id="rId1" Type="http://schemas.openxmlformats.org/officeDocument/2006/relationships/vmlDrawing" Target="../drawings/vmlDrawing21.vml"/><Relationship Id="rId6" Type="http://schemas.openxmlformats.org/officeDocument/2006/relationships/image" Target="../media/image85.wmf"/><Relationship Id="rId5" Type="http://schemas.openxmlformats.org/officeDocument/2006/relationships/oleObject" Target="../embeddings/oleObject85.bin"/><Relationship Id="rId4" Type="http://schemas.openxmlformats.org/officeDocument/2006/relationships/audio" Target="../media/audio3.wav"/></Relationships>
</file>

<file path=ppt/slides/_rels/slide2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notesSlide" Target="../notesSlides/notesSlide5.xml"/><Relationship Id="rId7"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87.wmf"/><Relationship Id="rId5" Type="http://schemas.openxmlformats.org/officeDocument/2006/relationships/oleObject" Target="../embeddings/oleObject87.bin"/><Relationship Id="rId4" Type="http://schemas.openxmlformats.org/officeDocument/2006/relationships/audio" Target="../media/audio3.wav"/></Relationships>
</file>

<file path=ppt/slides/_rels/slide3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3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vmlDrawing" Target="../drawings/vmlDrawing23.vml"/><Relationship Id="rId6" Type="http://schemas.openxmlformats.org/officeDocument/2006/relationships/image" Target="../media/image90.wmf"/><Relationship Id="rId5" Type="http://schemas.openxmlformats.org/officeDocument/2006/relationships/oleObject" Target="../embeddings/oleObject89.bin"/><Relationship Id="rId4" Type="http://schemas.openxmlformats.org/officeDocument/2006/relationships/image" Target="../media/image9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audio" Target="../media/audio4.wav"/><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notesSlide" Target="../notesSlides/notesSlide17.xml"/><Relationship Id="rId7" Type="http://schemas.openxmlformats.org/officeDocument/2006/relationships/oleObject" Target="../embeddings/oleObject91.bin"/><Relationship Id="rId2" Type="http://schemas.openxmlformats.org/officeDocument/2006/relationships/slideLayout" Target="../slideLayouts/slideLayout12.xml"/><Relationship Id="rId1" Type="http://schemas.openxmlformats.org/officeDocument/2006/relationships/vmlDrawing" Target="../drawings/vmlDrawing24.vml"/><Relationship Id="rId6" Type="http://schemas.openxmlformats.org/officeDocument/2006/relationships/image" Target="../media/image92.wmf"/><Relationship Id="rId5" Type="http://schemas.openxmlformats.org/officeDocument/2006/relationships/oleObject" Target="../embeddings/oleObject90.bin"/><Relationship Id="rId4" Type="http://schemas.openxmlformats.org/officeDocument/2006/relationships/image" Target="../media/image95.png"/><Relationship Id="rId9" Type="http://schemas.openxmlformats.org/officeDocument/2006/relationships/image" Target="../media/image93.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25.vml"/><Relationship Id="rId5" Type="http://schemas.openxmlformats.org/officeDocument/2006/relationships/image" Target="../media/image96.png"/><Relationship Id="rId4" Type="http://schemas.openxmlformats.org/officeDocument/2006/relationships/oleObject" Target="../embeddings/oleObject92.bin"/></Relationships>
</file>

<file path=ppt/slides/_rels/slide4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26.vml"/><Relationship Id="rId5" Type="http://schemas.openxmlformats.org/officeDocument/2006/relationships/image" Target="../media/image100.wmf"/><Relationship Id="rId4" Type="http://schemas.openxmlformats.org/officeDocument/2006/relationships/oleObject" Target="../embeddings/oleObject93.bin"/></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vmlDrawing" Target="../drawings/vmlDrawing27.vml"/><Relationship Id="rId5" Type="http://schemas.openxmlformats.org/officeDocument/2006/relationships/image" Target="../media/image101.emf"/><Relationship Id="rId4" Type="http://schemas.openxmlformats.org/officeDocument/2006/relationships/oleObject" Target="../embeddings/oleObject94.bin"/></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slide" Target="slide48.xml"/><Relationship Id="rId4" Type="http://schemas.openxmlformats.org/officeDocument/2006/relationships/slide" Target="slide49.xml"/></Relationships>
</file>

<file path=ppt/slides/_rels/slide67.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image" Target="../media/image103.wmf"/><Relationship Id="rId7" Type="http://schemas.openxmlformats.org/officeDocument/2006/relationships/image" Target="../media/image107.wmf"/><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 Id="rId9" Type="http://schemas.openxmlformats.org/officeDocument/2006/relationships/image" Target="../media/image109.wmf"/></Relationships>
</file>

<file path=ppt/slides/_rels/slide68.xml.rels><?xml version="1.0" encoding="UTF-8" standalone="yes"?>
<Relationships xmlns="http://schemas.openxmlformats.org/package/2006/relationships"><Relationship Id="rId8" Type="http://schemas.openxmlformats.org/officeDocument/2006/relationships/image" Target="../media/image116.wmf"/><Relationship Id="rId3" Type="http://schemas.openxmlformats.org/officeDocument/2006/relationships/notesSlide" Target="../notesSlides/notesSlide44.xml"/><Relationship Id="rId7" Type="http://schemas.openxmlformats.org/officeDocument/2006/relationships/image" Target="../media/image115.png"/><Relationship Id="rId12" Type="http://schemas.openxmlformats.org/officeDocument/2006/relationships/image" Target="../media/image111.wmf"/><Relationship Id="rId2" Type="http://schemas.openxmlformats.org/officeDocument/2006/relationships/slideLayout" Target="../slideLayouts/slideLayout12.xml"/><Relationship Id="rId1" Type="http://schemas.openxmlformats.org/officeDocument/2006/relationships/vmlDrawing" Target="../drawings/vmlDrawing28.vml"/><Relationship Id="rId6" Type="http://schemas.openxmlformats.org/officeDocument/2006/relationships/image" Target="../media/image114.wmf"/><Relationship Id="rId11" Type="http://schemas.openxmlformats.org/officeDocument/2006/relationships/oleObject" Target="../embeddings/oleObject96.bin"/><Relationship Id="rId5" Type="http://schemas.openxmlformats.org/officeDocument/2006/relationships/image" Target="../media/image113.wmf"/><Relationship Id="rId10" Type="http://schemas.openxmlformats.org/officeDocument/2006/relationships/image" Target="../media/image110.wmf"/><Relationship Id="rId4" Type="http://schemas.openxmlformats.org/officeDocument/2006/relationships/image" Target="../media/image112.png"/><Relationship Id="rId9" Type="http://schemas.openxmlformats.org/officeDocument/2006/relationships/oleObject" Target="../embeddings/oleObject95.bin"/></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xml"/><Relationship Id="rId1" Type="http://schemas.openxmlformats.org/officeDocument/2006/relationships/vmlDrawing" Target="../drawings/vmlDrawing29.vml"/><Relationship Id="rId5" Type="http://schemas.openxmlformats.org/officeDocument/2006/relationships/image" Target="../media/image117.wmf"/><Relationship Id="rId4" Type="http://schemas.openxmlformats.org/officeDocument/2006/relationships/oleObject" Target="../embeddings/oleObject97.bin"/></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notesSlide" Target="../notesSlides/notesSlide47.xml"/><Relationship Id="rId7" Type="http://schemas.openxmlformats.org/officeDocument/2006/relationships/image" Target="../media/image119.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99.bin"/><Relationship Id="rId5" Type="http://schemas.openxmlformats.org/officeDocument/2006/relationships/image" Target="../media/image118.wmf"/><Relationship Id="rId4" Type="http://schemas.openxmlformats.org/officeDocument/2006/relationships/oleObject" Target="../embeddings/oleObject98.bin"/></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xml"/><Relationship Id="rId1" Type="http://schemas.openxmlformats.org/officeDocument/2006/relationships/vmlDrawing" Target="../drawings/vmlDrawing31.vml"/><Relationship Id="rId5" Type="http://schemas.openxmlformats.org/officeDocument/2006/relationships/image" Target="../media/image121.png"/><Relationship Id="rId4" Type="http://schemas.openxmlformats.org/officeDocument/2006/relationships/oleObject" Target="../embeddings/oleObject100.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22.wmf"/></Relationships>
</file>

<file path=ppt/slides/_rels/slide76.xml.rels><?xml version="1.0" encoding="UTF-8" standalone="yes"?>
<Relationships xmlns="http://schemas.openxmlformats.org/package/2006/relationships"><Relationship Id="rId8" Type="http://schemas.openxmlformats.org/officeDocument/2006/relationships/image" Target="../media/image125.wmf"/><Relationship Id="rId13" Type="http://schemas.openxmlformats.org/officeDocument/2006/relationships/oleObject" Target="../embeddings/oleObject107.bin"/><Relationship Id="rId18" Type="http://schemas.openxmlformats.org/officeDocument/2006/relationships/image" Target="../media/image130.wmf"/><Relationship Id="rId26" Type="http://schemas.openxmlformats.org/officeDocument/2006/relationships/image" Target="../media/image134.wmf"/><Relationship Id="rId3" Type="http://schemas.openxmlformats.org/officeDocument/2006/relationships/oleObject" Target="../embeddings/oleObject102.bin"/><Relationship Id="rId21" Type="http://schemas.openxmlformats.org/officeDocument/2006/relationships/oleObject" Target="../embeddings/oleObject111.bin"/><Relationship Id="rId7" Type="http://schemas.openxmlformats.org/officeDocument/2006/relationships/oleObject" Target="../embeddings/oleObject104.bin"/><Relationship Id="rId12" Type="http://schemas.openxmlformats.org/officeDocument/2006/relationships/image" Target="../media/image127.wmf"/><Relationship Id="rId17" Type="http://schemas.openxmlformats.org/officeDocument/2006/relationships/oleObject" Target="../embeddings/oleObject109.bin"/><Relationship Id="rId25" Type="http://schemas.openxmlformats.org/officeDocument/2006/relationships/oleObject" Target="../embeddings/oleObject113.bin"/><Relationship Id="rId2" Type="http://schemas.openxmlformats.org/officeDocument/2006/relationships/slideLayout" Target="../slideLayouts/slideLayout7.xml"/><Relationship Id="rId16" Type="http://schemas.openxmlformats.org/officeDocument/2006/relationships/image" Target="../media/image129.wmf"/><Relationship Id="rId20" Type="http://schemas.openxmlformats.org/officeDocument/2006/relationships/image" Target="../media/image131.wmf"/><Relationship Id="rId1" Type="http://schemas.openxmlformats.org/officeDocument/2006/relationships/vmlDrawing" Target="../drawings/vmlDrawing33.vml"/><Relationship Id="rId6" Type="http://schemas.openxmlformats.org/officeDocument/2006/relationships/image" Target="../media/image124.wmf"/><Relationship Id="rId11" Type="http://schemas.openxmlformats.org/officeDocument/2006/relationships/oleObject" Target="../embeddings/oleObject106.bin"/><Relationship Id="rId24" Type="http://schemas.openxmlformats.org/officeDocument/2006/relationships/image" Target="../media/image133.wmf"/><Relationship Id="rId5" Type="http://schemas.openxmlformats.org/officeDocument/2006/relationships/oleObject" Target="../embeddings/oleObject103.bin"/><Relationship Id="rId15" Type="http://schemas.openxmlformats.org/officeDocument/2006/relationships/oleObject" Target="../embeddings/oleObject108.bin"/><Relationship Id="rId23" Type="http://schemas.openxmlformats.org/officeDocument/2006/relationships/oleObject" Target="../embeddings/oleObject112.bin"/><Relationship Id="rId10" Type="http://schemas.openxmlformats.org/officeDocument/2006/relationships/image" Target="../media/image126.wmf"/><Relationship Id="rId19" Type="http://schemas.openxmlformats.org/officeDocument/2006/relationships/oleObject" Target="../embeddings/oleObject110.bin"/><Relationship Id="rId4" Type="http://schemas.openxmlformats.org/officeDocument/2006/relationships/image" Target="../media/image123.wmf"/><Relationship Id="rId9" Type="http://schemas.openxmlformats.org/officeDocument/2006/relationships/oleObject" Target="../embeddings/oleObject105.bin"/><Relationship Id="rId14" Type="http://schemas.openxmlformats.org/officeDocument/2006/relationships/image" Target="../media/image128.wmf"/><Relationship Id="rId22" Type="http://schemas.openxmlformats.org/officeDocument/2006/relationships/image" Target="../media/image132.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34.vml"/><Relationship Id="rId4" Type="http://schemas.openxmlformats.org/officeDocument/2006/relationships/image" Target="../media/image135.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oleObject" Target="../embeddings/oleObject115.bin"/><Relationship Id="rId7" Type="http://schemas.openxmlformats.org/officeDocument/2006/relationships/oleObject" Target="../embeddings/oleObject117.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image" Target="../media/image137.wmf"/><Relationship Id="rId5" Type="http://schemas.openxmlformats.org/officeDocument/2006/relationships/oleObject" Target="../embeddings/oleObject116.bin"/><Relationship Id="rId10" Type="http://schemas.openxmlformats.org/officeDocument/2006/relationships/image" Target="../media/image139.wmf"/><Relationship Id="rId4" Type="http://schemas.openxmlformats.org/officeDocument/2006/relationships/image" Target="../media/image136.wmf"/><Relationship Id="rId9" Type="http://schemas.openxmlformats.org/officeDocument/2006/relationships/oleObject" Target="../embeddings/oleObject118.bin"/></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Layout" Target="../slideLayouts/slideLayout7.xml"/><Relationship Id="rId1" Type="http://schemas.openxmlformats.org/officeDocument/2006/relationships/vmlDrawing" Target="../drawings/vmlDrawing36.vml"/><Relationship Id="rId6" Type="http://schemas.openxmlformats.org/officeDocument/2006/relationships/image" Target="../media/image141.wmf"/><Relationship Id="rId5" Type="http://schemas.openxmlformats.org/officeDocument/2006/relationships/oleObject" Target="../embeddings/oleObject120.bin"/><Relationship Id="rId4" Type="http://schemas.openxmlformats.org/officeDocument/2006/relationships/image" Target="../media/image140.wmf"/></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21.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4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smtClean="0"/>
              <a:t>2026</a:t>
            </a:r>
            <a:r>
              <a:rPr lang="zh-CN" altLang="en-US" smtClean="0"/>
              <a:t>年</a:t>
            </a:r>
            <a:r>
              <a:rPr lang="zh-CN" altLang="en-US" dirty="0"/>
              <a:t>数字系统设计</a:t>
            </a:r>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99745"/>
            <a:ext cx="10515600" cy="1325563"/>
          </a:xfrm>
        </p:spPr>
        <p:txBody>
          <a:bodyPr/>
          <a:lstStyle/>
          <a:p>
            <a:r>
              <a:rPr lang="zh-CN" altLang="en-US"/>
              <a:t>逻辑代数基础</a:t>
            </a:r>
            <a:br>
              <a:rPr lang="zh-CN" altLang="en-US"/>
            </a:br>
            <a:endParaRPr lang="en-US" altLang="zh-CN"/>
          </a:p>
        </p:txBody>
      </p:sp>
      <p:sp>
        <p:nvSpPr>
          <p:cNvPr id="3" name="内容占位符 2"/>
          <p:cNvSpPr>
            <a:spLocks noGrp="1"/>
          </p:cNvSpPr>
          <p:nvPr>
            <p:ph idx="1"/>
          </p:nvPr>
        </p:nvSpPr>
        <p:spPr/>
        <p:txBody>
          <a:bodyPr/>
          <a:lstStyle/>
          <a:p>
            <a:r>
              <a:rPr lang="zh-CN" altLang="en-US">
                <a:sym typeface="+mn-ea"/>
              </a:rPr>
              <a:t>原码、补码、反码</a:t>
            </a:r>
            <a:endParaRPr lang="zh-CN" altLang="en-US"/>
          </a:p>
          <a:p>
            <a:r>
              <a:rPr lang="zh-CN" altLang="en-US">
                <a:sym typeface="+mn-ea"/>
              </a:rPr>
              <a:t>格雷码</a:t>
            </a:r>
            <a:endParaRPr lang="zh-CN" altLang="en-US"/>
          </a:p>
          <a:p>
            <a:r>
              <a:rPr lang="zh-CN" altLang="en-US">
                <a:sym typeface="+mn-ea"/>
              </a:rPr>
              <a:t>奇偶校验码</a:t>
            </a:r>
            <a:endParaRPr lang="zh-CN" altLang="en-US"/>
          </a:p>
          <a:p>
            <a:r>
              <a:rPr lang="zh-CN" altLang="en-US">
                <a:sym typeface="+mn-ea"/>
              </a:rPr>
              <a:t>函数的对偶函数、反函数</a:t>
            </a:r>
            <a:endParaRPr lang="zh-CN" altLang="en-US"/>
          </a:p>
          <a:p>
            <a:r>
              <a:rPr lang="zh-CN" altLang="en-US">
                <a:sym typeface="+mn-ea"/>
              </a:rPr>
              <a:t>时序逻辑电路的描述方法</a:t>
            </a:r>
            <a:endParaRPr lang="zh-CN" altLang="en-US"/>
          </a:p>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625" name="Rectangle 33"/>
          <p:cNvSpPr>
            <a:spLocks noChangeArrowheads="1"/>
          </p:cNvSpPr>
          <p:nvPr/>
        </p:nvSpPr>
        <p:spPr bwMode="auto">
          <a:xfrm>
            <a:off x="6959600" y="2997201"/>
            <a:ext cx="32766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algn="l" eaLnBrk="1" hangingPunct="1"/>
            <a:r>
              <a:rPr lang="zh-CN" altLang="en-US" sz="2000">
                <a:solidFill>
                  <a:srgbClr val="000066"/>
                </a:solidFill>
                <a:latin typeface="楷体_GB2312" pitchFamily="49" charset="-122"/>
                <a:ea typeface="楷体_GB2312" pitchFamily="49" charset="-122"/>
              </a:rPr>
              <a:t>组合逻辑电路的一般框图</a:t>
            </a:r>
          </a:p>
        </p:txBody>
      </p:sp>
      <p:sp>
        <p:nvSpPr>
          <p:cNvPr id="366626" name="Rectangle 34"/>
          <p:cNvSpPr>
            <a:spLocks noChangeArrowheads="1"/>
          </p:cNvSpPr>
          <p:nvPr/>
        </p:nvSpPr>
        <p:spPr bwMode="auto">
          <a:xfrm>
            <a:off x="5808664" y="3500438"/>
            <a:ext cx="51133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algn="l" eaLnBrk="1" hangingPunct="1"/>
            <a:r>
              <a:rPr lang="en-US" altLang="zh-CN" sz="2400" i="1">
                <a:solidFill>
                  <a:srgbClr val="000066"/>
                </a:solidFill>
                <a:latin typeface="Times New Roman" panose="02020603050405020304" pitchFamily="18" charset="0"/>
                <a:ea typeface="楷体_GB2312" pitchFamily="49" charset="-122"/>
              </a:rPr>
              <a:t>L</a:t>
            </a:r>
            <a:r>
              <a:rPr lang="en-US" altLang="zh-CN" sz="2400" i="1" baseline="-30000">
                <a:solidFill>
                  <a:srgbClr val="000066"/>
                </a:solidFill>
                <a:latin typeface="Times New Roman" panose="02020603050405020304" pitchFamily="18" charset="0"/>
                <a:ea typeface="楷体_GB2312" pitchFamily="49" charset="-122"/>
              </a:rPr>
              <a:t>i</a:t>
            </a:r>
            <a:r>
              <a:rPr lang="en-US" altLang="zh-CN" sz="2400" i="1">
                <a:solidFill>
                  <a:srgbClr val="000066"/>
                </a:solidFill>
                <a:latin typeface="Times New Roman" panose="02020603050405020304" pitchFamily="18" charset="0"/>
                <a:ea typeface="楷体_GB2312" pitchFamily="49" charset="-122"/>
              </a:rPr>
              <a:t> = f </a:t>
            </a:r>
            <a:r>
              <a:rPr lang="en-US" altLang="zh-CN" sz="2400">
                <a:solidFill>
                  <a:srgbClr val="000066"/>
                </a:solidFill>
                <a:latin typeface="Times New Roman" panose="02020603050405020304" pitchFamily="18" charset="0"/>
                <a:ea typeface="楷体_GB2312" pitchFamily="49" charset="-122"/>
              </a:rPr>
              <a:t>(</a:t>
            </a:r>
            <a:r>
              <a:rPr lang="en-US" altLang="zh-CN" sz="2400" i="1">
                <a:solidFill>
                  <a:srgbClr val="000066"/>
                </a:solidFill>
                <a:latin typeface="Times New Roman" panose="02020603050405020304" pitchFamily="18" charset="0"/>
                <a:ea typeface="楷体_GB2312" pitchFamily="49" charset="-122"/>
              </a:rPr>
              <a:t>A</a:t>
            </a:r>
            <a:r>
              <a:rPr lang="en-US" altLang="zh-CN" sz="2400" i="1" baseline="-30000">
                <a:solidFill>
                  <a:srgbClr val="000066"/>
                </a:solidFill>
                <a:latin typeface="Times New Roman" panose="02020603050405020304" pitchFamily="18" charset="0"/>
                <a:ea typeface="楷体_GB2312" pitchFamily="49" charset="-122"/>
              </a:rPr>
              <a:t>1</a:t>
            </a:r>
            <a:r>
              <a:rPr lang="en-US" altLang="zh-CN" sz="2400" i="1">
                <a:solidFill>
                  <a:srgbClr val="000066"/>
                </a:solidFill>
                <a:latin typeface="Times New Roman" panose="02020603050405020304" pitchFamily="18" charset="0"/>
                <a:ea typeface="楷体_GB2312" pitchFamily="49" charset="-122"/>
              </a:rPr>
              <a:t>, A</a:t>
            </a:r>
            <a:r>
              <a:rPr lang="en-US" altLang="zh-CN" sz="2400" i="1" baseline="-30000">
                <a:solidFill>
                  <a:srgbClr val="000066"/>
                </a:solidFill>
                <a:latin typeface="Times New Roman" panose="02020603050405020304" pitchFamily="18" charset="0"/>
                <a:ea typeface="楷体_GB2312" pitchFamily="49" charset="-122"/>
              </a:rPr>
              <a:t>2 </a:t>
            </a:r>
            <a:r>
              <a:rPr lang="en-US" altLang="zh-CN" sz="2400" i="1">
                <a:solidFill>
                  <a:srgbClr val="000066"/>
                </a:solidFill>
                <a:latin typeface="Times New Roman" panose="02020603050405020304" pitchFamily="18" charset="0"/>
                <a:ea typeface="楷体_GB2312" pitchFamily="49" charset="-122"/>
              </a:rPr>
              <a:t>, …, A</a:t>
            </a:r>
            <a:r>
              <a:rPr lang="en-US" altLang="zh-CN" sz="2400" i="1" baseline="-30000">
                <a:solidFill>
                  <a:srgbClr val="000066"/>
                </a:solidFill>
                <a:latin typeface="Times New Roman" panose="02020603050405020304" pitchFamily="18" charset="0"/>
                <a:ea typeface="楷体_GB2312" pitchFamily="49" charset="-122"/>
              </a:rPr>
              <a:t>n </a:t>
            </a:r>
            <a:r>
              <a:rPr lang="en-US" altLang="zh-CN" sz="2400">
                <a:solidFill>
                  <a:srgbClr val="000066"/>
                </a:solidFill>
                <a:latin typeface="Times New Roman" panose="02020603050405020304" pitchFamily="18" charset="0"/>
                <a:ea typeface="楷体_GB2312" pitchFamily="49" charset="-122"/>
              </a:rPr>
              <a:t>)  (</a:t>
            </a:r>
            <a:r>
              <a:rPr lang="en-US" altLang="zh-CN" sz="2400" i="1">
                <a:solidFill>
                  <a:srgbClr val="000066"/>
                </a:solidFill>
                <a:latin typeface="Times New Roman" panose="02020603050405020304" pitchFamily="18" charset="0"/>
                <a:ea typeface="楷体_GB2312" pitchFamily="49" charset="-122"/>
              </a:rPr>
              <a:t>i=1</a:t>
            </a:r>
            <a:r>
              <a:rPr lang="en-US" altLang="zh-CN" sz="2400">
                <a:solidFill>
                  <a:srgbClr val="000066"/>
                </a:solidFill>
                <a:latin typeface="Times New Roman" panose="02020603050405020304" pitchFamily="18" charset="0"/>
                <a:ea typeface="楷体_GB2312" pitchFamily="49" charset="-122"/>
              </a:rPr>
              <a:t>, 2, …, m)</a:t>
            </a:r>
          </a:p>
        </p:txBody>
      </p:sp>
      <p:sp>
        <p:nvSpPr>
          <p:cNvPr id="366627" name="Rectangle 35"/>
          <p:cNvSpPr>
            <a:spLocks noChangeArrowheads="1"/>
          </p:cNvSpPr>
          <p:nvPr/>
        </p:nvSpPr>
        <p:spPr bwMode="auto">
          <a:xfrm>
            <a:off x="1990726" y="5013326"/>
            <a:ext cx="7993063"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algn="l" eaLnBrk="1" hangingPunct="1"/>
            <a:r>
              <a:rPr lang="zh-CN" altLang="en-US" sz="2400" u="sng">
                <a:latin typeface="楷体_GB2312" pitchFamily="49" charset="-122"/>
                <a:ea typeface="楷体_GB2312" pitchFamily="49" charset="-122"/>
              </a:rPr>
              <a:t>工作特征</a:t>
            </a:r>
            <a:r>
              <a:rPr lang="en-US" altLang="zh-CN" sz="2400" u="sng">
                <a:latin typeface="楷体_GB2312" pitchFamily="49" charset="-122"/>
                <a:ea typeface="楷体_GB2312" pitchFamily="49" charset="-122"/>
              </a:rPr>
              <a:t>:</a:t>
            </a:r>
          </a:p>
          <a:p>
            <a:pPr algn="l" eaLnBrk="1" hangingPunct="1"/>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在任何时刻，电路的输出状态只取决于同一时刻的输入状态而与电路原来的状态无关。</a:t>
            </a:r>
          </a:p>
        </p:txBody>
      </p:sp>
      <p:sp>
        <p:nvSpPr>
          <p:cNvPr id="20485" name="Rectangle 36"/>
          <p:cNvSpPr>
            <a:spLocks noChangeArrowheads="1"/>
          </p:cNvSpPr>
          <p:nvPr/>
        </p:nvSpPr>
        <p:spPr bwMode="auto">
          <a:xfrm>
            <a:off x="1638300" y="2097088"/>
            <a:ext cx="1574800" cy="369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a:p>
        </p:txBody>
      </p:sp>
      <p:sp>
        <p:nvSpPr>
          <p:cNvPr id="366629" name="Rectangle 37"/>
          <p:cNvSpPr>
            <a:spLocks noChangeArrowheads="1"/>
          </p:cNvSpPr>
          <p:nvPr/>
        </p:nvSpPr>
        <p:spPr bwMode="auto">
          <a:xfrm>
            <a:off x="2208213" y="1196976"/>
            <a:ext cx="647700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algn="l" eaLnBrk="1" hangingPunct="1"/>
            <a:r>
              <a:rPr lang="zh-CN" altLang="en-US" sz="2800" dirty="0">
                <a:latin typeface="隶书" panose="02010509060101010101" pitchFamily="49" charset="-122"/>
                <a:ea typeface="隶书" panose="02010509060101010101" pitchFamily="49" charset="-122"/>
              </a:rPr>
              <a:t>逻辑功能描述和特点</a:t>
            </a:r>
          </a:p>
        </p:txBody>
      </p:sp>
      <p:sp>
        <p:nvSpPr>
          <p:cNvPr id="366631" name="Rectangle 39"/>
          <p:cNvSpPr>
            <a:spLocks noChangeArrowheads="1"/>
          </p:cNvSpPr>
          <p:nvPr/>
        </p:nvSpPr>
        <p:spPr bwMode="auto">
          <a:xfrm>
            <a:off x="1990725" y="3789364"/>
            <a:ext cx="6553200" cy="1200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algn="l" eaLnBrk="1" hangingPunct="1"/>
            <a:r>
              <a:rPr lang="zh-CN" altLang="en-US" sz="2400" u="sng" dirty="0">
                <a:latin typeface="Times New Roman" panose="02020603050405020304" pitchFamily="18" charset="0"/>
                <a:ea typeface="楷体_GB2312" pitchFamily="49" charset="-122"/>
              </a:rPr>
              <a:t>结构特征</a:t>
            </a:r>
            <a:r>
              <a:rPr lang="en-US" altLang="zh-CN" sz="2400" u="sng" dirty="0">
                <a:latin typeface="Times New Roman" panose="02020603050405020304" pitchFamily="18" charset="0"/>
                <a:ea typeface="楷体_GB2312" pitchFamily="49" charset="-122"/>
              </a:rPr>
              <a:t>:</a:t>
            </a:r>
          </a:p>
          <a:p>
            <a:pPr algn="l" eaLnBrk="1" hangingPunct="1"/>
            <a:r>
              <a:rPr lang="en-US" altLang="zh-CN" sz="2400" dirty="0">
                <a:latin typeface="Times New Roman" panose="02020603050405020304" pitchFamily="18" charset="0"/>
                <a:ea typeface="楷体_GB2312" pitchFamily="49" charset="-122"/>
              </a:rPr>
              <a:t>      1</a:t>
            </a:r>
            <a:r>
              <a:rPr lang="zh-CN" altLang="en-US" sz="2400" dirty="0">
                <a:latin typeface="Times New Roman" panose="02020603050405020304" pitchFamily="18" charset="0"/>
                <a:ea typeface="楷体_GB2312" pitchFamily="49" charset="-122"/>
              </a:rPr>
              <a:t>、输出、输入之间没有反馈延迟通路，</a:t>
            </a:r>
          </a:p>
          <a:p>
            <a:pPr algn="l" eaLnBrk="1" hangingPunct="1"/>
            <a:r>
              <a:rPr lang="zh-CN" altLang="en-US" sz="2400" dirty="0">
                <a:latin typeface="Times New Roman" panose="02020603050405020304" pitchFamily="18" charset="0"/>
                <a:ea typeface="楷体_GB2312" pitchFamily="49" charset="-122"/>
              </a:rPr>
              <a:t>      </a:t>
            </a:r>
            <a:r>
              <a:rPr lang="en-US" altLang="zh-CN" sz="2400" dirty="0">
                <a:latin typeface="Times New Roman" panose="02020603050405020304" pitchFamily="18" charset="0"/>
                <a:ea typeface="楷体_GB2312" pitchFamily="49" charset="-122"/>
              </a:rPr>
              <a:t>2</a:t>
            </a:r>
            <a:r>
              <a:rPr lang="zh-CN" altLang="en-US" sz="2400" dirty="0">
                <a:latin typeface="Times New Roman" panose="02020603050405020304" pitchFamily="18" charset="0"/>
                <a:ea typeface="楷体_GB2312" pitchFamily="49" charset="-122"/>
              </a:rPr>
              <a:t>、不含记忆单元</a:t>
            </a:r>
          </a:p>
        </p:txBody>
      </p:sp>
      <p:sp>
        <p:nvSpPr>
          <p:cNvPr id="20488" name="Rectangle 40"/>
          <p:cNvSpPr>
            <a:spLocks noChangeArrowheads="1"/>
          </p:cNvSpPr>
          <p:nvPr/>
        </p:nvSpPr>
        <p:spPr bwMode="auto">
          <a:xfrm>
            <a:off x="6003635" y="2934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eaLnBrk="1" hangingPunct="1"/>
            <a:endParaRPr lang="zh-CN" altLang="en-US"/>
          </a:p>
        </p:txBody>
      </p:sp>
      <p:graphicFrame>
        <p:nvGraphicFramePr>
          <p:cNvPr id="366633" name="Object 41"/>
          <p:cNvGraphicFramePr>
            <a:graphicFrameLocks noChangeAspect="1"/>
          </p:cNvGraphicFramePr>
          <p:nvPr/>
        </p:nvGraphicFramePr>
        <p:xfrm>
          <a:off x="2208214" y="2052639"/>
          <a:ext cx="3273425" cy="1736725"/>
        </p:xfrm>
        <a:graphic>
          <a:graphicData uri="http://schemas.openxmlformats.org/presentationml/2006/ole">
            <mc:AlternateContent xmlns:mc="http://schemas.openxmlformats.org/markup-compatibility/2006">
              <mc:Choice xmlns:v="urn:schemas-microsoft-com:vml" Requires="v">
                <p:oleObj spid="_x0000_s1027" name="图片" r:id="rId4" imgW="1607820" imgH="854075" progId="Word.Picture.8">
                  <p:embed/>
                </p:oleObj>
              </mc:Choice>
              <mc:Fallback>
                <p:oleObj name="图片" r:id="rId4" imgW="1607820" imgH="854075" progId="Word.Picture.8">
                  <p:embed/>
                  <p:pic>
                    <p:nvPicPr>
                      <p:cNvPr id="0"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8214" y="2052639"/>
                        <a:ext cx="3273425"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6635" name="Object 43"/>
          <p:cNvGraphicFramePr>
            <a:graphicFrameLocks noChangeAspect="1"/>
          </p:cNvGraphicFramePr>
          <p:nvPr/>
        </p:nvGraphicFramePr>
        <p:xfrm>
          <a:off x="6240464" y="1557339"/>
          <a:ext cx="4244975" cy="1493837"/>
        </p:xfrm>
        <a:graphic>
          <a:graphicData uri="http://schemas.openxmlformats.org/presentationml/2006/ole">
            <mc:AlternateContent xmlns:mc="http://schemas.openxmlformats.org/markup-compatibility/2006">
              <mc:Choice xmlns:v="urn:schemas-microsoft-com:vml" Requires="v">
                <p:oleObj spid="_x0000_s1028" name="图片" r:id="rId6" imgW="2087245" imgH="725805" progId="Word.Picture.8">
                  <p:embed/>
                </p:oleObj>
              </mc:Choice>
              <mc:Fallback>
                <p:oleObj name="图片" r:id="rId6" imgW="2087245" imgH="725805" progId="Word.Picture.8">
                  <p:embed/>
                  <p:pic>
                    <p:nvPicPr>
                      <p:cNvPr id="0" name="Object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40464" y="1557339"/>
                        <a:ext cx="4244975" cy="149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1" name="Rectangle 44"/>
          <p:cNvSpPr>
            <a:spLocks noChangeArrowheads="1"/>
          </p:cNvSpPr>
          <p:nvPr/>
        </p:nvSpPr>
        <p:spPr bwMode="auto">
          <a:xfrm>
            <a:off x="-165735" y="210820"/>
            <a:ext cx="12066905" cy="1014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ctr">
              <a:defRPr b="1">
                <a:solidFill>
                  <a:schemeClr val="tx1"/>
                </a:solidFill>
                <a:latin typeface="Arial Narrow" panose="020B0606020202030204" pitchFamily="34" charset="0"/>
                <a:ea typeface="宋体" panose="02010600030101010101" pitchFamily="2" charset="-122"/>
              </a:defRPr>
            </a:lvl1pPr>
            <a:lvl2pPr marL="742950" indent="-285750" algn="ctr">
              <a:defRPr b="1">
                <a:solidFill>
                  <a:schemeClr val="tx1"/>
                </a:solidFill>
                <a:latin typeface="Arial Narrow" panose="020B0606020202030204" pitchFamily="34" charset="0"/>
                <a:ea typeface="宋体" panose="02010600030101010101" pitchFamily="2" charset="-122"/>
              </a:defRPr>
            </a:lvl2pPr>
            <a:lvl3pPr marL="1143000" indent="-228600" algn="ctr">
              <a:defRPr b="1">
                <a:solidFill>
                  <a:schemeClr val="tx1"/>
                </a:solidFill>
                <a:latin typeface="Arial Narrow" panose="020B0606020202030204" pitchFamily="34" charset="0"/>
                <a:ea typeface="宋体" panose="02010600030101010101" pitchFamily="2" charset="-122"/>
              </a:defRPr>
            </a:lvl3pPr>
            <a:lvl4pPr marL="1600200" indent="-228600" algn="ctr">
              <a:defRPr b="1">
                <a:solidFill>
                  <a:schemeClr val="tx1"/>
                </a:solidFill>
                <a:latin typeface="Arial Narrow" panose="020B0606020202030204" pitchFamily="34" charset="0"/>
                <a:ea typeface="宋体" panose="02010600030101010101" pitchFamily="2" charset="-122"/>
              </a:defRPr>
            </a:lvl4pPr>
            <a:lvl5pPr marL="2057400" indent="-228600" algn="ctr">
              <a:defRPr b="1">
                <a:solidFill>
                  <a:schemeClr val="tx1"/>
                </a:solidFill>
                <a:latin typeface="Arial Narrow" panose="020B0606020202030204" pitchFamily="34" charset="0"/>
                <a:ea typeface="宋体" panose="02010600030101010101" pitchFamily="2" charset="-122"/>
              </a:defRPr>
            </a:lvl5pPr>
            <a:lvl6pPr marL="25146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6pPr>
            <a:lvl7pPr marL="29718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7pPr>
            <a:lvl8pPr marL="34290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8pPr>
            <a:lvl9pPr marL="3886200" indent="-228600" algn="ctr" eaLnBrk="0" fontAlgn="base" hangingPunct="0">
              <a:spcBef>
                <a:spcPct val="0"/>
              </a:spcBef>
              <a:spcAft>
                <a:spcPct val="0"/>
              </a:spcAft>
              <a:defRPr b="1">
                <a:solidFill>
                  <a:schemeClr val="tx1"/>
                </a:solidFill>
                <a:latin typeface="Arial Narrow" panose="020B0606020202030204" pitchFamily="34" charset="0"/>
                <a:ea typeface="宋体" panose="02010600030101010101" pitchFamily="2" charset="-122"/>
              </a:defRPr>
            </a:lvl9pPr>
          </a:lstStyle>
          <a:p>
            <a:pPr algn="ctr" eaLnBrk="1" hangingPunct="1"/>
            <a:r>
              <a:rPr lang="zh-CN" altLang="en-US" sz="3200" dirty="0">
                <a:latin typeface="隶书" panose="02010509060101010101" pitchFamily="49" charset="-122"/>
                <a:ea typeface="隶书" panose="02010509060101010101" pitchFamily="49" charset="-122"/>
              </a:rPr>
              <a:t>组合逻辑电路（**）</a:t>
            </a:r>
          </a:p>
          <a:p>
            <a:pPr algn="ctr" eaLnBrk="1" hangingPunct="1"/>
            <a:r>
              <a:rPr lang="zh-CN" altLang="en-US" sz="2800" dirty="0">
                <a:latin typeface="隶书" panose="02010509060101010101" pitchFamily="49" charset="-122"/>
                <a:ea typeface="隶书" panose="02010509060101010101" pitchFamily="49" charset="-122"/>
                <a:sym typeface="+mn-ea"/>
              </a:rPr>
              <a:t>数字逻辑电路按照是不有有记忆功能分为：</a:t>
            </a:r>
            <a:r>
              <a:rPr lang="zh-CN" altLang="en-US" sz="2800" dirty="0">
                <a:solidFill>
                  <a:srgbClr val="FF0000"/>
                </a:solidFill>
                <a:latin typeface="隶书" panose="02010509060101010101" pitchFamily="49" charset="-122"/>
                <a:ea typeface="隶书" panose="02010509060101010101" pitchFamily="49" charset="-122"/>
                <a:sym typeface="+mn-ea"/>
              </a:rPr>
              <a:t>组合逻辑电路</a:t>
            </a:r>
            <a:r>
              <a:rPr lang="zh-CN" altLang="en-US" sz="2800" dirty="0">
                <a:latin typeface="隶书" panose="02010509060101010101" pitchFamily="49" charset="-122"/>
                <a:ea typeface="隶书" panose="02010509060101010101" pitchFamily="49" charset="-122"/>
                <a:sym typeface="+mn-ea"/>
              </a:rPr>
              <a:t>和</a:t>
            </a:r>
            <a:r>
              <a:rPr lang="zh-CN" altLang="en-US" sz="2800" dirty="0">
                <a:solidFill>
                  <a:srgbClr val="FF0000"/>
                </a:solidFill>
                <a:latin typeface="隶书" panose="02010509060101010101" pitchFamily="49" charset="-122"/>
                <a:ea typeface="隶书" panose="02010509060101010101" pitchFamily="49" charset="-122"/>
                <a:sym typeface="+mn-ea"/>
              </a:rPr>
              <a:t>时序逻辑电路</a:t>
            </a:r>
          </a:p>
        </p:txBody>
      </p:sp>
    </p:spTree>
  </p:cSld>
  <p:clrMapOvr>
    <a:masterClrMapping/>
  </p:clrMapOvr>
  <p:transition>
    <p:wipe dir="r"/>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6629"/>
                                        </p:tgtEl>
                                        <p:attrNameLst>
                                          <p:attrName>style.visibility</p:attrName>
                                        </p:attrNameLst>
                                      </p:cBhvr>
                                      <p:to>
                                        <p:strVal val="visible"/>
                                      </p:to>
                                    </p:set>
                                    <p:animEffect transition="in" filter="blinds(horizontal)">
                                      <p:cBhvr>
                                        <p:cTn id="7" dur="500"/>
                                        <p:tgtEl>
                                          <p:spTgt spid="3666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66633"/>
                                        </p:tgtEl>
                                        <p:attrNameLst>
                                          <p:attrName>style.visibility</p:attrName>
                                        </p:attrNameLst>
                                      </p:cBhvr>
                                      <p:to>
                                        <p:strVal val="visible"/>
                                      </p:to>
                                    </p:set>
                                    <p:animEffect transition="in" filter="blinds(horizontal)">
                                      <p:cBhvr>
                                        <p:cTn id="12" dur="500"/>
                                        <p:tgtEl>
                                          <p:spTgt spid="366633"/>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366625"/>
                                        </p:tgtEl>
                                        <p:attrNameLst>
                                          <p:attrName>style.visibility</p:attrName>
                                        </p:attrNameLst>
                                      </p:cBhvr>
                                      <p:to>
                                        <p:strVal val="visible"/>
                                      </p:to>
                                    </p:set>
                                    <p:animEffect transition="in" filter="strips(downRight)">
                                      <p:cBhvr>
                                        <p:cTn id="17" dur="500"/>
                                        <p:tgtEl>
                                          <p:spTgt spid="36662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66635"/>
                                        </p:tgtEl>
                                        <p:attrNameLst>
                                          <p:attrName>style.visibility</p:attrName>
                                        </p:attrNameLst>
                                      </p:cBhvr>
                                      <p:to>
                                        <p:strVal val="visible"/>
                                      </p:to>
                                    </p:set>
                                    <p:animEffect transition="in" filter="box(in)">
                                      <p:cBhvr>
                                        <p:cTn id="22" dur="500"/>
                                        <p:tgtEl>
                                          <p:spTgt spid="3666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66631"/>
                                        </p:tgtEl>
                                        <p:attrNameLst>
                                          <p:attrName>style.visibility</p:attrName>
                                        </p:attrNameLst>
                                      </p:cBhvr>
                                      <p:to>
                                        <p:strVal val="visible"/>
                                      </p:to>
                                    </p:set>
                                    <p:animEffect transition="in" filter="wipe(up)">
                                      <p:cBhvr>
                                        <p:cTn id="27" dur="2000"/>
                                        <p:tgtEl>
                                          <p:spTgt spid="366631"/>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366626"/>
                                        </p:tgtEl>
                                        <p:attrNameLst>
                                          <p:attrName>style.visibility</p:attrName>
                                        </p:attrNameLst>
                                      </p:cBhvr>
                                      <p:to>
                                        <p:strVal val="visible"/>
                                      </p:to>
                                    </p:set>
                                    <p:animEffect transition="in" filter="strips(downRight)">
                                      <p:cBhvr>
                                        <p:cTn id="32" dur="500"/>
                                        <p:tgtEl>
                                          <p:spTgt spid="36662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366627"/>
                                        </p:tgtEl>
                                        <p:attrNameLst>
                                          <p:attrName>style.visibility</p:attrName>
                                        </p:attrNameLst>
                                      </p:cBhvr>
                                      <p:to>
                                        <p:strVal val="visible"/>
                                      </p:to>
                                    </p:set>
                                    <p:animEffect transition="in" filter="strips(downRight)">
                                      <p:cBhvr>
                                        <p:cTn id="37" dur="500"/>
                                        <p:tgtEl>
                                          <p:spTgt spid="366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625" grpId="0" autoUpdateAnimBg="0"/>
      <p:bldP spid="366626" grpId="0" autoUpdateAnimBg="0"/>
      <p:bldP spid="366627" grpId="0" autoUpdateAnimBg="0"/>
      <p:bldP spid="366629" grpId="0"/>
      <p:bldP spid="366631"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1" name="Rectangle 3"/>
          <p:cNvSpPr>
            <a:spLocks noChangeArrowheads="1"/>
          </p:cNvSpPr>
          <p:nvPr/>
        </p:nvSpPr>
        <p:spPr bwMode="auto">
          <a:xfrm>
            <a:off x="1919288" y="404814"/>
            <a:ext cx="648176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76176" bIns="76176" anchor="ctr">
            <a:spAutoFit/>
          </a:bodyPr>
          <a:lstStyle>
            <a:lvl1pPr indent="276225" algn="l">
              <a:defRPr kumimoji="1" sz="2400">
                <a:solidFill>
                  <a:schemeClr val="tx1"/>
                </a:solidFill>
                <a:latin typeface="Times New Roman" panose="02020603050405020304" pitchFamily="18" charset="0"/>
                <a:ea typeface="宋体" panose="02010600030101010101" pitchFamily="2" charset="-122"/>
              </a:defRPr>
            </a:lvl1pPr>
            <a:lvl2pPr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2800" dirty="0">
                <a:latin typeface="隶书" panose="02010509060101010101" pitchFamily="49" charset="-122"/>
                <a:ea typeface="隶书" panose="02010509060101010101" pitchFamily="49" charset="-122"/>
              </a:rPr>
              <a:t>2. </a:t>
            </a:r>
            <a:r>
              <a:rPr kumimoji="0" lang="zh-CN" altLang="en-US" sz="2800" dirty="0">
                <a:latin typeface="隶书" panose="02010509060101010101" pitchFamily="49" charset="-122"/>
                <a:ea typeface="隶书" panose="02010509060101010101" pitchFamily="49" charset="-122"/>
              </a:rPr>
              <a:t>时序逻辑电路的结构及特点</a:t>
            </a:r>
          </a:p>
          <a:p>
            <a:endParaRPr kumimoji="0" lang="en-US" altLang="zh-CN" sz="2800" dirty="0">
              <a:latin typeface="隶书" panose="02010509060101010101" pitchFamily="49" charset="-122"/>
              <a:ea typeface="隶书" panose="02010509060101010101" pitchFamily="49" charset="-122"/>
            </a:endParaRPr>
          </a:p>
        </p:txBody>
      </p:sp>
      <p:sp>
        <p:nvSpPr>
          <p:cNvPr id="421895" name="Rectangle 7"/>
          <p:cNvSpPr>
            <a:spLocks noChangeArrowheads="1"/>
          </p:cNvSpPr>
          <p:nvPr/>
        </p:nvSpPr>
        <p:spPr bwMode="auto">
          <a:xfrm>
            <a:off x="3143250" y="5157788"/>
            <a:ext cx="5087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400">
                <a:solidFill>
                  <a:schemeClr val="hlink"/>
                </a:solidFill>
                <a:latin typeface="楷体_GB2312" pitchFamily="49" charset="-122"/>
                <a:ea typeface="楷体_GB2312" pitchFamily="49" charset="-122"/>
              </a:rPr>
              <a:t>*</a:t>
            </a:r>
            <a:r>
              <a:rPr lang="zh-CN" altLang="en-US" sz="2400">
                <a:solidFill>
                  <a:srgbClr val="000066"/>
                </a:solidFill>
                <a:latin typeface="楷体_GB2312" pitchFamily="49" charset="-122"/>
                <a:ea typeface="楷体_GB2312" pitchFamily="49" charset="-122"/>
              </a:rPr>
              <a:t>电路由组合电路和存储电路组成。 </a:t>
            </a:r>
          </a:p>
        </p:txBody>
      </p:sp>
      <p:sp>
        <p:nvSpPr>
          <p:cNvPr id="421896" name="Rectangle 8"/>
          <p:cNvSpPr>
            <a:spLocks noChangeArrowheads="1"/>
          </p:cNvSpPr>
          <p:nvPr/>
        </p:nvSpPr>
        <p:spPr bwMode="auto">
          <a:xfrm>
            <a:off x="3179764" y="5734050"/>
            <a:ext cx="2636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en-US" altLang="zh-CN" sz="2400">
                <a:solidFill>
                  <a:schemeClr val="hlink"/>
                </a:solidFill>
                <a:latin typeface="楷体_GB2312" pitchFamily="49" charset="-122"/>
                <a:ea typeface="楷体_GB2312" pitchFamily="49" charset="-122"/>
              </a:rPr>
              <a:t>*</a:t>
            </a:r>
            <a:r>
              <a:rPr lang="zh-CN" altLang="en-US" sz="2400">
                <a:solidFill>
                  <a:srgbClr val="000066"/>
                </a:solidFill>
                <a:latin typeface="楷体_GB2312" pitchFamily="49" charset="-122"/>
                <a:ea typeface="楷体_GB2312" pitchFamily="49" charset="-122"/>
              </a:rPr>
              <a:t>电路存在反馈。 </a:t>
            </a:r>
          </a:p>
        </p:txBody>
      </p:sp>
      <p:sp>
        <p:nvSpPr>
          <p:cNvPr id="421897" name="Rectangle 9"/>
          <p:cNvSpPr>
            <a:spLocks noChangeArrowheads="1"/>
          </p:cNvSpPr>
          <p:nvPr/>
        </p:nvSpPr>
        <p:spPr bwMode="auto">
          <a:xfrm>
            <a:off x="1774825" y="5155557"/>
            <a:ext cx="158088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lang="zh-CN" altLang="en-US" sz="2400">
                <a:solidFill>
                  <a:srgbClr val="000066"/>
                </a:solidFill>
                <a:latin typeface="楷体_GB2312" pitchFamily="49" charset="-122"/>
                <a:ea typeface="楷体_GB2312" pitchFamily="49" charset="-122"/>
              </a:rPr>
              <a:t>结构特征</a:t>
            </a:r>
            <a:r>
              <a:rPr lang="en-US" altLang="zh-CN" sz="2400">
                <a:solidFill>
                  <a:srgbClr val="000066"/>
                </a:solidFill>
                <a:latin typeface="楷体_GB2312" pitchFamily="49" charset="-122"/>
                <a:ea typeface="楷体_GB2312" pitchFamily="49" charset="-122"/>
              </a:rPr>
              <a:t>: </a:t>
            </a:r>
          </a:p>
        </p:txBody>
      </p:sp>
      <p:pic>
        <p:nvPicPr>
          <p:cNvPr id="421899"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2175" y="2133600"/>
            <a:ext cx="5327650" cy="299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1901" name="Text Box 13"/>
          <p:cNvSpPr txBox="1">
            <a:spLocks noChangeArrowheads="1"/>
          </p:cNvSpPr>
          <p:nvPr/>
        </p:nvSpPr>
        <p:spPr bwMode="auto">
          <a:xfrm>
            <a:off x="2063750" y="1268414"/>
            <a:ext cx="80645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400">
                <a:latin typeface="楷体_GB2312" pitchFamily="49" charset="-122"/>
                <a:ea typeface="楷体_GB2312" pitchFamily="49" charset="-122"/>
              </a:rPr>
              <a:t>时序逻辑电路</a:t>
            </a:r>
            <a:r>
              <a:rPr lang="en-US" altLang="zh-CN" sz="2400">
                <a:ea typeface="楷体_GB2312" pitchFamily="49" charset="-122"/>
              </a:rPr>
              <a:t>——</a:t>
            </a:r>
            <a:r>
              <a:rPr lang="zh-CN" altLang="en-US" sz="2400">
                <a:latin typeface="楷体_GB2312" pitchFamily="49" charset="-122"/>
                <a:ea typeface="楷体_GB2312" pitchFamily="49" charset="-122"/>
              </a:rPr>
              <a:t>任何一个时刻的输出状态不仅取决于当时的输入信号，还与电路的原状态有关。</a:t>
            </a:r>
          </a:p>
        </p:txBody>
      </p:sp>
    </p:spTree>
  </p:cSld>
  <p:clrMapOvr>
    <a:masterClrMapping/>
  </p:clrMapOvr>
  <p:transition>
    <p:wipe dir="r"/>
    <p:sndAc>
      <p:stSnd>
        <p:snd r:embed="rId2"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1901"/>
                                        </p:tgtEl>
                                        <p:attrNameLst>
                                          <p:attrName>style.visibility</p:attrName>
                                        </p:attrNameLst>
                                      </p:cBhvr>
                                      <p:to>
                                        <p:strVal val="visible"/>
                                      </p:to>
                                    </p:set>
                                    <p:anim calcmode="lin" valueType="num">
                                      <p:cBhvr additive="base">
                                        <p:cTn id="7" dur="500" fill="hold"/>
                                        <p:tgtEl>
                                          <p:spTgt spid="421901"/>
                                        </p:tgtEl>
                                        <p:attrNameLst>
                                          <p:attrName>ppt_x</p:attrName>
                                        </p:attrNameLst>
                                      </p:cBhvr>
                                      <p:tavLst>
                                        <p:tav tm="0">
                                          <p:val>
                                            <p:strVal val="#ppt_x"/>
                                          </p:val>
                                        </p:tav>
                                        <p:tav tm="100000">
                                          <p:val>
                                            <p:strVal val="#ppt_x"/>
                                          </p:val>
                                        </p:tav>
                                      </p:tavLst>
                                    </p:anim>
                                    <p:anim calcmode="lin" valueType="num">
                                      <p:cBhvr additive="base">
                                        <p:cTn id="8" dur="500" fill="hold"/>
                                        <p:tgtEl>
                                          <p:spTgt spid="42190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1899"/>
                                        </p:tgtEl>
                                        <p:attrNameLst>
                                          <p:attrName>style.visibility</p:attrName>
                                        </p:attrNameLst>
                                      </p:cBhvr>
                                      <p:to>
                                        <p:strVal val="visible"/>
                                      </p:to>
                                    </p:set>
                                    <p:anim calcmode="lin" valueType="num">
                                      <p:cBhvr additive="base">
                                        <p:cTn id="13" dur="500" fill="hold"/>
                                        <p:tgtEl>
                                          <p:spTgt spid="421899"/>
                                        </p:tgtEl>
                                        <p:attrNameLst>
                                          <p:attrName>ppt_x</p:attrName>
                                        </p:attrNameLst>
                                      </p:cBhvr>
                                      <p:tavLst>
                                        <p:tav tm="0">
                                          <p:val>
                                            <p:strVal val="#ppt_x"/>
                                          </p:val>
                                        </p:tav>
                                        <p:tav tm="100000">
                                          <p:val>
                                            <p:strVal val="#ppt_x"/>
                                          </p:val>
                                        </p:tav>
                                      </p:tavLst>
                                    </p:anim>
                                    <p:anim calcmode="lin" valueType="num">
                                      <p:cBhvr additive="base">
                                        <p:cTn id="14" dur="500" fill="hold"/>
                                        <p:tgtEl>
                                          <p:spTgt spid="4218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421897"/>
                                        </p:tgtEl>
                                        <p:attrNameLst>
                                          <p:attrName>style.visibility</p:attrName>
                                        </p:attrNameLst>
                                      </p:cBhvr>
                                      <p:to>
                                        <p:strVal val="visible"/>
                                      </p:to>
                                    </p:set>
                                    <p:animEffect transition="in" filter="wipe(left)">
                                      <p:cBhvr>
                                        <p:cTn id="19" dur="500"/>
                                        <p:tgtEl>
                                          <p:spTgt spid="42189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21895"/>
                                        </p:tgtEl>
                                        <p:attrNameLst>
                                          <p:attrName>style.visibility</p:attrName>
                                        </p:attrNameLst>
                                      </p:cBhvr>
                                      <p:to>
                                        <p:strVal val="visible"/>
                                      </p:to>
                                    </p:set>
                                    <p:animEffect transition="in" filter="wipe(left)">
                                      <p:cBhvr>
                                        <p:cTn id="24" dur="500"/>
                                        <p:tgtEl>
                                          <p:spTgt spid="42189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21896"/>
                                        </p:tgtEl>
                                        <p:attrNameLst>
                                          <p:attrName>style.visibility</p:attrName>
                                        </p:attrNameLst>
                                      </p:cBhvr>
                                      <p:to>
                                        <p:strVal val="visible"/>
                                      </p:to>
                                    </p:set>
                                    <p:animEffect transition="in" filter="wipe(left)">
                                      <p:cBhvr>
                                        <p:cTn id="29" dur="500"/>
                                        <p:tgtEl>
                                          <p:spTgt spid="421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895" grpId="0" autoUpdateAnimBg="0"/>
      <p:bldP spid="421896" grpId="0" autoUpdateAnimBg="0"/>
      <p:bldP spid="421897" grpId="0" autoUpdateAnimBg="0"/>
      <p:bldP spid="42190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日期占位符 1"/>
          <p:cNvSpPr>
            <a:spLocks noGrp="1"/>
          </p:cNvSpPr>
          <p:nvPr>
            <p:ph type="dt" sz="quarter" idx="10"/>
          </p:nvPr>
        </p:nvSpPr>
        <p:spPr/>
        <p:txBody>
          <a:bodyPr/>
          <a:lstStyle/>
          <a:p>
            <a:pPr>
              <a:defRPr/>
            </a:pPr>
            <a:r>
              <a:rPr lang="zh-CN" altLang="en-US"/>
              <a:t>数字系统设计</a:t>
            </a:r>
          </a:p>
        </p:txBody>
      </p:sp>
      <p:sp>
        <p:nvSpPr>
          <p:cNvPr id="82" name="页脚占位符 2"/>
          <p:cNvSpPr>
            <a:spLocks noGrp="1"/>
          </p:cNvSpPr>
          <p:nvPr>
            <p:ph type="ftr" sz="quarter" idx="11"/>
          </p:nvPr>
        </p:nvSpPr>
        <p:spPr/>
        <p:txBody>
          <a:bodyPr/>
          <a:lstStyle/>
          <a:p>
            <a:pPr>
              <a:defRPr/>
            </a:pPr>
            <a:r>
              <a:rPr lang="zh-CN" altLang="en-US"/>
              <a:t>华东理工大学电子与通信工程系</a:t>
            </a:r>
          </a:p>
        </p:txBody>
      </p:sp>
      <p:sp>
        <p:nvSpPr>
          <p:cNvPr id="20483" name="Text Box 2"/>
          <p:cNvSpPr txBox="1">
            <a:spLocks noChangeArrowheads="1"/>
          </p:cNvSpPr>
          <p:nvPr/>
        </p:nvSpPr>
        <p:spPr bwMode="auto">
          <a:xfrm>
            <a:off x="2590800" y="609601"/>
            <a:ext cx="579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dirty="0">
                <a:solidFill>
                  <a:srgbClr val="FF0000"/>
                </a:solidFill>
                <a:latin typeface="宋体" panose="02010600030101010101" pitchFamily="2" charset="-122"/>
                <a:ea typeface="宋体" panose="02010600030101010101" pitchFamily="2" charset="-122"/>
              </a:rPr>
              <a:t>2.2.2 </a:t>
            </a:r>
            <a:r>
              <a:rPr lang="zh-CN" altLang="en-US" sz="2800" dirty="0">
                <a:solidFill>
                  <a:srgbClr val="FF0000"/>
                </a:solidFill>
                <a:latin typeface="宋体" panose="02010600030101010101" pitchFamily="2" charset="-122"/>
                <a:ea typeface="宋体" panose="02010600030101010101" pitchFamily="2" charset="-122"/>
              </a:rPr>
              <a:t>逻辑代数的基本定律和规则</a:t>
            </a:r>
          </a:p>
        </p:txBody>
      </p:sp>
      <p:graphicFrame>
        <p:nvGraphicFramePr>
          <p:cNvPr id="20484" name="Object 3"/>
          <p:cNvGraphicFramePr>
            <a:graphicFrameLocks noChangeAspect="1"/>
          </p:cNvGraphicFramePr>
          <p:nvPr/>
        </p:nvGraphicFramePr>
        <p:xfrm>
          <a:off x="1862138" y="1147763"/>
          <a:ext cx="8374062" cy="5594350"/>
        </p:xfrm>
        <a:graphic>
          <a:graphicData uri="http://schemas.openxmlformats.org/presentationml/2006/ole">
            <mc:AlternateContent xmlns:mc="http://schemas.openxmlformats.org/markup-compatibility/2006">
              <mc:Choice xmlns:v="urn:schemas-microsoft-com:vml" Requires="v">
                <p:oleObj spid="_x0000_s2073" r:id="rId3" imgW="2647950" imgH="1581150" progId="Paint.Picture">
                  <p:embed/>
                </p:oleObj>
              </mc:Choice>
              <mc:Fallback>
                <p:oleObj r:id="rId3" imgW="2647950" imgH="1581150" progId="Paint.Picture">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2138" y="1147763"/>
                        <a:ext cx="8374062"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485" name="Rectangle 5"/>
          <p:cNvSpPr>
            <a:spLocks noChangeArrowheads="1"/>
          </p:cNvSpPr>
          <p:nvPr/>
        </p:nvSpPr>
        <p:spPr bwMode="auto">
          <a:xfrm>
            <a:off x="7035800" y="4800601"/>
            <a:ext cx="31242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86" name="Rectangle 6"/>
          <p:cNvSpPr>
            <a:spLocks noChangeArrowheads="1"/>
          </p:cNvSpPr>
          <p:nvPr/>
        </p:nvSpPr>
        <p:spPr bwMode="auto">
          <a:xfrm>
            <a:off x="3683000" y="4800601"/>
            <a:ext cx="3352800"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87" name="Rectangle 7"/>
          <p:cNvSpPr>
            <a:spLocks noChangeArrowheads="1"/>
          </p:cNvSpPr>
          <p:nvPr/>
        </p:nvSpPr>
        <p:spPr bwMode="auto">
          <a:xfrm>
            <a:off x="1905000" y="5100639"/>
            <a:ext cx="1752600"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吸收律</a:t>
            </a:r>
          </a:p>
        </p:txBody>
      </p:sp>
      <p:sp>
        <p:nvSpPr>
          <p:cNvPr id="20488" name="Rectangle 8"/>
          <p:cNvSpPr>
            <a:spLocks noChangeArrowheads="1"/>
          </p:cNvSpPr>
          <p:nvPr/>
        </p:nvSpPr>
        <p:spPr bwMode="auto">
          <a:xfrm>
            <a:off x="7035800" y="43434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89" name="Rectangle 9"/>
          <p:cNvSpPr>
            <a:spLocks noChangeArrowheads="1"/>
          </p:cNvSpPr>
          <p:nvPr/>
        </p:nvSpPr>
        <p:spPr bwMode="auto">
          <a:xfrm>
            <a:off x="3683000" y="4343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90" name="Rectangle 10"/>
          <p:cNvSpPr>
            <a:spLocks noChangeArrowheads="1"/>
          </p:cNvSpPr>
          <p:nvPr/>
        </p:nvSpPr>
        <p:spPr bwMode="auto">
          <a:xfrm>
            <a:off x="1930400" y="4643438"/>
            <a:ext cx="203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反演律（摩根定律）</a:t>
            </a:r>
          </a:p>
        </p:txBody>
      </p:sp>
      <p:sp>
        <p:nvSpPr>
          <p:cNvPr id="20491" name="Rectangle 11"/>
          <p:cNvSpPr>
            <a:spLocks noChangeArrowheads="1"/>
          </p:cNvSpPr>
          <p:nvPr/>
        </p:nvSpPr>
        <p:spPr bwMode="auto">
          <a:xfrm>
            <a:off x="7035800" y="3962400"/>
            <a:ext cx="3124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92" name="Rectangle 12"/>
          <p:cNvSpPr>
            <a:spLocks noChangeArrowheads="1"/>
          </p:cNvSpPr>
          <p:nvPr/>
        </p:nvSpPr>
        <p:spPr bwMode="auto">
          <a:xfrm>
            <a:off x="3683000" y="3962400"/>
            <a:ext cx="3352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93" name="Rectangle 13"/>
          <p:cNvSpPr>
            <a:spLocks noChangeArrowheads="1"/>
          </p:cNvSpPr>
          <p:nvPr/>
        </p:nvSpPr>
        <p:spPr bwMode="auto">
          <a:xfrm>
            <a:off x="1930400" y="4186238"/>
            <a:ext cx="1752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分配律</a:t>
            </a:r>
          </a:p>
        </p:txBody>
      </p:sp>
      <p:sp>
        <p:nvSpPr>
          <p:cNvPr id="20494" name="Rectangle 14"/>
          <p:cNvSpPr>
            <a:spLocks noChangeArrowheads="1"/>
          </p:cNvSpPr>
          <p:nvPr/>
        </p:nvSpPr>
        <p:spPr bwMode="auto">
          <a:xfrm>
            <a:off x="7035800" y="3505200"/>
            <a:ext cx="312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95" name="Rectangle 15"/>
          <p:cNvSpPr>
            <a:spLocks noChangeArrowheads="1"/>
          </p:cNvSpPr>
          <p:nvPr/>
        </p:nvSpPr>
        <p:spPr bwMode="auto">
          <a:xfrm>
            <a:off x="3683000" y="35052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96" name="Rectangle 16"/>
          <p:cNvSpPr>
            <a:spLocks noChangeArrowheads="1"/>
          </p:cNvSpPr>
          <p:nvPr/>
        </p:nvSpPr>
        <p:spPr bwMode="auto">
          <a:xfrm>
            <a:off x="1930400" y="3805238"/>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结合律</a:t>
            </a:r>
          </a:p>
        </p:txBody>
      </p:sp>
      <p:sp>
        <p:nvSpPr>
          <p:cNvPr id="20497" name="Rectangle 17"/>
          <p:cNvSpPr>
            <a:spLocks noChangeArrowheads="1"/>
          </p:cNvSpPr>
          <p:nvPr/>
        </p:nvSpPr>
        <p:spPr bwMode="auto">
          <a:xfrm>
            <a:off x="7035800" y="3124200"/>
            <a:ext cx="3124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98" name="Rectangle 18"/>
          <p:cNvSpPr>
            <a:spLocks noChangeArrowheads="1"/>
          </p:cNvSpPr>
          <p:nvPr/>
        </p:nvSpPr>
        <p:spPr bwMode="auto">
          <a:xfrm>
            <a:off x="3683000" y="3124200"/>
            <a:ext cx="3352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499" name="Rectangle 19"/>
          <p:cNvSpPr>
            <a:spLocks noChangeArrowheads="1"/>
          </p:cNvSpPr>
          <p:nvPr/>
        </p:nvSpPr>
        <p:spPr bwMode="auto">
          <a:xfrm>
            <a:off x="1930400" y="3424238"/>
            <a:ext cx="1752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交换律</a:t>
            </a:r>
          </a:p>
        </p:txBody>
      </p:sp>
      <p:sp>
        <p:nvSpPr>
          <p:cNvPr id="20500" name="Rectangle 21"/>
          <p:cNvSpPr>
            <a:spLocks noChangeArrowheads="1"/>
          </p:cNvSpPr>
          <p:nvPr/>
        </p:nvSpPr>
        <p:spPr bwMode="auto">
          <a:xfrm>
            <a:off x="3683000" y="2743200"/>
            <a:ext cx="3352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501" name="Rectangle 22"/>
          <p:cNvSpPr>
            <a:spLocks noChangeArrowheads="1"/>
          </p:cNvSpPr>
          <p:nvPr/>
        </p:nvSpPr>
        <p:spPr bwMode="auto">
          <a:xfrm>
            <a:off x="1930400" y="3043238"/>
            <a:ext cx="1752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同一律</a:t>
            </a:r>
          </a:p>
        </p:txBody>
      </p:sp>
      <p:sp>
        <p:nvSpPr>
          <p:cNvPr id="20502" name="Rectangle 23"/>
          <p:cNvSpPr>
            <a:spLocks noChangeArrowheads="1"/>
          </p:cNvSpPr>
          <p:nvPr/>
        </p:nvSpPr>
        <p:spPr bwMode="auto">
          <a:xfrm>
            <a:off x="7035800" y="2425700"/>
            <a:ext cx="31242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503" name="Rectangle 24"/>
          <p:cNvSpPr>
            <a:spLocks noChangeArrowheads="1"/>
          </p:cNvSpPr>
          <p:nvPr/>
        </p:nvSpPr>
        <p:spPr bwMode="auto">
          <a:xfrm>
            <a:off x="3683000" y="2425700"/>
            <a:ext cx="33528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latin typeface="Times New Roman" panose="02020603050405020304" pitchFamily="18" charset="0"/>
              <a:ea typeface="宋体" panose="02010600030101010101" pitchFamily="2" charset="-122"/>
            </a:endParaRPr>
          </a:p>
        </p:txBody>
      </p:sp>
      <p:sp>
        <p:nvSpPr>
          <p:cNvPr id="20504" name="Rectangle 27"/>
          <p:cNvSpPr>
            <a:spLocks noChangeArrowheads="1"/>
          </p:cNvSpPr>
          <p:nvPr/>
        </p:nvSpPr>
        <p:spPr bwMode="auto">
          <a:xfrm>
            <a:off x="3683000" y="1736726"/>
            <a:ext cx="33528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solidFill>
                <a:srgbClr val="FF3300"/>
              </a:solidFill>
              <a:latin typeface="Times New Roman" panose="02020603050405020304" pitchFamily="18" charset="0"/>
              <a:ea typeface="宋体" panose="02010600030101010101" pitchFamily="2" charset="-122"/>
            </a:endParaRPr>
          </a:p>
        </p:txBody>
      </p:sp>
      <p:sp>
        <p:nvSpPr>
          <p:cNvPr id="20505" name="Rectangle 28"/>
          <p:cNvSpPr>
            <a:spLocks noChangeArrowheads="1"/>
          </p:cNvSpPr>
          <p:nvPr/>
        </p:nvSpPr>
        <p:spPr bwMode="auto">
          <a:xfrm>
            <a:off x="3683000" y="1219201"/>
            <a:ext cx="3352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30000"/>
              </a:lnSpc>
            </a:pPr>
            <a:r>
              <a:rPr lang="zh-CN" altLang="en-US">
                <a:solidFill>
                  <a:srgbClr val="FF3300"/>
                </a:solidFill>
                <a:latin typeface="Times New Roman" panose="02020603050405020304" pitchFamily="18" charset="0"/>
                <a:ea typeface="宋体" panose="02010600030101010101" pitchFamily="2" charset="-122"/>
              </a:rPr>
              <a:t>公 式 </a:t>
            </a:r>
            <a:r>
              <a:rPr lang="en-US" altLang="zh-CN">
                <a:solidFill>
                  <a:srgbClr val="FF3300"/>
                </a:solidFill>
                <a:latin typeface="Times New Roman" panose="02020603050405020304" pitchFamily="18" charset="0"/>
                <a:ea typeface="宋体" panose="02010600030101010101" pitchFamily="2" charset="-122"/>
              </a:rPr>
              <a:t>1</a:t>
            </a:r>
          </a:p>
        </p:txBody>
      </p:sp>
      <p:sp>
        <p:nvSpPr>
          <p:cNvPr id="20506" name="Rectangle 29"/>
          <p:cNvSpPr>
            <a:spLocks noChangeArrowheads="1"/>
          </p:cNvSpPr>
          <p:nvPr/>
        </p:nvSpPr>
        <p:spPr bwMode="auto">
          <a:xfrm>
            <a:off x="7035800" y="1736726"/>
            <a:ext cx="31242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en-US">
              <a:solidFill>
                <a:srgbClr val="FF3300"/>
              </a:solidFill>
              <a:latin typeface="Times New Roman" panose="02020603050405020304" pitchFamily="18" charset="0"/>
              <a:ea typeface="宋体" panose="02010600030101010101" pitchFamily="2" charset="-122"/>
            </a:endParaRPr>
          </a:p>
        </p:txBody>
      </p:sp>
      <p:sp>
        <p:nvSpPr>
          <p:cNvPr id="20507" name="Rectangle 30"/>
          <p:cNvSpPr>
            <a:spLocks noChangeArrowheads="1"/>
          </p:cNvSpPr>
          <p:nvPr/>
        </p:nvSpPr>
        <p:spPr bwMode="auto">
          <a:xfrm>
            <a:off x="1930400" y="1736726"/>
            <a:ext cx="1752600"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80000"/>
              </a:lnSpc>
            </a:pPr>
            <a:r>
              <a:rPr lang="en-US" altLang="zh-CN">
                <a:latin typeface="Times New Roman" panose="02020603050405020304" pitchFamily="18" charset="0"/>
                <a:ea typeface="宋体" panose="02010600030101010101" pitchFamily="2" charset="-122"/>
              </a:rPr>
              <a:t>1—0</a:t>
            </a:r>
            <a:r>
              <a:rPr lang="zh-CN" altLang="en-US">
                <a:latin typeface="Times New Roman" panose="02020603050405020304" pitchFamily="18" charset="0"/>
                <a:ea typeface="宋体" panose="02010600030101010101" pitchFamily="2" charset="-122"/>
              </a:rPr>
              <a:t>律</a:t>
            </a:r>
          </a:p>
        </p:txBody>
      </p:sp>
      <p:sp>
        <p:nvSpPr>
          <p:cNvPr id="20508" name="Rectangle 31"/>
          <p:cNvSpPr>
            <a:spLocks noChangeArrowheads="1"/>
          </p:cNvSpPr>
          <p:nvPr/>
        </p:nvSpPr>
        <p:spPr bwMode="auto">
          <a:xfrm>
            <a:off x="1930400" y="6035676"/>
            <a:ext cx="17526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附加律</a:t>
            </a:r>
          </a:p>
        </p:txBody>
      </p:sp>
      <p:sp>
        <p:nvSpPr>
          <p:cNvPr id="20509" name="Rectangle 32"/>
          <p:cNvSpPr>
            <a:spLocks noChangeArrowheads="1"/>
          </p:cNvSpPr>
          <p:nvPr/>
        </p:nvSpPr>
        <p:spPr bwMode="auto">
          <a:xfrm>
            <a:off x="1930400" y="1219201"/>
            <a:ext cx="17526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30000"/>
              </a:lnSpc>
            </a:pPr>
            <a:r>
              <a:rPr lang="zh-CN" altLang="en-US">
                <a:solidFill>
                  <a:srgbClr val="FF3300"/>
                </a:solidFill>
                <a:latin typeface="Times New Roman" panose="02020603050405020304" pitchFamily="18" charset="0"/>
                <a:ea typeface="宋体" panose="02010600030101010101" pitchFamily="2" charset="-122"/>
              </a:rPr>
              <a:t>名   称                           </a:t>
            </a:r>
          </a:p>
        </p:txBody>
      </p:sp>
      <p:sp>
        <p:nvSpPr>
          <p:cNvPr id="20510" name="Rectangle 34"/>
          <p:cNvSpPr>
            <a:spLocks noChangeArrowheads="1"/>
          </p:cNvSpPr>
          <p:nvPr/>
        </p:nvSpPr>
        <p:spPr bwMode="auto">
          <a:xfrm>
            <a:off x="7035800" y="1219201"/>
            <a:ext cx="3124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30000"/>
              </a:lnSpc>
            </a:pPr>
            <a:r>
              <a:rPr lang="zh-CN" altLang="en-US">
                <a:solidFill>
                  <a:srgbClr val="FF3300"/>
                </a:solidFill>
                <a:latin typeface="Times New Roman" panose="02020603050405020304" pitchFamily="18" charset="0"/>
                <a:ea typeface="宋体" panose="02010600030101010101" pitchFamily="2" charset="-122"/>
              </a:rPr>
              <a:t>公 式 </a:t>
            </a:r>
            <a:r>
              <a:rPr lang="en-US" altLang="zh-CN">
                <a:solidFill>
                  <a:srgbClr val="FF3300"/>
                </a:solidFill>
                <a:latin typeface="Times New Roman" panose="02020603050405020304" pitchFamily="18" charset="0"/>
                <a:ea typeface="宋体" panose="02010600030101010101" pitchFamily="2" charset="-122"/>
              </a:rPr>
              <a:t>2</a:t>
            </a:r>
          </a:p>
        </p:txBody>
      </p:sp>
      <p:sp>
        <p:nvSpPr>
          <p:cNvPr id="20511" name="Line 35"/>
          <p:cNvSpPr>
            <a:spLocks noChangeShapeType="1"/>
          </p:cNvSpPr>
          <p:nvPr/>
        </p:nvSpPr>
        <p:spPr bwMode="auto">
          <a:xfrm>
            <a:off x="1930400" y="1676400"/>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2" name="Line 36"/>
          <p:cNvSpPr>
            <a:spLocks noChangeShapeType="1"/>
          </p:cNvSpPr>
          <p:nvPr/>
        </p:nvSpPr>
        <p:spPr bwMode="auto">
          <a:xfrm>
            <a:off x="1930400" y="6629400"/>
            <a:ext cx="82296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3" name="Line 37"/>
          <p:cNvSpPr>
            <a:spLocks noChangeShapeType="1"/>
          </p:cNvSpPr>
          <p:nvPr/>
        </p:nvSpPr>
        <p:spPr bwMode="auto">
          <a:xfrm>
            <a:off x="1930400" y="1219200"/>
            <a:ext cx="0" cy="538480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4" name="Line 38"/>
          <p:cNvSpPr>
            <a:spLocks noChangeShapeType="1"/>
          </p:cNvSpPr>
          <p:nvPr/>
        </p:nvSpPr>
        <p:spPr bwMode="auto">
          <a:xfrm>
            <a:off x="10160000" y="1219200"/>
            <a:ext cx="0" cy="538480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5" name="Line 39"/>
          <p:cNvSpPr>
            <a:spLocks noChangeShapeType="1"/>
          </p:cNvSpPr>
          <p:nvPr/>
        </p:nvSpPr>
        <p:spPr bwMode="auto">
          <a:xfrm>
            <a:off x="1930400" y="1219200"/>
            <a:ext cx="8229600" cy="0"/>
          </a:xfrm>
          <a:prstGeom prst="line">
            <a:avLst/>
          </a:prstGeom>
          <a:noFill/>
          <a:ln w="28575" cap="sq">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6" name="Line 41"/>
          <p:cNvSpPr>
            <a:spLocks noChangeShapeType="1"/>
          </p:cNvSpPr>
          <p:nvPr/>
        </p:nvSpPr>
        <p:spPr bwMode="auto">
          <a:xfrm>
            <a:off x="4038600" y="1219200"/>
            <a:ext cx="0" cy="5384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7" name="Line 42"/>
          <p:cNvSpPr>
            <a:spLocks noChangeShapeType="1"/>
          </p:cNvSpPr>
          <p:nvPr/>
        </p:nvSpPr>
        <p:spPr bwMode="auto">
          <a:xfrm>
            <a:off x="7035800" y="1219200"/>
            <a:ext cx="0" cy="538480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8" name="Line 43"/>
          <p:cNvSpPr>
            <a:spLocks noChangeShapeType="1"/>
          </p:cNvSpPr>
          <p:nvPr/>
        </p:nvSpPr>
        <p:spPr bwMode="auto">
          <a:xfrm>
            <a:off x="1930400" y="266223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19" name="Line 45"/>
          <p:cNvSpPr>
            <a:spLocks noChangeShapeType="1"/>
          </p:cNvSpPr>
          <p:nvPr/>
        </p:nvSpPr>
        <p:spPr bwMode="auto">
          <a:xfrm>
            <a:off x="1930400" y="380523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20" name="Line 46"/>
          <p:cNvSpPr>
            <a:spLocks noChangeShapeType="1"/>
          </p:cNvSpPr>
          <p:nvPr/>
        </p:nvSpPr>
        <p:spPr bwMode="auto">
          <a:xfrm>
            <a:off x="1930400" y="418623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21" name="Line 47"/>
          <p:cNvSpPr>
            <a:spLocks noChangeShapeType="1"/>
          </p:cNvSpPr>
          <p:nvPr/>
        </p:nvSpPr>
        <p:spPr bwMode="auto">
          <a:xfrm>
            <a:off x="1930400" y="456723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22" name="Line 48"/>
          <p:cNvSpPr>
            <a:spLocks noChangeShapeType="1"/>
          </p:cNvSpPr>
          <p:nvPr/>
        </p:nvSpPr>
        <p:spPr bwMode="auto">
          <a:xfrm>
            <a:off x="1930400" y="5024438"/>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23" name="Line 49"/>
          <p:cNvSpPr>
            <a:spLocks noChangeShapeType="1"/>
          </p:cNvSpPr>
          <p:nvPr/>
        </p:nvSpPr>
        <p:spPr bwMode="auto">
          <a:xfrm>
            <a:off x="1930400" y="5715000"/>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0524" name="Object 51"/>
          <p:cNvGraphicFramePr>
            <a:graphicFrameLocks noChangeAspect="1"/>
          </p:cNvGraphicFramePr>
          <p:nvPr/>
        </p:nvGraphicFramePr>
        <p:xfrm>
          <a:off x="4826001" y="1714500"/>
          <a:ext cx="931863" cy="304800"/>
        </p:xfrm>
        <a:graphic>
          <a:graphicData uri="http://schemas.openxmlformats.org/presentationml/2006/ole">
            <mc:AlternateContent xmlns:mc="http://schemas.openxmlformats.org/markup-compatibility/2006">
              <mc:Choice xmlns:v="urn:schemas-microsoft-com:vml" Requires="v">
                <p:oleObj spid="_x0000_s2074" r:id="rId5" imgW="520700" imgH="165100" progId="Equation.3">
                  <p:embed/>
                </p:oleObj>
              </mc:Choice>
              <mc:Fallback>
                <p:oleObj r:id="rId5" imgW="520700" imgH="165100" progId="Equation.3">
                  <p:embed/>
                  <p:pic>
                    <p:nvPicPr>
                      <p:cNvPr id="0" name="Object 5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6001" y="1714500"/>
                        <a:ext cx="9318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25" name="Object 52"/>
          <p:cNvGraphicFramePr>
            <a:graphicFrameLocks noChangeAspect="1"/>
          </p:cNvGraphicFramePr>
          <p:nvPr/>
        </p:nvGraphicFramePr>
        <p:xfrm>
          <a:off x="4826001" y="2019301"/>
          <a:ext cx="931863" cy="328613"/>
        </p:xfrm>
        <a:graphic>
          <a:graphicData uri="http://schemas.openxmlformats.org/presentationml/2006/ole">
            <mc:AlternateContent xmlns:mc="http://schemas.openxmlformats.org/markup-compatibility/2006">
              <mc:Choice xmlns:v="urn:schemas-microsoft-com:vml" Requires="v">
                <p:oleObj spid="_x0000_s2075" r:id="rId7" imgW="520065" imgH="177800" progId="Equation.3">
                  <p:embed/>
                </p:oleObj>
              </mc:Choice>
              <mc:Fallback>
                <p:oleObj r:id="rId7" imgW="520065" imgH="177800" progId="Equation.3">
                  <p:embed/>
                  <p:pic>
                    <p:nvPicPr>
                      <p:cNvPr id="0" name="Object 5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6001" y="2019301"/>
                        <a:ext cx="931863"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26" name="Object 53"/>
          <p:cNvGraphicFramePr>
            <a:graphicFrameLocks noChangeAspect="1"/>
          </p:cNvGraphicFramePr>
          <p:nvPr/>
        </p:nvGraphicFramePr>
        <p:xfrm>
          <a:off x="8102601" y="1714500"/>
          <a:ext cx="993775" cy="298450"/>
        </p:xfrm>
        <a:graphic>
          <a:graphicData uri="http://schemas.openxmlformats.org/presentationml/2006/ole">
            <mc:AlternateContent xmlns:mc="http://schemas.openxmlformats.org/markup-compatibility/2006">
              <mc:Choice xmlns:v="urn:schemas-microsoft-com:vml" Requires="v">
                <p:oleObj spid="_x0000_s2076" r:id="rId9" imgW="609600" imgH="177800" progId="Equation.3">
                  <p:embed/>
                </p:oleObj>
              </mc:Choice>
              <mc:Fallback>
                <p:oleObj r:id="rId9" imgW="609600" imgH="177800" progId="Equation.3">
                  <p:embed/>
                  <p:pic>
                    <p:nvPicPr>
                      <p:cNvPr id="0" name="Object 5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02601" y="1714500"/>
                        <a:ext cx="99377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27" name="Object 54"/>
          <p:cNvGraphicFramePr>
            <a:graphicFrameLocks noChangeAspect="1"/>
          </p:cNvGraphicFramePr>
          <p:nvPr/>
        </p:nvGraphicFramePr>
        <p:xfrm>
          <a:off x="8102601" y="2019300"/>
          <a:ext cx="955675" cy="304800"/>
        </p:xfrm>
        <a:graphic>
          <a:graphicData uri="http://schemas.openxmlformats.org/presentationml/2006/ole">
            <mc:AlternateContent xmlns:mc="http://schemas.openxmlformats.org/markup-compatibility/2006">
              <mc:Choice xmlns:v="urn:schemas-microsoft-com:vml" Requires="v">
                <p:oleObj spid="_x0000_s2077" r:id="rId11" imgW="532765" imgH="165100" progId="Equation.3">
                  <p:embed/>
                </p:oleObj>
              </mc:Choice>
              <mc:Fallback>
                <p:oleObj r:id="rId11" imgW="532765" imgH="165100" progId="Equation.3">
                  <p:embed/>
                  <p:pic>
                    <p:nvPicPr>
                      <p:cNvPr id="0" name="Object 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102601" y="2019300"/>
                        <a:ext cx="9556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97687" name="Group 55"/>
          <p:cNvGrpSpPr/>
          <p:nvPr/>
        </p:nvGrpSpPr>
        <p:grpSpPr bwMode="auto">
          <a:xfrm>
            <a:off x="4826000" y="2286001"/>
            <a:ext cx="4165600" cy="392113"/>
            <a:chOff x="2160" y="1440"/>
            <a:chExt cx="2624" cy="247"/>
          </a:xfrm>
        </p:grpSpPr>
        <p:graphicFrame>
          <p:nvGraphicFramePr>
            <p:cNvPr id="20529" name="Object 56"/>
            <p:cNvGraphicFramePr>
              <a:graphicFrameLocks noChangeAspect="1"/>
            </p:cNvGraphicFramePr>
            <p:nvPr/>
          </p:nvGraphicFramePr>
          <p:xfrm>
            <a:off x="2160" y="1440"/>
            <a:ext cx="528" cy="247"/>
          </p:xfrm>
          <a:graphic>
            <a:graphicData uri="http://schemas.openxmlformats.org/presentationml/2006/ole">
              <mc:AlternateContent xmlns:mc="http://schemas.openxmlformats.org/markup-compatibility/2006">
                <mc:Choice xmlns:v="urn:schemas-microsoft-com:vml" Requires="v">
                  <p:oleObj spid="_x0000_s2078" r:id="rId13" imgW="481965" imgH="215900" progId="Equation.3">
                    <p:embed/>
                  </p:oleObj>
                </mc:Choice>
                <mc:Fallback>
                  <p:oleObj r:id="rId13" imgW="481965" imgH="215900" progId="Equation.3">
                    <p:embed/>
                    <p:pic>
                      <p:nvPicPr>
                        <p:cNvPr id="0" name="Object 5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60" y="1440"/>
                          <a:ext cx="52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30" name="Object 57"/>
            <p:cNvGraphicFramePr>
              <a:graphicFrameLocks noChangeAspect="1"/>
            </p:cNvGraphicFramePr>
            <p:nvPr/>
          </p:nvGraphicFramePr>
          <p:xfrm>
            <a:off x="4176" y="1440"/>
            <a:ext cx="608" cy="221"/>
          </p:xfrm>
          <a:graphic>
            <a:graphicData uri="http://schemas.openxmlformats.org/presentationml/2006/ole">
              <mc:AlternateContent xmlns:mc="http://schemas.openxmlformats.org/markup-compatibility/2006">
                <mc:Choice xmlns:v="urn:schemas-microsoft-com:vml" Requires="v">
                  <p:oleObj spid="_x0000_s2079" r:id="rId15" imgW="584200" imgH="203200" progId="Equation.3">
                    <p:embed/>
                  </p:oleObj>
                </mc:Choice>
                <mc:Fallback>
                  <p:oleObj r:id="rId15" imgW="584200" imgH="203200" progId="Equation.3">
                    <p:embed/>
                    <p:pic>
                      <p:nvPicPr>
                        <p:cNvPr id="0" name="Object 5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76" y="1440"/>
                          <a:ext cx="60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20531" name="Group 86"/>
          <p:cNvGrpSpPr/>
          <p:nvPr/>
        </p:nvGrpSpPr>
        <p:grpSpPr bwMode="auto">
          <a:xfrm>
            <a:off x="4826001" y="3048000"/>
            <a:ext cx="4360863" cy="304800"/>
            <a:chOff x="2080" y="2016"/>
            <a:chExt cx="2747" cy="192"/>
          </a:xfrm>
        </p:grpSpPr>
        <p:graphicFrame>
          <p:nvGraphicFramePr>
            <p:cNvPr id="20532" name="Object 59"/>
            <p:cNvGraphicFramePr>
              <a:graphicFrameLocks noChangeAspect="1"/>
            </p:cNvGraphicFramePr>
            <p:nvPr/>
          </p:nvGraphicFramePr>
          <p:xfrm>
            <a:off x="2080" y="2016"/>
            <a:ext cx="658" cy="192"/>
          </p:xfrm>
          <a:graphic>
            <a:graphicData uri="http://schemas.openxmlformats.org/presentationml/2006/ole">
              <mc:AlternateContent xmlns:mc="http://schemas.openxmlformats.org/markup-compatibility/2006">
                <mc:Choice xmlns:v="urn:schemas-microsoft-com:vml" Requires="v">
                  <p:oleObj spid="_x0000_s2080" r:id="rId17" imgW="583565" imgH="165100" progId="Equation.3">
                    <p:embed/>
                  </p:oleObj>
                </mc:Choice>
                <mc:Fallback>
                  <p:oleObj r:id="rId17" imgW="583565" imgH="165100" progId="Equation.3">
                    <p:embed/>
                    <p:pic>
                      <p:nvPicPr>
                        <p:cNvPr id="0" name="Object 5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80" y="2016"/>
                          <a:ext cx="65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33" name="Object 60"/>
            <p:cNvGraphicFramePr>
              <a:graphicFrameLocks noChangeAspect="1"/>
            </p:cNvGraphicFramePr>
            <p:nvPr/>
          </p:nvGraphicFramePr>
          <p:xfrm>
            <a:off x="4096" y="2016"/>
            <a:ext cx="731" cy="192"/>
          </p:xfrm>
          <a:graphic>
            <a:graphicData uri="http://schemas.openxmlformats.org/presentationml/2006/ole">
              <mc:AlternateContent xmlns:mc="http://schemas.openxmlformats.org/markup-compatibility/2006">
                <mc:Choice xmlns:v="urn:schemas-microsoft-com:vml" Requires="v">
                  <p:oleObj spid="_x0000_s2081" r:id="rId19" imgW="647700" imgH="165100" progId="Equation.3">
                    <p:embed/>
                  </p:oleObj>
                </mc:Choice>
                <mc:Fallback>
                  <p:oleObj r:id="rId19" imgW="647700" imgH="165100" progId="Equation.3">
                    <p:embed/>
                    <p:pic>
                      <p:nvPicPr>
                        <p:cNvPr id="0" name="Object 6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96" y="2016"/>
                          <a:ext cx="73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97693" name="Group 61"/>
          <p:cNvGrpSpPr/>
          <p:nvPr/>
        </p:nvGrpSpPr>
        <p:grpSpPr bwMode="auto">
          <a:xfrm>
            <a:off x="4673600" y="3429000"/>
            <a:ext cx="4775200" cy="304800"/>
            <a:chOff x="2064" y="1968"/>
            <a:chExt cx="3051" cy="192"/>
          </a:xfrm>
        </p:grpSpPr>
        <p:graphicFrame>
          <p:nvGraphicFramePr>
            <p:cNvPr id="20535" name="Object 62"/>
            <p:cNvGraphicFramePr>
              <a:graphicFrameLocks noChangeAspect="1"/>
            </p:cNvGraphicFramePr>
            <p:nvPr/>
          </p:nvGraphicFramePr>
          <p:xfrm>
            <a:off x="2064" y="1968"/>
            <a:ext cx="859" cy="192"/>
          </p:xfrm>
          <a:graphic>
            <a:graphicData uri="http://schemas.openxmlformats.org/presentationml/2006/ole">
              <mc:AlternateContent xmlns:mc="http://schemas.openxmlformats.org/markup-compatibility/2006">
                <mc:Choice xmlns:v="urn:schemas-microsoft-com:vml" Requires="v">
                  <p:oleObj spid="_x0000_s2082" r:id="rId21" imgW="761365" imgH="165100" progId="Equation.3">
                    <p:embed/>
                  </p:oleObj>
                </mc:Choice>
                <mc:Fallback>
                  <p:oleObj r:id="rId21" imgW="761365" imgH="165100" progId="Equation.3">
                    <p:embed/>
                    <p:pic>
                      <p:nvPicPr>
                        <p:cNvPr id="0" name="Object 6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64" y="1968"/>
                          <a:ext cx="8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36" name="Object 63"/>
            <p:cNvGraphicFramePr>
              <a:graphicFrameLocks noChangeAspect="1"/>
            </p:cNvGraphicFramePr>
            <p:nvPr/>
          </p:nvGraphicFramePr>
          <p:xfrm>
            <a:off x="4128" y="1968"/>
            <a:ext cx="987" cy="192"/>
          </p:xfrm>
          <a:graphic>
            <a:graphicData uri="http://schemas.openxmlformats.org/presentationml/2006/ole">
              <mc:AlternateContent xmlns:mc="http://schemas.openxmlformats.org/markup-compatibility/2006">
                <mc:Choice xmlns:v="urn:schemas-microsoft-com:vml" Requires="v">
                  <p:oleObj spid="_x0000_s2083" r:id="rId23" imgW="875665" imgH="165100" progId="Equation.3">
                    <p:embed/>
                  </p:oleObj>
                </mc:Choice>
                <mc:Fallback>
                  <p:oleObj r:id="rId23" imgW="875665" imgH="165100" progId="Equation.3">
                    <p:embed/>
                    <p:pic>
                      <p:nvPicPr>
                        <p:cNvPr id="0" name="Object 6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28" y="1968"/>
                          <a:ext cx="9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97696" name="Group 64"/>
          <p:cNvGrpSpPr/>
          <p:nvPr/>
        </p:nvGrpSpPr>
        <p:grpSpPr bwMode="auto">
          <a:xfrm>
            <a:off x="4597400" y="3810000"/>
            <a:ext cx="5257800" cy="323850"/>
            <a:chOff x="2016" y="2208"/>
            <a:chExt cx="3312" cy="204"/>
          </a:xfrm>
        </p:grpSpPr>
        <p:graphicFrame>
          <p:nvGraphicFramePr>
            <p:cNvPr id="20538" name="Object 65"/>
            <p:cNvGraphicFramePr>
              <a:graphicFrameLocks noChangeAspect="1"/>
            </p:cNvGraphicFramePr>
            <p:nvPr/>
          </p:nvGraphicFramePr>
          <p:xfrm>
            <a:off x="2016" y="2208"/>
            <a:ext cx="1008" cy="203"/>
          </p:xfrm>
          <a:graphic>
            <a:graphicData uri="http://schemas.openxmlformats.org/presentationml/2006/ole">
              <mc:AlternateContent xmlns:mc="http://schemas.openxmlformats.org/markup-compatibility/2006">
                <mc:Choice xmlns:v="urn:schemas-microsoft-com:vml" Requires="v">
                  <p:oleObj spid="_x0000_s2084" r:id="rId25" imgW="1040765" imgH="203200" progId="Equation.3">
                    <p:embed/>
                  </p:oleObj>
                </mc:Choice>
                <mc:Fallback>
                  <p:oleObj r:id="rId25" imgW="1040765" imgH="203200" progId="Equation.3">
                    <p:embed/>
                    <p:pic>
                      <p:nvPicPr>
                        <p:cNvPr id="0" name="Object 6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16" y="2208"/>
                          <a:ext cx="1008"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39" name="Object 66"/>
            <p:cNvGraphicFramePr>
              <a:graphicFrameLocks noChangeAspect="1"/>
            </p:cNvGraphicFramePr>
            <p:nvPr/>
          </p:nvGraphicFramePr>
          <p:xfrm>
            <a:off x="3792" y="2208"/>
            <a:ext cx="1536" cy="204"/>
          </p:xfrm>
          <a:graphic>
            <a:graphicData uri="http://schemas.openxmlformats.org/presentationml/2006/ole">
              <mc:AlternateContent xmlns:mc="http://schemas.openxmlformats.org/markup-compatibility/2006">
                <mc:Choice xmlns:v="urn:schemas-microsoft-com:vml" Requires="v">
                  <p:oleObj spid="_x0000_s2085" r:id="rId27" imgW="1574800" imgH="203200" progId="Equation.3">
                    <p:embed/>
                  </p:oleObj>
                </mc:Choice>
                <mc:Fallback>
                  <p:oleObj r:id="rId27" imgW="1574800" imgH="203200" progId="Equation.3">
                    <p:embed/>
                    <p:pic>
                      <p:nvPicPr>
                        <p:cNvPr id="0" name="Object 66"/>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792" y="2208"/>
                          <a:ext cx="1536"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97699" name="Group 67"/>
          <p:cNvGrpSpPr/>
          <p:nvPr/>
        </p:nvGrpSpPr>
        <p:grpSpPr bwMode="auto">
          <a:xfrm>
            <a:off x="4521200" y="4267201"/>
            <a:ext cx="5405438" cy="328613"/>
            <a:chOff x="1968" y="2496"/>
            <a:chExt cx="3405" cy="207"/>
          </a:xfrm>
        </p:grpSpPr>
        <p:graphicFrame>
          <p:nvGraphicFramePr>
            <p:cNvPr id="20541" name="Object 68"/>
            <p:cNvGraphicFramePr>
              <a:graphicFrameLocks noChangeAspect="1"/>
            </p:cNvGraphicFramePr>
            <p:nvPr/>
          </p:nvGraphicFramePr>
          <p:xfrm>
            <a:off x="1968" y="2496"/>
            <a:ext cx="1296" cy="207"/>
          </p:xfrm>
          <a:graphic>
            <a:graphicData uri="http://schemas.openxmlformats.org/presentationml/2006/ole">
              <mc:AlternateContent xmlns:mc="http://schemas.openxmlformats.org/markup-compatibility/2006">
                <mc:Choice xmlns:v="urn:schemas-microsoft-com:vml" Requires="v">
                  <p:oleObj spid="_x0000_s2086" r:id="rId29" imgW="1307465" imgH="203200" progId="Equation.3">
                    <p:embed/>
                  </p:oleObj>
                </mc:Choice>
                <mc:Fallback>
                  <p:oleObj r:id="rId29" imgW="1307465" imgH="203200" progId="Equation.3">
                    <p:embed/>
                    <p:pic>
                      <p:nvPicPr>
                        <p:cNvPr id="0" name="Object 6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968" y="2496"/>
                          <a:ext cx="12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42" name="Object 69"/>
            <p:cNvGraphicFramePr>
              <a:graphicFrameLocks noChangeAspect="1"/>
            </p:cNvGraphicFramePr>
            <p:nvPr/>
          </p:nvGraphicFramePr>
          <p:xfrm>
            <a:off x="3792" y="2496"/>
            <a:ext cx="1581" cy="201"/>
          </p:xfrm>
          <a:graphic>
            <a:graphicData uri="http://schemas.openxmlformats.org/presentationml/2006/ole">
              <mc:AlternateContent xmlns:mc="http://schemas.openxmlformats.org/markup-compatibility/2006">
                <mc:Choice xmlns:v="urn:schemas-microsoft-com:vml" Requires="v">
                  <p:oleObj spid="_x0000_s2087" r:id="rId31" imgW="1651000" imgH="203200" progId="Equation.3">
                    <p:embed/>
                  </p:oleObj>
                </mc:Choice>
                <mc:Fallback>
                  <p:oleObj r:id="rId31" imgW="1651000" imgH="203200" progId="Equation.3">
                    <p:embed/>
                    <p:pic>
                      <p:nvPicPr>
                        <p:cNvPr id="0" name="Object 6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792" y="2496"/>
                          <a:ext cx="1581"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97702" name="Group 70"/>
          <p:cNvGrpSpPr/>
          <p:nvPr/>
        </p:nvGrpSpPr>
        <p:grpSpPr bwMode="auto">
          <a:xfrm>
            <a:off x="4826001" y="4514850"/>
            <a:ext cx="4481513" cy="438150"/>
            <a:chOff x="2160" y="2688"/>
            <a:chExt cx="2823" cy="276"/>
          </a:xfrm>
        </p:grpSpPr>
        <p:graphicFrame>
          <p:nvGraphicFramePr>
            <p:cNvPr id="20544" name="Object 71"/>
            <p:cNvGraphicFramePr>
              <a:graphicFrameLocks noChangeAspect="1"/>
            </p:cNvGraphicFramePr>
            <p:nvPr/>
          </p:nvGraphicFramePr>
          <p:xfrm>
            <a:off x="2160" y="2736"/>
            <a:ext cx="816" cy="228"/>
          </p:xfrm>
          <a:graphic>
            <a:graphicData uri="http://schemas.openxmlformats.org/presentationml/2006/ole">
              <mc:AlternateContent xmlns:mc="http://schemas.openxmlformats.org/markup-compatibility/2006">
                <mc:Choice xmlns:v="urn:schemas-microsoft-com:vml" Requires="v">
                  <p:oleObj spid="_x0000_s2088" r:id="rId33" imgW="673100" imgH="190500" progId="Equation.3">
                    <p:embed/>
                  </p:oleObj>
                </mc:Choice>
                <mc:Fallback>
                  <p:oleObj r:id="rId33" imgW="673100" imgH="190500" progId="Equation.3">
                    <p:embed/>
                    <p:pic>
                      <p:nvPicPr>
                        <p:cNvPr id="0" name="Object 7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160" y="2736"/>
                          <a:ext cx="81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45" name="Object 72"/>
            <p:cNvGraphicFramePr>
              <a:graphicFrameLocks noChangeAspect="1"/>
            </p:cNvGraphicFramePr>
            <p:nvPr/>
          </p:nvGraphicFramePr>
          <p:xfrm>
            <a:off x="4128" y="2688"/>
            <a:ext cx="855" cy="252"/>
          </p:xfrm>
          <a:graphic>
            <a:graphicData uri="http://schemas.openxmlformats.org/presentationml/2006/ole">
              <mc:AlternateContent xmlns:mc="http://schemas.openxmlformats.org/markup-compatibility/2006">
                <mc:Choice xmlns:v="urn:schemas-microsoft-com:vml" Requires="v">
                  <p:oleObj spid="_x0000_s2089" r:id="rId35" imgW="723900" imgH="215900" progId="Equation.3">
                    <p:embed/>
                  </p:oleObj>
                </mc:Choice>
                <mc:Fallback>
                  <p:oleObj r:id="rId35" imgW="723900" imgH="215900" progId="Equation.3">
                    <p:embed/>
                    <p:pic>
                      <p:nvPicPr>
                        <p:cNvPr id="0" name="Object 72"/>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4128" y="2688"/>
                          <a:ext cx="85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pSp>
        <p:nvGrpSpPr>
          <p:cNvPr id="197705" name="Group 73"/>
          <p:cNvGrpSpPr/>
          <p:nvPr/>
        </p:nvGrpSpPr>
        <p:grpSpPr bwMode="auto">
          <a:xfrm>
            <a:off x="4597401" y="5029200"/>
            <a:ext cx="4587875" cy="355600"/>
            <a:chOff x="2016" y="3072"/>
            <a:chExt cx="2890" cy="224"/>
          </a:xfrm>
        </p:grpSpPr>
        <p:graphicFrame>
          <p:nvGraphicFramePr>
            <p:cNvPr id="20547" name="Object 74"/>
            <p:cNvGraphicFramePr>
              <a:graphicFrameLocks noChangeAspect="1"/>
            </p:cNvGraphicFramePr>
            <p:nvPr/>
          </p:nvGraphicFramePr>
          <p:xfrm>
            <a:off x="2016" y="3072"/>
            <a:ext cx="912" cy="224"/>
          </p:xfrm>
          <a:graphic>
            <a:graphicData uri="http://schemas.openxmlformats.org/presentationml/2006/ole">
              <mc:AlternateContent xmlns:mc="http://schemas.openxmlformats.org/markup-compatibility/2006">
                <mc:Choice xmlns:v="urn:schemas-microsoft-com:vml" Requires="v">
                  <p:oleObj spid="_x0000_s2090" r:id="rId37" imgW="850265" imgH="203200" progId="Equation.3">
                    <p:embed/>
                  </p:oleObj>
                </mc:Choice>
                <mc:Fallback>
                  <p:oleObj r:id="rId37" imgW="850265" imgH="203200" progId="Equation.3">
                    <p:embed/>
                    <p:pic>
                      <p:nvPicPr>
                        <p:cNvPr id="0" name="Object 7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016" y="3072"/>
                          <a:ext cx="91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48" name="Object 75"/>
            <p:cNvGraphicFramePr>
              <a:graphicFrameLocks noChangeAspect="1"/>
            </p:cNvGraphicFramePr>
            <p:nvPr/>
          </p:nvGraphicFramePr>
          <p:xfrm>
            <a:off x="4176" y="3072"/>
            <a:ext cx="730" cy="168"/>
          </p:xfrm>
          <a:graphic>
            <a:graphicData uri="http://schemas.openxmlformats.org/presentationml/2006/ole">
              <mc:AlternateContent xmlns:mc="http://schemas.openxmlformats.org/markup-compatibility/2006">
                <mc:Choice xmlns:v="urn:schemas-microsoft-com:vml" Requires="v">
                  <p:oleObj spid="_x0000_s2091" r:id="rId39" imgW="735965" imgH="165100" progId="Equation.3">
                    <p:embed/>
                  </p:oleObj>
                </mc:Choice>
                <mc:Fallback>
                  <p:oleObj r:id="rId39" imgW="735965" imgH="165100" progId="Equation.3">
                    <p:embed/>
                    <p:pic>
                      <p:nvPicPr>
                        <p:cNvPr id="0" name="Object 75"/>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176" y="3072"/>
                          <a:ext cx="730"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20549" name="Object 77"/>
          <p:cNvGraphicFramePr>
            <a:graphicFrameLocks noChangeAspect="1"/>
          </p:cNvGraphicFramePr>
          <p:nvPr/>
        </p:nvGraphicFramePr>
        <p:xfrm>
          <a:off x="4572000" y="5257800"/>
          <a:ext cx="1524000" cy="484188"/>
        </p:xfrm>
        <a:graphic>
          <a:graphicData uri="http://schemas.openxmlformats.org/presentationml/2006/ole">
            <mc:AlternateContent xmlns:mc="http://schemas.openxmlformats.org/markup-compatibility/2006">
              <mc:Choice xmlns:v="urn:schemas-microsoft-com:vml" Requires="v">
                <p:oleObj spid="_x0000_s2092" r:id="rId41" imgW="736600" imgH="203200" progId="Equation.3">
                  <p:embed/>
                </p:oleObj>
              </mc:Choice>
              <mc:Fallback>
                <p:oleObj r:id="rId41" imgW="736600" imgH="203200" progId="Equation.3">
                  <p:embed/>
                  <p:pic>
                    <p:nvPicPr>
                      <p:cNvPr id="0" name="Object 77"/>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4572000" y="5257800"/>
                        <a:ext cx="1524000"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50" name="Object 78"/>
          <p:cNvGraphicFramePr>
            <a:graphicFrameLocks noChangeAspect="1"/>
          </p:cNvGraphicFramePr>
          <p:nvPr/>
        </p:nvGraphicFramePr>
        <p:xfrm>
          <a:off x="7775575" y="5257800"/>
          <a:ext cx="1520825" cy="425450"/>
        </p:xfrm>
        <a:graphic>
          <a:graphicData uri="http://schemas.openxmlformats.org/presentationml/2006/ole">
            <mc:AlternateContent xmlns:mc="http://schemas.openxmlformats.org/markup-compatibility/2006">
              <mc:Choice xmlns:v="urn:schemas-microsoft-com:vml" Requires="v">
                <p:oleObj spid="_x0000_s2093" r:id="rId43" imgW="748665" imgH="177800" progId="Equation.3">
                  <p:embed/>
                </p:oleObj>
              </mc:Choice>
              <mc:Fallback>
                <p:oleObj r:id="rId43" imgW="748665" imgH="177800" progId="Equation.3">
                  <p:embed/>
                  <p:pic>
                    <p:nvPicPr>
                      <p:cNvPr id="0" name="Object 78"/>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7775575" y="5257800"/>
                        <a:ext cx="152082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551" name="Text Box 80"/>
          <p:cNvSpPr txBox="1">
            <a:spLocks noChangeArrowheads="1"/>
          </p:cNvSpPr>
          <p:nvPr/>
        </p:nvSpPr>
        <p:spPr bwMode="auto">
          <a:xfrm>
            <a:off x="8872538" y="223839"/>
            <a:ext cx="184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p>
            <a:pPr algn="ctr">
              <a:spcBef>
                <a:spcPct val="50000"/>
              </a:spcBef>
            </a:pPr>
            <a:endParaRPr lang="zh-CN" altLang="en-US" sz="3200">
              <a:solidFill>
                <a:schemeClr val="accent2"/>
              </a:solidFill>
              <a:latin typeface="黑体" panose="02010609060101010101" pitchFamily="49" charset="-122"/>
              <a:ea typeface="黑体" panose="02010609060101010101" pitchFamily="49" charset="-122"/>
            </a:endParaRPr>
          </a:p>
        </p:txBody>
      </p:sp>
      <p:sp>
        <p:nvSpPr>
          <p:cNvPr id="20552" name="Rectangle 83"/>
          <p:cNvSpPr>
            <a:spLocks noChangeArrowheads="1"/>
          </p:cNvSpPr>
          <p:nvPr/>
        </p:nvSpPr>
        <p:spPr bwMode="auto">
          <a:xfrm>
            <a:off x="1905000" y="2632076"/>
            <a:ext cx="1752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latin typeface="Times New Roman" panose="02020603050405020304" pitchFamily="18" charset="0"/>
                <a:ea typeface="宋体" panose="02010600030101010101" pitchFamily="2" charset="-122"/>
              </a:rPr>
              <a:t>还原律</a:t>
            </a:r>
          </a:p>
        </p:txBody>
      </p:sp>
      <p:sp>
        <p:nvSpPr>
          <p:cNvPr id="20553" name="Line 84"/>
          <p:cNvSpPr>
            <a:spLocks noChangeShapeType="1"/>
          </p:cNvSpPr>
          <p:nvPr/>
        </p:nvSpPr>
        <p:spPr bwMode="auto">
          <a:xfrm>
            <a:off x="1905000" y="3048000"/>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554" name="Line 85"/>
          <p:cNvSpPr>
            <a:spLocks noChangeShapeType="1"/>
          </p:cNvSpPr>
          <p:nvPr/>
        </p:nvSpPr>
        <p:spPr bwMode="auto">
          <a:xfrm>
            <a:off x="1905000" y="3429000"/>
            <a:ext cx="822960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97719" name="Object 87"/>
          <p:cNvGraphicFramePr>
            <a:graphicFrameLocks noChangeAspect="1"/>
          </p:cNvGraphicFramePr>
          <p:nvPr/>
        </p:nvGraphicFramePr>
        <p:xfrm>
          <a:off x="4953000" y="2632076"/>
          <a:ext cx="685800" cy="415925"/>
        </p:xfrm>
        <a:graphic>
          <a:graphicData uri="http://schemas.openxmlformats.org/presentationml/2006/ole">
            <mc:AlternateContent xmlns:mc="http://schemas.openxmlformats.org/markup-compatibility/2006">
              <mc:Choice xmlns:v="urn:schemas-microsoft-com:vml" Requires="v">
                <p:oleObj spid="_x0000_s2094" r:id="rId45" imgW="317500" imgH="190500" progId="Equation.3">
                  <p:embed/>
                </p:oleObj>
              </mc:Choice>
              <mc:Fallback>
                <p:oleObj r:id="rId45" imgW="317500" imgH="190500" progId="Equation.3">
                  <p:embed/>
                  <p:pic>
                    <p:nvPicPr>
                      <p:cNvPr id="0" name="Object 87"/>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953000" y="2632076"/>
                        <a:ext cx="6858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556" name="Rectangle 88"/>
          <p:cNvSpPr>
            <a:spLocks noChangeArrowheads="1"/>
          </p:cNvSpPr>
          <p:nvPr/>
        </p:nvSpPr>
        <p:spPr bwMode="auto">
          <a:xfrm>
            <a:off x="7086600" y="2632076"/>
            <a:ext cx="312420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zh-CN" altLang="en-US">
                <a:solidFill>
                  <a:srgbClr val="FF0000"/>
                </a:solidFill>
                <a:latin typeface="Times New Roman" panose="02020603050405020304" pitchFamily="18" charset="0"/>
                <a:ea typeface="宋体" panose="02010600030101010101" pitchFamily="2" charset="-122"/>
              </a:rPr>
              <a:t>否定之否定规律</a:t>
            </a:r>
          </a:p>
        </p:txBody>
      </p:sp>
      <p:sp>
        <p:nvSpPr>
          <p:cNvPr id="20557" name="Rectangle 91"/>
          <p:cNvSpPr>
            <a:spLocks noChangeArrowheads="1"/>
          </p:cNvSpPr>
          <p:nvPr/>
        </p:nvSpPr>
        <p:spPr bwMode="auto">
          <a:xfrm>
            <a:off x="1524001" y="31443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ea typeface="宋体" panose="02010600030101010101" pitchFamily="2" charset="-122"/>
            </a:endParaRPr>
          </a:p>
        </p:txBody>
      </p:sp>
      <p:graphicFrame>
        <p:nvGraphicFramePr>
          <p:cNvPr id="20558" name="Object 90"/>
          <p:cNvGraphicFramePr>
            <a:graphicFrameLocks noChangeAspect="1"/>
          </p:cNvGraphicFramePr>
          <p:nvPr/>
        </p:nvGraphicFramePr>
        <p:xfrm>
          <a:off x="4114800" y="5988050"/>
          <a:ext cx="2895600" cy="336550"/>
        </p:xfrm>
        <a:graphic>
          <a:graphicData uri="http://schemas.openxmlformats.org/presentationml/2006/ole">
            <mc:AlternateContent xmlns:mc="http://schemas.openxmlformats.org/markup-compatibility/2006">
              <mc:Choice xmlns:v="urn:schemas-microsoft-com:vml" Requires="v">
                <p:oleObj spid="_x0000_s2095" r:id="rId47" imgW="1726565" imgH="203200" progId="Equation.3">
                  <p:embed/>
                </p:oleObj>
              </mc:Choice>
              <mc:Fallback>
                <p:oleObj r:id="rId47" imgW="1726565" imgH="203200" progId="Equation.3">
                  <p:embed/>
                  <p:pic>
                    <p:nvPicPr>
                      <p:cNvPr id="0" name="Object 90"/>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114800" y="5988050"/>
                        <a:ext cx="2895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0559" name="Object 92"/>
          <p:cNvGraphicFramePr>
            <a:graphicFrameLocks noChangeAspect="1"/>
          </p:cNvGraphicFramePr>
          <p:nvPr/>
        </p:nvGraphicFramePr>
        <p:xfrm>
          <a:off x="7743826" y="6008688"/>
          <a:ext cx="1427163" cy="315912"/>
        </p:xfrm>
        <a:graphic>
          <a:graphicData uri="http://schemas.openxmlformats.org/presentationml/2006/ole">
            <mc:AlternateContent xmlns:mc="http://schemas.openxmlformats.org/markup-compatibility/2006">
              <mc:Choice xmlns:v="urn:schemas-microsoft-com:vml" Requires="v">
                <p:oleObj spid="_x0000_s2096" r:id="rId49" imgW="850265" imgH="190500" progId="Equation.3">
                  <p:embed/>
                </p:oleObj>
              </mc:Choice>
              <mc:Fallback>
                <p:oleObj r:id="rId49" imgW="850265" imgH="190500" progId="Equation.3">
                  <p:embed/>
                  <p:pic>
                    <p:nvPicPr>
                      <p:cNvPr id="0" name="Object 92"/>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7743826" y="6008688"/>
                        <a:ext cx="14271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97714" name="Text Box 82"/>
          <p:cNvSpPr txBox="1">
            <a:spLocks noChangeArrowheads="1"/>
          </p:cNvSpPr>
          <p:nvPr/>
        </p:nvSpPr>
        <p:spPr bwMode="auto">
          <a:xfrm>
            <a:off x="7151688" y="5665788"/>
            <a:ext cx="3810000" cy="977900"/>
          </a:xfrm>
          <a:prstGeom prst="rect">
            <a:avLst/>
          </a:prstGeom>
          <a:solidFill>
            <a:srgbClr val="FFCCFF"/>
          </a:solidFill>
          <a:ln w="31750">
            <a:solidFill>
              <a:schemeClr val="accent2"/>
            </a:solidFill>
            <a:miter lim="800000"/>
          </a:ln>
        </p:spPr>
        <p:txBody>
          <a:bodyPr lIns="0" rIns="0">
            <a:spAutoFit/>
          </a:bodyPr>
          <a:lstStyle/>
          <a:p>
            <a:pPr>
              <a:spcBef>
                <a:spcPct val="50000"/>
              </a:spcBef>
            </a:pPr>
            <a:r>
              <a:rPr lang="zh-CN" altLang="en-US" sz="2800">
                <a:solidFill>
                  <a:srgbClr val="CC3300"/>
                </a:solidFill>
                <a:latin typeface="Times New Roman" panose="02020603050405020304" pitchFamily="18" charset="0"/>
                <a:ea typeface="宋体" panose="02010600030101010101" pitchFamily="2" charset="-122"/>
              </a:rPr>
              <a:t>利用真值表很容易证明这些公式的正确性</a:t>
            </a:r>
            <a:endParaRPr lang="en-US" altLang="zh-CN" sz="2800">
              <a:solidFill>
                <a:srgbClr val="CC3300"/>
              </a:solidFill>
              <a:latin typeface="Times New Roman" panose="02020603050405020304" pitchFamily="18" charset="0"/>
              <a:ea typeface="宋体" panose="02010600030101010101" pitchFamily="2" charset="-122"/>
            </a:endParaRPr>
          </a:p>
        </p:txBody>
      </p:sp>
      <p:sp>
        <p:nvSpPr>
          <p:cNvPr id="20561" name="Text Box 93"/>
          <p:cNvSpPr txBox="1">
            <a:spLocks noChangeArrowheads="1"/>
          </p:cNvSpPr>
          <p:nvPr/>
        </p:nvSpPr>
        <p:spPr bwMode="auto">
          <a:xfrm>
            <a:off x="8305800" y="592138"/>
            <a:ext cx="2057400" cy="523220"/>
          </a:xfrm>
          <a:prstGeom prst="rect">
            <a:avLst/>
          </a:prstGeom>
          <a:solidFill>
            <a:srgbClr val="FF9900"/>
          </a:solidFill>
          <a:ln w="31750">
            <a:solidFill>
              <a:srgbClr val="FFFF99"/>
            </a:solidFill>
            <a:miter lim="800000"/>
          </a:ln>
        </p:spPr>
        <p:txBody>
          <a:bodyPr>
            <a:spAutoFit/>
          </a:bodyPr>
          <a:lstStyle/>
          <a:p>
            <a:pPr>
              <a:spcBef>
                <a:spcPct val="50000"/>
              </a:spcBef>
            </a:pPr>
            <a:r>
              <a:rPr lang="en-US" altLang="zh-CN" sz="2800">
                <a:ea typeface="宋体" panose="02010600030101010101" pitchFamily="2" charset="-122"/>
              </a:rPr>
              <a:t>1.</a:t>
            </a:r>
            <a:r>
              <a:rPr lang="zh-CN" altLang="en-US" sz="2800">
                <a:ea typeface="宋体" panose="02010600030101010101" pitchFamily="2" charset="-122"/>
              </a:rPr>
              <a:t>基本定律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7687"/>
                                        </p:tgtEl>
                                        <p:attrNameLst>
                                          <p:attrName>style.visibility</p:attrName>
                                        </p:attrNameLst>
                                      </p:cBhvr>
                                      <p:to>
                                        <p:strVal val="visible"/>
                                      </p:to>
                                    </p:set>
                                    <p:animEffect transition="in" filter="blinds(horizontal)">
                                      <p:cBhvr>
                                        <p:cTn id="7" dur="500"/>
                                        <p:tgtEl>
                                          <p:spTgt spid="1976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7719"/>
                                        </p:tgtEl>
                                        <p:attrNameLst>
                                          <p:attrName>style.visibility</p:attrName>
                                        </p:attrNameLst>
                                      </p:cBhvr>
                                      <p:to>
                                        <p:strVal val="visible"/>
                                      </p:to>
                                    </p:set>
                                    <p:animEffect transition="in" filter="blinds(horizontal)">
                                      <p:cBhvr>
                                        <p:cTn id="12" dur="500"/>
                                        <p:tgtEl>
                                          <p:spTgt spid="19771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7693"/>
                                        </p:tgtEl>
                                        <p:attrNameLst>
                                          <p:attrName>style.visibility</p:attrName>
                                        </p:attrNameLst>
                                      </p:cBhvr>
                                      <p:to>
                                        <p:strVal val="visible"/>
                                      </p:to>
                                    </p:set>
                                    <p:animEffect transition="in" filter="blinds(horizontal)">
                                      <p:cBhvr>
                                        <p:cTn id="17" dur="500"/>
                                        <p:tgtEl>
                                          <p:spTgt spid="19769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7696"/>
                                        </p:tgtEl>
                                        <p:attrNameLst>
                                          <p:attrName>style.visibility</p:attrName>
                                        </p:attrNameLst>
                                      </p:cBhvr>
                                      <p:to>
                                        <p:strVal val="visible"/>
                                      </p:to>
                                    </p:set>
                                    <p:animEffect transition="in" filter="blinds(horizontal)">
                                      <p:cBhvr>
                                        <p:cTn id="22" dur="500"/>
                                        <p:tgtEl>
                                          <p:spTgt spid="19769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7699"/>
                                        </p:tgtEl>
                                        <p:attrNameLst>
                                          <p:attrName>style.visibility</p:attrName>
                                        </p:attrNameLst>
                                      </p:cBhvr>
                                      <p:to>
                                        <p:strVal val="visible"/>
                                      </p:to>
                                    </p:set>
                                    <p:animEffect transition="in" filter="blinds(horizontal)">
                                      <p:cBhvr>
                                        <p:cTn id="27" dur="500"/>
                                        <p:tgtEl>
                                          <p:spTgt spid="19769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7702"/>
                                        </p:tgtEl>
                                        <p:attrNameLst>
                                          <p:attrName>style.visibility</p:attrName>
                                        </p:attrNameLst>
                                      </p:cBhvr>
                                      <p:to>
                                        <p:strVal val="visible"/>
                                      </p:to>
                                    </p:set>
                                    <p:animEffect transition="in" filter="blinds(horizontal)">
                                      <p:cBhvr>
                                        <p:cTn id="32" dur="500"/>
                                        <p:tgtEl>
                                          <p:spTgt spid="19770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97705"/>
                                        </p:tgtEl>
                                        <p:attrNameLst>
                                          <p:attrName>style.visibility</p:attrName>
                                        </p:attrNameLst>
                                      </p:cBhvr>
                                      <p:to>
                                        <p:strVal val="visible"/>
                                      </p:to>
                                    </p:set>
                                    <p:animEffect transition="in" filter="blinds(horizontal)">
                                      <p:cBhvr>
                                        <p:cTn id="37" dur="500"/>
                                        <p:tgtEl>
                                          <p:spTgt spid="19770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97714"/>
                                        </p:tgtEl>
                                        <p:attrNameLst>
                                          <p:attrName>style.visibility</p:attrName>
                                        </p:attrNameLst>
                                      </p:cBhvr>
                                      <p:to>
                                        <p:strVal val="visible"/>
                                      </p:to>
                                    </p:set>
                                    <p:anim calcmode="lin" valueType="num">
                                      <p:cBhvr additive="base">
                                        <p:cTn id="42" dur="500" fill="hold"/>
                                        <p:tgtEl>
                                          <p:spTgt spid="197714"/>
                                        </p:tgtEl>
                                        <p:attrNameLst>
                                          <p:attrName>ppt_x</p:attrName>
                                        </p:attrNameLst>
                                      </p:cBhvr>
                                      <p:tavLst>
                                        <p:tav tm="0">
                                          <p:val>
                                            <p:strVal val="1+#ppt_w/2"/>
                                          </p:val>
                                        </p:tav>
                                        <p:tav tm="100000">
                                          <p:val>
                                            <p:strVal val="#ppt_x"/>
                                          </p:val>
                                        </p:tav>
                                      </p:tavLst>
                                    </p:anim>
                                    <p:anim calcmode="lin" valueType="num">
                                      <p:cBhvr additive="base">
                                        <p:cTn id="43" dur="500" fill="hold"/>
                                        <p:tgtEl>
                                          <p:spTgt spid="1977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7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47545" y="1388745"/>
            <a:ext cx="8706485" cy="2030095"/>
          </a:xfrm>
          <a:prstGeom prst="rect">
            <a:avLst/>
          </a:prstGeom>
          <a:noFill/>
        </p:spPr>
        <p:txBody>
          <a:bodyPr wrap="square" rtlCol="0">
            <a:spAutoFit/>
          </a:bodyPr>
          <a:lstStyle/>
          <a:p>
            <a:r>
              <a:rPr lang="zh-CN" altLang="en-US"/>
              <a:t>逻辑代数的四个重要规则：</a:t>
            </a:r>
            <a:r>
              <a:rPr lang="zh-CN" altLang="en-US">
                <a:solidFill>
                  <a:srgbClr val="FF0000"/>
                </a:solidFill>
              </a:rPr>
              <a:t>代入规则，反演规则，对偶规则</a:t>
            </a:r>
            <a:r>
              <a:rPr lang="zh-CN" altLang="en-US"/>
              <a:t>和展开规则</a:t>
            </a:r>
          </a:p>
          <a:p>
            <a:endParaRPr lang="zh-CN" altLang="en-US"/>
          </a:p>
          <a:p>
            <a:r>
              <a:rPr lang="zh-CN" altLang="en-US"/>
              <a:t>逻辑函数的化简：代数法化简、卡诺图化简</a:t>
            </a:r>
          </a:p>
          <a:p>
            <a:endParaRPr lang="zh-CN" altLang="en-US"/>
          </a:p>
          <a:p>
            <a:r>
              <a:rPr lang="zh-CN" altLang="en-US"/>
              <a:t>逻辑函数的表达的两种标准形式：</a:t>
            </a:r>
            <a:r>
              <a:rPr lang="zh-CN" altLang="en-US">
                <a:solidFill>
                  <a:srgbClr val="FF0000"/>
                </a:solidFill>
              </a:rPr>
              <a:t>最小项之和，最大项之积</a:t>
            </a:r>
            <a:r>
              <a:rPr lang="en-US" altLang="zh-CN"/>
              <a:t> </a:t>
            </a:r>
            <a:r>
              <a:rPr lang="zh-CN" altLang="en-US"/>
              <a:t>（标准的与或表达式，标准的或与表达式）</a:t>
            </a:r>
          </a:p>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日期占位符 1"/>
          <p:cNvSpPr>
            <a:spLocks noGrp="1"/>
          </p:cNvSpPr>
          <p:nvPr>
            <p:ph type="dt" sz="quarter" idx="10"/>
          </p:nvPr>
        </p:nvSpPr>
        <p:spPr/>
        <p:txBody>
          <a:bodyPr/>
          <a:lstStyle/>
          <a:p>
            <a:pPr>
              <a:defRPr/>
            </a:pPr>
            <a:r>
              <a:rPr lang="zh-CN" altLang="en-US"/>
              <a:t>数字系统设计</a:t>
            </a:r>
          </a:p>
        </p:txBody>
      </p:sp>
      <p:sp>
        <p:nvSpPr>
          <p:cNvPr id="24" name="页脚占位符 2"/>
          <p:cNvSpPr>
            <a:spLocks noGrp="1"/>
          </p:cNvSpPr>
          <p:nvPr>
            <p:ph type="ftr" sz="quarter" idx="11"/>
          </p:nvPr>
        </p:nvSpPr>
        <p:spPr/>
        <p:txBody>
          <a:bodyPr/>
          <a:lstStyle/>
          <a:p>
            <a:pPr>
              <a:defRPr/>
            </a:pPr>
            <a:r>
              <a:rPr lang="zh-CN" altLang="en-US"/>
              <a:t>华东理工大学电子与通信工程系</a:t>
            </a:r>
          </a:p>
        </p:txBody>
      </p:sp>
      <p:sp>
        <p:nvSpPr>
          <p:cNvPr id="34819" name="Text Box 3"/>
          <p:cNvSpPr txBox="1">
            <a:spLocks noChangeArrowheads="1"/>
          </p:cNvSpPr>
          <p:nvPr/>
        </p:nvSpPr>
        <p:spPr bwMode="auto">
          <a:xfrm>
            <a:off x="4343400" y="1524001"/>
            <a:ext cx="1905000" cy="51911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a:latin typeface="黑体" panose="02010609060101010101" pitchFamily="49" charset="-122"/>
                <a:ea typeface="黑体" panose="02010609060101010101" pitchFamily="49" charset="-122"/>
              </a:rPr>
              <a:t>(1)</a:t>
            </a:r>
            <a:r>
              <a:rPr lang="zh-CN" altLang="en-US" sz="2800">
                <a:latin typeface="黑体" panose="02010609060101010101" pitchFamily="49" charset="-122"/>
                <a:ea typeface="黑体" panose="02010609060101010101" pitchFamily="49" charset="-122"/>
              </a:rPr>
              <a:t>并项法</a:t>
            </a:r>
          </a:p>
        </p:txBody>
      </p:sp>
      <p:sp>
        <p:nvSpPr>
          <p:cNvPr id="34820" name="Text Box 4"/>
          <p:cNvSpPr txBox="1">
            <a:spLocks noChangeArrowheads="1"/>
          </p:cNvSpPr>
          <p:nvPr/>
        </p:nvSpPr>
        <p:spPr bwMode="auto">
          <a:xfrm>
            <a:off x="1828800" y="2270126"/>
            <a:ext cx="8382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a:latin typeface="Times New Roman" panose="02020603050405020304" pitchFamily="18" charset="0"/>
                <a:ea typeface="宋体" panose="02010600030101010101" pitchFamily="2" charset="-122"/>
              </a:rPr>
              <a:t>　　逻辑函数的公式化简法就是运用逻辑代数的基本公式、定理和规则来化简逻辑函数。</a:t>
            </a:r>
          </a:p>
        </p:txBody>
      </p:sp>
      <p:sp>
        <p:nvSpPr>
          <p:cNvPr id="34821" name="Text Box 6"/>
          <p:cNvSpPr txBox="1">
            <a:spLocks noChangeArrowheads="1"/>
          </p:cNvSpPr>
          <p:nvPr/>
        </p:nvSpPr>
        <p:spPr bwMode="auto">
          <a:xfrm>
            <a:off x="1752600" y="3108325"/>
            <a:ext cx="8686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a:latin typeface="Times New Roman" panose="02020603050405020304" pitchFamily="18" charset="0"/>
                <a:ea typeface="宋体" panose="02010600030101010101" pitchFamily="2" charset="-122"/>
              </a:rPr>
              <a:t>例如：利用公式Ａ＋Ａ＝</a:t>
            </a:r>
            <a:r>
              <a:rPr lang="en-US" altLang="zh-CN">
                <a:latin typeface="Times New Roman" panose="02020603050405020304" pitchFamily="18" charset="0"/>
                <a:ea typeface="宋体" panose="02010600030101010101" pitchFamily="2" charset="-122"/>
              </a:rPr>
              <a:t>1</a:t>
            </a:r>
            <a:r>
              <a:rPr lang="zh-CN" altLang="en-US">
                <a:latin typeface="Times New Roman" panose="02020603050405020304" pitchFamily="18" charset="0"/>
                <a:ea typeface="宋体" panose="02010600030101010101" pitchFamily="2" charset="-122"/>
              </a:rPr>
              <a:t>，将两项合并为一项，并消去一个变量。</a:t>
            </a:r>
          </a:p>
        </p:txBody>
      </p:sp>
      <p:sp>
        <p:nvSpPr>
          <p:cNvPr id="34822" name="Line 7"/>
          <p:cNvSpPr>
            <a:spLocks noChangeShapeType="1"/>
          </p:cNvSpPr>
          <p:nvPr/>
        </p:nvSpPr>
        <p:spPr bwMode="auto">
          <a:xfrm>
            <a:off x="3903664" y="3108325"/>
            <a:ext cx="28733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23" name="Text Box 12"/>
          <p:cNvSpPr txBox="1">
            <a:spLocks noChangeArrowheads="1"/>
          </p:cNvSpPr>
          <p:nvPr/>
        </p:nvSpPr>
        <p:spPr bwMode="auto">
          <a:xfrm>
            <a:off x="3886200" y="6384926"/>
            <a:ext cx="198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sz="2000" i="1">
                <a:solidFill>
                  <a:srgbClr val="FF3300"/>
                </a:solidFill>
                <a:latin typeface="Times New Roman" panose="02020603050405020304" pitchFamily="18" charset="0"/>
                <a:ea typeface="宋体" panose="02010600030101010101" pitchFamily="2" charset="-122"/>
              </a:rPr>
              <a:t>运用摩根定律</a:t>
            </a:r>
          </a:p>
        </p:txBody>
      </p:sp>
      <p:sp>
        <p:nvSpPr>
          <p:cNvPr id="34824" name="Freeform 13"/>
          <p:cNvSpPr>
            <a:spLocks noChangeArrowheads="1"/>
          </p:cNvSpPr>
          <p:nvPr/>
        </p:nvSpPr>
        <p:spPr bwMode="auto">
          <a:xfrm>
            <a:off x="2743200" y="4556125"/>
            <a:ext cx="2197100" cy="381000"/>
          </a:xfrm>
          <a:custGeom>
            <a:avLst/>
            <a:gdLst>
              <a:gd name="T0" fmla="*/ 0 w 1384"/>
              <a:gd name="T1" fmla="*/ 0 h 240"/>
              <a:gd name="T2" fmla="*/ 1200 w 1384"/>
              <a:gd name="T3" fmla="*/ 240 h 240"/>
              <a:gd name="T4" fmla="*/ 1104 w 1384"/>
              <a:gd name="T5" fmla="*/ 0 h 240"/>
            </a:gdLst>
            <a:ahLst/>
            <a:cxnLst>
              <a:cxn ang="0">
                <a:pos x="T0" y="T1"/>
              </a:cxn>
              <a:cxn ang="0">
                <a:pos x="T2" y="T3"/>
              </a:cxn>
              <a:cxn ang="0">
                <a:pos x="T4" y="T5"/>
              </a:cxn>
            </a:cxnLst>
            <a:rect l="0" t="0" r="r" b="b"/>
            <a:pathLst>
              <a:path w="1384" h="240">
                <a:moveTo>
                  <a:pt x="0" y="0"/>
                </a:moveTo>
                <a:cubicBezTo>
                  <a:pt x="508" y="120"/>
                  <a:pt x="1016" y="240"/>
                  <a:pt x="1200" y="240"/>
                </a:cubicBezTo>
                <a:cubicBezTo>
                  <a:pt x="1384" y="240"/>
                  <a:pt x="1244" y="120"/>
                  <a:pt x="1104" y="0"/>
                </a:cubicBezTo>
              </a:path>
            </a:pathLst>
          </a:custGeom>
          <a:noFill/>
          <a:ln w="38100">
            <a:solidFill>
              <a:schemeClr val="bg1"/>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graphicFrame>
        <p:nvGraphicFramePr>
          <p:cNvPr id="209929" name="Object 9"/>
          <p:cNvGraphicFramePr>
            <a:graphicFrameLocks noChangeAspect="1"/>
          </p:cNvGraphicFramePr>
          <p:nvPr/>
        </p:nvGraphicFramePr>
        <p:xfrm>
          <a:off x="2006601" y="5191126"/>
          <a:ext cx="5281613" cy="993775"/>
        </p:xfrm>
        <a:graphic>
          <a:graphicData uri="http://schemas.openxmlformats.org/presentationml/2006/ole">
            <mc:AlternateContent xmlns:mc="http://schemas.openxmlformats.org/markup-compatibility/2006">
              <mc:Choice xmlns:v="urn:schemas-microsoft-com:vml" Requires="v">
                <p:oleObj spid="_x0000_s3075" r:id="rId3" imgW="2565400" imgH="482600" progId="Equation.3">
                  <p:embed/>
                </p:oleObj>
              </mc:Choice>
              <mc:Fallback>
                <p:oleObj r:id="rId3" imgW="2565400" imgH="4826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6601" y="5191126"/>
                        <a:ext cx="5281613" cy="993775"/>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9931" name="Line 11"/>
          <p:cNvSpPr>
            <a:spLocks noChangeShapeType="1"/>
          </p:cNvSpPr>
          <p:nvPr/>
        </p:nvSpPr>
        <p:spPr bwMode="auto">
          <a:xfrm>
            <a:off x="4800600" y="6156325"/>
            <a:ext cx="1371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9935" name="Line 15"/>
          <p:cNvSpPr>
            <a:spLocks noChangeShapeType="1"/>
          </p:cNvSpPr>
          <p:nvPr/>
        </p:nvSpPr>
        <p:spPr bwMode="auto">
          <a:xfrm>
            <a:off x="6305550" y="5603875"/>
            <a:ext cx="9144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9936" name="Line 16"/>
          <p:cNvSpPr>
            <a:spLocks noChangeShapeType="1"/>
          </p:cNvSpPr>
          <p:nvPr/>
        </p:nvSpPr>
        <p:spPr bwMode="auto">
          <a:xfrm>
            <a:off x="3714750" y="6118225"/>
            <a:ext cx="4572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4829" name="Object 8"/>
          <p:cNvGraphicFramePr>
            <a:graphicFrameLocks noChangeAspect="1"/>
          </p:cNvGraphicFramePr>
          <p:nvPr/>
        </p:nvGraphicFramePr>
        <p:xfrm>
          <a:off x="3082926" y="4098925"/>
          <a:ext cx="4754563" cy="990600"/>
        </p:xfrm>
        <a:graphic>
          <a:graphicData uri="http://schemas.openxmlformats.org/presentationml/2006/ole">
            <mc:AlternateContent xmlns:mc="http://schemas.openxmlformats.org/markup-compatibility/2006">
              <mc:Choice xmlns:v="urn:schemas-microsoft-com:vml" Requires="v">
                <p:oleObj spid="_x0000_s3076" r:id="rId5" imgW="2654300" imgH="482600" progId="Equation.3">
                  <p:embed/>
                </p:oleObj>
              </mc:Choice>
              <mc:Fallback>
                <p:oleObj r:id="rId5" imgW="2654300" imgH="482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82926" y="4098925"/>
                        <a:ext cx="4754563" cy="990600"/>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09938" name="Freeform 18"/>
          <p:cNvSpPr>
            <a:spLocks noChangeArrowheads="1"/>
          </p:cNvSpPr>
          <p:nvPr/>
        </p:nvSpPr>
        <p:spPr bwMode="auto">
          <a:xfrm>
            <a:off x="3048000" y="3870325"/>
            <a:ext cx="3517900" cy="228600"/>
          </a:xfrm>
          <a:custGeom>
            <a:avLst/>
            <a:gdLst>
              <a:gd name="T0" fmla="*/ 728 w 2216"/>
              <a:gd name="T1" fmla="*/ 144 h 144"/>
              <a:gd name="T2" fmla="*/ 248 w 2216"/>
              <a:gd name="T3" fmla="*/ 0 h 144"/>
              <a:gd name="T4" fmla="*/ 2216 w 2216"/>
              <a:gd name="T5" fmla="*/ 144 h 144"/>
            </a:gdLst>
            <a:ahLst/>
            <a:cxnLst>
              <a:cxn ang="0">
                <a:pos x="T0" y="T1"/>
              </a:cxn>
              <a:cxn ang="0">
                <a:pos x="T2" y="T3"/>
              </a:cxn>
              <a:cxn ang="0">
                <a:pos x="T4" y="T5"/>
              </a:cxn>
            </a:cxnLst>
            <a:rect l="0" t="0" r="r" b="b"/>
            <a:pathLst>
              <a:path w="2216" h="144">
                <a:moveTo>
                  <a:pt x="728" y="144"/>
                </a:moveTo>
                <a:cubicBezTo>
                  <a:pt x="364" y="72"/>
                  <a:pt x="0" y="0"/>
                  <a:pt x="248" y="0"/>
                </a:cubicBezTo>
                <a:cubicBezTo>
                  <a:pt x="496" y="0"/>
                  <a:pt x="1356" y="72"/>
                  <a:pt x="2216" y="144"/>
                </a:cubicBezTo>
              </a:path>
            </a:pathLst>
          </a:custGeom>
          <a:noFill/>
          <a:ln w="38100">
            <a:solidFill>
              <a:srgbClr val="0000FF"/>
            </a:solidFill>
            <a:roun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209939" name="Line 19"/>
          <p:cNvSpPr>
            <a:spLocks noChangeShapeType="1"/>
          </p:cNvSpPr>
          <p:nvPr/>
        </p:nvSpPr>
        <p:spPr bwMode="auto">
          <a:xfrm>
            <a:off x="3575050" y="4518025"/>
            <a:ext cx="1371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9940" name="Line 20"/>
          <p:cNvSpPr>
            <a:spLocks noChangeShapeType="1"/>
          </p:cNvSpPr>
          <p:nvPr/>
        </p:nvSpPr>
        <p:spPr bwMode="auto">
          <a:xfrm>
            <a:off x="5842000" y="4556125"/>
            <a:ext cx="1371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9941" name="Line 21"/>
          <p:cNvSpPr>
            <a:spLocks noChangeShapeType="1"/>
          </p:cNvSpPr>
          <p:nvPr/>
        </p:nvSpPr>
        <p:spPr bwMode="auto">
          <a:xfrm>
            <a:off x="3517900" y="5013325"/>
            <a:ext cx="10668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9942" name="Line 22"/>
          <p:cNvSpPr>
            <a:spLocks noChangeShapeType="1"/>
          </p:cNvSpPr>
          <p:nvPr/>
        </p:nvSpPr>
        <p:spPr bwMode="auto">
          <a:xfrm>
            <a:off x="4889500" y="5051425"/>
            <a:ext cx="10668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4835" name="Text Box 23"/>
          <p:cNvSpPr txBox="1">
            <a:spLocks noChangeArrowheads="1"/>
          </p:cNvSpPr>
          <p:nvPr/>
        </p:nvSpPr>
        <p:spPr bwMode="auto">
          <a:xfrm>
            <a:off x="1676400" y="3641726"/>
            <a:ext cx="1600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sz="2000" i="1">
                <a:solidFill>
                  <a:srgbClr val="FF3300"/>
                </a:solidFill>
                <a:latin typeface="Times New Roman" panose="02020603050405020304" pitchFamily="18" charset="0"/>
                <a:ea typeface="宋体" panose="02010600030101010101" pitchFamily="2" charset="-122"/>
              </a:rPr>
              <a:t>运用分配律</a:t>
            </a:r>
          </a:p>
        </p:txBody>
      </p:sp>
      <p:sp>
        <p:nvSpPr>
          <p:cNvPr id="34836" name="Rectangle 24"/>
          <p:cNvSpPr>
            <a:spLocks noChangeArrowheads="1"/>
          </p:cNvSpPr>
          <p:nvPr/>
        </p:nvSpPr>
        <p:spPr bwMode="auto">
          <a:xfrm>
            <a:off x="2667000" y="533401"/>
            <a:ext cx="5486400"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0000"/>
              </a:lnSpc>
            </a:pPr>
            <a:r>
              <a:rPr lang="zh-CN" altLang="en-US" sz="2800">
                <a:solidFill>
                  <a:schemeClr val="bg1"/>
                </a:solidFill>
                <a:latin typeface="宋体" panose="02010600030101010101" pitchFamily="2" charset="-122"/>
                <a:ea typeface="宋体" panose="02010600030101010101" pitchFamily="2" charset="-122"/>
              </a:rPr>
              <a:t>　</a:t>
            </a:r>
            <a:r>
              <a:rPr lang="en-US" altLang="zh-CN" sz="2800">
                <a:solidFill>
                  <a:schemeClr val="bg1"/>
                </a:solidFill>
                <a:latin typeface="宋体" panose="02010600030101010101" pitchFamily="2" charset="-122"/>
                <a:ea typeface="宋体" panose="02010600030101010101" pitchFamily="2" charset="-122"/>
              </a:rPr>
              <a:t>2.2.7</a:t>
            </a:r>
            <a:r>
              <a:rPr lang="zh-CN" altLang="en-US" sz="2800">
                <a:solidFill>
                  <a:schemeClr val="bg1"/>
                </a:solidFill>
                <a:latin typeface="宋体" panose="02010600030101010101" pitchFamily="2" charset="-122"/>
                <a:ea typeface="宋体" panose="02010600030101010101" pitchFamily="2" charset="-122"/>
              </a:rPr>
              <a:t>　逻辑函数的公式化简法</a:t>
            </a:r>
            <a:endParaRPr lang="zh-CN" altLang="en-US" sz="2800">
              <a:latin typeface="宋体" panose="02010600030101010101" pitchFamily="2" charset="-122"/>
              <a:ea typeface="宋体" panose="02010600030101010101" pitchFamily="2" charset="-122"/>
            </a:endParaRPr>
          </a:p>
        </p:txBody>
      </p:sp>
      <p:sp>
        <p:nvSpPr>
          <p:cNvPr id="209946" name="Text Box 26"/>
          <p:cNvSpPr txBox="1">
            <a:spLocks noChangeArrowheads="1"/>
          </p:cNvSpPr>
          <p:nvPr/>
        </p:nvSpPr>
        <p:spPr bwMode="auto">
          <a:xfrm>
            <a:off x="8077200" y="3946526"/>
            <a:ext cx="2438400" cy="2555875"/>
          </a:xfrm>
          <a:prstGeom prst="rect">
            <a:avLst/>
          </a:prstGeom>
          <a:solidFill>
            <a:srgbClr val="CCFFFF"/>
          </a:solidFill>
          <a:ln w="25400">
            <a:solidFill>
              <a:schemeClr val="tx1"/>
            </a:solidFill>
            <a:miter lim="800000"/>
          </a:ln>
        </p:spPr>
        <p:txBody>
          <a:bodyPr>
            <a:spAutoFit/>
          </a:bodyPr>
          <a:lstStyle/>
          <a:p>
            <a:pPr>
              <a:spcBef>
                <a:spcPct val="50000"/>
              </a:spcBef>
            </a:pPr>
            <a:r>
              <a:rPr lang="zh-CN" altLang="en-US" sz="2000">
                <a:solidFill>
                  <a:schemeClr val="tx2"/>
                </a:solidFill>
                <a:ea typeface="宋体" panose="02010600030101010101" pitchFamily="2" charset="-122"/>
              </a:rPr>
              <a:t>     若两个乘积项中分别包含同一个因子的原变量和反变量，而其他因子都相同时，则这两项可以合并成一项，并消去互为反变量的因子。</a:t>
            </a:r>
            <a:endParaRPr lang="zh-CN" altLang="en-US" sz="2000">
              <a:ea typeface="宋体" panose="02010600030101010101" pitchFamily="2" charset="-122"/>
            </a:endParaRPr>
          </a:p>
        </p:txBody>
      </p:sp>
      <p:sp>
        <p:nvSpPr>
          <p:cNvPr id="209934" name="Freeform 14"/>
          <p:cNvSpPr>
            <a:spLocks noChangeArrowheads="1"/>
          </p:cNvSpPr>
          <p:nvPr/>
        </p:nvSpPr>
        <p:spPr bwMode="auto">
          <a:xfrm>
            <a:off x="3810000" y="5686425"/>
            <a:ext cx="3873500" cy="850900"/>
          </a:xfrm>
          <a:custGeom>
            <a:avLst/>
            <a:gdLst>
              <a:gd name="T0" fmla="*/ 0 w 2440"/>
              <a:gd name="T1" fmla="*/ 336 h 536"/>
              <a:gd name="T2" fmla="*/ 2112 w 2440"/>
              <a:gd name="T3" fmla="*/ 480 h 536"/>
              <a:gd name="T4" fmla="*/ 1968 w 2440"/>
              <a:gd name="T5" fmla="*/ 0 h 536"/>
            </a:gdLst>
            <a:ahLst/>
            <a:cxnLst>
              <a:cxn ang="0">
                <a:pos x="T0" y="T1"/>
              </a:cxn>
              <a:cxn ang="0">
                <a:pos x="T2" y="T3"/>
              </a:cxn>
              <a:cxn ang="0">
                <a:pos x="T4" y="T5"/>
              </a:cxn>
            </a:cxnLst>
            <a:rect l="0" t="0" r="r" b="b"/>
            <a:pathLst>
              <a:path w="2440" h="536">
                <a:moveTo>
                  <a:pt x="0" y="336"/>
                </a:moveTo>
                <a:cubicBezTo>
                  <a:pt x="892" y="436"/>
                  <a:pt x="1784" y="536"/>
                  <a:pt x="2112" y="480"/>
                </a:cubicBezTo>
                <a:cubicBezTo>
                  <a:pt x="2440" y="424"/>
                  <a:pt x="2204" y="212"/>
                  <a:pt x="1968" y="0"/>
                </a:cubicBezTo>
              </a:path>
            </a:pathLst>
          </a:custGeom>
          <a:noFill/>
          <a:ln w="38100">
            <a:solidFill>
              <a:srgbClr val="0000FF"/>
            </a:solidFill>
            <a:round/>
            <a:head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ea typeface="宋体" panose="02010600030101010101" pitchFamily="2" charset="-122"/>
            </a:endParaRPr>
          </a:p>
        </p:txBody>
      </p:sp>
      <p:sp>
        <p:nvSpPr>
          <p:cNvPr id="34839" name="Rectangle 29"/>
          <p:cNvSpPr>
            <a:spLocks noChangeArrowheads="1"/>
          </p:cNvSpPr>
          <p:nvPr/>
        </p:nvSpPr>
        <p:spPr bwMode="auto">
          <a:xfrm>
            <a:off x="1905000" y="1524001"/>
            <a:ext cx="2362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800">
                <a:ea typeface="宋体" panose="02010600030101010101" pitchFamily="2" charset="-122"/>
              </a:rPr>
              <a:t>1.   </a:t>
            </a:r>
            <a:r>
              <a:rPr lang="zh-CN" altLang="en-US" sz="2800">
                <a:ea typeface="宋体" panose="02010600030101010101" pitchFamily="2" charset="-122"/>
              </a:rPr>
              <a:t>化简方法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09939"/>
                                        </p:tgtEl>
                                        <p:attrNameLst>
                                          <p:attrName>style.visibility</p:attrName>
                                        </p:attrNameLst>
                                      </p:cBhvr>
                                      <p:to>
                                        <p:strVal val="visible"/>
                                      </p:to>
                                    </p:set>
                                    <p:animEffect transition="in" filter="slide(fromLeft)">
                                      <p:cBhvr>
                                        <p:cTn id="7" dur="500"/>
                                        <p:tgtEl>
                                          <p:spTgt spid="209939"/>
                                        </p:tgtEl>
                                      </p:cBhvr>
                                    </p:animEffect>
                                  </p:childTnLst>
                                </p:cTn>
                              </p:par>
                              <p:par>
                                <p:cTn id="8" presetID="12" presetClass="entr" presetSubtype="8" fill="hold" nodeType="withEffect">
                                  <p:stCondLst>
                                    <p:cond delay="0"/>
                                  </p:stCondLst>
                                  <p:childTnLst>
                                    <p:set>
                                      <p:cBhvr>
                                        <p:cTn id="9" dur="1" fill="hold">
                                          <p:stCondLst>
                                            <p:cond delay="0"/>
                                          </p:stCondLst>
                                        </p:cTn>
                                        <p:tgtEl>
                                          <p:spTgt spid="209938"/>
                                        </p:tgtEl>
                                        <p:attrNameLst>
                                          <p:attrName>style.visibility</p:attrName>
                                        </p:attrNameLst>
                                      </p:cBhvr>
                                      <p:to>
                                        <p:strVal val="visible"/>
                                      </p:to>
                                    </p:set>
                                    <p:animEffect transition="in" filter="slide(fromLeft)">
                                      <p:cBhvr>
                                        <p:cTn id="10" dur="500"/>
                                        <p:tgtEl>
                                          <p:spTgt spid="209938"/>
                                        </p:tgtEl>
                                      </p:cBhvr>
                                    </p:animEffect>
                                  </p:childTnLst>
                                </p:cTn>
                              </p:par>
                              <p:par>
                                <p:cTn id="11" presetID="12" presetClass="entr" presetSubtype="8" fill="hold" nodeType="withEffect">
                                  <p:stCondLst>
                                    <p:cond delay="0"/>
                                  </p:stCondLst>
                                  <p:childTnLst>
                                    <p:set>
                                      <p:cBhvr>
                                        <p:cTn id="12" dur="1" fill="hold">
                                          <p:stCondLst>
                                            <p:cond delay="0"/>
                                          </p:stCondLst>
                                        </p:cTn>
                                        <p:tgtEl>
                                          <p:spTgt spid="209940"/>
                                        </p:tgtEl>
                                        <p:attrNameLst>
                                          <p:attrName>style.visibility</p:attrName>
                                        </p:attrNameLst>
                                      </p:cBhvr>
                                      <p:to>
                                        <p:strVal val="visible"/>
                                      </p:to>
                                    </p:set>
                                    <p:animEffect transition="in" filter="slide(fromLeft)">
                                      <p:cBhvr>
                                        <p:cTn id="13" dur="500"/>
                                        <p:tgtEl>
                                          <p:spTgt spid="209940"/>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8" fill="hold" nodeType="clickEffect">
                                  <p:stCondLst>
                                    <p:cond delay="0"/>
                                  </p:stCondLst>
                                  <p:childTnLst>
                                    <p:set>
                                      <p:cBhvr>
                                        <p:cTn id="17" dur="1" fill="hold">
                                          <p:stCondLst>
                                            <p:cond delay="0"/>
                                          </p:stCondLst>
                                        </p:cTn>
                                        <p:tgtEl>
                                          <p:spTgt spid="209941"/>
                                        </p:tgtEl>
                                        <p:attrNameLst>
                                          <p:attrName>style.visibility</p:attrName>
                                        </p:attrNameLst>
                                      </p:cBhvr>
                                      <p:to>
                                        <p:strVal val="visible"/>
                                      </p:to>
                                    </p:set>
                                    <p:animEffect transition="in" filter="slide(fromLeft)">
                                      <p:cBhvr>
                                        <p:cTn id="18" dur="500"/>
                                        <p:tgtEl>
                                          <p:spTgt spid="20994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nodeType="clickEffect">
                                  <p:stCondLst>
                                    <p:cond delay="0"/>
                                  </p:stCondLst>
                                  <p:childTnLst>
                                    <p:set>
                                      <p:cBhvr>
                                        <p:cTn id="22" dur="1" fill="hold">
                                          <p:stCondLst>
                                            <p:cond delay="0"/>
                                          </p:stCondLst>
                                        </p:cTn>
                                        <p:tgtEl>
                                          <p:spTgt spid="209942"/>
                                        </p:tgtEl>
                                        <p:attrNameLst>
                                          <p:attrName>style.visibility</p:attrName>
                                        </p:attrNameLst>
                                      </p:cBhvr>
                                      <p:to>
                                        <p:strVal val="visible"/>
                                      </p:to>
                                    </p:set>
                                    <p:animEffect transition="in" filter="slide(fromLeft)">
                                      <p:cBhvr>
                                        <p:cTn id="23" dur="500"/>
                                        <p:tgtEl>
                                          <p:spTgt spid="209942"/>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nodeType="clickEffect">
                                  <p:stCondLst>
                                    <p:cond delay="0"/>
                                  </p:stCondLst>
                                  <p:childTnLst>
                                    <p:set>
                                      <p:cBhvr>
                                        <p:cTn id="27" dur="1" fill="hold">
                                          <p:stCondLst>
                                            <p:cond delay="0"/>
                                          </p:stCondLst>
                                        </p:cTn>
                                        <p:tgtEl>
                                          <p:spTgt spid="209929"/>
                                        </p:tgtEl>
                                        <p:attrNameLst>
                                          <p:attrName>style.visibility</p:attrName>
                                        </p:attrNameLst>
                                      </p:cBhvr>
                                      <p:to>
                                        <p:strVal val="visible"/>
                                      </p:to>
                                    </p:set>
                                    <p:animEffect transition="in" filter="box(out)">
                                      <p:cBhvr>
                                        <p:cTn id="28" dur="500"/>
                                        <p:tgtEl>
                                          <p:spTgt spid="20992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209935"/>
                                        </p:tgtEl>
                                        <p:attrNameLst>
                                          <p:attrName>style.visibility</p:attrName>
                                        </p:attrNameLst>
                                      </p:cBhvr>
                                      <p:to>
                                        <p:strVal val="visible"/>
                                      </p:to>
                                    </p:set>
                                    <p:animEffect transition="in" filter="slide(fromLeft)">
                                      <p:cBhvr>
                                        <p:cTn id="33" dur="500"/>
                                        <p:tgtEl>
                                          <p:spTgt spid="209935"/>
                                        </p:tgtEl>
                                      </p:cBhvr>
                                    </p:animEffect>
                                  </p:childTnLst>
                                </p:cTn>
                              </p:par>
                            </p:childTnLst>
                          </p:cTn>
                        </p:par>
                        <p:par>
                          <p:cTn id="34" fill="hold">
                            <p:stCondLst>
                              <p:cond delay="500"/>
                            </p:stCondLst>
                            <p:childTnLst>
                              <p:par>
                                <p:cTn id="35" presetID="12" presetClass="entr" presetSubtype="2" fill="hold" nodeType="afterEffect">
                                  <p:stCondLst>
                                    <p:cond delay="0"/>
                                  </p:stCondLst>
                                  <p:childTnLst>
                                    <p:set>
                                      <p:cBhvr>
                                        <p:cTn id="36" dur="1" fill="hold">
                                          <p:stCondLst>
                                            <p:cond delay="0"/>
                                          </p:stCondLst>
                                        </p:cTn>
                                        <p:tgtEl>
                                          <p:spTgt spid="209934"/>
                                        </p:tgtEl>
                                        <p:attrNameLst>
                                          <p:attrName>style.visibility</p:attrName>
                                        </p:attrNameLst>
                                      </p:cBhvr>
                                      <p:to>
                                        <p:strVal val="visible"/>
                                      </p:to>
                                    </p:set>
                                    <p:animEffect transition="in" filter="slide(fromRight)">
                                      <p:cBhvr>
                                        <p:cTn id="37" dur="500"/>
                                        <p:tgtEl>
                                          <p:spTgt spid="209934"/>
                                        </p:tgtEl>
                                      </p:cBhvr>
                                    </p:animEffect>
                                  </p:childTnLst>
                                </p:cTn>
                              </p:par>
                            </p:childTnLst>
                          </p:cTn>
                        </p:par>
                        <p:par>
                          <p:cTn id="38" fill="hold">
                            <p:stCondLst>
                              <p:cond delay="1000"/>
                            </p:stCondLst>
                            <p:childTnLst>
                              <p:par>
                                <p:cTn id="39" presetID="12" presetClass="entr" presetSubtype="8" fill="hold" nodeType="afterEffect">
                                  <p:stCondLst>
                                    <p:cond delay="0"/>
                                  </p:stCondLst>
                                  <p:childTnLst>
                                    <p:set>
                                      <p:cBhvr>
                                        <p:cTn id="40" dur="1" fill="hold">
                                          <p:stCondLst>
                                            <p:cond delay="0"/>
                                          </p:stCondLst>
                                        </p:cTn>
                                        <p:tgtEl>
                                          <p:spTgt spid="209936"/>
                                        </p:tgtEl>
                                        <p:attrNameLst>
                                          <p:attrName>style.visibility</p:attrName>
                                        </p:attrNameLst>
                                      </p:cBhvr>
                                      <p:to>
                                        <p:strVal val="visible"/>
                                      </p:to>
                                    </p:set>
                                    <p:animEffect transition="in" filter="slide(fromLeft)">
                                      <p:cBhvr>
                                        <p:cTn id="41" dur="500"/>
                                        <p:tgtEl>
                                          <p:spTgt spid="209936"/>
                                        </p:tgtEl>
                                      </p:cBhvr>
                                    </p:animEffect>
                                  </p:childTnLst>
                                </p:cTn>
                              </p:par>
                            </p:childTnLst>
                          </p:cTn>
                        </p:par>
                        <p:par>
                          <p:cTn id="42" fill="hold">
                            <p:stCondLst>
                              <p:cond delay="1500"/>
                            </p:stCondLst>
                            <p:childTnLst>
                              <p:par>
                                <p:cTn id="43" presetID="12" presetClass="entr" presetSubtype="8" fill="hold" nodeType="afterEffect">
                                  <p:stCondLst>
                                    <p:cond delay="0"/>
                                  </p:stCondLst>
                                  <p:childTnLst>
                                    <p:set>
                                      <p:cBhvr>
                                        <p:cTn id="44" dur="1" fill="hold">
                                          <p:stCondLst>
                                            <p:cond delay="0"/>
                                          </p:stCondLst>
                                        </p:cTn>
                                        <p:tgtEl>
                                          <p:spTgt spid="209931"/>
                                        </p:tgtEl>
                                        <p:attrNameLst>
                                          <p:attrName>style.visibility</p:attrName>
                                        </p:attrNameLst>
                                      </p:cBhvr>
                                      <p:to>
                                        <p:strVal val="visible"/>
                                      </p:to>
                                    </p:set>
                                    <p:animEffect transition="in" filter="slide(fromLeft)">
                                      <p:cBhvr>
                                        <p:cTn id="45" dur="500"/>
                                        <p:tgtEl>
                                          <p:spTgt spid="209931"/>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209946"/>
                                        </p:tgtEl>
                                        <p:attrNameLst>
                                          <p:attrName>style.visibility</p:attrName>
                                        </p:attrNameLst>
                                      </p:cBhvr>
                                      <p:to>
                                        <p:strVal val="visible"/>
                                      </p:to>
                                    </p:set>
                                    <p:anim calcmode="lin" valueType="num">
                                      <p:cBhvr additive="base">
                                        <p:cTn id="50" dur="500" fill="hold"/>
                                        <p:tgtEl>
                                          <p:spTgt spid="209946"/>
                                        </p:tgtEl>
                                        <p:attrNameLst>
                                          <p:attrName>ppt_x</p:attrName>
                                        </p:attrNameLst>
                                      </p:cBhvr>
                                      <p:tavLst>
                                        <p:tav tm="0">
                                          <p:val>
                                            <p:strVal val="#ppt_x"/>
                                          </p:val>
                                        </p:tav>
                                        <p:tav tm="100000">
                                          <p:val>
                                            <p:strVal val="#ppt_x"/>
                                          </p:val>
                                        </p:tav>
                                      </p:tavLst>
                                    </p:anim>
                                    <p:anim calcmode="lin" valueType="num">
                                      <p:cBhvr additive="base">
                                        <p:cTn id="51" dur="500" fill="hold"/>
                                        <p:tgtEl>
                                          <p:spTgt spid="2099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4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1"/>
          <p:cNvSpPr>
            <a:spLocks noGrp="1"/>
          </p:cNvSpPr>
          <p:nvPr>
            <p:ph type="dt" sz="quarter" idx="10"/>
          </p:nvPr>
        </p:nvSpPr>
        <p:spPr/>
        <p:txBody>
          <a:bodyPr/>
          <a:lstStyle/>
          <a:p>
            <a:pPr>
              <a:defRPr/>
            </a:pPr>
            <a:r>
              <a:rPr lang="zh-CN" altLang="en-US"/>
              <a:t>数字系统设计</a:t>
            </a:r>
          </a:p>
        </p:txBody>
      </p:sp>
      <p:sp>
        <p:nvSpPr>
          <p:cNvPr id="17" name="页脚占位符 2"/>
          <p:cNvSpPr>
            <a:spLocks noGrp="1"/>
          </p:cNvSpPr>
          <p:nvPr>
            <p:ph type="ftr" sz="quarter" idx="11"/>
          </p:nvPr>
        </p:nvSpPr>
        <p:spPr/>
        <p:txBody>
          <a:bodyPr/>
          <a:lstStyle/>
          <a:p>
            <a:pPr>
              <a:defRPr/>
            </a:pPr>
            <a:r>
              <a:rPr lang="zh-CN" altLang="en-US"/>
              <a:t>华东理工大学电子与通信工程系</a:t>
            </a:r>
          </a:p>
        </p:txBody>
      </p:sp>
      <p:sp>
        <p:nvSpPr>
          <p:cNvPr id="35843" name="Text Box 2"/>
          <p:cNvSpPr txBox="1">
            <a:spLocks noChangeArrowheads="1"/>
          </p:cNvSpPr>
          <p:nvPr/>
        </p:nvSpPr>
        <p:spPr bwMode="auto">
          <a:xfrm>
            <a:off x="2743200" y="533401"/>
            <a:ext cx="2057400" cy="519113"/>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a:latin typeface="黑体" panose="02010609060101010101" pitchFamily="49" charset="-122"/>
                <a:ea typeface="黑体" panose="02010609060101010101" pitchFamily="49" charset="-122"/>
              </a:rPr>
              <a:t>(2)</a:t>
            </a:r>
            <a:r>
              <a:rPr lang="zh-CN" altLang="en-US" sz="2800">
                <a:latin typeface="黑体" panose="02010609060101010101" pitchFamily="49" charset="-122"/>
                <a:ea typeface="黑体" panose="02010609060101010101" pitchFamily="49" charset="-122"/>
              </a:rPr>
              <a:t>吸收法</a:t>
            </a:r>
          </a:p>
        </p:txBody>
      </p:sp>
      <p:graphicFrame>
        <p:nvGraphicFramePr>
          <p:cNvPr id="210947" name="Object 3"/>
          <p:cNvGraphicFramePr>
            <a:graphicFrameLocks noChangeAspect="1"/>
          </p:cNvGraphicFramePr>
          <p:nvPr/>
        </p:nvGraphicFramePr>
        <p:xfrm>
          <a:off x="1905000" y="1828801"/>
          <a:ext cx="4267200" cy="498475"/>
        </p:xfrm>
        <a:graphic>
          <a:graphicData uri="http://schemas.openxmlformats.org/presentationml/2006/ole">
            <mc:AlternateContent xmlns:mc="http://schemas.openxmlformats.org/markup-compatibility/2006">
              <mc:Choice xmlns:v="urn:schemas-microsoft-com:vml" Requires="v">
                <p:oleObj spid="_x0000_s4101" r:id="rId3" imgW="1955800" imgH="228600" progId="Equation.3">
                  <p:embed/>
                </p:oleObj>
              </mc:Choice>
              <mc:Fallback>
                <p:oleObj r:id="rId3" imgW="1955800" imgH="228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828801"/>
                        <a:ext cx="4267200" cy="498475"/>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0948" name="Object 4"/>
          <p:cNvGraphicFramePr>
            <a:graphicFrameLocks noChangeAspect="1"/>
          </p:cNvGraphicFramePr>
          <p:nvPr/>
        </p:nvGraphicFramePr>
        <p:xfrm>
          <a:off x="1905000" y="2514601"/>
          <a:ext cx="5513388" cy="993775"/>
        </p:xfrm>
        <a:graphic>
          <a:graphicData uri="http://schemas.openxmlformats.org/presentationml/2006/ole">
            <mc:AlternateContent xmlns:mc="http://schemas.openxmlformats.org/markup-compatibility/2006">
              <mc:Choice xmlns:v="urn:schemas-microsoft-com:vml" Requires="v">
                <p:oleObj spid="_x0000_s4102" r:id="rId5" imgW="2819400" imgH="508000" progId="Equation.3">
                  <p:embed/>
                </p:oleObj>
              </mc:Choice>
              <mc:Fallback>
                <p:oleObj r:id="rId5" imgW="2819400" imgH="5080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2514601"/>
                        <a:ext cx="5513388" cy="993775"/>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5846" name="Text Box 11"/>
          <p:cNvSpPr txBox="1">
            <a:spLocks noChangeArrowheads="1"/>
          </p:cNvSpPr>
          <p:nvPr/>
        </p:nvSpPr>
        <p:spPr bwMode="auto">
          <a:xfrm>
            <a:off x="1676400" y="1219200"/>
            <a:ext cx="6400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a:latin typeface="Times New Roman" panose="02020603050405020304" pitchFamily="18" charset="0"/>
                <a:ea typeface="宋体" panose="02010600030101010101" pitchFamily="2" charset="-122"/>
              </a:rPr>
              <a:t>（１）利用公式Ａ＋ＡＢ＝Ａ，消去多余的项。</a:t>
            </a:r>
          </a:p>
        </p:txBody>
      </p:sp>
      <p:grpSp>
        <p:nvGrpSpPr>
          <p:cNvPr id="210970" name="Group 26"/>
          <p:cNvGrpSpPr/>
          <p:nvPr/>
        </p:nvGrpSpPr>
        <p:grpSpPr bwMode="auto">
          <a:xfrm>
            <a:off x="1371600" y="3581405"/>
            <a:ext cx="7467600" cy="369888"/>
            <a:chOff x="-96" y="2256"/>
            <a:chExt cx="4704" cy="233"/>
          </a:xfrm>
        </p:grpSpPr>
        <p:sp>
          <p:nvSpPr>
            <p:cNvPr id="35848" name="Text Box 15"/>
            <p:cNvSpPr txBox="1">
              <a:spLocks noChangeArrowheads="1"/>
            </p:cNvSpPr>
            <p:nvPr/>
          </p:nvSpPr>
          <p:spPr bwMode="auto">
            <a:xfrm>
              <a:off x="-96" y="2256"/>
              <a:ext cx="470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a:latin typeface="Times New Roman" panose="02020603050405020304" pitchFamily="18" charset="0"/>
                  <a:ea typeface="宋体" panose="02010600030101010101" pitchFamily="2" charset="-122"/>
                </a:rPr>
                <a:t>　（２）利用公式Ａ＋ＡＢ＝Ａ＋Ｂ，消去多余的变量。</a:t>
              </a:r>
            </a:p>
          </p:txBody>
        </p:sp>
        <p:sp>
          <p:nvSpPr>
            <p:cNvPr id="35849" name="Line 16"/>
            <p:cNvSpPr>
              <a:spLocks noChangeShapeType="1"/>
            </p:cNvSpPr>
            <p:nvPr/>
          </p:nvSpPr>
          <p:spPr bwMode="auto">
            <a:xfrm>
              <a:off x="1824" y="2304"/>
              <a:ext cx="20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0961" name="Object 17"/>
          <p:cNvGraphicFramePr>
            <a:graphicFrameLocks noChangeAspect="1"/>
          </p:cNvGraphicFramePr>
          <p:nvPr/>
        </p:nvGraphicFramePr>
        <p:xfrm>
          <a:off x="1600200" y="4343400"/>
          <a:ext cx="2789238" cy="2217738"/>
        </p:xfrm>
        <a:graphic>
          <a:graphicData uri="http://schemas.openxmlformats.org/presentationml/2006/ole">
            <mc:AlternateContent xmlns:mc="http://schemas.openxmlformats.org/markup-compatibility/2006">
              <mc:Choice xmlns:v="urn:schemas-microsoft-com:vml" Requires="v">
                <p:oleObj spid="_x0000_s4103" r:id="rId7" imgW="1231265" imgH="939165" progId="Equation.3">
                  <p:embed/>
                </p:oleObj>
              </mc:Choice>
              <mc:Fallback>
                <p:oleObj r:id="rId7" imgW="1231265" imgH="939165" progId="Equation.3">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4343400"/>
                        <a:ext cx="2789238" cy="2217738"/>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0962" name="Line 18"/>
          <p:cNvSpPr>
            <a:spLocks noChangeShapeType="1"/>
          </p:cNvSpPr>
          <p:nvPr/>
        </p:nvSpPr>
        <p:spPr bwMode="auto">
          <a:xfrm>
            <a:off x="3048000" y="5562600"/>
            <a:ext cx="533400" cy="5334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10963" name="Object 19"/>
          <p:cNvGraphicFramePr>
            <a:graphicFrameLocks noChangeAspect="1"/>
          </p:cNvGraphicFramePr>
          <p:nvPr/>
        </p:nvGraphicFramePr>
        <p:xfrm>
          <a:off x="4495800" y="4194176"/>
          <a:ext cx="3570288" cy="2513013"/>
        </p:xfrm>
        <a:graphic>
          <a:graphicData uri="http://schemas.openxmlformats.org/presentationml/2006/ole">
            <mc:AlternateContent xmlns:mc="http://schemas.openxmlformats.org/markup-compatibility/2006">
              <mc:Choice xmlns:v="urn:schemas-microsoft-com:vml" Requires="v">
                <p:oleObj spid="_x0000_s4104" r:id="rId9" imgW="1714500" imgH="1206500" progId="Equation.3">
                  <p:embed/>
                </p:oleObj>
              </mc:Choice>
              <mc:Fallback>
                <p:oleObj r:id="rId9" imgW="1714500" imgH="12065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5800" y="4194176"/>
                        <a:ext cx="3570288" cy="2513013"/>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0964" name="Line 20"/>
          <p:cNvSpPr>
            <a:spLocks noChangeShapeType="1"/>
          </p:cNvSpPr>
          <p:nvPr/>
        </p:nvSpPr>
        <p:spPr bwMode="auto">
          <a:xfrm>
            <a:off x="6096000" y="4648200"/>
            <a:ext cx="533400" cy="5334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0965" name="Line 21"/>
          <p:cNvSpPr>
            <a:spLocks noChangeShapeType="1"/>
          </p:cNvSpPr>
          <p:nvPr/>
        </p:nvSpPr>
        <p:spPr bwMode="auto">
          <a:xfrm>
            <a:off x="6248400" y="5715000"/>
            <a:ext cx="533400" cy="5334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0968" name="Rectangle 24"/>
          <p:cNvSpPr>
            <a:spLocks noChangeArrowheads="1"/>
          </p:cNvSpPr>
          <p:nvPr/>
        </p:nvSpPr>
        <p:spPr bwMode="auto">
          <a:xfrm>
            <a:off x="7848600" y="1828801"/>
            <a:ext cx="2667000" cy="1200329"/>
          </a:xfrm>
          <a:prstGeom prst="rect">
            <a:avLst/>
          </a:prstGeom>
          <a:solidFill>
            <a:srgbClr val="CCFFFF"/>
          </a:solidFill>
          <a:ln w="25400">
            <a:solidFill>
              <a:schemeClr val="tx1"/>
            </a:solidFill>
            <a:miter lim="800000"/>
          </a:ln>
        </p:spPr>
        <p:txBody>
          <a:bodyPr>
            <a:spAutoFit/>
          </a:bodyPr>
          <a:lstStyle/>
          <a:p>
            <a:pPr>
              <a:spcBef>
                <a:spcPct val="50000"/>
              </a:spcBef>
            </a:pPr>
            <a:r>
              <a:rPr lang="zh-CN" altLang="en-US">
                <a:solidFill>
                  <a:srgbClr val="000000"/>
                </a:solidFill>
                <a:ea typeface="宋体" panose="02010600030101010101" pitchFamily="2" charset="-122"/>
              </a:rPr>
              <a:t>      如果乘积项是另外一个乘积项的因子，则这另外一个乘积项是多余的。</a:t>
            </a:r>
          </a:p>
        </p:txBody>
      </p:sp>
      <p:sp>
        <p:nvSpPr>
          <p:cNvPr id="210969" name="Rectangle 25"/>
          <p:cNvSpPr>
            <a:spLocks noChangeArrowheads="1"/>
          </p:cNvSpPr>
          <p:nvPr/>
        </p:nvSpPr>
        <p:spPr bwMode="auto">
          <a:xfrm>
            <a:off x="8153400" y="4572001"/>
            <a:ext cx="2362200" cy="1200329"/>
          </a:xfrm>
          <a:prstGeom prst="rect">
            <a:avLst/>
          </a:prstGeom>
          <a:solidFill>
            <a:srgbClr val="CCFFFF"/>
          </a:solidFill>
          <a:ln w="25400">
            <a:solidFill>
              <a:schemeClr val="tx1"/>
            </a:solidFill>
            <a:miter lim="800000"/>
          </a:ln>
        </p:spPr>
        <p:txBody>
          <a:bodyPr>
            <a:spAutoFit/>
          </a:bodyPr>
          <a:lstStyle/>
          <a:p>
            <a:pPr>
              <a:spcBef>
                <a:spcPct val="50000"/>
              </a:spcBef>
            </a:pPr>
            <a:r>
              <a:rPr lang="zh-CN" altLang="en-US">
                <a:solidFill>
                  <a:srgbClr val="000000"/>
                </a:solidFill>
                <a:ea typeface="宋体" panose="02010600030101010101" pitchFamily="2" charset="-122"/>
              </a:rPr>
              <a:t>     如果一个乘积项的反是另一个乘积项的因子，则这个因子是多余的。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210947"/>
                                        </p:tgtEl>
                                        <p:attrNameLst>
                                          <p:attrName>style.visibility</p:attrName>
                                        </p:attrNameLst>
                                      </p:cBhvr>
                                      <p:to>
                                        <p:strVal val="visible"/>
                                      </p:to>
                                    </p:set>
                                    <p:animEffect transition="in" filter="slide(fromLeft)">
                                      <p:cBhvr>
                                        <p:cTn id="7" dur="500"/>
                                        <p:tgtEl>
                                          <p:spTgt spid="21094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10948"/>
                                        </p:tgtEl>
                                        <p:attrNameLst>
                                          <p:attrName>style.visibility</p:attrName>
                                        </p:attrNameLst>
                                      </p:cBhvr>
                                      <p:to>
                                        <p:strVal val="visible"/>
                                      </p:to>
                                    </p:set>
                                    <p:animEffect transition="in" filter="slide(fromLeft)">
                                      <p:cBhvr>
                                        <p:cTn id="12" dur="500"/>
                                        <p:tgtEl>
                                          <p:spTgt spid="21094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210968"/>
                                        </p:tgtEl>
                                        <p:attrNameLst>
                                          <p:attrName>style.visibility</p:attrName>
                                        </p:attrNameLst>
                                      </p:cBhvr>
                                      <p:to>
                                        <p:strVal val="visible"/>
                                      </p:to>
                                    </p:set>
                                    <p:animEffect transition="in" filter="slide(fromRight)">
                                      <p:cBhvr>
                                        <p:cTn id="17" dur="500"/>
                                        <p:tgtEl>
                                          <p:spTgt spid="21096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210970"/>
                                        </p:tgtEl>
                                        <p:attrNameLst>
                                          <p:attrName>style.visibility</p:attrName>
                                        </p:attrNameLst>
                                      </p:cBhvr>
                                      <p:to>
                                        <p:strVal val="visible"/>
                                      </p:to>
                                    </p:set>
                                    <p:animEffect transition="in" filter="slide(fromBottom)">
                                      <p:cBhvr>
                                        <p:cTn id="22" dur="500"/>
                                        <p:tgtEl>
                                          <p:spTgt spid="21097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210961"/>
                                        </p:tgtEl>
                                        <p:attrNameLst>
                                          <p:attrName>style.visibility</p:attrName>
                                        </p:attrNameLst>
                                      </p:cBhvr>
                                      <p:to>
                                        <p:strVal val="visible"/>
                                      </p:to>
                                    </p:set>
                                    <p:animEffect transition="in" filter="slide(fromBottom)">
                                      <p:cBhvr>
                                        <p:cTn id="27" dur="500"/>
                                        <p:tgtEl>
                                          <p:spTgt spid="210961"/>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210962"/>
                                        </p:tgtEl>
                                        <p:attrNameLst>
                                          <p:attrName>style.visibility</p:attrName>
                                        </p:attrNameLst>
                                      </p:cBhvr>
                                      <p:to>
                                        <p:strVal val="visible"/>
                                      </p:to>
                                    </p:set>
                                    <p:animEffect transition="in" filter="slide(fromLeft)">
                                      <p:cBhvr>
                                        <p:cTn id="32" dur="500"/>
                                        <p:tgtEl>
                                          <p:spTgt spid="21096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210963"/>
                                        </p:tgtEl>
                                        <p:attrNameLst>
                                          <p:attrName>style.visibility</p:attrName>
                                        </p:attrNameLst>
                                      </p:cBhvr>
                                      <p:to>
                                        <p:strVal val="visible"/>
                                      </p:to>
                                    </p:set>
                                    <p:animEffect transition="in" filter="slide(fromBottom)">
                                      <p:cBhvr>
                                        <p:cTn id="37" dur="500"/>
                                        <p:tgtEl>
                                          <p:spTgt spid="210963"/>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210964"/>
                                        </p:tgtEl>
                                        <p:attrNameLst>
                                          <p:attrName>style.visibility</p:attrName>
                                        </p:attrNameLst>
                                      </p:cBhvr>
                                      <p:to>
                                        <p:strVal val="visible"/>
                                      </p:to>
                                    </p:set>
                                    <p:animEffect transition="in" filter="slide(fromLeft)">
                                      <p:cBhvr>
                                        <p:cTn id="42" dur="500"/>
                                        <p:tgtEl>
                                          <p:spTgt spid="210964"/>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nodeType="clickEffect">
                                  <p:stCondLst>
                                    <p:cond delay="0"/>
                                  </p:stCondLst>
                                  <p:childTnLst>
                                    <p:set>
                                      <p:cBhvr>
                                        <p:cTn id="46" dur="1" fill="hold">
                                          <p:stCondLst>
                                            <p:cond delay="0"/>
                                          </p:stCondLst>
                                        </p:cTn>
                                        <p:tgtEl>
                                          <p:spTgt spid="210965"/>
                                        </p:tgtEl>
                                        <p:attrNameLst>
                                          <p:attrName>style.visibility</p:attrName>
                                        </p:attrNameLst>
                                      </p:cBhvr>
                                      <p:to>
                                        <p:strVal val="visible"/>
                                      </p:to>
                                    </p:set>
                                    <p:animEffect transition="in" filter="slide(fromLeft)">
                                      <p:cBhvr>
                                        <p:cTn id="47" dur="500"/>
                                        <p:tgtEl>
                                          <p:spTgt spid="210965"/>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2" fill="hold" nodeType="clickEffect">
                                  <p:stCondLst>
                                    <p:cond delay="0"/>
                                  </p:stCondLst>
                                  <p:childTnLst>
                                    <p:set>
                                      <p:cBhvr>
                                        <p:cTn id="51" dur="1" fill="hold">
                                          <p:stCondLst>
                                            <p:cond delay="0"/>
                                          </p:stCondLst>
                                        </p:cTn>
                                        <p:tgtEl>
                                          <p:spTgt spid="210969"/>
                                        </p:tgtEl>
                                        <p:attrNameLst>
                                          <p:attrName>style.visibility</p:attrName>
                                        </p:attrNameLst>
                                      </p:cBhvr>
                                      <p:to>
                                        <p:strVal val="visible"/>
                                      </p:to>
                                    </p:set>
                                    <p:animEffect transition="in" filter="slide(fromRight)">
                                      <p:cBhvr>
                                        <p:cTn id="52" dur="500"/>
                                        <p:tgtEl>
                                          <p:spTgt spid="2109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68" grpId="0" animBg="1"/>
      <p:bldP spid="21096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日期占位符 1"/>
          <p:cNvSpPr>
            <a:spLocks noGrp="1"/>
          </p:cNvSpPr>
          <p:nvPr>
            <p:ph type="dt" sz="quarter" idx="10"/>
          </p:nvPr>
        </p:nvSpPr>
        <p:spPr/>
        <p:txBody>
          <a:bodyPr/>
          <a:lstStyle/>
          <a:p>
            <a:pPr>
              <a:defRPr/>
            </a:pPr>
            <a:r>
              <a:rPr lang="zh-CN" altLang="en-US"/>
              <a:t>数字系统设计</a:t>
            </a:r>
          </a:p>
        </p:txBody>
      </p:sp>
      <p:sp>
        <p:nvSpPr>
          <p:cNvPr id="14" name="页脚占位符 2"/>
          <p:cNvSpPr>
            <a:spLocks noGrp="1"/>
          </p:cNvSpPr>
          <p:nvPr>
            <p:ph type="ftr" sz="quarter" idx="11"/>
          </p:nvPr>
        </p:nvSpPr>
        <p:spPr/>
        <p:txBody>
          <a:bodyPr/>
          <a:lstStyle/>
          <a:p>
            <a:pPr>
              <a:defRPr/>
            </a:pPr>
            <a:r>
              <a:rPr lang="zh-CN" altLang="en-US"/>
              <a:t>华东理工大学电子与通信工程系</a:t>
            </a:r>
          </a:p>
        </p:txBody>
      </p:sp>
      <p:sp>
        <p:nvSpPr>
          <p:cNvPr id="211970" name="Text Box 2"/>
          <p:cNvSpPr txBox="1">
            <a:spLocks noChangeArrowheads="1"/>
          </p:cNvSpPr>
          <p:nvPr/>
        </p:nvSpPr>
        <p:spPr bwMode="auto">
          <a:xfrm>
            <a:off x="2743200" y="533401"/>
            <a:ext cx="2209800" cy="519113"/>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３</a:t>
            </a:r>
            <a:r>
              <a:rPr lang="en-US" altLang="zh-CN" sz="2800">
                <a:latin typeface="黑体" panose="02010609060101010101" pitchFamily="49" charset="-122"/>
                <a:ea typeface="黑体" panose="02010609060101010101" pitchFamily="49" charset="-122"/>
              </a:rPr>
              <a:t>) </a:t>
            </a:r>
            <a:r>
              <a:rPr lang="zh-CN" altLang="en-US" sz="2800">
                <a:latin typeface="黑体" panose="02010609060101010101" pitchFamily="49" charset="-122"/>
                <a:ea typeface="黑体" panose="02010609060101010101" pitchFamily="49" charset="-122"/>
              </a:rPr>
              <a:t>配项法</a:t>
            </a:r>
          </a:p>
        </p:txBody>
      </p:sp>
      <p:grpSp>
        <p:nvGrpSpPr>
          <p:cNvPr id="211971" name="Group 3"/>
          <p:cNvGrpSpPr/>
          <p:nvPr/>
        </p:nvGrpSpPr>
        <p:grpSpPr bwMode="auto">
          <a:xfrm>
            <a:off x="1905000" y="1143002"/>
            <a:ext cx="8305800" cy="646113"/>
            <a:chOff x="192" y="467"/>
            <a:chExt cx="5232" cy="407"/>
          </a:xfrm>
        </p:grpSpPr>
        <p:sp>
          <p:nvSpPr>
            <p:cNvPr id="36869" name="Text Box 4"/>
            <p:cNvSpPr txBox="1">
              <a:spLocks noChangeArrowheads="1"/>
            </p:cNvSpPr>
            <p:nvPr/>
          </p:nvSpPr>
          <p:spPr bwMode="auto">
            <a:xfrm>
              <a:off x="192" y="467"/>
              <a:ext cx="523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r>
                <a:rPr lang="zh-CN" altLang="en-US">
                  <a:latin typeface="Times New Roman" panose="02020603050405020304" pitchFamily="18" charset="0"/>
                  <a:ea typeface="宋体" panose="02010600030101010101" pitchFamily="2" charset="-122"/>
                </a:rPr>
                <a:t>（１）利用公式Ａ＝Ａ（Ｂ＋Ｂ），为某一项配上其所缺的变量，以便用其它方法进行化简。</a:t>
              </a:r>
            </a:p>
          </p:txBody>
        </p:sp>
        <p:sp>
          <p:nvSpPr>
            <p:cNvPr id="36870" name="Line 5"/>
            <p:cNvSpPr>
              <a:spLocks noChangeShapeType="1"/>
            </p:cNvSpPr>
            <p:nvPr/>
          </p:nvSpPr>
          <p:spPr bwMode="auto">
            <a:xfrm>
              <a:off x="2640" y="480"/>
              <a:ext cx="24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1974" name="Object 6"/>
          <p:cNvGraphicFramePr>
            <a:graphicFrameLocks noChangeAspect="1"/>
          </p:cNvGraphicFramePr>
          <p:nvPr/>
        </p:nvGraphicFramePr>
        <p:xfrm>
          <a:off x="2965451" y="1947864"/>
          <a:ext cx="6086475" cy="2776537"/>
        </p:xfrm>
        <a:graphic>
          <a:graphicData uri="http://schemas.openxmlformats.org/presentationml/2006/ole">
            <mc:AlternateContent xmlns:mc="http://schemas.openxmlformats.org/markup-compatibility/2006">
              <mc:Choice xmlns:v="urn:schemas-microsoft-com:vml" Requires="v">
                <p:oleObj spid="_x0000_s5123" r:id="rId3" imgW="2743200" imgH="1181100" progId="Equation.3">
                  <p:embed/>
                </p:oleObj>
              </mc:Choice>
              <mc:Fallback>
                <p:oleObj r:id="rId3" imgW="2743200" imgH="1181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5451" y="1947864"/>
                        <a:ext cx="6086475" cy="2776537"/>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1975" name="Line 7"/>
          <p:cNvSpPr>
            <a:spLocks noChangeShapeType="1"/>
          </p:cNvSpPr>
          <p:nvPr/>
        </p:nvSpPr>
        <p:spPr bwMode="auto">
          <a:xfrm>
            <a:off x="5181600" y="2971800"/>
            <a:ext cx="990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1976" name="Line 8"/>
          <p:cNvSpPr>
            <a:spLocks noChangeShapeType="1"/>
          </p:cNvSpPr>
          <p:nvPr/>
        </p:nvSpPr>
        <p:spPr bwMode="auto">
          <a:xfrm>
            <a:off x="7543800" y="2971800"/>
            <a:ext cx="990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1977" name="Text Box 9"/>
          <p:cNvSpPr txBox="1">
            <a:spLocks noChangeArrowheads="1"/>
          </p:cNvSpPr>
          <p:nvPr/>
        </p:nvSpPr>
        <p:spPr bwMode="auto">
          <a:xfrm>
            <a:off x="1752600" y="4724400"/>
            <a:ext cx="8305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a:latin typeface="Times New Roman" panose="02020603050405020304" pitchFamily="18" charset="0"/>
                <a:ea typeface="宋体" panose="02010600030101010101" pitchFamily="2" charset="-122"/>
              </a:rPr>
              <a:t>（２）利用公式Ａ＋Ａ＝Ａ，为某项配上其所能合并的项。</a:t>
            </a:r>
          </a:p>
        </p:txBody>
      </p:sp>
      <p:graphicFrame>
        <p:nvGraphicFramePr>
          <p:cNvPr id="211978" name="Object 10"/>
          <p:cNvGraphicFramePr>
            <a:graphicFrameLocks noChangeAspect="1"/>
          </p:cNvGraphicFramePr>
          <p:nvPr/>
        </p:nvGraphicFramePr>
        <p:xfrm>
          <a:off x="2073276" y="5211764"/>
          <a:ext cx="7908925" cy="1646237"/>
        </p:xfrm>
        <a:graphic>
          <a:graphicData uri="http://schemas.openxmlformats.org/presentationml/2006/ole">
            <mc:AlternateContent xmlns:mc="http://schemas.openxmlformats.org/markup-compatibility/2006">
              <mc:Choice xmlns:v="urn:schemas-microsoft-com:vml" Requires="v">
                <p:oleObj spid="_x0000_s5124" r:id="rId5" imgW="3200400" imgH="673100" progId="Equation.3">
                  <p:embed/>
                </p:oleObj>
              </mc:Choice>
              <mc:Fallback>
                <p:oleObj r:id="rId5" imgW="3200400" imgH="6731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3276" y="5211764"/>
                        <a:ext cx="7908925" cy="1646237"/>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1979" name="Line 11"/>
          <p:cNvSpPr>
            <a:spLocks noChangeShapeType="1"/>
          </p:cNvSpPr>
          <p:nvPr/>
        </p:nvSpPr>
        <p:spPr bwMode="auto">
          <a:xfrm>
            <a:off x="5181600" y="6248400"/>
            <a:ext cx="990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1980" name="Line 12"/>
          <p:cNvSpPr>
            <a:spLocks noChangeShapeType="1"/>
          </p:cNvSpPr>
          <p:nvPr/>
        </p:nvSpPr>
        <p:spPr bwMode="auto">
          <a:xfrm>
            <a:off x="7772400" y="6248400"/>
            <a:ext cx="990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119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11971"/>
                                        </p:tgtEl>
                                        <p:attrNameLst>
                                          <p:attrName>style.visibility</p:attrName>
                                        </p:attrNameLst>
                                      </p:cBhvr>
                                      <p:to>
                                        <p:strVal val="visible"/>
                                      </p:to>
                                    </p:set>
                                    <p:animEffect transition="in" filter="wipe(left)">
                                      <p:cBhvr>
                                        <p:cTn id="11" dur="500"/>
                                        <p:tgtEl>
                                          <p:spTgt spid="211971"/>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nodeType="clickEffect">
                                  <p:stCondLst>
                                    <p:cond delay="0"/>
                                  </p:stCondLst>
                                  <p:childTnLst>
                                    <p:set>
                                      <p:cBhvr>
                                        <p:cTn id="15" dur="1" fill="hold">
                                          <p:stCondLst>
                                            <p:cond delay="0"/>
                                          </p:stCondLst>
                                        </p:cTn>
                                        <p:tgtEl>
                                          <p:spTgt spid="211974"/>
                                        </p:tgtEl>
                                        <p:attrNameLst>
                                          <p:attrName>style.visibility</p:attrName>
                                        </p:attrNameLst>
                                      </p:cBhvr>
                                      <p:to>
                                        <p:strVal val="visible"/>
                                      </p:to>
                                    </p:set>
                                    <p:animEffect transition="in" filter="barn(outVertical)">
                                      <p:cBhvr>
                                        <p:cTn id="16" dur="500"/>
                                        <p:tgtEl>
                                          <p:spTgt spid="211974"/>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211975"/>
                                        </p:tgtEl>
                                        <p:attrNameLst>
                                          <p:attrName>style.visibility</p:attrName>
                                        </p:attrNameLst>
                                      </p:cBhvr>
                                      <p:to>
                                        <p:strVal val="visible"/>
                                      </p:to>
                                    </p:set>
                                    <p:animEffect transition="in" filter="slide(fromLeft)">
                                      <p:cBhvr>
                                        <p:cTn id="21" dur="500"/>
                                        <p:tgtEl>
                                          <p:spTgt spid="211975"/>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211976"/>
                                        </p:tgtEl>
                                        <p:attrNameLst>
                                          <p:attrName>style.visibility</p:attrName>
                                        </p:attrNameLst>
                                      </p:cBhvr>
                                      <p:to>
                                        <p:strVal val="visible"/>
                                      </p:to>
                                    </p:set>
                                    <p:animEffect transition="in" filter="slide(fromLeft)">
                                      <p:cBhvr>
                                        <p:cTn id="26" dur="500"/>
                                        <p:tgtEl>
                                          <p:spTgt spid="21197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11977"/>
                                        </p:tgtEl>
                                        <p:attrNameLst>
                                          <p:attrName>style.visibility</p:attrName>
                                        </p:attrNameLst>
                                      </p:cBhvr>
                                      <p:to>
                                        <p:strVal val="visible"/>
                                      </p:to>
                                    </p:set>
                                    <p:animEffect transition="in" filter="wipe(left)">
                                      <p:cBhvr>
                                        <p:cTn id="31" dur="500"/>
                                        <p:tgtEl>
                                          <p:spTgt spid="211977"/>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37" fill="hold" nodeType="clickEffect">
                                  <p:stCondLst>
                                    <p:cond delay="0"/>
                                  </p:stCondLst>
                                  <p:childTnLst>
                                    <p:set>
                                      <p:cBhvr>
                                        <p:cTn id="35" dur="1" fill="hold">
                                          <p:stCondLst>
                                            <p:cond delay="0"/>
                                          </p:stCondLst>
                                        </p:cTn>
                                        <p:tgtEl>
                                          <p:spTgt spid="211978"/>
                                        </p:tgtEl>
                                        <p:attrNameLst>
                                          <p:attrName>style.visibility</p:attrName>
                                        </p:attrNameLst>
                                      </p:cBhvr>
                                      <p:to>
                                        <p:strVal val="visible"/>
                                      </p:to>
                                    </p:set>
                                    <p:animEffect transition="in" filter="barn(outVertical)">
                                      <p:cBhvr>
                                        <p:cTn id="36" dur="500"/>
                                        <p:tgtEl>
                                          <p:spTgt spid="211978"/>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211979"/>
                                        </p:tgtEl>
                                        <p:attrNameLst>
                                          <p:attrName>style.visibility</p:attrName>
                                        </p:attrNameLst>
                                      </p:cBhvr>
                                      <p:to>
                                        <p:strVal val="visible"/>
                                      </p:to>
                                    </p:set>
                                    <p:animEffect transition="in" filter="slide(fromLeft)">
                                      <p:cBhvr>
                                        <p:cTn id="41" dur="500"/>
                                        <p:tgtEl>
                                          <p:spTgt spid="211979"/>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211980"/>
                                        </p:tgtEl>
                                        <p:attrNameLst>
                                          <p:attrName>style.visibility</p:attrName>
                                        </p:attrNameLst>
                                      </p:cBhvr>
                                      <p:to>
                                        <p:strVal val="visible"/>
                                      </p:to>
                                    </p:set>
                                    <p:animEffect transition="in" filter="slide(fromLeft)">
                                      <p:cBhvr>
                                        <p:cTn id="46" dur="500"/>
                                        <p:tgtEl>
                                          <p:spTgt spid="211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970" grpId="0" animBg="1"/>
      <p:bldP spid="21197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日期占位符 1"/>
          <p:cNvSpPr>
            <a:spLocks noGrp="1"/>
          </p:cNvSpPr>
          <p:nvPr>
            <p:ph type="dt" sz="quarter" idx="10"/>
          </p:nvPr>
        </p:nvSpPr>
        <p:spPr/>
        <p:txBody>
          <a:bodyPr/>
          <a:lstStyle/>
          <a:p>
            <a:pPr>
              <a:defRPr/>
            </a:pPr>
            <a:r>
              <a:rPr lang="zh-CN" altLang="en-US"/>
              <a:t>数字系统设计</a:t>
            </a:r>
          </a:p>
        </p:txBody>
      </p:sp>
      <p:sp>
        <p:nvSpPr>
          <p:cNvPr id="13" name="页脚占位符 2"/>
          <p:cNvSpPr>
            <a:spLocks noGrp="1"/>
          </p:cNvSpPr>
          <p:nvPr>
            <p:ph type="ftr" sz="quarter" idx="11"/>
          </p:nvPr>
        </p:nvSpPr>
        <p:spPr/>
        <p:txBody>
          <a:bodyPr/>
          <a:lstStyle/>
          <a:p>
            <a:pPr>
              <a:defRPr/>
            </a:pPr>
            <a:r>
              <a:rPr lang="zh-CN" altLang="en-US"/>
              <a:t>华东理工大学电子与通信工程系</a:t>
            </a:r>
          </a:p>
        </p:txBody>
      </p:sp>
      <p:sp>
        <p:nvSpPr>
          <p:cNvPr id="212994" name="Text Box 2"/>
          <p:cNvSpPr txBox="1">
            <a:spLocks noChangeArrowheads="1"/>
          </p:cNvSpPr>
          <p:nvPr/>
        </p:nvSpPr>
        <p:spPr bwMode="auto">
          <a:xfrm>
            <a:off x="1905000" y="1385888"/>
            <a:ext cx="3657600" cy="519112"/>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a:latin typeface="幼圆" panose="02010509060101010101" pitchFamily="49" charset="-122"/>
                <a:ea typeface="黑体" panose="02010609060101010101" pitchFamily="49" charset="-122"/>
              </a:rPr>
              <a:t>(</a:t>
            </a:r>
            <a:r>
              <a:rPr lang="zh-CN" altLang="en-US" sz="2800">
                <a:latin typeface="幼圆" panose="02010509060101010101" pitchFamily="49" charset="-122"/>
                <a:ea typeface="黑体" panose="02010609060101010101" pitchFamily="49" charset="-122"/>
              </a:rPr>
              <a:t>４</a:t>
            </a:r>
            <a:r>
              <a:rPr lang="en-US" altLang="zh-CN" sz="2800">
                <a:latin typeface="幼圆" panose="02010509060101010101" pitchFamily="49" charset="-122"/>
                <a:ea typeface="黑体" panose="02010609060101010101" pitchFamily="49" charset="-122"/>
              </a:rPr>
              <a:t>)</a:t>
            </a:r>
            <a:r>
              <a:rPr lang="zh-CN" altLang="en-US" sz="2800">
                <a:latin typeface="幼圆" panose="02010509060101010101" pitchFamily="49" charset="-122"/>
                <a:ea typeface="黑体" panose="02010609060101010101" pitchFamily="49" charset="-122"/>
              </a:rPr>
              <a:t>消去冗余项法</a:t>
            </a:r>
            <a:endParaRPr lang="zh-CN" altLang="en-US" sz="2800">
              <a:latin typeface="Times New Roman" panose="02020603050405020304" pitchFamily="18" charset="0"/>
              <a:ea typeface="黑体" panose="02010609060101010101" pitchFamily="49" charset="-122"/>
            </a:endParaRPr>
          </a:p>
        </p:txBody>
      </p:sp>
      <p:grpSp>
        <p:nvGrpSpPr>
          <p:cNvPr id="212995" name="Group 3"/>
          <p:cNvGrpSpPr/>
          <p:nvPr/>
        </p:nvGrpSpPr>
        <p:grpSpPr bwMode="auto">
          <a:xfrm>
            <a:off x="2590800" y="2073277"/>
            <a:ext cx="6172200" cy="646113"/>
            <a:chOff x="192" y="528"/>
            <a:chExt cx="3888" cy="407"/>
          </a:xfrm>
        </p:grpSpPr>
        <p:sp>
          <p:nvSpPr>
            <p:cNvPr id="37893" name="Text Box 4"/>
            <p:cNvSpPr txBox="1">
              <a:spLocks noChangeArrowheads="1"/>
            </p:cNvSpPr>
            <p:nvPr/>
          </p:nvSpPr>
          <p:spPr bwMode="auto">
            <a:xfrm>
              <a:off x="192" y="528"/>
              <a:ext cx="3888"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a:latin typeface="Times New Roman" panose="02020603050405020304" pitchFamily="18" charset="0"/>
                  <a:ea typeface="宋体" panose="02010600030101010101" pitchFamily="2" charset="-122"/>
                </a:rPr>
                <a:t>利用附加律ＡＢ＋ＡＣ＋ＢＣ＝ＡＢ＋ＡＣ，将冗余项ＢＣ消去。</a:t>
              </a:r>
            </a:p>
          </p:txBody>
        </p:sp>
        <p:sp>
          <p:nvSpPr>
            <p:cNvPr id="37894" name="Line 5"/>
            <p:cNvSpPr>
              <a:spLocks noChangeShapeType="1"/>
            </p:cNvSpPr>
            <p:nvPr/>
          </p:nvSpPr>
          <p:spPr bwMode="auto">
            <a:xfrm>
              <a:off x="1716" y="564"/>
              <a:ext cx="19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895" name="Line 6"/>
            <p:cNvSpPr>
              <a:spLocks noChangeShapeType="1"/>
            </p:cNvSpPr>
            <p:nvPr/>
          </p:nvSpPr>
          <p:spPr bwMode="auto">
            <a:xfrm>
              <a:off x="3444" y="564"/>
              <a:ext cx="19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2999" name="Object 7"/>
          <p:cNvGraphicFramePr>
            <a:graphicFrameLocks noChangeAspect="1"/>
          </p:cNvGraphicFramePr>
          <p:nvPr/>
        </p:nvGraphicFramePr>
        <p:xfrm>
          <a:off x="3330576" y="3009900"/>
          <a:ext cx="4843463" cy="2019300"/>
        </p:xfrm>
        <a:graphic>
          <a:graphicData uri="http://schemas.openxmlformats.org/presentationml/2006/ole">
            <mc:AlternateContent xmlns:mc="http://schemas.openxmlformats.org/markup-compatibility/2006">
              <mc:Choice xmlns:v="urn:schemas-microsoft-com:vml" Requires="v">
                <p:oleObj spid="_x0000_s6147" r:id="rId3" imgW="1828800" imgH="685800" progId="Equation.3">
                  <p:embed/>
                </p:oleObj>
              </mc:Choice>
              <mc:Fallback>
                <p:oleObj r:id="rId3" imgW="1828800" imgH="685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0576" y="3009900"/>
                        <a:ext cx="4843463" cy="2019300"/>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3000" name="Object 8"/>
          <p:cNvGraphicFramePr>
            <a:graphicFrameLocks noChangeAspect="1"/>
          </p:cNvGraphicFramePr>
          <p:nvPr/>
        </p:nvGraphicFramePr>
        <p:xfrm>
          <a:off x="3330575" y="5172076"/>
          <a:ext cx="4845050" cy="1152525"/>
        </p:xfrm>
        <a:graphic>
          <a:graphicData uri="http://schemas.openxmlformats.org/presentationml/2006/ole">
            <mc:AlternateContent xmlns:mc="http://schemas.openxmlformats.org/markup-compatibility/2006">
              <mc:Choice xmlns:v="urn:schemas-microsoft-com:vml" Requires="v">
                <p:oleObj spid="_x0000_s6148" r:id="rId5" imgW="1943100" imgH="431800" progId="Equation.3">
                  <p:embed/>
                </p:oleObj>
              </mc:Choice>
              <mc:Fallback>
                <p:oleObj r:id="rId5" imgW="1943100" imgH="4318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30575" y="5172076"/>
                        <a:ext cx="4845050" cy="1152525"/>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3001" name="Line 9"/>
          <p:cNvSpPr>
            <a:spLocks noChangeShapeType="1"/>
          </p:cNvSpPr>
          <p:nvPr/>
        </p:nvSpPr>
        <p:spPr bwMode="auto">
          <a:xfrm rot="20800098">
            <a:off x="7253288" y="3800475"/>
            <a:ext cx="838200" cy="6096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3002" name="Line 10"/>
          <p:cNvSpPr>
            <a:spLocks noChangeShapeType="1"/>
          </p:cNvSpPr>
          <p:nvPr/>
        </p:nvSpPr>
        <p:spPr bwMode="auto">
          <a:xfrm rot="37585">
            <a:off x="5867400" y="5310188"/>
            <a:ext cx="2362200" cy="2286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900" name="Rectangle 11"/>
          <p:cNvSpPr>
            <a:spLocks noChangeArrowheads="1"/>
          </p:cNvSpPr>
          <p:nvPr/>
        </p:nvSpPr>
        <p:spPr bwMode="auto">
          <a:xfrm>
            <a:off x="2667000" y="533401"/>
            <a:ext cx="5486400"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0000"/>
              </a:lnSpc>
            </a:pPr>
            <a:r>
              <a:rPr lang="zh-CN" altLang="en-US" sz="2800">
                <a:solidFill>
                  <a:schemeClr val="bg1"/>
                </a:solidFill>
                <a:latin typeface="宋体" panose="02010600030101010101" pitchFamily="2" charset="-122"/>
                <a:ea typeface="宋体" panose="02010600030101010101" pitchFamily="2" charset="-122"/>
              </a:rPr>
              <a:t>　</a:t>
            </a:r>
            <a:r>
              <a:rPr lang="en-US" altLang="zh-CN" sz="2800">
                <a:solidFill>
                  <a:schemeClr val="bg1"/>
                </a:solidFill>
                <a:latin typeface="宋体" panose="02010600030101010101" pitchFamily="2" charset="-122"/>
                <a:ea typeface="宋体" panose="02010600030101010101" pitchFamily="2" charset="-122"/>
              </a:rPr>
              <a:t>2.2.7</a:t>
            </a:r>
            <a:r>
              <a:rPr lang="zh-CN" altLang="en-US" sz="2800">
                <a:solidFill>
                  <a:schemeClr val="bg1"/>
                </a:solidFill>
                <a:latin typeface="宋体" panose="02010600030101010101" pitchFamily="2" charset="-122"/>
                <a:ea typeface="宋体" panose="02010600030101010101" pitchFamily="2" charset="-122"/>
              </a:rPr>
              <a:t>　逻辑函数的公式化简法</a:t>
            </a:r>
            <a:endParaRPr lang="zh-CN" altLang="en-US" sz="2800">
              <a:latin typeface="宋体" panose="02010600030101010101" pitchFamily="2" charset="-122"/>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2129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212995"/>
                                        </p:tgtEl>
                                        <p:attrNameLst>
                                          <p:attrName>style.visibility</p:attrName>
                                        </p:attrNameLst>
                                      </p:cBhvr>
                                      <p:to>
                                        <p:strVal val="visible"/>
                                      </p:to>
                                    </p:set>
                                    <p:animEffect transition="in" filter="wipe(left)">
                                      <p:cBhvr>
                                        <p:cTn id="11" dur="500"/>
                                        <p:tgtEl>
                                          <p:spTgt spid="212995"/>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nodeType="clickEffect">
                                  <p:stCondLst>
                                    <p:cond delay="0"/>
                                  </p:stCondLst>
                                  <p:childTnLst>
                                    <p:set>
                                      <p:cBhvr>
                                        <p:cTn id="15" dur="1" fill="hold">
                                          <p:stCondLst>
                                            <p:cond delay="0"/>
                                          </p:stCondLst>
                                        </p:cTn>
                                        <p:tgtEl>
                                          <p:spTgt spid="212999"/>
                                        </p:tgtEl>
                                        <p:attrNameLst>
                                          <p:attrName>style.visibility</p:attrName>
                                        </p:attrNameLst>
                                      </p:cBhvr>
                                      <p:to>
                                        <p:strVal val="visible"/>
                                      </p:to>
                                    </p:set>
                                    <p:animEffect transition="in" filter="barn(outVertical)">
                                      <p:cBhvr>
                                        <p:cTn id="16" dur="500"/>
                                        <p:tgtEl>
                                          <p:spTgt spid="212999"/>
                                        </p:tgtEl>
                                      </p:cBhvr>
                                    </p:animEffect>
                                  </p:childTnLst>
                                </p:cTn>
                              </p:par>
                            </p:childTnLst>
                          </p:cTn>
                        </p:par>
                        <p:par>
                          <p:cTn id="17" fill="hold">
                            <p:stCondLst>
                              <p:cond delay="500"/>
                            </p:stCondLst>
                            <p:childTnLst>
                              <p:par>
                                <p:cTn id="18" presetID="2" presetClass="entr" presetSubtype="8" fill="hold" nodeType="afterEffect">
                                  <p:stCondLst>
                                    <p:cond delay="0"/>
                                  </p:stCondLst>
                                  <p:childTnLst>
                                    <p:set>
                                      <p:cBhvr>
                                        <p:cTn id="19" dur="1" fill="hold">
                                          <p:stCondLst>
                                            <p:cond delay="0"/>
                                          </p:stCondLst>
                                        </p:cTn>
                                        <p:tgtEl>
                                          <p:spTgt spid="213001"/>
                                        </p:tgtEl>
                                        <p:attrNameLst>
                                          <p:attrName>style.visibility</p:attrName>
                                        </p:attrNameLst>
                                      </p:cBhvr>
                                      <p:to>
                                        <p:strVal val="visible"/>
                                      </p:to>
                                    </p:set>
                                    <p:anim calcmode="lin" valueType="num">
                                      <p:cBhvr additive="base">
                                        <p:cTn id="20" dur="500" fill="hold"/>
                                        <p:tgtEl>
                                          <p:spTgt spid="213001"/>
                                        </p:tgtEl>
                                        <p:attrNameLst>
                                          <p:attrName>ppt_x</p:attrName>
                                        </p:attrNameLst>
                                      </p:cBhvr>
                                      <p:tavLst>
                                        <p:tav tm="0">
                                          <p:val>
                                            <p:strVal val="0-#ppt_w/2"/>
                                          </p:val>
                                        </p:tav>
                                        <p:tav tm="100000">
                                          <p:val>
                                            <p:strVal val="#ppt_x"/>
                                          </p:val>
                                        </p:tav>
                                      </p:tavLst>
                                    </p:anim>
                                    <p:anim calcmode="lin" valueType="num">
                                      <p:cBhvr additive="base">
                                        <p:cTn id="21" dur="500" fill="hold"/>
                                        <p:tgtEl>
                                          <p:spTgt spid="213001"/>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nodeType="clickEffect">
                                  <p:stCondLst>
                                    <p:cond delay="0"/>
                                  </p:stCondLst>
                                  <p:childTnLst>
                                    <p:set>
                                      <p:cBhvr>
                                        <p:cTn id="25" dur="1" fill="hold">
                                          <p:stCondLst>
                                            <p:cond delay="0"/>
                                          </p:stCondLst>
                                        </p:cTn>
                                        <p:tgtEl>
                                          <p:spTgt spid="213000"/>
                                        </p:tgtEl>
                                        <p:attrNameLst>
                                          <p:attrName>style.visibility</p:attrName>
                                        </p:attrNameLst>
                                      </p:cBhvr>
                                      <p:to>
                                        <p:strVal val="visible"/>
                                      </p:to>
                                    </p:set>
                                    <p:animEffect transition="in" filter="barn(outVertical)">
                                      <p:cBhvr>
                                        <p:cTn id="26" dur="500"/>
                                        <p:tgtEl>
                                          <p:spTgt spid="213000"/>
                                        </p:tgtEl>
                                      </p:cBhvr>
                                    </p:animEffect>
                                  </p:childTnLst>
                                </p:cTn>
                              </p:par>
                            </p:childTnLst>
                          </p:cTn>
                        </p:par>
                        <p:par>
                          <p:cTn id="27" fill="hold">
                            <p:stCondLst>
                              <p:cond delay="500"/>
                            </p:stCondLst>
                            <p:childTnLst>
                              <p:par>
                                <p:cTn id="28" presetID="2" presetClass="entr" presetSubtype="8" fill="hold" nodeType="afterEffect">
                                  <p:stCondLst>
                                    <p:cond delay="0"/>
                                  </p:stCondLst>
                                  <p:childTnLst>
                                    <p:set>
                                      <p:cBhvr>
                                        <p:cTn id="29" dur="1" fill="hold">
                                          <p:stCondLst>
                                            <p:cond delay="0"/>
                                          </p:stCondLst>
                                        </p:cTn>
                                        <p:tgtEl>
                                          <p:spTgt spid="213002"/>
                                        </p:tgtEl>
                                        <p:attrNameLst>
                                          <p:attrName>style.visibility</p:attrName>
                                        </p:attrNameLst>
                                      </p:cBhvr>
                                      <p:to>
                                        <p:strVal val="visible"/>
                                      </p:to>
                                    </p:set>
                                    <p:anim calcmode="lin" valueType="num">
                                      <p:cBhvr additive="base">
                                        <p:cTn id="30" dur="500" fill="hold"/>
                                        <p:tgtEl>
                                          <p:spTgt spid="213002"/>
                                        </p:tgtEl>
                                        <p:attrNameLst>
                                          <p:attrName>ppt_x</p:attrName>
                                        </p:attrNameLst>
                                      </p:cBhvr>
                                      <p:tavLst>
                                        <p:tav tm="0">
                                          <p:val>
                                            <p:strVal val="0-#ppt_w/2"/>
                                          </p:val>
                                        </p:tav>
                                        <p:tav tm="100000">
                                          <p:val>
                                            <p:strVal val="#ppt_x"/>
                                          </p:val>
                                        </p:tav>
                                      </p:tavLst>
                                    </p:anim>
                                    <p:anim calcmode="lin" valueType="num">
                                      <p:cBhvr additive="base">
                                        <p:cTn id="31" dur="500" fill="hold"/>
                                        <p:tgtEl>
                                          <p:spTgt spid="2130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1"/>
          <p:cNvSpPr>
            <a:spLocks noGrp="1"/>
          </p:cNvSpPr>
          <p:nvPr>
            <p:ph type="dt" sz="quarter" idx="10"/>
          </p:nvPr>
        </p:nvSpPr>
        <p:spPr/>
        <p:txBody>
          <a:bodyPr/>
          <a:lstStyle/>
          <a:p>
            <a:pPr>
              <a:defRPr/>
            </a:pPr>
            <a:r>
              <a:rPr lang="zh-CN" altLang="en-US"/>
              <a:t>数字系统设计</a:t>
            </a:r>
          </a:p>
        </p:txBody>
      </p:sp>
      <p:sp>
        <p:nvSpPr>
          <p:cNvPr id="12" name="页脚占位符 2"/>
          <p:cNvSpPr>
            <a:spLocks noGrp="1"/>
          </p:cNvSpPr>
          <p:nvPr>
            <p:ph type="ftr" sz="quarter" idx="11"/>
          </p:nvPr>
        </p:nvSpPr>
        <p:spPr/>
        <p:txBody>
          <a:bodyPr/>
          <a:lstStyle/>
          <a:p>
            <a:pPr>
              <a:defRPr/>
            </a:pPr>
            <a:r>
              <a:rPr lang="zh-CN" altLang="en-US"/>
              <a:t>华东理工大学电子与通信工程系</a:t>
            </a:r>
          </a:p>
        </p:txBody>
      </p:sp>
      <p:sp>
        <p:nvSpPr>
          <p:cNvPr id="214018" name="Text Box 2"/>
          <p:cNvSpPr txBox="1">
            <a:spLocks noChangeArrowheads="1"/>
          </p:cNvSpPr>
          <p:nvPr/>
        </p:nvSpPr>
        <p:spPr bwMode="auto">
          <a:xfrm>
            <a:off x="1828800" y="1295401"/>
            <a:ext cx="228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sz="2800">
                <a:solidFill>
                  <a:srgbClr val="FF3300"/>
                </a:solidFill>
                <a:latin typeface="Times New Roman" panose="02020603050405020304" pitchFamily="18" charset="0"/>
                <a:ea typeface="宋体" panose="02010600030101010101" pitchFamily="2" charset="-122"/>
              </a:rPr>
              <a:t>例：化简函数</a:t>
            </a:r>
          </a:p>
        </p:txBody>
      </p:sp>
      <p:graphicFrame>
        <p:nvGraphicFramePr>
          <p:cNvPr id="214019" name="Object 3"/>
          <p:cNvGraphicFramePr>
            <a:graphicFrameLocks noChangeAspect="1"/>
          </p:cNvGraphicFramePr>
          <p:nvPr/>
        </p:nvGraphicFramePr>
        <p:xfrm>
          <a:off x="1970089" y="1981200"/>
          <a:ext cx="8328025" cy="685800"/>
        </p:xfrm>
        <a:graphic>
          <a:graphicData uri="http://schemas.openxmlformats.org/presentationml/2006/ole">
            <mc:AlternateContent xmlns:mc="http://schemas.openxmlformats.org/markup-compatibility/2006">
              <mc:Choice xmlns:v="urn:schemas-microsoft-com:vml" Requires="v">
                <p:oleObj spid="_x0000_s7172" r:id="rId4" imgW="3365500" imgH="228600" progId="Equation.3">
                  <p:embed/>
                </p:oleObj>
              </mc:Choice>
              <mc:Fallback>
                <p:oleObj r:id="rId4" imgW="336550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0089" y="1981200"/>
                        <a:ext cx="8328025" cy="685800"/>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4020" name="Text Box 4"/>
          <p:cNvSpPr txBox="1">
            <a:spLocks noChangeArrowheads="1"/>
          </p:cNvSpPr>
          <p:nvPr/>
        </p:nvSpPr>
        <p:spPr bwMode="auto">
          <a:xfrm>
            <a:off x="2209800" y="2895601"/>
            <a:ext cx="815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sz="2800">
                <a:latin typeface="Times New Roman" panose="02020603050405020304" pitchFamily="18" charset="0"/>
                <a:ea typeface="宋体" panose="02010600030101010101" pitchFamily="2" charset="-122"/>
              </a:rPr>
              <a:t>解：①先求出</a:t>
            </a:r>
            <a:r>
              <a:rPr lang="en-US" altLang="zh-CN" sz="2800">
                <a:latin typeface="Times New Roman" panose="02020603050405020304" pitchFamily="18" charset="0"/>
                <a:ea typeface="宋体" panose="02010600030101010101" pitchFamily="2" charset="-122"/>
              </a:rPr>
              <a:t>Z</a:t>
            </a:r>
            <a:r>
              <a:rPr lang="zh-CN" altLang="en-US" sz="2800">
                <a:latin typeface="Times New Roman" panose="02020603050405020304" pitchFamily="18" charset="0"/>
                <a:ea typeface="宋体" panose="02010600030101010101" pitchFamily="2" charset="-122"/>
              </a:rPr>
              <a:t>的对偶函数</a:t>
            </a:r>
            <a:r>
              <a:rPr lang="en-US" altLang="zh-CN" sz="2800">
                <a:latin typeface="Times New Roman" panose="02020603050405020304" pitchFamily="18" charset="0"/>
                <a:ea typeface="宋体" panose="02010600030101010101" pitchFamily="2" charset="-122"/>
              </a:rPr>
              <a:t>Z</a:t>
            </a:r>
            <a:r>
              <a:rPr lang="zh-CN" altLang="en-US" sz="2800" i="1">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，并对其进行化简。　</a:t>
            </a:r>
          </a:p>
        </p:txBody>
      </p:sp>
      <p:graphicFrame>
        <p:nvGraphicFramePr>
          <p:cNvPr id="214021" name="Object 5"/>
          <p:cNvGraphicFramePr>
            <a:graphicFrameLocks noChangeAspect="1"/>
          </p:cNvGraphicFramePr>
          <p:nvPr/>
        </p:nvGraphicFramePr>
        <p:xfrm>
          <a:off x="2963864" y="3641725"/>
          <a:ext cx="6262687" cy="1111250"/>
        </p:xfrm>
        <a:graphic>
          <a:graphicData uri="http://schemas.openxmlformats.org/presentationml/2006/ole">
            <mc:AlternateContent xmlns:mc="http://schemas.openxmlformats.org/markup-compatibility/2006">
              <mc:Choice xmlns:v="urn:schemas-microsoft-com:vml" Requires="v">
                <p:oleObj spid="_x0000_s7173" r:id="rId6" imgW="2286000" imgH="431800" progId="Equation.3">
                  <p:embed/>
                </p:oleObj>
              </mc:Choice>
              <mc:Fallback>
                <p:oleObj r:id="rId6" imgW="2286000" imgH="4318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3864" y="3641725"/>
                        <a:ext cx="6262687" cy="1111250"/>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4022" name="Text Box 6"/>
          <p:cNvSpPr txBox="1">
            <a:spLocks noChangeArrowheads="1"/>
          </p:cNvSpPr>
          <p:nvPr/>
        </p:nvSpPr>
        <p:spPr bwMode="auto">
          <a:xfrm>
            <a:off x="2895600" y="5057776"/>
            <a:ext cx="731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spcBef>
                <a:spcPct val="50000"/>
              </a:spcBef>
            </a:pPr>
            <a:r>
              <a:rPr lang="zh-CN" altLang="en-US" sz="2800">
                <a:latin typeface="Times New Roman" panose="02020603050405020304" pitchFamily="18" charset="0"/>
                <a:ea typeface="宋体" panose="02010600030101010101" pitchFamily="2" charset="-122"/>
              </a:rPr>
              <a:t>②求</a:t>
            </a:r>
            <a:r>
              <a:rPr lang="en-US" altLang="zh-CN" sz="2800">
                <a:latin typeface="Times New Roman" panose="02020603050405020304" pitchFamily="18" charset="0"/>
                <a:ea typeface="宋体" panose="02010600030101010101" pitchFamily="2" charset="-122"/>
              </a:rPr>
              <a:t>Z</a:t>
            </a:r>
            <a:r>
              <a:rPr lang="zh-CN" altLang="en-US" sz="2800" i="1">
                <a:latin typeface="Times New Roman" panose="02020603050405020304" pitchFamily="18" charset="0"/>
                <a:ea typeface="宋体" panose="02010600030101010101" pitchFamily="2" charset="-122"/>
              </a:rPr>
              <a:t>＇</a:t>
            </a:r>
            <a:r>
              <a:rPr lang="zh-CN" altLang="en-US" sz="2800">
                <a:latin typeface="Times New Roman" panose="02020603050405020304" pitchFamily="18" charset="0"/>
                <a:ea typeface="宋体" panose="02010600030101010101" pitchFamily="2" charset="-122"/>
              </a:rPr>
              <a:t>的对偶函数，便得</a:t>
            </a:r>
            <a:r>
              <a:rPr lang="en-US" altLang="zh-CN" sz="2800">
                <a:latin typeface="Times New Roman" panose="02020603050405020304" pitchFamily="18" charset="0"/>
                <a:ea typeface="宋体" panose="02010600030101010101" pitchFamily="2" charset="-122"/>
              </a:rPr>
              <a:t>Z</a:t>
            </a:r>
            <a:r>
              <a:rPr lang="zh-CN" altLang="en-US" sz="2800">
                <a:latin typeface="Times New Roman" panose="02020603050405020304" pitchFamily="18" charset="0"/>
                <a:ea typeface="宋体" panose="02010600030101010101" pitchFamily="2" charset="-122"/>
              </a:rPr>
              <a:t>的最简或与表达式。</a:t>
            </a:r>
          </a:p>
        </p:txBody>
      </p:sp>
      <p:graphicFrame>
        <p:nvGraphicFramePr>
          <p:cNvPr id="214023" name="Object 7"/>
          <p:cNvGraphicFramePr>
            <a:graphicFrameLocks noChangeAspect="1"/>
          </p:cNvGraphicFramePr>
          <p:nvPr/>
        </p:nvGraphicFramePr>
        <p:xfrm>
          <a:off x="3079751" y="5715001"/>
          <a:ext cx="4354513" cy="581025"/>
        </p:xfrm>
        <a:graphic>
          <a:graphicData uri="http://schemas.openxmlformats.org/presentationml/2006/ole">
            <mc:AlternateContent xmlns:mc="http://schemas.openxmlformats.org/markup-compatibility/2006">
              <mc:Choice xmlns:v="urn:schemas-microsoft-com:vml" Requires="v">
                <p:oleObj spid="_x0000_s7174" r:id="rId8" imgW="1714500" imgH="228600" progId="Equation.3">
                  <p:embed/>
                </p:oleObj>
              </mc:Choice>
              <mc:Fallback>
                <p:oleObj r:id="rId8" imgW="1714500" imgH="228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9751" y="5715001"/>
                        <a:ext cx="4354513" cy="581025"/>
                      </a:xfrm>
                      <a:prstGeom prst="rect">
                        <a:avLst/>
                      </a:prstGeom>
                      <a:solidFill>
                        <a:srgbClr val="FFFF99"/>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4024" name="Line 8"/>
          <p:cNvSpPr>
            <a:spLocks noChangeShapeType="1"/>
          </p:cNvSpPr>
          <p:nvPr/>
        </p:nvSpPr>
        <p:spPr bwMode="auto">
          <a:xfrm rot="21265160">
            <a:off x="8382000" y="3609975"/>
            <a:ext cx="685800" cy="5334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4025" name="Line 9"/>
          <p:cNvSpPr>
            <a:spLocks noChangeShapeType="1"/>
          </p:cNvSpPr>
          <p:nvPr/>
        </p:nvSpPr>
        <p:spPr bwMode="auto">
          <a:xfrm rot="20762712">
            <a:off x="4648200" y="3457575"/>
            <a:ext cx="1143000" cy="8382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23" name="Rectangle 10"/>
          <p:cNvSpPr>
            <a:spLocks noChangeArrowheads="1"/>
          </p:cNvSpPr>
          <p:nvPr/>
        </p:nvSpPr>
        <p:spPr bwMode="auto">
          <a:xfrm>
            <a:off x="2667000" y="533401"/>
            <a:ext cx="5486400"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20000"/>
              </a:lnSpc>
            </a:pPr>
            <a:r>
              <a:rPr lang="zh-CN" altLang="en-US" sz="2800">
                <a:solidFill>
                  <a:schemeClr val="bg1"/>
                </a:solidFill>
                <a:latin typeface="宋体" panose="02010600030101010101" pitchFamily="2" charset="-122"/>
                <a:ea typeface="宋体" panose="02010600030101010101" pitchFamily="2" charset="-122"/>
              </a:rPr>
              <a:t>　</a:t>
            </a:r>
            <a:r>
              <a:rPr lang="en-US" altLang="zh-CN" sz="2800">
                <a:solidFill>
                  <a:schemeClr val="bg1"/>
                </a:solidFill>
                <a:latin typeface="宋体" panose="02010600030101010101" pitchFamily="2" charset="-122"/>
                <a:ea typeface="宋体" panose="02010600030101010101" pitchFamily="2" charset="-122"/>
              </a:rPr>
              <a:t>2.2.7</a:t>
            </a:r>
            <a:r>
              <a:rPr lang="zh-CN" altLang="en-US" sz="2800">
                <a:solidFill>
                  <a:schemeClr val="bg1"/>
                </a:solidFill>
                <a:latin typeface="宋体" panose="02010600030101010101" pitchFamily="2" charset="-122"/>
                <a:ea typeface="宋体" panose="02010600030101010101" pitchFamily="2" charset="-122"/>
              </a:rPr>
              <a:t>　逻辑函数的公式化简法</a:t>
            </a:r>
            <a:endParaRPr lang="zh-CN" altLang="en-US" sz="280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4018"/>
                                        </p:tgtEl>
                                        <p:attrNameLst>
                                          <p:attrName>style.visibility</p:attrName>
                                        </p:attrNameLst>
                                      </p:cBhvr>
                                      <p:to>
                                        <p:strVal val="visible"/>
                                      </p:to>
                                    </p:set>
                                    <p:animEffect transition="in" filter="wipe(left)">
                                      <p:cBhvr>
                                        <p:cTn id="7" dur="500"/>
                                        <p:tgtEl>
                                          <p:spTgt spid="2140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14019"/>
                                        </p:tgtEl>
                                        <p:attrNameLst>
                                          <p:attrName>style.visibility</p:attrName>
                                        </p:attrNameLst>
                                      </p:cBhvr>
                                      <p:to>
                                        <p:strVal val="visible"/>
                                      </p:to>
                                    </p:set>
                                    <p:animEffect transition="in" filter="wipe(left)">
                                      <p:cBhvr>
                                        <p:cTn id="11" dur="500"/>
                                        <p:tgtEl>
                                          <p:spTgt spid="214019"/>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214020"/>
                                        </p:tgtEl>
                                        <p:attrNameLst>
                                          <p:attrName>style.visibility</p:attrName>
                                        </p:attrNameLst>
                                      </p:cBhvr>
                                      <p:to>
                                        <p:strVal val="visible"/>
                                      </p:to>
                                    </p:set>
                                    <p:anim calcmode="lin" valueType="num">
                                      <p:cBhvr additive="base">
                                        <p:cTn id="16" dur="500" fill="hold"/>
                                        <p:tgtEl>
                                          <p:spTgt spid="214020"/>
                                        </p:tgtEl>
                                        <p:attrNameLst>
                                          <p:attrName>ppt_x</p:attrName>
                                        </p:attrNameLst>
                                      </p:cBhvr>
                                      <p:tavLst>
                                        <p:tav tm="0">
                                          <p:val>
                                            <p:strVal val="0-#ppt_w/2"/>
                                          </p:val>
                                        </p:tav>
                                        <p:tav tm="100000">
                                          <p:val>
                                            <p:strVal val="#ppt_x"/>
                                          </p:val>
                                        </p:tav>
                                      </p:tavLst>
                                    </p:anim>
                                    <p:anim calcmode="lin" valueType="num">
                                      <p:cBhvr additive="base">
                                        <p:cTn id="17" dur="500" fill="hold"/>
                                        <p:tgtEl>
                                          <p:spTgt spid="214020"/>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nodeType="clickEffect">
                                  <p:stCondLst>
                                    <p:cond delay="0"/>
                                  </p:stCondLst>
                                  <p:childTnLst>
                                    <p:set>
                                      <p:cBhvr>
                                        <p:cTn id="21" dur="1" fill="hold">
                                          <p:stCondLst>
                                            <p:cond delay="0"/>
                                          </p:stCondLst>
                                        </p:cTn>
                                        <p:tgtEl>
                                          <p:spTgt spid="214021"/>
                                        </p:tgtEl>
                                        <p:attrNameLst>
                                          <p:attrName>style.visibility</p:attrName>
                                        </p:attrNameLst>
                                      </p:cBhvr>
                                      <p:to>
                                        <p:strVal val="visible"/>
                                      </p:to>
                                    </p:set>
                                    <p:anim calcmode="lin" valueType="num">
                                      <p:cBhvr additive="base">
                                        <p:cTn id="22" dur="500" fill="hold"/>
                                        <p:tgtEl>
                                          <p:spTgt spid="214021"/>
                                        </p:tgtEl>
                                        <p:attrNameLst>
                                          <p:attrName>ppt_x</p:attrName>
                                        </p:attrNameLst>
                                      </p:cBhvr>
                                      <p:tavLst>
                                        <p:tav tm="0">
                                          <p:val>
                                            <p:strVal val="0-#ppt_w/2"/>
                                          </p:val>
                                        </p:tav>
                                        <p:tav tm="100000">
                                          <p:val>
                                            <p:strVal val="#ppt_x"/>
                                          </p:val>
                                        </p:tav>
                                      </p:tavLst>
                                    </p:anim>
                                    <p:anim calcmode="lin" valueType="num">
                                      <p:cBhvr additive="base">
                                        <p:cTn id="23" dur="500" fill="hold"/>
                                        <p:tgtEl>
                                          <p:spTgt spid="214021"/>
                                        </p:tgtEl>
                                        <p:attrNameLst>
                                          <p:attrName>ppt_y</p:attrName>
                                        </p:attrNameLst>
                                      </p:cBhvr>
                                      <p:tavLst>
                                        <p:tav tm="0">
                                          <p:val>
                                            <p:strVal val="#ppt_y"/>
                                          </p:val>
                                        </p:tav>
                                        <p:tav tm="100000">
                                          <p:val>
                                            <p:strVal val="#ppt_y"/>
                                          </p:val>
                                        </p:tav>
                                      </p:tavLst>
                                    </p:anim>
                                  </p:childTnLst>
                                </p:cTn>
                              </p:par>
                            </p:childTnLst>
                          </p:cTn>
                        </p:par>
                        <p:par>
                          <p:cTn id="24" fill="hold">
                            <p:stCondLst>
                              <p:cond delay="500"/>
                            </p:stCondLst>
                            <p:childTnLst>
                              <p:par>
                                <p:cTn id="25" presetID="2" presetClass="entr" presetSubtype="8" fill="hold" nodeType="afterEffect">
                                  <p:stCondLst>
                                    <p:cond delay="0"/>
                                  </p:stCondLst>
                                  <p:childTnLst>
                                    <p:set>
                                      <p:cBhvr>
                                        <p:cTn id="26" dur="1" fill="hold">
                                          <p:stCondLst>
                                            <p:cond delay="0"/>
                                          </p:stCondLst>
                                        </p:cTn>
                                        <p:tgtEl>
                                          <p:spTgt spid="214025"/>
                                        </p:tgtEl>
                                        <p:attrNameLst>
                                          <p:attrName>style.visibility</p:attrName>
                                        </p:attrNameLst>
                                      </p:cBhvr>
                                      <p:to>
                                        <p:strVal val="visible"/>
                                      </p:to>
                                    </p:set>
                                    <p:anim calcmode="lin" valueType="num">
                                      <p:cBhvr additive="base">
                                        <p:cTn id="27" dur="500" fill="hold"/>
                                        <p:tgtEl>
                                          <p:spTgt spid="214025"/>
                                        </p:tgtEl>
                                        <p:attrNameLst>
                                          <p:attrName>ppt_x</p:attrName>
                                        </p:attrNameLst>
                                      </p:cBhvr>
                                      <p:tavLst>
                                        <p:tav tm="0">
                                          <p:val>
                                            <p:strVal val="0-#ppt_w/2"/>
                                          </p:val>
                                        </p:tav>
                                        <p:tav tm="100000">
                                          <p:val>
                                            <p:strVal val="#ppt_x"/>
                                          </p:val>
                                        </p:tav>
                                      </p:tavLst>
                                    </p:anim>
                                    <p:anim calcmode="lin" valueType="num">
                                      <p:cBhvr additive="base">
                                        <p:cTn id="28" dur="500" fill="hold"/>
                                        <p:tgtEl>
                                          <p:spTgt spid="214025"/>
                                        </p:tgtEl>
                                        <p:attrNameLst>
                                          <p:attrName>ppt_y</p:attrName>
                                        </p:attrNameLst>
                                      </p:cBhvr>
                                      <p:tavLst>
                                        <p:tav tm="0">
                                          <p:val>
                                            <p:strVal val="#ppt_y"/>
                                          </p:val>
                                        </p:tav>
                                        <p:tav tm="100000">
                                          <p:val>
                                            <p:strVal val="#ppt_y"/>
                                          </p:val>
                                        </p:tav>
                                      </p:tavLst>
                                    </p:anim>
                                  </p:childTnLst>
                                </p:cTn>
                              </p:par>
                            </p:childTnLst>
                          </p:cTn>
                        </p:par>
                        <p:par>
                          <p:cTn id="29" fill="hold">
                            <p:stCondLst>
                              <p:cond delay="1000"/>
                            </p:stCondLst>
                            <p:childTnLst>
                              <p:par>
                                <p:cTn id="30" presetID="2" presetClass="entr" presetSubtype="8" fill="hold" nodeType="afterEffect">
                                  <p:stCondLst>
                                    <p:cond delay="0"/>
                                  </p:stCondLst>
                                  <p:childTnLst>
                                    <p:set>
                                      <p:cBhvr>
                                        <p:cTn id="31" dur="1" fill="hold">
                                          <p:stCondLst>
                                            <p:cond delay="0"/>
                                          </p:stCondLst>
                                        </p:cTn>
                                        <p:tgtEl>
                                          <p:spTgt spid="214024"/>
                                        </p:tgtEl>
                                        <p:attrNameLst>
                                          <p:attrName>style.visibility</p:attrName>
                                        </p:attrNameLst>
                                      </p:cBhvr>
                                      <p:to>
                                        <p:strVal val="visible"/>
                                      </p:to>
                                    </p:set>
                                    <p:anim calcmode="lin" valueType="num">
                                      <p:cBhvr additive="base">
                                        <p:cTn id="32" dur="500" fill="hold"/>
                                        <p:tgtEl>
                                          <p:spTgt spid="214024"/>
                                        </p:tgtEl>
                                        <p:attrNameLst>
                                          <p:attrName>ppt_x</p:attrName>
                                        </p:attrNameLst>
                                      </p:cBhvr>
                                      <p:tavLst>
                                        <p:tav tm="0">
                                          <p:val>
                                            <p:strVal val="0-#ppt_w/2"/>
                                          </p:val>
                                        </p:tav>
                                        <p:tav tm="100000">
                                          <p:val>
                                            <p:strVal val="#ppt_x"/>
                                          </p:val>
                                        </p:tav>
                                      </p:tavLst>
                                    </p:anim>
                                    <p:anim calcmode="lin" valueType="num">
                                      <p:cBhvr additive="base">
                                        <p:cTn id="33" dur="500" fill="hold"/>
                                        <p:tgtEl>
                                          <p:spTgt spid="214024"/>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iterate type="lt">
                                    <p:tmPct val="100000"/>
                                  </p:iterate>
                                  <p:childTnLst>
                                    <p:set>
                                      <p:cBhvr>
                                        <p:cTn id="37" dur="1" fill="hold">
                                          <p:stCondLst>
                                            <p:cond delay="0"/>
                                          </p:stCondLst>
                                        </p:cTn>
                                        <p:tgtEl>
                                          <p:spTgt spid="214022"/>
                                        </p:tgtEl>
                                        <p:attrNameLst>
                                          <p:attrName>style.visibility</p:attrName>
                                        </p:attrNameLst>
                                      </p:cBhvr>
                                      <p:to>
                                        <p:strVal val="visible"/>
                                      </p:to>
                                    </p:set>
                                    <p:animEffect transition="in" filter="wipe(left)">
                                      <p:cBhvr>
                                        <p:cTn id="38" dur="75"/>
                                        <p:tgtEl>
                                          <p:spTgt spid="214022"/>
                                        </p:tgtEl>
                                      </p:cBhvr>
                                    </p:animEffect>
                                  </p:childTnLst>
                                  <p:subTnLst>
                                    <p:audio>
                                      <p:cMediaNode>
                                        <p:cTn display="0" masterRel="sameClick">
                                          <p:stCondLst>
                                            <p:cond evt="begin" delay="0">
                                              <p:tn val="36"/>
                                            </p:cond>
                                          </p:stCondLst>
                                          <p:endCondLst>
                                            <p:cond evt="onStopAudio" delay="0">
                                              <p:tgtEl>
                                                <p:sldTgt/>
                                              </p:tgtEl>
                                            </p:cond>
                                          </p:endCondLst>
                                        </p:cTn>
                                        <p:tgtEl>
                                          <p:sndTgt r:embed="rId3" name="TYPE.WAV"/>
                                        </p:tgtEl>
                                      </p:cMediaNode>
                                    </p:audio>
                                  </p:subTnLst>
                                </p:cTn>
                              </p:par>
                            </p:childTnLst>
                          </p:cTn>
                        </p:par>
                        <p:par>
                          <p:cTn id="39" fill="hold">
                            <p:stCondLst>
                              <p:cond delay="75"/>
                            </p:stCondLst>
                            <p:childTnLst>
                              <p:par>
                                <p:cTn id="40" presetID="16" presetClass="entr" presetSubtype="37" fill="hold" nodeType="afterEffect">
                                  <p:stCondLst>
                                    <p:cond delay="0"/>
                                  </p:stCondLst>
                                  <p:childTnLst>
                                    <p:set>
                                      <p:cBhvr>
                                        <p:cTn id="41" dur="1" fill="hold">
                                          <p:stCondLst>
                                            <p:cond delay="0"/>
                                          </p:stCondLst>
                                        </p:cTn>
                                        <p:tgtEl>
                                          <p:spTgt spid="214023"/>
                                        </p:tgtEl>
                                        <p:attrNameLst>
                                          <p:attrName>style.visibility</p:attrName>
                                        </p:attrNameLst>
                                      </p:cBhvr>
                                      <p:to>
                                        <p:strVal val="visible"/>
                                      </p:to>
                                    </p:set>
                                    <p:animEffect transition="in" filter="barn(outVertical)">
                                      <p:cBhvr>
                                        <p:cTn id="42" dur="500"/>
                                        <p:tgtEl>
                                          <p:spTgt spid="214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p:bldP spid="214020" grpId="0"/>
      <p:bldP spid="2140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sp>
        <p:nvSpPr>
          <p:cNvPr id="219138" name="Text Box 2"/>
          <p:cNvSpPr txBox="1"/>
          <p:nvPr/>
        </p:nvSpPr>
        <p:spPr>
          <a:xfrm>
            <a:off x="1828800" y="-17780"/>
            <a:ext cx="4648200" cy="953135"/>
          </a:xfrm>
          <a:prstGeom prst="rect">
            <a:avLst/>
          </a:prstGeom>
          <a:noFill/>
          <a:ln w="9525">
            <a:noFill/>
          </a:ln>
        </p:spPr>
        <p:txBody>
          <a:bodyPr anchor="t" anchorCtr="0">
            <a:spAutoFit/>
          </a:bodyPr>
          <a:lstStyle/>
          <a:p>
            <a:pPr>
              <a:spcBef>
                <a:spcPct val="50000"/>
              </a:spcBef>
            </a:pPr>
            <a:r>
              <a:rPr lang="en-US" altLang="zh-CN" sz="2800" dirty="0">
                <a:solidFill>
                  <a:schemeClr val="bg1"/>
                </a:solidFill>
                <a:latin typeface="Times New Roman" panose="02020603050405020304" pitchFamily="18" charset="0"/>
                <a:ea typeface="宋体" panose="02010600030101010101" pitchFamily="2" charset="-122"/>
              </a:rPr>
              <a:t>2</a:t>
            </a:r>
            <a:r>
              <a:rPr lang="zh-CN" altLang="en-US" sz="2800" dirty="0">
                <a:solidFill>
                  <a:schemeClr val="bg1"/>
                </a:solidFill>
                <a:latin typeface="Times New Roman" panose="02020603050405020304" pitchFamily="18" charset="0"/>
                <a:ea typeface="宋体" panose="02010600030101010101" pitchFamily="2" charset="-122"/>
              </a:rPr>
              <a:t>、逻辑卡</a:t>
            </a:r>
            <a:r>
              <a:rPr lang="en-US" altLang="zh-CN" sz="2800" dirty="0">
                <a:solidFill>
                  <a:schemeClr val="bg1"/>
                </a:solidFill>
                <a:latin typeface="Times New Roman" panose="02020603050405020304" pitchFamily="18" charset="0"/>
                <a:ea typeface="宋体" panose="02010600030101010101" pitchFamily="2" charset="-122"/>
              </a:rPr>
              <a:t>kaka</a:t>
            </a:r>
            <a:r>
              <a:rPr lang="zh-CN" altLang="en-US" sz="2800" dirty="0">
                <a:solidFill>
                  <a:schemeClr val="bg1"/>
                </a:solidFill>
                <a:latin typeface="Times New Roman" panose="02020603050405020304" pitchFamily="18" charset="0"/>
                <a:ea typeface="宋体" panose="02010600030101010101" pitchFamily="2" charset="-122"/>
              </a:rPr>
              <a:t>的最小项表达式</a:t>
            </a:r>
            <a:r>
              <a:rPr lang="zh-CN" altLang="en-US" sz="2800" dirty="0">
                <a:solidFill>
                  <a:srgbClr val="FF0000"/>
                </a:solidFill>
                <a:highlight>
                  <a:srgbClr val="FFFF00"/>
                </a:highlight>
                <a:latin typeface="Times New Roman" panose="02020603050405020304" pitchFamily="18" charset="0"/>
                <a:ea typeface="宋体" panose="02010600030101010101" pitchFamily="2" charset="-122"/>
              </a:rPr>
              <a:t>卡诺图化简</a:t>
            </a:r>
          </a:p>
        </p:txBody>
      </p:sp>
      <p:sp>
        <p:nvSpPr>
          <p:cNvPr id="219139" name="Text Box 3"/>
          <p:cNvSpPr txBox="1"/>
          <p:nvPr/>
        </p:nvSpPr>
        <p:spPr>
          <a:xfrm>
            <a:off x="1981200" y="1143000"/>
            <a:ext cx="8534400" cy="645160"/>
          </a:xfrm>
          <a:prstGeom prst="rect">
            <a:avLst/>
          </a:prstGeom>
          <a:noFill/>
          <a:ln w="9525">
            <a:noFill/>
          </a:ln>
        </p:spPr>
        <p:txBody>
          <a:bodyPr lIns="0" rIns="0"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rPr>
              <a:t>任何一个逻辑函数都可以表示成唯一的一组最小项之和</a:t>
            </a:r>
            <a:r>
              <a:rPr lang="zh-CN" altLang="en-US" dirty="0">
                <a:latin typeface="Times New Roman" panose="02020603050405020304" pitchFamily="18" charset="0"/>
                <a:ea typeface="宋体" panose="02010600030101010101" pitchFamily="2" charset="-122"/>
              </a:rPr>
              <a:t>，称为</a:t>
            </a:r>
            <a:r>
              <a:rPr lang="zh-CN" altLang="en-US" dirty="0">
                <a:solidFill>
                  <a:srgbClr val="FF33CC"/>
                </a:solidFill>
                <a:latin typeface="Times New Roman" panose="02020603050405020304" pitchFamily="18" charset="0"/>
                <a:ea typeface="宋体" panose="02010600030101010101" pitchFamily="2" charset="-122"/>
              </a:rPr>
              <a:t>标准与或表达式</a:t>
            </a:r>
            <a:r>
              <a:rPr lang="zh-CN" altLang="en-US" dirty="0">
                <a:latin typeface="Times New Roman" panose="02020603050405020304" pitchFamily="18" charset="0"/>
                <a:ea typeface="宋体" panose="02010600030101010101" pitchFamily="2" charset="-122"/>
              </a:rPr>
              <a:t>，也称为</a:t>
            </a:r>
            <a:r>
              <a:rPr lang="zh-CN" altLang="en-US" dirty="0">
                <a:solidFill>
                  <a:srgbClr val="FF33CC"/>
                </a:solidFill>
                <a:latin typeface="Times New Roman" panose="02020603050405020304" pitchFamily="18" charset="0"/>
                <a:ea typeface="宋体" panose="02010600030101010101" pitchFamily="2" charset="-122"/>
              </a:rPr>
              <a:t>最小项表达式</a:t>
            </a:r>
            <a:endParaRPr lang="zh-CN" altLang="en-US" sz="3200" dirty="0">
              <a:solidFill>
                <a:srgbClr val="FF33CC"/>
              </a:solidFill>
              <a:latin typeface="Times New Roman" panose="02020603050405020304" pitchFamily="18" charset="0"/>
              <a:ea typeface="宋体" panose="02010600030101010101" pitchFamily="2" charset="-122"/>
            </a:endParaRPr>
          </a:p>
        </p:txBody>
      </p:sp>
      <p:sp>
        <p:nvSpPr>
          <p:cNvPr id="43013" name="Text Box 5"/>
          <p:cNvSpPr txBox="1"/>
          <p:nvPr/>
        </p:nvSpPr>
        <p:spPr>
          <a:xfrm>
            <a:off x="1828800" y="1920875"/>
            <a:ext cx="8610600" cy="645160"/>
          </a:xfrm>
          <a:prstGeom prst="rect">
            <a:avLst/>
          </a:prstGeom>
          <a:noFill/>
          <a:ln w="9525">
            <a:noFill/>
          </a:ln>
        </p:spPr>
        <p:txBody>
          <a:bodyPr lIns="0" rIns="0"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　　对于不是最小项表达式的与或表达式，可利用公式</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1 </a:t>
            </a:r>
            <a:r>
              <a:rPr lang="zh-CN" altLang="en-US" dirty="0">
                <a:latin typeface="Times New Roman" panose="02020603050405020304" pitchFamily="18" charset="0"/>
                <a:ea typeface="宋体" panose="02010600030101010101" pitchFamily="2" charset="-122"/>
              </a:rPr>
              <a:t>和</a:t>
            </a:r>
            <a:r>
              <a:rPr lang="en-US" altLang="zh-CN" dirty="0">
                <a:latin typeface="Times New Roman" panose="02020603050405020304" pitchFamily="18" charset="0"/>
                <a:ea typeface="宋体" panose="02010600030101010101" pitchFamily="2" charset="-122"/>
              </a:rPr>
              <a:t>A(B+C)</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AB</a:t>
            </a: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BC</a:t>
            </a:r>
            <a:r>
              <a:rPr lang="zh-CN" altLang="en-US" dirty="0">
                <a:latin typeface="Times New Roman" panose="02020603050405020304" pitchFamily="18" charset="0"/>
                <a:ea typeface="宋体" panose="02010600030101010101" pitchFamily="2" charset="-122"/>
              </a:rPr>
              <a:t>来配项展开成最小项表达式。</a:t>
            </a:r>
            <a:endParaRPr lang="zh-CN" altLang="en-US" sz="3200" dirty="0">
              <a:latin typeface="Times New Roman" panose="02020603050405020304" pitchFamily="18" charset="0"/>
              <a:ea typeface="宋体" panose="02010600030101010101" pitchFamily="2" charset="-122"/>
            </a:endParaRPr>
          </a:p>
        </p:txBody>
      </p:sp>
      <p:sp>
        <p:nvSpPr>
          <p:cNvPr id="43014" name="Line 6"/>
          <p:cNvSpPr/>
          <p:nvPr/>
        </p:nvSpPr>
        <p:spPr>
          <a:xfrm>
            <a:off x="9677400" y="1995488"/>
            <a:ext cx="231775" cy="1587"/>
          </a:xfrm>
          <a:prstGeom prst="line">
            <a:avLst/>
          </a:prstGeom>
          <a:ln w="38100" cap="flat" cmpd="sng">
            <a:solidFill>
              <a:schemeClr val="tx1"/>
            </a:solidFill>
            <a:prstDash val="solid"/>
            <a:round/>
            <a:headEnd type="none" w="med" len="med"/>
            <a:tailEnd type="none" w="med" len="med"/>
          </a:ln>
        </p:spPr>
      </p:sp>
      <p:graphicFrame>
        <p:nvGraphicFramePr>
          <p:cNvPr id="219143" name="Object 7"/>
          <p:cNvGraphicFramePr>
            <a:graphicFrameLocks noChangeAspect="1"/>
          </p:cNvGraphicFramePr>
          <p:nvPr/>
        </p:nvGraphicFramePr>
        <p:xfrm>
          <a:off x="2309813" y="2743200"/>
          <a:ext cx="7800975" cy="3883025"/>
        </p:xfrm>
        <a:graphic>
          <a:graphicData uri="http://schemas.openxmlformats.org/presentationml/2006/ole">
            <mc:AlternateContent xmlns:mc="http://schemas.openxmlformats.org/markup-compatibility/2006">
              <mc:Choice xmlns:v="urn:schemas-microsoft-com:vml" Requires="v">
                <p:oleObj spid="_x0000_s8194" r:id="rId3" imgW="2959100" imgH="1473200" progId="Equation.3">
                  <p:embed/>
                </p:oleObj>
              </mc:Choice>
              <mc:Fallback>
                <p:oleObj r:id="rId3" imgW="2959100" imgH="1473200" progId="Equation.3">
                  <p:embed/>
                  <p:pic>
                    <p:nvPicPr>
                      <p:cNvPr id="0" name="图片 3146"/>
                      <p:cNvPicPr/>
                      <p:nvPr/>
                    </p:nvPicPr>
                    <p:blipFill>
                      <a:blip r:embed="rId4"/>
                      <a:stretch>
                        <a:fillRect/>
                      </a:stretch>
                    </p:blipFill>
                    <p:spPr>
                      <a:xfrm>
                        <a:off x="2309813" y="2743200"/>
                        <a:ext cx="7800975" cy="3883025"/>
                      </a:xfrm>
                      <a:prstGeom prst="rect">
                        <a:avLst/>
                      </a:prstGeom>
                      <a:solidFill>
                        <a:srgbClr val="FFFF99"/>
                      </a:solid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191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19139">
                                            <p:txEl>
                                              <p:pRg st="0" end="0"/>
                                            </p:txEl>
                                          </p:spTgt>
                                        </p:tgtEl>
                                        <p:attrNameLst>
                                          <p:attrName>style.visibility</p:attrName>
                                        </p:attrNameLst>
                                      </p:cBhvr>
                                      <p:to>
                                        <p:strVal val="visible"/>
                                      </p:to>
                                    </p:set>
                                    <p:animEffect transition="in" filter="wipe(left)">
                                      <p:cBhvr>
                                        <p:cTn id="11" dur="500"/>
                                        <p:tgtEl>
                                          <p:spTgt spid="219139">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37" fill="hold" nodeType="clickEffect">
                                  <p:stCondLst>
                                    <p:cond delay="0"/>
                                  </p:stCondLst>
                                  <p:childTnLst>
                                    <p:set>
                                      <p:cBhvr>
                                        <p:cTn id="15" dur="1" fill="hold">
                                          <p:stCondLst>
                                            <p:cond delay="0"/>
                                          </p:stCondLst>
                                        </p:cTn>
                                        <p:tgtEl>
                                          <p:spTgt spid="219143"/>
                                        </p:tgtEl>
                                        <p:attrNameLst>
                                          <p:attrName>style.visibility</p:attrName>
                                        </p:attrNameLst>
                                      </p:cBhvr>
                                      <p:to>
                                        <p:strVal val="visible"/>
                                      </p:to>
                                    </p:set>
                                    <p:animEffect transition="in" filter="barn(outVertical)">
                                      <p:cBhvr>
                                        <p:cTn id="16" dur="500"/>
                                        <p:tgtEl>
                                          <p:spTgt spid="219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38" grpId="0"/>
      <p:bldP spid="21913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23"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graphicFrame>
        <p:nvGraphicFramePr>
          <p:cNvPr id="223234" name="Object 2"/>
          <p:cNvGraphicFramePr>
            <a:graphicFrameLocks noChangeAspect="1"/>
          </p:cNvGraphicFramePr>
          <p:nvPr/>
        </p:nvGraphicFramePr>
        <p:xfrm>
          <a:off x="3124200" y="2743200"/>
          <a:ext cx="6286500" cy="4076700"/>
        </p:xfrm>
        <a:graphic>
          <a:graphicData uri="http://schemas.openxmlformats.org/presentationml/2006/ole">
            <mc:AlternateContent xmlns:mc="http://schemas.openxmlformats.org/markup-compatibility/2006">
              <mc:Choice xmlns:v="urn:schemas-microsoft-com:vml" Requires="v">
                <p:oleObj spid="_x0000_s9219" r:id="rId3" imgW="6286500" imgH="4086225" progId="Word.Document.8">
                  <p:embed/>
                </p:oleObj>
              </mc:Choice>
              <mc:Fallback>
                <p:oleObj r:id="rId3" imgW="6286500" imgH="4086225" progId="Word.Document.8">
                  <p:embed/>
                  <p:pic>
                    <p:nvPicPr>
                      <p:cNvPr id="0" name="图片 3181"/>
                      <p:cNvPicPr/>
                      <p:nvPr/>
                    </p:nvPicPr>
                    <p:blipFill>
                      <a:blip r:embed="rId4"/>
                      <a:stretch>
                        <a:fillRect/>
                      </a:stretch>
                    </p:blipFill>
                    <p:spPr>
                      <a:xfrm>
                        <a:off x="3124200" y="2743200"/>
                        <a:ext cx="6286500" cy="4076700"/>
                      </a:xfrm>
                      <a:prstGeom prst="rect">
                        <a:avLst/>
                      </a:prstGeom>
                      <a:solidFill>
                        <a:srgbClr val="D9FFEC"/>
                      </a:solidFill>
                      <a:ln w="38100">
                        <a:noFill/>
                        <a:miter/>
                      </a:ln>
                    </p:spPr>
                  </p:pic>
                </p:oleObj>
              </mc:Fallback>
            </mc:AlternateContent>
          </a:graphicData>
        </a:graphic>
      </p:graphicFrame>
      <p:sp>
        <p:nvSpPr>
          <p:cNvPr id="223235" name="Text Box 3"/>
          <p:cNvSpPr txBox="1"/>
          <p:nvPr/>
        </p:nvSpPr>
        <p:spPr>
          <a:xfrm>
            <a:off x="1752600" y="1219200"/>
            <a:ext cx="8458200" cy="645160"/>
          </a:xfrm>
          <a:prstGeom prst="rect">
            <a:avLst/>
          </a:prstGeom>
          <a:noFill/>
          <a:ln w="9525">
            <a:noFill/>
          </a:ln>
        </p:spPr>
        <p:txBody>
          <a:bodyPr lIns="0" rIns="0" anchor="t" anchorCtr="0">
            <a:spAutoFit/>
          </a:bodyPr>
          <a:lstStyle/>
          <a:p>
            <a:pPr>
              <a:spcBef>
                <a:spcPct val="50000"/>
              </a:spcBef>
              <a:buFont typeface="Wingdings" panose="05000000000000000000" pitchFamily="2" charset="2"/>
              <a:buChar char="u"/>
            </a:pPr>
            <a:r>
              <a:rPr lang="zh-CN" altLang="en-US" dirty="0">
                <a:latin typeface="Times New Roman" panose="02020603050405020304" pitchFamily="18" charset="0"/>
                <a:ea typeface="宋体" panose="02010600030101010101" pitchFamily="2" charset="-122"/>
              </a:rPr>
              <a:t>　  逻辑函数是以</a:t>
            </a:r>
            <a:r>
              <a:rPr lang="zh-CN" altLang="en-US" dirty="0">
                <a:solidFill>
                  <a:srgbClr val="FF0000"/>
                </a:solidFill>
                <a:latin typeface="Times New Roman" panose="02020603050405020304" pitchFamily="18" charset="0"/>
                <a:ea typeface="宋体" panose="02010600030101010101" pitchFamily="2" charset="-122"/>
              </a:rPr>
              <a:t>真值表或者以最小项表达式</a:t>
            </a:r>
            <a:r>
              <a:rPr lang="zh-CN" altLang="en-US" dirty="0">
                <a:latin typeface="Times New Roman" panose="02020603050405020304" pitchFamily="18" charset="0"/>
                <a:ea typeface="宋体" panose="02010600030101010101" pitchFamily="2" charset="-122"/>
              </a:rPr>
              <a:t>给出：在卡诺图上那些与给定</a:t>
            </a:r>
            <a:r>
              <a:rPr lang="zh-CN" altLang="en-US" dirty="0">
                <a:solidFill>
                  <a:srgbClr val="0000FF"/>
                </a:solidFill>
                <a:latin typeface="Times New Roman" panose="02020603050405020304" pitchFamily="18" charset="0"/>
                <a:ea typeface="宋体" panose="02010600030101010101" pitchFamily="2" charset="-122"/>
              </a:rPr>
              <a:t>逻辑函数的最小项相对应的方格内填入</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r>
              <a:rPr lang="zh-CN" altLang="en-US" dirty="0">
                <a:solidFill>
                  <a:srgbClr val="0000FF"/>
                </a:solidFill>
                <a:latin typeface="Times New Roman" panose="02020603050405020304" pitchFamily="18" charset="0"/>
                <a:ea typeface="宋体" panose="02010600030101010101" pitchFamily="2" charset="-122"/>
              </a:rPr>
              <a:t>其余的方格内填入</a:t>
            </a:r>
            <a:r>
              <a:rPr lang="en-US" altLang="zh-CN" dirty="0">
                <a:solidFill>
                  <a:srgbClr val="0000FF"/>
                </a:solidFill>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p>
        </p:txBody>
      </p:sp>
      <p:graphicFrame>
        <p:nvGraphicFramePr>
          <p:cNvPr id="223236" name="Object 4"/>
          <p:cNvGraphicFramePr>
            <a:graphicFrameLocks noChangeAspect="1"/>
          </p:cNvGraphicFramePr>
          <p:nvPr/>
        </p:nvGraphicFramePr>
        <p:xfrm>
          <a:off x="4206875" y="2057400"/>
          <a:ext cx="6027738" cy="633413"/>
        </p:xfrm>
        <a:graphic>
          <a:graphicData uri="http://schemas.openxmlformats.org/presentationml/2006/ole">
            <mc:AlternateContent xmlns:mc="http://schemas.openxmlformats.org/markup-compatibility/2006">
              <mc:Choice xmlns:v="urn:schemas-microsoft-com:vml" Requires="v">
                <p:oleObj spid="_x0000_s9220" r:id="rId5" imgW="2400300" imgH="254000" progId="Equation.3">
                  <p:embed/>
                </p:oleObj>
              </mc:Choice>
              <mc:Fallback>
                <p:oleObj r:id="rId5" imgW="2400300" imgH="254000" progId="Equation.3">
                  <p:embed/>
                  <p:pic>
                    <p:nvPicPr>
                      <p:cNvPr id="0" name="图片 3183"/>
                      <p:cNvPicPr/>
                      <p:nvPr/>
                    </p:nvPicPr>
                    <p:blipFill>
                      <a:blip r:embed="rId6"/>
                      <a:stretch>
                        <a:fillRect/>
                      </a:stretch>
                    </p:blipFill>
                    <p:spPr>
                      <a:xfrm>
                        <a:off x="4206875" y="2057400"/>
                        <a:ext cx="6027738" cy="633413"/>
                      </a:xfrm>
                      <a:prstGeom prst="rect">
                        <a:avLst/>
                      </a:prstGeom>
                      <a:solidFill>
                        <a:srgbClr val="FFFF99"/>
                      </a:solidFill>
                      <a:ln w="38100">
                        <a:noFill/>
                        <a:miter/>
                      </a:ln>
                    </p:spPr>
                  </p:pic>
                </p:oleObj>
              </mc:Fallback>
            </mc:AlternateContent>
          </a:graphicData>
        </a:graphic>
      </p:graphicFrame>
      <p:sp>
        <p:nvSpPr>
          <p:cNvPr id="223237" name="Text Box 5"/>
          <p:cNvSpPr txBox="1"/>
          <p:nvPr/>
        </p:nvSpPr>
        <p:spPr>
          <a:xfrm>
            <a:off x="3589338" y="4038600"/>
            <a:ext cx="448310" cy="583565"/>
          </a:xfrm>
          <a:prstGeom prst="rect">
            <a:avLst/>
          </a:prstGeom>
          <a:noFill/>
          <a:ln w="9525">
            <a:noFill/>
          </a:ln>
        </p:spPr>
        <p:txBody>
          <a:bodyPr wrap="none"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1</a:t>
            </a:r>
            <a:endParaRPr lang="en-US" altLang="zh-CN" dirty="0">
              <a:latin typeface="Times New Roman" panose="02020603050405020304" pitchFamily="18" charset="0"/>
              <a:ea typeface="宋体" panose="02010600030101010101" pitchFamily="2" charset="-122"/>
            </a:endParaRPr>
          </a:p>
        </p:txBody>
      </p:sp>
      <p:sp>
        <p:nvSpPr>
          <p:cNvPr id="223238" name="Text Box 6"/>
          <p:cNvSpPr txBox="1"/>
          <p:nvPr/>
        </p:nvSpPr>
        <p:spPr>
          <a:xfrm>
            <a:off x="8839200" y="3352800"/>
            <a:ext cx="533400" cy="583565"/>
          </a:xfrm>
          <a:prstGeom prst="rect">
            <a:avLst/>
          </a:prstGeom>
          <a:noFill/>
          <a:ln w="9525">
            <a:noFill/>
          </a:ln>
        </p:spPr>
        <p:txBody>
          <a:bodyPr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3</a:t>
            </a:r>
            <a:endParaRPr lang="en-US" altLang="zh-CN" dirty="0">
              <a:latin typeface="Times New Roman" panose="02020603050405020304" pitchFamily="18" charset="0"/>
              <a:ea typeface="宋体" panose="02010600030101010101" pitchFamily="2" charset="-122"/>
            </a:endParaRPr>
          </a:p>
        </p:txBody>
      </p:sp>
      <p:sp>
        <p:nvSpPr>
          <p:cNvPr id="223239" name="Text Box 7"/>
          <p:cNvSpPr txBox="1"/>
          <p:nvPr/>
        </p:nvSpPr>
        <p:spPr>
          <a:xfrm>
            <a:off x="3429000" y="4754563"/>
            <a:ext cx="609600" cy="583565"/>
          </a:xfrm>
          <a:prstGeom prst="rect">
            <a:avLst/>
          </a:prstGeom>
          <a:noFill/>
          <a:ln w="9525">
            <a:noFill/>
          </a:ln>
        </p:spPr>
        <p:txBody>
          <a:bodyPr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4</a:t>
            </a:r>
            <a:endParaRPr lang="en-US" altLang="zh-CN" dirty="0">
              <a:latin typeface="Times New Roman" panose="02020603050405020304" pitchFamily="18" charset="0"/>
              <a:ea typeface="宋体" panose="02010600030101010101" pitchFamily="2" charset="-122"/>
            </a:endParaRPr>
          </a:p>
        </p:txBody>
      </p:sp>
      <p:sp>
        <p:nvSpPr>
          <p:cNvPr id="223240" name="Text Box 8"/>
          <p:cNvSpPr txBox="1"/>
          <p:nvPr/>
        </p:nvSpPr>
        <p:spPr>
          <a:xfrm>
            <a:off x="8847138" y="4419600"/>
            <a:ext cx="448310" cy="583565"/>
          </a:xfrm>
          <a:prstGeom prst="rect">
            <a:avLst/>
          </a:prstGeom>
          <a:noFill/>
          <a:ln w="9525">
            <a:noFill/>
          </a:ln>
        </p:spPr>
        <p:txBody>
          <a:bodyPr wrap="none"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6</a:t>
            </a:r>
            <a:endParaRPr lang="en-US" altLang="zh-CN" dirty="0">
              <a:latin typeface="Times New Roman" panose="02020603050405020304" pitchFamily="18" charset="0"/>
              <a:ea typeface="宋体" panose="02010600030101010101" pitchFamily="2" charset="-122"/>
            </a:endParaRPr>
          </a:p>
        </p:txBody>
      </p:sp>
      <p:sp>
        <p:nvSpPr>
          <p:cNvPr id="223241" name="Text Box 9"/>
          <p:cNvSpPr txBox="1"/>
          <p:nvPr/>
        </p:nvSpPr>
        <p:spPr>
          <a:xfrm>
            <a:off x="3665538" y="5638800"/>
            <a:ext cx="448310" cy="583565"/>
          </a:xfrm>
          <a:prstGeom prst="rect">
            <a:avLst/>
          </a:prstGeom>
          <a:noFill/>
          <a:ln w="9525">
            <a:noFill/>
          </a:ln>
        </p:spPr>
        <p:txBody>
          <a:bodyPr wrap="none"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7</a:t>
            </a:r>
            <a:endParaRPr lang="en-US" altLang="zh-CN" dirty="0">
              <a:latin typeface="Times New Roman" panose="02020603050405020304" pitchFamily="18" charset="0"/>
              <a:ea typeface="宋体" panose="02010600030101010101" pitchFamily="2" charset="-122"/>
            </a:endParaRPr>
          </a:p>
        </p:txBody>
      </p:sp>
      <p:sp>
        <p:nvSpPr>
          <p:cNvPr id="223242" name="Text Box 10"/>
          <p:cNvSpPr txBox="1"/>
          <p:nvPr/>
        </p:nvSpPr>
        <p:spPr>
          <a:xfrm>
            <a:off x="7696200" y="6278563"/>
            <a:ext cx="565150" cy="583565"/>
          </a:xfrm>
          <a:prstGeom prst="rect">
            <a:avLst/>
          </a:prstGeom>
          <a:noFill/>
          <a:ln w="9525">
            <a:noFill/>
          </a:ln>
        </p:spPr>
        <p:txBody>
          <a:bodyPr wrap="none"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11</a:t>
            </a:r>
            <a:endParaRPr lang="en-US" altLang="zh-CN" dirty="0">
              <a:latin typeface="Times New Roman" panose="02020603050405020304" pitchFamily="18" charset="0"/>
              <a:ea typeface="宋体" panose="02010600030101010101" pitchFamily="2" charset="-122"/>
            </a:endParaRPr>
          </a:p>
        </p:txBody>
      </p:sp>
      <p:sp>
        <p:nvSpPr>
          <p:cNvPr id="223243" name="Text Box 11"/>
          <p:cNvSpPr txBox="1"/>
          <p:nvPr/>
        </p:nvSpPr>
        <p:spPr>
          <a:xfrm>
            <a:off x="8686800" y="6019800"/>
            <a:ext cx="609600" cy="583565"/>
          </a:xfrm>
          <a:prstGeom prst="rect">
            <a:avLst/>
          </a:prstGeom>
          <a:noFill/>
          <a:ln w="9525">
            <a:noFill/>
          </a:ln>
        </p:spPr>
        <p:txBody>
          <a:bodyPr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14</a:t>
            </a:r>
            <a:endParaRPr lang="en-US" altLang="zh-CN" dirty="0">
              <a:latin typeface="Times New Roman" panose="02020603050405020304" pitchFamily="18" charset="0"/>
              <a:ea typeface="宋体" panose="02010600030101010101" pitchFamily="2" charset="-122"/>
            </a:endParaRPr>
          </a:p>
        </p:txBody>
      </p:sp>
      <p:sp>
        <p:nvSpPr>
          <p:cNvPr id="223244" name="Text Box 12"/>
          <p:cNvSpPr txBox="1"/>
          <p:nvPr/>
        </p:nvSpPr>
        <p:spPr>
          <a:xfrm>
            <a:off x="5867400" y="6278563"/>
            <a:ext cx="580390" cy="583565"/>
          </a:xfrm>
          <a:prstGeom prst="rect">
            <a:avLst/>
          </a:prstGeom>
          <a:noFill/>
          <a:ln w="9525">
            <a:noFill/>
          </a:ln>
        </p:spPr>
        <p:txBody>
          <a:bodyPr wrap="none" lIns="0" rIns="0" anchor="t" anchorCtr="0">
            <a:spAutoFit/>
          </a:bodyPr>
          <a:lstStyle/>
          <a:p>
            <a:pPr>
              <a:spcBef>
                <a:spcPct val="50000"/>
              </a:spcBef>
            </a:pPr>
            <a:r>
              <a:rPr lang="en-US" altLang="zh-CN" sz="3200" dirty="0">
                <a:solidFill>
                  <a:srgbClr val="CC3300"/>
                </a:solidFill>
                <a:latin typeface="Times New Roman" panose="02020603050405020304" pitchFamily="18" charset="0"/>
                <a:ea typeface="宋体" panose="02010600030101010101" pitchFamily="2" charset="-122"/>
              </a:rPr>
              <a:t>m</a:t>
            </a:r>
            <a:r>
              <a:rPr lang="en-US" altLang="zh-CN" sz="3200" baseline="-25000" dirty="0">
                <a:solidFill>
                  <a:srgbClr val="CC3300"/>
                </a:solidFill>
                <a:latin typeface="Times New Roman" panose="02020603050405020304" pitchFamily="18" charset="0"/>
                <a:ea typeface="宋体" panose="02010600030101010101" pitchFamily="2" charset="-122"/>
              </a:rPr>
              <a:t>15</a:t>
            </a:r>
            <a:endParaRPr lang="en-US" altLang="zh-CN" dirty="0">
              <a:latin typeface="Times New Roman" panose="02020603050405020304" pitchFamily="18" charset="0"/>
              <a:ea typeface="宋体" panose="02010600030101010101" pitchFamily="2" charset="-122"/>
            </a:endParaRPr>
          </a:p>
        </p:txBody>
      </p:sp>
      <p:sp>
        <p:nvSpPr>
          <p:cNvPr id="223245" name="Line 13"/>
          <p:cNvSpPr/>
          <p:nvPr/>
        </p:nvSpPr>
        <p:spPr>
          <a:xfrm flipV="1">
            <a:off x="3962400" y="4114800"/>
            <a:ext cx="2286000" cy="228600"/>
          </a:xfrm>
          <a:prstGeom prst="line">
            <a:avLst/>
          </a:prstGeom>
          <a:ln w="38100" cap="flat" cmpd="sng">
            <a:solidFill>
              <a:srgbClr val="CC3300"/>
            </a:solidFill>
            <a:prstDash val="solid"/>
            <a:round/>
            <a:headEnd type="arrow" w="med" len="med"/>
            <a:tailEnd type="none" w="med" len="med"/>
          </a:ln>
        </p:spPr>
      </p:sp>
      <p:sp>
        <p:nvSpPr>
          <p:cNvPr id="223246" name="Line 14"/>
          <p:cNvSpPr/>
          <p:nvPr/>
        </p:nvSpPr>
        <p:spPr>
          <a:xfrm flipV="1">
            <a:off x="4038600" y="4724400"/>
            <a:ext cx="1295400" cy="304800"/>
          </a:xfrm>
          <a:prstGeom prst="line">
            <a:avLst/>
          </a:prstGeom>
          <a:ln w="38100" cap="flat" cmpd="sng">
            <a:solidFill>
              <a:srgbClr val="CC3300"/>
            </a:solidFill>
            <a:prstDash val="solid"/>
            <a:round/>
            <a:headEnd type="arrow" w="med" len="med"/>
            <a:tailEnd type="none" w="med" len="med"/>
          </a:ln>
        </p:spPr>
      </p:sp>
      <p:sp>
        <p:nvSpPr>
          <p:cNvPr id="223247" name="Line 15"/>
          <p:cNvSpPr/>
          <p:nvPr/>
        </p:nvSpPr>
        <p:spPr>
          <a:xfrm flipV="1">
            <a:off x="4114800" y="4800600"/>
            <a:ext cx="3048000" cy="1143000"/>
          </a:xfrm>
          <a:prstGeom prst="line">
            <a:avLst/>
          </a:prstGeom>
          <a:ln w="38100" cap="flat" cmpd="sng">
            <a:solidFill>
              <a:srgbClr val="CC3300"/>
            </a:solidFill>
            <a:prstDash val="solid"/>
            <a:round/>
            <a:headEnd type="arrow" w="med" len="med"/>
            <a:tailEnd type="none" w="med" len="med"/>
          </a:ln>
        </p:spPr>
      </p:sp>
      <p:sp>
        <p:nvSpPr>
          <p:cNvPr id="223248" name="Line 16"/>
          <p:cNvSpPr/>
          <p:nvPr/>
        </p:nvSpPr>
        <p:spPr>
          <a:xfrm flipV="1">
            <a:off x="7543800" y="3733800"/>
            <a:ext cx="1219200" cy="304800"/>
          </a:xfrm>
          <a:prstGeom prst="line">
            <a:avLst/>
          </a:prstGeom>
          <a:ln w="38100" cap="flat" cmpd="sng">
            <a:solidFill>
              <a:srgbClr val="CC3300"/>
            </a:solidFill>
            <a:prstDash val="solid"/>
            <a:round/>
            <a:headEnd type="none" w="med" len="med"/>
            <a:tailEnd type="arrow" w="med" len="med"/>
          </a:ln>
        </p:spPr>
      </p:sp>
      <p:sp>
        <p:nvSpPr>
          <p:cNvPr id="223249" name="Line 17"/>
          <p:cNvSpPr/>
          <p:nvPr/>
        </p:nvSpPr>
        <p:spPr>
          <a:xfrm flipH="1" flipV="1">
            <a:off x="7391400" y="6172200"/>
            <a:ext cx="228600" cy="304800"/>
          </a:xfrm>
          <a:prstGeom prst="line">
            <a:avLst/>
          </a:prstGeom>
          <a:ln w="38100" cap="flat" cmpd="sng">
            <a:solidFill>
              <a:srgbClr val="CC3300"/>
            </a:solidFill>
            <a:prstDash val="solid"/>
            <a:round/>
            <a:headEnd type="arrow" w="med" len="med"/>
            <a:tailEnd type="none" w="med" len="med"/>
          </a:ln>
        </p:spPr>
      </p:sp>
      <p:sp>
        <p:nvSpPr>
          <p:cNvPr id="223250" name="Line 18"/>
          <p:cNvSpPr/>
          <p:nvPr/>
        </p:nvSpPr>
        <p:spPr>
          <a:xfrm>
            <a:off x="8229600" y="4724400"/>
            <a:ext cx="533400" cy="0"/>
          </a:xfrm>
          <a:prstGeom prst="line">
            <a:avLst/>
          </a:prstGeom>
          <a:ln w="38100" cap="flat" cmpd="sng">
            <a:solidFill>
              <a:srgbClr val="CC3300"/>
            </a:solidFill>
            <a:prstDash val="solid"/>
            <a:round/>
            <a:headEnd type="none" w="med" len="med"/>
            <a:tailEnd type="arrow" w="med" len="med"/>
          </a:ln>
        </p:spPr>
      </p:sp>
      <p:sp>
        <p:nvSpPr>
          <p:cNvPr id="223251" name="Line 19"/>
          <p:cNvSpPr/>
          <p:nvPr/>
        </p:nvSpPr>
        <p:spPr>
          <a:xfrm flipV="1">
            <a:off x="6477000" y="5486400"/>
            <a:ext cx="685800" cy="914400"/>
          </a:xfrm>
          <a:prstGeom prst="line">
            <a:avLst/>
          </a:prstGeom>
          <a:ln w="38100" cap="flat" cmpd="sng">
            <a:solidFill>
              <a:srgbClr val="CC3300"/>
            </a:solidFill>
            <a:prstDash val="solid"/>
            <a:round/>
            <a:headEnd type="arrow" w="med" len="med"/>
            <a:tailEnd type="none" w="med" len="med"/>
          </a:ln>
        </p:spPr>
      </p:sp>
      <p:sp>
        <p:nvSpPr>
          <p:cNvPr id="223252" name="Line 20"/>
          <p:cNvSpPr/>
          <p:nvPr/>
        </p:nvSpPr>
        <p:spPr>
          <a:xfrm>
            <a:off x="8229600" y="5562600"/>
            <a:ext cx="457200" cy="609600"/>
          </a:xfrm>
          <a:prstGeom prst="line">
            <a:avLst/>
          </a:prstGeom>
          <a:ln w="38100" cap="flat" cmpd="sng">
            <a:solidFill>
              <a:srgbClr val="CC3300"/>
            </a:solidFill>
            <a:prstDash val="solid"/>
            <a:round/>
            <a:headEnd type="none" w="med" len="med"/>
            <a:tailEnd type="arrow" w="med" len="med"/>
          </a:ln>
        </p:spPr>
      </p:sp>
      <p:sp>
        <p:nvSpPr>
          <p:cNvPr id="223253" name="Rectangle 21"/>
          <p:cNvSpPr/>
          <p:nvPr/>
        </p:nvSpPr>
        <p:spPr>
          <a:xfrm>
            <a:off x="2590800" y="609600"/>
            <a:ext cx="4114800" cy="423545"/>
          </a:xfrm>
          <a:prstGeom prst="rect">
            <a:avLst/>
          </a:prstGeom>
          <a:solidFill>
            <a:srgbClr val="FFFF00"/>
          </a:solidFill>
          <a:ln w="9525">
            <a:noFill/>
          </a:ln>
        </p:spPr>
        <p:txBody>
          <a:bodyPr anchor="t" anchorCtr="0">
            <a:spAutoFit/>
          </a:bodyPr>
          <a:lstStyle/>
          <a:p>
            <a:pPr>
              <a:lnSpc>
                <a:spcPct val="120000"/>
              </a:lnSpc>
            </a:pPr>
            <a:r>
              <a:rPr lang="zh-CN" altLang="en-US" dirty="0">
                <a:latin typeface="Times New Roman" panose="02020603050405020304" pitchFamily="18" charset="0"/>
                <a:ea typeface="宋体" panose="02010600030101010101" pitchFamily="2" charset="-122"/>
              </a:rPr>
              <a:t>（</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）用卡诺图表示逻辑函数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223253"/>
                                        </p:tgtEl>
                                        <p:attrNameLst>
                                          <p:attrName>style.visibility</p:attrName>
                                        </p:attrNameLst>
                                      </p:cBhvr>
                                      <p:to>
                                        <p:strVal val="visible"/>
                                      </p:to>
                                    </p:set>
                                    <p:animEffect transition="in" filter="box(out)">
                                      <p:cBhvr>
                                        <p:cTn id="7" dur="500"/>
                                        <p:tgtEl>
                                          <p:spTgt spid="22325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3235"/>
                                        </p:tgtEl>
                                        <p:attrNameLst>
                                          <p:attrName>style.visibility</p:attrName>
                                        </p:attrNameLst>
                                      </p:cBhvr>
                                      <p:to>
                                        <p:strVal val="visible"/>
                                      </p:to>
                                    </p:set>
                                    <p:animEffect transition="in" filter="wipe(left)">
                                      <p:cBhvr>
                                        <p:cTn id="12" dur="500"/>
                                        <p:tgtEl>
                                          <p:spTgt spid="22323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223236"/>
                                        </p:tgtEl>
                                        <p:attrNameLst>
                                          <p:attrName>style.visibility</p:attrName>
                                        </p:attrNameLst>
                                      </p:cBhvr>
                                      <p:to>
                                        <p:strVal val="visible"/>
                                      </p:to>
                                    </p:set>
                                    <p:animEffect transition="in" filter="barn(outVertical)">
                                      <p:cBhvr>
                                        <p:cTn id="17" dur="500"/>
                                        <p:tgtEl>
                                          <p:spTgt spid="22323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23234"/>
                                        </p:tgtEl>
                                        <p:attrNameLst>
                                          <p:attrName>style.visibility</p:attrName>
                                        </p:attrNameLst>
                                      </p:cBhvr>
                                      <p:to>
                                        <p:strVal val="visible"/>
                                      </p:to>
                                    </p:set>
                                    <p:animEffect transition="in" filter="dissolve">
                                      <p:cBhvr>
                                        <p:cTn id="22" dur="500"/>
                                        <p:tgtEl>
                                          <p:spTgt spid="22323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223245"/>
                                        </p:tgtEl>
                                        <p:attrNameLst>
                                          <p:attrName>style.visibility</p:attrName>
                                        </p:attrNameLst>
                                      </p:cBhvr>
                                      <p:to>
                                        <p:strVal val="visible"/>
                                      </p:to>
                                    </p:set>
                                    <p:animEffect transition="in" filter="wipe(right)">
                                      <p:cBhvr>
                                        <p:cTn id="27" dur="500"/>
                                        <p:tgtEl>
                                          <p:spTgt spid="223245"/>
                                        </p:tgtEl>
                                      </p:cBhvr>
                                    </p:animEffect>
                                  </p:childTnLst>
                                </p:cTn>
                              </p:par>
                            </p:childTnLst>
                          </p:cTn>
                        </p:par>
                        <p:par>
                          <p:cTn id="28" fill="hold">
                            <p:stCondLst>
                              <p:cond delay="500"/>
                            </p:stCondLst>
                            <p:childTnLst>
                              <p:par>
                                <p:cTn id="29" presetID="2" presetClass="entr" presetSubtype="8" fill="hold" grpId="0" nodeType="afterEffect">
                                  <p:stCondLst>
                                    <p:cond delay="0"/>
                                  </p:stCondLst>
                                  <p:childTnLst>
                                    <p:set>
                                      <p:cBhvr>
                                        <p:cTn id="30" dur="1" fill="hold">
                                          <p:stCondLst>
                                            <p:cond delay="0"/>
                                          </p:stCondLst>
                                        </p:cTn>
                                        <p:tgtEl>
                                          <p:spTgt spid="223237"/>
                                        </p:tgtEl>
                                        <p:attrNameLst>
                                          <p:attrName>style.visibility</p:attrName>
                                        </p:attrNameLst>
                                      </p:cBhvr>
                                      <p:to>
                                        <p:strVal val="visible"/>
                                      </p:to>
                                    </p:set>
                                    <p:anim calcmode="lin" valueType="num">
                                      <p:cBhvr additive="base">
                                        <p:cTn id="31" dur="500" fill="hold"/>
                                        <p:tgtEl>
                                          <p:spTgt spid="223237"/>
                                        </p:tgtEl>
                                        <p:attrNameLst>
                                          <p:attrName>ppt_x</p:attrName>
                                        </p:attrNameLst>
                                      </p:cBhvr>
                                      <p:tavLst>
                                        <p:tav tm="0">
                                          <p:val>
                                            <p:strVal val="0-#ppt_w/2"/>
                                          </p:val>
                                        </p:tav>
                                        <p:tav tm="100000">
                                          <p:val>
                                            <p:strVal val="#ppt_x"/>
                                          </p:val>
                                        </p:tav>
                                      </p:tavLst>
                                    </p:anim>
                                    <p:anim calcmode="lin" valueType="num">
                                      <p:cBhvr additive="base">
                                        <p:cTn id="32" dur="500" fill="hold"/>
                                        <p:tgtEl>
                                          <p:spTgt spid="223237"/>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3248"/>
                                        </p:tgtEl>
                                        <p:attrNameLst>
                                          <p:attrName>style.visibility</p:attrName>
                                        </p:attrNameLst>
                                      </p:cBhvr>
                                      <p:to>
                                        <p:strVal val="visible"/>
                                      </p:to>
                                    </p:set>
                                    <p:animEffect transition="in" filter="wipe(left)">
                                      <p:cBhvr>
                                        <p:cTn id="37" dur="500"/>
                                        <p:tgtEl>
                                          <p:spTgt spid="223248"/>
                                        </p:tgtEl>
                                      </p:cBhvr>
                                    </p:animEffect>
                                  </p:childTnLst>
                                </p:cTn>
                              </p:par>
                            </p:childTnLst>
                          </p:cTn>
                        </p:par>
                        <p:par>
                          <p:cTn id="38" fill="hold">
                            <p:stCondLst>
                              <p:cond delay="500"/>
                            </p:stCondLst>
                            <p:childTnLst>
                              <p:par>
                                <p:cTn id="39" presetID="2" presetClass="entr" presetSubtype="8" fill="hold" grpId="0" nodeType="afterEffect">
                                  <p:stCondLst>
                                    <p:cond delay="0"/>
                                  </p:stCondLst>
                                  <p:childTnLst>
                                    <p:set>
                                      <p:cBhvr>
                                        <p:cTn id="40" dur="1" fill="hold">
                                          <p:stCondLst>
                                            <p:cond delay="0"/>
                                          </p:stCondLst>
                                        </p:cTn>
                                        <p:tgtEl>
                                          <p:spTgt spid="223238"/>
                                        </p:tgtEl>
                                        <p:attrNameLst>
                                          <p:attrName>style.visibility</p:attrName>
                                        </p:attrNameLst>
                                      </p:cBhvr>
                                      <p:to>
                                        <p:strVal val="visible"/>
                                      </p:to>
                                    </p:set>
                                    <p:anim calcmode="lin" valueType="num">
                                      <p:cBhvr additive="base">
                                        <p:cTn id="41" dur="500" fill="hold"/>
                                        <p:tgtEl>
                                          <p:spTgt spid="223238"/>
                                        </p:tgtEl>
                                        <p:attrNameLst>
                                          <p:attrName>ppt_x</p:attrName>
                                        </p:attrNameLst>
                                      </p:cBhvr>
                                      <p:tavLst>
                                        <p:tav tm="0">
                                          <p:val>
                                            <p:strVal val="0-#ppt_w/2"/>
                                          </p:val>
                                        </p:tav>
                                        <p:tav tm="100000">
                                          <p:val>
                                            <p:strVal val="#ppt_x"/>
                                          </p:val>
                                        </p:tav>
                                      </p:tavLst>
                                    </p:anim>
                                    <p:anim calcmode="lin" valueType="num">
                                      <p:cBhvr additive="base">
                                        <p:cTn id="42" dur="500" fill="hold"/>
                                        <p:tgtEl>
                                          <p:spTgt spid="223238"/>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nodeType="clickEffect">
                                  <p:stCondLst>
                                    <p:cond delay="0"/>
                                  </p:stCondLst>
                                  <p:childTnLst>
                                    <p:set>
                                      <p:cBhvr>
                                        <p:cTn id="46" dur="1" fill="hold">
                                          <p:stCondLst>
                                            <p:cond delay="0"/>
                                          </p:stCondLst>
                                        </p:cTn>
                                        <p:tgtEl>
                                          <p:spTgt spid="223246"/>
                                        </p:tgtEl>
                                        <p:attrNameLst>
                                          <p:attrName>style.visibility</p:attrName>
                                        </p:attrNameLst>
                                      </p:cBhvr>
                                      <p:to>
                                        <p:strVal val="visible"/>
                                      </p:to>
                                    </p:set>
                                    <p:animEffect transition="in" filter="wipe(right)">
                                      <p:cBhvr>
                                        <p:cTn id="47" dur="500"/>
                                        <p:tgtEl>
                                          <p:spTgt spid="223246"/>
                                        </p:tgtEl>
                                      </p:cBhvr>
                                    </p:animEffect>
                                  </p:childTnLst>
                                </p:cTn>
                              </p:par>
                            </p:childTnLst>
                          </p:cTn>
                        </p:par>
                        <p:par>
                          <p:cTn id="48" fill="hold">
                            <p:stCondLst>
                              <p:cond delay="500"/>
                            </p:stCondLst>
                            <p:childTnLst>
                              <p:par>
                                <p:cTn id="49" presetID="2" presetClass="entr" presetSubtype="2" fill="hold" grpId="0" nodeType="afterEffect">
                                  <p:stCondLst>
                                    <p:cond delay="0"/>
                                  </p:stCondLst>
                                  <p:childTnLst>
                                    <p:set>
                                      <p:cBhvr>
                                        <p:cTn id="50" dur="1" fill="hold">
                                          <p:stCondLst>
                                            <p:cond delay="0"/>
                                          </p:stCondLst>
                                        </p:cTn>
                                        <p:tgtEl>
                                          <p:spTgt spid="223239"/>
                                        </p:tgtEl>
                                        <p:attrNameLst>
                                          <p:attrName>style.visibility</p:attrName>
                                        </p:attrNameLst>
                                      </p:cBhvr>
                                      <p:to>
                                        <p:strVal val="visible"/>
                                      </p:to>
                                    </p:set>
                                    <p:anim calcmode="lin" valueType="num">
                                      <p:cBhvr additive="base">
                                        <p:cTn id="51" dur="500" fill="hold"/>
                                        <p:tgtEl>
                                          <p:spTgt spid="223239"/>
                                        </p:tgtEl>
                                        <p:attrNameLst>
                                          <p:attrName>ppt_x</p:attrName>
                                        </p:attrNameLst>
                                      </p:cBhvr>
                                      <p:tavLst>
                                        <p:tav tm="0">
                                          <p:val>
                                            <p:strVal val="1+#ppt_w/2"/>
                                          </p:val>
                                        </p:tav>
                                        <p:tav tm="100000">
                                          <p:val>
                                            <p:strVal val="#ppt_x"/>
                                          </p:val>
                                        </p:tav>
                                      </p:tavLst>
                                    </p:anim>
                                    <p:anim calcmode="lin" valueType="num">
                                      <p:cBhvr additive="base">
                                        <p:cTn id="52" dur="500" fill="hold"/>
                                        <p:tgtEl>
                                          <p:spTgt spid="223239"/>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23250"/>
                                        </p:tgtEl>
                                        <p:attrNameLst>
                                          <p:attrName>style.visibility</p:attrName>
                                        </p:attrNameLst>
                                      </p:cBhvr>
                                      <p:to>
                                        <p:strVal val="visible"/>
                                      </p:to>
                                    </p:set>
                                    <p:animEffect transition="in" filter="wipe(left)">
                                      <p:cBhvr>
                                        <p:cTn id="57" dur="500"/>
                                        <p:tgtEl>
                                          <p:spTgt spid="223250"/>
                                        </p:tgtEl>
                                      </p:cBhvr>
                                    </p:animEffect>
                                  </p:childTnLst>
                                </p:cTn>
                              </p:par>
                            </p:childTnLst>
                          </p:cTn>
                        </p:par>
                        <p:par>
                          <p:cTn id="58" fill="hold">
                            <p:stCondLst>
                              <p:cond delay="500"/>
                            </p:stCondLst>
                            <p:childTnLst>
                              <p:par>
                                <p:cTn id="59" presetID="2" presetClass="entr" presetSubtype="12" fill="hold" grpId="0" nodeType="afterEffect">
                                  <p:stCondLst>
                                    <p:cond delay="0"/>
                                  </p:stCondLst>
                                  <p:childTnLst>
                                    <p:set>
                                      <p:cBhvr>
                                        <p:cTn id="60" dur="1" fill="hold">
                                          <p:stCondLst>
                                            <p:cond delay="0"/>
                                          </p:stCondLst>
                                        </p:cTn>
                                        <p:tgtEl>
                                          <p:spTgt spid="223240"/>
                                        </p:tgtEl>
                                        <p:attrNameLst>
                                          <p:attrName>style.visibility</p:attrName>
                                        </p:attrNameLst>
                                      </p:cBhvr>
                                      <p:to>
                                        <p:strVal val="visible"/>
                                      </p:to>
                                    </p:set>
                                    <p:anim calcmode="lin" valueType="num">
                                      <p:cBhvr additive="base">
                                        <p:cTn id="61" dur="500" fill="hold"/>
                                        <p:tgtEl>
                                          <p:spTgt spid="223240"/>
                                        </p:tgtEl>
                                        <p:attrNameLst>
                                          <p:attrName>ppt_x</p:attrName>
                                        </p:attrNameLst>
                                      </p:cBhvr>
                                      <p:tavLst>
                                        <p:tav tm="0">
                                          <p:val>
                                            <p:strVal val="0-#ppt_w/2"/>
                                          </p:val>
                                        </p:tav>
                                        <p:tav tm="100000">
                                          <p:val>
                                            <p:strVal val="#ppt_x"/>
                                          </p:val>
                                        </p:tav>
                                      </p:tavLst>
                                    </p:anim>
                                    <p:anim calcmode="lin" valueType="num">
                                      <p:cBhvr additive="base">
                                        <p:cTn id="62" dur="500" fill="hold"/>
                                        <p:tgtEl>
                                          <p:spTgt spid="22324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18" presetClass="entr" presetSubtype="12" fill="hold" nodeType="clickEffect">
                                  <p:stCondLst>
                                    <p:cond delay="0"/>
                                  </p:stCondLst>
                                  <p:childTnLst>
                                    <p:set>
                                      <p:cBhvr>
                                        <p:cTn id="66" dur="1" fill="hold">
                                          <p:stCondLst>
                                            <p:cond delay="0"/>
                                          </p:stCondLst>
                                        </p:cTn>
                                        <p:tgtEl>
                                          <p:spTgt spid="223247"/>
                                        </p:tgtEl>
                                        <p:attrNameLst>
                                          <p:attrName>style.visibility</p:attrName>
                                        </p:attrNameLst>
                                      </p:cBhvr>
                                      <p:to>
                                        <p:strVal val="visible"/>
                                      </p:to>
                                    </p:set>
                                    <p:animEffect transition="in" filter="strips(downLeft)">
                                      <p:cBhvr>
                                        <p:cTn id="67" dur="500"/>
                                        <p:tgtEl>
                                          <p:spTgt spid="223247"/>
                                        </p:tgtEl>
                                      </p:cBhvr>
                                    </p:animEffect>
                                  </p:childTnLst>
                                </p:cTn>
                              </p:par>
                            </p:childTnLst>
                          </p:cTn>
                        </p:par>
                        <p:par>
                          <p:cTn id="68" fill="hold">
                            <p:stCondLst>
                              <p:cond delay="500"/>
                            </p:stCondLst>
                            <p:childTnLst>
                              <p:par>
                                <p:cTn id="69" presetID="2" presetClass="entr" presetSubtype="4" fill="hold" grpId="0" nodeType="afterEffect">
                                  <p:stCondLst>
                                    <p:cond delay="0"/>
                                  </p:stCondLst>
                                  <p:childTnLst>
                                    <p:set>
                                      <p:cBhvr>
                                        <p:cTn id="70" dur="1" fill="hold">
                                          <p:stCondLst>
                                            <p:cond delay="0"/>
                                          </p:stCondLst>
                                        </p:cTn>
                                        <p:tgtEl>
                                          <p:spTgt spid="223241"/>
                                        </p:tgtEl>
                                        <p:attrNameLst>
                                          <p:attrName>style.visibility</p:attrName>
                                        </p:attrNameLst>
                                      </p:cBhvr>
                                      <p:to>
                                        <p:strVal val="visible"/>
                                      </p:to>
                                    </p:set>
                                    <p:anim calcmode="lin" valueType="num">
                                      <p:cBhvr additive="base">
                                        <p:cTn id="71" dur="500" fill="hold"/>
                                        <p:tgtEl>
                                          <p:spTgt spid="223241"/>
                                        </p:tgtEl>
                                        <p:attrNameLst>
                                          <p:attrName>ppt_x</p:attrName>
                                        </p:attrNameLst>
                                      </p:cBhvr>
                                      <p:tavLst>
                                        <p:tav tm="0">
                                          <p:val>
                                            <p:strVal val="#ppt_x"/>
                                          </p:val>
                                        </p:tav>
                                        <p:tav tm="100000">
                                          <p:val>
                                            <p:strVal val="#ppt_x"/>
                                          </p:val>
                                        </p:tav>
                                      </p:tavLst>
                                    </p:anim>
                                    <p:anim calcmode="lin" valueType="num">
                                      <p:cBhvr additive="base">
                                        <p:cTn id="72" dur="500" fill="hold"/>
                                        <p:tgtEl>
                                          <p:spTgt spid="223241"/>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18" presetClass="entr" presetSubtype="12" fill="hold" nodeType="clickEffect">
                                  <p:stCondLst>
                                    <p:cond delay="0"/>
                                  </p:stCondLst>
                                  <p:childTnLst>
                                    <p:set>
                                      <p:cBhvr>
                                        <p:cTn id="76" dur="1" fill="hold">
                                          <p:stCondLst>
                                            <p:cond delay="0"/>
                                          </p:stCondLst>
                                        </p:cTn>
                                        <p:tgtEl>
                                          <p:spTgt spid="223249"/>
                                        </p:tgtEl>
                                        <p:attrNameLst>
                                          <p:attrName>style.visibility</p:attrName>
                                        </p:attrNameLst>
                                      </p:cBhvr>
                                      <p:to>
                                        <p:strVal val="visible"/>
                                      </p:to>
                                    </p:set>
                                    <p:animEffect transition="in" filter="strips(downLeft)">
                                      <p:cBhvr>
                                        <p:cTn id="77" dur="500"/>
                                        <p:tgtEl>
                                          <p:spTgt spid="223249"/>
                                        </p:tgtEl>
                                      </p:cBhvr>
                                    </p:animEffect>
                                  </p:childTnLst>
                                </p:cTn>
                              </p:par>
                            </p:childTnLst>
                          </p:cTn>
                        </p:par>
                        <p:par>
                          <p:cTn id="78" fill="hold">
                            <p:stCondLst>
                              <p:cond delay="500"/>
                            </p:stCondLst>
                            <p:childTnLst>
                              <p:par>
                                <p:cTn id="79" presetID="2" presetClass="entr" presetSubtype="2" fill="hold" grpId="0" nodeType="afterEffect">
                                  <p:stCondLst>
                                    <p:cond delay="0"/>
                                  </p:stCondLst>
                                  <p:childTnLst>
                                    <p:set>
                                      <p:cBhvr>
                                        <p:cTn id="80" dur="1" fill="hold">
                                          <p:stCondLst>
                                            <p:cond delay="0"/>
                                          </p:stCondLst>
                                        </p:cTn>
                                        <p:tgtEl>
                                          <p:spTgt spid="223242"/>
                                        </p:tgtEl>
                                        <p:attrNameLst>
                                          <p:attrName>style.visibility</p:attrName>
                                        </p:attrNameLst>
                                      </p:cBhvr>
                                      <p:to>
                                        <p:strVal val="visible"/>
                                      </p:to>
                                    </p:set>
                                    <p:anim calcmode="lin" valueType="num">
                                      <p:cBhvr additive="base">
                                        <p:cTn id="81" dur="500" fill="hold"/>
                                        <p:tgtEl>
                                          <p:spTgt spid="223242"/>
                                        </p:tgtEl>
                                        <p:attrNameLst>
                                          <p:attrName>ppt_x</p:attrName>
                                        </p:attrNameLst>
                                      </p:cBhvr>
                                      <p:tavLst>
                                        <p:tav tm="0">
                                          <p:val>
                                            <p:strVal val="1+#ppt_w/2"/>
                                          </p:val>
                                        </p:tav>
                                        <p:tav tm="100000">
                                          <p:val>
                                            <p:strVal val="#ppt_x"/>
                                          </p:val>
                                        </p:tav>
                                      </p:tavLst>
                                    </p:anim>
                                    <p:anim calcmode="lin" valueType="num">
                                      <p:cBhvr additive="base">
                                        <p:cTn id="82" dur="500" fill="hold"/>
                                        <p:tgtEl>
                                          <p:spTgt spid="223242"/>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18" presetClass="entr" presetSubtype="6" fill="hold" nodeType="clickEffect">
                                  <p:stCondLst>
                                    <p:cond delay="0"/>
                                  </p:stCondLst>
                                  <p:childTnLst>
                                    <p:set>
                                      <p:cBhvr>
                                        <p:cTn id="86" dur="1" fill="hold">
                                          <p:stCondLst>
                                            <p:cond delay="0"/>
                                          </p:stCondLst>
                                        </p:cTn>
                                        <p:tgtEl>
                                          <p:spTgt spid="223252"/>
                                        </p:tgtEl>
                                        <p:attrNameLst>
                                          <p:attrName>style.visibility</p:attrName>
                                        </p:attrNameLst>
                                      </p:cBhvr>
                                      <p:to>
                                        <p:strVal val="visible"/>
                                      </p:to>
                                    </p:set>
                                    <p:animEffect transition="in" filter="strips(downRight)">
                                      <p:cBhvr>
                                        <p:cTn id="87" dur="500"/>
                                        <p:tgtEl>
                                          <p:spTgt spid="223252"/>
                                        </p:tgtEl>
                                      </p:cBhvr>
                                    </p:animEffect>
                                  </p:childTnLst>
                                </p:cTn>
                              </p:par>
                            </p:childTnLst>
                          </p:cTn>
                        </p:par>
                        <p:par>
                          <p:cTn id="88" fill="hold">
                            <p:stCondLst>
                              <p:cond delay="500"/>
                            </p:stCondLst>
                            <p:childTnLst>
                              <p:par>
                                <p:cTn id="89" presetID="2" presetClass="entr" presetSubtype="4" fill="hold" grpId="0" nodeType="afterEffect">
                                  <p:stCondLst>
                                    <p:cond delay="0"/>
                                  </p:stCondLst>
                                  <p:childTnLst>
                                    <p:set>
                                      <p:cBhvr>
                                        <p:cTn id="90" dur="1" fill="hold">
                                          <p:stCondLst>
                                            <p:cond delay="0"/>
                                          </p:stCondLst>
                                        </p:cTn>
                                        <p:tgtEl>
                                          <p:spTgt spid="223243"/>
                                        </p:tgtEl>
                                        <p:attrNameLst>
                                          <p:attrName>style.visibility</p:attrName>
                                        </p:attrNameLst>
                                      </p:cBhvr>
                                      <p:to>
                                        <p:strVal val="visible"/>
                                      </p:to>
                                    </p:set>
                                    <p:anim calcmode="lin" valueType="num">
                                      <p:cBhvr additive="base">
                                        <p:cTn id="91" dur="500" fill="hold"/>
                                        <p:tgtEl>
                                          <p:spTgt spid="223243"/>
                                        </p:tgtEl>
                                        <p:attrNameLst>
                                          <p:attrName>ppt_x</p:attrName>
                                        </p:attrNameLst>
                                      </p:cBhvr>
                                      <p:tavLst>
                                        <p:tav tm="0">
                                          <p:val>
                                            <p:strVal val="#ppt_x"/>
                                          </p:val>
                                        </p:tav>
                                        <p:tav tm="100000">
                                          <p:val>
                                            <p:strVal val="#ppt_x"/>
                                          </p:val>
                                        </p:tav>
                                      </p:tavLst>
                                    </p:anim>
                                    <p:anim calcmode="lin" valueType="num">
                                      <p:cBhvr additive="base">
                                        <p:cTn id="92" dur="500" fill="hold"/>
                                        <p:tgtEl>
                                          <p:spTgt spid="223243"/>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18" presetClass="entr" presetSubtype="12" fill="hold" nodeType="clickEffect">
                                  <p:stCondLst>
                                    <p:cond delay="0"/>
                                  </p:stCondLst>
                                  <p:childTnLst>
                                    <p:set>
                                      <p:cBhvr>
                                        <p:cTn id="96" dur="1" fill="hold">
                                          <p:stCondLst>
                                            <p:cond delay="0"/>
                                          </p:stCondLst>
                                        </p:cTn>
                                        <p:tgtEl>
                                          <p:spTgt spid="223251"/>
                                        </p:tgtEl>
                                        <p:attrNameLst>
                                          <p:attrName>style.visibility</p:attrName>
                                        </p:attrNameLst>
                                      </p:cBhvr>
                                      <p:to>
                                        <p:strVal val="visible"/>
                                      </p:to>
                                    </p:set>
                                    <p:animEffect transition="in" filter="strips(downLeft)">
                                      <p:cBhvr>
                                        <p:cTn id="97" dur="500"/>
                                        <p:tgtEl>
                                          <p:spTgt spid="223251"/>
                                        </p:tgtEl>
                                      </p:cBhvr>
                                    </p:animEffect>
                                  </p:childTnLst>
                                </p:cTn>
                              </p:par>
                            </p:childTnLst>
                          </p:cTn>
                        </p:par>
                        <p:par>
                          <p:cTn id="98" fill="hold">
                            <p:stCondLst>
                              <p:cond delay="500"/>
                            </p:stCondLst>
                            <p:childTnLst>
                              <p:par>
                                <p:cTn id="99" presetID="2" presetClass="entr" presetSubtype="6" fill="hold" grpId="0" nodeType="afterEffect">
                                  <p:stCondLst>
                                    <p:cond delay="0"/>
                                  </p:stCondLst>
                                  <p:childTnLst>
                                    <p:set>
                                      <p:cBhvr>
                                        <p:cTn id="100" dur="1" fill="hold">
                                          <p:stCondLst>
                                            <p:cond delay="0"/>
                                          </p:stCondLst>
                                        </p:cTn>
                                        <p:tgtEl>
                                          <p:spTgt spid="223244"/>
                                        </p:tgtEl>
                                        <p:attrNameLst>
                                          <p:attrName>style.visibility</p:attrName>
                                        </p:attrNameLst>
                                      </p:cBhvr>
                                      <p:to>
                                        <p:strVal val="visible"/>
                                      </p:to>
                                    </p:set>
                                    <p:anim calcmode="lin" valueType="num">
                                      <p:cBhvr additive="base">
                                        <p:cTn id="101" dur="500" fill="hold"/>
                                        <p:tgtEl>
                                          <p:spTgt spid="223244"/>
                                        </p:tgtEl>
                                        <p:attrNameLst>
                                          <p:attrName>ppt_x</p:attrName>
                                        </p:attrNameLst>
                                      </p:cBhvr>
                                      <p:tavLst>
                                        <p:tav tm="0">
                                          <p:val>
                                            <p:strVal val="1+#ppt_w/2"/>
                                          </p:val>
                                        </p:tav>
                                        <p:tav tm="100000">
                                          <p:val>
                                            <p:strVal val="#ppt_x"/>
                                          </p:val>
                                        </p:tav>
                                      </p:tavLst>
                                    </p:anim>
                                    <p:anim calcmode="lin" valueType="num">
                                      <p:cBhvr additive="base">
                                        <p:cTn id="102" dur="500" fill="hold"/>
                                        <p:tgtEl>
                                          <p:spTgt spid="2232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35" grpId="0"/>
      <p:bldP spid="223237" grpId="0"/>
      <p:bldP spid="223238" grpId="0"/>
      <p:bldP spid="223239" grpId="0"/>
      <p:bldP spid="223240" grpId="0"/>
      <p:bldP spid="223241" grpId="0"/>
      <p:bldP spid="223242" grpId="0"/>
      <p:bldP spid="223243" grpId="0"/>
      <p:bldP spid="223244" grpId="0"/>
      <p:bldP spid="223253"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37"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sp>
        <p:nvSpPr>
          <p:cNvPr id="224258" name="Text Box 2"/>
          <p:cNvSpPr txBox="1"/>
          <p:nvPr/>
        </p:nvSpPr>
        <p:spPr>
          <a:xfrm>
            <a:off x="1752600" y="152400"/>
            <a:ext cx="8686800" cy="922020"/>
          </a:xfrm>
          <a:prstGeom prst="rect">
            <a:avLst/>
          </a:prstGeom>
          <a:solidFill>
            <a:schemeClr val="bg1"/>
          </a:solidFill>
          <a:ln w="9525">
            <a:noFill/>
          </a:ln>
        </p:spPr>
        <p:txBody>
          <a:bodyPr lIns="0" rIns="0" anchor="t" anchorCtr="0">
            <a:spAutoFit/>
          </a:bodyPr>
          <a:lstStyle/>
          <a:p>
            <a:pPr>
              <a:spcBef>
                <a:spcPct val="50000"/>
              </a:spcBef>
              <a:buFont typeface="Wingdings" panose="05000000000000000000" pitchFamily="2" charset="2"/>
              <a:buChar char="u"/>
            </a:pPr>
            <a:r>
              <a:rPr lang="zh-CN" altLang="en-US" dirty="0">
                <a:latin typeface="Times New Roman" panose="02020603050405020304" pitchFamily="18" charset="0"/>
                <a:ea typeface="宋体" panose="02010600030101010101" pitchFamily="2" charset="-122"/>
              </a:rPr>
              <a:t>　  逻辑函数以</a:t>
            </a:r>
            <a:r>
              <a:rPr lang="zh-CN" altLang="en-US" dirty="0">
                <a:solidFill>
                  <a:srgbClr val="FF0000"/>
                </a:solidFill>
                <a:latin typeface="Times New Roman" panose="02020603050405020304" pitchFamily="18" charset="0"/>
                <a:ea typeface="宋体" panose="02010600030101010101" pitchFamily="2" charset="-122"/>
              </a:rPr>
              <a:t>一般的逻辑表达式</a:t>
            </a:r>
            <a:r>
              <a:rPr lang="zh-CN" altLang="en-US" dirty="0">
                <a:latin typeface="Times New Roman" panose="02020603050405020304" pitchFamily="18" charset="0"/>
                <a:ea typeface="宋体" panose="02010600030101010101" pitchFamily="2" charset="-122"/>
              </a:rPr>
              <a:t>给出：先将函数变换为</a:t>
            </a:r>
            <a:r>
              <a:rPr lang="zh-CN" altLang="en-US" dirty="0">
                <a:solidFill>
                  <a:srgbClr val="0000FF"/>
                </a:solidFill>
                <a:latin typeface="Times New Roman" panose="02020603050405020304" pitchFamily="18" charset="0"/>
                <a:ea typeface="宋体" panose="02010600030101010101" pitchFamily="2" charset="-122"/>
              </a:rPr>
              <a:t>与或表达式</a:t>
            </a:r>
            <a:r>
              <a:rPr lang="zh-CN" altLang="en-US" dirty="0">
                <a:latin typeface="Times New Roman" panose="02020603050405020304" pitchFamily="18" charset="0"/>
                <a:ea typeface="宋体" panose="02010600030101010101" pitchFamily="2" charset="-122"/>
              </a:rPr>
              <a:t>（不必变换为最小项之和的形式），然后在卡诺图上与每一个</a:t>
            </a:r>
            <a:r>
              <a:rPr lang="zh-CN" altLang="en-US" dirty="0">
                <a:solidFill>
                  <a:srgbClr val="0000FF"/>
                </a:solidFill>
                <a:latin typeface="Times New Roman" panose="02020603050405020304" pitchFamily="18" charset="0"/>
                <a:ea typeface="宋体" panose="02010600030101010101" pitchFamily="2" charset="-122"/>
              </a:rPr>
              <a:t>乘积项所包含的那些最小项（该乘积项就是这些最小项的公因子）相对应的方格内填入</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，其余的方格内填入</a:t>
            </a:r>
            <a:r>
              <a:rPr lang="en-US" altLang="zh-CN" dirty="0">
                <a:solidFill>
                  <a:srgbClr val="0000FF"/>
                </a:solidFill>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a:t>
            </a:r>
          </a:p>
        </p:txBody>
      </p:sp>
      <p:graphicFrame>
        <p:nvGraphicFramePr>
          <p:cNvPr id="224259" name="Object 3"/>
          <p:cNvGraphicFramePr>
            <a:graphicFrameLocks noChangeAspect="1"/>
          </p:cNvGraphicFramePr>
          <p:nvPr/>
        </p:nvGraphicFramePr>
        <p:xfrm>
          <a:off x="1993900" y="1841500"/>
          <a:ext cx="2465388" cy="504825"/>
        </p:xfrm>
        <a:graphic>
          <a:graphicData uri="http://schemas.openxmlformats.org/presentationml/2006/ole">
            <mc:AlternateContent xmlns:mc="http://schemas.openxmlformats.org/markup-compatibility/2006">
              <mc:Choice xmlns:v="urn:schemas-microsoft-com:vml" Requires="v">
                <p:oleObj spid="_x0000_s10244" r:id="rId3" imgW="1231265" imgH="254000" progId="Equation.3">
                  <p:embed/>
                </p:oleObj>
              </mc:Choice>
              <mc:Fallback>
                <p:oleObj r:id="rId3" imgW="1231265" imgH="254000" progId="Equation.3">
                  <p:embed/>
                  <p:pic>
                    <p:nvPicPr>
                      <p:cNvPr id="0" name="图片 3186"/>
                      <p:cNvPicPr/>
                      <p:nvPr/>
                    </p:nvPicPr>
                    <p:blipFill>
                      <a:blip r:embed="rId4"/>
                      <a:stretch>
                        <a:fillRect/>
                      </a:stretch>
                    </p:blipFill>
                    <p:spPr>
                      <a:xfrm>
                        <a:off x="1993900" y="1841500"/>
                        <a:ext cx="2465388" cy="504825"/>
                      </a:xfrm>
                      <a:prstGeom prst="rect">
                        <a:avLst/>
                      </a:prstGeom>
                      <a:solidFill>
                        <a:srgbClr val="FFFF99"/>
                      </a:solidFill>
                      <a:ln w="38100">
                        <a:noFill/>
                        <a:miter/>
                      </a:ln>
                    </p:spPr>
                  </p:pic>
                </p:oleObj>
              </mc:Fallback>
            </mc:AlternateContent>
          </a:graphicData>
        </a:graphic>
      </p:graphicFrame>
      <p:graphicFrame>
        <p:nvGraphicFramePr>
          <p:cNvPr id="224260" name="Object 4"/>
          <p:cNvGraphicFramePr>
            <a:graphicFrameLocks noChangeAspect="1"/>
          </p:cNvGraphicFramePr>
          <p:nvPr/>
        </p:nvGraphicFramePr>
        <p:xfrm>
          <a:off x="2057400" y="3733800"/>
          <a:ext cx="1846263" cy="406400"/>
        </p:xfrm>
        <a:graphic>
          <a:graphicData uri="http://schemas.openxmlformats.org/presentationml/2006/ole">
            <mc:AlternateContent xmlns:mc="http://schemas.openxmlformats.org/markup-compatibility/2006">
              <mc:Choice xmlns:v="urn:schemas-microsoft-com:vml" Requires="v">
                <p:oleObj spid="_x0000_s10245" r:id="rId5" imgW="914400" imgH="203200" progId="Equation.3">
                  <p:embed/>
                </p:oleObj>
              </mc:Choice>
              <mc:Fallback>
                <p:oleObj r:id="rId5" imgW="914400" imgH="203200" progId="Equation.3">
                  <p:embed/>
                  <p:pic>
                    <p:nvPicPr>
                      <p:cNvPr id="0" name="图片 3188"/>
                      <p:cNvPicPr/>
                      <p:nvPr/>
                    </p:nvPicPr>
                    <p:blipFill>
                      <a:blip r:embed="rId6"/>
                      <a:stretch>
                        <a:fillRect/>
                      </a:stretch>
                    </p:blipFill>
                    <p:spPr>
                      <a:xfrm>
                        <a:off x="2057400" y="3733800"/>
                        <a:ext cx="1846263" cy="406400"/>
                      </a:xfrm>
                      <a:prstGeom prst="rect">
                        <a:avLst/>
                      </a:prstGeom>
                      <a:solidFill>
                        <a:srgbClr val="FFFF99"/>
                      </a:solidFill>
                      <a:ln w="38100">
                        <a:noFill/>
                        <a:miter/>
                      </a:ln>
                    </p:spPr>
                  </p:pic>
                </p:oleObj>
              </mc:Fallback>
            </mc:AlternateContent>
          </a:graphicData>
        </a:graphic>
      </p:graphicFrame>
      <p:sp>
        <p:nvSpPr>
          <p:cNvPr id="224261" name="Line 5"/>
          <p:cNvSpPr/>
          <p:nvPr/>
        </p:nvSpPr>
        <p:spPr>
          <a:xfrm rot="5400000">
            <a:off x="2171700" y="3028950"/>
            <a:ext cx="1295400" cy="0"/>
          </a:xfrm>
          <a:prstGeom prst="line">
            <a:avLst/>
          </a:prstGeom>
          <a:ln w="76200" cap="flat" cmpd="sng">
            <a:solidFill>
              <a:srgbClr val="FF6600"/>
            </a:solidFill>
            <a:prstDash val="solid"/>
            <a:round/>
            <a:headEnd type="none" w="med" len="med"/>
            <a:tailEnd type="triangle" w="med" len="med"/>
          </a:ln>
        </p:spPr>
      </p:sp>
      <p:graphicFrame>
        <p:nvGraphicFramePr>
          <p:cNvPr id="224262" name="Object 6"/>
          <p:cNvGraphicFramePr>
            <a:graphicFrameLocks noChangeAspect="1"/>
          </p:cNvGraphicFramePr>
          <p:nvPr/>
        </p:nvGraphicFramePr>
        <p:xfrm>
          <a:off x="5334000" y="2895600"/>
          <a:ext cx="4965700" cy="3467100"/>
        </p:xfrm>
        <a:graphic>
          <a:graphicData uri="http://schemas.openxmlformats.org/presentationml/2006/ole">
            <mc:AlternateContent xmlns:mc="http://schemas.openxmlformats.org/markup-compatibility/2006">
              <mc:Choice xmlns:v="urn:schemas-microsoft-com:vml" Requires="v">
                <p:oleObj spid="_x0000_s10246" r:id="rId7" imgW="4962525" imgH="3467100" progId="Word.Document.8">
                  <p:embed/>
                </p:oleObj>
              </mc:Choice>
              <mc:Fallback>
                <p:oleObj r:id="rId7" imgW="4962525" imgH="3467100" progId="Word.Document.8">
                  <p:embed/>
                  <p:pic>
                    <p:nvPicPr>
                      <p:cNvPr id="0" name="图片 3187"/>
                      <p:cNvPicPr/>
                      <p:nvPr/>
                    </p:nvPicPr>
                    <p:blipFill>
                      <a:blip r:embed="rId8"/>
                      <a:stretch>
                        <a:fillRect/>
                      </a:stretch>
                    </p:blipFill>
                    <p:spPr>
                      <a:xfrm>
                        <a:off x="5334000" y="2895600"/>
                        <a:ext cx="4965700" cy="3467100"/>
                      </a:xfrm>
                      <a:prstGeom prst="rect">
                        <a:avLst/>
                      </a:prstGeom>
                      <a:solidFill>
                        <a:srgbClr val="D9FFEC"/>
                      </a:solidFill>
                      <a:ln w="38100">
                        <a:noFill/>
                        <a:miter/>
                      </a:ln>
                    </p:spPr>
                  </p:pic>
                </p:oleObj>
              </mc:Fallback>
            </mc:AlternateContent>
          </a:graphicData>
        </a:graphic>
      </p:graphicFrame>
      <p:sp>
        <p:nvSpPr>
          <p:cNvPr id="224263" name="Text Box 7"/>
          <p:cNvSpPr txBox="1"/>
          <p:nvPr/>
        </p:nvSpPr>
        <p:spPr>
          <a:xfrm>
            <a:off x="3453130" y="2362200"/>
            <a:ext cx="553720" cy="1447800"/>
          </a:xfrm>
          <a:prstGeom prst="rect">
            <a:avLst/>
          </a:prstGeom>
          <a:noFill/>
          <a:ln w="9525">
            <a:noFill/>
          </a:ln>
        </p:spPr>
        <p:txBody>
          <a:bodyPr vert="eaVert" lIns="0" rIns="0"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变换为与或表达式</a:t>
            </a:r>
          </a:p>
        </p:txBody>
      </p:sp>
      <p:sp>
        <p:nvSpPr>
          <p:cNvPr id="224264" name="Line 8"/>
          <p:cNvSpPr/>
          <p:nvPr/>
        </p:nvSpPr>
        <p:spPr>
          <a:xfrm>
            <a:off x="3962400" y="3962400"/>
            <a:ext cx="1295400" cy="0"/>
          </a:xfrm>
          <a:prstGeom prst="line">
            <a:avLst/>
          </a:prstGeom>
          <a:ln w="76200" cap="flat" cmpd="sng">
            <a:solidFill>
              <a:srgbClr val="FF6600"/>
            </a:solidFill>
            <a:prstDash val="solid"/>
            <a:round/>
            <a:headEnd type="none" w="med" len="med"/>
            <a:tailEnd type="triangle" w="med" len="med"/>
          </a:ln>
        </p:spPr>
      </p:sp>
      <p:sp>
        <p:nvSpPr>
          <p:cNvPr id="224265" name="Oval 9"/>
          <p:cNvSpPr/>
          <p:nvPr/>
        </p:nvSpPr>
        <p:spPr>
          <a:xfrm>
            <a:off x="6629400" y="3738236"/>
            <a:ext cx="305546" cy="524528"/>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4266" name="Oval 10"/>
          <p:cNvSpPr/>
          <p:nvPr/>
        </p:nvSpPr>
        <p:spPr>
          <a:xfrm>
            <a:off x="9220200" y="3738236"/>
            <a:ext cx="305546" cy="524528"/>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4267" name="Oval 11"/>
          <p:cNvSpPr/>
          <p:nvPr/>
        </p:nvSpPr>
        <p:spPr>
          <a:xfrm>
            <a:off x="6629400" y="4424036"/>
            <a:ext cx="305546" cy="524528"/>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4268" name="Oval 12"/>
          <p:cNvSpPr/>
          <p:nvPr/>
        </p:nvSpPr>
        <p:spPr>
          <a:xfrm>
            <a:off x="9220200" y="4424036"/>
            <a:ext cx="305546" cy="524528"/>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4269" name="Oval 13"/>
          <p:cNvSpPr/>
          <p:nvPr/>
        </p:nvSpPr>
        <p:spPr>
          <a:xfrm>
            <a:off x="8305800" y="5567036"/>
            <a:ext cx="305546" cy="524528"/>
          </a:xfrm>
          <a:prstGeom prst="ellipse">
            <a:avLst/>
          </a:prstGeom>
          <a:noFill/>
          <a:ln w="38100" cap="flat" cmpd="sng">
            <a:solidFill>
              <a:schemeClr val="accent2"/>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4270" name="Oval 14"/>
          <p:cNvSpPr/>
          <p:nvPr/>
        </p:nvSpPr>
        <p:spPr>
          <a:xfrm>
            <a:off x="8305800" y="3738236"/>
            <a:ext cx="305546" cy="524528"/>
          </a:xfrm>
          <a:prstGeom prst="ellipse">
            <a:avLst/>
          </a:prstGeom>
          <a:noFill/>
          <a:ln w="38100" cap="flat" cmpd="sng">
            <a:solidFill>
              <a:schemeClr val="accent2"/>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4271" name="Oval 15"/>
          <p:cNvSpPr/>
          <p:nvPr/>
        </p:nvSpPr>
        <p:spPr>
          <a:xfrm>
            <a:off x="9296400" y="3738236"/>
            <a:ext cx="305546" cy="524528"/>
          </a:xfrm>
          <a:prstGeom prst="ellipse">
            <a:avLst/>
          </a:prstGeom>
          <a:noFill/>
          <a:ln w="38100" cap="flat" cmpd="sng">
            <a:solidFill>
              <a:schemeClr val="accent2"/>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4272" name="Oval 16"/>
          <p:cNvSpPr/>
          <p:nvPr/>
        </p:nvSpPr>
        <p:spPr>
          <a:xfrm>
            <a:off x="9220200" y="5567036"/>
            <a:ext cx="305546" cy="524528"/>
          </a:xfrm>
          <a:prstGeom prst="ellipse">
            <a:avLst/>
          </a:prstGeom>
          <a:noFill/>
          <a:ln w="38100" cap="flat" cmpd="sng">
            <a:solidFill>
              <a:schemeClr val="accent2"/>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24292" name="Group 36"/>
          <p:cNvGrpSpPr/>
          <p:nvPr/>
        </p:nvGrpSpPr>
        <p:grpSpPr>
          <a:xfrm>
            <a:off x="7239000" y="2133600"/>
            <a:ext cx="1981200" cy="368300"/>
            <a:chOff x="3600" y="1344"/>
            <a:chExt cx="1248" cy="232"/>
          </a:xfrm>
        </p:grpSpPr>
        <p:sp>
          <p:nvSpPr>
            <p:cNvPr id="48147" name="Text Box 18"/>
            <p:cNvSpPr txBox="1"/>
            <p:nvPr/>
          </p:nvSpPr>
          <p:spPr>
            <a:xfrm>
              <a:off x="3600" y="1344"/>
              <a:ext cx="1248" cy="232"/>
            </a:xfrm>
            <a:prstGeom prst="rect">
              <a:avLst/>
            </a:prstGeom>
            <a:noFill/>
            <a:ln w="38100" cap="flat" cmpd="sng">
              <a:solidFill>
                <a:srgbClr val="CC3300"/>
              </a:solidFill>
              <a:prstDash val="solid"/>
              <a:miter/>
              <a:headEnd type="none" w="med" len="med"/>
              <a:tailEnd type="none" w="med" len="med"/>
            </a:ln>
          </p:spPr>
          <p:txBody>
            <a:bodyPr lIns="0" rIns="0" anchor="t" anchorCtr="0">
              <a:spAutoFit/>
            </a:bodyPr>
            <a:lstStyle/>
            <a:p>
              <a:pPr>
                <a:spcBef>
                  <a:spcPct val="50000"/>
                </a:spcBef>
              </a:pPr>
              <a:r>
                <a:rPr lang="zh-CN" altLang="en-US" dirty="0">
                  <a:solidFill>
                    <a:srgbClr val="FF33CC"/>
                  </a:solidFill>
                  <a:latin typeface="Times New Roman" panose="02020603050405020304" pitchFamily="18" charset="0"/>
                  <a:ea typeface="宋体" panose="02010600030101010101" pitchFamily="2" charset="-122"/>
                </a:rPr>
                <a:t>ＡＤ的公因子</a:t>
              </a:r>
            </a:p>
          </p:txBody>
        </p:sp>
        <p:sp>
          <p:nvSpPr>
            <p:cNvPr id="48148" name="Line 19"/>
            <p:cNvSpPr/>
            <p:nvPr/>
          </p:nvSpPr>
          <p:spPr>
            <a:xfrm>
              <a:off x="3611" y="1380"/>
              <a:ext cx="145" cy="0"/>
            </a:xfrm>
            <a:prstGeom prst="line">
              <a:avLst/>
            </a:prstGeom>
            <a:ln w="38100" cap="flat" cmpd="sng">
              <a:solidFill>
                <a:srgbClr val="FF33CC"/>
              </a:solidFill>
              <a:prstDash val="solid"/>
              <a:round/>
              <a:headEnd type="none" w="med" len="med"/>
              <a:tailEnd type="none" w="med" len="med"/>
            </a:ln>
          </p:spPr>
        </p:sp>
        <p:sp>
          <p:nvSpPr>
            <p:cNvPr id="48149" name="Line 20"/>
            <p:cNvSpPr/>
            <p:nvPr/>
          </p:nvSpPr>
          <p:spPr>
            <a:xfrm>
              <a:off x="3803" y="1380"/>
              <a:ext cx="145" cy="0"/>
            </a:xfrm>
            <a:prstGeom prst="line">
              <a:avLst/>
            </a:prstGeom>
            <a:ln w="38100" cap="flat" cmpd="sng">
              <a:solidFill>
                <a:srgbClr val="FF33CC"/>
              </a:solidFill>
              <a:prstDash val="solid"/>
              <a:round/>
              <a:headEnd type="none" w="med" len="med"/>
              <a:tailEnd type="none" w="med" len="med"/>
            </a:ln>
          </p:spPr>
        </p:sp>
      </p:grpSp>
      <p:sp>
        <p:nvSpPr>
          <p:cNvPr id="224277" name="Line 21"/>
          <p:cNvSpPr/>
          <p:nvPr/>
        </p:nvSpPr>
        <p:spPr>
          <a:xfrm flipV="1">
            <a:off x="7086600" y="2667000"/>
            <a:ext cx="1143000" cy="990600"/>
          </a:xfrm>
          <a:prstGeom prst="line">
            <a:avLst/>
          </a:prstGeom>
          <a:ln w="38100" cap="flat" cmpd="sng">
            <a:solidFill>
              <a:srgbClr val="CC3300"/>
            </a:solidFill>
            <a:prstDash val="solid"/>
            <a:round/>
            <a:headEnd type="none" w="med" len="med"/>
            <a:tailEnd type="none" w="med" len="med"/>
          </a:ln>
        </p:spPr>
      </p:sp>
      <p:sp>
        <p:nvSpPr>
          <p:cNvPr id="224278" name="Line 22"/>
          <p:cNvSpPr/>
          <p:nvPr/>
        </p:nvSpPr>
        <p:spPr>
          <a:xfrm flipH="1" flipV="1">
            <a:off x="8305800" y="2590800"/>
            <a:ext cx="990600" cy="1905000"/>
          </a:xfrm>
          <a:prstGeom prst="line">
            <a:avLst/>
          </a:prstGeom>
          <a:ln w="38100" cap="flat" cmpd="sng">
            <a:solidFill>
              <a:srgbClr val="CC3300"/>
            </a:solidFill>
            <a:prstDash val="solid"/>
            <a:round/>
            <a:headEnd type="none" w="med" len="med"/>
            <a:tailEnd type="none" w="med" len="med"/>
          </a:ln>
        </p:spPr>
      </p:sp>
      <p:sp>
        <p:nvSpPr>
          <p:cNvPr id="224279" name="Line 23"/>
          <p:cNvSpPr/>
          <p:nvPr/>
        </p:nvSpPr>
        <p:spPr>
          <a:xfrm flipV="1">
            <a:off x="7162800" y="2590800"/>
            <a:ext cx="1143000" cy="1828800"/>
          </a:xfrm>
          <a:prstGeom prst="line">
            <a:avLst/>
          </a:prstGeom>
          <a:ln w="38100" cap="flat" cmpd="sng">
            <a:solidFill>
              <a:srgbClr val="CC3300"/>
            </a:solidFill>
            <a:prstDash val="solid"/>
            <a:round/>
            <a:headEnd type="none" w="med" len="med"/>
            <a:tailEnd type="none" w="med" len="med"/>
          </a:ln>
        </p:spPr>
      </p:sp>
      <p:sp>
        <p:nvSpPr>
          <p:cNvPr id="224280" name="Line 24"/>
          <p:cNvSpPr/>
          <p:nvPr/>
        </p:nvSpPr>
        <p:spPr>
          <a:xfrm flipH="1" flipV="1">
            <a:off x="8382000" y="2667000"/>
            <a:ext cx="914400" cy="1066800"/>
          </a:xfrm>
          <a:prstGeom prst="line">
            <a:avLst/>
          </a:prstGeom>
          <a:ln w="38100" cap="flat" cmpd="sng">
            <a:solidFill>
              <a:srgbClr val="CC3300"/>
            </a:solidFill>
            <a:prstDash val="solid"/>
            <a:round/>
            <a:headEnd type="none" w="med" len="med"/>
            <a:tailEnd type="none" w="med" len="med"/>
          </a:ln>
        </p:spPr>
      </p:sp>
      <p:grpSp>
        <p:nvGrpSpPr>
          <p:cNvPr id="224293" name="Group 37"/>
          <p:cNvGrpSpPr/>
          <p:nvPr/>
        </p:nvGrpSpPr>
        <p:grpSpPr>
          <a:xfrm>
            <a:off x="6324600" y="6324600"/>
            <a:ext cx="1981200" cy="368300"/>
            <a:chOff x="3024" y="3984"/>
            <a:chExt cx="1248" cy="232"/>
          </a:xfrm>
        </p:grpSpPr>
        <p:sp>
          <p:nvSpPr>
            <p:cNvPr id="48155" name="Text Box 26"/>
            <p:cNvSpPr txBox="1"/>
            <p:nvPr/>
          </p:nvSpPr>
          <p:spPr>
            <a:xfrm>
              <a:off x="3024" y="3984"/>
              <a:ext cx="1248" cy="232"/>
            </a:xfrm>
            <a:prstGeom prst="rect">
              <a:avLst/>
            </a:prstGeom>
            <a:solidFill>
              <a:schemeClr val="bg1"/>
            </a:solidFill>
            <a:ln w="38100" cap="flat" cmpd="sng">
              <a:solidFill>
                <a:schemeClr val="accent2"/>
              </a:solidFill>
              <a:prstDash val="solid"/>
              <a:miter/>
              <a:headEnd type="none" w="med" len="med"/>
              <a:tailEnd type="none" w="med" len="med"/>
            </a:ln>
          </p:spPr>
          <p:txBody>
            <a:bodyPr lIns="0" rIns="0" anchor="t" anchorCtr="0">
              <a:spAutoFit/>
            </a:bodyPr>
            <a:lstStyle/>
            <a:p>
              <a:pPr>
                <a:spcBef>
                  <a:spcPct val="50000"/>
                </a:spcBef>
              </a:pPr>
              <a:r>
                <a:rPr lang="zh-CN" altLang="en-US" dirty="0">
                  <a:solidFill>
                    <a:srgbClr val="0000FF"/>
                  </a:solidFill>
                  <a:latin typeface="Times New Roman" panose="02020603050405020304" pitchFamily="18" charset="0"/>
                  <a:ea typeface="宋体" panose="02010600030101010101" pitchFamily="2" charset="-122"/>
                </a:rPr>
                <a:t>ＢＣ的公因子</a:t>
              </a:r>
            </a:p>
          </p:txBody>
        </p:sp>
        <p:sp>
          <p:nvSpPr>
            <p:cNvPr id="48156" name="Line 27"/>
            <p:cNvSpPr/>
            <p:nvPr/>
          </p:nvSpPr>
          <p:spPr>
            <a:xfrm>
              <a:off x="3035" y="4020"/>
              <a:ext cx="145" cy="0"/>
            </a:xfrm>
            <a:prstGeom prst="line">
              <a:avLst/>
            </a:prstGeom>
            <a:ln w="38100" cap="flat" cmpd="sng">
              <a:solidFill>
                <a:srgbClr val="0000FF"/>
              </a:solidFill>
              <a:prstDash val="solid"/>
              <a:round/>
              <a:headEnd type="none" w="med" len="med"/>
              <a:tailEnd type="none" w="med" len="med"/>
            </a:ln>
          </p:spPr>
        </p:sp>
      </p:grpSp>
      <p:sp>
        <p:nvSpPr>
          <p:cNvPr id="224284" name="Line 28"/>
          <p:cNvSpPr/>
          <p:nvPr/>
        </p:nvSpPr>
        <p:spPr>
          <a:xfrm flipH="1">
            <a:off x="7086600" y="6019800"/>
            <a:ext cx="1371600" cy="304800"/>
          </a:xfrm>
          <a:prstGeom prst="line">
            <a:avLst/>
          </a:prstGeom>
          <a:ln w="38100" cap="flat" cmpd="sng">
            <a:solidFill>
              <a:schemeClr val="accent2"/>
            </a:solidFill>
            <a:prstDash val="solid"/>
            <a:round/>
            <a:headEnd type="none" w="med" len="med"/>
            <a:tailEnd type="none" w="med" len="med"/>
          </a:ln>
        </p:spPr>
      </p:sp>
      <p:sp>
        <p:nvSpPr>
          <p:cNvPr id="224285" name="Line 29"/>
          <p:cNvSpPr/>
          <p:nvPr/>
        </p:nvSpPr>
        <p:spPr>
          <a:xfrm flipH="1">
            <a:off x="7010400" y="4343400"/>
            <a:ext cx="1524000" cy="1981200"/>
          </a:xfrm>
          <a:prstGeom prst="line">
            <a:avLst/>
          </a:prstGeom>
          <a:ln w="38100" cap="flat" cmpd="sng">
            <a:solidFill>
              <a:schemeClr val="accent2"/>
            </a:solidFill>
            <a:prstDash val="solid"/>
            <a:round/>
            <a:headEnd type="none" w="med" len="med"/>
            <a:tailEnd type="none" w="med" len="med"/>
          </a:ln>
        </p:spPr>
      </p:sp>
      <p:sp>
        <p:nvSpPr>
          <p:cNvPr id="224286" name="Line 30"/>
          <p:cNvSpPr/>
          <p:nvPr/>
        </p:nvSpPr>
        <p:spPr>
          <a:xfrm flipH="1">
            <a:off x="7086600" y="4267200"/>
            <a:ext cx="2286000" cy="2057400"/>
          </a:xfrm>
          <a:prstGeom prst="line">
            <a:avLst/>
          </a:prstGeom>
          <a:ln w="38100" cap="flat" cmpd="sng">
            <a:solidFill>
              <a:schemeClr val="accent2"/>
            </a:solidFill>
            <a:prstDash val="solid"/>
            <a:round/>
            <a:headEnd type="none" w="med" len="med"/>
            <a:tailEnd type="none" w="med" len="med"/>
          </a:ln>
        </p:spPr>
      </p:sp>
      <p:sp>
        <p:nvSpPr>
          <p:cNvPr id="224287" name="Line 31"/>
          <p:cNvSpPr/>
          <p:nvPr/>
        </p:nvSpPr>
        <p:spPr>
          <a:xfrm flipH="1">
            <a:off x="7315200" y="6096000"/>
            <a:ext cx="1981200" cy="228600"/>
          </a:xfrm>
          <a:prstGeom prst="line">
            <a:avLst/>
          </a:prstGeom>
          <a:ln w="38100" cap="flat" cmpd="sng">
            <a:solidFill>
              <a:schemeClr val="accent2"/>
            </a:solidFill>
            <a:prstDash val="solid"/>
            <a:round/>
            <a:headEnd type="none" w="med" len="med"/>
            <a:tailEnd type="none" w="med" len="med"/>
          </a:ln>
        </p:spPr>
      </p:sp>
      <p:grpSp>
        <p:nvGrpSpPr>
          <p:cNvPr id="224294" name="Group 38"/>
          <p:cNvGrpSpPr/>
          <p:nvPr/>
        </p:nvGrpSpPr>
        <p:grpSpPr>
          <a:xfrm>
            <a:off x="1981200" y="4343400"/>
            <a:ext cx="2971800" cy="1476375"/>
            <a:chOff x="288" y="2736"/>
            <a:chExt cx="1872" cy="930"/>
          </a:xfrm>
        </p:grpSpPr>
        <p:sp>
          <p:nvSpPr>
            <p:cNvPr id="48162" name="Text Box 33"/>
            <p:cNvSpPr txBox="1"/>
            <p:nvPr/>
          </p:nvSpPr>
          <p:spPr>
            <a:xfrm>
              <a:off x="288" y="2736"/>
              <a:ext cx="1872" cy="930"/>
            </a:xfrm>
            <a:prstGeom prst="rect">
              <a:avLst/>
            </a:prstGeom>
            <a:solidFill>
              <a:srgbClr val="FFCCFF"/>
            </a:solidFill>
            <a:ln w="9525">
              <a:noFill/>
            </a:ln>
          </p:spPr>
          <p:txBody>
            <a:bodyPr lIns="0" rIns="0" anchor="t" anchorCtr="0">
              <a:spAutoFit/>
            </a:bodyPr>
            <a:lstStyle/>
            <a:p>
              <a:pPr>
                <a:spcBef>
                  <a:spcPct val="50000"/>
                </a:spcBef>
              </a:pPr>
              <a:r>
                <a:rPr lang="zh-CN" altLang="en-US" dirty="0">
                  <a:solidFill>
                    <a:srgbClr val="0000FF"/>
                  </a:solidFill>
                  <a:latin typeface="Times New Roman" panose="02020603050405020304" pitchFamily="18" charset="0"/>
                  <a:ea typeface="宋体" panose="02010600030101010101" pitchFamily="2" charset="-122"/>
                </a:rPr>
                <a:t>　　说明</a:t>
              </a:r>
              <a:r>
                <a:rPr lang="zh-CN" altLang="en-US" dirty="0">
                  <a:latin typeface="Times New Roman" panose="02020603050405020304" pitchFamily="18" charset="0"/>
                  <a:ea typeface="宋体" panose="02010600030101010101" pitchFamily="2" charset="-122"/>
                </a:rPr>
                <a:t>：如果求得了函数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的反函数</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，则对</a:t>
              </a:r>
              <a:r>
                <a:rPr lang="en-US" altLang="zh-CN" dirty="0">
                  <a:latin typeface="Times New Roman" panose="02020603050405020304" pitchFamily="18" charset="0"/>
                  <a:ea typeface="宋体" panose="02010600030101010101" pitchFamily="2" charset="-122"/>
                </a:rPr>
                <a:t>Z</a:t>
              </a:r>
              <a:r>
                <a:rPr lang="zh-CN" altLang="en-US" dirty="0">
                  <a:latin typeface="Times New Roman" panose="02020603050405020304" pitchFamily="18" charset="0"/>
                  <a:ea typeface="宋体" panose="02010600030101010101" pitchFamily="2" charset="-122"/>
                </a:rPr>
                <a:t>中所包含的各个最小项，在卡诺图相应方格内填入</a:t>
              </a:r>
              <a:r>
                <a:rPr lang="en-US" altLang="zh-CN" dirty="0">
                  <a:latin typeface="Times New Roman" panose="02020603050405020304" pitchFamily="18" charset="0"/>
                  <a:ea typeface="宋体" panose="02010600030101010101" pitchFamily="2" charset="-122"/>
                </a:rPr>
                <a:t>0</a:t>
              </a:r>
              <a:r>
                <a:rPr lang="zh-CN" altLang="en-US" dirty="0">
                  <a:latin typeface="Times New Roman" panose="02020603050405020304" pitchFamily="18" charset="0"/>
                  <a:ea typeface="宋体" panose="02010600030101010101" pitchFamily="2" charset="-122"/>
                </a:rPr>
                <a:t>，其余方格内填入</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a:t>
              </a:r>
            </a:p>
          </p:txBody>
        </p:sp>
        <p:sp>
          <p:nvSpPr>
            <p:cNvPr id="48163" name="Line 34"/>
            <p:cNvSpPr/>
            <p:nvPr/>
          </p:nvSpPr>
          <p:spPr>
            <a:xfrm>
              <a:off x="1728" y="3012"/>
              <a:ext cx="192" cy="0"/>
            </a:xfrm>
            <a:prstGeom prst="line">
              <a:avLst/>
            </a:prstGeom>
            <a:ln w="38100" cap="flat" cmpd="sng">
              <a:solidFill>
                <a:schemeClr val="tx1"/>
              </a:solidFill>
              <a:prstDash val="solid"/>
              <a:round/>
              <a:headEnd type="none" w="med" len="med"/>
              <a:tailEnd type="none" w="med" len="med"/>
            </a:ln>
          </p:spPr>
        </p:sp>
        <p:sp>
          <p:nvSpPr>
            <p:cNvPr id="48164" name="Line 35"/>
            <p:cNvSpPr/>
            <p:nvPr/>
          </p:nvSpPr>
          <p:spPr>
            <a:xfrm>
              <a:off x="660" y="3228"/>
              <a:ext cx="192" cy="0"/>
            </a:xfrm>
            <a:prstGeom prst="line">
              <a:avLst/>
            </a:prstGeom>
            <a:ln w="38100" cap="flat" cmpd="sng">
              <a:solidFill>
                <a:schemeClr val="tx1"/>
              </a:solidFill>
              <a:prstDash val="solid"/>
              <a:roun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4258">
                                            <p:txEl>
                                              <p:pRg st="0" end="0"/>
                                            </p:txEl>
                                          </p:spTgt>
                                        </p:tgtEl>
                                        <p:attrNameLst>
                                          <p:attrName>style.visibility</p:attrName>
                                        </p:attrNameLst>
                                      </p:cBhvr>
                                      <p:to>
                                        <p:strVal val="visible"/>
                                      </p:to>
                                    </p:set>
                                    <p:animEffect transition="in" filter="wipe(left)">
                                      <p:cBhvr>
                                        <p:cTn id="7" dur="500"/>
                                        <p:tgtEl>
                                          <p:spTgt spid="2242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24259"/>
                                        </p:tgtEl>
                                        <p:attrNameLst>
                                          <p:attrName>style.visibility</p:attrName>
                                        </p:attrNameLst>
                                      </p:cBhvr>
                                      <p:to>
                                        <p:strVal val="visible"/>
                                      </p:to>
                                    </p:set>
                                    <p:animEffect transition="in" filter="barn(outVertical)">
                                      <p:cBhvr>
                                        <p:cTn id="12" dur="500"/>
                                        <p:tgtEl>
                                          <p:spTgt spid="2242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24261"/>
                                        </p:tgtEl>
                                        <p:attrNameLst>
                                          <p:attrName>style.visibility</p:attrName>
                                        </p:attrNameLst>
                                      </p:cBhvr>
                                      <p:to>
                                        <p:strVal val="visible"/>
                                      </p:to>
                                    </p:set>
                                    <p:animEffect transition="in" filter="wipe(up)">
                                      <p:cBhvr>
                                        <p:cTn id="17" dur="500"/>
                                        <p:tgtEl>
                                          <p:spTgt spid="224261"/>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499"/>
                                          </p:stCondLst>
                                        </p:cTn>
                                        <p:tgtEl>
                                          <p:spTgt spid="22426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6" presetClass="entr" presetSubtype="37" fill="hold" nodeType="clickEffect">
                                  <p:stCondLst>
                                    <p:cond delay="0"/>
                                  </p:stCondLst>
                                  <p:childTnLst>
                                    <p:set>
                                      <p:cBhvr>
                                        <p:cTn id="24" dur="1" fill="hold">
                                          <p:stCondLst>
                                            <p:cond delay="0"/>
                                          </p:stCondLst>
                                        </p:cTn>
                                        <p:tgtEl>
                                          <p:spTgt spid="224260"/>
                                        </p:tgtEl>
                                        <p:attrNameLst>
                                          <p:attrName>style.visibility</p:attrName>
                                        </p:attrNameLst>
                                      </p:cBhvr>
                                      <p:to>
                                        <p:strVal val="visible"/>
                                      </p:to>
                                    </p:set>
                                    <p:animEffect transition="in" filter="barn(outVertical)">
                                      <p:cBhvr>
                                        <p:cTn id="25" dur="500"/>
                                        <p:tgtEl>
                                          <p:spTgt spid="22426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24264"/>
                                        </p:tgtEl>
                                        <p:attrNameLst>
                                          <p:attrName>style.visibility</p:attrName>
                                        </p:attrNameLst>
                                      </p:cBhvr>
                                      <p:to>
                                        <p:strVal val="visible"/>
                                      </p:to>
                                    </p:set>
                                    <p:animEffect transition="in" filter="wipe(left)">
                                      <p:cBhvr>
                                        <p:cTn id="30" dur="500"/>
                                        <p:tgtEl>
                                          <p:spTgt spid="22426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4262"/>
                                        </p:tgtEl>
                                        <p:attrNameLst>
                                          <p:attrName>style.visibility</p:attrName>
                                        </p:attrNameLst>
                                      </p:cBhvr>
                                      <p:to>
                                        <p:strVal val="visible"/>
                                      </p:to>
                                    </p:set>
                                    <p:animEffect transition="in" filter="dissolve">
                                      <p:cBhvr>
                                        <p:cTn id="35" dur="500"/>
                                        <p:tgtEl>
                                          <p:spTgt spid="224262"/>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9" fill="hold" grpId="0" nodeType="clickEffect">
                                  <p:stCondLst>
                                    <p:cond delay="0"/>
                                  </p:stCondLst>
                                  <p:childTnLst>
                                    <p:set>
                                      <p:cBhvr>
                                        <p:cTn id="39" dur="1" fill="hold">
                                          <p:stCondLst>
                                            <p:cond delay="0"/>
                                          </p:stCondLst>
                                        </p:cTn>
                                        <p:tgtEl>
                                          <p:spTgt spid="224265"/>
                                        </p:tgtEl>
                                        <p:attrNameLst>
                                          <p:attrName>style.visibility</p:attrName>
                                        </p:attrNameLst>
                                      </p:cBhvr>
                                      <p:to>
                                        <p:strVal val="visible"/>
                                      </p:to>
                                    </p:set>
                                    <p:anim calcmode="lin" valueType="num">
                                      <p:cBhvr additive="base">
                                        <p:cTn id="40" dur="500" fill="hold"/>
                                        <p:tgtEl>
                                          <p:spTgt spid="224265"/>
                                        </p:tgtEl>
                                        <p:attrNameLst>
                                          <p:attrName>ppt_x</p:attrName>
                                        </p:attrNameLst>
                                      </p:cBhvr>
                                      <p:tavLst>
                                        <p:tav tm="0">
                                          <p:val>
                                            <p:strVal val="0-#ppt_w/2"/>
                                          </p:val>
                                        </p:tav>
                                        <p:tav tm="100000">
                                          <p:val>
                                            <p:strVal val="#ppt_x"/>
                                          </p:val>
                                        </p:tav>
                                      </p:tavLst>
                                    </p:anim>
                                    <p:anim calcmode="lin" valueType="num">
                                      <p:cBhvr additive="base">
                                        <p:cTn id="41" dur="500" fill="hold"/>
                                        <p:tgtEl>
                                          <p:spTgt spid="224265"/>
                                        </p:tgtEl>
                                        <p:attrNameLst>
                                          <p:attrName>ppt_y</p:attrName>
                                        </p:attrNameLst>
                                      </p:cBhvr>
                                      <p:tavLst>
                                        <p:tav tm="0">
                                          <p:val>
                                            <p:strVal val="0-#ppt_h/2"/>
                                          </p:val>
                                        </p:tav>
                                        <p:tav tm="100000">
                                          <p:val>
                                            <p:strVal val="#ppt_y"/>
                                          </p:val>
                                        </p:tav>
                                      </p:tavLst>
                                    </p:anim>
                                  </p:childTnLst>
                                </p:cTn>
                              </p:par>
                            </p:childTnLst>
                          </p:cTn>
                        </p:par>
                        <p:par>
                          <p:cTn id="42" fill="hold">
                            <p:stCondLst>
                              <p:cond delay="500"/>
                            </p:stCondLst>
                            <p:childTnLst>
                              <p:par>
                                <p:cTn id="43" presetID="2" presetClass="entr" presetSubtype="9" fill="hold" grpId="0" nodeType="afterEffect">
                                  <p:stCondLst>
                                    <p:cond delay="0"/>
                                  </p:stCondLst>
                                  <p:childTnLst>
                                    <p:set>
                                      <p:cBhvr>
                                        <p:cTn id="44" dur="1" fill="hold">
                                          <p:stCondLst>
                                            <p:cond delay="0"/>
                                          </p:stCondLst>
                                        </p:cTn>
                                        <p:tgtEl>
                                          <p:spTgt spid="224266"/>
                                        </p:tgtEl>
                                        <p:attrNameLst>
                                          <p:attrName>style.visibility</p:attrName>
                                        </p:attrNameLst>
                                      </p:cBhvr>
                                      <p:to>
                                        <p:strVal val="visible"/>
                                      </p:to>
                                    </p:set>
                                    <p:anim calcmode="lin" valueType="num">
                                      <p:cBhvr additive="base">
                                        <p:cTn id="45" dur="500" fill="hold"/>
                                        <p:tgtEl>
                                          <p:spTgt spid="224266"/>
                                        </p:tgtEl>
                                        <p:attrNameLst>
                                          <p:attrName>ppt_x</p:attrName>
                                        </p:attrNameLst>
                                      </p:cBhvr>
                                      <p:tavLst>
                                        <p:tav tm="0">
                                          <p:val>
                                            <p:strVal val="0-#ppt_w/2"/>
                                          </p:val>
                                        </p:tav>
                                        <p:tav tm="100000">
                                          <p:val>
                                            <p:strVal val="#ppt_x"/>
                                          </p:val>
                                        </p:tav>
                                      </p:tavLst>
                                    </p:anim>
                                    <p:anim calcmode="lin" valueType="num">
                                      <p:cBhvr additive="base">
                                        <p:cTn id="46" dur="500" fill="hold"/>
                                        <p:tgtEl>
                                          <p:spTgt spid="224266"/>
                                        </p:tgtEl>
                                        <p:attrNameLst>
                                          <p:attrName>ppt_y</p:attrName>
                                        </p:attrNameLst>
                                      </p:cBhvr>
                                      <p:tavLst>
                                        <p:tav tm="0">
                                          <p:val>
                                            <p:strVal val="0-#ppt_h/2"/>
                                          </p:val>
                                        </p:tav>
                                        <p:tav tm="100000">
                                          <p:val>
                                            <p:strVal val="#ppt_y"/>
                                          </p:val>
                                        </p:tav>
                                      </p:tavLst>
                                    </p:anim>
                                  </p:childTnLst>
                                </p:cTn>
                              </p:par>
                            </p:childTnLst>
                          </p:cTn>
                        </p:par>
                        <p:par>
                          <p:cTn id="47" fill="hold">
                            <p:stCondLst>
                              <p:cond delay="1000"/>
                            </p:stCondLst>
                            <p:childTnLst>
                              <p:par>
                                <p:cTn id="48" presetID="2" presetClass="entr" presetSubtype="12" fill="hold" grpId="0" nodeType="afterEffect">
                                  <p:stCondLst>
                                    <p:cond delay="0"/>
                                  </p:stCondLst>
                                  <p:childTnLst>
                                    <p:set>
                                      <p:cBhvr>
                                        <p:cTn id="49" dur="1" fill="hold">
                                          <p:stCondLst>
                                            <p:cond delay="0"/>
                                          </p:stCondLst>
                                        </p:cTn>
                                        <p:tgtEl>
                                          <p:spTgt spid="224267"/>
                                        </p:tgtEl>
                                        <p:attrNameLst>
                                          <p:attrName>style.visibility</p:attrName>
                                        </p:attrNameLst>
                                      </p:cBhvr>
                                      <p:to>
                                        <p:strVal val="visible"/>
                                      </p:to>
                                    </p:set>
                                    <p:anim calcmode="lin" valueType="num">
                                      <p:cBhvr additive="base">
                                        <p:cTn id="50" dur="500" fill="hold"/>
                                        <p:tgtEl>
                                          <p:spTgt spid="224267"/>
                                        </p:tgtEl>
                                        <p:attrNameLst>
                                          <p:attrName>ppt_x</p:attrName>
                                        </p:attrNameLst>
                                      </p:cBhvr>
                                      <p:tavLst>
                                        <p:tav tm="0">
                                          <p:val>
                                            <p:strVal val="0-#ppt_w/2"/>
                                          </p:val>
                                        </p:tav>
                                        <p:tav tm="100000">
                                          <p:val>
                                            <p:strVal val="#ppt_x"/>
                                          </p:val>
                                        </p:tav>
                                      </p:tavLst>
                                    </p:anim>
                                    <p:anim calcmode="lin" valueType="num">
                                      <p:cBhvr additive="base">
                                        <p:cTn id="51" dur="500" fill="hold"/>
                                        <p:tgtEl>
                                          <p:spTgt spid="224267"/>
                                        </p:tgtEl>
                                        <p:attrNameLst>
                                          <p:attrName>ppt_y</p:attrName>
                                        </p:attrNameLst>
                                      </p:cBhvr>
                                      <p:tavLst>
                                        <p:tav tm="0">
                                          <p:val>
                                            <p:strVal val="1+#ppt_h/2"/>
                                          </p:val>
                                        </p:tav>
                                        <p:tav tm="100000">
                                          <p:val>
                                            <p:strVal val="#ppt_y"/>
                                          </p:val>
                                        </p:tav>
                                      </p:tavLst>
                                    </p:anim>
                                  </p:childTnLst>
                                </p:cTn>
                              </p:par>
                            </p:childTnLst>
                          </p:cTn>
                        </p:par>
                        <p:par>
                          <p:cTn id="52" fill="hold">
                            <p:stCondLst>
                              <p:cond delay="1500"/>
                            </p:stCondLst>
                            <p:childTnLst>
                              <p:par>
                                <p:cTn id="53" presetID="2" presetClass="entr" presetSubtype="6" fill="hold" grpId="0" nodeType="afterEffect">
                                  <p:stCondLst>
                                    <p:cond delay="0"/>
                                  </p:stCondLst>
                                  <p:childTnLst>
                                    <p:set>
                                      <p:cBhvr>
                                        <p:cTn id="54" dur="1" fill="hold">
                                          <p:stCondLst>
                                            <p:cond delay="0"/>
                                          </p:stCondLst>
                                        </p:cTn>
                                        <p:tgtEl>
                                          <p:spTgt spid="224268"/>
                                        </p:tgtEl>
                                        <p:attrNameLst>
                                          <p:attrName>style.visibility</p:attrName>
                                        </p:attrNameLst>
                                      </p:cBhvr>
                                      <p:to>
                                        <p:strVal val="visible"/>
                                      </p:to>
                                    </p:set>
                                    <p:anim calcmode="lin" valueType="num">
                                      <p:cBhvr additive="base">
                                        <p:cTn id="55" dur="500" fill="hold"/>
                                        <p:tgtEl>
                                          <p:spTgt spid="224268"/>
                                        </p:tgtEl>
                                        <p:attrNameLst>
                                          <p:attrName>ppt_x</p:attrName>
                                        </p:attrNameLst>
                                      </p:cBhvr>
                                      <p:tavLst>
                                        <p:tav tm="0">
                                          <p:val>
                                            <p:strVal val="1+#ppt_w/2"/>
                                          </p:val>
                                        </p:tav>
                                        <p:tav tm="100000">
                                          <p:val>
                                            <p:strVal val="#ppt_x"/>
                                          </p:val>
                                        </p:tav>
                                      </p:tavLst>
                                    </p:anim>
                                    <p:anim calcmode="lin" valueType="num">
                                      <p:cBhvr additive="base">
                                        <p:cTn id="56" dur="500" fill="hold"/>
                                        <p:tgtEl>
                                          <p:spTgt spid="22426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nodeType="clickEffect">
                                  <p:stCondLst>
                                    <p:cond delay="0"/>
                                  </p:stCondLst>
                                  <p:childTnLst>
                                    <p:set>
                                      <p:cBhvr>
                                        <p:cTn id="60" dur="1" fill="hold">
                                          <p:stCondLst>
                                            <p:cond delay="0"/>
                                          </p:stCondLst>
                                        </p:cTn>
                                        <p:tgtEl>
                                          <p:spTgt spid="224292"/>
                                        </p:tgtEl>
                                        <p:attrNameLst>
                                          <p:attrName>style.visibility</p:attrName>
                                        </p:attrNameLst>
                                      </p:cBhvr>
                                      <p:to>
                                        <p:strVal val="visible"/>
                                      </p:to>
                                    </p:set>
                                    <p:animEffect transition="in" filter="slide(fromBottom)">
                                      <p:cBhvr>
                                        <p:cTn id="61" dur="500"/>
                                        <p:tgtEl>
                                          <p:spTgt spid="224292"/>
                                        </p:tgtEl>
                                      </p:cBhvr>
                                    </p:animEffect>
                                  </p:childTnLst>
                                </p:cTn>
                              </p:par>
                            </p:childTnLst>
                          </p:cTn>
                        </p:par>
                      </p:childTnLst>
                    </p:cTn>
                  </p:par>
                  <p:par>
                    <p:cTn id="62" fill="hold">
                      <p:stCondLst>
                        <p:cond delay="indefinite"/>
                      </p:stCondLst>
                      <p:childTnLst>
                        <p:par>
                          <p:cTn id="63" fill="hold">
                            <p:stCondLst>
                              <p:cond delay="0"/>
                            </p:stCondLst>
                            <p:childTnLst>
                              <p:par>
                                <p:cTn id="64" presetID="18" presetClass="entr" presetSubtype="3" fill="hold" nodeType="clickEffect">
                                  <p:stCondLst>
                                    <p:cond delay="0"/>
                                  </p:stCondLst>
                                  <p:childTnLst>
                                    <p:set>
                                      <p:cBhvr>
                                        <p:cTn id="65" dur="1" fill="hold">
                                          <p:stCondLst>
                                            <p:cond delay="0"/>
                                          </p:stCondLst>
                                        </p:cTn>
                                        <p:tgtEl>
                                          <p:spTgt spid="224277"/>
                                        </p:tgtEl>
                                        <p:attrNameLst>
                                          <p:attrName>style.visibility</p:attrName>
                                        </p:attrNameLst>
                                      </p:cBhvr>
                                      <p:to>
                                        <p:strVal val="visible"/>
                                      </p:to>
                                    </p:set>
                                    <p:animEffect transition="in" filter="strips(upRight)">
                                      <p:cBhvr>
                                        <p:cTn id="66" dur="500"/>
                                        <p:tgtEl>
                                          <p:spTgt spid="224277"/>
                                        </p:tgtEl>
                                      </p:cBhvr>
                                    </p:animEffect>
                                  </p:childTnLst>
                                </p:cTn>
                              </p:par>
                            </p:childTnLst>
                          </p:cTn>
                        </p:par>
                        <p:par>
                          <p:cTn id="67" fill="hold">
                            <p:stCondLst>
                              <p:cond delay="500"/>
                            </p:stCondLst>
                            <p:childTnLst>
                              <p:par>
                                <p:cTn id="68" presetID="18" presetClass="entr" presetSubtype="3" fill="hold" nodeType="afterEffect">
                                  <p:stCondLst>
                                    <p:cond delay="0"/>
                                  </p:stCondLst>
                                  <p:childTnLst>
                                    <p:set>
                                      <p:cBhvr>
                                        <p:cTn id="69" dur="1" fill="hold">
                                          <p:stCondLst>
                                            <p:cond delay="0"/>
                                          </p:stCondLst>
                                        </p:cTn>
                                        <p:tgtEl>
                                          <p:spTgt spid="224278"/>
                                        </p:tgtEl>
                                        <p:attrNameLst>
                                          <p:attrName>style.visibility</p:attrName>
                                        </p:attrNameLst>
                                      </p:cBhvr>
                                      <p:to>
                                        <p:strVal val="visible"/>
                                      </p:to>
                                    </p:set>
                                    <p:animEffect transition="in" filter="strips(upRight)">
                                      <p:cBhvr>
                                        <p:cTn id="70" dur="500"/>
                                        <p:tgtEl>
                                          <p:spTgt spid="224278"/>
                                        </p:tgtEl>
                                      </p:cBhvr>
                                    </p:animEffect>
                                  </p:childTnLst>
                                </p:cTn>
                              </p:par>
                            </p:childTnLst>
                          </p:cTn>
                        </p:par>
                        <p:par>
                          <p:cTn id="71" fill="hold">
                            <p:stCondLst>
                              <p:cond delay="1000"/>
                            </p:stCondLst>
                            <p:childTnLst>
                              <p:par>
                                <p:cTn id="72" presetID="18" presetClass="entr" presetSubtype="3" fill="hold" nodeType="afterEffect">
                                  <p:stCondLst>
                                    <p:cond delay="0"/>
                                  </p:stCondLst>
                                  <p:childTnLst>
                                    <p:set>
                                      <p:cBhvr>
                                        <p:cTn id="73" dur="1" fill="hold">
                                          <p:stCondLst>
                                            <p:cond delay="0"/>
                                          </p:stCondLst>
                                        </p:cTn>
                                        <p:tgtEl>
                                          <p:spTgt spid="224279"/>
                                        </p:tgtEl>
                                        <p:attrNameLst>
                                          <p:attrName>style.visibility</p:attrName>
                                        </p:attrNameLst>
                                      </p:cBhvr>
                                      <p:to>
                                        <p:strVal val="visible"/>
                                      </p:to>
                                    </p:set>
                                    <p:animEffect transition="in" filter="strips(upRight)">
                                      <p:cBhvr>
                                        <p:cTn id="74" dur="500"/>
                                        <p:tgtEl>
                                          <p:spTgt spid="224279"/>
                                        </p:tgtEl>
                                      </p:cBhvr>
                                    </p:animEffect>
                                  </p:childTnLst>
                                </p:cTn>
                              </p:par>
                            </p:childTnLst>
                          </p:cTn>
                        </p:par>
                        <p:par>
                          <p:cTn id="75" fill="hold">
                            <p:stCondLst>
                              <p:cond delay="1500"/>
                            </p:stCondLst>
                            <p:childTnLst>
                              <p:par>
                                <p:cTn id="76" presetID="18" presetClass="entr" presetSubtype="3" fill="hold" nodeType="afterEffect">
                                  <p:stCondLst>
                                    <p:cond delay="0"/>
                                  </p:stCondLst>
                                  <p:childTnLst>
                                    <p:set>
                                      <p:cBhvr>
                                        <p:cTn id="77" dur="1" fill="hold">
                                          <p:stCondLst>
                                            <p:cond delay="0"/>
                                          </p:stCondLst>
                                        </p:cTn>
                                        <p:tgtEl>
                                          <p:spTgt spid="224280"/>
                                        </p:tgtEl>
                                        <p:attrNameLst>
                                          <p:attrName>style.visibility</p:attrName>
                                        </p:attrNameLst>
                                      </p:cBhvr>
                                      <p:to>
                                        <p:strVal val="visible"/>
                                      </p:to>
                                    </p:set>
                                    <p:animEffect transition="in" filter="strips(upRight)">
                                      <p:cBhvr>
                                        <p:cTn id="78" dur="500"/>
                                        <p:tgtEl>
                                          <p:spTgt spid="224280"/>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grpId="0" nodeType="clickEffect">
                                  <p:stCondLst>
                                    <p:cond delay="0"/>
                                  </p:stCondLst>
                                  <p:childTnLst>
                                    <p:set>
                                      <p:cBhvr>
                                        <p:cTn id="82" dur="1" fill="hold">
                                          <p:stCondLst>
                                            <p:cond delay="0"/>
                                          </p:stCondLst>
                                        </p:cTn>
                                        <p:tgtEl>
                                          <p:spTgt spid="224269"/>
                                        </p:tgtEl>
                                        <p:attrNameLst>
                                          <p:attrName>style.visibility</p:attrName>
                                        </p:attrNameLst>
                                      </p:cBhvr>
                                      <p:to>
                                        <p:strVal val="visible"/>
                                      </p:to>
                                    </p:set>
                                    <p:anim calcmode="lin" valueType="num">
                                      <p:cBhvr additive="base">
                                        <p:cTn id="83" dur="500" fill="hold"/>
                                        <p:tgtEl>
                                          <p:spTgt spid="224269"/>
                                        </p:tgtEl>
                                        <p:attrNameLst>
                                          <p:attrName>ppt_x</p:attrName>
                                        </p:attrNameLst>
                                      </p:cBhvr>
                                      <p:tavLst>
                                        <p:tav tm="0">
                                          <p:val>
                                            <p:strVal val="0-#ppt_w/2"/>
                                          </p:val>
                                        </p:tav>
                                        <p:tav tm="100000">
                                          <p:val>
                                            <p:strVal val="#ppt_x"/>
                                          </p:val>
                                        </p:tav>
                                      </p:tavLst>
                                    </p:anim>
                                    <p:anim calcmode="lin" valueType="num">
                                      <p:cBhvr additive="base">
                                        <p:cTn id="84" dur="500" fill="hold"/>
                                        <p:tgtEl>
                                          <p:spTgt spid="224269"/>
                                        </p:tgtEl>
                                        <p:attrNameLst>
                                          <p:attrName>ppt_y</p:attrName>
                                        </p:attrNameLst>
                                      </p:cBhvr>
                                      <p:tavLst>
                                        <p:tav tm="0">
                                          <p:val>
                                            <p:strVal val="#ppt_y"/>
                                          </p:val>
                                        </p:tav>
                                        <p:tav tm="100000">
                                          <p:val>
                                            <p:strVal val="#ppt_y"/>
                                          </p:val>
                                        </p:tav>
                                      </p:tavLst>
                                    </p:anim>
                                  </p:childTnLst>
                                </p:cTn>
                              </p:par>
                            </p:childTnLst>
                          </p:cTn>
                        </p:par>
                        <p:par>
                          <p:cTn id="85" fill="hold">
                            <p:stCondLst>
                              <p:cond delay="500"/>
                            </p:stCondLst>
                            <p:childTnLst>
                              <p:par>
                                <p:cTn id="86" presetID="2" presetClass="entr" presetSubtype="8" fill="hold" grpId="0" nodeType="afterEffect">
                                  <p:stCondLst>
                                    <p:cond delay="0"/>
                                  </p:stCondLst>
                                  <p:childTnLst>
                                    <p:set>
                                      <p:cBhvr>
                                        <p:cTn id="87" dur="1" fill="hold">
                                          <p:stCondLst>
                                            <p:cond delay="0"/>
                                          </p:stCondLst>
                                        </p:cTn>
                                        <p:tgtEl>
                                          <p:spTgt spid="224270"/>
                                        </p:tgtEl>
                                        <p:attrNameLst>
                                          <p:attrName>style.visibility</p:attrName>
                                        </p:attrNameLst>
                                      </p:cBhvr>
                                      <p:to>
                                        <p:strVal val="visible"/>
                                      </p:to>
                                    </p:set>
                                    <p:anim calcmode="lin" valueType="num">
                                      <p:cBhvr additive="base">
                                        <p:cTn id="88" dur="500" fill="hold"/>
                                        <p:tgtEl>
                                          <p:spTgt spid="224270"/>
                                        </p:tgtEl>
                                        <p:attrNameLst>
                                          <p:attrName>ppt_x</p:attrName>
                                        </p:attrNameLst>
                                      </p:cBhvr>
                                      <p:tavLst>
                                        <p:tav tm="0">
                                          <p:val>
                                            <p:strVal val="0-#ppt_w/2"/>
                                          </p:val>
                                        </p:tav>
                                        <p:tav tm="100000">
                                          <p:val>
                                            <p:strVal val="#ppt_x"/>
                                          </p:val>
                                        </p:tav>
                                      </p:tavLst>
                                    </p:anim>
                                    <p:anim calcmode="lin" valueType="num">
                                      <p:cBhvr additive="base">
                                        <p:cTn id="89" dur="500" fill="hold"/>
                                        <p:tgtEl>
                                          <p:spTgt spid="224270"/>
                                        </p:tgtEl>
                                        <p:attrNameLst>
                                          <p:attrName>ppt_y</p:attrName>
                                        </p:attrNameLst>
                                      </p:cBhvr>
                                      <p:tavLst>
                                        <p:tav tm="0">
                                          <p:val>
                                            <p:strVal val="#ppt_y"/>
                                          </p:val>
                                        </p:tav>
                                        <p:tav tm="100000">
                                          <p:val>
                                            <p:strVal val="#ppt_y"/>
                                          </p:val>
                                        </p:tav>
                                      </p:tavLst>
                                    </p:anim>
                                  </p:childTnLst>
                                </p:cTn>
                              </p:par>
                            </p:childTnLst>
                          </p:cTn>
                        </p:par>
                        <p:par>
                          <p:cTn id="90" fill="hold">
                            <p:stCondLst>
                              <p:cond delay="1000"/>
                            </p:stCondLst>
                            <p:childTnLst>
                              <p:par>
                                <p:cTn id="91" presetID="2" presetClass="entr" presetSubtype="2" fill="hold" grpId="0" nodeType="afterEffect">
                                  <p:stCondLst>
                                    <p:cond delay="0"/>
                                  </p:stCondLst>
                                  <p:childTnLst>
                                    <p:set>
                                      <p:cBhvr>
                                        <p:cTn id="92" dur="1" fill="hold">
                                          <p:stCondLst>
                                            <p:cond delay="0"/>
                                          </p:stCondLst>
                                        </p:cTn>
                                        <p:tgtEl>
                                          <p:spTgt spid="224271"/>
                                        </p:tgtEl>
                                        <p:attrNameLst>
                                          <p:attrName>style.visibility</p:attrName>
                                        </p:attrNameLst>
                                      </p:cBhvr>
                                      <p:to>
                                        <p:strVal val="visible"/>
                                      </p:to>
                                    </p:set>
                                    <p:anim calcmode="lin" valueType="num">
                                      <p:cBhvr additive="base">
                                        <p:cTn id="93" dur="500" fill="hold"/>
                                        <p:tgtEl>
                                          <p:spTgt spid="224271"/>
                                        </p:tgtEl>
                                        <p:attrNameLst>
                                          <p:attrName>ppt_x</p:attrName>
                                        </p:attrNameLst>
                                      </p:cBhvr>
                                      <p:tavLst>
                                        <p:tav tm="0">
                                          <p:val>
                                            <p:strVal val="1+#ppt_w/2"/>
                                          </p:val>
                                        </p:tav>
                                        <p:tav tm="100000">
                                          <p:val>
                                            <p:strVal val="#ppt_x"/>
                                          </p:val>
                                        </p:tav>
                                      </p:tavLst>
                                    </p:anim>
                                    <p:anim calcmode="lin" valueType="num">
                                      <p:cBhvr additive="base">
                                        <p:cTn id="94" dur="500" fill="hold"/>
                                        <p:tgtEl>
                                          <p:spTgt spid="224271"/>
                                        </p:tgtEl>
                                        <p:attrNameLst>
                                          <p:attrName>ppt_y</p:attrName>
                                        </p:attrNameLst>
                                      </p:cBhvr>
                                      <p:tavLst>
                                        <p:tav tm="0">
                                          <p:val>
                                            <p:strVal val="#ppt_y"/>
                                          </p:val>
                                        </p:tav>
                                        <p:tav tm="100000">
                                          <p:val>
                                            <p:strVal val="#ppt_y"/>
                                          </p:val>
                                        </p:tav>
                                      </p:tavLst>
                                    </p:anim>
                                  </p:childTnLst>
                                </p:cTn>
                              </p:par>
                            </p:childTnLst>
                          </p:cTn>
                        </p:par>
                        <p:par>
                          <p:cTn id="95" fill="hold">
                            <p:stCondLst>
                              <p:cond delay="1500"/>
                            </p:stCondLst>
                            <p:childTnLst>
                              <p:par>
                                <p:cTn id="96" presetID="2" presetClass="entr" presetSubtype="2" fill="hold" grpId="0" nodeType="afterEffect">
                                  <p:stCondLst>
                                    <p:cond delay="0"/>
                                  </p:stCondLst>
                                  <p:childTnLst>
                                    <p:set>
                                      <p:cBhvr>
                                        <p:cTn id="97" dur="1" fill="hold">
                                          <p:stCondLst>
                                            <p:cond delay="0"/>
                                          </p:stCondLst>
                                        </p:cTn>
                                        <p:tgtEl>
                                          <p:spTgt spid="224272"/>
                                        </p:tgtEl>
                                        <p:attrNameLst>
                                          <p:attrName>style.visibility</p:attrName>
                                        </p:attrNameLst>
                                      </p:cBhvr>
                                      <p:to>
                                        <p:strVal val="visible"/>
                                      </p:to>
                                    </p:set>
                                    <p:anim calcmode="lin" valueType="num">
                                      <p:cBhvr additive="base">
                                        <p:cTn id="98" dur="500" fill="hold"/>
                                        <p:tgtEl>
                                          <p:spTgt spid="224272"/>
                                        </p:tgtEl>
                                        <p:attrNameLst>
                                          <p:attrName>ppt_x</p:attrName>
                                        </p:attrNameLst>
                                      </p:cBhvr>
                                      <p:tavLst>
                                        <p:tav tm="0">
                                          <p:val>
                                            <p:strVal val="1+#ppt_w/2"/>
                                          </p:val>
                                        </p:tav>
                                        <p:tav tm="100000">
                                          <p:val>
                                            <p:strVal val="#ppt_x"/>
                                          </p:val>
                                        </p:tav>
                                      </p:tavLst>
                                    </p:anim>
                                    <p:anim calcmode="lin" valueType="num">
                                      <p:cBhvr additive="base">
                                        <p:cTn id="99" dur="500" fill="hold"/>
                                        <p:tgtEl>
                                          <p:spTgt spid="224272"/>
                                        </p:tgtEl>
                                        <p:attrNameLst>
                                          <p:attrName>ppt_y</p:attrName>
                                        </p:attrNameLst>
                                      </p:cBhvr>
                                      <p:tavLst>
                                        <p:tav tm="0">
                                          <p:val>
                                            <p:strVal val="#ppt_y"/>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12" presetClass="entr" presetSubtype="4" fill="hold" nodeType="clickEffect">
                                  <p:stCondLst>
                                    <p:cond delay="0"/>
                                  </p:stCondLst>
                                  <p:childTnLst>
                                    <p:set>
                                      <p:cBhvr>
                                        <p:cTn id="103" dur="1" fill="hold">
                                          <p:stCondLst>
                                            <p:cond delay="0"/>
                                          </p:stCondLst>
                                        </p:cTn>
                                        <p:tgtEl>
                                          <p:spTgt spid="224293"/>
                                        </p:tgtEl>
                                        <p:attrNameLst>
                                          <p:attrName>style.visibility</p:attrName>
                                        </p:attrNameLst>
                                      </p:cBhvr>
                                      <p:to>
                                        <p:strVal val="visible"/>
                                      </p:to>
                                    </p:set>
                                    <p:animEffect transition="in" filter="slide(fromBottom)">
                                      <p:cBhvr>
                                        <p:cTn id="104" dur="500"/>
                                        <p:tgtEl>
                                          <p:spTgt spid="224293"/>
                                        </p:tgtEl>
                                      </p:cBhvr>
                                    </p:animEffect>
                                  </p:childTnLst>
                                </p:cTn>
                              </p:par>
                            </p:childTnLst>
                          </p:cTn>
                        </p:par>
                      </p:childTnLst>
                    </p:cTn>
                  </p:par>
                  <p:par>
                    <p:cTn id="105" fill="hold">
                      <p:stCondLst>
                        <p:cond delay="indefinite"/>
                      </p:stCondLst>
                      <p:childTnLst>
                        <p:par>
                          <p:cTn id="106" fill="hold">
                            <p:stCondLst>
                              <p:cond delay="0"/>
                            </p:stCondLst>
                            <p:childTnLst>
                              <p:par>
                                <p:cTn id="107" presetID="18" presetClass="entr" presetSubtype="6" fill="hold" nodeType="clickEffect">
                                  <p:stCondLst>
                                    <p:cond delay="0"/>
                                  </p:stCondLst>
                                  <p:childTnLst>
                                    <p:set>
                                      <p:cBhvr>
                                        <p:cTn id="108" dur="1" fill="hold">
                                          <p:stCondLst>
                                            <p:cond delay="0"/>
                                          </p:stCondLst>
                                        </p:cTn>
                                        <p:tgtEl>
                                          <p:spTgt spid="224285"/>
                                        </p:tgtEl>
                                        <p:attrNameLst>
                                          <p:attrName>style.visibility</p:attrName>
                                        </p:attrNameLst>
                                      </p:cBhvr>
                                      <p:to>
                                        <p:strVal val="visible"/>
                                      </p:to>
                                    </p:set>
                                    <p:animEffect transition="in" filter="strips(downRight)">
                                      <p:cBhvr>
                                        <p:cTn id="109" dur="500"/>
                                        <p:tgtEl>
                                          <p:spTgt spid="224285"/>
                                        </p:tgtEl>
                                      </p:cBhvr>
                                    </p:animEffect>
                                  </p:childTnLst>
                                </p:cTn>
                              </p:par>
                            </p:childTnLst>
                          </p:cTn>
                        </p:par>
                        <p:par>
                          <p:cTn id="110" fill="hold">
                            <p:stCondLst>
                              <p:cond delay="500"/>
                            </p:stCondLst>
                            <p:childTnLst>
                              <p:par>
                                <p:cTn id="111" presetID="18" presetClass="entr" presetSubtype="6" fill="hold" nodeType="afterEffect">
                                  <p:stCondLst>
                                    <p:cond delay="0"/>
                                  </p:stCondLst>
                                  <p:childTnLst>
                                    <p:set>
                                      <p:cBhvr>
                                        <p:cTn id="112" dur="1" fill="hold">
                                          <p:stCondLst>
                                            <p:cond delay="0"/>
                                          </p:stCondLst>
                                        </p:cTn>
                                        <p:tgtEl>
                                          <p:spTgt spid="224284"/>
                                        </p:tgtEl>
                                        <p:attrNameLst>
                                          <p:attrName>style.visibility</p:attrName>
                                        </p:attrNameLst>
                                      </p:cBhvr>
                                      <p:to>
                                        <p:strVal val="visible"/>
                                      </p:to>
                                    </p:set>
                                    <p:animEffect transition="in" filter="strips(downRight)">
                                      <p:cBhvr>
                                        <p:cTn id="113" dur="500"/>
                                        <p:tgtEl>
                                          <p:spTgt spid="224284"/>
                                        </p:tgtEl>
                                      </p:cBhvr>
                                    </p:animEffect>
                                  </p:childTnLst>
                                </p:cTn>
                              </p:par>
                            </p:childTnLst>
                          </p:cTn>
                        </p:par>
                        <p:par>
                          <p:cTn id="114" fill="hold">
                            <p:stCondLst>
                              <p:cond delay="1000"/>
                            </p:stCondLst>
                            <p:childTnLst>
                              <p:par>
                                <p:cTn id="115" presetID="18" presetClass="entr" presetSubtype="12" fill="hold" nodeType="afterEffect">
                                  <p:stCondLst>
                                    <p:cond delay="0"/>
                                  </p:stCondLst>
                                  <p:childTnLst>
                                    <p:set>
                                      <p:cBhvr>
                                        <p:cTn id="116" dur="1" fill="hold">
                                          <p:stCondLst>
                                            <p:cond delay="0"/>
                                          </p:stCondLst>
                                        </p:cTn>
                                        <p:tgtEl>
                                          <p:spTgt spid="224286"/>
                                        </p:tgtEl>
                                        <p:attrNameLst>
                                          <p:attrName>style.visibility</p:attrName>
                                        </p:attrNameLst>
                                      </p:cBhvr>
                                      <p:to>
                                        <p:strVal val="visible"/>
                                      </p:to>
                                    </p:set>
                                    <p:animEffect transition="in" filter="strips(downLeft)">
                                      <p:cBhvr>
                                        <p:cTn id="117" dur="500"/>
                                        <p:tgtEl>
                                          <p:spTgt spid="224286"/>
                                        </p:tgtEl>
                                      </p:cBhvr>
                                    </p:animEffect>
                                  </p:childTnLst>
                                </p:cTn>
                              </p:par>
                            </p:childTnLst>
                          </p:cTn>
                        </p:par>
                        <p:par>
                          <p:cTn id="118" fill="hold">
                            <p:stCondLst>
                              <p:cond delay="1500"/>
                            </p:stCondLst>
                            <p:childTnLst>
                              <p:par>
                                <p:cTn id="119" presetID="18" presetClass="entr" presetSubtype="12" fill="hold" nodeType="afterEffect">
                                  <p:stCondLst>
                                    <p:cond delay="0"/>
                                  </p:stCondLst>
                                  <p:childTnLst>
                                    <p:set>
                                      <p:cBhvr>
                                        <p:cTn id="120" dur="1" fill="hold">
                                          <p:stCondLst>
                                            <p:cond delay="0"/>
                                          </p:stCondLst>
                                        </p:cTn>
                                        <p:tgtEl>
                                          <p:spTgt spid="224287"/>
                                        </p:tgtEl>
                                        <p:attrNameLst>
                                          <p:attrName>style.visibility</p:attrName>
                                        </p:attrNameLst>
                                      </p:cBhvr>
                                      <p:to>
                                        <p:strVal val="visible"/>
                                      </p:to>
                                    </p:set>
                                    <p:animEffect transition="in" filter="strips(downLeft)">
                                      <p:cBhvr>
                                        <p:cTn id="121" dur="500"/>
                                        <p:tgtEl>
                                          <p:spTgt spid="224287"/>
                                        </p:tgtEl>
                                      </p:cBhvr>
                                    </p:animEffect>
                                  </p:childTnLst>
                                </p:cTn>
                              </p:par>
                            </p:childTnLst>
                          </p:cTn>
                        </p:par>
                      </p:childTnLst>
                    </p:cTn>
                  </p:par>
                  <p:par>
                    <p:cTn id="122" fill="hold">
                      <p:stCondLst>
                        <p:cond delay="indefinite"/>
                      </p:stCondLst>
                      <p:childTnLst>
                        <p:par>
                          <p:cTn id="123" fill="hold">
                            <p:stCondLst>
                              <p:cond delay="0"/>
                            </p:stCondLst>
                            <p:childTnLst>
                              <p:par>
                                <p:cTn id="124" presetID="2" presetClass="entr" presetSubtype="4" fill="hold" nodeType="clickEffect">
                                  <p:stCondLst>
                                    <p:cond delay="0"/>
                                  </p:stCondLst>
                                  <p:childTnLst>
                                    <p:set>
                                      <p:cBhvr>
                                        <p:cTn id="125" dur="1" fill="hold">
                                          <p:stCondLst>
                                            <p:cond delay="0"/>
                                          </p:stCondLst>
                                        </p:cTn>
                                        <p:tgtEl>
                                          <p:spTgt spid="224294"/>
                                        </p:tgtEl>
                                        <p:attrNameLst>
                                          <p:attrName>style.visibility</p:attrName>
                                        </p:attrNameLst>
                                      </p:cBhvr>
                                      <p:to>
                                        <p:strVal val="visible"/>
                                      </p:to>
                                    </p:set>
                                    <p:anim calcmode="lin" valueType="num">
                                      <p:cBhvr additive="base">
                                        <p:cTn id="126" dur="500" fill="hold"/>
                                        <p:tgtEl>
                                          <p:spTgt spid="224294"/>
                                        </p:tgtEl>
                                        <p:attrNameLst>
                                          <p:attrName>ppt_x</p:attrName>
                                        </p:attrNameLst>
                                      </p:cBhvr>
                                      <p:tavLst>
                                        <p:tav tm="0">
                                          <p:val>
                                            <p:strVal val="#ppt_x"/>
                                          </p:val>
                                        </p:tav>
                                        <p:tav tm="100000">
                                          <p:val>
                                            <p:strVal val="#ppt_x"/>
                                          </p:val>
                                        </p:tav>
                                      </p:tavLst>
                                    </p:anim>
                                    <p:anim calcmode="lin" valueType="num">
                                      <p:cBhvr additive="base">
                                        <p:cTn id="127" dur="500" fill="hold"/>
                                        <p:tgtEl>
                                          <p:spTgt spid="2242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58" grpId="0" build="p" advAuto="1000"/>
      <p:bldP spid="224263" grpId="0"/>
      <p:bldP spid="224265" grpId="0" bldLvl="0" animBg="1"/>
      <p:bldP spid="224266" grpId="0" bldLvl="0" animBg="1"/>
      <p:bldP spid="224267" grpId="0" bldLvl="0" animBg="1"/>
      <p:bldP spid="224268" grpId="0" bldLvl="0" animBg="1"/>
      <p:bldP spid="224269" grpId="0" bldLvl="0" animBg="1"/>
      <p:bldP spid="224270" grpId="0" bldLvl="0" animBg="1"/>
      <p:bldP spid="224271" grpId="0" bldLvl="0" animBg="1"/>
      <p:bldP spid="224272"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29"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graphicFrame>
        <p:nvGraphicFramePr>
          <p:cNvPr id="225282" name="Object 2"/>
          <p:cNvGraphicFramePr>
            <a:graphicFrameLocks noChangeAspect="1"/>
          </p:cNvGraphicFramePr>
          <p:nvPr/>
        </p:nvGraphicFramePr>
        <p:xfrm>
          <a:off x="3357563" y="1581150"/>
          <a:ext cx="5253037" cy="1924050"/>
        </p:xfrm>
        <a:graphic>
          <a:graphicData uri="http://schemas.openxmlformats.org/presentationml/2006/ole">
            <mc:AlternateContent xmlns:mc="http://schemas.openxmlformats.org/markup-compatibility/2006">
              <mc:Choice xmlns:v="urn:schemas-microsoft-com:vml" Requires="v">
                <p:oleObj spid="_x0000_s11275" r:id="rId3" imgW="6086475" imgH="4133850" progId="Word.Document.8">
                  <p:embed/>
                </p:oleObj>
              </mc:Choice>
              <mc:Fallback>
                <p:oleObj r:id="rId3" imgW="6086475" imgH="4133850" progId="Word.Document.8">
                  <p:embed/>
                  <p:pic>
                    <p:nvPicPr>
                      <p:cNvPr id="0" name="图片 3190"/>
                      <p:cNvPicPr/>
                      <p:nvPr/>
                    </p:nvPicPr>
                    <p:blipFill>
                      <a:blip r:embed="rId4"/>
                      <a:stretch>
                        <a:fillRect/>
                      </a:stretch>
                    </p:blipFill>
                    <p:spPr>
                      <a:xfrm>
                        <a:off x="3357563" y="1581150"/>
                        <a:ext cx="5253037" cy="1924050"/>
                      </a:xfrm>
                      <a:prstGeom prst="rect">
                        <a:avLst/>
                      </a:prstGeom>
                      <a:solidFill>
                        <a:srgbClr val="CDFFEA"/>
                      </a:solidFill>
                      <a:ln w="38100">
                        <a:noFill/>
                        <a:miter/>
                      </a:ln>
                    </p:spPr>
                  </p:pic>
                </p:oleObj>
              </mc:Fallback>
            </mc:AlternateContent>
          </a:graphicData>
        </a:graphic>
      </p:graphicFrame>
      <p:sp>
        <p:nvSpPr>
          <p:cNvPr id="225283" name="Text Box 3"/>
          <p:cNvSpPr txBox="1"/>
          <p:nvPr/>
        </p:nvSpPr>
        <p:spPr>
          <a:xfrm>
            <a:off x="1828800" y="152400"/>
            <a:ext cx="2590800" cy="368300"/>
          </a:xfrm>
          <a:prstGeom prst="rect">
            <a:avLst/>
          </a:prstGeom>
          <a:solidFill>
            <a:srgbClr val="FFFF00"/>
          </a:solidFill>
          <a:ln w="9525">
            <a:noFill/>
          </a:ln>
        </p:spPr>
        <p:txBody>
          <a:bodyPr anchor="t"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卡诺图的性质</a:t>
            </a:r>
          </a:p>
        </p:txBody>
      </p:sp>
      <p:graphicFrame>
        <p:nvGraphicFramePr>
          <p:cNvPr id="225284" name="Object 4"/>
          <p:cNvGraphicFramePr>
            <a:graphicFrameLocks noChangeAspect="1"/>
          </p:cNvGraphicFramePr>
          <p:nvPr/>
        </p:nvGraphicFramePr>
        <p:xfrm>
          <a:off x="2317750" y="3968750"/>
          <a:ext cx="5368925" cy="2641600"/>
        </p:xfrm>
        <a:graphic>
          <a:graphicData uri="http://schemas.openxmlformats.org/presentationml/2006/ole">
            <mc:AlternateContent xmlns:mc="http://schemas.openxmlformats.org/markup-compatibility/2006">
              <mc:Choice xmlns:v="urn:schemas-microsoft-com:vml" Requires="v">
                <p:oleObj spid="_x0000_s11276" r:id="rId5" imgW="5372100" imgH="2657475" progId="Word.Document.8">
                  <p:embed/>
                </p:oleObj>
              </mc:Choice>
              <mc:Fallback>
                <p:oleObj r:id="rId5" imgW="5372100" imgH="2657475" progId="Word.Document.8">
                  <p:embed/>
                  <p:pic>
                    <p:nvPicPr>
                      <p:cNvPr id="0" name="图片 3194"/>
                      <p:cNvPicPr/>
                      <p:nvPr/>
                    </p:nvPicPr>
                    <p:blipFill>
                      <a:blip r:embed="rId6"/>
                      <a:stretch>
                        <a:fillRect/>
                      </a:stretch>
                    </p:blipFill>
                    <p:spPr>
                      <a:xfrm>
                        <a:off x="2317750" y="3968750"/>
                        <a:ext cx="5368925" cy="2641600"/>
                      </a:xfrm>
                      <a:prstGeom prst="rect">
                        <a:avLst/>
                      </a:prstGeom>
                      <a:solidFill>
                        <a:srgbClr val="D9FFEC"/>
                      </a:solidFill>
                      <a:ln w="38100">
                        <a:noFill/>
                        <a:miter/>
                      </a:ln>
                    </p:spPr>
                  </p:pic>
                </p:oleObj>
              </mc:Fallback>
            </mc:AlternateContent>
          </a:graphicData>
        </a:graphic>
      </p:graphicFrame>
      <p:sp>
        <p:nvSpPr>
          <p:cNvPr id="225285" name="Text Box 5"/>
          <p:cNvSpPr txBox="1"/>
          <p:nvPr/>
        </p:nvSpPr>
        <p:spPr>
          <a:xfrm>
            <a:off x="1752600" y="685800"/>
            <a:ext cx="8610600" cy="645160"/>
          </a:xfrm>
          <a:prstGeom prst="rect">
            <a:avLst/>
          </a:prstGeom>
          <a:solidFill>
            <a:schemeClr val="bg1"/>
          </a:solidFill>
          <a:ln w="9525">
            <a:noFill/>
          </a:ln>
        </p:spPr>
        <p:txBody>
          <a:bodyPr lIns="0" rIns="0" anchor="t" anchorCtr="0">
            <a:spAutoFit/>
          </a:bodyPr>
          <a:lstStyle/>
          <a:p>
            <a:pPr>
              <a:spcBef>
                <a:spcPct val="50000"/>
              </a:spcBef>
              <a:buFont typeface="Wingdings" panose="05000000000000000000" pitchFamily="2" charset="2"/>
              <a:buChar char="l"/>
            </a:pPr>
            <a:r>
              <a:rPr lang="zh-CN" altLang="en-US" dirty="0">
                <a:latin typeface="Times New Roman" panose="02020603050405020304" pitchFamily="18" charset="0"/>
                <a:ea typeface="宋体" panose="02010600030101010101" pitchFamily="2" charset="-122"/>
              </a:rPr>
              <a:t>　任何两个（</a:t>
            </a:r>
            <a:r>
              <a:rPr lang="en-US" altLang="zh-CN" dirty="0">
                <a:latin typeface="Times New Roman" panose="02020603050405020304" pitchFamily="18" charset="0"/>
                <a:ea typeface="宋体" panose="02010600030101010101" pitchFamily="2" charset="-122"/>
              </a:rPr>
              <a:t>2</a:t>
            </a:r>
            <a:r>
              <a:rPr lang="en-US" altLang="zh-CN" baseline="30000"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个）标</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的相邻最小项，可以合并为一项，并消去一个变量（</a:t>
            </a:r>
            <a:r>
              <a:rPr lang="zh-CN" altLang="en-US" dirty="0">
                <a:solidFill>
                  <a:srgbClr val="FF0000"/>
                </a:solidFill>
                <a:latin typeface="Times New Roman" panose="02020603050405020304" pitchFamily="18" charset="0"/>
                <a:ea typeface="宋体" panose="02010600030101010101" pitchFamily="2" charset="-122"/>
              </a:rPr>
              <a:t>消去互为反变量的因子，保留公因子</a:t>
            </a:r>
            <a:r>
              <a:rPr lang="zh-CN" altLang="en-US" dirty="0">
                <a:latin typeface="Times New Roman" panose="02020603050405020304" pitchFamily="18" charset="0"/>
                <a:ea typeface="宋体" panose="02010600030101010101" pitchFamily="2" charset="-122"/>
              </a:rPr>
              <a:t>）。</a:t>
            </a:r>
          </a:p>
        </p:txBody>
      </p:sp>
      <p:sp>
        <p:nvSpPr>
          <p:cNvPr id="225287" name="Oval 7"/>
          <p:cNvSpPr/>
          <p:nvPr/>
        </p:nvSpPr>
        <p:spPr>
          <a:xfrm>
            <a:off x="4648200" y="2429762"/>
            <a:ext cx="609600" cy="703076"/>
          </a:xfrm>
          <a:prstGeom prst="ellipse">
            <a:avLst/>
          </a:prstGeom>
          <a:noFill/>
          <a:ln w="38100" cap="flat" cmpd="sng">
            <a:solidFill>
              <a:schemeClr val="accent2"/>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5288" name="Oval 8"/>
          <p:cNvSpPr/>
          <p:nvPr/>
        </p:nvSpPr>
        <p:spPr>
          <a:xfrm>
            <a:off x="4876800" y="5921095"/>
            <a:ext cx="1371600" cy="502210"/>
          </a:xfrm>
          <a:prstGeom prst="ellipse">
            <a:avLst/>
          </a:prstGeom>
          <a:noFill/>
          <a:ln w="38100" cap="flat" cmpd="sng">
            <a:solidFill>
              <a:schemeClr val="accent2"/>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25289" name="Group 9"/>
          <p:cNvGrpSpPr/>
          <p:nvPr/>
        </p:nvGrpSpPr>
        <p:grpSpPr>
          <a:xfrm rot="5400000">
            <a:off x="5334000" y="3429000"/>
            <a:ext cx="381000" cy="3886200"/>
            <a:chOff x="1920" y="2784"/>
            <a:chExt cx="384" cy="1344"/>
          </a:xfrm>
        </p:grpSpPr>
        <p:sp>
          <p:nvSpPr>
            <p:cNvPr id="49162" name="Freeform 10"/>
            <p:cNvSpPr/>
            <p:nvPr/>
          </p:nvSpPr>
          <p:spPr>
            <a:xfrm>
              <a:off x="1920" y="2784"/>
              <a:ext cx="384" cy="384"/>
            </a:xfrm>
            <a:custGeom>
              <a:avLst/>
              <a:gdLst/>
              <a:ahLst/>
              <a:cxnLst>
                <a:cxn ang="0">
                  <a:pos x="0" y="0"/>
                </a:cxn>
                <a:cxn ang="0">
                  <a:pos x="0" y="384"/>
                </a:cxn>
                <a:cxn ang="0">
                  <a:pos x="384" y="384"/>
                </a:cxn>
                <a:cxn ang="0">
                  <a:pos x="384" y="0"/>
                </a:cxn>
              </a:cxnLst>
              <a:rect l="0" t="0" r="0" b="0"/>
              <a:pathLst>
                <a:path w="384" h="384">
                  <a:moveTo>
                    <a:pt x="0" y="0"/>
                  </a:moveTo>
                  <a:lnTo>
                    <a:pt x="0" y="384"/>
                  </a:lnTo>
                  <a:lnTo>
                    <a:pt x="384" y="384"/>
                  </a:lnTo>
                  <a:lnTo>
                    <a:pt x="384" y="0"/>
                  </a:ln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49163" name="Freeform 11"/>
            <p:cNvSpPr/>
            <p:nvPr/>
          </p:nvSpPr>
          <p:spPr>
            <a:xfrm flipV="1">
              <a:off x="1920" y="3744"/>
              <a:ext cx="384" cy="384"/>
            </a:xfrm>
            <a:custGeom>
              <a:avLst/>
              <a:gdLst/>
              <a:ahLst/>
              <a:cxnLst>
                <a:cxn ang="0">
                  <a:pos x="0" y="0"/>
                </a:cxn>
                <a:cxn ang="0">
                  <a:pos x="0" y="384"/>
                </a:cxn>
                <a:cxn ang="0">
                  <a:pos x="384" y="384"/>
                </a:cxn>
                <a:cxn ang="0">
                  <a:pos x="384" y="0"/>
                </a:cxn>
              </a:cxnLst>
              <a:rect l="0" t="0" r="0" b="0"/>
              <a:pathLst>
                <a:path w="384" h="384">
                  <a:moveTo>
                    <a:pt x="0" y="0"/>
                  </a:moveTo>
                  <a:lnTo>
                    <a:pt x="0" y="384"/>
                  </a:lnTo>
                  <a:lnTo>
                    <a:pt x="384" y="384"/>
                  </a:lnTo>
                  <a:lnTo>
                    <a:pt x="384" y="0"/>
                  </a:lnTo>
                </a:path>
              </a:pathLst>
            </a:custGeom>
            <a:noFill/>
            <a:ln w="38100" cap="flat" cmpd="sng">
              <a:solidFill>
                <a:srgbClr val="CC3300"/>
              </a:solidFill>
              <a:prstDash val="solid"/>
              <a:round/>
              <a:headEnd type="none" w="med" len="med"/>
              <a:tailEnd type="none" w="med" len="med"/>
            </a:ln>
          </p:spPr>
          <p:txBody>
            <a:bodyPr/>
            <a:lstStyle/>
            <a:p>
              <a:endParaRPr lang="zh-CN" altLang="en-US"/>
            </a:p>
          </p:txBody>
        </p:sp>
      </p:grpSp>
      <p:graphicFrame>
        <p:nvGraphicFramePr>
          <p:cNvPr id="225292" name="Object 12"/>
          <p:cNvGraphicFramePr>
            <a:graphicFrameLocks noChangeAspect="1"/>
          </p:cNvGraphicFramePr>
          <p:nvPr/>
        </p:nvGraphicFramePr>
        <p:xfrm>
          <a:off x="1828800" y="2286000"/>
          <a:ext cx="2133600" cy="485775"/>
        </p:xfrm>
        <a:graphic>
          <a:graphicData uri="http://schemas.openxmlformats.org/presentationml/2006/ole">
            <mc:AlternateContent xmlns:mc="http://schemas.openxmlformats.org/markup-compatibility/2006">
              <mc:Choice xmlns:v="urn:schemas-microsoft-com:vml" Requires="v">
                <p:oleObj spid="_x0000_s11277" r:id="rId7" imgW="888365" imgH="203200" progId="Equation.3">
                  <p:embed/>
                </p:oleObj>
              </mc:Choice>
              <mc:Fallback>
                <p:oleObj r:id="rId7" imgW="888365" imgH="203200" progId="Equation.3">
                  <p:embed/>
                  <p:pic>
                    <p:nvPicPr>
                      <p:cNvPr id="0" name="图片 3191"/>
                      <p:cNvPicPr/>
                      <p:nvPr/>
                    </p:nvPicPr>
                    <p:blipFill>
                      <a:blip r:embed="rId8"/>
                      <a:stretch>
                        <a:fillRect/>
                      </a:stretch>
                    </p:blipFill>
                    <p:spPr>
                      <a:xfrm>
                        <a:off x="1828800" y="2286000"/>
                        <a:ext cx="2133600" cy="485775"/>
                      </a:xfrm>
                      <a:prstGeom prst="rect">
                        <a:avLst/>
                      </a:prstGeom>
                      <a:solidFill>
                        <a:srgbClr val="6F9AEF"/>
                      </a:solidFill>
                      <a:ln w="38100">
                        <a:noFill/>
                        <a:miter/>
                      </a:ln>
                    </p:spPr>
                  </p:pic>
                </p:oleObj>
              </mc:Fallback>
            </mc:AlternateContent>
          </a:graphicData>
        </a:graphic>
      </p:graphicFrame>
      <p:graphicFrame>
        <p:nvGraphicFramePr>
          <p:cNvPr id="225293" name="Object 13"/>
          <p:cNvGraphicFramePr>
            <a:graphicFrameLocks noChangeAspect="1"/>
          </p:cNvGraphicFramePr>
          <p:nvPr/>
        </p:nvGraphicFramePr>
        <p:xfrm>
          <a:off x="6019800" y="3486150"/>
          <a:ext cx="2057400" cy="503238"/>
        </p:xfrm>
        <a:graphic>
          <a:graphicData uri="http://schemas.openxmlformats.org/presentationml/2006/ole">
            <mc:AlternateContent xmlns:mc="http://schemas.openxmlformats.org/markup-compatibility/2006">
              <mc:Choice xmlns:v="urn:schemas-microsoft-com:vml" Requires="v">
                <p:oleObj spid="_x0000_s11278" r:id="rId9" imgW="825500" imgH="203200" progId="Equation.3">
                  <p:embed/>
                </p:oleObj>
              </mc:Choice>
              <mc:Fallback>
                <p:oleObj r:id="rId9" imgW="825500" imgH="203200" progId="Equation.3">
                  <p:embed/>
                  <p:pic>
                    <p:nvPicPr>
                      <p:cNvPr id="0" name="图片 3192"/>
                      <p:cNvPicPr/>
                      <p:nvPr/>
                    </p:nvPicPr>
                    <p:blipFill>
                      <a:blip r:embed="rId10"/>
                      <a:stretch>
                        <a:fillRect/>
                      </a:stretch>
                    </p:blipFill>
                    <p:spPr>
                      <a:xfrm>
                        <a:off x="6019800" y="3486150"/>
                        <a:ext cx="2057400" cy="503238"/>
                      </a:xfrm>
                      <a:prstGeom prst="rect">
                        <a:avLst/>
                      </a:prstGeom>
                      <a:solidFill>
                        <a:srgbClr val="FFCC99"/>
                      </a:solidFill>
                      <a:ln w="38100">
                        <a:noFill/>
                        <a:miter/>
                      </a:ln>
                    </p:spPr>
                  </p:pic>
                </p:oleObj>
              </mc:Fallback>
            </mc:AlternateContent>
          </a:graphicData>
        </a:graphic>
      </p:graphicFrame>
      <p:graphicFrame>
        <p:nvGraphicFramePr>
          <p:cNvPr id="225294" name="Object 14"/>
          <p:cNvGraphicFramePr>
            <a:graphicFrameLocks noChangeAspect="1"/>
          </p:cNvGraphicFramePr>
          <p:nvPr/>
        </p:nvGraphicFramePr>
        <p:xfrm>
          <a:off x="7593013" y="5041900"/>
          <a:ext cx="2720975" cy="520700"/>
        </p:xfrm>
        <a:graphic>
          <a:graphicData uri="http://schemas.openxmlformats.org/presentationml/2006/ole">
            <mc:AlternateContent xmlns:mc="http://schemas.openxmlformats.org/markup-compatibility/2006">
              <mc:Choice xmlns:v="urn:schemas-microsoft-com:vml" Requires="v">
                <p:oleObj spid="_x0000_s11279" r:id="rId11" imgW="1054100" imgH="203200" progId="Equation.3">
                  <p:embed/>
                </p:oleObj>
              </mc:Choice>
              <mc:Fallback>
                <p:oleObj r:id="rId11" imgW="1054100" imgH="203200" progId="Equation.3">
                  <p:embed/>
                  <p:pic>
                    <p:nvPicPr>
                      <p:cNvPr id="0" name="图片 3193"/>
                      <p:cNvPicPr/>
                      <p:nvPr/>
                    </p:nvPicPr>
                    <p:blipFill>
                      <a:blip r:embed="rId12"/>
                      <a:stretch>
                        <a:fillRect/>
                      </a:stretch>
                    </p:blipFill>
                    <p:spPr>
                      <a:xfrm>
                        <a:off x="7593013" y="5041900"/>
                        <a:ext cx="2720975" cy="520700"/>
                      </a:xfrm>
                      <a:prstGeom prst="rect">
                        <a:avLst/>
                      </a:prstGeom>
                      <a:solidFill>
                        <a:srgbClr val="6F9AEF"/>
                      </a:solidFill>
                      <a:ln w="38100">
                        <a:noFill/>
                        <a:miter/>
                      </a:ln>
                    </p:spPr>
                  </p:pic>
                </p:oleObj>
              </mc:Fallback>
            </mc:AlternateContent>
          </a:graphicData>
        </a:graphic>
      </p:graphicFrame>
      <p:graphicFrame>
        <p:nvGraphicFramePr>
          <p:cNvPr id="225295" name="Object 15"/>
          <p:cNvGraphicFramePr>
            <a:graphicFrameLocks noChangeAspect="1"/>
          </p:cNvGraphicFramePr>
          <p:nvPr/>
        </p:nvGraphicFramePr>
        <p:xfrm>
          <a:off x="3414713" y="6397625"/>
          <a:ext cx="2468562" cy="460375"/>
        </p:xfrm>
        <a:graphic>
          <a:graphicData uri="http://schemas.openxmlformats.org/presentationml/2006/ole">
            <mc:AlternateContent xmlns:mc="http://schemas.openxmlformats.org/markup-compatibility/2006">
              <mc:Choice xmlns:v="urn:schemas-microsoft-com:vml" Requires="v">
                <p:oleObj spid="_x0000_s11280" r:id="rId13" imgW="1078865" imgH="203200" progId="Equation.3">
                  <p:embed/>
                </p:oleObj>
              </mc:Choice>
              <mc:Fallback>
                <p:oleObj r:id="rId13" imgW="1078865" imgH="203200" progId="Equation.3">
                  <p:embed/>
                  <p:pic>
                    <p:nvPicPr>
                      <p:cNvPr id="0" name="图片 3189"/>
                      <p:cNvPicPr/>
                      <p:nvPr/>
                    </p:nvPicPr>
                    <p:blipFill>
                      <a:blip r:embed="rId14"/>
                      <a:stretch>
                        <a:fillRect/>
                      </a:stretch>
                    </p:blipFill>
                    <p:spPr>
                      <a:xfrm>
                        <a:off x="3414713" y="6397625"/>
                        <a:ext cx="2468562" cy="460375"/>
                      </a:xfrm>
                      <a:prstGeom prst="rect">
                        <a:avLst/>
                      </a:prstGeom>
                      <a:solidFill>
                        <a:srgbClr val="FFCC99"/>
                      </a:solidFill>
                      <a:ln w="38100">
                        <a:noFill/>
                        <a:miter/>
                      </a:ln>
                    </p:spPr>
                  </p:pic>
                </p:oleObj>
              </mc:Fallback>
            </mc:AlternateContent>
          </a:graphicData>
        </a:graphic>
      </p:graphicFrame>
      <p:sp>
        <p:nvSpPr>
          <p:cNvPr id="225296" name="Line 16"/>
          <p:cNvSpPr/>
          <p:nvPr/>
        </p:nvSpPr>
        <p:spPr>
          <a:xfrm>
            <a:off x="6096000" y="3505200"/>
            <a:ext cx="304800" cy="457200"/>
          </a:xfrm>
          <a:prstGeom prst="line">
            <a:avLst/>
          </a:prstGeom>
          <a:ln w="38100" cap="flat" cmpd="sng">
            <a:solidFill>
              <a:srgbClr val="FF0000"/>
            </a:solidFill>
            <a:prstDash val="solid"/>
            <a:round/>
            <a:headEnd type="none" w="med" len="med"/>
            <a:tailEnd type="none" w="med" len="med"/>
          </a:ln>
        </p:spPr>
      </p:sp>
      <p:sp>
        <p:nvSpPr>
          <p:cNvPr id="225297" name="Line 17"/>
          <p:cNvSpPr/>
          <p:nvPr/>
        </p:nvSpPr>
        <p:spPr>
          <a:xfrm>
            <a:off x="7239000" y="3524250"/>
            <a:ext cx="304800" cy="457200"/>
          </a:xfrm>
          <a:prstGeom prst="line">
            <a:avLst/>
          </a:prstGeom>
          <a:ln w="38100" cap="flat" cmpd="sng">
            <a:solidFill>
              <a:srgbClr val="FF0000"/>
            </a:solidFill>
            <a:prstDash val="solid"/>
            <a:round/>
            <a:headEnd type="none" w="med" len="med"/>
            <a:tailEnd type="none" w="med" len="med"/>
          </a:ln>
        </p:spPr>
      </p:sp>
      <p:sp>
        <p:nvSpPr>
          <p:cNvPr id="225298" name="Line 18"/>
          <p:cNvSpPr/>
          <p:nvPr/>
        </p:nvSpPr>
        <p:spPr>
          <a:xfrm>
            <a:off x="3067050" y="2343150"/>
            <a:ext cx="304800" cy="457200"/>
          </a:xfrm>
          <a:prstGeom prst="line">
            <a:avLst/>
          </a:prstGeom>
          <a:ln w="38100" cap="flat" cmpd="sng">
            <a:solidFill>
              <a:srgbClr val="FF0000"/>
            </a:solidFill>
            <a:prstDash val="solid"/>
            <a:round/>
            <a:headEnd type="none" w="med" len="med"/>
            <a:tailEnd type="none" w="med" len="med"/>
          </a:ln>
        </p:spPr>
      </p:sp>
      <p:sp>
        <p:nvSpPr>
          <p:cNvPr id="225299" name="Line 19"/>
          <p:cNvSpPr/>
          <p:nvPr/>
        </p:nvSpPr>
        <p:spPr>
          <a:xfrm>
            <a:off x="3962400" y="6397625"/>
            <a:ext cx="304800" cy="457200"/>
          </a:xfrm>
          <a:prstGeom prst="line">
            <a:avLst/>
          </a:prstGeom>
          <a:ln w="38100" cap="flat" cmpd="sng">
            <a:solidFill>
              <a:srgbClr val="FF0000"/>
            </a:solidFill>
            <a:prstDash val="solid"/>
            <a:round/>
            <a:headEnd type="none" w="med" len="med"/>
            <a:tailEnd type="none" w="med" len="med"/>
          </a:ln>
        </p:spPr>
      </p:sp>
      <p:sp>
        <p:nvSpPr>
          <p:cNvPr id="225300" name="Line 20"/>
          <p:cNvSpPr/>
          <p:nvPr/>
        </p:nvSpPr>
        <p:spPr>
          <a:xfrm>
            <a:off x="5334000" y="6397625"/>
            <a:ext cx="304800" cy="457200"/>
          </a:xfrm>
          <a:prstGeom prst="line">
            <a:avLst/>
          </a:prstGeom>
          <a:ln w="38100" cap="flat" cmpd="sng">
            <a:solidFill>
              <a:srgbClr val="FF0000"/>
            </a:solidFill>
            <a:prstDash val="solid"/>
            <a:round/>
            <a:headEnd type="none" w="med" len="med"/>
            <a:tailEnd type="none" w="med" len="med"/>
          </a:ln>
        </p:spPr>
      </p:sp>
      <p:sp>
        <p:nvSpPr>
          <p:cNvPr id="225301" name="Line 21"/>
          <p:cNvSpPr/>
          <p:nvPr/>
        </p:nvSpPr>
        <p:spPr>
          <a:xfrm>
            <a:off x="8153400" y="5105400"/>
            <a:ext cx="304800" cy="457200"/>
          </a:xfrm>
          <a:prstGeom prst="line">
            <a:avLst/>
          </a:prstGeom>
          <a:ln w="38100" cap="flat" cmpd="sng">
            <a:solidFill>
              <a:srgbClr val="FF0000"/>
            </a:solidFill>
            <a:prstDash val="solid"/>
            <a:round/>
            <a:headEnd type="none" w="med" len="med"/>
            <a:tailEnd type="none" w="med" len="med"/>
          </a:ln>
        </p:spPr>
      </p:sp>
      <p:sp>
        <p:nvSpPr>
          <p:cNvPr id="225302" name="Line 22"/>
          <p:cNvSpPr/>
          <p:nvPr/>
        </p:nvSpPr>
        <p:spPr>
          <a:xfrm>
            <a:off x="9677400" y="5105400"/>
            <a:ext cx="304800" cy="457200"/>
          </a:xfrm>
          <a:prstGeom prst="line">
            <a:avLst/>
          </a:prstGeom>
          <a:ln w="38100" cap="flat" cmpd="sng">
            <a:solidFill>
              <a:srgbClr val="FF0000"/>
            </a:solidFill>
            <a:prstDash val="solid"/>
            <a:round/>
            <a:headEnd type="none" w="med" len="med"/>
            <a:tailEnd type="none" w="med" len="med"/>
          </a:ln>
        </p:spPr>
      </p:sp>
      <p:graphicFrame>
        <p:nvGraphicFramePr>
          <p:cNvPr id="225303" name="Object 23"/>
          <p:cNvGraphicFramePr>
            <a:graphicFrameLocks noChangeAspect="1"/>
          </p:cNvGraphicFramePr>
          <p:nvPr/>
        </p:nvGraphicFramePr>
        <p:xfrm>
          <a:off x="1828800" y="2819400"/>
          <a:ext cx="990600" cy="493713"/>
        </p:xfrm>
        <a:graphic>
          <a:graphicData uri="http://schemas.openxmlformats.org/presentationml/2006/ole">
            <mc:AlternateContent xmlns:mc="http://schemas.openxmlformats.org/markup-compatibility/2006">
              <mc:Choice xmlns:v="urn:schemas-microsoft-com:vml" Requires="v">
                <p:oleObj spid="_x0000_s11281" r:id="rId15" imgW="405765" imgH="203200" progId="Equation.3">
                  <p:embed/>
                </p:oleObj>
              </mc:Choice>
              <mc:Fallback>
                <p:oleObj r:id="rId15" imgW="405765" imgH="203200" progId="Equation.3">
                  <p:embed/>
                  <p:pic>
                    <p:nvPicPr>
                      <p:cNvPr id="0" name="图片 3197"/>
                      <p:cNvPicPr/>
                      <p:nvPr/>
                    </p:nvPicPr>
                    <p:blipFill>
                      <a:blip r:embed="rId16"/>
                      <a:stretch>
                        <a:fillRect/>
                      </a:stretch>
                    </p:blipFill>
                    <p:spPr>
                      <a:xfrm>
                        <a:off x="1828800" y="2819400"/>
                        <a:ext cx="990600" cy="493713"/>
                      </a:xfrm>
                      <a:prstGeom prst="rect">
                        <a:avLst/>
                      </a:prstGeom>
                      <a:solidFill>
                        <a:srgbClr val="6F9AEF"/>
                      </a:solidFill>
                      <a:ln w="38100">
                        <a:noFill/>
                        <a:miter/>
                      </a:ln>
                    </p:spPr>
                  </p:pic>
                </p:oleObj>
              </mc:Fallback>
            </mc:AlternateContent>
          </a:graphicData>
        </a:graphic>
      </p:graphicFrame>
      <p:sp>
        <p:nvSpPr>
          <p:cNvPr id="225304" name="Line 24"/>
          <p:cNvSpPr/>
          <p:nvPr/>
        </p:nvSpPr>
        <p:spPr>
          <a:xfrm>
            <a:off x="1828800" y="2305050"/>
            <a:ext cx="304800" cy="457200"/>
          </a:xfrm>
          <a:prstGeom prst="line">
            <a:avLst/>
          </a:prstGeom>
          <a:ln w="38100" cap="flat" cmpd="sng">
            <a:solidFill>
              <a:srgbClr val="FF0000"/>
            </a:solidFill>
            <a:prstDash val="solid"/>
            <a:round/>
            <a:headEnd type="none" w="med" len="med"/>
            <a:tailEnd type="none" w="med" len="med"/>
          </a:ln>
        </p:spPr>
      </p:sp>
      <p:graphicFrame>
        <p:nvGraphicFramePr>
          <p:cNvPr id="225305" name="Object 25"/>
          <p:cNvGraphicFramePr>
            <a:graphicFrameLocks noChangeAspect="1"/>
          </p:cNvGraphicFramePr>
          <p:nvPr/>
        </p:nvGraphicFramePr>
        <p:xfrm>
          <a:off x="8077200" y="3467100"/>
          <a:ext cx="1047750" cy="500063"/>
        </p:xfrm>
        <a:graphic>
          <a:graphicData uri="http://schemas.openxmlformats.org/presentationml/2006/ole">
            <mc:AlternateContent xmlns:mc="http://schemas.openxmlformats.org/markup-compatibility/2006">
              <mc:Choice xmlns:v="urn:schemas-microsoft-com:vml" Requires="v">
                <p:oleObj spid="_x0000_s11282" r:id="rId17" imgW="368300" imgH="177800" progId="Equation.3">
                  <p:embed/>
                </p:oleObj>
              </mc:Choice>
              <mc:Fallback>
                <p:oleObj r:id="rId17" imgW="368300" imgH="177800" progId="Equation.3">
                  <p:embed/>
                  <p:pic>
                    <p:nvPicPr>
                      <p:cNvPr id="0" name="图片 3202"/>
                      <p:cNvPicPr/>
                      <p:nvPr/>
                    </p:nvPicPr>
                    <p:blipFill>
                      <a:blip r:embed="rId18"/>
                      <a:stretch>
                        <a:fillRect/>
                      </a:stretch>
                    </p:blipFill>
                    <p:spPr>
                      <a:xfrm>
                        <a:off x="8077200" y="3467100"/>
                        <a:ext cx="1047750" cy="500063"/>
                      </a:xfrm>
                      <a:prstGeom prst="rect">
                        <a:avLst/>
                      </a:prstGeom>
                      <a:solidFill>
                        <a:srgbClr val="FFCC99"/>
                      </a:solidFill>
                      <a:ln w="38100">
                        <a:noFill/>
                        <a:miter/>
                      </a:ln>
                    </p:spPr>
                  </p:pic>
                </p:oleObj>
              </mc:Fallback>
            </mc:AlternateContent>
          </a:graphicData>
        </a:graphic>
      </p:graphicFrame>
      <p:graphicFrame>
        <p:nvGraphicFramePr>
          <p:cNvPr id="225306" name="Object 26"/>
          <p:cNvGraphicFramePr>
            <a:graphicFrameLocks noChangeAspect="1"/>
          </p:cNvGraphicFramePr>
          <p:nvPr/>
        </p:nvGraphicFramePr>
        <p:xfrm>
          <a:off x="5853113" y="6416675"/>
          <a:ext cx="1173162" cy="441325"/>
        </p:xfrm>
        <a:graphic>
          <a:graphicData uri="http://schemas.openxmlformats.org/presentationml/2006/ole">
            <mc:AlternateContent xmlns:mc="http://schemas.openxmlformats.org/markup-compatibility/2006">
              <mc:Choice xmlns:v="urn:schemas-microsoft-com:vml" Requires="v">
                <p:oleObj spid="_x0000_s11283" r:id="rId19" imgW="508000" imgH="190500" progId="Equation.3">
                  <p:embed/>
                </p:oleObj>
              </mc:Choice>
              <mc:Fallback>
                <p:oleObj r:id="rId19" imgW="508000" imgH="190500" progId="Equation.3">
                  <p:embed/>
                  <p:pic>
                    <p:nvPicPr>
                      <p:cNvPr id="0" name="图片 3198"/>
                      <p:cNvPicPr/>
                      <p:nvPr/>
                    </p:nvPicPr>
                    <p:blipFill>
                      <a:blip r:embed="rId20"/>
                      <a:stretch>
                        <a:fillRect/>
                      </a:stretch>
                    </p:blipFill>
                    <p:spPr>
                      <a:xfrm>
                        <a:off x="5853113" y="6416675"/>
                        <a:ext cx="1173162" cy="441325"/>
                      </a:xfrm>
                      <a:prstGeom prst="rect">
                        <a:avLst/>
                      </a:prstGeom>
                      <a:solidFill>
                        <a:srgbClr val="FFCC99"/>
                      </a:solidFill>
                      <a:ln w="38100">
                        <a:noFill/>
                        <a:miter/>
                      </a:ln>
                    </p:spPr>
                  </p:pic>
                </p:oleObj>
              </mc:Fallback>
            </mc:AlternateContent>
          </a:graphicData>
        </a:graphic>
      </p:graphicFrame>
      <p:graphicFrame>
        <p:nvGraphicFramePr>
          <p:cNvPr id="225307" name="Object 27"/>
          <p:cNvGraphicFramePr>
            <a:graphicFrameLocks noChangeAspect="1"/>
          </p:cNvGraphicFramePr>
          <p:nvPr/>
        </p:nvGraphicFramePr>
        <p:xfrm>
          <a:off x="7559675" y="5638800"/>
          <a:ext cx="1263650" cy="485775"/>
        </p:xfrm>
        <a:graphic>
          <a:graphicData uri="http://schemas.openxmlformats.org/presentationml/2006/ole">
            <mc:AlternateContent xmlns:mc="http://schemas.openxmlformats.org/markup-compatibility/2006">
              <mc:Choice xmlns:v="urn:schemas-microsoft-com:vml" Requires="v">
                <p:oleObj spid="_x0000_s11284" r:id="rId21" imgW="495300" imgH="190500" progId="Equation.3">
                  <p:embed/>
                </p:oleObj>
              </mc:Choice>
              <mc:Fallback>
                <p:oleObj r:id="rId21" imgW="495300" imgH="190500" progId="Equation.3">
                  <p:embed/>
                  <p:pic>
                    <p:nvPicPr>
                      <p:cNvPr id="0" name="图片 3204"/>
                      <p:cNvPicPr/>
                      <p:nvPr/>
                    </p:nvPicPr>
                    <p:blipFill>
                      <a:blip r:embed="rId22"/>
                      <a:stretch>
                        <a:fillRect/>
                      </a:stretch>
                    </p:blipFill>
                    <p:spPr>
                      <a:xfrm>
                        <a:off x="7559675" y="5638800"/>
                        <a:ext cx="1263650" cy="485775"/>
                      </a:xfrm>
                      <a:prstGeom prst="rect">
                        <a:avLst/>
                      </a:prstGeom>
                      <a:solidFill>
                        <a:srgbClr val="6F9AEF"/>
                      </a:solidFill>
                      <a:ln w="38100">
                        <a:noFill/>
                        <a:miter/>
                      </a:ln>
                    </p:spPr>
                  </p:pic>
                </p:oleObj>
              </mc:Fallback>
            </mc:AlternateContent>
          </a:graphicData>
        </a:graphic>
      </p:graphicFrame>
      <p:sp>
        <p:nvSpPr>
          <p:cNvPr id="225309" name="Oval 29"/>
          <p:cNvSpPr/>
          <p:nvPr/>
        </p:nvSpPr>
        <p:spPr>
          <a:xfrm>
            <a:off x="6781800" y="2429762"/>
            <a:ext cx="609600" cy="703076"/>
          </a:xfrm>
          <a:prstGeom prst="ellipse">
            <a:avLst/>
          </a:prstGeom>
          <a:noFill/>
          <a:ln w="38100" cap="flat" cmpd="sng">
            <a:solidFill>
              <a:srgbClr val="CC00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2528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25285">
                                            <p:txEl>
                                              <p:pRg st="0" end="0"/>
                                            </p:txEl>
                                          </p:spTgt>
                                        </p:tgtEl>
                                        <p:attrNameLst>
                                          <p:attrName>style.visibility</p:attrName>
                                        </p:attrNameLst>
                                      </p:cBhvr>
                                      <p:to>
                                        <p:strVal val="visible"/>
                                      </p:to>
                                    </p:set>
                                    <p:animEffect transition="in" filter="wipe(left)">
                                      <p:cBhvr>
                                        <p:cTn id="11" dur="500"/>
                                        <p:tgtEl>
                                          <p:spTgt spid="22528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225282"/>
                                        </p:tgtEl>
                                        <p:attrNameLst>
                                          <p:attrName>style.visibility</p:attrName>
                                        </p:attrNameLst>
                                      </p:cBhvr>
                                      <p:to>
                                        <p:strVal val="visible"/>
                                      </p:to>
                                    </p:set>
                                    <p:anim calcmode="lin" valueType="num">
                                      <p:cBhvr additive="base">
                                        <p:cTn id="16" dur="500" fill="hold"/>
                                        <p:tgtEl>
                                          <p:spTgt spid="225282"/>
                                        </p:tgtEl>
                                        <p:attrNameLst>
                                          <p:attrName>ppt_x</p:attrName>
                                        </p:attrNameLst>
                                      </p:cBhvr>
                                      <p:tavLst>
                                        <p:tav tm="0">
                                          <p:val>
                                            <p:strVal val="0-#ppt_w/2"/>
                                          </p:val>
                                        </p:tav>
                                        <p:tav tm="100000">
                                          <p:val>
                                            <p:strVal val="#ppt_x"/>
                                          </p:val>
                                        </p:tav>
                                      </p:tavLst>
                                    </p:anim>
                                    <p:anim calcmode="lin" valueType="num">
                                      <p:cBhvr additive="base">
                                        <p:cTn id="17" dur="500" fill="hold"/>
                                        <p:tgtEl>
                                          <p:spTgt spid="225282"/>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5287"/>
                                        </p:tgtEl>
                                        <p:attrNameLst>
                                          <p:attrName>style.visibility</p:attrName>
                                        </p:attrNameLst>
                                      </p:cBhvr>
                                      <p:to>
                                        <p:strVal val="visible"/>
                                      </p:to>
                                    </p:set>
                                    <p:animEffect transition="in" filter="wipe(left)">
                                      <p:cBhvr>
                                        <p:cTn id="22" dur="500"/>
                                        <p:tgtEl>
                                          <p:spTgt spid="22528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25292"/>
                                        </p:tgtEl>
                                        <p:attrNameLst>
                                          <p:attrName>style.visibility</p:attrName>
                                        </p:attrNameLst>
                                      </p:cBhvr>
                                      <p:to>
                                        <p:strVal val="visible"/>
                                      </p:to>
                                    </p:set>
                                    <p:animEffect transition="in" filter="box(out)">
                                      <p:cBhvr>
                                        <p:cTn id="27" dur="500"/>
                                        <p:tgtEl>
                                          <p:spTgt spid="225292"/>
                                        </p:tgtEl>
                                      </p:cBhvr>
                                    </p:animEffect>
                                  </p:childTnLst>
                                </p:cTn>
                              </p:par>
                            </p:childTnLst>
                          </p:cTn>
                        </p:par>
                        <p:par>
                          <p:cTn id="28" fill="hold">
                            <p:stCondLst>
                              <p:cond delay="500"/>
                            </p:stCondLst>
                            <p:childTnLst>
                              <p:par>
                                <p:cTn id="29" presetID="2" presetClass="entr" presetSubtype="8" fill="hold" nodeType="afterEffect">
                                  <p:stCondLst>
                                    <p:cond delay="0"/>
                                  </p:stCondLst>
                                  <p:childTnLst>
                                    <p:set>
                                      <p:cBhvr>
                                        <p:cTn id="30" dur="1" fill="hold">
                                          <p:stCondLst>
                                            <p:cond delay="0"/>
                                          </p:stCondLst>
                                        </p:cTn>
                                        <p:tgtEl>
                                          <p:spTgt spid="225304"/>
                                        </p:tgtEl>
                                        <p:attrNameLst>
                                          <p:attrName>style.visibility</p:attrName>
                                        </p:attrNameLst>
                                      </p:cBhvr>
                                      <p:to>
                                        <p:strVal val="visible"/>
                                      </p:to>
                                    </p:set>
                                    <p:anim calcmode="lin" valueType="num">
                                      <p:cBhvr additive="base">
                                        <p:cTn id="31" dur="500" fill="hold"/>
                                        <p:tgtEl>
                                          <p:spTgt spid="225304"/>
                                        </p:tgtEl>
                                        <p:attrNameLst>
                                          <p:attrName>ppt_x</p:attrName>
                                        </p:attrNameLst>
                                      </p:cBhvr>
                                      <p:tavLst>
                                        <p:tav tm="0">
                                          <p:val>
                                            <p:strVal val="0-#ppt_w/2"/>
                                          </p:val>
                                        </p:tav>
                                        <p:tav tm="100000">
                                          <p:val>
                                            <p:strVal val="#ppt_x"/>
                                          </p:val>
                                        </p:tav>
                                      </p:tavLst>
                                    </p:anim>
                                    <p:anim calcmode="lin" valueType="num">
                                      <p:cBhvr additive="base">
                                        <p:cTn id="32" dur="500" fill="hold"/>
                                        <p:tgtEl>
                                          <p:spTgt spid="225304"/>
                                        </p:tgtEl>
                                        <p:attrNameLst>
                                          <p:attrName>ppt_y</p:attrName>
                                        </p:attrNameLst>
                                      </p:cBhvr>
                                      <p:tavLst>
                                        <p:tav tm="0">
                                          <p:val>
                                            <p:strVal val="#ppt_y"/>
                                          </p:val>
                                        </p:tav>
                                        <p:tav tm="100000">
                                          <p:val>
                                            <p:strVal val="#ppt_y"/>
                                          </p:val>
                                        </p:tav>
                                      </p:tavLst>
                                    </p:anim>
                                  </p:childTnLst>
                                </p:cTn>
                              </p:par>
                            </p:childTnLst>
                          </p:cTn>
                        </p:par>
                        <p:par>
                          <p:cTn id="33" fill="hold">
                            <p:stCondLst>
                              <p:cond delay="1000"/>
                            </p:stCondLst>
                            <p:childTnLst>
                              <p:par>
                                <p:cTn id="34" presetID="2" presetClass="entr" presetSubtype="8" fill="hold" nodeType="afterEffect">
                                  <p:stCondLst>
                                    <p:cond delay="0"/>
                                  </p:stCondLst>
                                  <p:childTnLst>
                                    <p:set>
                                      <p:cBhvr>
                                        <p:cTn id="35" dur="1" fill="hold">
                                          <p:stCondLst>
                                            <p:cond delay="0"/>
                                          </p:stCondLst>
                                        </p:cTn>
                                        <p:tgtEl>
                                          <p:spTgt spid="225298"/>
                                        </p:tgtEl>
                                        <p:attrNameLst>
                                          <p:attrName>style.visibility</p:attrName>
                                        </p:attrNameLst>
                                      </p:cBhvr>
                                      <p:to>
                                        <p:strVal val="visible"/>
                                      </p:to>
                                    </p:set>
                                    <p:anim calcmode="lin" valueType="num">
                                      <p:cBhvr additive="base">
                                        <p:cTn id="36" dur="500" fill="hold"/>
                                        <p:tgtEl>
                                          <p:spTgt spid="225298"/>
                                        </p:tgtEl>
                                        <p:attrNameLst>
                                          <p:attrName>ppt_x</p:attrName>
                                        </p:attrNameLst>
                                      </p:cBhvr>
                                      <p:tavLst>
                                        <p:tav tm="0">
                                          <p:val>
                                            <p:strVal val="0-#ppt_w/2"/>
                                          </p:val>
                                        </p:tav>
                                        <p:tav tm="100000">
                                          <p:val>
                                            <p:strVal val="#ppt_x"/>
                                          </p:val>
                                        </p:tav>
                                      </p:tavLst>
                                    </p:anim>
                                    <p:anim calcmode="lin" valueType="num">
                                      <p:cBhvr additive="base">
                                        <p:cTn id="37" dur="500" fill="hold"/>
                                        <p:tgtEl>
                                          <p:spTgt spid="225298"/>
                                        </p:tgtEl>
                                        <p:attrNameLst>
                                          <p:attrName>ppt_y</p:attrName>
                                        </p:attrNameLst>
                                      </p:cBhvr>
                                      <p:tavLst>
                                        <p:tav tm="0">
                                          <p:val>
                                            <p:strVal val="#ppt_y"/>
                                          </p:val>
                                        </p:tav>
                                        <p:tav tm="100000">
                                          <p:val>
                                            <p:strVal val="#ppt_y"/>
                                          </p:val>
                                        </p:tav>
                                      </p:tavLst>
                                    </p:anim>
                                  </p:childTnLst>
                                </p:cTn>
                              </p:par>
                            </p:childTnLst>
                          </p:cTn>
                        </p:par>
                        <p:par>
                          <p:cTn id="38" fill="hold">
                            <p:stCondLst>
                              <p:cond delay="1500"/>
                            </p:stCondLst>
                            <p:childTnLst>
                              <p:par>
                                <p:cTn id="39" presetID="4" presetClass="entr" presetSubtype="32" fill="hold" nodeType="afterEffect">
                                  <p:stCondLst>
                                    <p:cond delay="0"/>
                                  </p:stCondLst>
                                  <p:childTnLst>
                                    <p:set>
                                      <p:cBhvr>
                                        <p:cTn id="40" dur="1" fill="hold">
                                          <p:stCondLst>
                                            <p:cond delay="0"/>
                                          </p:stCondLst>
                                        </p:cTn>
                                        <p:tgtEl>
                                          <p:spTgt spid="225303"/>
                                        </p:tgtEl>
                                        <p:attrNameLst>
                                          <p:attrName>style.visibility</p:attrName>
                                        </p:attrNameLst>
                                      </p:cBhvr>
                                      <p:to>
                                        <p:strVal val="visible"/>
                                      </p:to>
                                    </p:set>
                                    <p:animEffect transition="in" filter="box(out)">
                                      <p:cBhvr>
                                        <p:cTn id="41" dur="500"/>
                                        <p:tgtEl>
                                          <p:spTgt spid="22530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25309"/>
                                        </p:tgtEl>
                                        <p:attrNameLst>
                                          <p:attrName>style.visibility</p:attrName>
                                        </p:attrNameLst>
                                      </p:cBhvr>
                                      <p:to>
                                        <p:strVal val="visible"/>
                                      </p:to>
                                    </p:set>
                                    <p:animEffect transition="in" filter="wipe(left)">
                                      <p:cBhvr>
                                        <p:cTn id="46" dur="500"/>
                                        <p:tgtEl>
                                          <p:spTgt spid="225309"/>
                                        </p:tgtEl>
                                      </p:cBhvr>
                                    </p:animEffect>
                                  </p:childTnLst>
                                </p:cTn>
                              </p:par>
                            </p:childTnLst>
                          </p:cTn>
                        </p:par>
                      </p:childTnLst>
                    </p:cTn>
                  </p:par>
                  <p:par>
                    <p:cTn id="47" fill="hold">
                      <p:stCondLst>
                        <p:cond delay="indefinite"/>
                      </p:stCondLst>
                      <p:childTnLst>
                        <p:par>
                          <p:cTn id="48" fill="hold">
                            <p:stCondLst>
                              <p:cond delay="0"/>
                            </p:stCondLst>
                            <p:childTnLst>
                              <p:par>
                                <p:cTn id="49" presetID="4" presetClass="entr" presetSubtype="16" fill="hold" nodeType="clickEffect">
                                  <p:stCondLst>
                                    <p:cond delay="0"/>
                                  </p:stCondLst>
                                  <p:childTnLst>
                                    <p:set>
                                      <p:cBhvr>
                                        <p:cTn id="50" dur="1" fill="hold">
                                          <p:stCondLst>
                                            <p:cond delay="0"/>
                                          </p:stCondLst>
                                        </p:cTn>
                                        <p:tgtEl>
                                          <p:spTgt spid="225293"/>
                                        </p:tgtEl>
                                        <p:attrNameLst>
                                          <p:attrName>style.visibility</p:attrName>
                                        </p:attrNameLst>
                                      </p:cBhvr>
                                      <p:to>
                                        <p:strVal val="visible"/>
                                      </p:to>
                                    </p:set>
                                    <p:animEffect transition="in" filter="box(in)">
                                      <p:cBhvr>
                                        <p:cTn id="51" dur="500"/>
                                        <p:tgtEl>
                                          <p:spTgt spid="225293"/>
                                        </p:tgtEl>
                                      </p:cBhvr>
                                    </p:animEffect>
                                  </p:childTnLst>
                                </p:cTn>
                              </p:par>
                            </p:childTnLst>
                          </p:cTn>
                        </p:par>
                        <p:par>
                          <p:cTn id="52" fill="hold">
                            <p:stCondLst>
                              <p:cond delay="500"/>
                            </p:stCondLst>
                            <p:childTnLst>
                              <p:par>
                                <p:cTn id="53" presetID="2" presetClass="entr" presetSubtype="8" fill="hold" nodeType="afterEffect">
                                  <p:stCondLst>
                                    <p:cond delay="0"/>
                                  </p:stCondLst>
                                  <p:childTnLst>
                                    <p:set>
                                      <p:cBhvr>
                                        <p:cTn id="54" dur="1" fill="hold">
                                          <p:stCondLst>
                                            <p:cond delay="0"/>
                                          </p:stCondLst>
                                        </p:cTn>
                                        <p:tgtEl>
                                          <p:spTgt spid="225296"/>
                                        </p:tgtEl>
                                        <p:attrNameLst>
                                          <p:attrName>style.visibility</p:attrName>
                                        </p:attrNameLst>
                                      </p:cBhvr>
                                      <p:to>
                                        <p:strVal val="visible"/>
                                      </p:to>
                                    </p:set>
                                    <p:anim calcmode="lin" valueType="num">
                                      <p:cBhvr additive="base">
                                        <p:cTn id="55" dur="500" fill="hold"/>
                                        <p:tgtEl>
                                          <p:spTgt spid="225296"/>
                                        </p:tgtEl>
                                        <p:attrNameLst>
                                          <p:attrName>ppt_x</p:attrName>
                                        </p:attrNameLst>
                                      </p:cBhvr>
                                      <p:tavLst>
                                        <p:tav tm="0">
                                          <p:val>
                                            <p:strVal val="0-#ppt_w/2"/>
                                          </p:val>
                                        </p:tav>
                                        <p:tav tm="100000">
                                          <p:val>
                                            <p:strVal val="#ppt_x"/>
                                          </p:val>
                                        </p:tav>
                                      </p:tavLst>
                                    </p:anim>
                                    <p:anim calcmode="lin" valueType="num">
                                      <p:cBhvr additive="base">
                                        <p:cTn id="56" dur="500" fill="hold"/>
                                        <p:tgtEl>
                                          <p:spTgt spid="225296"/>
                                        </p:tgtEl>
                                        <p:attrNameLst>
                                          <p:attrName>ppt_y</p:attrName>
                                        </p:attrNameLst>
                                      </p:cBhvr>
                                      <p:tavLst>
                                        <p:tav tm="0">
                                          <p:val>
                                            <p:strVal val="#ppt_y"/>
                                          </p:val>
                                        </p:tav>
                                        <p:tav tm="100000">
                                          <p:val>
                                            <p:strVal val="#ppt_y"/>
                                          </p:val>
                                        </p:tav>
                                      </p:tavLst>
                                    </p:anim>
                                  </p:childTnLst>
                                </p:cTn>
                              </p:par>
                            </p:childTnLst>
                          </p:cTn>
                        </p:par>
                        <p:par>
                          <p:cTn id="57" fill="hold">
                            <p:stCondLst>
                              <p:cond delay="1000"/>
                            </p:stCondLst>
                            <p:childTnLst>
                              <p:par>
                                <p:cTn id="58" presetID="2" presetClass="entr" presetSubtype="8" fill="hold" nodeType="afterEffect">
                                  <p:stCondLst>
                                    <p:cond delay="0"/>
                                  </p:stCondLst>
                                  <p:childTnLst>
                                    <p:set>
                                      <p:cBhvr>
                                        <p:cTn id="59" dur="1" fill="hold">
                                          <p:stCondLst>
                                            <p:cond delay="0"/>
                                          </p:stCondLst>
                                        </p:cTn>
                                        <p:tgtEl>
                                          <p:spTgt spid="225297"/>
                                        </p:tgtEl>
                                        <p:attrNameLst>
                                          <p:attrName>style.visibility</p:attrName>
                                        </p:attrNameLst>
                                      </p:cBhvr>
                                      <p:to>
                                        <p:strVal val="visible"/>
                                      </p:to>
                                    </p:set>
                                    <p:anim calcmode="lin" valueType="num">
                                      <p:cBhvr additive="base">
                                        <p:cTn id="60" dur="500" fill="hold"/>
                                        <p:tgtEl>
                                          <p:spTgt spid="225297"/>
                                        </p:tgtEl>
                                        <p:attrNameLst>
                                          <p:attrName>ppt_x</p:attrName>
                                        </p:attrNameLst>
                                      </p:cBhvr>
                                      <p:tavLst>
                                        <p:tav tm="0">
                                          <p:val>
                                            <p:strVal val="0-#ppt_w/2"/>
                                          </p:val>
                                        </p:tav>
                                        <p:tav tm="100000">
                                          <p:val>
                                            <p:strVal val="#ppt_x"/>
                                          </p:val>
                                        </p:tav>
                                      </p:tavLst>
                                    </p:anim>
                                    <p:anim calcmode="lin" valueType="num">
                                      <p:cBhvr additive="base">
                                        <p:cTn id="61" dur="500" fill="hold"/>
                                        <p:tgtEl>
                                          <p:spTgt spid="225297"/>
                                        </p:tgtEl>
                                        <p:attrNameLst>
                                          <p:attrName>ppt_y</p:attrName>
                                        </p:attrNameLst>
                                      </p:cBhvr>
                                      <p:tavLst>
                                        <p:tav tm="0">
                                          <p:val>
                                            <p:strVal val="#ppt_y"/>
                                          </p:val>
                                        </p:tav>
                                        <p:tav tm="100000">
                                          <p:val>
                                            <p:strVal val="#ppt_y"/>
                                          </p:val>
                                        </p:tav>
                                      </p:tavLst>
                                    </p:anim>
                                  </p:childTnLst>
                                </p:cTn>
                              </p:par>
                            </p:childTnLst>
                          </p:cTn>
                        </p:par>
                        <p:par>
                          <p:cTn id="62" fill="hold">
                            <p:stCondLst>
                              <p:cond delay="1500"/>
                            </p:stCondLst>
                            <p:childTnLst>
                              <p:par>
                                <p:cTn id="63" presetID="4" presetClass="entr" presetSubtype="16" fill="hold" nodeType="afterEffect">
                                  <p:stCondLst>
                                    <p:cond delay="0"/>
                                  </p:stCondLst>
                                  <p:childTnLst>
                                    <p:set>
                                      <p:cBhvr>
                                        <p:cTn id="64" dur="1" fill="hold">
                                          <p:stCondLst>
                                            <p:cond delay="0"/>
                                          </p:stCondLst>
                                        </p:cTn>
                                        <p:tgtEl>
                                          <p:spTgt spid="225305"/>
                                        </p:tgtEl>
                                        <p:attrNameLst>
                                          <p:attrName>style.visibility</p:attrName>
                                        </p:attrNameLst>
                                      </p:cBhvr>
                                      <p:to>
                                        <p:strVal val="visible"/>
                                      </p:to>
                                    </p:set>
                                    <p:animEffect transition="in" filter="box(in)">
                                      <p:cBhvr>
                                        <p:cTn id="65" dur="500"/>
                                        <p:tgtEl>
                                          <p:spTgt spid="225305"/>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225284"/>
                                        </p:tgtEl>
                                        <p:attrNameLst>
                                          <p:attrName>style.visibility</p:attrName>
                                        </p:attrNameLst>
                                      </p:cBhvr>
                                      <p:to>
                                        <p:strVal val="visible"/>
                                      </p:to>
                                    </p:set>
                                    <p:animEffect transition="in" filter="dissolve">
                                      <p:cBhvr>
                                        <p:cTn id="70" dur="500"/>
                                        <p:tgtEl>
                                          <p:spTgt spid="225284"/>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42" fill="hold" nodeType="clickEffect">
                                  <p:stCondLst>
                                    <p:cond delay="0"/>
                                  </p:stCondLst>
                                  <p:childTnLst>
                                    <p:set>
                                      <p:cBhvr>
                                        <p:cTn id="74" dur="1" fill="hold">
                                          <p:stCondLst>
                                            <p:cond delay="0"/>
                                          </p:stCondLst>
                                        </p:cTn>
                                        <p:tgtEl>
                                          <p:spTgt spid="225289"/>
                                        </p:tgtEl>
                                        <p:attrNameLst>
                                          <p:attrName>style.visibility</p:attrName>
                                        </p:attrNameLst>
                                      </p:cBhvr>
                                      <p:to>
                                        <p:strVal val="visible"/>
                                      </p:to>
                                    </p:set>
                                    <p:animEffect transition="in" filter="barn(outHorizontal)">
                                      <p:cBhvr>
                                        <p:cTn id="75" dur="500"/>
                                        <p:tgtEl>
                                          <p:spTgt spid="225289"/>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32" fill="hold" nodeType="clickEffect">
                                  <p:stCondLst>
                                    <p:cond delay="0"/>
                                  </p:stCondLst>
                                  <p:childTnLst>
                                    <p:set>
                                      <p:cBhvr>
                                        <p:cTn id="79" dur="1" fill="hold">
                                          <p:stCondLst>
                                            <p:cond delay="0"/>
                                          </p:stCondLst>
                                        </p:cTn>
                                        <p:tgtEl>
                                          <p:spTgt spid="225294"/>
                                        </p:tgtEl>
                                        <p:attrNameLst>
                                          <p:attrName>style.visibility</p:attrName>
                                        </p:attrNameLst>
                                      </p:cBhvr>
                                      <p:to>
                                        <p:strVal val="visible"/>
                                      </p:to>
                                    </p:set>
                                    <p:animEffect transition="in" filter="box(out)">
                                      <p:cBhvr>
                                        <p:cTn id="80" dur="500"/>
                                        <p:tgtEl>
                                          <p:spTgt spid="225294"/>
                                        </p:tgtEl>
                                      </p:cBhvr>
                                    </p:animEffect>
                                  </p:childTnLst>
                                </p:cTn>
                              </p:par>
                            </p:childTnLst>
                          </p:cTn>
                        </p:par>
                        <p:par>
                          <p:cTn id="81" fill="hold">
                            <p:stCondLst>
                              <p:cond delay="500"/>
                            </p:stCondLst>
                            <p:childTnLst>
                              <p:par>
                                <p:cTn id="82" presetID="2" presetClass="entr" presetSubtype="8" fill="hold" nodeType="afterEffect">
                                  <p:stCondLst>
                                    <p:cond delay="0"/>
                                  </p:stCondLst>
                                  <p:childTnLst>
                                    <p:set>
                                      <p:cBhvr>
                                        <p:cTn id="83" dur="1" fill="hold">
                                          <p:stCondLst>
                                            <p:cond delay="0"/>
                                          </p:stCondLst>
                                        </p:cTn>
                                        <p:tgtEl>
                                          <p:spTgt spid="225301"/>
                                        </p:tgtEl>
                                        <p:attrNameLst>
                                          <p:attrName>style.visibility</p:attrName>
                                        </p:attrNameLst>
                                      </p:cBhvr>
                                      <p:to>
                                        <p:strVal val="visible"/>
                                      </p:to>
                                    </p:set>
                                    <p:anim calcmode="lin" valueType="num">
                                      <p:cBhvr additive="base">
                                        <p:cTn id="84" dur="500" fill="hold"/>
                                        <p:tgtEl>
                                          <p:spTgt spid="225301"/>
                                        </p:tgtEl>
                                        <p:attrNameLst>
                                          <p:attrName>ppt_x</p:attrName>
                                        </p:attrNameLst>
                                      </p:cBhvr>
                                      <p:tavLst>
                                        <p:tav tm="0">
                                          <p:val>
                                            <p:strVal val="0-#ppt_w/2"/>
                                          </p:val>
                                        </p:tav>
                                        <p:tav tm="100000">
                                          <p:val>
                                            <p:strVal val="#ppt_x"/>
                                          </p:val>
                                        </p:tav>
                                      </p:tavLst>
                                    </p:anim>
                                    <p:anim calcmode="lin" valueType="num">
                                      <p:cBhvr additive="base">
                                        <p:cTn id="85" dur="500" fill="hold"/>
                                        <p:tgtEl>
                                          <p:spTgt spid="225301"/>
                                        </p:tgtEl>
                                        <p:attrNameLst>
                                          <p:attrName>ppt_y</p:attrName>
                                        </p:attrNameLst>
                                      </p:cBhvr>
                                      <p:tavLst>
                                        <p:tav tm="0">
                                          <p:val>
                                            <p:strVal val="#ppt_y"/>
                                          </p:val>
                                        </p:tav>
                                        <p:tav tm="100000">
                                          <p:val>
                                            <p:strVal val="#ppt_y"/>
                                          </p:val>
                                        </p:tav>
                                      </p:tavLst>
                                    </p:anim>
                                  </p:childTnLst>
                                </p:cTn>
                              </p:par>
                            </p:childTnLst>
                          </p:cTn>
                        </p:par>
                        <p:par>
                          <p:cTn id="86" fill="hold">
                            <p:stCondLst>
                              <p:cond delay="1000"/>
                            </p:stCondLst>
                            <p:childTnLst>
                              <p:par>
                                <p:cTn id="87" presetID="2" presetClass="entr" presetSubtype="8" fill="hold" nodeType="afterEffect">
                                  <p:stCondLst>
                                    <p:cond delay="0"/>
                                  </p:stCondLst>
                                  <p:childTnLst>
                                    <p:set>
                                      <p:cBhvr>
                                        <p:cTn id="88" dur="1" fill="hold">
                                          <p:stCondLst>
                                            <p:cond delay="0"/>
                                          </p:stCondLst>
                                        </p:cTn>
                                        <p:tgtEl>
                                          <p:spTgt spid="225302"/>
                                        </p:tgtEl>
                                        <p:attrNameLst>
                                          <p:attrName>style.visibility</p:attrName>
                                        </p:attrNameLst>
                                      </p:cBhvr>
                                      <p:to>
                                        <p:strVal val="visible"/>
                                      </p:to>
                                    </p:set>
                                    <p:anim calcmode="lin" valueType="num">
                                      <p:cBhvr additive="base">
                                        <p:cTn id="89" dur="500" fill="hold"/>
                                        <p:tgtEl>
                                          <p:spTgt spid="225302"/>
                                        </p:tgtEl>
                                        <p:attrNameLst>
                                          <p:attrName>ppt_x</p:attrName>
                                        </p:attrNameLst>
                                      </p:cBhvr>
                                      <p:tavLst>
                                        <p:tav tm="0">
                                          <p:val>
                                            <p:strVal val="0-#ppt_w/2"/>
                                          </p:val>
                                        </p:tav>
                                        <p:tav tm="100000">
                                          <p:val>
                                            <p:strVal val="#ppt_x"/>
                                          </p:val>
                                        </p:tav>
                                      </p:tavLst>
                                    </p:anim>
                                    <p:anim calcmode="lin" valueType="num">
                                      <p:cBhvr additive="base">
                                        <p:cTn id="90" dur="500" fill="hold"/>
                                        <p:tgtEl>
                                          <p:spTgt spid="225302"/>
                                        </p:tgtEl>
                                        <p:attrNameLst>
                                          <p:attrName>ppt_y</p:attrName>
                                        </p:attrNameLst>
                                      </p:cBhvr>
                                      <p:tavLst>
                                        <p:tav tm="0">
                                          <p:val>
                                            <p:strVal val="#ppt_y"/>
                                          </p:val>
                                        </p:tav>
                                        <p:tav tm="100000">
                                          <p:val>
                                            <p:strVal val="#ppt_y"/>
                                          </p:val>
                                        </p:tav>
                                      </p:tavLst>
                                    </p:anim>
                                  </p:childTnLst>
                                </p:cTn>
                              </p:par>
                            </p:childTnLst>
                          </p:cTn>
                        </p:par>
                        <p:par>
                          <p:cTn id="91" fill="hold">
                            <p:stCondLst>
                              <p:cond delay="1500"/>
                            </p:stCondLst>
                            <p:childTnLst>
                              <p:par>
                                <p:cTn id="92" presetID="4" presetClass="entr" presetSubtype="32" fill="hold" nodeType="afterEffect">
                                  <p:stCondLst>
                                    <p:cond delay="0"/>
                                  </p:stCondLst>
                                  <p:childTnLst>
                                    <p:set>
                                      <p:cBhvr>
                                        <p:cTn id="93" dur="1" fill="hold">
                                          <p:stCondLst>
                                            <p:cond delay="0"/>
                                          </p:stCondLst>
                                        </p:cTn>
                                        <p:tgtEl>
                                          <p:spTgt spid="225307"/>
                                        </p:tgtEl>
                                        <p:attrNameLst>
                                          <p:attrName>style.visibility</p:attrName>
                                        </p:attrNameLst>
                                      </p:cBhvr>
                                      <p:to>
                                        <p:strVal val="visible"/>
                                      </p:to>
                                    </p:set>
                                    <p:animEffect transition="in" filter="box(out)">
                                      <p:cBhvr>
                                        <p:cTn id="94" dur="500"/>
                                        <p:tgtEl>
                                          <p:spTgt spid="225307"/>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225288"/>
                                        </p:tgtEl>
                                        <p:attrNameLst>
                                          <p:attrName>style.visibility</p:attrName>
                                        </p:attrNameLst>
                                      </p:cBhvr>
                                      <p:to>
                                        <p:strVal val="visible"/>
                                      </p:to>
                                    </p:set>
                                    <p:animEffect transition="in" filter="wipe(up)">
                                      <p:cBhvr>
                                        <p:cTn id="99" dur="500"/>
                                        <p:tgtEl>
                                          <p:spTgt spid="225288"/>
                                        </p:tgtEl>
                                      </p:cBhvr>
                                    </p:animEffect>
                                  </p:childTnLst>
                                </p:cTn>
                              </p:par>
                            </p:childTnLst>
                          </p:cTn>
                        </p:par>
                      </p:childTnLst>
                    </p:cTn>
                  </p:par>
                  <p:par>
                    <p:cTn id="100" fill="hold">
                      <p:stCondLst>
                        <p:cond delay="indefinite"/>
                      </p:stCondLst>
                      <p:childTnLst>
                        <p:par>
                          <p:cTn id="101" fill="hold">
                            <p:stCondLst>
                              <p:cond delay="0"/>
                            </p:stCondLst>
                            <p:childTnLst>
                              <p:par>
                                <p:cTn id="102" presetID="4" presetClass="entr" presetSubtype="16" fill="hold" nodeType="clickEffect">
                                  <p:stCondLst>
                                    <p:cond delay="0"/>
                                  </p:stCondLst>
                                  <p:childTnLst>
                                    <p:set>
                                      <p:cBhvr>
                                        <p:cTn id="103" dur="1" fill="hold">
                                          <p:stCondLst>
                                            <p:cond delay="0"/>
                                          </p:stCondLst>
                                        </p:cTn>
                                        <p:tgtEl>
                                          <p:spTgt spid="225295"/>
                                        </p:tgtEl>
                                        <p:attrNameLst>
                                          <p:attrName>style.visibility</p:attrName>
                                        </p:attrNameLst>
                                      </p:cBhvr>
                                      <p:to>
                                        <p:strVal val="visible"/>
                                      </p:to>
                                    </p:set>
                                    <p:animEffect transition="in" filter="box(in)">
                                      <p:cBhvr>
                                        <p:cTn id="104" dur="500"/>
                                        <p:tgtEl>
                                          <p:spTgt spid="225295"/>
                                        </p:tgtEl>
                                      </p:cBhvr>
                                    </p:animEffect>
                                  </p:childTnLst>
                                </p:cTn>
                              </p:par>
                            </p:childTnLst>
                          </p:cTn>
                        </p:par>
                        <p:par>
                          <p:cTn id="105" fill="hold">
                            <p:stCondLst>
                              <p:cond delay="500"/>
                            </p:stCondLst>
                            <p:childTnLst>
                              <p:par>
                                <p:cTn id="106" presetID="2" presetClass="entr" presetSubtype="8" fill="hold" nodeType="afterEffect">
                                  <p:stCondLst>
                                    <p:cond delay="0"/>
                                  </p:stCondLst>
                                  <p:childTnLst>
                                    <p:set>
                                      <p:cBhvr>
                                        <p:cTn id="107" dur="1" fill="hold">
                                          <p:stCondLst>
                                            <p:cond delay="0"/>
                                          </p:stCondLst>
                                        </p:cTn>
                                        <p:tgtEl>
                                          <p:spTgt spid="225299"/>
                                        </p:tgtEl>
                                        <p:attrNameLst>
                                          <p:attrName>style.visibility</p:attrName>
                                        </p:attrNameLst>
                                      </p:cBhvr>
                                      <p:to>
                                        <p:strVal val="visible"/>
                                      </p:to>
                                    </p:set>
                                    <p:anim calcmode="lin" valueType="num">
                                      <p:cBhvr additive="base">
                                        <p:cTn id="108" dur="500" fill="hold"/>
                                        <p:tgtEl>
                                          <p:spTgt spid="225299"/>
                                        </p:tgtEl>
                                        <p:attrNameLst>
                                          <p:attrName>ppt_x</p:attrName>
                                        </p:attrNameLst>
                                      </p:cBhvr>
                                      <p:tavLst>
                                        <p:tav tm="0">
                                          <p:val>
                                            <p:strVal val="0-#ppt_w/2"/>
                                          </p:val>
                                        </p:tav>
                                        <p:tav tm="100000">
                                          <p:val>
                                            <p:strVal val="#ppt_x"/>
                                          </p:val>
                                        </p:tav>
                                      </p:tavLst>
                                    </p:anim>
                                    <p:anim calcmode="lin" valueType="num">
                                      <p:cBhvr additive="base">
                                        <p:cTn id="109" dur="500" fill="hold"/>
                                        <p:tgtEl>
                                          <p:spTgt spid="225299"/>
                                        </p:tgtEl>
                                        <p:attrNameLst>
                                          <p:attrName>ppt_y</p:attrName>
                                        </p:attrNameLst>
                                      </p:cBhvr>
                                      <p:tavLst>
                                        <p:tav tm="0">
                                          <p:val>
                                            <p:strVal val="#ppt_y"/>
                                          </p:val>
                                        </p:tav>
                                        <p:tav tm="100000">
                                          <p:val>
                                            <p:strVal val="#ppt_y"/>
                                          </p:val>
                                        </p:tav>
                                      </p:tavLst>
                                    </p:anim>
                                  </p:childTnLst>
                                </p:cTn>
                              </p:par>
                            </p:childTnLst>
                          </p:cTn>
                        </p:par>
                        <p:par>
                          <p:cTn id="110" fill="hold">
                            <p:stCondLst>
                              <p:cond delay="1000"/>
                            </p:stCondLst>
                            <p:childTnLst>
                              <p:par>
                                <p:cTn id="111" presetID="2" presetClass="entr" presetSubtype="8" fill="hold" nodeType="afterEffect">
                                  <p:stCondLst>
                                    <p:cond delay="0"/>
                                  </p:stCondLst>
                                  <p:childTnLst>
                                    <p:set>
                                      <p:cBhvr>
                                        <p:cTn id="112" dur="1" fill="hold">
                                          <p:stCondLst>
                                            <p:cond delay="0"/>
                                          </p:stCondLst>
                                        </p:cTn>
                                        <p:tgtEl>
                                          <p:spTgt spid="225300"/>
                                        </p:tgtEl>
                                        <p:attrNameLst>
                                          <p:attrName>style.visibility</p:attrName>
                                        </p:attrNameLst>
                                      </p:cBhvr>
                                      <p:to>
                                        <p:strVal val="visible"/>
                                      </p:to>
                                    </p:set>
                                    <p:anim calcmode="lin" valueType="num">
                                      <p:cBhvr additive="base">
                                        <p:cTn id="113" dur="500" fill="hold"/>
                                        <p:tgtEl>
                                          <p:spTgt spid="225300"/>
                                        </p:tgtEl>
                                        <p:attrNameLst>
                                          <p:attrName>ppt_x</p:attrName>
                                        </p:attrNameLst>
                                      </p:cBhvr>
                                      <p:tavLst>
                                        <p:tav tm="0">
                                          <p:val>
                                            <p:strVal val="0-#ppt_w/2"/>
                                          </p:val>
                                        </p:tav>
                                        <p:tav tm="100000">
                                          <p:val>
                                            <p:strVal val="#ppt_x"/>
                                          </p:val>
                                        </p:tav>
                                      </p:tavLst>
                                    </p:anim>
                                    <p:anim calcmode="lin" valueType="num">
                                      <p:cBhvr additive="base">
                                        <p:cTn id="114" dur="500" fill="hold"/>
                                        <p:tgtEl>
                                          <p:spTgt spid="225300"/>
                                        </p:tgtEl>
                                        <p:attrNameLst>
                                          <p:attrName>ppt_y</p:attrName>
                                        </p:attrNameLst>
                                      </p:cBhvr>
                                      <p:tavLst>
                                        <p:tav tm="0">
                                          <p:val>
                                            <p:strVal val="#ppt_y"/>
                                          </p:val>
                                        </p:tav>
                                        <p:tav tm="100000">
                                          <p:val>
                                            <p:strVal val="#ppt_y"/>
                                          </p:val>
                                        </p:tav>
                                      </p:tavLst>
                                    </p:anim>
                                  </p:childTnLst>
                                </p:cTn>
                              </p:par>
                            </p:childTnLst>
                          </p:cTn>
                        </p:par>
                        <p:par>
                          <p:cTn id="115" fill="hold">
                            <p:stCondLst>
                              <p:cond delay="1500"/>
                            </p:stCondLst>
                            <p:childTnLst>
                              <p:par>
                                <p:cTn id="116" presetID="4" presetClass="entr" presetSubtype="16" fill="hold" nodeType="afterEffect">
                                  <p:stCondLst>
                                    <p:cond delay="0"/>
                                  </p:stCondLst>
                                  <p:childTnLst>
                                    <p:set>
                                      <p:cBhvr>
                                        <p:cTn id="117" dur="1" fill="hold">
                                          <p:stCondLst>
                                            <p:cond delay="0"/>
                                          </p:stCondLst>
                                        </p:cTn>
                                        <p:tgtEl>
                                          <p:spTgt spid="225306"/>
                                        </p:tgtEl>
                                        <p:attrNameLst>
                                          <p:attrName>style.visibility</p:attrName>
                                        </p:attrNameLst>
                                      </p:cBhvr>
                                      <p:to>
                                        <p:strVal val="visible"/>
                                      </p:to>
                                    </p:set>
                                    <p:animEffect transition="in" filter="box(in)">
                                      <p:cBhvr>
                                        <p:cTn id="118" dur="500"/>
                                        <p:tgtEl>
                                          <p:spTgt spid="225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bldLvl="0" animBg="1"/>
      <p:bldP spid="225285" grpId="0" build="p"/>
      <p:bldP spid="225287" grpId="0" bldLvl="0" animBg="1"/>
      <p:bldP spid="225288" grpId="0" bldLvl="0" animBg="1"/>
      <p:bldP spid="225309"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17"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graphicFrame>
        <p:nvGraphicFramePr>
          <p:cNvPr id="226306" name="Object 2"/>
          <p:cNvGraphicFramePr>
            <a:graphicFrameLocks noChangeAspect="1"/>
          </p:cNvGraphicFramePr>
          <p:nvPr/>
        </p:nvGraphicFramePr>
        <p:xfrm>
          <a:off x="2743200" y="3609975"/>
          <a:ext cx="5562600" cy="2867025"/>
        </p:xfrm>
        <a:graphic>
          <a:graphicData uri="http://schemas.openxmlformats.org/presentationml/2006/ole">
            <mc:AlternateContent xmlns:mc="http://schemas.openxmlformats.org/markup-compatibility/2006">
              <mc:Choice xmlns:v="urn:schemas-microsoft-com:vml" Requires="v">
                <p:oleObj spid="_x0000_s12295" r:id="rId3" imgW="1962150" imgH="1247775" progId="Word.Document.8">
                  <p:embed/>
                </p:oleObj>
              </mc:Choice>
              <mc:Fallback>
                <p:oleObj r:id="rId3" imgW="1962150" imgH="1247775" progId="Word.Document.8">
                  <p:embed/>
                  <p:pic>
                    <p:nvPicPr>
                      <p:cNvPr id="0" name="图片 3201"/>
                      <p:cNvPicPr/>
                      <p:nvPr/>
                    </p:nvPicPr>
                    <p:blipFill>
                      <a:blip r:embed="rId4"/>
                      <a:stretch>
                        <a:fillRect/>
                      </a:stretch>
                    </p:blipFill>
                    <p:spPr>
                      <a:xfrm>
                        <a:off x="2743200" y="3609975"/>
                        <a:ext cx="5562600" cy="2867025"/>
                      </a:xfrm>
                      <a:prstGeom prst="rect">
                        <a:avLst/>
                      </a:prstGeom>
                      <a:solidFill>
                        <a:srgbClr val="D9FFEC"/>
                      </a:solidFill>
                      <a:ln w="38100">
                        <a:noFill/>
                        <a:miter/>
                      </a:ln>
                    </p:spPr>
                  </p:pic>
                </p:oleObj>
              </mc:Fallback>
            </mc:AlternateContent>
          </a:graphicData>
        </a:graphic>
      </p:graphicFrame>
      <p:sp>
        <p:nvSpPr>
          <p:cNvPr id="226307" name="Text Box 3"/>
          <p:cNvSpPr txBox="1"/>
          <p:nvPr/>
        </p:nvSpPr>
        <p:spPr>
          <a:xfrm>
            <a:off x="1828800" y="625475"/>
            <a:ext cx="8610600" cy="368300"/>
          </a:xfrm>
          <a:prstGeom prst="rect">
            <a:avLst/>
          </a:prstGeom>
          <a:solidFill>
            <a:schemeClr val="bg1"/>
          </a:solidFill>
          <a:ln w="9525">
            <a:noFill/>
          </a:ln>
        </p:spPr>
        <p:txBody>
          <a:bodyPr lIns="0" rIns="0" anchor="t" anchorCtr="0">
            <a:spAutoFit/>
          </a:bodyPr>
          <a:lstStyle/>
          <a:p>
            <a:pPr>
              <a:spcBef>
                <a:spcPct val="50000"/>
              </a:spcBef>
              <a:buFont typeface="Wingdings" panose="05000000000000000000" pitchFamily="2" charset="2"/>
              <a:buChar char="l"/>
            </a:pPr>
            <a:r>
              <a:rPr lang="zh-CN" altLang="en-US" dirty="0">
                <a:latin typeface="Times New Roman" panose="02020603050405020304" pitchFamily="18" charset="0"/>
                <a:ea typeface="宋体" panose="02010600030101010101" pitchFamily="2" charset="-122"/>
              </a:rPr>
              <a:t>　任何</a:t>
            </a:r>
            <a:r>
              <a:rPr lang="en-US" altLang="zh-CN" dirty="0">
                <a:latin typeface="Times New Roman" panose="02020603050405020304" pitchFamily="18" charset="0"/>
                <a:ea typeface="宋体" panose="02010600030101010101" pitchFamily="2" charset="-122"/>
              </a:rPr>
              <a:t>4</a:t>
            </a:r>
            <a:r>
              <a:rPr lang="zh-CN" altLang="en-US" dirty="0">
                <a:latin typeface="Times New Roman" panose="02020603050405020304" pitchFamily="18" charset="0"/>
                <a:ea typeface="宋体" panose="02010600030101010101" pitchFamily="2" charset="-122"/>
              </a:rPr>
              <a:t>个（</a:t>
            </a:r>
            <a:r>
              <a:rPr lang="en-US" altLang="zh-CN" dirty="0">
                <a:latin typeface="Times New Roman" panose="02020603050405020304" pitchFamily="18" charset="0"/>
                <a:ea typeface="宋体" panose="02010600030101010101" pitchFamily="2" charset="-122"/>
              </a:rPr>
              <a:t>2</a:t>
            </a:r>
            <a:r>
              <a:rPr lang="en-US" altLang="zh-CN" baseline="30000"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个）标</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的相邻最小项，可以合并为一项，并消去</a:t>
            </a:r>
            <a:r>
              <a:rPr lang="en-US" altLang="zh-CN" dirty="0">
                <a:latin typeface="Times New Roman" panose="02020603050405020304" pitchFamily="18" charset="0"/>
                <a:ea typeface="宋体" panose="02010600030101010101" pitchFamily="2" charset="-122"/>
              </a:rPr>
              <a:t>2</a:t>
            </a:r>
            <a:r>
              <a:rPr lang="zh-CN" altLang="en-US" dirty="0">
                <a:latin typeface="Times New Roman" panose="02020603050405020304" pitchFamily="18" charset="0"/>
                <a:ea typeface="宋体" panose="02010600030101010101" pitchFamily="2" charset="-122"/>
              </a:rPr>
              <a:t>个变量。</a:t>
            </a:r>
          </a:p>
        </p:txBody>
      </p:sp>
      <p:graphicFrame>
        <p:nvGraphicFramePr>
          <p:cNvPr id="226308" name="Object 4"/>
          <p:cNvGraphicFramePr>
            <a:graphicFrameLocks noChangeAspect="1"/>
          </p:cNvGraphicFramePr>
          <p:nvPr/>
        </p:nvGraphicFramePr>
        <p:xfrm>
          <a:off x="1595438" y="1393825"/>
          <a:ext cx="5484812" cy="1682750"/>
        </p:xfrm>
        <a:graphic>
          <a:graphicData uri="http://schemas.openxmlformats.org/presentationml/2006/ole">
            <mc:AlternateContent xmlns:mc="http://schemas.openxmlformats.org/markup-compatibility/2006">
              <mc:Choice xmlns:v="urn:schemas-microsoft-com:vml" Requires="v">
                <p:oleObj spid="_x0000_s12296" r:id="rId5" imgW="5486400" imgH="2590800" progId="Word.Document.8">
                  <p:embed/>
                </p:oleObj>
              </mc:Choice>
              <mc:Fallback>
                <p:oleObj r:id="rId5" imgW="5486400" imgH="2590800" progId="Word.Document.8">
                  <p:embed/>
                  <p:pic>
                    <p:nvPicPr>
                      <p:cNvPr id="0" name="图片 3203"/>
                      <p:cNvPicPr/>
                      <p:nvPr/>
                    </p:nvPicPr>
                    <p:blipFill>
                      <a:blip r:embed="rId6"/>
                      <a:stretch>
                        <a:fillRect/>
                      </a:stretch>
                    </p:blipFill>
                    <p:spPr>
                      <a:xfrm>
                        <a:off x="1595438" y="1393825"/>
                        <a:ext cx="5484812" cy="1682750"/>
                      </a:xfrm>
                      <a:prstGeom prst="rect">
                        <a:avLst/>
                      </a:prstGeom>
                      <a:solidFill>
                        <a:srgbClr val="D9FFEC"/>
                      </a:solidFill>
                      <a:ln w="38100">
                        <a:noFill/>
                        <a:miter/>
                      </a:ln>
                    </p:spPr>
                  </p:pic>
                </p:oleObj>
              </mc:Fallback>
            </mc:AlternateContent>
          </a:graphicData>
        </a:graphic>
      </p:graphicFrame>
      <p:sp>
        <p:nvSpPr>
          <p:cNvPr id="226309" name="Oval 5"/>
          <p:cNvSpPr/>
          <p:nvPr/>
        </p:nvSpPr>
        <p:spPr>
          <a:xfrm>
            <a:off x="4953000" y="2179702"/>
            <a:ext cx="1752600" cy="622172"/>
          </a:xfrm>
          <a:prstGeom prst="ellipse">
            <a:avLst/>
          </a:prstGeom>
          <a:noFill/>
          <a:ln w="38100" cap="flat" cmpd="sng">
            <a:solidFill>
              <a:schemeClr val="accent2"/>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6310" name="Rectangle 6"/>
          <p:cNvSpPr/>
          <p:nvPr/>
        </p:nvSpPr>
        <p:spPr>
          <a:xfrm>
            <a:off x="5334000" y="4921250"/>
            <a:ext cx="127000" cy="368300"/>
          </a:xfrm>
          <a:prstGeom prst="rect">
            <a:avLst/>
          </a:prstGeom>
          <a:noFill/>
          <a:ln w="38100" cap="flat" cmpd="sng">
            <a:solidFill>
              <a:srgbClr val="CC3300"/>
            </a:solidFill>
            <a:prstDash val="solid"/>
            <a:miter/>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6311" name="Rectangle 7"/>
          <p:cNvSpPr/>
          <p:nvPr/>
        </p:nvSpPr>
        <p:spPr>
          <a:xfrm>
            <a:off x="4191000" y="4797425"/>
            <a:ext cx="127000" cy="368300"/>
          </a:xfrm>
          <a:prstGeom prst="rect">
            <a:avLst/>
          </a:prstGeom>
          <a:noFill/>
          <a:ln w="38100" cap="flat" cmpd="sng">
            <a:solidFill>
              <a:schemeClr val="accent2"/>
            </a:solidFill>
            <a:prstDash val="solid"/>
            <a:miter/>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226312" name="Object 8"/>
          <p:cNvGraphicFramePr>
            <a:graphicFrameLocks noChangeAspect="1"/>
          </p:cNvGraphicFramePr>
          <p:nvPr/>
        </p:nvGraphicFramePr>
        <p:xfrm>
          <a:off x="7315200" y="1400175"/>
          <a:ext cx="3276600" cy="1447800"/>
        </p:xfrm>
        <a:graphic>
          <a:graphicData uri="http://schemas.openxmlformats.org/presentationml/2006/ole">
            <mc:AlternateContent xmlns:mc="http://schemas.openxmlformats.org/markup-compatibility/2006">
              <mc:Choice xmlns:v="urn:schemas-microsoft-com:vml" Requires="v">
                <p:oleObj spid="_x0000_s12297" r:id="rId7" imgW="1854200" imgH="698500" progId="Equation.3">
                  <p:embed/>
                </p:oleObj>
              </mc:Choice>
              <mc:Fallback>
                <p:oleObj r:id="rId7" imgW="1854200" imgH="698500" progId="Equation.3">
                  <p:embed/>
                  <p:pic>
                    <p:nvPicPr>
                      <p:cNvPr id="0" name="图片 3195"/>
                      <p:cNvPicPr/>
                      <p:nvPr/>
                    </p:nvPicPr>
                    <p:blipFill>
                      <a:blip r:embed="rId8"/>
                      <a:stretch>
                        <a:fillRect/>
                      </a:stretch>
                    </p:blipFill>
                    <p:spPr>
                      <a:xfrm>
                        <a:off x="7315200" y="1400175"/>
                        <a:ext cx="3276600" cy="1447800"/>
                      </a:xfrm>
                      <a:prstGeom prst="rect">
                        <a:avLst/>
                      </a:prstGeom>
                      <a:solidFill>
                        <a:srgbClr val="6F9AEF"/>
                      </a:solidFill>
                      <a:ln w="38100">
                        <a:noFill/>
                        <a:miter/>
                      </a:ln>
                    </p:spPr>
                  </p:pic>
                </p:oleObj>
              </mc:Fallback>
            </mc:AlternateContent>
          </a:graphicData>
        </a:graphic>
      </p:graphicFrame>
      <p:graphicFrame>
        <p:nvGraphicFramePr>
          <p:cNvPr id="226313" name="Object 9"/>
          <p:cNvGraphicFramePr>
            <a:graphicFrameLocks noChangeAspect="1"/>
          </p:cNvGraphicFramePr>
          <p:nvPr/>
        </p:nvGraphicFramePr>
        <p:xfrm>
          <a:off x="1752600" y="3000375"/>
          <a:ext cx="8458200" cy="533400"/>
        </p:xfrm>
        <a:graphic>
          <a:graphicData uri="http://schemas.openxmlformats.org/presentationml/2006/ole">
            <mc:AlternateContent xmlns:mc="http://schemas.openxmlformats.org/markup-compatibility/2006">
              <mc:Choice xmlns:v="urn:schemas-microsoft-com:vml" Requires="v">
                <p:oleObj spid="_x0000_s12298" r:id="rId9" imgW="3784600" imgH="228600" progId="Equation.3">
                  <p:embed/>
                </p:oleObj>
              </mc:Choice>
              <mc:Fallback>
                <p:oleObj r:id="rId9" imgW="3784600" imgH="228600" progId="Equation.3">
                  <p:embed/>
                  <p:pic>
                    <p:nvPicPr>
                      <p:cNvPr id="0" name="图片 3199"/>
                      <p:cNvPicPr/>
                      <p:nvPr/>
                    </p:nvPicPr>
                    <p:blipFill>
                      <a:blip r:embed="rId10"/>
                      <a:stretch>
                        <a:fillRect/>
                      </a:stretch>
                    </p:blipFill>
                    <p:spPr>
                      <a:xfrm>
                        <a:off x="1752600" y="3000375"/>
                        <a:ext cx="8458200" cy="533400"/>
                      </a:xfrm>
                      <a:prstGeom prst="rect">
                        <a:avLst/>
                      </a:prstGeom>
                      <a:solidFill>
                        <a:srgbClr val="FFFF99"/>
                      </a:solidFill>
                      <a:ln w="9525" cap="flat" cmpd="sng">
                        <a:solidFill>
                          <a:srgbClr val="66CCFF"/>
                        </a:solidFill>
                        <a:prstDash val="solid"/>
                        <a:miter/>
                        <a:headEnd type="none" w="med" len="med"/>
                        <a:tailEnd type="none" w="med" len="med"/>
                      </a:ln>
                    </p:spPr>
                  </p:pic>
                </p:oleObj>
              </mc:Fallback>
            </mc:AlternateContent>
          </a:graphicData>
        </a:graphic>
      </p:graphicFrame>
      <p:graphicFrame>
        <p:nvGraphicFramePr>
          <p:cNvPr id="226314" name="Object 10"/>
          <p:cNvGraphicFramePr>
            <a:graphicFrameLocks noChangeAspect="1"/>
          </p:cNvGraphicFramePr>
          <p:nvPr/>
        </p:nvGraphicFramePr>
        <p:xfrm>
          <a:off x="5486400" y="6276975"/>
          <a:ext cx="609600" cy="581025"/>
        </p:xfrm>
        <a:graphic>
          <a:graphicData uri="http://schemas.openxmlformats.org/presentationml/2006/ole">
            <mc:AlternateContent xmlns:mc="http://schemas.openxmlformats.org/markup-compatibility/2006">
              <mc:Choice xmlns:v="urn:schemas-microsoft-com:vml" Requires="v">
                <p:oleObj spid="_x0000_s12299" r:id="rId11" imgW="266065" imgH="215900" progId="Equation.3">
                  <p:embed/>
                </p:oleObj>
              </mc:Choice>
              <mc:Fallback>
                <p:oleObj r:id="rId11" imgW="266065" imgH="215900" progId="Equation.3">
                  <p:embed/>
                  <p:pic>
                    <p:nvPicPr>
                      <p:cNvPr id="0" name="图片 3196"/>
                      <p:cNvPicPr/>
                      <p:nvPr/>
                    </p:nvPicPr>
                    <p:blipFill>
                      <a:blip r:embed="rId12"/>
                      <a:stretch>
                        <a:fillRect/>
                      </a:stretch>
                    </p:blipFill>
                    <p:spPr>
                      <a:xfrm>
                        <a:off x="5486400" y="6276975"/>
                        <a:ext cx="609600" cy="581025"/>
                      </a:xfrm>
                      <a:prstGeom prst="rect">
                        <a:avLst/>
                      </a:prstGeom>
                      <a:solidFill>
                        <a:srgbClr val="6F9AEF"/>
                      </a:solidFill>
                      <a:ln w="38100">
                        <a:noFill/>
                        <a:miter/>
                      </a:ln>
                    </p:spPr>
                  </p:pic>
                </p:oleObj>
              </mc:Fallback>
            </mc:AlternateContent>
          </a:graphicData>
        </a:graphic>
      </p:graphicFrame>
      <p:graphicFrame>
        <p:nvGraphicFramePr>
          <p:cNvPr id="226315" name="Object 11"/>
          <p:cNvGraphicFramePr>
            <a:graphicFrameLocks noChangeAspect="1"/>
          </p:cNvGraphicFramePr>
          <p:nvPr/>
        </p:nvGraphicFramePr>
        <p:xfrm>
          <a:off x="8420100" y="4656138"/>
          <a:ext cx="571500" cy="560387"/>
        </p:xfrm>
        <a:graphic>
          <a:graphicData uri="http://schemas.openxmlformats.org/presentationml/2006/ole">
            <mc:AlternateContent xmlns:mc="http://schemas.openxmlformats.org/markup-compatibility/2006">
              <mc:Choice xmlns:v="urn:schemas-microsoft-com:vml" Requires="v">
                <p:oleObj spid="_x0000_s12300" r:id="rId13" imgW="241300" imgH="203200" progId="Equation.3">
                  <p:embed/>
                </p:oleObj>
              </mc:Choice>
              <mc:Fallback>
                <p:oleObj r:id="rId13" imgW="241300" imgH="203200" progId="Equation.3">
                  <p:embed/>
                  <p:pic>
                    <p:nvPicPr>
                      <p:cNvPr id="0" name="图片 3200"/>
                      <p:cNvPicPr/>
                      <p:nvPr/>
                    </p:nvPicPr>
                    <p:blipFill>
                      <a:blip r:embed="rId14"/>
                      <a:stretch>
                        <a:fillRect/>
                      </a:stretch>
                    </p:blipFill>
                    <p:spPr>
                      <a:xfrm>
                        <a:off x="8420100" y="4656138"/>
                        <a:ext cx="571500" cy="560387"/>
                      </a:xfrm>
                      <a:prstGeom prst="rect">
                        <a:avLst/>
                      </a:prstGeom>
                      <a:solidFill>
                        <a:srgbClr val="FFFF99"/>
                      </a:solidFill>
                      <a:ln w="38100">
                        <a:noFill/>
                        <a:miter/>
                      </a:ln>
                    </p:spPr>
                  </p:pic>
                </p:oleObj>
              </mc:Fallback>
            </mc:AlternateContent>
          </a:graphicData>
        </a:graphic>
      </p:graphicFrame>
      <p:grpSp>
        <p:nvGrpSpPr>
          <p:cNvPr id="226316" name="Group 12"/>
          <p:cNvGrpSpPr/>
          <p:nvPr/>
        </p:nvGrpSpPr>
        <p:grpSpPr>
          <a:xfrm rot="5400000">
            <a:off x="4648200" y="104775"/>
            <a:ext cx="685800" cy="4800600"/>
            <a:chOff x="1920" y="2784"/>
            <a:chExt cx="384" cy="1344"/>
          </a:xfrm>
        </p:grpSpPr>
        <p:sp>
          <p:nvSpPr>
            <p:cNvPr id="50190" name="Freeform 13"/>
            <p:cNvSpPr/>
            <p:nvPr/>
          </p:nvSpPr>
          <p:spPr>
            <a:xfrm>
              <a:off x="1920" y="2784"/>
              <a:ext cx="384" cy="384"/>
            </a:xfrm>
            <a:custGeom>
              <a:avLst/>
              <a:gdLst/>
              <a:ahLst/>
              <a:cxnLst>
                <a:cxn ang="0">
                  <a:pos x="0" y="0"/>
                </a:cxn>
                <a:cxn ang="0">
                  <a:pos x="0" y="384"/>
                </a:cxn>
                <a:cxn ang="0">
                  <a:pos x="384" y="384"/>
                </a:cxn>
                <a:cxn ang="0">
                  <a:pos x="384" y="0"/>
                </a:cxn>
              </a:cxnLst>
              <a:rect l="0" t="0" r="0" b="0"/>
              <a:pathLst>
                <a:path w="384" h="384">
                  <a:moveTo>
                    <a:pt x="0" y="0"/>
                  </a:moveTo>
                  <a:lnTo>
                    <a:pt x="0" y="384"/>
                  </a:lnTo>
                  <a:lnTo>
                    <a:pt x="384" y="384"/>
                  </a:lnTo>
                  <a:lnTo>
                    <a:pt x="384" y="0"/>
                  </a:ln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50191" name="Freeform 14"/>
            <p:cNvSpPr/>
            <p:nvPr/>
          </p:nvSpPr>
          <p:spPr>
            <a:xfrm flipV="1">
              <a:off x="1920" y="3744"/>
              <a:ext cx="384" cy="384"/>
            </a:xfrm>
            <a:custGeom>
              <a:avLst/>
              <a:gdLst/>
              <a:ahLst/>
              <a:cxnLst>
                <a:cxn ang="0">
                  <a:pos x="0" y="0"/>
                </a:cxn>
                <a:cxn ang="0">
                  <a:pos x="0" y="384"/>
                </a:cxn>
                <a:cxn ang="0">
                  <a:pos x="384" y="384"/>
                </a:cxn>
                <a:cxn ang="0">
                  <a:pos x="384" y="0"/>
                </a:cxn>
              </a:cxnLst>
              <a:rect l="0" t="0" r="0" b="0"/>
              <a:pathLst>
                <a:path w="384" h="384">
                  <a:moveTo>
                    <a:pt x="0" y="0"/>
                  </a:moveTo>
                  <a:lnTo>
                    <a:pt x="0" y="384"/>
                  </a:lnTo>
                  <a:lnTo>
                    <a:pt x="384" y="384"/>
                  </a:lnTo>
                  <a:lnTo>
                    <a:pt x="384" y="0"/>
                  </a:lnTo>
                </a:path>
              </a:pathLst>
            </a:custGeom>
            <a:noFill/>
            <a:ln w="38100" cap="flat" cmpd="sng">
              <a:solidFill>
                <a:srgbClr val="CC3300"/>
              </a:solidFill>
              <a:prstDash val="solid"/>
              <a:round/>
              <a:headEnd type="none" w="med" len="med"/>
              <a:tailEnd type="none" w="med" len="med"/>
            </a:ln>
          </p:spPr>
          <p:txBody>
            <a:bodyPr/>
            <a:lstStyle/>
            <a:p>
              <a:endParaRPr lang="zh-CN" altLang="en-US"/>
            </a:p>
          </p:txBody>
        </p:sp>
      </p:grpSp>
      <p:sp>
        <p:nvSpPr>
          <p:cNvPr id="226319" name="Text Box 15"/>
          <p:cNvSpPr txBox="1"/>
          <p:nvPr/>
        </p:nvSpPr>
        <p:spPr>
          <a:xfrm>
            <a:off x="1828800" y="152400"/>
            <a:ext cx="2590800" cy="368300"/>
          </a:xfrm>
          <a:prstGeom prst="rect">
            <a:avLst/>
          </a:prstGeom>
          <a:solidFill>
            <a:srgbClr val="FFFF00"/>
          </a:solidFill>
          <a:ln w="9525">
            <a:noFill/>
          </a:ln>
        </p:spPr>
        <p:txBody>
          <a:bodyPr anchor="t"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卡诺图的性质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6307">
                                            <p:txEl>
                                              <p:pRg st="0" end="0"/>
                                            </p:txEl>
                                          </p:spTgt>
                                        </p:tgtEl>
                                        <p:attrNameLst>
                                          <p:attrName>style.visibility</p:attrName>
                                        </p:attrNameLst>
                                      </p:cBhvr>
                                      <p:to>
                                        <p:strVal val="visible"/>
                                      </p:to>
                                    </p:set>
                                    <p:animEffect transition="in" filter="wipe(left)">
                                      <p:cBhvr>
                                        <p:cTn id="7" dur="500"/>
                                        <p:tgtEl>
                                          <p:spTgt spid="226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6308"/>
                                        </p:tgtEl>
                                        <p:attrNameLst>
                                          <p:attrName>style.visibility</p:attrName>
                                        </p:attrNameLst>
                                      </p:cBhvr>
                                      <p:to>
                                        <p:strVal val="visible"/>
                                      </p:to>
                                    </p:set>
                                    <p:animEffect transition="in" filter="dissolve">
                                      <p:cBhvr>
                                        <p:cTn id="12" dur="500"/>
                                        <p:tgtEl>
                                          <p:spTgt spid="22630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226316"/>
                                        </p:tgtEl>
                                        <p:attrNameLst>
                                          <p:attrName>style.visibility</p:attrName>
                                        </p:attrNameLst>
                                      </p:cBhvr>
                                      <p:to>
                                        <p:strVal val="visible"/>
                                      </p:to>
                                    </p:set>
                                    <p:animEffect transition="in" filter="barn(outHorizontal)">
                                      <p:cBhvr>
                                        <p:cTn id="17" dur="500"/>
                                        <p:tgtEl>
                                          <p:spTgt spid="22631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26312"/>
                                        </p:tgtEl>
                                        <p:attrNameLst>
                                          <p:attrName>style.visibility</p:attrName>
                                        </p:attrNameLst>
                                      </p:cBhvr>
                                      <p:to>
                                        <p:strVal val="visible"/>
                                      </p:to>
                                    </p:set>
                                    <p:anim calcmode="lin" valueType="num">
                                      <p:cBhvr additive="base">
                                        <p:cTn id="22" dur="500" fill="hold"/>
                                        <p:tgtEl>
                                          <p:spTgt spid="226312"/>
                                        </p:tgtEl>
                                        <p:attrNameLst>
                                          <p:attrName>ppt_x</p:attrName>
                                        </p:attrNameLst>
                                      </p:cBhvr>
                                      <p:tavLst>
                                        <p:tav tm="0">
                                          <p:val>
                                            <p:strVal val="1+#ppt_w/2"/>
                                          </p:val>
                                        </p:tav>
                                        <p:tav tm="100000">
                                          <p:val>
                                            <p:strVal val="#ppt_x"/>
                                          </p:val>
                                        </p:tav>
                                      </p:tavLst>
                                    </p:anim>
                                    <p:anim calcmode="lin" valueType="num">
                                      <p:cBhvr additive="base">
                                        <p:cTn id="23" dur="500" fill="hold"/>
                                        <p:tgtEl>
                                          <p:spTgt spid="22631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26309"/>
                                        </p:tgtEl>
                                        <p:attrNameLst>
                                          <p:attrName>style.visibility</p:attrName>
                                        </p:attrNameLst>
                                      </p:cBhvr>
                                      <p:to>
                                        <p:strVal val="visible"/>
                                      </p:to>
                                    </p:set>
                                    <p:animEffect transition="in" filter="wipe(left)">
                                      <p:cBhvr>
                                        <p:cTn id="28" dur="500"/>
                                        <p:tgtEl>
                                          <p:spTgt spid="22630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nodeType="clickEffect">
                                  <p:stCondLst>
                                    <p:cond delay="0"/>
                                  </p:stCondLst>
                                  <p:childTnLst>
                                    <p:set>
                                      <p:cBhvr>
                                        <p:cTn id="32" dur="1" fill="hold">
                                          <p:stCondLst>
                                            <p:cond delay="0"/>
                                          </p:stCondLst>
                                        </p:cTn>
                                        <p:tgtEl>
                                          <p:spTgt spid="226313"/>
                                        </p:tgtEl>
                                        <p:attrNameLst>
                                          <p:attrName>style.visibility</p:attrName>
                                        </p:attrNameLst>
                                      </p:cBhvr>
                                      <p:to>
                                        <p:strVal val="visible"/>
                                      </p:to>
                                    </p:set>
                                    <p:anim calcmode="lin" valueType="num">
                                      <p:cBhvr additive="base">
                                        <p:cTn id="33" dur="500" fill="hold"/>
                                        <p:tgtEl>
                                          <p:spTgt spid="226313"/>
                                        </p:tgtEl>
                                        <p:attrNameLst>
                                          <p:attrName>ppt_x</p:attrName>
                                        </p:attrNameLst>
                                      </p:cBhvr>
                                      <p:tavLst>
                                        <p:tav tm="0">
                                          <p:val>
                                            <p:strVal val="0-#ppt_w/2"/>
                                          </p:val>
                                        </p:tav>
                                        <p:tav tm="100000">
                                          <p:val>
                                            <p:strVal val="#ppt_x"/>
                                          </p:val>
                                        </p:tav>
                                      </p:tavLst>
                                    </p:anim>
                                    <p:anim calcmode="lin" valueType="num">
                                      <p:cBhvr additive="base">
                                        <p:cTn id="34" dur="500" fill="hold"/>
                                        <p:tgtEl>
                                          <p:spTgt spid="226313"/>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226306"/>
                                        </p:tgtEl>
                                        <p:attrNameLst>
                                          <p:attrName>style.visibility</p:attrName>
                                        </p:attrNameLst>
                                      </p:cBhvr>
                                      <p:to>
                                        <p:strVal val="visible"/>
                                      </p:to>
                                    </p:set>
                                    <p:animEffect transition="in" filter="dissolve">
                                      <p:cBhvr>
                                        <p:cTn id="39" dur="500"/>
                                        <p:tgtEl>
                                          <p:spTgt spid="22630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26310"/>
                                        </p:tgtEl>
                                        <p:attrNameLst>
                                          <p:attrName>style.visibility</p:attrName>
                                        </p:attrNameLst>
                                      </p:cBhvr>
                                      <p:to>
                                        <p:strVal val="visible"/>
                                      </p:to>
                                    </p:set>
                                    <p:animEffect transition="in" filter="wipe(up)">
                                      <p:cBhvr>
                                        <p:cTn id="44" dur="500"/>
                                        <p:tgtEl>
                                          <p:spTgt spid="226310"/>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26314"/>
                                        </p:tgtEl>
                                        <p:attrNameLst>
                                          <p:attrName>style.visibility</p:attrName>
                                        </p:attrNameLst>
                                      </p:cBhvr>
                                      <p:to>
                                        <p:strVal val="visible"/>
                                      </p:to>
                                    </p:set>
                                    <p:anim calcmode="lin" valueType="num">
                                      <p:cBhvr additive="base">
                                        <p:cTn id="49" dur="500" fill="hold"/>
                                        <p:tgtEl>
                                          <p:spTgt spid="226314"/>
                                        </p:tgtEl>
                                        <p:attrNameLst>
                                          <p:attrName>ppt_x</p:attrName>
                                        </p:attrNameLst>
                                      </p:cBhvr>
                                      <p:tavLst>
                                        <p:tav tm="0">
                                          <p:val>
                                            <p:strVal val="#ppt_x"/>
                                          </p:val>
                                        </p:tav>
                                        <p:tav tm="100000">
                                          <p:val>
                                            <p:strVal val="#ppt_x"/>
                                          </p:val>
                                        </p:tav>
                                      </p:tavLst>
                                    </p:anim>
                                    <p:anim calcmode="lin" valueType="num">
                                      <p:cBhvr additive="base">
                                        <p:cTn id="50" dur="500" fill="hold"/>
                                        <p:tgtEl>
                                          <p:spTgt spid="2263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26311"/>
                                        </p:tgtEl>
                                        <p:attrNameLst>
                                          <p:attrName>style.visibility</p:attrName>
                                        </p:attrNameLst>
                                      </p:cBhvr>
                                      <p:to>
                                        <p:strVal val="visible"/>
                                      </p:to>
                                    </p:set>
                                    <p:animEffect transition="in" filter="wipe(left)">
                                      <p:cBhvr>
                                        <p:cTn id="55" dur="500"/>
                                        <p:tgtEl>
                                          <p:spTgt spid="226311"/>
                                        </p:tgtEl>
                                      </p:cBhvr>
                                    </p:animEffect>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nodeType="clickEffect">
                                  <p:stCondLst>
                                    <p:cond delay="0"/>
                                  </p:stCondLst>
                                  <p:childTnLst>
                                    <p:set>
                                      <p:cBhvr>
                                        <p:cTn id="59" dur="1" fill="hold">
                                          <p:stCondLst>
                                            <p:cond delay="0"/>
                                          </p:stCondLst>
                                        </p:cTn>
                                        <p:tgtEl>
                                          <p:spTgt spid="226315"/>
                                        </p:tgtEl>
                                        <p:attrNameLst>
                                          <p:attrName>style.visibility</p:attrName>
                                        </p:attrNameLst>
                                      </p:cBhvr>
                                      <p:to>
                                        <p:strVal val="visible"/>
                                      </p:to>
                                    </p:set>
                                    <p:anim calcmode="lin" valueType="num">
                                      <p:cBhvr additive="base">
                                        <p:cTn id="60" dur="500" fill="hold"/>
                                        <p:tgtEl>
                                          <p:spTgt spid="226315"/>
                                        </p:tgtEl>
                                        <p:attrNameLst>
                                          <p:attrName>ppt_x</p:attrName>
                                        </p:attrNameLst>
                                      </p:cBhvr>
                                      <p:tavLst>
                                        <p:tav tm="0">
                                          <p:val>
                                            <p:strVal val="1+#ppt_w/2"/>
                                          </p:val>
                                        </p:tav>
                                        <p:tav tm="100000">
                                          <p:val>
                                            <p:strVal val="#ppt_x"/>
                                          </p:val>
                                        </p:tav>
                                      </p:tavLst>
                                    </p:anim>
                                    <p:anim calcmode="lin" valueType="num">
                                      <p:cBhvr additive="base">
                                        <p:cTn id="61" dur="500" fill="hold"/>
                                        <p:tgtEl>
                                          <p:spTgt spid="226315"/>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2263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uild="p" advAuto="1000"/>
      <p:bldP spid="226309" grpId="0" bldLvl="0" animBg="1"/>
      <p:bldP spid="226310" grpId="0" bldLvl="0" animBg="1"/>
      <p:bldP spid="226311" grpId="0" bldLvl="0" animBg="1"/>
      <p:bldP spid="226319"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32"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graphicFrame>
        <p:nvGraphicFramePr>
          <p:cNvPr id="227330" name="Object 2"/>
          <p:cNvGraphicFramePr>
            <a:graphicFrameLocks noChangeAspect="1"/>
          </p:cNvGraphicFramePr>
          <p:nvPr/>
        </p:nvGraphicFramePr>
        <p:xfrm>
          <a:off x="3048000" y="3619500"/>
          <a:ext cx="4800600" cy="2927350"/>
        </p:xfrm>
        <a:graphic>
          <a:graphicData uri="http://schemas.openxmlformats.org/presentationml/2006/ole">
            <mc:AlternateContent xmlns:mc="http://schemas.openxmlformats.org/markup-compatibility/2006">
              <mc:Choice xmlns:v="urn:schemas-microsoft-com:vml" Requires="v">
                <p:oleObj spid="_x0000_s13315" r:id="rId3" imgW="1524000" imgH="1247775" progId="Word.Document.8">
                  <p:embed/>
                </p:oleObj>
              </mc:Choice>
              <mc:Fallback>
                <p:oleObj r:id="rId3" imgW="1524000" imgH="1247775" progId="Word.Document.8">
                  <p:embed/>
                  <p:pic>
                    <p:nvPicPr>
                      <p:cNvPr id="0" name="图片 3173"/>
                      <p:cNvPicPr/>
                      <p:nvPr/>
                    </p:nvPicPr>
                    <p:blipFill>
                      <a:blip r:embed="rId4"/>
                      <a:stretch>
                        <a:fillRect/>
                      </a:stretch>
                    </p:blipFill>
                    <p:spPr>
                      <a:xfrm>
                        <a:off x="3048000" y="3619500"/>
                        <a:ext cx="4800600" cy="2927350"/>
                      </a:xfrm>
                      <a:prstGeom prst="rect">
                        <a:avLst/>
                      </a:prstGeom>
                      <a:solidFill>
                        <a:srgbClr val="D9FFEC"/>
                      </a:solidFill>
                      <a:ln w="38100">
                        <a:noFill/>
                        <a:miter/>
                      </a:ln>
                    </p:spPr>
                  </p:pic>
                </p:oleObj>
              </mc:Fallback>
            </mc:AlternateContent>
          </a:graphicData>
        </a:graphic>
      </p:graphicFrame>
      <p:graphicFrame>
        <p:nvGraphicFramePr>
          <p:cNvPr id="227331" name="Object 3"/>
          <p:cNvGraphicFramePr>
            <a:graphicFrameLocks noChangeAspect="1"/>
          </p:cNvGraphicFramePr>
          <p:nvPr/>
        </p:nvGraphicFramePr>
        <p:xfrm>
          <a:off x="2895600" y="495300"/>
          <a:ext cx="5029200" cy="2924175"/>
        </p:xfrm>
        <a:graphic>
          <a:graphicData uri="http://schemas.openxmlformats.org/presentationml/2006/ole">
            <mc:AlternateContent xmlns:mc="http://schemas.openxmlformats.org/markup-compatibility/2006">
              <mc:Choice xmlns:v="urn:schemas-microsoft-com:vml" Requires="v">
                <p:oleObj spid="_x0000_s13316" r:id="rId5" imgW="1514475" imgH="1200150" progId="Word.Document.8">
                  <p:embed/>
                </p:oleObj>
              </mc:Choice>
              <mc:Fallback>
                <p:oleObj r:id="rId5" imgW="1514475" imgH="1200150" progId="Word.Document.8">
                  <p:embed/>
                  <p:pic>
                    <p:nvPicPr>
                      <p:cNvPr id="0" name="图片 3171"/>
                      <p:cNvPicPr/>
                      <p:nvPr/>
                    </p:nvPicPr>
                    <p:blipFill>
                      <a:blip r:embed="rId6"/>
                      <a:stretch>
                        <a:fillRect/>
                      </a:stretch>
                    </p:blipFill>
                    <p:spPr>
                      <a:xfrm>
                        <a:off x="2895600" y="495300"/>
                        <a:ext cx="5029200" cy="2924175"/>
                      </a:xfrm>
                      <a:prstGeom prst="rect">
                        <a:avLst/>
                      </a:prstGeom>
                      <a:solidFill>
                        <a:srgbClr val="D9FFEC"/>
                      </a:solidFill>
                      <a:ln w="38100">
                        <a:noFill/>
                        <a:miter/>
                      </a:ln>
                    </p:spPr>
                  </p:pic>
                </p:oleObj>
              </mc:Fallback>
            </mc:AlternateContent>
          </a:graphicData>
        </a:graphic>
      </p:graphicFrame>
      <p:grpSp>
        <p:nvGrpSpPr>
          <p:cNvPr id="227332" name="Group 4"/>
          <p:cNvGrpSpPr/>
          <p:nvPr/>
        </p:nvGrpSpPr>
        <p:grpSpPr>
          <a:xfrm>
            <a:off x="4267200" y="1485900"/>
            <a:ext cx="3733800" cy="1219200"/>
            <a:chOff x="1728" y="768"/>
            <a:chExt cx="2352" cy="768"/>
          </a:xfrm>
        </p:grpSpPr>
        <p:sp>
          <p:nvSpPr>
            <p:cNvPr id="51206" name="Freeform 5"/>
            <p:cNvSpPr/>
            <p:nvPr/>
          </p:nvSpPr>
          <p:spPr>
            <a:xfrm>
              <a:off x="1728" y="768"/>
              <a:ext cx="616" cy="768"/>
            </a:xfrm>
            <a:custGeom>
              <a:avLst/>
              <a:gdLst/>
              <a:ahLst/>
              <a:cxnLst>
                <a:cxn ang="0">
                  <a:pos x="0" y="0"/>
                </a:cxn>
                <a:cxn ang="0">
                  <a:pos x="528" y="96"/>
                </a:cxn>
                <a:cxn ang="0">
                  <a:pos x="528" y="576"/>
                </a:cxn>
                <a:cxn ang="0">
                  <a:pos x="0" y="768"/>
                </a:cxn>
              </a:cxnLst>
              <a:rect l="0" t="0" r="0" b="0"/>
              <a:pathLst>
                <a:path w="616" h="768">
                  <a:moveTo>
                    <a:pt x="0" y="0"/>
                  </a:moveTo>
                  <a:cubicBezTo>
                    <a:pt x="220" y="0"/>
                    <a:pt x="440" y="0"/>
                    <a:pt x="528" y="96"/>
                  </a:cubicBezTo>
                  <a:cubicBezTo>
                    <a:pt x="616" y="192"/>
                    <a:pt x="616" y="464"/>
                    <a:pt x="528" y="576"/>
                  </a:cubicBezTo>
                  <a:cubicBezTo>
                    <a:pt x="440" y="688"/>
                    <a:pt x="220" y="728"/>
                    <a:pt x="0" y="768"/>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51207" name="Freeform 6"/>
            <p:cNvSpPr/>
            <p:nvPr/>
          </p:nvSpPr>
          <p:spPr>
            <a:xfrm flipH="1">
              <a:off x="3464" y="768"/>
              <a:ext cx="616" cy="768"/>
            </a:xfrm>
            <a:custGeom>
              <a:avLst/>
              <a:gdLst/>
              <a:ahLst/>
              <a:cxnLst>
                <a:cxn ang="0">
                  <a:pos x="0" y="0"/>
                </a:cxn>
                <a:cxn ang="0">
                  <a:pos x="528" y="96"/>
                </a:cxn>
                <a:cxn ang="0">
                  <a:pos x="528" y="576"/>
                </a:cxn>
                <a:cxn ang="0">
                  <a:pos x="0" y="768"/>
                </a:cxn>
              </a:cxnLst>
              <a:rect l="0" t="0" r="0" b="0"/>
              <a:pathLst>
                <a:path w="616" h="768">
                  <a:moveTo>
                    <a:pt x="0" y="0"/>
                  </a:moveTo>
                  <a:cubicBezTo>
                    <a:pt x="220" y="0"/>
                    <a:pt x="440" y="0"/>
                    <a:pt x="528" y="96"/>
                  </a:cubicBezTo>
                  <a:cubicBezTo>
                    <a:pt x="616" y="192"/>
                    <a:pt x="616" y="464"/>
                    <a:pt x="528" y="576"/>
                  </a:cubicBezTo>
                  <a:cubicBezTo>
                    <a:pt x="440" y="688"/>
                    <a:pt x="220" y="728"/>
                    <a:pt x="0" y="768"/>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grpSp>
      <p:grpSp>
        <p:nvGrpSpPr>
          <p:cNvPr id="227335" name="Group 7"/>
          <p:cNvGrpSpPr/>
          <p:nvPr/>
        </p:nvGrpSpPr>
        <p:grpSpPr>
          <a:xfrm>
            <a:off x="5105400" y="1028700"/>
            <a:ext cx="2032000" cy="1993900"/>
            <a:chOff x="2256" y="480"/>
            <a:chExt cx="1280" cy="1256"/>
          </a:xfrm>
        </p:grpSpPr>
        <p:sp>
          <p:nvSpPr>
            <p:cNvPr id="51209" name="Freeform 8"/>
            <p:cNvSpPr/>
            <p:nvPr/>
          </p:nvSpPr>
          <p:spPr>
            <a:xfrm>
              <a:off x="2272" y="480"/>
              <a:ext cx="1264" cy="392"/>
            </a:xfrm>
            <a:custGeom>
              <a:avLst/>
              <a:gdLst/>
              <a:ahLst/>
              <a:cxnLst>
                <a:cxn ang="0">
                  <a:pos x="32" y="0"/>
                </a:cxn>
                <a:cxn ang="0">
                  <a:pos x="176" y="336"/>
                </a:cxn>
                <a:cxn ang="0">
                  <a:pos x="1088" y="336"/>
                </a:cxn>
                <a:cxn ang="0">
                  <a:pos x="1232" y="0"/>
                </a:cxn>
              </a:cxnLst>
              <a:rect l="0" t="0" r="0" b="0"/>
              <a:pathLst>
                <a:path w="1264" h="392">
                  <a:moveTo>
                    <a:pt x="32" y="0"/>
                  </a:moveTo>
                  <a:cubicBezTo>
                    <a:pt x="16" y="140"/>
                    <a:pt x="0" y="280"/>
                    <a:pt x="176" y="336"/>
                  </a:cubicBezTo>
                  <a:cubicBezTo>
                    <a:pt x="352" y="392"/>
                    <a:pt x="912" y="392"/>
                    <a:pt x="1088" y="336"/>
                  </a:cubicBezTo>
                  <a:cubicBezTo>
                    <a:pt x="1264" y="280"/>
                    <a:pt x="1248" y="140"/>
                    <a:pt x="1232" y="0"/>
                  </a:cubicBezTo>
                </a:path>
              </a:pathLst>
            </a:custGeom>
            <a:noFill/>
            <a:ln w="38100" cap="flat" cmpd="sng">
              <a:solidFill>
                <a:srgbClr val="0000FF"/>
              </a:solidFill>
              <a:prstDash val="solid"/>
              <a:round/>
              <a:headEnd type="none" w="med" len="med"/>
              <a:tailEnd type="none" w="med" len="med"/>
            </a:ln>
          </p:spPr>
          <p:txBody>
            <a:bodyPr/>
            <a:lstStyle/>
            <a:p>
              <a:endParaRPr lang="zh-CN" altLang="en-US"/>
            </a:p>
          </p:txBody>
        </p:sp>
        <p:sp>
          <p:nvSpPr>
            <p:cNvPr id="51210" name="Freeform 9"/>
            <p:cNvSpPr/>
            <p:nvPr/>
          </p:nvSpPr>
          <p:spPr>
            <a:xfrm flipV="1">
              <a:off x="2256" y="1344"/>
              <a:ext cx="1264" cy="392"/>
            </a:xfrm>
            <a:custGeom>
              <a:avLst/>
              <a:gdLst/>
              <a:ahLst/>
              <a:cxnLst>
                <a:cxn ang="0">
                  <a:pos x="32" y="0"/>
                </a:cxn>
                <a:cxn ang="0">
                  <a:pos x="176" y="336"/>
                </a:cxn>
                <a:cxn ang="0">
                  <a:pos x="1088" y="336"/>
                </a:cxn>
                <a:cxn ang="0">
                  <a:pos x="1232" y="0"/>
                </a:cxn>
              </a:cxnLst>
              <a:rect l="0" t="0" r="0" b="0"/>
              <a:pathLst>
                <a:path w="1264" h="392">
                  <a:moveTo>
                    <a:pt x="32" y="0"/>
                  </a:moveTo>
                  <a:cubicBezTo>
                    <a:pt x="16" y="140"/>
                    <a:pt x="0" y="280"/>
                    <a:pt x="176" y="336"/>
                  </a:cubicBezTo>
                  <a:cubicBezTo>
                    <a:pt x="352" y="392"/>
                    <a:pt x="912" y="392"/>
                    <a:pt x="1088" y="336"/>
                  </a:cubicBezTo>
                  <a:cubicBezTo>
                    <a:pt x="1264" y="280"/>
                    <a:pt x="1248" y="140"/>
                    <a:pt x="1232" y="0"/>
                  </a:cubicBezTo>
                </a:path>
              </a:pathLst>
            </a:custGeom>
            <a:noFill/>
            <a:ln w="38100" cap="flat" cmpd="sng">
              <a:solidFill>
                <a:srgbClr val="0000FF"/>
              </a:solidFill>
              <a:prstDash val="solid"/>
              <a:round/>
              <a:headEnd type="none" w="med" len="med"/>
              <a:tailEnd type="none" w="med" len="med"/>
            </a:ln>
          </p:spPr>
          <p:txBody>
            <a:bodyPr/>
            <a:lstStyle/>
            <a:p>
              <a:endParaRPr lang="zh-CN" altLang="en-US"/>
            </a:p>
          </p:txBody>
        </p:sp>
      </p:grpSp>
      <p:sp>
        <p:nvSpPr>
          <p:cNvPr id="227338" name="AutoShape 10"/>
          <p:cNvSpPr/>
          <p:nvPr/>
        </p:nvSpPr>
        <p:spPr>
          <a:xfrm>
            <a:off x="5486400" y="4914713"/>
            <a:ext cx="1295400" cy="457574"/>
          </a:xfrm>
          <a:prstGeom prst="roundRect">
            <a:avLst>
              <a:gd name="adj" fmla="val 16667"/>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27339" name="Group 11"/>
          <p:cNvGrpSpPr/>
          <p:nvPr/>
        </p:nvGrpSpPr>
        <p:grpSpPr>
          <a:xfrm>
            <a:off x="4267200" y="4000500"/>
            <a:ext cx="3733800" cy="2298700"/>
            <a:chOff x="1728" y="2352"/>
            <a:chExt cx="2352" cy="1448"/>
          </a:xfrm>
        </p:grpSpPr>
        <p:sp>
          <p:nvSpPr>
            <p:cNvPr id="51213" name="Freeform 12"/>
            <p:cNvSpPr/>
            <p:nvPr/>
          </p:nvSpPr>
          <p:spPr>
            <a:xfrm>
              <a:off x="1728" y="2352"/>
              <a:ext cx="616" cy="488"/>
            </a:xfrm>
            <a:custGeom>
              <a:avLst/>
              <a:gdLst/>
              <a:ahLst/>
              <a:cxnLst>
                <a:cxn ang="0">
                  <a:pos x="0" y="336"/>
                </a:cxn>
                <a:cxn ang="0">
                  <a:pos x="528" y="432"/>
                </a:cxn>
                <a:cxn ang="0">
                  <a:pos x="528" y="0"/>
                </a:cxn>
              </a:cxnLst>
              <a:rect l="0" t="0" r="0" b="0"/>
              <a:pathLst>
                <a:path w="616" h="488">
                  <a:moveTo>
                    <a:pt x="0" y="336"/>
                  </a:moveTo>
                  <a:cubicBezTo>
                    <a:pt x="220" y="412"/>
                    <a:pt x="440" y="488"/>
                    <a:pt x="528" y="432"/>
                  </a:cubicBezTo>
                  <a:cubicBezTo>
                    <a:pt x="616" y="376"/>
                    <a:pt x="572" y="188"/>
                    <a:pt x="528" y="0"/>
                  </a:cubicBezTo>
                </a:path>
              </a:pathLst>
            </a:custGeom>
            <a:noFill/>
            <a:ln w="38100" cap="flat" cmpd="sng">
              <a:solidFill>
                <a:srgbClr val="0000FF"/>
              </a:solidFill>
              <a:prstDash val="solid"/>
              <a:round/>
              <a:headEnd type="none" w="med" len="med"/>
              <a:tailEnd type="none" w="med" len="med"/>
            </a:ln>
          </p:spPr>
          <p:txBody>
            <a:bodyPr/>
            <a:lstStyle/>
            <a:p>
              <a:endParaRPr lang="zh-CN" altLang="en-US"/>
            </a:p>
          </p:txBody>
        </p:sp>
        <p:sp>
          <p:nvSpPr>
            <p:cNvPr id="51214" name="Freeform 13"/>
            <p:cNvSpPr/>
            <p:nvPr/>
          </p:nvSpPr>
          <p:spPr>
            <a:xfrm flipH="1">
              <a:off x="3464" y="2352"/>
              <a:ext cx="616" cy="488"/>
            </a:xfrm>
            <a:custGeom>
              <a:avLst/>
              <a:gdLst/>
              <a:ahLst/>
              <a:cxnLst>
                <a:cxn ang="0">
                  <a:pos x="0" y="336"/>
                </a:cxn>
                <a:cxn ang="0">
                  <a:pos x="528" y="432"/>
                </a:cxn>
                <a:cxn ang="0">
                  <a:pos x="528" y="0"/>
                </a:cxn>
              </a:cxnLst>
              <a:rect l="0" t="0" r="0" b="0"/>
              <a:pathLst>
                <a:path w="616" h="488">
                  <a:moveTo>
                    <a:pt x="0" y="336"/>
                  </a:moveTo>
                  <a:cubicBezTo>
                    <a:pt x="220" y="412"/>
                    <a:pt x="440" y="488"/>
                    <a:pt x="528" y="432"/>
                  </a:cubicBezTo>
                  <a:cubicBezTo>
                    <a:pt x="616" y="376"/>
                    <a:pt x="572" y="188"/>
                    <a:pt x="528" y="0"/>
                  </a:cubicBezTo>
                </a:path>
              </a:pathLst>
            </a:custGeom>
            <a:noFill/>
            <a:ln w="38100" cap="flat" cmpd="sng">
              <a:solidFill>
                <a:srgbClr val="0000FF"/>
              </a:solidFill>
              <a:prstDash val="solid"/>
              <a:round/>
              <a:headEnd type="none" w="med" len="med"/>
              <a:tailEnd type="none" w="med" len="med"/>
            </a:ln>
          </p:spPr>
          <p:txBody>
            <a:bodyPr/>
            <a:lstStyle/>
            <a:p>
              <a:endParaRPr lang="zh-CN" altLang="en-US"/>
            </a:p>
          </p:txBody>
        </p:sp>
        <p:sp>
          <p:nvSpPr>
            <p:cNvPr id="51215" name="Freeform 14"/>
            <p:cNvSpPr/>
            <p:nvPr/>
          </p:nvSpPr>
          <p:spPr>
            <a:xfrm flipV="1">
              <a:off x="1728" y="3304"/>
              <a:ext cx="616" cy="488"/>
            </a:xfrm>
            <a:custGeom>
              <a:avLst/>
              <a:gdLst/>
              <a:ahLst/>
              <a:cxnLst>
                <a:cxn ang="0">
                  <a:pos x="0" y="336"/>
                </a:cxn>
                <a:cxn ang="0">
                  <a:pos x="528" y="432"/>
                </a:cxn>
                <a:cxn ang="0">
                  <a:pos x="528" y="0"/>
                </a:cxn>
              </a:cxnLst>
              <a:rect l="0" t="0" r="0" b="0"/>
              <a:pathLst>
                <a:path w="616" h="488">
                  <a:moveTo>
                    <a:pt x="0" y="336"/>
                  </a:moveTo>
                  <a:cubicBezTo>
                    <a:pt x="220" y="412"/>
                    <a:pt x="440" y="488"/>
                    <a:pt x="528" y="432"/>
                  </a:cubicBezTo>
                  <a:cubicBezTo>
                    <a:pt x="616" y="376"/>
                    <a:pt x="572" y="188"/>
                    <a:pt x="528" y="0"/>
                  </a:cubicBezTo>
                </a:path>
              </a:pathLst>
            </a:custGeom>
            <a:noFill/>
            <a:ln w="38100" cap="flat" cmpd="sng">
              <a:solidFill>
                <a:srgbClr val="0000FF"/>
              </a:solidFill>
              <a:prstDash val="solid"/>
              <a:round/>
              <a:headEnd type="none" w="med" len="med"/>
              <a:tailEnd type="none" w="med" len="med"/>
            </a:ln>
          </p:spPr>
          <p:txBody>
            <a:bodyPr/>
            <a:lstStyle/>
            <a:p>
              <a:endParaRPr lang="zh-CN" altLang="en-US"/>
            </a:p>
          </p:txBody>
        </p:sp>
        <p:sp>
          <p:nvSpPr>
            <p:cNvPr id="51216" name="Freeform 15"/>
            <p:cNvSpPr/>
            <p:nvPr/>
          </p:nvSpPr>
          <p:spPr>
            <a:xfrm flipH="1" flipV="1">
              <a:off x="3464" y="3312"/>
              <a:ext cx="616" cy="488"/>
            </a:xfrm>
            <a:custGeom>
              <a:avLst/>
              <a:gdLst/>
              <a:ahLst/>
              <a:cxnLst>
                <a:cxn ang="0">
                  <a:pos x="0" y="336"/>
                </a:cxn>
                <a:cxn ang="0">
                  <a:pos x="528" y="432"/>
                </a:cxn>
                <a:cxn ang="0">
                  <a:pos x="528" y="0"/>
                </a:cxn>
              </a:cxnLst>
              <a:rect l="0" t="0" r="0" b="0"/>
              <a:pathLst>
                <a:path w="616" h="488">
                  <a:moveTo>
                    <a:pt x="0" y="336"/>
                  </a:moveTo>
                  <a:cubicBezTo>
                    <a:pt x="220" y="412"/>
                    <a:pt x="440" y="488"/>
                    <a:pt x="528" y="432"/>
                  </a:cubicBezTo>
                  <a:cubicBezTo>
                    <a:pt x="616" y="376"/>
                    <a:pt x="572" y="188"/>
                    <a:pt x="528" y="0"/>
                  </a:cubicBezTo>
                </a:path>
              </a:pathLst>
            </a:custGeom>
            <a:noFill/>
            <a:ln w="38100" cap="flat" cmpd="sng">
              <a:solidFill>
                <a:srgbClr val="0000FF"/>
              </a:solidFill>
              <a:prstDash val="solid"/>
              <a:round/>
              <a:headEnd type="none" w="med" len="med"/>
              <a:tailEnd type="none" w="med" len="med"/>
            </a:ln>
          </p:spPr>
          <p:txBody>
            <a:bodyPr/>
            <a:lstStyle/>
            <a:p>
              <a:endParaRPr lang="zh-CN" altLang="en-US"/>
            </a:p>
          </p:txBody>
        </p:sp>
      </p:grpSp>
      <p:grpSp>
        <p:nvGrpSpPr>
          <p:cNvPr id="227357" name="Group 29"/>
          <p:cNvGrpSpPr/>
          <p:nvPr/>
        </p:nvGrpSpPr>
        <p:grpSpPr>
          <a:xfrm>
            <a:off x="5638800" y="3009900"/>
            <a:ext cx="1066800" cy="368300"/>
            <a:chOff x="2592" y="1896"/>
            <a:chExt cx="672" cy="232"/>
          </a:xfrm>
        </p:grpSpPr>
        <p:sp>
          <p:nvSpPr>
            <p:cNvPr id="51218" name="Text Box 20"/>
            <p:cNvSpPr txBox="1"/>
            <p:nvPr/>
          </p:nvSpPr>
          <p:spPr>
            <a:xfrm>
              <a:off x="2592" y="1896"/>
              <a:ext cx="672" cy="232"/>
            </a:xfrm>
            <a:prstGeom prst="rect">
              <a:avLst/>
            </a:prstGeom>
            <a:noFill/>
            <a:ln w="9525">
              <a:noFill/>
            </a:ln>
          </p:spPr>
          <p:txBody>
            <a:bodyPr lIns="0" rIns="0" anchor="t" anchorCtr="0">
              <a:spAutoFit/>
            </a:bodyPr>
            <a:lstStyle/>
            <a:p>
              <a:pPr>
                <a:spcBef>
                  <a:spcPct val="50000"/>
                </a:spcBef>
              </a:pPr>
              <a:r>
                <a:rPr lang="zh-CN" altLang="en-US" dirty="0">
                  <a:solidFill>
                    <a:srgbClr val="0000FF"/>
                  </a:solidFill>
                  <a:latin typeface="Times New Roman" panose="02020603050405020304" pitchFamily="18" charset="0"/>
                  <a:ea typeface="宋体" panose="02010600030101010101" pitchFamily="2" charset="-122"/>
                </a:rPr>
                <a:t>　ＢＤ</a:t>
              </a:r>
            </a:p>
          </p:txBody>
        </p:sp>
        <p:sp>
          <p:nvSpPr>
            <p:cNvPr id="51219" name="Line 21"/>
            <p:cNvSpPr/>
            <p:nvPr/>
          </p:nvSpPr>
          <p:spPr>
            <a:xfrm>
              <a:off x="2784" y="1908"/>
              <a:ext cx="192" cy="0"/>
            </a:xfrm>
            <a:prstGeom prst="line">
              <a:avLst/>
            </a:prstGeom>
            <a:ln w="38100" cap="flat" cmpd="sng">
              <a:solidFill>
                <a:srgbClr val="0000FF"/>
              </a:solidFill>
              <a:prstDash val="solid"/>
              <a:round/>
              <a:headEnd type="none" w="med" len="med"/>
              <a:tailEnd type="none" w="med" len="med"/>
            </a:ln>
          </p:spPr>
        </p:sp>
      </p:grpSp>
      <p:sp>
        <p:nvSpPr>
          <p:cNvPr id="227350" name="Text Box 22"/>
          <p:cNvSpPr txBox="1"/>
          <p:nvPr/>
        </p:nvSpPr>
        <p:spPr>
          <a:xfrm>
            <a:off x="5943600" y="6096000"/>
            <a:ext cx="685800" cy="368300"/>
          </a:xfrm>
          <a:prstGeom prst="rect">
            <a:avLst/>
          </a:prstGeom>
          <a:noFill/>
          <a:ln w="9525">
            <a:noFill/>
          </a:ln>
        </p:spPr>
        <p:txBody>
          <a:bodyPr lIns="0" rIns="0" anchor="t" anchorCtr="0">
            <a:spAutoFit/>
          </a:bodyPr>
          <a:lstStyle/>
          <a:p>
            <a:pPr>
              <a:spcBef>
                <a:spcPct val="50000"/>
              </a:spcBef>
            </a:pPr>
            <a:r>
              <a:rPr lang="zh-CN" altLang="en-US" dirty="0">
                <a:solidFill>
                  <a:srgbClr val="CC3300"/>
                </a:solidFill>
                <a:latin typeface="Times New Roman" panose="02020603050405020304" pitchFamily="18" charset="0"/>
                <a:ea typeface="宋体" panose="02010600030101010101" pitchFamily="2" charset="-122"/>
              </a:rPr>
              <a:t>ＢＤ</a:t>
            </a:r>
            <a:endParaRPr lang="zh-CN" altLang="en-US" dirty="0">
              <a:latin typeface="Times New Roman" panose="02020603050405020304" pitchFamily="18" charset="0"/>
              <a:ea typeface="宋体" panose="02010600030101010101" pitchFamily="2" charset="-122"/>
            </a:endParaRPr>
          </a:p>
        </p:txBody>
      </p:sp>
      <p:grpSp>
        <p:nvGrpSpPr>
          <p:cNvPr id="227358" name="Group 30"/>
          <p:cNvGrpSpPr/>
          <p:nvPr/>
        </p:nvGrpSpPr>
        <p:grpSpPr>
          <a:xfrm>
            <a:off x="8150225" y="5867400"/>
            <a:ext cx="688975" cy="406400"/>
            <a:chOff x="4174" y="3696"/>
            <a:chExt cx="434" cy="256"/>
          </a:xfrm>
        </p:grpSpPr>
        <p:grpSp>
          <p:nvGrpSpPr>
            <p:cNvPr id="51222" name="Group 23"/>
            <p:cNvGrpSpPr/>
            <p:nvPr/>
          </p:nvGrpSpPr>
          <p:grpSpPr>
            <a:xfrm>
              <a:off x="4176" y="3720"/>
              <a:ext cx="432" cy="232"/>
              <a:chOff x="4272" y="3648"/>
              <a:chExt cx="432" cy="232"/>
            </a:xfrm>
          </p:grpSpPr>
          <p:sp>
            <p:nvSpPr>
              <p:cNvPr id="51223" name="Text Box 24"/>
              <p:cNvSpPr txBox="1"/>
              <p:nvPr/>
            </p:nvSpPr>
            <p:spPr>
              <a:xfrm>
                <a:off x="4272" y="3648"/>
                <a:ext cx="432" cy="232"/>
              </a:xfrm>
              <a:prstGeom prst="rect">
                <a:avLst/>
              </a:prstGeom>
              <a:noFill/>
              <a:ln w="9525">
                <a:noFill/>
              </a:ln>
            </p:spPr>
            <p:txBody>
              <a:bodyPr lIns="0" rIns="0" anchor="t" anchorCtr="0">
                <a:spAutoFit/>
              </a:bodyPr>
              <a:lstStyle/>
              <a:p>
                <a:pPr>
                  <a:spcBef>
                    <a:spcPct val="50000"/>
                  </a:spcBef>
                </a:pPr>
                <a:endParaRPr lang="zh-CN" altLang="en-US" b="0" dirty="0">
                  <a:latin typeface="Times New Roman" panose="02020603050405020304" pitchFamily="18" charset="0"/>
                  <a:ea typeface="宋体" panose="02010600030101010101" pitchFamily="2" charset="-122"/>
                </a:endParaRPr>
              </a:p>
            </p:txBody>
          </p:sp>
          <p:sp>
            <p:nvSpPr>
              <p:cNvPr id="51224" name="Line 25"/>
              <p:cNvSpPr/>
              <p:nvPr/>
            </p:nvSpPr>
            <p:spPr>
              <a:xfrm>
                <a:off x="4272" y="3648"/>
                <a:ext cx="144" cy="0"/>
              </a:xfrm>
              <a:prstGeom prst="line">
                <a:avLst/>
              </a:prstGeom>
              <a:ln w="38100" cap="flat" cmpd="sng">
                <a:solidFill>
                  <a:srgbClr val="0000FF"/>
                </a:solidFill>
                <a:prstDash val="solid"/>
                <a:round/>
                <a:headEnd type="none" w="med" len="med"/>
                <a:tailEnd type="none" w="med" len="med"/>
              </a:ln>
            </p:spPr>
          </p:sp>
          <p:sp>
            <p:nvSpPr>
              <p:cNvPr id="51225" name="Line 26"/>
              <p:cNvSpPr/>
              <p:nvPr/>
            </p:nvSpPr>
            <p:spPr>
              <a:xfrm>
                <a:off x="4476" y="3648"/>
                <a:ext cx="144" cy="0"/>
              </a:xfrm>
              <a:prstGeom prst="line">
                <a:avLst/>
              </a:prstGeom>
              <a:ln w="38100" cap="flat" cmpd="sng">
                <a:solidFill>
                  <a:srgbClr val="0000FF"/>
                </a:solidFill>
                <a:prstDash val="solid"/>
                <a:round/>
                <a:headEnd type="none" w="med" len="med"/>
                <a:tailEnd type="none" w="med" len="med"/>
              </a:ln>
            </p:spPr>
          </p:sp>
        </p:grpSp>
        <p:sp>
          <p:nvSpPr>
            <p:cNvPr id="51226" name="Rectangle 27"/>
            <p:cNvSpPr/>
            <p:nvPr/>
          </p:nvSpPr>
          <p:spPr>
            <a:xfrm>
              <a:off x="4174" y="3696"/>
              <a:ext cx="288" cy="232"/>
            </a:xfrm>
            <a:prstGeom prst="rect">
              <a:avLst/>
            </a:prstGeom>
            <a:noFill/>
            <a:ln w="9525">
              <a:noFill/>
            </a:ln>
          </p:spPr>
          <p:txBody>
            <a:bodyPr wrap="none" lIns="0" rIns="0" anchor="t" anchorCtr="0">
              <a:spAutoFit/>
            </a:bodyPr>
            <a:lstStyle/>
            <a:p>
              <a:pPr>
                <a:spcBef>
                  <a:spcPct val="50000"/>
                </a:spcBef>
              </a:pPr>
              <a:r>
                <a:rPr lang="zh-CN" altLang="en-US" dirty="0">
                  <a:solidFill>
                    <a:srgbClr val="0000FF"/>
                  </a:solidFill>
                  <a:latin typeface="Times New Roman" panose="02020603050405020304" pitchFamily="18" charset="0"/>
                  <a:ea typeface="宋体" panose="02010600030101010101" pitchFamily="2" charset="-122"/>
                </a:rPr>
                <a:t>ＢＤ</a:t>
              </a:r>
            </a:p>
          </p:txBody>
        </p:sp>
      </p:grpSp>
      <p:grpSp>
        <p:nvGrpSpPr>
          <p:cNvPr id="227359" name="Group 31"/>
          <p:cNvGrpSpPr/>
          <p:nvPr/>
        </p:nvGrpSpPr>
        <p:grpSpPr>
          <a:xfrm>
            <a:off x="8077200" y="1676400"/>
            <a:ext cx="838200" cy="749300"/>
            <a:chOff x="4560" y="1104"/>
            <a:chExt cx="528" cy="472"/>
          </a:xfrm>
        </p:grpSpPr>
        <p:grpSp>
          <p:nvGrpSpPr>
            <p:cNvPr id="51228" name="Group 16"/>
            <p:cNvGrpSpPr/>
            <p:nvPr/>
          </p:nvGrpSpPr>
          <p:grpSpPr>
            <a:xfrm rot="10800000" flipH="1" flipV="1">
              <a:off x="4656" y="1104"/>
              <a:ext cx="432" cy="282"/>
              <a:chOff x="2544" y="3702"/>
              <a:chExt cx="624" cy="18"/>
            </a:xfrm>
          </p:grpSpPr>
          <p:sp>
            <p:nvSpPr>
              <p:cNvPr id="51229" name="Text Box 17"/>
              <p:cNvSpPr txBox="1"/>
              <p:nvPr/>
            </p:nvSpPr>
            <p:spPr>
              <a:xfrm>
                <a:off x="2544" y="3702"/>
                <a:ext cx="624" cy="15"/>
              </a:xfrm>
              <a:prstGeom prst="rect">
                <a:avLst/>
              </a:prstGeom>
              <a:noFill/>
              <a:ln w="9525">
                <a:noFill/>
              </a:ln>
            </p:spPr>
            <p:txBody>
              <a:bodyPr lIns="0" rIns="0" anchor="t" anchorCtr="0">
                <a:spAutoFit/>
              </a:bodyPr>
              <a:lstStyle/>
              <a:p>
                <a:pPr>
                  <a:spcBef>
                    <a:spcPct val="50000"/>
                  </a:spcBef>
                </a:pPr>
                <a:endParaRPr lang="zh-CN" altLang="en-US" b="0" dirty="0">
                  <a:solidFill>
                    <a:srgbClr val="CC3300"/>
                  </a:solidFill>
                  <a:latin typeface="Times New Roman" panose="02020603050405020304" pitchFamily="18" charset="0"/>
                  <a:ea typeface="宋体" panose="02010600030101010101" pitchFamily="2" charset="-122"/>
                </a:endParaRPr>
              </a:p>
            </p:txBody>
          </p:sp>
          <p:sp>
            <p:nvSpPr>
              <p:cNvPr id="51230" name="Line 18"/>
              <p:cNvSpPr/>
              <p:nvPr/>
            </p:nvSpPr>
            <p:spPr>
              <a:xfrm>
                <a:off x="2544" y="3720"/>
                <a:ext cx="192" cy="0"/>
              </a:xfrm>
              <a:prstGeom prst="line">
                <a:avLst/>
              </a:prstGeom>
              <a:ln w="38100" cap="flat" cmpd="sng">
                <a:solidFill>
                  <a:srgbClr val="CC3300"/>
                </a:solidFill>
                <a:prstDash val="solid"/>
                <a:round/>
                <a:headEnd type="none" w="med" len="med"/>
                <a:tailEnd type="none" w="med" len="med"/>
              </a:ln>
            </p:spPr>
          </p:sp>
        </p:grpSp>
        <p:sp>
          <p:nvSpPr>
            <p:cNvPr id="51231" name="Rectangle 28"/>
            <p:cNvSpPr/>
            <p:nvPr/>
          </p:nvSpPr>
          <p:spPr>
            <a:xfrm>
              <a:off x="4560" y="1344"/>
              <a:ext cx="200" cy="232"/>
            </a:xfrm>
            <a:prstGeom prst="rect">
              <a:avLst/>
            </a:prstGeom>
            <a:noFill/>
            <a:ln w="9525">
              <a:noFill/>
            </a:ln>
          </p:spPr>
          <p:txBody>
            <a:bodyPr wrap="none" lIns="0" rIns="0" anchor="t" anchorCtr="0">
              <a:spAutoFit/>
            </a:bodyPr>
            <a:lstStyle/>
            <a:p>
              <a:pPr>
                <a:spcBef>
                  <a:spcPct val="50000"/>
                </a:spcBef>
              </a:pPr>
              <a:r>
                <a:rPr lang="en-GB" altLang="zh-CN" dirty="0">
                  <a:solidFill>
                    <a:srgbClr val="CC3300"/>
                  </a:solidFill>
                  <a:latin typeface="Times New Roman" panose="02020603050405020304" pitchFamily="18" charset="0"/>
                  <a:ea typeface="宋体" panose="02010600030101010101" pitchFamily="2" charset="-122"/>
                </a:rPr>
                <a:t>BD</a:t>
              </a:r>
              <a:endParaRPr lang="en-US" altLang="zh-CN" dirty="0">
                <a:solidFill>
                  <a:srgbClr val="CC3300"/>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27331"/>
                                        </p:tgtEl>
                                        <p:attrNameLst>
                                          <p:attrName>style.visibility</p:attrName>
                                        </p:attrNameLst>
                                      </p:cBhvr>
                                      <p:to>
                                        <p:strVal val="visible"/>
                                      </p:to>
                                    </p:set>
                                    <p:animEffect transition="in" filter="dissolve">
                                      <p:cBhvr>
                                        <p:cTn id="7" dur="500"/>
                                        <p:tgtEl>
                                          <p:spTgt spid="22733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227332"/>
                                        </p:tgtEl>
                                        <p:attrNameLst>
                                          <p:attrName>style.visibility</p:attrName>
                                        </p:attrNameLst>
                                      </p:cBhvr>
                                      <p:to>
                                        <p:strVal val="visible"/>
                                      </p:to>
                                    </p:set>
                                    <p:animEffect transition="in" filter="barn(outVertical)">
                                      <p:cBhvr>
                                        <p:cTn id="12" dur="500"/>
                                        <p:tgtEl>
                                          <p:spTgt spid="227332"/>
                                        </p:tgtEl>
                                      </p:cBhvr>
                                    </p:animEffect>
                                  </p:childTnLst>
                                </p:cTn>
                              </p:par>
                            </p:childTnLst>
                          </p:cTn>
                        </p:par>
                        <p:par>
                          <p:cTn id="13" fill="hold">
                            <p:stCondLst>
                              <p:cond delay="500"/>
                            </p:stCondLst>
                            <p:childTnLst>
                              <p:par>
                                <p:cTn id="14" presetID="12" presetClass="entr" presetSubtype="4" fill="hold" nodeType="afterEffect">
                                  <p:stCondLst>
                                    <p:cond delay="0"/>
                                  </p:stCondLst>
                                  <p:childTnLst>
                                    <p:set>
                                      <p:cBhvr>
                                        <p:cTn id="15" dur="1" fill="hold">
                                          <p:stCondLst>
                                            <p:cond delay="0"/>
                                          </p:stCondLst>
                                        </p:cTn>
                                        <p:tgtEl>
                                          <p:spTgt spid="227359"/>
                                        </p:tgtEl>
                                        <p:attrNameLst>
                                          <p:attrName>style.visibility</p:attrName>
                                        </p:attrNameLst>
                                      </p:cBhvr>
                                      <p:to>
                                        <p:strVal val="visible"/>
                                      </p:to>
                                    </p:set>
                                    <p:animEffect transition="in" filter="slide(fromBottom)">
                                      <p:cBhvr>
                                        <p:cTn id="16" dur="500"/>
                                        <p:tgtEl>
                                          <p:spTgt spid="227359"/>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nodeType="clickEffect">
                                  <p:stCondLst>
                                    <p:cond delay="0"/>
                                  </p:stCondLst>
                                  <p:childTnLst>
                                    <p:set>
                                      <p:cBhvr>
                                        <p:cTn id="20" dur="1" fill="hold">
                                          <p:stCondLst>
                                            <p:cond delay="0"/>
                                          </p:stCondLst>
                                        </p:cTn>
                                        <p:tgtEl>
                                          <p:spTgt spid="227335"/>
                                        </p:tgtEl>
                                        <p:attrNameLst>
                                          <p:attrName>style.visibility</p:attrName>
                                        </p:attrNameLst>
                                      </p:cBhvr>
                                      <p:to>
                                        <p:strVal val="visible"/>
                                      </p:to>
                                    </p:set>
                                    <p:animEffect transition="in" filter="barn(outHorizontal)">
                                      <p:cBhvr>
                                        <p:cTn id="21" dur="500"/>
                                        <p:tgtEl>
                                          <p:spTgt spid="227335"/>
                                        </p:tgtEl>
                                      </p:cBhvr>
                                    </p:animEffect>
                                  </p:childTnLst>
                                </p:cTn>
                              </p:par>
                            </p:childTnLst>
                          </p:cTn>
                        </p:par>
                        <p:par>
                          <p:cTn id="22" fill="hold">
                            <p:stCondLst>
                              <p:cond delay="500"/>
                            </p:stCondLst>
                            <p:childTnLst>
                              <p:par>
                                <p:cTn id="23" presetID="12" presetClass="entr" presetSubtype="4" fill="hold" nodeType="afterEffect">
                                  <p:stCondLst>
                                    <p:cond delay="0"/>
                                  </p:stCondLst>
                                  <p:childTnLst>
                                    <p:set>
                                      <p:cBhvr>
                                        <p:cTn id="24" dur="1" fill="hold">
                                          <p:stCondLst>
                                            <p:cond delay="0"/>
                                          </p:stCondLst>
                                        </p:cTn>
                                        <p:tgtEl>
                                          <p:spTgt spid="227357"/>
                                        </p:tgtEl>
                                        <p:attrNameLst>
                                          <p:attrName>style.visibility</p:attrName>
                                        </p:attrNameLst>
                                      </p:cBhvr>
                                      <p:to>
                                        <p:strVal val="visible"/>
                                      </p:to>
                                    </p:set>
                                    <p:animEffect transition="in" filter="slide(fromBottom)">
                                      <p:cBhvr>
                                        <p:cTn id="25" dur="500"/>
                                        <p:tgtEl>
                                          <p:spTgt spid="227357"/>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27330"/>
                                        </p:tgtEl>
                                        <p:attrNameLst>
                                          <p:attrName>style.visibility</p:attrName>
                                        </p:attrNameLst>
                                      </p:cBhvr>
                                      <p:to>
                                        <p:strVal val="visible"/>
                                      </p:to>
                                    </p:set>
                                    <p:animEffect transition="in" filter="dissolve">
                                      <p:cBhvr>
                                        <p:cTn id="30" dur="500"/>
                                        <p:tgtEl>
                                          <p:spTgt spid="227330"/>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227338"/>
                                        </p:tgtEl>
                                        <p:attrNameLst>
                                          <p:attrName>style.visibility</p:attrName>
                                        </p:attrNameLst>
                                      </p:cBhvr>
                                      <p:to>
                                        <p:strVal val="visible"/>
                                      </p:to>
                                    </p:set>
                                    <p:animEffect transition="in" filter="strips(downRight)">
                                      <p:cBhvr>
                                        <p:cTn id="35" dur="500"/>
                                        <p:tgtEl>
                                          <p:spTgt spid="227338"/>
                                        </p:tgtEl>
                                      </p:cBhvr>
                                    </p:animEffect>
                                  </p:childTnLst>
                                </p:cTn>
                              </p:par>
                            </p:childTnLst>
                          </p:cTn>
                        </p:par>
                        <p:par>
                          <p:cTn id="36" fill="hold">
                            <p:stCondLst>
                              <p:cond delay="500"/>
                            </p:stCondLst>
                            <p:childTnLst>
                              <p:par>
                                <p:cTn id="37" presetID="2" presetClass="entr" presetSubtype="4" fill="hold" grpId="0" nodeType="afterEffect">
                                  <p:stCondLst>
                                    <p:cond delay="0"/>
                                  </p:stCondLst>
                                  <p:childTnLst>
                                    <p:set>
                                      <p:cBhvr>
                                        <p:cTn id="38" dur="1" fill="hold">
                                          <p:stCondLst>
                                            <p:cond delay="0"/>
                                          </p:stCondLst>
                                        </p:cTn>
                                        <p:tgtEl>
                                          <p:spTgt spid="227350"/>
                                        </p:tgtEl>
                                        <p:attrNameLst>
                                          <p:attrName>style.visibility</p:attrName>
                                        </p:attrNameLst>
                                      </p:cBhvr>
                                      <p:to>
                                        <p:strVal val="visible"/>
                                      </p:to>
                                    </p:set>
                                    <p:anim calcmode="lin" valueType="num">
                                      <p:cBhvr additive="base">
                                        <p:cTn id="39" dur="500" fill="hold"/>
                                        <p:tgtEl>
                                          <p:spTgt spid="227350"/>
                                        </p:tgtEl>
                                        <p:attrNameLst>
                                          <p:attrName>ppt_x</p:attrName>
                                        </p:attrNameLst>
                                      </p:cBhvr>
                                      <p:tavLst>
                                        <p:tav tm="0">
                                          <p:val>
                                            <p:strVal val="#ppt_x"/>
                                          </p:val>
                                        </p:tav>
                                        <p:tav tm="100000">
                                          <p:val>
                                            <p:strVal val="#ppt_x"/>
                                          </p:val>
                                        </p:tav>
                                      </p:tavLst>
                                    </p:anim>
                                    <p:anim calcmode="lin" valueType="num">
                                      <p:cBhvr additive="base">
                                        <p:cTn id="40" dur="500" fill="hold"/>
                                        <p:tgtEl>
                                          <p:spTgt spid="22735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3" presetClass="entr" presetSubtype="528" fill="hold" nodeType="clickEffect">
                                  <p:stCondLst>
                                    <p:cond delay="0"/>
                                  </p:stCondLst>
                                  <p:childTnLst>
                                    <p:set>
                                      <p:cBhvr>
                                        <p:cTn id="44" dur="1" fill="hold">
                                          <p:stCondLst>
                                            <p:cond delay="0"/>
                                          </p:stCondLst>
                                        </p:cTn>
                                        <p:tgtEl>
                                          <p:spTgt spid="227339"/>
                                        </p:tgtEl>
                                        <p:attrNameLst>
                                          <p:attrName>style.visibility</p:attrName>
                                        </p:attrNameLst>
                                      </p:cBhvr>
                                      <p:to>
                                        <p:strVal val="visible"/>
                                      </p:to>
                                    </p:set>
                                    <p:anim calcmode="lin" valueType="num">
                                      <p:cBhvr>
                                        <p:cTn id="45" dur="500" fill="hold"/>
                                        <p:tgtEl>
                                          <p:spTgt spid="227339"/>
                                        </p:tgtEl>
                                        <p:attrNameLst>
                                          <p:attrName>ppt_w</p:attrName>
                                        </p:attrNameLst>
                                      </p:cBhvr>
                                      <p:tavLst>
                                        <p:tav tm="0">
                                          <p:val>
                                            <p:fltVal val="0"/>
                                          </p:val>
                                        </p:tav>
                                        <p:tav tm="100000">
                                          <p:val>
                                            <p:strVal val="#ppt_w"/>
                                          </p:val>
                                        </p:tav>
                                      </p:tavLst>
                                    </p:anim>
                                    <p:anim calcmode="lin" valueType="num">
                                      <p:cBhvr>
                                        <p:cTn id="46" dur="500" fill="hold"/>
                                        <p:tgtEl>
                                          <p:spTgt spid="227339"/>
                                        </p:tgtEl>
                                        <p:attrNameLst>
                                          <p:attrName>ppt_h</p:attrName>
                                        </p:attrNameLst>
                                      </p:cBhvr>
                                      <p:tavLst>
                                        <p:tav tm="0">
                                          <p:val>
                                            <p:fltVal val="0"/>
                                          </p:val>
                                        </p:tav>
                                        <p:tav tm="100000">
                                          <p:val>
                                            <p:strVal val="#ppt_h"/>
                                          </p:val>
                                        </p:tav>
                                      </p:tavLst>
                                    </p:anim>
                                    <p:anim calcmode="lin" valueType="num">
                                      <p:cBhvr>
                                        <p:cTn id="47" dur="500" fill="hold"/>
                                        <p:tgtEl>
                                          <p:spTgt spid="227339"/>
                                        </p:tgtEl>
                                        <p:attrNameLst>
                                          <p:attrName>ppt_x</p:attrName>
                                        </p:attrNameLst>
                                      </p:cBhvr>
                                      <p:tavLst>
                                        <p:tav tm="0">
                                          <p:val>
                                            <p:fltVal val="0.5"/>
                                          </p:val>
                                        </p:tav>
                                        <p:tav tm="100000">
                                          <p:val>
                                            <p:strVal val="#ppt_x"/>
                                          </p:val>
                                        </p:tav>
                                      </p:tavLst>
                                    </p:anim>
                                    <p:anim calcmode="lin" valueType="num">
                                      <p:cBhvr>
                                        <p:cTn id="48" dur="500" fill="hold"/>
                                        <p:tgtEl>
                                          <p:spTgt spid="227339"/>
                                        </p:tgtEl>
                                        <p:attrNameLst>
                                          <p:attrName>ppt_y</p:attrName>
                                        </p:attrNameLst>
                                      </p:cBhvr>
                                      <p:tavLst>
                                        <p:tav tm="0">
                                          <p:val>
                                            <p:fltVal val="0.5"/>
                                          </p:val>
                                        </p:tav>
                                        <p:tav tm="100000">
                                          <p:val>
                                            <p:strVal val="#ppt_y"/>
                                          </p:val>
                                        </p:tav>
                                      </p:tavLst>
                                    </p:anim>
                                  </p:childTnLst>
                                </p:cTn>
                              </p:par>
                            </p:childTnLst>
                          </p:cTn>
                        </p:par>
                        <p:par>
                          <p:cTn id="49" fill="hold">
                            <p:stCondLst>
                              <p:cond delay="500"/>
                            </p:stCondLst>
                            <p:childTnLst>
                              <p:par>
                                <p:cTn id="50" presetID="12" presetClass="entr" presetSubtype="4" fill="hold" nodeType="afterEffect">
                                  <p:stCondLst>
                                    <p:cond delay="0"/>
                                  </p:stCondLst>
                                  <p:childTnLst>
                                    <p:set>
                                      <p:cBhvr>
                                        <p:cTn id="51" dur="1" fill="hold">
                                          <p:stCondLst>
                                            <p:cond delay="0"/>
                                          </p:stCondLst>
                                        </p:cTn>
                                        <p:tgtEl>
                                          <p:spTgt spid="227358"/>
                                        </p:tgtEl>
                                        <p:attrNameLst>
                                          <p:attrName>style.visibility</p:attrName>
                                        </p:attrNameLst>
                                      </p:cBhvr>
                                      <p:to>
                                        <p:strVal val="visible"/>
                                      </p:to>
                                    </p:set>
                                    <p:animEffect transition="in" filter="slide(fromBottom)">
                                      <p:cBhvr>
                                        <p:cTn id="52" dur="500"/>
                                        <p:tgtEl>
                                          <p:spTgt spid="227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8" grpId="0" bldLvl="0" animBg="1"/>
      <p:bldP spid="22735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16"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graphicFrame>
        <p:nvGraphicFramePr>
          <p:cNvPr id="228354" name="Object 2"/>
          <p:cNvGraphicFramePr>
            <a:graphicFrameLocks noChangeAspect="1"/>
          </p:cNvGraphicFramePr>
          <p:nvPr/>
        </p:nvGraphicFramePr>
        <p:xfrm>
          <a:off x="1985963" y="1524000"/>
          <a:ext cx="5253037" cy="2587625"/>
        </p:xfrm>
        <a:graphic>
          <a:graphicData uri="http://schemas.openxmlformats.org/presentationml/2006/ole">
            <mc:AlternateContent xmlns:mc="http://schemas.openxmlformats.org/markup-compatibility/2006">
              <mc:Choice xmlns:v="urn:schemas-microsoft-com:vml" Requires="v">
                <p:oleObj spid="_x0000_s14339" r:id="rId3" imgW="1914525" imgH="1247775" progId="Word.Document.8">
                  <p:embed/>
                </p:oleObj>
              </mc:Choice>
              <mc:Fallback>
                <p:oleObj r:id="rId3" imgW="1914525" imgH="1247775" progId="Word.Document.8">
                  <p:embed/>
                  <p:pic>
                    <p:nvPicPr>
                      <p:cNvPr id="0" name="图片 3174"/>
                      <p:cNvPicPr/>
                      <p:nvPr/>
                    </p:nvPicPr>
                    <p:blipFill>
                      <a:blip r:embed="rId4"/>
                      <a:stretch>
                        <a:fillRect/>
                      </a:stretch>
                    </p:blipFill>
                    <p:spPr>
                      <a:xfrm>
                        <a:off x="1985963" y="1524000"/>
                        <a:ext cx="5253037" cy="2587625"/>
                      </a:xfrm>
                      <a:prstGeom prst="rect">
                        <a:avLst/>
                      </a:prstGeom>
                      <a:solidFill>
                        <a:srgbClr val="D9FFEC"/>
                      </a:solidFill>
                      <a:ln w="38100">
                        <a:noFill/>
                        <a:miter/>
                      </a:ln>
                    </p:spPr>
                  </p:pic>
                </p:oleObj>
              </mc:Fallback>
            </mc:AlternateContent>
          </a:graphicData>
        </a:graphic>
      </p:graphicFrame>
      <p:graphicFrame>
        <p:nvGraphicFramePr>
          <p:cNvPr id="228355" name="Object 3"/>
          <p:cNvGraphicFramePr>
            <a:graphicFrameLocks noChangeAspect="1"/>
          </p:cNvGraphicFramePr>
          <p:nvPr/>
        </p:nvGraphicFramePr>
        <p:xfrm>
          <a:off x="1905000" y="4187825"/>
          <a:ext cx="5334000" cy="2660650"/>
        </p:xfrm>
        <a:graphic>
          <a:graphicData uri="http://schemas.openxmlformats.org/presentationml/2006/ole">
            <mc:AlternateContent xmlns:mc="http://schemas.openxmlformats.org/markup-compatibility/2006">
              <mc:Choice xmlns:v="urn:schemas-microsoft-com:vml" Requires="v">
                <p:oleObj spid="_x0000_s14340" r:id="rId5" imgW="2038350" imgH="1247775" progId="Word.Document.8">
                  <p:embed/>
                </p:oleObj>
              </mc:Choice>
              <mc:Fallback>
                <p:oleObj r:id="rId5" imgW="2038350" imgH="1247775" progId="Word.Document.8">
                  <p:embed/>
                  <p:pic>
                    <p:nvPicPr>
                      <p:cNvPr id="0" name="图片 3176"/>
                      <p:cNvPicPr/>
                      <p:nvPr/>
                    </p:nvPicPr>
                    <p:blipFill>
                      <a:blip r:embed="rId6"/>
                      <a:stretch>
                        <a:fillRect/>
                      </a:stretch>
                    </p:blipFill>
                    <p:spPr>
                      <a:xfrm>
                        <a:off x="1905000" y="4187825"/>
                        <a:ext cx="5334000" cy="2660650"/>
                      </a:xfrm>
                      <a:prstGeom prst="rect">
                        <a:avLst/>
                      </a:prstGeom>
                      <a:solidFill>
                        <a:srgbClr val="D9FFEC"/>
                      </a:solidFill>
                      <a:ln w="38100">
                        <a:noFill/>
                        <a:miter/>
                      </a:ln>
                    </p:spPr>
                  </p:pic>
                </p:oleObj>
              </mc:Fallback>
            </mc:AlternateContent>
          </a:graphicData>
        </a:graphic>
      </p:graphicFrame>
      <p:sp>
        <p:nvSpPr>
          <p:cNvPr id="228356" name="Text Box 4"/>
          <p:cNvSpPr txBox="1"/>
          <p:nvPr/>
        </p:nvSpPr>
        <p:spPr>
          <a:xfrm>
            <a:off x="1905000" y="625475"/>
            <a:ext cx="5334000" cy="645160"/>
          </a:xfrm>
          <a:prstGeom prst="rect">
            <a:avLst/>
          </a:prstGeom>
          <a:solidFill>
            <a:schemeClr val="bg1"/>
          </a:solidFill>
          <a:ln w="9525">
            <a:noFill/>
          </a:ln>
        </p:spPr>
        <p:txBody>
          <a:bodyPr lIns="0" rIns="0" anchor="t" anchorCtr="0">
            <a:spAutoFit/>
          </a:bodyPr>
          <a:lstStyle/>
          <a:p>
            <a:pPr>
              <a:spcBef>
                <a:spcPct val="50000"/>
              </a:spcBef>
              <a:buFont typeface="Wingdings" panose="05000000000000000000" pitchFamily="2" charset="2"/>
              <a:buChar char="l"/>
            </a:pPr>
            <a:r>
              <a:rPr lang="zh-CN" altLang="en-US" dirty="0">
                <a:latin typeface="Times New Roman" panose="02020603050405020304" pitchFamily="18" charset="0"/>
                <a:ea typeface="宋体" panose="02010600030101010101" pitchFamily="2" charset="-122"/>
              </a:rPr>
              <a:t>　任何</a:t>
            </a:r>
            <a:r>
              <a:rPr lang="en-US" altLang="zh-CN" dirty="0">
                <a:latin typeface="Times New Roman" panose="02020603050405020304" pitchFamily="18" charset="0"/>
                <a:ea typeface="宋体" panose="02010600030101010101" pitchFamily="2" charset="-122"/>
              </a:rPr>
              <a:t>8</a:t>
            </a:r>
            <a:r>
              <a:rPr lang="zh-CN" altLang="en-US" dirty="0">
                <a:latin typeface="Times New Roman" panose="02020603050405020304" pitchFamily="18" charset="0"/>
                <a:ea typeface="宋体" panose="02010600030101010101" pitchFamily="2" charset="-122"/>
              </a:rPr>
              <a:t>个（</a:t>
            </a:r>
            <a:r>
              <a:rPr lang="en-US" altLang="zh-CN" dirty="0">
                <a:latin typeface="Times New Roman" panose="02020603050405020304" pitchFamily="18" charset="0"/>
                <a:ea typeface="宋体" panose="02010600030101010101" pitchFamily="2" charset="-122"/>
              </a:rPr>
              <a:t>2</a:t>
            </a:r>
            <a:r>
              <a:rPr lang="en-US" altLang="zh-CN" baseline="30000"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个）标</a:t>
            </a:r>
            <a:r>
              <a:rPr lang="en-US" altLang="zh-CN" dirty="0">
                <a:latin typeface="Times New Roman" panose="02020603050405020304" pitchFamily="18" charset="0"/>
                <a:ea typeface="宋体" panose="02010600030101010101" pitchFamily="2" charset="-122"/>
              </a:rPr>
              <a:t>1</a:t>
            </a:r>
            <a:r>
              <a:rPr lang="zh-CN" altLang="en-US" dirty="0">
                <a:latin typeface="Times New Roman" panose="02020603050405020304" pitchFamily="18" charset="0"/>
                <a:ea typeface="宋体" panose="02010600030101010101" pitchFamily="2" charset="-122"/>
              </a:rPr>
              <a:t>的相邻最小项，可以合并为一项，并消去</a:t>
            </a:r>
            <a:r>
              <a:rPr lang="en-US" altLang="zh-CN" dirty="0">
                <a:latin typeface="Times New Roman" panose="02020603050405020304" pitchFamily="18" charset="0"/>
                <a:ea typeface="宋体" panose="02010600030101010101" pitchFamily="2" charset="-122"/>
              </a:rPr>
              <a:t>3</a:t>
            </a:r>
            <a:r>
              <a:rPr lang="zh-CN" altLang="en-US" dirty="0">
                <a:latin typeface="Times New Roman" panose="02020603050405020304" pitchFamily="18" charset="0"/>
                <a:ea typeface="宋体" panose="02010600030101010101" pitchFamily="2" charset="-122"/>
              </a:rPr>
              <a:t>个变量。</a:t>
            </a:r>
          </a:p>
        </p:txBody>
      </p:sp>
      <p:sp>
        <p:nvSpPr>
          <p:cNvPr id="228357" name="AutoShape 5"/>
          <p:cNvSpPr/>
          <p:nvPr/>
        </p:nvSpPr>
        <p:spPr>
          <a:xfrm>
            <a:off x="3162300" y="2629258"/>
            <a:ext cx="208834" cy="450134"/>
          </a:xfrm>
          <a:prstGeom prst="roundRect">
            <a:avLst>
              <a:gd name="adj" fmla="val 16667"/>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28358" name="Text Box 6"/>
          <p:cNvSpPr txBox="1"/>
          <p:nvPr/>
        </p:nvSpPr>
        <p:spPr>
          <a:xfrm>
            <a:off x="7162800" y="2663825"/>
            <a:ext cx="457200" cy="368300"/>
          </a:xfrm>
          <a:prstGeom prst="rect">
            <a:avLst/>
          </a:prstGeom>
          <a:noFill/>
          <a:ln w="9525">
            <a:noFill/>
          </a:ln>
        </p:spPr>
        <p:txBody>
          <a:bodyPr lIns="0" rIns="0" anchor="t" anchorCtr="0">
            <a:spAutoFit/>
          </a:bodyPr>
          <a:lstStyle/>
          <a:p>
            <a:pPr>
              <a:spcBef>
                <a:spcPct val="50000"/>
              </a:spcBef>
            </a:pPr>
            <a:r>
              <a:rPr lang="en-GB" altLang="zh-CN" dirty="0">
                <a:solidFill>
                  <a:srgbClr val="0000FF"/>
                </a:solidFill>
                <a:latin typeface="Times New Roman" panose="02020603050405020304" pitchFamily="18" charset="0"/>
                <a:ea typeface="宋体" panose="02010600030101010101" pitchFamily="2" charset="-122"/>
              </a:rPr>
              <a:t>B</a:t>
            </a:r>
            <a:endParaRPr lang="en-US" altLang="zh-CN" dirty="0">
              <a:solidFill>
                <a:srgbClr val="0000FF"/>
              </a:solidFill>
              <a:latin typeface="Times New Roman" panose="02020603050405020304" pitchFamily="18" charset="0"/>
              <a:ea typeface="宋体" panose="02010600030101010101" pitchFamily="2" charset="-122"/>
            </a:endParaRPr>
          </a:p>
        </p:txBody>
      </p:sp>
      <p:grpSp>
        <p:nvGrpSpPr>
          <p:cNvPr id="228359" name="Group 7"/>
          <p:cNvGrpSpPr/>
          <p:nvPr/>
        </p:nvGrpSpPr>
        <p:grpSpPr>
          <a:xfrm>
            <a:off x="3276600" y="4568825"/>
            <a:ext cx="3733800" cy="2057400"/>
            <a:chOff x="1104" y="2736"/>
            <a:chExt cx="2352" cy="1296"/>
          </a:xfrm>
        </p:grpSpPr>
        <p:sp>
          <p:nvSpPr>
            <p:cNvPr id="52233" name="Freeform 8"/>
            <p:cNvSpPr/>
            <p:nvPr/>
          </p:nvSpPr>
          <p:spPr>
            <a:xfrm>
              <a:off x="2968" y="2736"/>
              <a:ext cx="488" cy="1296"/>
            </a:xfrm>
            <a:custGeom>
              <a:avLst/>
              <a:gdLst/>
              <a:ahLst/>
              <a:cxnLst>
                <a:cxn ang="0">
                  <a:pos x="341" y="0"/>
                </a:cxn>
                <a:cxn ang="0">
                  <a:pos x="89" y="129"/>
                </a:cxn>
                <a:cxn ang="0">
                  <a:pos x="5" y="516"/>
                </a:cxn>
                <a:cxn ang="0">
                  <a:pos x="61" y="1033"/>
                </a:cxn>
                <a:cxn ang="0">
                  <a:pos x="313" y="1205"/>
                </a:cxn>
              </a:cxnLst>
              <a:rect l="0" t="0" r="0" b="0"/>
              <a:pathLst>
                <a:path w="584" h="1344">
                  <a:moveTo>
                    <a:pt x="584" y="0"/>
                  </a:moveTo>
                  <a:cubicBezTo>
                    <a:pt x="416" y="24"/>
                    <a:pt x="248" y="48"/>
                    <a:pt x="152" y="144"/>
                  </a:cubicBezTo>
                  <a:cubicBezTo>
                    <a:pt x="56" y="240"/>
                    <a:pt x="16" y="408"/>
                    <a:pt x="8" y="576"/>
                  </a:cubicBezTo>
                  <a:cubicBezTo>
                    <a:pt x="0" y="744"/>
                    <a:pt x="16" y="1024"/>
                    <a:pt x="104" y="1152"/>
                  </a:cubicBezTo>
                  <a:cubicBezTo>
                    <a:pt x="192" y="1280"/>
                    <a:pt x="364" y="1312"/>
                    <a:pt x="536" y="1344"/>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52234" name="Freeform 9"/>
            <p:cNvSpPr/>
            <p:nvPr/>
          </p:nvSpPr>
          <p:spPr>
            <a:xfrm flipH="1">
              <a:off x="1104" y="2736"/>
              <a:ext cx="488" cy="1296"/>
            </a:xfrm>
            <a:custGeom>
              <a:avLst/>
              <a:gdLst/>
              <a:ahLst/>
              <a:cxnLst>
                <a:cxn ang="0">
                  <a:pos x="341" y="0"/>
                </a:cxn>
                <a:cxn ang="0">
                  <a:pos x="89" y="129"/>
                </a:cxn>
                <a:cxn ang="0">
                  <a:pos x="5" y="516"/>
                </a:cxn>
                <a:cxn ang="0">
                  <a:pos x="61" y="1033"/>
                </a:cxn>
                <a:cxn ang="0">
                  <a:pos x="313" y="1205"/>
                </a:cxn>
              </a:cxnLst>
              <a:rect l="0" t="0" r="0" b="0"/>
              <a:pathLst>
                <a:path w="584" h="1344">
                  <a:moveTo>
                    <a:pt x="584" y="0"/>
                  </a:moveTo>
                  <a:cubicBezTo>
                    <a:pt x="416" y="24"/>
                    <a:pt x="248" y="48"/>
                    <a:pt x="152" y="144"/>
                  </a:cubicBezTo>
                  <a:cubicBezTo>
                    <a:pt x="56" y="240"/>
                    <a:pt x="16" y="408"/>
                    <a:pt x="8" y="576"/>
                  </a:cubicBezTo>
                  <a:cubicBezTo>
                    <a:pt x="0" y="744"/>
                    <a:pt x="16" y="1024"/>
                    <a:pt x="104" y="1152"/>
                  </a:cubicBezTo>
                  <a:cubicBezTo>
                    <a:pt x="192" y="1280"/>
                    <a:pt x="364" y="1312"/>
                    <a:pt x="536" y="1344"/>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grpSp>
      <p:grpSp>
        <p:nvGrpSpPr>
          <p:cNvPr id="228362" name="Group 10"/>
          <p:cNvGrpSpPr/>
          <p:nvPr/>
        </p:nvGrpSpPr>
        <p:grpSpPr>
          <a:xfrm>
            <a:off x="7162800" y="5254625"/>
            <a:ext cx="457200" cy="368300"/>
            <a:chOff x="3552" y="3168"/>
            <a:chExt cx="288" cy="232"/>
          </a:xfrm>
        </p:grpSpPr>
        <p:sp>
          <p:nvSpPr>
            <p:cNvPr id="52236" name="Text Box 11"/>
            <p:cNvSpPr txBox="1"/>
            <p:nvPr/>
          </p:nvSpPr>
          <p:spPr>
            <a:xfrm>
              <a:off x="3552" y="3168"/>
              <a:ext cx="288" cy="232"/>
            </a:xfrm>
            <a:prstGeom prst="rect">
              <a:avLst/>
            </a:prstGeom>
            <a:noFill/>
            <a:ln w="9525">
              <a:noFill/>
            </a:ln>
          </p:spPr>
          <p:txBody>
            <a:bodyPr lIns="0" rIns="0" anchor="t" anchorCtr="0">
              <a:spAutoFit/>
            </a:bodyPr>
            <a:lstStyle/>
            <a:p>
              <a:pPr>
                <a:spcBef>
                  <a:spcPct val="50000"/>
                </a:spcBef>
              </a:pPr>
              <a:r>
                <a:rPr lang="en-GB" altLang="zh-CN" dirty="0">
                  <a:solidFill>
                    <a:srgbClr val="0000FF"/>
                  </a:solidFill>
                  <a:latin typeface="Times New Roman" panose="02020603050405020304" pitchFamily="18" charset="0"/>
                  <a:ea typeface="宋体" panose="02010600030101010101" pitchFamily="2" charset="-122"/>
                </a:rPr>
                <a:t>D</a:t>
              </a:r>
              <a:endParaRPr lang="en-US" altLang="zh-CN" dirty="0">
                <a:solidFill>
                  <a:srgbClr val="0000FF"/>
                </a:solidFill>
                <a:latin typeface="Times New Roman" panose="02020603050405020304" pitchFamily="18" charset="0"/>
                <a:ea typeface="宋体" panose="02010600030101010101" pitchFamily="2" charset="-122"/>
              </a:endParaRPr>
            </a:p>
          </p:txBody>
        </p:sp>
        <p:sp>
          <p:nvSpPr>
            <p:cNvPr id="52237" name="Line 12"/>
            <p:cNvSpPr/>
            <p:nvPr/>
          </p:nvSpPr>
          <p:spPr>
            <a:xfrm>
              <a:off x="3564" y="3192"/>
              <a:ext cx="144" cy="0"/>
            </a:xfrm>
            <a:prstGeom prst="line">
              <a:avLst/>
            </a:prstGeom>
            <a:ln w="38100" cap="flat" cmpd="sng">
              <a:solidFill>
                <a:schemeClr val="tx1"/>
              </a:solidFill>
              <a:prstDash val="solid"/>
              <a:round/>
              <a:headEnd type="none" w="med" len="med"/>
              <a:tailEnd type="none" w="med" len="med"/>
            </a:ln>
          </p:spPr>
        </p:sp>
      </p:grpSp>
      <p:sp>
        <p:nvSpPr>
          <p:cNvPr id="228374" name="Text Box 22"/>
          <p:cNvSpPr txBox="1"/>
          <p:nvPr/>
        </p:nvSpPr>
        <p:spPr>
          <a:xfrm>
            <a:off x="1828800" y="152400"/>
            <a:ext cx="2590800" cy="368300"/>
          </a:xfrm>
          <a:prstGeom prst="rect">
            <a:avLst/>
          </a:prstGeom>
          <a:solidFill>
            <a:srgbClr val="FFFF00"/>
          </a:solidFill>
          <a:ln w="9525">
            <a:noFill/>
          </a:ln>
        </p:spPr>
        <p:txBody>
          <a:bodyPr anchor="t" anchorCtr="0">
            <a:spAutoFit/>
          </a:bodyPr>
          <a:lstStyle/>
          <a:p>
            <a:pPr>
              <a:spcBef>
                <a:spcPct val="50000"/>
              </a:spcBef>
            </a:pP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卡诺图的性质</a:t>
            </a:r>
          </a:p>
        </p:txBody>
      </p:sp>
      <p:sp>
        <p:nvSpPr>
          <p:cNvPr id="228375" name="Rectangle 23"/>
          <p:cNvSpPr/>
          <p:nvPr/>
        </p:nvSpPr>
        <p:spPr>
          <a:xfrm>
            <a:off x="7696200" y="1371600"/>
            <a:ext cx="2743200" cy="2861310"/>
          </a:xfrm>
          <a:prstGeom prst="rect">
            <a:avLst/>
          </a:prstGeom>
          <a:solidFill>
            <a:srgbClr val="99CCFF"/>
          </a:solidFill>
          <a:ln w="25400" cap="flat" cmpd="sng">
            <a:solidFill>
              <a:schemeClr val="tx1"/>
            </a:solidFill>
            <a:prstDash val="solid"/>
            <a:miter/>
            <a:headEnd type="none" w="med" len="med"/>
            <a:tailEnd type="none" w="med" len="med"/>
          </a:ln>
        </p:spPr>
        <p:txBody>
          <a:bodyPr anchor="t" anchorCtr="0">
            <a:spAutoFit/>
          </a:bodyPr>
          <a:lstStyle/>
          <a:p>
            <a:pPr>
              <a:spcBef>
                <a:spcPct val="50000"/>
              </a:spcBef>
            </a:pPr>
            <a:r>
              <a:rPr lang="zh-CN" altLang="en-US" dirty="0">
                <a:solidFill>
                  <a:srgbClr val="FF0000"/>
                </a:solidFill>
                <a:latin typeface="Arial" panose="020B0604020202020204" pitchFamily="34" charset="0"/>
                <a:ea typeface="宋体" panose="02010600030101010101" pitchFamily="2" charset="-122"/>
              </a:rPr>
              <a:t>小结：</a:t>
            </a:r>
            <a:r>
              <a:rPr lang="zh-CN" altLang="en-US" dirty="0">
                <a:solidFill>
                  <a:schemeClr val="tx2"/>
                </a:solidFill>
                <a:latin typeface="Arial" panose="020B0604020202020204" pitchFamily="34" charset="0"/>
                <a:ea typeface="宋体" panose="02010600030101010101" pitchFamily="2" charset="-122"/>
              </a:rPr>
              <a:t>相邻最小项的数目必须为</a:t>
            </a:r>
            <a:r>
              <a:rPr lang="en-US" altLang="zh-CN" i="1" dirty="0">
                <a:solidFill>
                  <a:srgbClr val="FF0000"/>
                </a:solidFill>
                <a:latin typeface="Arial" panose="020B0604020202020204" pitchFamily="34" charset="0"/>
                <a:ea typeface="宋体" panose="02010600030101010101" pitchFamily="2" charset="-122"/>
              </a:rPr>
              <a:t>2</a:t>
            </a:r>
            <a:r>
              <a:rPr lang="en-US" altLang="zh-CN" i="1" baseline="30000" dirty="0">
                <a:solidFill>
                  <a:srgbClr val="FF0000"/>
                </a:solidFill>
                <a:latin typeface="Arial" panose="020B0604020202020204" pitchFamily="34" charset="0"/>
                <a:ea typeface="宋体" panose="02010600030101010101" pitchFamily="2" charset="-122"/>
              </a:rPr>
              <a:t>n</a:t>
            </a:r>
            <a:r>
              <a:rPr lang="en-US" altLang="zh-CN" dirty="0">
                <a:solidFill>
                  <a:srgbClr val="FF0000"/>
                </a:solidFill>
                <a:latin typeface="Arial" panose="020B0604020202020204" pitchFamily="34" charset="0"/>
                <a:ea typeface="宋体" panose="02010600030101010101" pitchFamily="2" charset="-122"/>
              </a:rPr>
              <a:t> </a:t>
            </a:r>
            <a:r>
              <a:rPr lang="zh-CN" altLang="en-US" dirty="0">
                <a:solidFill>
                  <a:schemeClr val="tx2"/>
                </a:solidFill>
                <a:latin typeface="Arial" panose="020B0604020202020204" pitchFamily="34" charset="0"/>
                <a:ea typeface="宋体" panose="02010600030101010101" pitchFamily="2" charset="-122"/>
              </a:rPr>
              <a:t>个才能合并为一项，并消去 </a:t>
            </a:r>
            <a:r>
              <a:rPr lang="en-US" altLang="zh-CN" i="1" dirty="0">
                <a:solidFill>
                  <a:srgbClr val="FF0000"/>
                </a:solidFill>
                <a:latin typeface="Arial" panose="020B0604020202020204" pitchFamily="34" charset="0"/>
                <a:ea typeface="宋体" panose="02010600030101010101" pitchFamily="2" charset="-122"/>
              </a:rPr>
              <a:t>n</a:t>
            </a:r>
            <a:r>
              <a:rPr lang="zh-CN" altLang="en-US" dirty="0">
                <a:solidFill>
                  <a:schemeClr val="tx2"/>
                </a:solidFill>
                <a:latin typeface="Arial" panose="020B0604020202020204" pitchFamily="34" charset="0"/>
                <a:ea typeface="宋体" panose="02010600030101010101" pitchFamily="2" charset="-122"/>
              </a:rPr>
              <a:t>个变量。包含的最小项数目越多，即由这些最小项所形成的圈越大，消去的变量也就越多，从而所得到的逻辑表达式就越简单。这就是利用卡诺图化简逻辑函数的基本原理。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8356">
                                            <p:txEl>
                                              <p:pRg st="0" end="0"/>
                                            </p:txEl>
                                          </p:spTgt>
                                        </p:tgtEl>
                                        <p:attrNameLst>
                                          <p:attrName>style.visibility</p:attrName>
                                        </p:attrNameLst>
                                      </p:cBhvr>
                                      <p:to>
                                        <p:strVal val="visible"/>
                                      </p:to>
                                    </p:set>
                                    <p:animEffect transition="in" filter="wipe(left)">
                                      <p:cBhvr>
                                        <p:cTn id="7" dur="500"/>
                                        <p:tgtEl>
                                          <p:spTgt spid="2283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8354"/>
                                        </p:tgtEl>
                                        <p:attrNameLst>
                                          <p:attrName>style.visibility</p:attrName>
                                        </p:attrNameLst>
                                      </p:cBhvr>
                                      <p:to>
                                        <p:strVal val="visible"/>
                                      </p:to>
                                    </p:set>
                                    <p:animEffect transition="in" filter="dissolve">
                                      <p:cBhvr>
                                        <p:cTn id="12" dur="500"/>
                                        <p:tgtEl>
                                          <p:spTgt spid="228354"/>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8" fill="hold" grpId="0" nodeType="clickEffect">
                                  <p:stCondLst>
                                    <p:cond delay="0"/>
                                  </p:stCondLst>
                                  <p:childTnLst>
                                    <p:set>
                                      <p:cBhvr>
                                        <p:cTn id="16" dur="1" fill="hold">
                                          <p:stCondLst>
                                            <p:cond delay="0"/>
                                          </p:stCondLst>
                                        </p:cTn>
                                        <p:tgtEl>
                                          <p:spTgt spid="228357"/>
                                        </p:tgtEl>
                                        <p:attrNameLst>
                                          <p:attrName>style.visibility</p:attrName>
                                        </p:attrNameLst>
                                      </p:cBhvr>
                                      <p:to>
                                        <p:strVal val="visible"/>
                                      </p:to>
                                    </p:set>
                                    <p:anim calcmode="lin" valueType="num">
                                      <p:cBhvr>
                                        <p:cTn id="17" dur="500" fill="hold"/>
                                        <p:tgtEl>
                                          <p:spTgt spid="228357"/>
                                        </p:tgtEl>
                                        <p:attrNameLst>
                                          <p:attrName>ppt_x</p:attrName>
                                        </p:attrNameLst>
                                      </p:cBhvr>
                                      <p:tavLst>
                                        <p:tav tm="0">
                                          <p:val>
                                            <p:strVal val="#ppt_x-#ppt_w/2"/>
                                          </p:val>
                                        </p:tav>
                                        <p:tav tm="100000">
                                          <p:val>
                                            <p:strVal val="#ppt_x"/>
                                          </p:val>
                                        </p:tav>
                                      </p:tavLst>
                                    </p:anim>
                                    <p:anim calcmode="lin" valueType="num">
                                      <p:cBhvr>
                                        <p:cTn id="18" dur="500" fill="hold"/>
                                        <p:tgtEl>
                                          <p:spTgt spid="228357"/>
                                        </p:tgtEl>
                                        <p:attrNameLst>
                                          <p:attrName>ppt_y</p:attrName>
                                        </p:attrNameLst>
                                      </p:cBhvr>
                                      <p:tavLst>
                                        <p:tav tm="0">
                                          <p:val>
                                            <p:strVal val="#ppt_y"/>
                                          </p:val>
                                        </p:tav>
                                        <p:tav tm="100000">
                                          <p:val>
                                            <p:strVal val="#ppt_y"/>
                                          </p:val>
                                        </p:tav>
                                      </p:tavLst>
                                    </p:anim>
                                    <p:anim calcmode="lin" valueType="num">
                                      <p:cBhvr>
                                        <p:cTn id="19" dur="500" fill="hold"/>
                                        <p:tgtEl>
                                          <p:spTgt spid="228357"/>
                                        </p:tgtEl>
                                        <p:attrNameLst>
                                          <p:attrName>ppt_w</p:attrName>
                                        </p:attrNameLst>
                                      </p:cBhvr>
                                      <p:tavLst>
                                        <p:tav tm="0">
                                          <p:val>
                                            <p:fltVal val="0"/>
                                          </p:val>
                                        </p:tav>
                                        <p:tav tm="100000">
                                          <p:val>
                                            <p:strVal val="#ppt_w"/>
                                          </p:val>
                                        </p:tav>
                                      </p:tavLst>
                                    </p:anim>
                                    <p:anim calcmode="lin" valueType="num">
                                      <p:cBhvr>
                                        <p:cTn id="20" dur="500" fill="hold"/>
                                        <p:tgtEl>
                                          <p:spTgt spid="228357"/>
                                        </p:tgtEl>
                                        <p:attrNameLst>
                                          <p:attrName>ppt_h</p:attrName>
                                        </p:attrNameLst>
                                      </p:cBhvr>
                                      <p:tavLst>
                                        <p:tav tm="0">
                                          <p:val>
                                            <p:strVal val="#ppt_h"/>
                                          </p:val>
                                        </p:tav>
                                        <p:tav tm="100000">
                                          <p:val>
                                            <p:strVal val="#ppt_h"/>
                                          </p:val>
                                        </p:tav>
                                      </p:tavLst>
                                    </p:anim>
                                  </p:childTnLst>
                                </p:cTn>
                              </p:par>
                            </p:childTnLst>
                          </p:cTn>
                        </p:par>
                        <p:par>
                          <p:cTn id="21" fill="hold">
                            <p:stCondLst>
                              <p:cond delay="500"/>
                            </p:stCondLst>
                            <p:childTnLst>
                              <p:par>
                                <p:cTn id="22" presetID="2" presetClass="entr" presetSubtype="1" fill="hold" grpId="0" nodeType="afterEffect">
                                  <p:stCondLst>
                                    <p:cond delay="0"/>
                                  </p:stCondLst>
                                  <p:childTnLst>
                                    <p:set>
                                      <p:cBhvr>
                                        <p:cTn id="23" dur="1" fill="hold">
                                          <p:stCondLst>
                                            <p:cond delay="0"/>
                                          </p:stCondLst>
                                        </p:cTn>
                                        <p:tgtEl>
                                          <p:spTgt spid="228358"/>
                                        </p:tgtEl>
                                        <p:attrNameLst>
                                          <p:attrName>style.visibility</p:attrName>
                                        </p:attrNameLst>
                                      </p:cBhvr>
                                      <p:to>
                                        <p:strVal val="visible"/>
                                      </p:to>
                                    </p:set>
                                    <p:anim calcmode="lin" valueType="num">
                                      <p:cBhvr additive="base">
                                        <p:cTn id="24" dur="500" fill="hold"/>
                                        <p:tgtEl>
                                          <p:spTgt spid="228358"/>
                                        </p:tgtEl>
                                        <p:attrNameLst>
                                          <p:attrName>ppt_x</p:attrName>
                                        </p:attrNameLst>
                                      </p:cBhvr>
                                      <p:tavLst>
                                        <p:tav tm="0">
                                          <p:val>
                                            <p:strVal val="#ppt_x"/>
                                          </p:val>
                                        </p:tav>
                                        <p:tav tm="100000">
                                          <p:val>
                                            <p:strVal val="#ppt_x"/>
                                          </p:val>
                                        </p:tav>
                                      </p:tavLst>
                                    </p:anim>
                                    <p:anim calcmode="lin" valueType="num">
                                      <p:cBhvr additive="base">
                                        <p:cTn id="25" dur="500" fill="hold"/>
                                        <p:tgtEl>
                                          <p:spTgt spid="228358"/>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28355"/>
                                        </p:tgtEl>
                                        <p:attrNameLst>
                                          <p:attrName>style.visibility</p:attrName>
                                        </p:attrNameLst>
                                      </p:cBhvr>
                                      <p:to>
                                        <p:strVal val="visible"/>
                                      </p:to>
                                    </p:set>
                                    <p:animEffect transition="in" filter="dissolve">
                                      <p:cBhvr>
                                        <p:cTn id="30" dur="500"/>
                                        <p:tgtEl>
                                          <p:spTgt spid="228355"/>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37" fill="hold" nodeType="clickEffect">
                                  <p:stCondLst>
                                    <p:cond delay="0"/>
                                  </p:stCondLst>
                                  <p:childTnLst>
                                    <p:set>
                                      <p:cBhvr>
                                        <p:cTn id="34" dur="1" fill="hold">
                                          <p:stCondLst>
                                            <p:cond delay="0"/>
                                          </p:stCondLst>
                                        </p:cTn>
                                        <p:tgtEl>
                                          <p:spTgt spid="228359"/>
                                        </p:tgtEl>
                                        <p:attrNameLst>
                                          <p:attrName>style.visibility</p:attrName>
                                        </p:attrNameLst>
                                      </p:cBhvr>
                                      <p:to>
                                        <p:strVal val="visible"/>
                                      </p:to>
                                    </p:set>
                                    <p:animEffect transition="in" filter="barn(outVertical)">
                                      <p:cBhvr>
                                        <p:cTn id="35" dur="500"/>
                                        <p:tgtEl>
                                          <p:spTgt spid="228359"/>
                                        </p:tgtEl>
                                      </p:cBhvr>
                                    </p:animEffect>
                                  </p:childTnLst>
                                </p:cTn>
                              </p:par>
                            </p:childTnLst>
                          </p:cTn>
                        </p:par>
                        <p:par>
                          <p:cTn id="36" fill="hold">
                            <p:stCondLst>
                              <p:cond delay="500"/>
                            </p:stCondLst>
                            <p:childTnLst>
                              <p:par>
                                <p:cTn id="37" presetID="2" presetClass="entr" presetSubtype="4" fill="hold" nodeType="afterEffect">
                                  <p:stCondLst>
                                    <p:cond delay="0"/>
                                  </p:stCondLst>
                                  <p:childTnLst>
                                    <p:set>
                                      <p:cBhvr>
                                        <p:cTn id="38" dur="1" fill="hold">
                                          <p:stCondLst>
                                            <p:cond delay="0"/>
                                          </p:stCondLst>
                                        </p:cTn>
                                        <p:tgtEl>
                                          <p:spTgt spid="228362"/>
                                        </p:tgtEl>
                                        <p:attrNameLst>
                                          <p:attrName>style.visibility</p:attrName>
                                        </p:attrNameLst>
                                      </p:cBhvr>
                                      <p:to>
                                        <p:strVal val="visible"/>
                                      </p:to>
                                    </p:set>
                                    <p:anim calcmode="lin" valueType="num">
                                      <p:cBhvr additive="base">
                                        <p:cTn id="39" dur="500" fill="hold"/>
                                        <p:tgtEl>
                                          <p:spTgt spid="228362"/>
                                        </p:tgtEl>
                                        <p:attrNameLst>
                                          <p:attrName>ppt_x</p:attrName>
                                        </p:attrNameLst>
                                      </p:cBhvr>
                                      <p:tavLst>
                                        <p:tav tm="0">
                                          <p:val>
                                            <p:strVal val="#ppt_x"/>
                                          </p:val>
                                        </p:tav>
                                        <p:tav tm="100000">
                                          <p:val>
                                            <p:strVal val="#ppt_x"/>
                                          </p:val>
                                        </p:tav>
                                      </p:tavLst>
                                    </p:anim>
                                    <p:anim calcmode="lin" valueType="num">
                                      <p:cBhvr additive="base">
                                        <p:cTn id="40" dur="500" fill="hold"/>
                                        <p:tgtEl>
                                          <p:spTgt spid="22836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22837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28375"/>
                                        </p:tgtEl>
                                        <p:attrNameLst>
                                          <p:attrName>style.visibility</p:attrName>
                                        </p:attrNameLst>
                                      </p:cBhvr>
                                      <p:to>
                                        <p:strVal val="visible"/>
                                      </p:to>
                                    </p:set>
                                    <p:anim calcmode="lin" valueType="num">
                                      <p:cBhvr additive="base">
                                        <p:cTn id="49" dur="500" fill="hold"/>
                                        <p:tgtEl>
                                          <p:spTgt spid="228375"/>
                                        </p:tgtEl>
                                        <p:attrNameLst>
                                          <p:attrName>ppt_x</p:attrName>
                                        </p:attrNameLst>
                                      </p:cBhvr>
                                      <p:tavLst>
                                        <p:tav tm="0">
                                          <p:val>
                                            <p:strVal val="#ppt_x"/>
                                          </p:val>
                                        </p:tav>
                                        <p:tav tm="100000">
                                          <p:val>
                                            <p:strVal val="#ppt_x"/>
                                          </p:val>
                                        </p:tav>
                                      </p:tavLst>
                                    </p:anim>
                                    <p:anim calcmode="lin" valueType="num">
                                      <p:cBhvr additive="base">
                                        <p:cTn id="50" dur="500" fill="hold"/>
                                        <p:tgtEl>
                                          <p:spTgt spid="2283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build="p" advAuto="1000"/>
      <p:bldP spid="228357" grpId="0" bldLvl="0" animBg="1"/>
      <p:bldP spid="228358" grpId="0"/>
      <p:bldP spid="228374" grpId="0" bldLvl="0" animBg="1"/>
      <p:bldP spid="228375"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12"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sp>
        <p:nvSpPr>
          <p:cNvPr id="229378" name="Text Box 2"/>
          <p:cNvSpPr txBox="1"/>
          <p:nvPr/>
        </p:nvSpPr>
        <p:spPr>
          <a:xfrm>
            <a:off x="1981200" y="457200"/>
            <a:ext cx="4724400" cy="521970"/>
          </a:xfrm>
          <a:prstGeom prst="rect">
            <a:avLst/>
          </a:prstGeom>
          <a:solidFill>
            <a:srgbClr val="FFFF66"/>
          </a:solidFill>
          <a:ln w="9525">
            <a:noFill/>
          </a:ln>
        </p:spPr>
        <p:txBody>
          <a:bodyPr anchor="t" anchorCtr="0">
            <a:spAutoFit/>
          </a:bodyPr>
          <a:lstStyle/>
          <a:p>
            <a:pPr>
              <a:spcBef>
                <a:spcPct val="50000"/>
              </a:spcBef>
            </a:pPr>
            <a:r>
              <a:rPr lang="en-US" altLang="zh-CN" sz="2800" dirty="0">
                <a:latin typeface="宋体" panose="02010600030101010101" pitchFamily="2" charset="-122"/>
                <a:ea typeface="宋体" panose="02010600030101010101" pitchFamily="2" charset="-122"/>
              </a:rPr>
              <a:t>(4)</a:t>
            </a:r>
            <a:r>
              <a:rPr lang="zh-CN" altLang="en-US" sz="2800" dirty="0">
                <a:latin typeface="宋体" panose="02010600030101010101" pitchFamily="2" charset="-122"/>
                <a:ea typeface="宋体" panose="02010600030101010101" pitchFamily="2" charset="-122"/>
              </a:rPr>
              <a:t>卡诺图化简的基本步骤</a:t>
            </a:r>
            <a:endParaRPr lang="zh-CN" altLang="en-US" sz="2800" b="0" dirty="0">
              <a:latin typeface="宋体" panose="02010600030101010101" pitchFamily="2" charset="-122"/>
              <a:ea typeface="宋体" panose="02010600030101010101" pitchFamily="2" charset="-122"/>
            </a:endParaRPr>
          </a:p>
        </p:txBody>
      </p:sp>
      <p:sp>
        <p:nvSpPr>
          <p:cNvPr id="229379" name="Text Box 3"/>
          <p:cNvSpPr txBox="1"/>
          <p:nvPr/>
        </p:nvSpPr>
        <p:spPr>
          <a:xfrm>
            <a:off x="1828800" y="1438275"/>
            <a:ext cx="2324100" cy="1076325"/>
          </a:xfrm>
          <a:prstGeom prst="rect">
            <a:avLst/>
          </a:prstGeom>
          <a:noFill/>
          <a:ln w="25400" cap="flat" cmpd="sng">
            <a:solidFill>
              <a:srgbClr val="CC3300"/>
            </a:solidFill>
            <a:prstDash val="solid"/>
            <a:miter/>
            <a:headEnd type="none" w="med" len="med"/>
            <a:tailEnd type="none" w="med" len="med"/>
          </a:ln>
        </p:spPr>
        <p:txBody>
          <a:bodyPr anchor="t" anchorCtr="0">
            <a:spAutoFit/>
          </a:bodyPr>
          <a:lstStyle/>
          <a:p>
            <a:pPr algn="ctr">
              <a:spcBef>
                <a:spcPct val="50000"/>
              </a:spcBef>
            </a:pPr>
            <a:r>
              <a:rPr lang="zh-CN" altLang="en-US" sz="3200" dirty="0">
                <a:latin typeface="宋体" panose="02010600030101010101" pitchFamily="2" charset="-122"/>
                <a:ea typeface="宋体" panose="02010600030101010101" pitchFamily="2" charset="-122"/>
              </a:rPr>
              <a:t>逻辑表达式或真值表</a:t>
            </a:r>
            <a:endParaRPr lang="zh-CN" altLang="en-US" sz="4000" b="0" dirty="0">
              <a:latin typeface="宋体" panose="02010600030101010101" pitchFamily="2" charset="-122"/>
              <a:ea typeface="宋体" panose="02010600030101010101" pitchFamily="2" charset="-122"/>
            </a:endParaRPr>
          </a:p>
        </p:txBody>
      </p:sp>
      <p:sp>
        <p:nvSpPr>
          <p:cNvPr id="229380" name="Text Box 4"/>
          <p:cNvSpPr txBox="1"/>
          <p:nvPr/>
        </p:nvSpPr>
        <p:spPr>
          <a:xfrm>
            <a:off x="2095500" y="5583238"/>
            <a:ext cx="1600200" cy="583565"/>
          </a:xfrm>
          <a:prstGeom prst="rect">
            <a:avLst/>
          </a:prstGeom>
          <a:noFill/>
          <a:ln w="25400" cap="flat" cmpd="sng">
            <a:solidFill>
              <a:srgbClr val="CC3300"/>
            </a:solidFill>
            <a:prstDash val="solid"/>
            <a:miter/>
            <a:headEnd type="none" w="med" len="med"/>
            <a:tailEnd type="none" w="med" len="med"/>
          </a:ln>
        </p:spPr>
        <p:txBody>
          <a:bodyPr anchor="t" anchorCtr="0">
            <a:spAutoFit/>
          </a:bodyPr>
          <a:lstStyle/>
          <a:p>
            <a:pPr algn="ctr">
              <a:spcBef>
                <a:spcPct val="50000"/>
              </a:spcBef>
            </a:pPr>
            <a:r>
              <a:rPr lang="zh-CN" altLang="en-US" sz="3200" dirty="0">
                <a:latin typeface="Times New Roman" panose="02020603050405020304" pitchFamily="18" charset="0"/>
                <a:ea typeface="宋体" panose="02010600030101010101" pitchFamily="2" charset="-122"/>
              </a:rPr>
              <a:t>卡诺图</a:t>
            </a:r>
            <a:endParaRPr lang="zh-CN" altLang="en-US" sz="6000" dirty="0">
              <a:latin typeface="Times New Roman" panose="02020603050405020304" pitchFamily="18" charset="0"/>
              <a:ea typeface="宋体" panose="02010600030101010101" pitchFamily="2" charset="-122"/>
            </a:endParaRPr>
          </a:p>
        </p:txBody>
      </p:sp>
      <p:sp>
        <p:nvSpPr>
          <p:cNvPr id="229381" name="AutoShape 5"/>
          <p:cNvSpPr/>
          <p:nvPr/>
        </p:nvSpPr>
        <p:spPr>
          <a:xfrm rot="5400000">
            <a:off x="1485900" y="3886200"/>
            <a:ext cx="2895600" cy="304800"/>
          </a:xfrm>
          <a:prstGeom prst="rightArrow">
            <a:avLst>
              <a:gd name="adj1" fmla="val 50000"/>
              <a:gd name="adj2" fmla="val 237500"/>
            </a:avLst>
          </a:prstGeom>
          <a:solidFill>
            <a:srgbClr val="CC3300">
              <a:alpha val="50195"/>
            </a:srgbClr>
          </a:solidFill>
          <a:ln w="9525" cap="flat" cmpd="sng">
            <a:solidFill>
              <a:srgbClr val="CC33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graphicFrame>
        <p:nvGraphicFramePr>
          <p:cNvPr id="229382" name="Object 6"/>
          <p:cNvGraphicFramePr>
            <a:graphicFrameLocks noChangeAspect="1"/>
          </p:cNvGraphicFramePr>
          <p:nvPr/>
        </p:nvGraphicFramePr>
        <p:xfrm>
          <a:off x="4311650" y="1562100"/>
          <a:ext cx="6083300" cy="619125"/>
        </p:xfrm>
        <a:graphic>
          <a:graphicData uri="http://schemas.openxmlformats.org/presentationml/2006/ole">
            <mc:AlternateContent xmlns:mc="http://schemas.openxmlformats.org/markup-compatibility/2006">
              <mc:Choice xmlns:v="urn:schemas-microsoft-com:vml" Requires="v">
                <p:oleObj spid="_x0000_s15363" r:id="rId3" imgW="2476500" imgH="254000" progId="Equation.3">
                  <p:embed/>
                </p:oleObj>
              </mc:Choice>
              <mc:Fallback>
                <p:oleObj r:id="rId3" imgW="2476500" imgH="254000" progId="Equation.3">
                  <p:embed/>
                  <p:pic>
                    <p:nvPicPr>
                      <p:cNvPr id="0" name="图片 3177"/>
                      <p:cNvPicPr/>
                      <p:nvPr/>
                    </p:nvPicPr>
                    <p:blipFill>
                      <a:blip r:embed="rId4"/>
                      <a:stretch>
                        <a:fillRect/>
                      </a:stretch>
                    </p:blipFill>
                    <p:spPr>
                      <a:xfrm>
                        <a:off x="4311650" y="1562100"/>
                        <a:ext cx="6083300" cy="619125"/>
                      </a:xfrm>
                      <a:prstGeom prst="rect">
                        <a:avLst/>
                      </a:prstGeom>
                      <a:solidFill>
                        <a:srgbClr val="FFFF99"/>
                      </a:solidFill>
                      <a:ln w="38100">
                        <a:noFill/>
                        <a:miter/>
                      </a:ln>
                    </p:spPr>
                  </p:pic>
                </p:oleObj>
              </mc:Fallback>
            </mc:AlternateContent>
          </a:graphicData>
        </a:graphic>
      </p:graphicFrame>
      <p:graphicFrame>
        <p:nvGraphicFramePr>
          <p:cNvPr id="229383" name="Object 7"/>
          <p:cNvGraphicFramePr>
            <a:graphicFrameLocks noChangeAspect="1"/>
          </p:cNvGraphicFramePr>
          <p:nvPr/>
        </p:nvGraphicFramePr>
        <p:xfrm>
          <a:off x="4495800" y="4103688"/>
          <a:ext cx="5924550" cy="2754312"/>
        </p:xfrm>
        <a:graphic>
          <a:graphicData uri="http://schemas.openxmlformats.org/presentationml/2006/ole">
            <mc:AlternateContent xmlns:mc="http://schemas.openxmlformats.org/markup-compatibility/2006">
              <mc:Choice xmlns:v="urn:schemas-microsoft-com:vml" Requires="v">
                <p:oleObj spid="_x0000_s15364" r:id="rId5" imgW="1914525" imgH="1247775" progId="Word.Document.8">
                  <p:embed/>
                </p:oleObj>
              </mc:Choice>
              <mc:Fallback>
                <p:oleObj r:id="rId5" imgW="1914525" imgH="1247775" progId="Word.Document.8">
                  <p:embed/>
                  <p:pic>
                    <p:nvPicPr>
                      <p:cNvPr id="0" name="图片 3175"/>
                      <p:cNvPicPr/>
                      <p:nvPr/>
                    </p:nvPicPr>
                    <p:blipFill>
                      <a:blip r:embed="rId6"/>
                      <a:stretch>
                        <a:fillRect/>
                      </a:stretch>
                    </p:blipFill>
                    <p:spPr>
                      <a:xfrm>
                        <a:off x="4495800" y="4103688"/>
                        <a:ext cx="5924550" cy="2754312"/>
                      </a:xfrm>
                      <a:prstGeom prst="rect">
                        <a:avLst/>
                      </a:prstGeom>
                      <a:solidFill>
                        <a:srgbClr val="D9FFEC"/>
                      </a:solidFill>
                      <a:ln w="38100">
                        <a:noFill/>
                        <a:miter/>
                      </a:ln>
                    </p:spPr>
                  </p:pic>
                </p:oleObj>
              </mc:Fallback>
            </mc:AlternateContent>
          </a:graphicData>
        </a:graphic>
      </p:graphicFrame>
      <p:sp>
        <p:nvSpPr>
          <p:cNvPr id="229384" name="AutoShape 8"/>
          <p:cNvSpPr/>
          <p:nvPr/>
        </p:nvSpPr>
        <p:spPr>
          <a:xfrm rot="5400000">
            <a:off x="6667500" y="2971800"/>
            <a:ext cx="1752600" cy="304800"/>
          </a:xfrm>
          <a:prstGeom prst="rightArrow">
            <a:avLst>
              <a:gd name="adj1" fmla="val 50000"/>
              <a:gd name="adj2" fmla="val 143750"/>
            </a:avLst>
          </a:prstGeom>
          <a:solidFill>
            <a:srgbClr val="CC3300">
              <a:alpha val="50195"/>
            </a:srgbClr>
          </a:solidFill>
          <a:ln w="9525" cap="flat" cmpd="sng">
            <a:solidFill>
              <a:srgbClr val="CC3300"/>
            </a:solidFill>
            <a:prstDash val="solid"/>
            <a:miter/>
            <a:headEnd type="none" w="med" len="med"/>
            <a:tailEnd type="none" w="med" len="med"/>
          </a:ln>
        </p:spPr>
        <p:txBody>
          <a:bodyPr wrap="none" anchor="ctr" anchorCtr="0"/>
          <a:lstStyle/>
          <a:p>
            <a:endParaRPr lang="zh-CN" altLang="en-US" dirty="0">
              <a:latin typeface="Arial" panose="020B0604020202020204" pitchFamily="34" charset="0"/>
              <a:ea typeface="宋体" panose="02010600030101010101" pitchFamily="2" charset="-122"/>
            </a:endParaRPr>
          </a:p>
        </p:txBody>
      </p:sp>
      <p:sp>
        <p:nvSpPr>
          <p:cNvPr id="229385" name="Oval 9"/>
          <p:cNvSpPr/>
          <p:nvPr/>
        </p:nvSpPr>
        <p:spPr>
          <a:xfrm>
            <a:off x="3196451" y="3329562"/>
            <a:ext cx="450812" cy="435414"/>
          </a:xfrm>
          <a:prstGeom prst="ellipse">
            <a:avLst/>
          </a:prstGeom>
          <a:noFill/>
          <a:ln w="25400" cap="flat" cmpd="sng">
            <a:solidFill>
              <a:srgbClr val="CC3300"/>
            </a:solidFill>
            <a:prstDash val="solid"/>
            <a:round/>
            <a:headEnd type="none" w="med" len="med"/>
            <a:tailEnd type="none" w="med" len="med"/>
          </a:ln>
        </p:spPr>
        <p:txBody>
          <a:bodyPr wrap="none" lIns="0" tIns="0" rIns="0" bIns="0" anchor="ctr" anchorCtr="0">
            <a:spAutoFit/>
          </a:bodyPr>
          <a:lstStyle/>
          <a:p>
            <a:pPr algn="ctr">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1  </a:t>
            </a:r>
          </a:p>
        </p:txBody>
      </p:sp>
      <p:sp>
        <p:nvSpPr>
          <p:cNvPr id="229386" name="Oval 10"/>
          <p:cNvSpPr/>
          <p:nvPr/>
        </p:nvSpPr>
        <p:spPr>
          <a:xfrm>
            <a:off x="7822426" y="2827912"/>
            <a:ext cx="450812" cy="435414"/>
          </a:xfrm>
          <a:prstGeom prst="ellipse">
            <a:avLst/>
          </a:prstGeom>
          <a:noFill/>
          <a:ln w="25400" cap="flat" cmpd="sng">
            <a:solidFill>
              <a:srgbClr val="CC3300"/>
            </a:solidFill>
            <a:prstDash val="solid"/>
            <a:round/>
            <a:headEnd type="none" w="med" len="med"/>
            <a:tailEnd type="none" w="med" len="med"/>
          </a:ln>
        </p:spPr>
        <p:txBody>
          <a:bodyPr wrap="none" lIns="0" tIns="0" rIns="0" bIns="0" anchor="ctr" anchorCtr="0">
            <a:spAutoFit/>
          </a:bodyPr>
          <a:lstStyle/>
          <a:p>
            <a:pPr algn="ctr">
              <a:spcBef>
                <a:spcPct val="50000"/>
              </a:spcBef>
            </a:pPr>
            <a:r>
              <a:rPr lang="zh-CN" altLang="en-US" b="0" dirty="0">
                <a:latin typeface="Times New Roman" panose="02020603050405020304" pitchFamily="18" charset="0"/>
                <a:ea typeface="宋体" panose="02010600030101010101" pitchFamily="2" charset="-122"/>
              </a:rPr>
              <a:t> </a:t>
            </a:r>
            <a:r>
              <a:rPr lang="en-US" altLang="zh-CN" b="0" dirty="0">
                <a:latin typeface="Times New Roman" panose="02020603050405020304" pitchFamily="18" charset="0"/>
                <a:ea typeface="宋体" panose="02010600030101010101" pitchFamily="2" charset="-122"/>
              </a:rPr>
              <a:t>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293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29379"/>
                                        </p:tgtEl>
                                        <p:attrNameLst>
                                          <p:attrName>style.visibility</p:attrName>
                                        </p:attrNameLst>
                                      </p:cBhvr>
                                      <p:to>
                                        <p:strVal val="visible"/>
                                      </p:to>
                                    </p:set>
                                    <p:animEffect transition="in" filter="wipe(left)">
                                      <p:cBhvr>
                                        <p:cTn id="11" dur="500"/>
                                        <p:tgtEl>
                                          <p:spTgt spid="229379"/>
                                        </p:tgtEl>
                                      </p:cBhvr>
                                    </p:animEffect>
                                  </p:childTnLst>
                                </p:cTn>
                              </p:par>
                            </p:childTnLst>
                          </p:cTn>
                        </p:par>
                        <p:par>
                          <p:cTn id="12" fill="hold">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229381"/>
                                        </p:tgtEl>
                                        <p:attrNameLst>
                                          <p:attrName>style.visibility</p:attrName>
                                        </p:attrNameLst>
                                      </p:cBhvr>
                                      <p:to>
                                        <p:strVal val="visible"/>
                                      </p:to>
                                    </p:set>
                                    <p:animEffect transition="in" filter="wipe(up)">
                                      <p:cBhvr>
                                        <p:cTn id="15" dur="500"/>
                                        <p:tgtEl>
                                          <p:spTgt spid="229381"/>
                                        </p:tgtEl>
                                      </p:cBhvr>
                                    </p:animEffec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2293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9380"/>
                                        </p:tgtEl>
                                        <p:attrNameLst>
                                          <p:attrName>style.visibility</p:attrName>
                                        </p:attrNameLst>
                                      </p:cBhvr>
                                      <p:to>
                                        <p:strVal val="visible"/>
                                      </p:to>
                                    </p:set>
                                    <p:animEffect transition="in" filter="wipe(left)">
                                      <p:cBhvr>
                                        <p:cTn id="23" dur="500"/>
                                        <p:tgtEl>
                                          <p:spTgt spid="229380"/>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37" fill="hold" nodeType="clickEffect">
                                  <p:stCondLst>
                                    <p:cond delay="0"/>
                                  </p:stCondLst>
                                  <p:childTnLst>
                                    <p:set>
                                      <p:cBhvr>
                                        <p:cTn id="27" dur="1" fill="hold">
                                          <p:stCondLst>
                                            <p:cond delay="0"/>
                                          </p:stCondLst>
                                        </p:cTn>
                                        <p:tgtEl>
                                          <p:spTgt spid="229382"/>
                                        </p:tgtEl>
                                        <p:attrNameLst>
                                          <p:attrName>style.visibility</p:attrName>
                                        </p:attrNameLst>
                                      </p:cBhvr>
                                      <p:to>
                                        <p:strVal val="visible"/>
                                      </p:to>
                                    </p:set>
                                    <p:animEffect transition="in" filter="barn(outVertical)">
                                      <p:cBhvr>
                                        <p:cTn id="28" dur="500"/>
                                        <p:tgtEl>
                                          <p:spTgt spid="229382"/>
                                        </p:tgtEl>
                                      </p:cBhvr>
                                    </p:animEffect>
                                  </p:childTnLst>
                                </p:cTn>
                              </p:par>
                            </p:childTnLst>
                          </p:cTn>
                        </p:par>
                        <p:par>
                          <p:cTn id="29" fill="hold">
                            <p:stCondLst>
                              <p:cond delay="500"/>
                            </p:stCondLst>
                            <p:childTnLst>
                              <p:par>
                                <p:cTn id="30" presetID="22" presetClass="entr" presetSubtype="1" fill="hold" grpId="0" nodeType="afterEffect">
                                  <p:stCondLst>
                                    <p:cond delay="0"/>
                                  </p:stCondLst>
                                  <p:childTnLst>
                                    <p:set>
                                      <p:cBhvr>
                                        <p:cTn id="31" dur="1" fill="hold">
                                          <p:stCondLst>
                                            <p:cond delay="0"/>
                                          </p:stCondLst>
                                        </p:cTn>
                                        <p:tgtEl>
                                          <p:spTgt spid="229384"/>
                                        </p:tgtEl>
                                        <p:attrNameLst>
                                          <p:attrName>style.visibility</p:attrName>
                                        </p:attrNameLst>
                                      </p:cBhvr>
                                      <p:to>
                                        <p:strVal val="visible"/>
                                      </p:to>
                                    </p:set>
                                    <p:animEffect transition="in" filter="wipe(up)">
                                      <p:cBhvr>
                                        <p:cTn id="32" dur="500"/>
                                        <p:tgtEl>
                                          <p:spTgt spid="229384"/>
                                        </p:tgtEl>
                                      </p:cBhvr>
                                    </p:animEffect>
                                  </p:childTnLst>
                                </p:cTn>
                              </p:par>
                            </p:childTnLst>
                          </p:cTn>
                        </p:par>
                        <p:par>
                          <p:cTn id="33" fill="hold">
                            <p:stCondLst>
                              <p:cond delay="1000"/>
                            </p:stCondLst>
                            <p:childTnLst>
                              <p:par>
                                <p:cTn id="34" presetID="1" presetClass="entr" presetSubtype="0" fill="hold" grpId="0" nodeType="afterEffect">
                                  <p:stCondLst>
                                    <p:cond delay="0"/>
                                  </p:stCondLst>
                                  <p:childTnLst>
                                    <p:set>
                                      <p:cBhvr>
                                        <p:cTn id="35" dur="1" fill="hold">
                                          <p:stCondLst>
                                            <p:cond delay="499"/>
                                          </p:stCondLst>
                                        </p:cTn>
                                        <p:tgtEl>
                                          <p:spTgt spid="22938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29383"/>
                                        </p:tgtEl>
                                        <p:attrNameLst>
                                          <p:attrName>style.visibility</p:attrName>
                                        </p:attrNameLst>
                                      </p:cBhvr>
                                      <p:to>
                                        <p:strVal val="visible"/>
                                      </p:to>
                                    </p:set>
                                    <p:animEffect transition="in" filter="dissolve">
                                      <p:cBhvr>
                                        <p:cTn id="40" dur="500"/>
                                        <p:tgtEl>
                                          <p:spTgt spid="2293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bldLvl="0" animBg="1"/>
      <p:bldP spid="229379" grpId="0" bldLvl="0" animBg="1"/>
      <p:bldP spid="229380" grpId="0" bldLvl="0" animBg="1"/>
      <p:bldP spid="229381" grpId="0" bldLvl="0" animBg="1"/>
      <p:bldP spid="229384" grpId="0" bldLvl="0" animBg="1"/>
      <p:bldP spid="229385" grpId="0" bldLvl="0" animBg="1"/>
      <p:bldP spid="229386"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31"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sp>
        <p:nvSpPr>
          <p:cNvPr id="230402" name="Text Box 2"/>
          <p:cNvSpPr txBox="1"/>
          <p:nvPr/>
        </p:nvSpPr>
        <p:spPr>
          <a:xfrm>
            <a:off x="1828800" y="4724400"/>
            <a:ext cx="2971800" cy="583565"/>
          </a:xfrm>
          <a:prstGeom prst="rect">
            <a:avLst/>
          </a:prstGeom>
          <a:noFill/>
          <a:ln w="25400" cap="flat" cmpd="sng">
            <a:solidFill>
              <a:srgbClr val="CC3300"/>
            </a:solidFill>
            <a:prstDash val="solid"/>
            <a:miter/>
            <a:headEnd type="none" w="med" len="med"/>
            <a:tailEnd type="none" w="med" len="med"/>
          </a:ln>
        </p:spPr>
        <p:txBody>
          <a:bodyPr anchor="t" anchorCtr="0">
            <a:spAutoFit/>
          </a:bodyPr>
          <a:lstStyle/>
          <a:p>
            <a:pPr algn="ctr">
              <a:spcBef>
                <a:spcPct val="50000"/>
              </a:spcBef>
            </a:pPr>
            <a:r>
              <a:rPr lang="zh-CN" altLang="en-US" sz="3200" dirty="0">
                <a:latin typeface="Times New Roman" panose="02020603050405020304" pitchFamily="18" charset="0"/>
                <a:ea typeface="宋体" panose="02010600030101010101" pitchFamily="2" charset="-122"/>
              </a:rPr>
              <a:t>合并最小项</a:t>
            </a:r>
            <a:endParaRPr lang="zh-CN" altLang="en-US" sz="6000" dirty="0">
              <a:latin typeface="Times New Roman" panose="02020603050405020304" pitchFamily="18" charset="0"/>
              <a:ea typeface="宋体" panose="02010600030101010101" pitchFamily="2" charset="-122"/>
            </a:endParaRPr>
          </a:p>
        </p:txBody>
      </p:sp>
      <p:sp>
        <p:nvSpPr>
          <p:cNvPr id="230403" name="AutoShape 3"/>
          <p:cNvSpPr/>
          <p:nvPr/>
        </p:nvSpPr>
        <p:spPr>
          <a:xfrm>
            <a:off x="2057400" y="152400"/>
            <a:ext cx="304800" cy="4495800"/>
          </a:xfrm>
          <a:prstGeom prst="downArrow">
            <a:avLst>
              <a:gd name="adj1" fmla="val 50000"/>
              <a:gd name="adj2" fmla="val 368750"/>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lstStyle/>
          <a:p>
            <a:endParaRPr lang="zh-CN" altLang="en-US" dirty="0">
              <a:latin typeface="Arial" panose="020B0604020202020204" pitchFamily="34" charset="0"/>
              <a:ea typeface="宋体" panose="02010600030101010101" pitchFamily="2" charset="-122"/>
            </a:endParaRPr>
          </a:p>
        </p:txBody>
      </p:sp>
      <p:grpSp>
        <p:nvGrpSpPr>
          <p:cNvPr id="54277" name="Group 4"/>
          <p:cNvGrpSpPr/>
          <p:nvPr/>
        </p:nvGrpSpPr>
        <p:grpSpPr>
          <a:xfrm>
            <a:off x="2438400" y="152400"/>
            <a:ext cx="2190750" cy="2584450"/>
            <a:chOff x="576" y="96"/>
            <a:chExt cx="1380" cy="1628"/>
          </a:xfrm>
        </p:grpSpPr>
        <p:sp>
          <p:nvSpPr>
            <p:cNvPr id="54278" name="Text Box 5"/>
            <p:cNvSpPr txBox="1"/>
            <p:nvPr/>
          </p:nvSpPr>
          <p:spPr>
            <a:xfrm>
              <a:off x="576" y="96"/>
              <a:ext cx="1380" cy="1628"/>
            </a:xfrm>
            <a:prstGeom prst="rect">
              <a:avLst/>
            </a:prstGeom>
            <a:solidFill>
              <a:schemeClr val="bg1"/>
            </a:solidFill>
            <a:ln w="9525">
              <a:noFill/>
            </a:ln>
          </p:spPr>
          <p:txBody>
            <a:bodyPr lIns="0" rIns="0" anchor="t" anchorCtr="0">
              <a:spAutoFit/>
            </a:bodyPr>
            <a:lstStyle/>
            <a:p>
              <a:pPr>
                <a:spcBef>
                  <a:spcPct val="50000"/>
                </a:spcBef>
              </a:pPr>
              <a:r>
                <a:rPr lang="zh-CN" altLang="en-US" dirty="0">
                  <a:solidFill>
                    <a:srgbClr val="FF3300"/>
                  </a:solidFill>
                  <a:latin typeface="Times New Roman" panose="02020603050405020304" pitchFamily="18" charset="0"/>
                  <a:ea typeface="宋体" panose="02010600030101010101" pitchFamily="2" charset="-122"/>
                </a:rPr>
                <a:t>①</a:t>
              </a:r>
              <a:r>
                <a:rPr lang="zh-CN" altLang="en-US" dirty="0">
                  <a:latin typeface="Times New Roman" panose="02020603050405020304" pitchFamily="18" charset="0"/>
                  <a:ea typeface="宋体" panose="02010600030101010101" pitchFamily="2" charset="-122"/>
                </a:rPr>
                <a:t>圈越大越好，但每个圈中标１的方格数目必须为　个。</a:t>
              </a:r>
              <a:r>
                <a:rPr lang="zh-CN" altLang="en-US" dirty="0">
                  <a:solidFill>
                    <a:srgbClr val="FF3300"/>
                  </a:solidFill>
                  <a:latin typeface="Times New Roman" panose="02020603050405020304" pitchFamily="18" charset="0"/>
                  <a:ea typeface="宋体" panose="02010600030101010101" pitchFamily="2" charset="-122"/>
                </a:rPr>
                <a:t>②同一个方格可同时画在几个圈内，但每个圈都要有新的方格，否则它就是多余的。③</a:t>
              </a:r>
              <a:r>
                <a:rPr lang="zh-CN" altLang="en-US" dirty="0">
                  <a:latin typeface="Times New Roman" panose="02020603050405020304" pitchFamily="18" charset="0"/>
                  <a:ea typeface="宋体" panose="02010600030101010101" pitchFamily="2" charset="-122"/>
                </a:rPr>
                <a:t>不能漏掉任何一个标１的方格。</a:t>
              </a:r>
            </a:p>
          </p:txBody>
        </p:sp>
        <p:graphicFrame>
          <p:nvGraphicFramePr>
            <p:cNvPr id="54279" name="Object 6"/>
            <p:cNvGraphicFramePr>
              <a:graphicFrameLocks noChangeAspect="1"/>
            </p:cNvGraphicFramePr>
            <p:nvPr/>
          </p:nvGraphicFramePr>
          <p:xfrm>
            <a:off x="768" y="768"/>
            <a:ext cx="190" cy="268"/>
          </p:xfrm>
          <a:graphic>
            <a:graphicData uri="http://schemas.openxmlformats.org/presentationml/2006/ole">
              <mc:AlternateContent xmlns:mc="http://schemas.openxmlformats.org/markup-compatibility/2006">
                <mc:Choice xmlns:v="urn:schemas-microsoft-com:vml" Requires="v">
                  <p:oleObj spid="_x0000_s16388" r:id="rId3" imgW="152400" imgH="190500" progId="Equation.3">
                    <p:embed/>
                  </p:oleObj>
                </mc:Choice>
                <mc:Fallback>
                  <p:oleObj r:id="rId3" imgW="152400" imgH="190500" progId="Equation.3">
                    <p:embed/>
                    <p:pic>
                      <p:nvPicPr>
                        <p:cNvPr id="0" name="图片 3172"/>
                        <p:cNvPicPr/>
                        <p:nvPr/>
                      </p:nvPicPr>
                      <p:blipFill>
                        <a:blip r:embed="rId4"/>
                        <a:stretch>
                          <a:fillRect/>
                        </a:stretch>
                      </p:blipFill>
                      <p:spPr>
                        <a:xfrm>
                          <a:off x="768" y="768"/>
                          <a:ext cx="190" cy="268"/>
                        </a:xfrm>
                        <a:prstGeom prst="rect">
                          <a:avLst/>
                        </a:prstGeom>
                        <a:noFill/>
                        <a:ln w="38100">
                          <a:noFill/>
                          <a:miter/>
                        </a:ln>
                      </p:spPr>
                    </p:pic>
                  </p:oleObj>
                </mc:Fallback>
              </mc:AlternateContent>
            </a:graphicData>
          </a:graphic>
        </p:graphicFrame>
      </p:grpSp>
      <p:sp>
        <p:nvSpPr>
          <p:cNvPr id="230407" name="Text Box 7"/>
          <p:cNvSpPr txBox="1"/>
          <p:nvPr/>
        </p:nvSpPr>
        <p:spPr>
          <a:xfrm>
            <a:off x="1828800" y="6100763"/>
            <a:ext cx="3067050" cy="583565"/>
          </a:xfrm>
          <a:prstGeom prst="rect">
            <a:avLst/>
          </a:prstGeom>
          <a:noFill/>
          <a:ln w="25400" cap="flat" cmpd="sng">
            <a:solidFill>
              <a:srgbClr val="CC3300"/>
            </a:solidFill>
            <a:prstDash val="solid"/>
            <a:miter/>
            <a:headEnd type="none" w="med" len="med"/>
            <a:tailEnd type="none" w="med" len="med"/>
          </a:ln>
        </p:spPr>
        <p:txBody>
          <a:bodyPr anchor="t" anchorCtr="0">
            <a:spAutoFit/>
          </a:bodyPr>
          <a:lstStyle/>
          <a:p>
            <a:pPr>
              <a:spcBef>
                <a:spcPct val="50000"/>
              </a:spcBef>
            </a:pPr>
            <a:r>
              <a:rPr lang="zh-CN" altLang="en-US" sz="3200" dirty="0">
                <a:latin typeface="Times New Roman" panose="02020603050405020304" pitchFamily="18" charset="0"/>
                <a:ea typeface="宋体" panose="02010600030101010101" pitchFamily="2" charset="-122"/>
              </a:rPr>
              <a:t>最简与或表达式</a:t>
            </a:r>
            <a:endParaRPr lang="zh-CN" altLang="en-US" sz="5400" dirty="0">
              <a:latin typeface="Times New Roman" panose="02020603050405020304" pitchFamily="18" charset="0"/>
              <a:ea typeface="宋体" panose="02010600030101010101" pitchFamily="2" charset="-122"/>
            </a:endParaRPr>
          </a:p>
        </p:txBody>
      </p:sp>
      <p:graphicFrame>
        <p:nvGraphicFramePr>
          <p:cNvPr id="230408" name="Object 8"/>
          <p:cNvGraphicFramePr>
            <a:graphicFrameLocks noChangeAspect="1"/>
          </p:cNvGraphicFramePr>
          <p:nvPr/>
        </p:nvGraphicFramePr>
        <p:xfrm>
          <a:off x="4872038" y="1219200"/>
          <a:ext cx="5167312" cy="3348038"/>
        </p:xfrm>
        <a:graphic>
          <a:graphicData uri="http://schemas.openxmlformats.org/presentationml/2006/ole">
            <mc:AlternateContent xmlns:mc="http://schemas.openxmlformats.org/markup-compatibility/2006">
              <mc:Choice xmlns:v="urn:schemas-microsoft-com:vml" Requires="v">
                <p:oleObj spid="_x0000_s16389" r:id="rId5" imgW="1914525" imgH="1247775" progId="Word.Document.8">
                  <p:embed/>
                </p:oleObj>
              </mc:Choice>
              <mc:Fallback>
                <p:oleObj r:id="rId5" imgW="1914525" imgH="1247775" progId="Word.Document.8">
                  <p:embed/>
                  <p:pic>
                    <p:nvPicPr>
                      <p:cNvPr id="0" name="图片 3179"/>
                      <p:cNvPicPr/>
                      <p:nvPr/>
                    </p:nvPicPr>
                    <p:blipFill>
                      <a:blip r:embed="rId6"/>
                      <a:stretch>
                        <a:fillRect/>
                      </a:stretch>
                    </p:blipFill>
                    <p:spPr>
                      <a:xfrm>
                        <a:off x="4872038" y="1219200"/>
                        <a:ext cx="5167312" cy="3348038"/>
                      </a:xfrm>
                      <a:prstGeom prst="rect">
                        <a:avLst/>
                      </a:prstGeom>
                      <a:solidFill>
                        <a:srgbClr val="D9FFEC"/>
                      </a:solidFill>
                      <a:ln w="38100">
                        <a:noFill/>
                        <a:miter/>
                      </a:ln>
                    </p:spPr>
                  </p:pic>
                </p:oleObj>
              </mc:Fallback>
            </mc:AlternateContent>
          </a:graphicData>
        </a:graphic>
      </p:graphicFrame>
      <p:graphicFrame>
        <p:nvGraphicFramePr>
          <p:cNvPr id="230409" name="Object 9"/>
          <p:cNvGraphicFramePr>
            <a:graphicFrameLocks noChangeAspect="1"/>
          </p:cNvGraphicFramePr>
          <p:nvPr/>
        </p:nvGraphicFramePr>
        <p:xfrm>
          <a:off x="5138738" y="6172200"/>
          <a:ext cx="5529262" cy="601663"/>
        </p:xfrm>
        <a:graphic>
          <a:graphicData uri="http://schemas.openxmlformats.org/presentationml/2006/ole">
            <mc:AlternateContent xmlns:mc="http://schemas.openxmlformats.org/markup-compatibility/2006">
              <mc:Choice xmlns:v="urn:schemas-microsoft-com:vml" Requires="v">
                <p:oleObj spid="_x0000_s16390" r:id="rId7" imgW="2095500" imgH="228600" progId="Equation.3">
                  <p:embed/>
                </p:oleObj>
              </mc:Choice>
              <mc:Fallback>
                <p:oleObj r:id="rId7" imgW="2095500" imgH="228600" progId="Equation.3">
                  <p:embed/>
                  <p:pic>
                    <p:nvPicPr>
                      <p:cNvPr id="0" name="图片 3184"/>
                      <p:cNvPicPr/>
                      <p:nvPr/>
                    </p:nvPicPr>
                    <p:blipFill>
                      <a:blip r:embed="rId8"/>
                      <a:stretch>
                        <a:fillRect/>
                      </a:stretch>
                    </p:blipFill>
                    <p:spPr>
                      <a:xfrm>
                        <a:off x="5138738" y="6172200"/>
                        <a:ext cx="5529262" cy="601663"/>
                      </a:xfrm>
                      <a:prstGeom prst="rect">
                        <a:avLst/>
                      </a:prstGeom>
                      <a:solidFill>
                        <a:srgbClr val="FFFF99"/>
                      </a:solidFill>
                      <a:ln w="38100">
                        <a:noFill/>
                        <a:miter/>
                      </a:ln>
                    </p:spPr>
                  </p:pic>
                </p:oleObj>
              </mc:Fallback>
            </mc:AlternateContent>
          </a:graphicData>
        </a:graphic>
      </p:graphicFrame>
      <p:sp>
        <p:nvSpPr>
          <p:cNvPr id="230410" name="Oval 10"/>
          <p:cNvSpPr/>
          <p:nvPr/>
        </p:nvSpPr>
        <p:spPr>
          <a:xfrm>
            <a:off x="7162800" y="2604480"/>
            <a:ext cx="573368" cy="658440"/>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0411" name="Oval 11"/>
          <p:cNvSpPr/>
          <p:nvPr/>
        </p:nvSpPr>
        <p:spPr>
          <a:xfrm>
            <a:off x="8077200" y="2403614"/>
            <a:ext cx="609600" cy="1060172"/>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0412" name="Oval 12"/>
          <p:cNvSpPr/>
          <p:nvPr/>
        </p:nvSpPr>
        <p:spPr>
          <a:xfrm>
            <a:off x="6096000" y="3137880"/>
            <a:ext cx="685800" cy="658440"/>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0413" name="Oval 13"/>
          <p:cNvSpPr/>
          <p:nvPr/>
        </p:nvSpPr>
        <p:spPr>
          <a:xfrm>
            <a:off x="6096000" y="2976236"/>
            <a:ext cx="1676400" cy="524528"/>
          </a:xfrm>
          <a:prstGeom prst="ellipse">
            <a:avLst/>
          </a:prstGeom>
          <a:noFill/>
          <a:ln w="38100" cap="flat" cmpd="sng">
            <a:solidFill>
              <a:srgbClr val="0000FF"/>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0414" name="Text Box 14"/>
          <p:cNvSpPr txBox="1"/>
          <p:nvPr/>
        </p:nvSpPr>
        <p:spPr>
          <a:xfrm>
            <a:off x="6629400" y="2514600"/>
            <a:ext cx="762000" cy="368300"/>
          </a:xfrm>
          <a:prstGeom prst="rect">
            <a:avLst/>
          </a:prstGeom>
          <a:noFill/>
          <a:ln w="9525">
            <a:noFill/>
          </a:ln>
        </p:spPr>
        <p:txBody>
          <a:bodyPr lIns="0" rIns="0" anchor="t" anchorCtr="0">
            <a:spAutoFit/>
          </a:bodyPr>
          <a:lstStyle/>
          <a:p>
            <a:pPr>
              <a:spcBef>
                <a:spcPct val="50000"/>
              </a:spcBef>
            </a:pPr>
            <a:r>
              <a:rPr lang="zh-CN" altLang="en-US" dirty="0">
                <a:solidFill>
                  <a:srgbClr val="CC3300"/>
                </a:solidFill>
                <a:latin typeface="Times New Roman" panose="02020603050405020304" pitchFamily="18" charset="0"/>
                <a:ea typeface="宋体" panose="02010600030101010101" pitchFamily="2" charset="-122"/>
              </a:rPr>
              <a:t>ＢＤ</a:t>
            </a:r>
            <a:endParaRPr lang="zh-CN" altLang="en-US" dirty="0">
              <a:latin typeface="Times New Roman" panose="02020603050405020304" pitchFamily="18" charset="0"/>
              <a:ea typeface="宋体" panose="02010600030101010101" pitchFamily="2" charset="-122"/>
            </a:endParaRPr>
          </a:p>
        </p:txBody>
      </p:sp>
      <p:sp>
        <p:nvSpPr>
          <p:cNvPr id="230415" name="Text Box 15"/>
          <p:cNvSpPr txBox="1"/>
          <p:nvPr/>
        </p:nvSpPr>
        <p:spPr>
          <a:xfrm>
            <a:off x="8153400" y="1219200"/>
            <a:ext cx="685800" cy="368300"/>
          </a:xfrm>
          <a:prstGeom prst="rect">
            <a:avLst/>
          </a:prstGeom>
          <a:noFill/>
          <a:ln w="9525">
            <a:noFill/>
          </a:ln>
        </p:spPr>
        <p:txBody>
          <a:bodyPr lIns="0" rIns="0" anchor="t" anchorCtr="0">
            <a:spAutoFit/>
          </a:bodyPr>
          <a:lstStyle/>
          <a:p>
            <a:pPr>
              <a:spcBef>
                <a:spcPct val="50000"/>
              </a:spcBef>
            </a:pPr>
            <a:r>
              <a:rPr lang="zh-CN" altLang="en-US" b="0" dirty="0">
                <a:solidFill>
                  <a:srgbClr val="CC3300"/>
                </a:solidFill>
                <a:latin typeface="Times New Roman" panose="02020603050405020304" pitchFamily="18" charset="0"/>
                <a:ea typeface="宋体" panose="02010600030101010101" pitchFamily="2" charset="-122"/>
              </a:rPr>
              <a:t>ＣＤ</a:t>
            </a:r>
            <a:endParaRPr lang="zh-CN" altLang="en-US" b="0" dirty="0">
              <a:latin typeface="Times New Roman" panose="02020603050405020304" pitchFamily="18" charset="0"/>
              <a:ea typeface="宋体" panose="02010600030101010101" pitchFamily="2" charset="-122"/>
            </a:endParaRPr>
          </a:p>
        </p:txBody>
      </p:sp>
      <p:grpSp>
        <p:nvGrpSpPr>
          <p:cNvPr id="230416" name="Group 16"/>
          <p:cNvGrpSpPr/>
          <p:nvPr/>
        </p:nvGrpSpPr>
        <p:grpSpPr>
          <a:xfrm>
            <a:off x="5867400" y="4114800"/>
            <a:ext cx="1066800" cy="368300"/>
            <a:chOff x="3312" y="1680"/>
            <a:chExt cx="672" cy="232"/>
          </a:xfrm>
        </p:grpSpPr>
        <p:sp>
          <p:nvSpPr>
            <p:cNvPr id="54290" name="Text Box 17"/>
            <p:cNvSpPr txBox="1"/>
            <p:nvPr/>
          </p:nvSpPr>
          <p:spPr>
            <a:xfrm>
              <a:off x="3312" y="1680"/>
              <a:ext cx="672" cy="232"/>
            </a:xfrm>
            <a:prstGeom prst="rect">
              <a:avLst/>
            </a:prstGeom>
            <a:noFill/>
            <a:ln w="9525">
              <a:noFill/>
            </a:ln>
          </p:spPr>
          <p:txBody>
            <a:bodyPr lIns="0" rIns="0" anchor="t" anchorCtr="0">
              <a:spAutoFit/>
            </a:bodyPr>
            <a:lstStyle/>
            <a:p>
              <a:pPr>
                <a:spcBef>
                  <a:spcPct val="50000"/>
                </a:spcBef>
              </a:pPr>
              <a:r>
                <a:rPr lang="zh-CN" altLang="en-US" dirty="0">
                  <a:solidFill>
                    <a:srgbClr val="CC3300"/>
                  </a:solidFill>
                  <a:latin typeface="Times New Roman" panose="02020603050405020304" pitchFamily="18" charset="0"/>
                  <a:ea typeface="宋体" panose="02010600030101010101" pitchFamily="2" charset="-122"/>
                </a:rPr>
                <a:t>ＡＣＤ</a:t>
              </a:r>
              <a:endParaRPr lang="zh-CN" altLang="en-US" dirty="0">
                <a:latin typeface="Times New Roman" panose="02020603050405020304" pitchFamily="18" charset="0"/>
                <a:ea typeface="宋体" panose="02010600030101010101" pitchFamily="2" charset="-122"/>
              </a:endParaRPr>
            </a:p>
          </p:txBody>
        </p:sp>
        <p:sp>
          <p:nvSpPr>
            <p:cNvPr id="54291" name="Line 18"/>
            <p:cNvSpPr/>
            <p:nvPr/>
          </p:nvSpPr>
          <p:spPr>
            <a:xfrm>
              <a:off x="3516" y="1704"/>
              <a:ext cx="144" cy="0"/>
            </a:xfrm>
            <a:prstGeom prst="line">
              <a:avLst/>
            </a:prstGeom>
            <a:ln w="38100" cap="flat" cmpd="sng">
              <a:solidFill>
                <a:srgbClr val="CC3300"/>
              </a:solidFill>
              <a:prstDash val="solid"/>
              <a:round/>
              <a:headEnd type="none" w="med" len="med"/>
              <a:tailEnd type="none" w="med" len="med"/>
            </a:ln>
          </p:spPr>
        </p:sp>
        <p:sp>
          <p:nvSpPr>
            <p:cNvPr id="54292" name="Line 19"/>
            <p:cNvSpPr/>
            <p:nvPr/>
          </p:nvSpPr>
          <p:spPr>
            <a:xfrm>
              <a:off x="3708" y="1704"/>
              <a:ext cx="144" cy="0"/>
            </a:xfrm>
            <a:prstGeom prst="line">
              <a:avLst/>
            </a:prstGeom>
            <a:ln w="38100" cap="flat" cmpd="sng">
              <a:solidFill>
                <a:srgbClr val="CC3300"/>
              </a:solidFill>
              <a:prstDash val="solid"/>
              <a:round/>
              <a:headEnd type="none" w="med" len="med"/>
              <a:tailEnd type="none" w="med" len="med"/>
            </a:ln>
          </p:spPr>
        </p:sp>
      </p:grpSp>
      <p:sp>
        <p:nvSpPr>
          <p:cNvPr id="230420" name="Text Box 20"/>
          <p:cNvSpPr txBox="1"/>
          <p:nvPr/>
        </p:nvSpPr>
        <p:spPr>
          <a:xfrm>
            <a:off x="4724400" y="4038600"/>
            <a:ext cx="990600" cy="368300"/>
          </a:xfrm>
          <a:prstGeom prst="rect">
            <a:avLst/>
          </a:prstGeom>
          <a:noFill/>
          <a:ln w="9525">
            <a:noFill/>
          </a:ln>
        </p:spPr>
        <p:txBody>
          <a:bodyPr lIns="0" rIns="0" anchor="t" anchorCtr="0">
            <a:spAutoFit/>
          </a:bodyPr>
          <a:lstStyle/>
          <a:p>
            <a:pPr>
              <a:spcBef>
                <a:spcPct val="50000"/>
              </a:spcBef>
            </a:pPr>
            <a:r>
              <a:rPr lang="zh-CN" altLang="en-US" dirty="0">
                <a:solidFill>
                  <a:srgbClr val="0000FF"/>
                </a:solidFill>
                <a:latin typeface="Times New Roman" panose="02020603050405020304" pitchFamily="18" charset="0"/>
                <a:ea typeface="宋体" panose="02010600030101010101" pitchFamily="2" charset="-122"/>
              </a:rPr>
              <a:t>冗余项</a:t>
            </a:r>
          </a:p>
        </p:txBody>
      </p:sp>
      <p:sp>
        <p:nvSpPr>
          <p:cNvPr id="230421" name="Line 21"/>
          <p:cNvSpPr/>
          <p:nvPr/>
        </p:nvSpPr>
        <p:spPr>
          <a:xfrm flipV="1">
            <a:off x="5410200" y="3505200"/>
            <a:ext cx="1066800" cy="609600"/>
          </a:xfrm>
          <a:prstGeom prst="line">
            <a:avLst/>
          </a:prstGeom>
          <a:ln w="38100" cap="flat" cmpd="sng">
            <a:solidFill>
              <a:srgbClr val="0000FF"/>
            </a:solidFill>
            <a:prstDash val="solid"/>
            <a:round/>
            <a:headEnd type="none" w="med" len="med"/>
            <a:tailEnd type="none" w="med" len="med"/>
          </a:ln>
        </p:spPr>
      </p:sp>
      <p:sp>
        <p:nvSpPr>
          <p:cNvPr id="230422" name="Oval 22"/>
          <p:cNvSpPr/>
          <p:nvPr/>
        </p:nvSpPr>
        <p:spPr>
          <a:xfrm>
            <a:off x="1612126" y="1875412"/>
            <a:ext cx="450812" cy="435414"/>
          </a:xfrm>
          <a:prstGeom prst="ellipse">
            <a:avLst/>
          </a:prstGeom>
          <a:noFill/>
          <a:ln w="25400" cap="flat" cmpd="sng">
            <a:solidFill>
              <a:srgbClr val="CC3300"/>
            </a:solidFill>
            <a:prstDash val="solid"/>
            <a:round/>
            <a:headEnd type="none" w="med" len="med"/>
            <a:tailEnd type="none" w="med" len="med"/>
          </a:ln>
        </p:spPr>
        <p:txBody>
          <a:bodyPr wrap="none" lIns="0" tIns="0" rIns="0" bIns="0" anchor="ctr" anchorCtr="0">
            <a:spAutoFit/>
          </a:bodyPr>
          <a:lstStyle/>
          <a:p>
            <a:pPr algn="ctr">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  </a:t>
            </a:r>
          </a:p>
        </p:txBody>
      </p:sp>
      <p:sp>
        <p:nvSpPr>
          <p:cNvPr id="230424" name="Oval 24"/>
          <p:cNvSpPr/>
          <p:nvPr/>
        </p:nvSpPr>
        <p:spPr>
          <a:xfrm>
            <a:off x="6990576" y="891162"/>
            <a:ext cx="450812" cy="435414"/>
          </a:xfrm>
          <a:prstGeom prst="ellipse">
            <a:avLst/>
          </a:prstGeom>
          <a:solidFill>
            <a:schemeClr val="bg1"/>
          </a:solidFill>
          <a:ln w="25400" cap="flat" cmpd="sng">
            <a:solidFill>
              <a:srgbClr val="CC3300"/>
            </a:solidFill>
            <a:prstDash val="solid"/>
            <a:round/>
            <a:headEnd type="none" w="med" len="med"/>
            <a:tailEnd type="none" w="med" len="med"/>
          </a:ln>
        </p:spPr>
        <p:txBody>
          <a:bodyPr wrap="none" lIns="0" tIns="0" rIns="0" bIns="0" anchor="ctr" anchorCtr="0">
            <a:spAutoFit/>
          </a:bodyPr>
          <a:lstStyle/>
          <a:p>
            <a:pPr algn="ctr">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2  </a:t>
            </a:r>
          </a:p>
        </p:txBody>
      </p:sp>
      <p:sp>
        <p:nvSpPr>
          <p:cNvPr id="230425" name="AutoShape 25"/>
          <p:cNvSpPr/>
          <p:nvPr/>
        </p:nvSpPr>
        <p:spPr>
          <a:xfrm>
            <a:off x="3352800" y="5448300"/>
            <a:ext cx="247650" cy="533400"/>
          </a:xfrm>
          <a:prstGeom prst="downArrow">
            <a:avLst>
              <a:gd name="adj1" fmla="val 50000"/>
              <a:gd name="adj2" fmla="val 53806"/>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lstStyle/>
          <a:p>
            <a:endParaRPr lang="zh-CN" altLang="en-US" dirty="0">
              <a:latin typeface="Arial" panose="020B0604020202020204" pitchFamily="34" charset="0"/>
              <a:ea typeface="宋体" panose="02010600030101010101" pitchFamily="2" charset="-122"/>
            </a:endParaRPr>
          </a:p>
        </p:txBody>
      </p:sp>
      <p:sp>
        <p:nvSpPr>
          <p:cNvPr id="230426" name="Oval 26"/>
          <p:cNvSpPr/>
          <p:nvPr/>
        </p:nvSpPr>
        <p:spPr>
          <a:xfrm>
            <a:off x="2793226" y="5501262"/>
            <a:ext cx="450812" cy="435414"/>
          </a:xfrm>
          <a:prstGeom prst="ellipse">
            <a:avLst/>
          </a:prstGeom>
          <a:noFill/>
          <a:ln w="25400" cap="flat" cmpd="sng">
            <a:solidFill>
              <a:srgbClr val="CC3300"/>
            </a:solidFill>
            <a:prstDash val="solid"/>
            <a:round/>
            <a:headEnd type="none" w="med" len="med"/>
            <a:tailEnd type="none" w="med" len="med"/>
          </a:ln>
        </p:spPr>
        <p:txBody>
          <a:bodyPr wrap="none" lIns="0" tIns="0" rIns="0" bIns="0" anchor="ctr" anchorCtr="0">
            <a:spAutoFit/>
          </a:bodyPr>
          <a:lstStyle/>
          <a:p>
            <a:pPr algn="ctr">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  </a:t>
            </a:r>
          </a:p>
        </p:txBody>
      </p:sp>
      <p:sp>
        <p:nvSpPr>
          <p:cNvPr id="230427" name="AutoShape 27"/>
          <p:cNvSpPr/>
          <p:nvPr/>
        </p:nvSpPr>
        <p:spPr>
          <a:xfrm>
            <a:off x="7467600" y="4419600"/>
            <a:ext cx="304800" cy="1676400"/>
          </a:xfrm>
          <a:prstGeom prst="downArrow">
            <a:avLst>
              <a:gd name="adj1" fmla="val 50000"/>
              <a:gd name="adj2" fmla="val 137500"/>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lstStyle/>
          <a:p>
            <a:endParaRPr lang="zh-CN" altLang="en-US" dirty="0">
              <a:latin typeface="Arial" panose="020B0604020202020204" pitchFamily="34" charset="0"/>
              <a:ea typeface="宋体" panose="02010600030101010101" pitchFamily="2" charset="-122"/>
            </a:endParaRPr>
          </a:p>
        </p:txBody>
      </p:sp>
      <p:sp>
        <p:nvSpPr>
          <p:cNvPr id="230428" name="Oval 28"/>
          <p:cNvSpPr/>
          <p:nvPr/>
        </p:nvSpPr>
        <p:spPr>
          <a:xfrm>
            <a:off x="6914376" y="4701162"/>
            <a:ext cx="450812" cy="435414"/>
          </a:xfrm>
          <a:prstGeom prst="ellipse">
            <a:avLst/>
          </a:prstGeom>
          <a:noFill/>
          <a:ln w="25400" cap="flat" cmpd="sng">
            <a:solidFill>
              <a:srgbClr val="CC3300"/>
            </a:solidFill>
            <a:prstDash val="solid"/>
            <a:round/>
            <a:headEnd type="none" w="med" len="med"/>
            <a:tailEnd type="none" w="med" len="med"/>
          </a:ln>
        </p:spPr>
        <p:txBody>
          <a:bodyPr wrap="none" lIns="0" tIns="0" rIns="0" bIns="0" anchor="ctr" anchorCtr="0">
            <a:spAutoFit/>
          </a:bodyPr>
          <a:lstStyle/>
          <a:p>
            <a:pPr algn="ctr">
              <a:spcBef>
                <a:spcPct val="50000"/>
              </a:spcBef>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3  </a:t>
            </a:r>
          </a:p>
        </p:txBody>
      </p:sp>
      <p:sp>
        <p:nvSpPr>
          <p:cNvPr id="230429" name="Text Box 29"/>
          <p:cNvSpPr txBox="1"/>
          <p:nvPr/>
        </p:nvSpPr>
        <p:spPr>
          <a:xfrm>
            <a:off x="7924800" y="4800600"/>
            <a:ext cx="1905000" cy="645160"/>
          </a:xfrm>
          <a:prstGeom prst="rect">
            <a:avLst/>
          </a:prstGeom>
          <a:noFill/>
          <a:ln w="9525">
            <a:noFill/>
          </a:ln>
        </p:spPr>
        <p:txBody>
          <a:bodyPr lIns="0" rIns="0"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将代表每个圈的乘积项相加</a:t>
            </a:r>
            <a:endParaRPr lang="zh-CN" altLang="en-US" dirty="0">
              <a:solidFill>
                <a:srgbClr val="CC3300"/>
              </a:solidFill>
              <a:latin typeface="Times New Roman" panose="02020603050405020304" pitchFamily="18" charset="0"/>
              <a:ea typeface="宋体" panose="02010600030101010101" pitchFamily="2" charset="-122"/>
            </a:endParaRPr>
          </a:p>
        </p:txBody>
      </p:sp>
      <p:sp>
        <p:nvSpPr>
          <p:cNvPr id="230423" name="AutoShape 23"/>
          <p:cNvSpPr/>
          <p:nvPr/>
        </p:nvSpPr>
        <p:spPr>
          <a:xfrm>
            <a:off x="7543800" y="685800"/>
            <a:ext cx="304800" cy="914400"/>
          </a:xfrm>
          <a:prstGeom prst="downArrow">
            <a:avLst>
              <a:gd name="adj1" fmla="val 50000"/>
              <a:gd name="adj2" fmla="val 75000"/>
            </a:avLst>
          </a:prstGeom>
          <a:solidFill>
            <a:srgbClr val="CC3300">
              <a:alpha val="50195"/>
            </a:srgbClr>
          </a:solidFill>
          <a:ln w="9525" cap="flat" cmpd="sng">
            <a:solidFill>
              <a:schemeClr val="tx1"/>
            </a:solidFill>
            <a:prstDash val="solid"/>
            <a:miter/>
            <a:headEnd type="none" w="med" len="med"/>
            <a:tailEnd type="none" w="med" len="med"/>
          </a:ln>
        </p:spPr>
        <p:txBody>
          <a:bodyPr vert="eaVert" wrap="none" anchor="ctr" anchorCtr="0"/>
          <a:lstStyle/>
          <a:p>
            <a:endParaRPr lang="zh-CN" altLang="en-US"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0403"/>
                                        </p:tgtEl>
                                        <p:attrNameLst>
                                          <p:attrName>style.visibility</p:attrName>
                                        </p:attrNameLst>
                                      </p:cBhvr>
                                      <p:to>
                                        <p:strVal val="visible"/>
                                      </p:to>
                                    </p:set>
                                    <p:animEffect transition="in" filter="wipe(up)">
                                      <p:cBhvr>
                                        <p:cTn id="7" dur="500"/>
                                        <p:tgtEl>
                                          <p:spTgt spid="23040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30422"/>
                                        </p:tgtEl>
                                        <p:attrNameLst>
                                          <p:attrName>style.visibility</p:attrName>
                                        </p:attrNameLst>
                                      </p:cBhvr>
                                      <p:to>
                                        <p:strVal val="visible"/>
                                      </p:to>
                                    </p:set>
                                    <p:animEffect transition="in" filter="wipe(left)">
                                      <p:cBhvr>
                                        <p:cTn id="11" dur="500"/>
                                        <p:tgtEl>
                                          <p:spTgt spid="2304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30402"/>
                                        </p:tgtEl>
                                        <p:attrNameLst>
                                          <p:attrName>style.visibility</p:attrName>
                                        </p:attrNameLst>
                                      </p:cBhvr>
                                      <p:to>
                                        <p:strVal val="visible"/>
                                      </p:to>
                                    </p:set>
                                    <p:animEffect transition="in" filter="wipe(left)">
                                      <p:cBhvr>
                                        <p:cTn id="16" dur="500"/>
                                        <p:tgtEl>
                                          <p:spTgt spid="23040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30423"/>
                                        </p:tgtEl>
                                        <p:attrNameLst>
                                          <p:attrName>style.visibility</p:attrName>
                                        </p:attrNameLst>
                                      </p:cBhvr>
                                      <p:to>
                                        <p:strVal val="visible"/>
                                      </p:to>
                                    </p:set>
                                    <p:animEffect transition="in" filter="wipe(up)">
                                      <p:cBhvr>
                                        <p:cTn id="21" dur="500"/>
                                        <p:tgtEl>
                                          <p:spTgt spid="230423"/>
                                        </p:tgtEl>
                                      </p:cBhvr>
                                    </p:animEffect>
                                  </p:childTnLst>
                                </p:cTn>
                              </p:par>
                            </p:childTnLst>
                          </p:cTn>
                        </p:par>
                        <p:par>
                          <p:cTn id="22" fill="hold">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30424"/>
                                        </p:tgtEl>
                                        <p:attrNameLst>
                                          <p:attrName>style.visibility</p:attrName>
                                        </p:attrNameLst>
                                      </p:cBhvr>
                                      <p:to>
                                        <p:strVal val="visible"/>
                                      </p:to>
                                    </p:set>
                                    <p:animEffect transition="in" filter="wipe(left)">
                                      <p:cBhvr>
                                        <p:cTn id="25" dur="500"/>
                                        <p:tgtEl>
                                          <p:spTgt spid="23042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30408"/>
                                        </p:tgtEl>
                                        <p:attrNameLst>
                                          <p:attrName>style.visibility</p:attrName>
                                        </p:attrNameLst>
                                      </p:cBhvr>
                                      <p:to>
                                        <p:strVal val="visible"/>
                                      </p:to>
                                    </p:set>
                                    <p:animEffect transition="in" filter="dissolve">
                                      <p:cBhvr>
                                        <p:cTn id="30" dur="500"/>
                                        <p:tgtEl>
                                          <p:spTgt spid="23040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230410"/>
                                        </p:tgtEl>
                                        <p:attrNameLst>
                                          <p:attrName>style.visibility</p:attrName>
                                        </p:attrNameLst>
                                      </p:cBhvr>
                                      <p:to>
                                        <p:strVal val="visible"/>
                                      </p:to>
                                    </p:set>
                                    <p:animEffect transition="in" filter="wipe(up)">
                                      <p:cBhvr>
                                        <p:cTn id="35" dur="500"/>
                                        <p:tgtEl>
                                          <p:spTgt spid="230410"/>
                                        </p:tgtEl>
                                      </p:cBhvr>
                                    </p:animEffect>
                                  </p:childTnLst>
                                </p:cTn>
                              </p:par>
                            </p:childTnLst>
                          </p:cTn>
                        </p:par>
                        <p:par>
                          <p:cTn id="36" fill="hold">
                            <p:stCondLst>
                              <p:cond delay="500"/>
                            </p:stCondLst>
                            <p:childTnLst>
                              <p:par>
                                <p:cTn id="37" presetID="3" presetClass="entr" presetSubtype="5" fill="hold" grpId="0" nodeType="afterEffect">
                                  <p:stCondLst>
                                    <p:cond delay="0"/>
                                  </p:stCondLst>
                                  <p:childTnLst>
                                    <p:set>
                                      <p:cBhvr>
                                        <p:cTn id="38" dur="1" fill="hold">
                                          <p:stCondLst>
                                            <p:cond delay="0"/>
                                          </p:stCondLst>
                                        </p:cTn>
                                        <p:tgtEl>
                                          <p:spTgt spid="230414"/>
                                        </p:tgtEl>
                                        <p:attrNameLst>
                                          <p:attrName>style.visibility</p:attrName>
                                        </p:attrNameLst>
                                      </p:cBhvr>
                                      <p:to>
                                        <p:strVal val="visible"/>
                                      </p:to>
                                    </p:set>
                                    <p:animEffect transition="in" filter="blinds(vertical)">
                                      <p:cBhvr>
                                        <p:cTn id="39" dur="500"/>
                                        <p:tgtEl>
                                          <p:spTgt spid="2304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30411"/>
                                        </p:tgtEl>
                                        <p:attrNameLst>
                                          <p:attrName>style.visibility</p:attrName>
                                        </p:attrNameLst>
                                      </p:cBhvr>
                                      <p:to>
                                        <p:strVal val="visible"/>
                                      </p:to>
                                    </p:set>
                                    <p:animEffect transition="in" filter="wipe(left)">
                                      <p:cBhvr>
                                        <p:cTn id="44" dur="500"/>
                                        <p:tgtEl>
                                          <p:spTgt spid="230411"/>
                                        </p:tgtEl>
                                      </p:cBhvr>
                                    </p:animEffect>
                                  </p:childTnLst>
                                </p:cTn>
                              </p:par>
                            </p:childTnLst>
                          </p:cTn>
                        </p:par>
                        <p:par>
                          <p:cTn id="45" fill="hold">
                            <p:stCondLst>
                              <p:cond delay="500"/>
                            </p:stCondLst>
                            <p:childTnLst>
                              <p:par>
                                <p:cTn id="46" presetID="3" presetClass="entr" presetSubtype="10" fill="hold" grpId="0" nodeType="afterEffect">
                                  <p:stCondLst>
                                    <p:cond delay="0"/>
                                  </p:stCondLst>
                                  <p:childTnLst>
                                    <p:set>
                                      <p:cBhvr>
                                        <p:cTn id="47" dur="1" fill="hold">
                                          <p:stCondLst>
                                            <p:cond delay="0"/>
                                          </p:stCondLst>
                                        </p:cTn>
                                        <p:tgtEl>
                                          <p:spTgt spid="230415"/>
                                        </p:tgtEl>
                                        <p:attrNameLst>
                                          <p:attrName>style.visibility</p:attrName>
                                        </p:attrNameLst>
                                      </p:cBhvr>
                                      <p:to>
                                        <p:strVal val="visible"/>
                                      </p:to>
                                    </p:set>
                                    <p:animEffect transition="in" filter="blinds(horizontal)">
                                      <p:cBhvr>
                                        <p:cTn id="48" dur="500"/>
                                        <p:tgtEl>
                                          <p:spTgt spid="23041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30412"/>
                                        </p:tgtEl>
                                        <p:attrNameLst>
                                          <p:attrName>style.visibility</p:attrName>
                                        </p:attrNameLst>
                                      </p:cBhvr>
                                      <p:to>
                                        <p:strVal val="visible"/>
                                      </p:to>
                                    </p:set>
                                    <p:animEffect transition="in" filter="wipe(left)">
                                      <p:cBhvr>
                                        <p:cTn id="53" dur="500"/>
                                        <p:tgtEl>
                                          <p:spTgt spid="230412"/>
                                        </p:tgtEl>
                                      </p:cBhvr>
                                    </p:animEffect>
                                  </p:childTnLst>
                                </p:cTn>
                              </p:par>
                            </p:childTnLst>
                          </p:cTn>
                        </p:par>
                        <p:par>
                          <p:cTn id="54" fill="hold">
                            <p:stCondLst>
                              <p:cond delay="500"/>
                            </p:stCondLst>
                            <p:childTnLst>
                              <p:par>
                                <p:cTn id="55" presetID="3" presetClass="entr" presetSubtype="10" fill="hold" nodeType="afterEffect">
                                  <p:stCondLst>
                                    <p:cond delay="0"/>
                                  </p:stCondLst>
                                  <p:childTnLst>
                                    <p:set>
                                      <p:cBhvr>
                                        <p:cTn id="56" dur="1" fill="hold">
                                          <p:stCondLst>
                                            <p:cond delay="0"/>
                                          </p:stCondLst>
                                        </p:cTn>
                                        <p:tgtEl>
                                          <p:spTgt spid="230416"/>
                                        </p:tgtEl>
                                        <p:attrNameLst>
                                          <p:attrName>style.visibility</p:attrName>
                                        </p:attrNameLst>
                                      </p:cBhvr>
                                      <p:to>
                                        <p:strVal val="visible"/>
                                      </p:to>
                                    </p:set>
                                    <p:animEffect transition="in" filter="blinds(horizontal)">
                                      <p:cBhvr>
                                        <p:cTn id="57" dur="500"/>
                                        <p:tgtEl>
                                          <p:spTgt spid="230416"/>
                                        </p:tgtEl>
                                      </p:cBhvr>
                                    </p:animEffect>
                                  </p:childTnLst>
                                </p:cTn>
                              </p:par>
                            </p:childTnLst>
                          </p:cTn>
                        </p:par>
                      </p:childTnLst>
                    </p:cTn>
                  </p:par>
                  <p:par>
                    <p:cTn id="58" fill="hold">
                      <p:stCondLst>
                        <p:cond delay="indefinite"/>
                      </p:stCondLst>
                      <p:childTnLst>
                        <p:par>
                          <p:cTn id="59" fill="hold">
                            <p:stCondLst>
                              <p:cond delay="0"/>
                            </p:stCondLst>
                            <p:childTnLst>
                              <p:par>
                                <p:cTn id="60" presetID="19" presetClass="entr" presetSubtype="10" fill="hold" grpId="0" nodeType="clickEffect">
                                  <p:stCondLst>
                                    <p:cond delay="0"/>
                                  </p:stCondLst>
                                  <p:childTnLst>
                                    <p:set>
                                      <p:cBhvr>
                                        <p:cTn id="61" dur="1" fill="hold">
                                          <p:stCondLst>
                                            <p:cond delay="0"/>
                                          </p:stCondLst>
                                        </p:cTn>
                                        <p:tgtEl>
                                          <p:spTgt spid="230413"/>
                                        </p:tgtEl>
                                        <p:attrNameLst>
                                          <p:attrName>style.visibility</p:attrName>
                                        </p:attrNameLst>
                                      </p:cBhvr>
                                      <p:to>
                                        <p:strVal val="visible"/>
                                      </p:to>
                                    </p:set>
                                    <p:anim calcmode="lin" valueType="num">
                                      <p:cBhvr>
                                        <p:cTn id="62" dur="5000" fill="hold"/>
                                        <p:tgtEl>
                                          <p:spTgt spid="230413"/>
                                        </p:tgtEl>
                                        <p:attrNameLst>
                                          <p:attrName>ppt_w</p:attrName>
                                        </p:attrNameLst>
                                      </p:cBhvr>
                                      <p:tavLst>
                                        <p:tav tm="0" fmla="#ppt_w*sin(2.5*pi*$)">
                                          <p:val>
                                            <p:fltVal val="0"/>
                                          </p:val>
                                        </p:tav>
                                        <p:tav tm="100000">
                                          <p:val>
                                            <p:fltVal val="1"/>
                                          </p:val>
                                        </p:tav>
                                      </p:tavLst>
                                    </p:anim>
                                    <p:anim calcmode="lin" valueType="num">
                                      <p:cBhvr>
                                        <p:cTn id="63" dur="5000" fill="hold"/>
                                        <p:tgtEl>
                                          <p:spTgt spid="230413"/>
                                        </p:tgtEl>
                                        <p:attrNameLst>
                                          <p:attrName>ppt_h</p:attrName>
                                        </p:attrNameLst>
                                      </p:cBhvr>
                                      <p:tavLst>
                                        <p:tav tm="0">
                                          <p:val>
                                            <p:strVal val="#ppt_h"/>
                                          </p:val>
                                        </p:tav>
                                        <p:tav tm="100000">
                                          <p:val>
                                            <p:strVal val="#ppt_h"/>
                                          </p:val>
                                        </p:tav>
                                      </p:tavLst>
                                    </p:anim>
                                  </p:childTnLst>
                                </p:cTn>
                              </p:par>
                            </p:childTnLst>
                          </p:cTn>
                        </p:par>
                        <p:par>
                          <p:cTn id="64" fill="hold">
                            <p:stCondLst>
                              <p:cond delay="5000"/>
                            </p:stCondLst>
                            <p:childTnLst>
                              <p:par>
                                <p:cTn id="65" presetID="18" presetClass="entr" presetSubtype="12" fill="hold" nodeType="afterEffect">
                                  <p:stCondLst>
                                    <p:cond delay="0"/>
                                  </p:stCondLst>
                                  <p:childTnLst>
                                    <p:set>
                                      <p:cBhvr>
                                        <p:cTn id="66" dur="1" fill="hold">
                                          <p:stCondLst>
                                            <p:cond delay="0"/>
                                          </p:stCondLst>
                                        </p:cTn>
                                        <p:tgtEl>
                                          <p:spTgt spid="230421"/>
                                        </p:tgtEl>
                                        <p:attrNameLst>
                                          <p:attrName>style.visibility</p:attrName>
                                        </p:attrNameLst>
                                      </p:cBhvr>
                                      <p:to>
                                        <p:strVal val="visible"/>
                                      </p:to>
                                    </p:set>
                                    <p:animEffect transition="in" filter="strips(downLeft)">
                                      <p:cBhvr>
                                        <p:cTn id="67" dur="500"/>
                                        <p:tgtEl>
                                          <p:spTgt spid="230421"/>
                                        </p:tgtEl>
                                      </p:cBhvr>
                                    </p:animEffect>
                                  </p:childTnLst>
                                </p:cTn>
                              </p:par>
                            </p:childTnLst>
                          </p:cTn>
                        </p:par>
                        <p:par>
                          <p:cTn id="68" fill="hold">
                            <p:stCondLst>
                              <p:cond delay="5500"/>
                            </p:stCondLst>
                            <p:childTnLst>
                              <p:par>
                                <p:cTn id="69" presetID="15" presetClass="entr" presetSubtype="0" fill="hold" grpId="0" nodeType="afterEffect">
                                  <p:stCondLst>
                                    <p:cond delay="0"/>
                                  </p:stCondLst>
                                  <p:childTnLst>
                                    <p:set>
                                      <p:cBhvr>
                                        <p:cTn id="70" dur="1" fill="hold">
                                          <p:stCondLst>
                                            <p:cond delay="0"/>
                                          </p:stCondLst>
                                        </p:cTn>
                                        <p:tgtEl>
                                          <p:spTgt spid="230420"/>
                                        </p:tgtEl>
                                        <p:attrNameLst>
                                          <p:attrName>style.visibility</p:attrName>
                                        </p:attrNameLst>
                                      </p:cBhvr>
                                      <p:to>
                                        <p:strVal val="visible"/>
                                      </p:to>
                                    </p:set>
                                    <p:anim calcmode="lin" valueType="num">
                                      <p:cBhvr>
                                        <p:cTn id="71" dur="1000" fill="hold"/>
                                        <p:tgtEl>
                                          <p:spTgt spid="230420"/>
                                        </p:tgtEl>
                                        <p:attrNameLst>
                                          <p:attrName>ppt_w</p:attrName>
                                        </p:attrNameLst>
                                      </p:cBhvr>
                                      <p:tavLst>
                                        <p:tav tm="0">
                                          <p:val>
                                            <p:fltVal val="0"/>
                                          </p:val>
                                        </p:tav>
                                        <p:tav tm="100000">
                                          <p:val>
                                            <p:strVal val="#ppt_w"/>
                                          </p:val>
                                        </p:tav>
                                      </p:tavLst>
                                    </p:anim>
                                    <p:anim calcmode="lin" valueType="num">
                                      <p:cBhvr>
                                        <p:cTn id="72" dur="1000" fill="hold"/>
                                        <p:tgtEl>
                                          <p:spTgt spid="230420"/>
                                        </p:tgtEl>
                                        <p:attrNameLst>
                                          <p:attrName>ppt_h</p:attrName>
                                        </p:attrNameLst>
                                      </p:cBhvr>
                                      <p:tavLst>
                                        <p:tav tm="0">
                                          <p:val>
                                            <p:fltVal val="0"/>
                                          </p:val>
                                        </p:tav>
                                        <p:tav tm="100000">
                                          <p:val>
                                            <p:strVal val="#ppt_h"/>
                                          </p:val>
                                        </p:tav>
                                      </p:tavLst>
                                    </p:anim>
                                    <p:anim calcmode="lin" valueType="num">
                                      <p:cBhvr>
                                        <p:cTn id="73" dur="1000" fill="hold"/>
                                        <p:tgtEl>
                                          <p:spTgt spid="230420"/>
                                        </p:tgtEl>
                                        <p:attrNameLst>
                                          <p:attrName>ppt_x</p:attrName>
                                        </p:attrNameLst>
                                      </p:cBhvr>
                                      <p:tavLst>
                                        <p:tav tm="0" fmla="#ppt_x+(cos(-2*pi*(1-$))*-#ppt_x-sin(-2*pi*(1-$))*(1-#ppt_y))*(1-$)">
                                          <p:val>
                                            <p:fltVal val="0"/>
                                          </p:val>
                                        </p:tav>
                                        <p:tav tm="100000">
                                          <p:val>
                                            <p:fltVal val="1"/>
                                          </p:val>
                                        </p:tav>
                                      </p:tavLst>
                                    </p:anim>
                                    <p:anim calcmode="lin" valueType="num">
                                      <p:cBhvr>
                                        <p:cTn id="74" dur="1000" fill="hold"/>
                                        <p:tgtEl>
                                          <p:spTgt spid="23042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230425"/>
                                        </p:tgtEl>
                                        <p:attrNameLst>
                                          <p:attrName>style.visibility</p:attrName>
                                        </p:attrNameLst>
                                      </p:cBhvr>
                                      <p:to>
                                        <p:strVal val="visible"/>
                                      </p:to>
                                    </p:set>
                                    <p:animEffect transition="in" filter="wipe(up)">
                                      <p:cBhvr>
                                        <p:cTn id="79" dur="500"/>
                                        <p:tgtEl>
                                          <p:spTgt spid="230425"/>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30426"/>
                                        </p:tgtEl>
                                        <p:attrNameLst>
                                          <p:attrName>style.visibility</p:attrName>
                                        </p:attrNameLst>
                                      </p:cBhvr>
                                      <p:to>
                                        <p:strVal val="visible"/>
                                      </p:to>
                                    </p:set>
                                    <p:animEffect transition="in" filter="wipe(left)">
                                      <p:cBhvr>
                                        <p:cTn id="83" dur="500"/>
                                        <p:tgtEl>
                                          <p:spTgt spid="23042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30407"/>
                                        </p:tgtEl>
                                        <p:attrNameLst>
                                          <p:attrName>style.visibility</p:attrName>
                                        </p:attrNameLst>
                                      </p:cBhvr>
                                      <p:to>
                                        <p:strVal val="visible"/>
                                      </p:to>
                                    </p:set>
                                    <p:animEffect transition="in" filter="wipe(left)">
                                      <p:cBhvr>
                                        <p:cTn id="88" dur="500"/>
                                        <p:tgtEl>
                                          <p:spTgt spid="230407"/>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1" fill="hold" grpId="0" nodeType="clickEffect">
                                  <p:stCondLst>
                                    <p:cond delay="0"/>
                                  </p:stCondLst>
                                  <p:childTnLst>
                                    <p:set>
                                      <p:cBhvr>
                                        <p:cTn id="92" dur="1" fill="hold">
                                          <p:stCondLst>
                                            <p:cond delay="0"/>
                                          </p:stCondLst>
                                        </p:cTn>
                                        <p:tgtEl>
                                          <p:spTgt spid="230427"/>
                                        </p:tgtEl>
                                        <p:attrNameLst>
                                          <p:attrName>style.visibility</p:attrName>
                                        </p:attrNameLst>
                                      </p:cBhvr>
                                      <p:to>
                                        <p:strVal val="visible"/>
                                      </p:to>
                                    </p:set>
                                    <p:animEffect transition="in" filter="wipe(up)">
                                      <p:cBhvr>
                                        <p:cTn id="93" dur="500"/>
                                        <p:tgtEl>
                                          <p:spTgt spid="230427"/>
                                        </p:tgtEl>
                                      </p:cBhvr>
                                    </p:animEffect>
                                  </p:childTnLst>
                                </p:cTn>
                              </p:par>
                            </p:childTnLst>
                          </p:cTn>
                        </p:par>
                        <p:par>
                          <p:cTn id="94" fill="hold">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230428"/>
                                        </p:tgtEl>
                                        <p:attrNameLst>
                                          <p:attrName>style.visibility</p:attrName>
                                        </p:attrNameLst>
                                      </p:cBhvr>
                                      <p:to>
                                        <p:strVal val="visible"/>
                                      </p:to>
                                    </p:set>
                                    <p:animEffect transition="in" filter="wipe(left)">
                                      <p:cBhvr>
                                        <p:cTn id="97" dur="500"/>
                                        <p:tgtEl>
                                          <p:spTgt spid="23042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230429"/>
                                        </p:tgtEl>
                                        <p:attrNameLst>
                                          <p:attrName>style.visibility</p:attrName>
                                        </p:attrNameLst>
                                      </p:cBhvr>
                                      <p:to>
                                        <p:strVal val="visible"/>
                                      </p:to>
                                    </p:set>
                                    <p:animEffect transition="in" filter="wipe(up)">
                                      <p:cBhvr>
                                        <p:cTn id="102" dur="500"/>
                                        <p:tgtEl>
                                          <p:spTgt spid="230429"/>
                                        </p:tgtEl>
                                      </p:cBhvr>
                                    </p:animEffect>
                                  </p:childTnLst>
                                </p:cTn>
                              </p:par>
                            </p:childTnLst>
                          </p:cTn>
                        </p:par>
                      </p:childTnLst>
                    </p:cTn>
                  </p:par>
                  <p:par>
                    <p:cTn id="103" fill="hold">
                      <p:stCondLst>
                        <p:cond delay="indefinite"/>
                      </p:stCondLst>
                      <p:childTnLst>
                        <p:par>
                          <p:cTn id="104" fill="hold">
                            <p:stCondLst>
                              <p:cond delay="0"/>
                            </p:stCondLst>
                            <p:childTnLst>
                              <p:par>
                                <p:cTn id="105" presetID="16" presetClass="entr" presetSubtype="37" fill="hold" nodeType="clickEffect">
                                  <p:stCondLst>
                                    <p:cond delay="0"/>
                                  </p:stCondLst>
                                  <p:childTnLst>
                                    <p:set>
                                      <p:cBhvr>
                                        <p:cTn id="106" dur="1" fill="hold">
                                          <p:stCondLst>
                                            <p:cond delay="0"/>
                                          </p:stCondLst>
                                        </p:cTn>
                                        <p:tgtEl>
                                          <p:spTgt spid="230409"/>
                                        </p:tgtEl>
                                        <p:attrNameLst>
                                          <p:attrName>style.visibility</p:attrName>
                                        </p:attrNameLst>
                                      </p:cBhvr>
                                      <p:to>
                                        <p:strVal val="visible"/>
                                      </p:to>
                                    </p:set>
                                    <p:animEffect transition="in" filter="barn(outVertical)">
                                      <p:cBhvr>
                                        <p:cTn id="107" dur="500"/>
                                        <p:tgtEl>
                                          <p:spTgt spid="230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bldLvl="0" animBg="1"/>
      <p:bldP spid="230403" grpId="0" bldLvl="0" animBg="1"/>
      <p:bldP spid="230407" grpId="0" bldLvl="0" animBg="1"/>
      <p:bldP spid="230410" grpId="0" bldLvl="0" animBg="1"/>
      <p:bldP spid="230411" grpId="0" bldLvl="0" animBg="1"/>
      <p:bldP spid="230412" grpId="0" bldLvl="0" animBg="1"/>
      <p:bldP spid="230413" grpId="0" bldLvl="0" animBg="1"/>
      <p:bldP spid="230414" grpId="0"/>
      <p:bldP spid="230415" grpId="0"/>
      <p:bldP spid="230420" grpId="0"/>
      <p:bldP spid="230422" grpId="0" bldLvl="0" animBg="1"/>
      <p:bldP spid="230424" grpId="0" bldLvl="0" animBg="1"/>
      <p:bldP spid="230425" grpId="0" bldLvl="0" animBg="1"/>
      <p:bldP spid="230426" grpId="0" bldLvl="0" animBg="1"/>
      <p:bldP spid="230427" grpId="0" bldLvl="0" animBg="1"/>
      <p:bldP spid="230428" grpId="0" bldLvl="0" animBg="1"/>
      <p:bldP spid="230429" grpId="0"/>
      <p:bldP spid="23042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28"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graphicFrame>
        <p:nvGraphicFramePr>
          <p:cNvPr id="231426" name="Object 2"/>
          <p:cNvGraphicFramePr>
            <a:graphicFrameLocks noChangeAspect="1"/>
          </p:cNvGraphicFramePr>
          <p:nvPr/>
        </p:nvGraphicFramePr>
        <p:xfrm>
          <a:off x="1676400" y="1676400"/>
          <a:ext cx="8839200" cy="3398838"/>
        </p:xfrm>
        <a:graphic>
          <a:graphicData uri="http://schemas.openxmlformats.org/presentationml/2006/ole">
            <mc:AlternateContent xmlns:mc="http://schemas.openxmlformats.org/markup-compatibility/2006">
              <mc:Choice xmlns:v="urn:schemas-microsoft-com:vml" Requires="v">
                <p:oleObj spid="_x0000_s17412" r:id="rId4" imgW="3124200" imgH="1571625" progId="Word.Document.8">
                  <p:embed/>
                </p:oleObj>
              </mc:Choice>
              <mc:Fallback>
                <p:oleObj r:id="rId4" imgW="3124200" imgH="1571625" progId="Word.Document.8">
                  <p:embed/>
                  <p:pic>
                    <p:nvPicPr>
                      <p:cNvPr id="0" name="图片 3205"/>
                      <p:cNvPicPr/>
                      <p:nvPr/>
                    </p:nvPicPr>
                    <p:blipFill>
                      <a:blip r:embed="rId5"/>
                      <a:stretch>
                        <a:fillRect/>
                      </a:stretch>
                    </p:blipFill>
                    <p:spPr>
                      <a:xfrm>
                        <a:off x="1676400" y="1676400"/>
                        <a:ext cx="8839200" cy="3398838"/>
                      </a:xfrm>
                      <a:prstGeom prst="rect">
                        <a:avLst/>
                      </a:prstGeom>
                      <a:solidFill>
                        <a:srgbClr val="D9FFEC"/>
                      </a:solidFill>
                      <a:ln w="38100">
                        <a:noFill/>
                        <a:miter/>
                      </a:ln>
                    </p:spPr>
                  </p:pic>
                </p:oleObj>
              </mc:Fallback>
            </mc:AlternateContent>
          </a:graphicData>
        </a:graphic>
      </p:graphicFrame>
      <p:sp>
        <p:nvSpPr>
          <p:cNvPr id="231428" name="Text Box 4"/>
          <p:cNvSpPr txBox="1"/>
          <p:nvPr/>
        </p:nvSpPr>
        <p:spPr>
          <a:xfrm>
            <a:off x="2133600" y="609600"/>
            <a:ext cx="7543800" cy="645160"/>
          </a:xfrm>
          <a:prstGeom prst="rect">
            <a:avLst/>
          </a:prstGeom>
          <a:solidFill>
            <a:schemeClr val="bg1"/>
          </a:solidFill>
          <a:ln w="9525">
            <a:noFill/>
          </a:ln>
        </p:spPr>
        <p:txBody>
          <a:bodyPr lIns="0" rIns="0"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　　① 在有些情况下，最小项的圈法不只一种，得到的各个乘积项组成的与或表达式各不相同，哪个是最简的，要经过比较、检查才能确定。</a:t>
            </a:r>
            <a:endParaRPr lang="zh-CN" altLang="en-US" sz="3200" dirty="0">
              <a:latin typeface="Times New Roman" panose="02020603050405020304" pitchFamily="18" charset="0"/>
              <a:ea typeface="宋体" panose="02010600030101010101" pitchFamily="2" charset="-122"/>
            </a:endParaRPr>
          </a:p>
        </p:txBody>
      </p:sp>
      <p:sp>
        <p:nvSpPr>
          <p:cNvPr id="231429" name="Oval 5"/>
          <p:cNvSpPr/>
          <p:nvPr/>
        </p:nvSpPr>
        <p:spPr>
          <a:xfrm>
            <a:off x="4572000" y="3469621"/>
            <a:ext cx="1219200" cy="680758"/>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1430" name="Oval 6"/>
          <p:cNvSpPr/>
          <p:nvPr/>
        </p:nvSpPr>
        <p:spPr>
          <a:xfrm>
            <a:off x="3124200" y="2922354"/>
            <a:ext cx="528732" cy="479892"/>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1431" name="Oval 7"/>
          <p:cNvSpPr/>
          <p:nvPr/>
        </p:nvSpPr>
        <p:spPr>
          <a:xfrm>
            <a:off x="3886200" y="3341454"/>
            <a:ext cx="1219200" cy="479892"/>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1432" name="Oval 8"/>
          <p:cNvSpPr/>
          <p:nvPr/>
        </p:nvSpPr>
        <p:spPr>
          <a:xfrm>
            <a:off x="5257800" y="3034740"/>
            <a:ext cx="283228" cy="636120"/>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1433" name="Oval 9"/>
          <p:cNvSpPr/>
          <p:nvPr/>
        </p:nvSpPr>
        <p:spPr>
          <a:xfrm>
            <a:off x="8991600" y="3469621"/>
            <a:ext cx="1219200" cy="680758"/>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31434" name="Group 10"/>
          <p:cNvGrpSpPr/>
          <p:nvPr/>
        </p:nvGrpSpPr>
        <p:grpSpPr>
          <a:xfrm>
            <a:off x="7620000" y="2819400"/>
            <a:ext cx="2743200" cy="628650"/>
            <a:chOff x="3792" y="1632"/>
            <a:chExt cx="1728" cy="396"/>
          </a:xfrm>
        </p:grpSpPr>
        <p:sp>
          <p:nvSpPr>
            <p:cNvPr id="55307" name="Freeform 11"/>
            <p:cNvSpPr/>
            <p:nvPr/>
          </p:nvSpPr>
          <p:spPr>
            <a:xfrm>
              <a:off x="3792" y="1644"/>
              <a:ext cx="336" cy="384"/>
            </a:xfrm>
            <a:custGeom>
              <a:avLst/>
              <a:gdLst/>
              <a:ahLst/>
              <a:cxnLst>
                <a:cxn ang="0">
                  <a:pos x="0" y="0"/>
                </a:cxn>
                <a:cxn ang="0">
                  <a:pos x="457" y="341"/>
                </a:cxn>
                <a:cxn ang="0">
                  <a:pos x="0" y="683"/>
                </a:cxn>
              </a:cxnLst>
              <a:rect l="0" t="0" r="0" b="0"/>
              <a:pathLst>
                <a:path w="288" h="288">
                  <a:moveTo>
                    <a:pt x="0" y="0"/>
                  </a:moveTo>
                  <a:cubicBezTo>
                    <a:pt x="144" y="48"/>
                    <a:pt x="288" y="96"/>
                    <a:pt x="288" y="144"/>
                  </a:cubicBezTo>
                  <a:cubicBezTo>
                    <a:pt x="288" y="192"/>
                    <a:pt x="144" y="240"/>
                    <a:pt x="0" y="288"/>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55308" name="Freeform 12"/>
            <p:cNvSpPr/>
            <p:nvPr/>
          </p:nvSpPr>
          <p:spPr>
            <a:xfrm flipH="1">
              <a:off x="5184" y="1632"/>
              <a:ext cx="336" cy="384"/>
            </a:xfrm>
            <a:custGeom>
              <a:avLst/>
              <a:gdLst/>
              <a:ahLst/>
              <a:cxnLst>
                <a:cxn ang="0">
                  <a:pos x="0" y="0"/>
                </a:cxn>
                <a:cxn ang="0">
                  <a:pos x="457" y="341"/>
                </a:cxn>
                <a:cxn ang="0">
                  <a:pos x="0" y="683"/>
                </a:cxn>
              </a:cxnLst>
              <a:rect l="0" t="0" r="0" b="0"/>
              <a:pathLst>
                <a:path w="288" h="288">
                  <a:moveTo>
                    <a:pt x="0" y="0"/>
                  </a:moveTo>
                  <a:cubicBezTo>
                    <a:pt x="144" y="48"/>
                    <a:pt x="288" y="96"/>
                    <a:pt x="288" y="144"/>
                  </a:cubicBezTo>
                  <a:cubicBezTo>
                    <a:pt x="288" y="192"/>
                    <a:pt x="144" y="240"/>
                    <a:pt x="0" y="288"/>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grpSp>
      <p:sp>
        <p:nvSpPr>
          <p:cNvPr id="231437" name="Freeform 13"/>
          <p:cNvSpPr/>
          <p:nvPr/>
        </p:nvSpPr>
        <p:spPr>
          <a:xfrm>
            <a:off x="2362200" y="3352800"/>
            <a:ext cx="838200" cy="1752600"/>
          </a:xfrm>
          <a:custGeom>
            <a:avLst/>
            <a:gdLst/>
            <a:ahLst/>
            <a:cxnLst>
              <a:cxn ang="0">
                <a:pos x="2147483647" y="0"/>
              </a:cxn>
              <a:cxn ang="0">
                <a:pos x="0" y="2147483647"/>
              </a:cxn>
            </a:cxnLst>
            <a:rect l="0" t="0" r="0" b="0"/>
            <a:pathLst>
              <a:path w="432" h="1152">
                <a:moveTo>
                  <a:pt x="432" y="0"/>
                </a:moveTo>
                <a:cubicBezTo>
                  <a:pt x="432" y="0"/>
                  <a:pt x="216" y="576"/>
                  <a:pt x="0" y="1152"/>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1438" name="Freeform 14"/>
          <p:cNvSpPr/>
          <p:nvPr/>
        </p:nvSpPr>
        <p:spPr>
          <a:xfrm>
            <a:off x="3581400" y="3733800"/>
            <a:ext cx="457200" cy="1371600"/>
          </a:xfrm>
          <a:custGeom>
            <a:avLst/>
            <a:gdLst/>
            <a:ahLst/>
            <a:cxnLst>
              <a:cxn ang="0">
                <a:pos x="2147483647" y="0"/>
              </a:cxn>
              <a:cxn ang="0">
                <a:pos x="0" y="2147483647"/>
              </a:cxn>
            </a:cxnLst>
            <a:rect l="0" t="0" r="0" b="0"/>
            <a:pathLst>
              <a:path w="144" h="864">
                <a:moveTo>
                  <a:pt x="144" y="0"/>
                </a:moveTo>
                <a:cubicBezTo>
                  <a:pt x="144" y="0"/>
                  <a:pt x="72" y="432"/>
                  <a:pt x="0" y="864"/>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1439" name="Freeform 15"/>
          <p:cNvSpPr/>
          <p:nvPr/>
        </p:nvSpPr>
        <p:spPr>
          <a:xfrm>
            <a:off x="4800600" y="3429000"/>
            <a:ext cx="1524000" cy="1752600"/>
          </a:xfrm>
          <a:custGeom>
            <a:avLst/>
            <a:gdLst/>
            <a:ahLst/>
            <a:cxnLst>
              <a:cxn ang="0">
                <a:pos x="2147483647" y="0"/>
              </a:cxn>
              <a:cxn ang="0">
                <a:pos x="2147483647" y="2147483647"/>
              </a:cxn>
              <a:cxn ang="0">
                <a:pos x="0" y="2147483647"/>
              </a:cxn>
            </a:cxnLst>
            <a:rect l="0" t="0" r="0" b="0"/>
            <a:pathLst>
              <a:path w="856" h="1152">
                <a:moveTo>
                  <a:pt x="528" y="0"/>
                </a:moveTo>
                <a:cubicBezTo>
                  <a:pt x="692" y="120"/>
                  <a:pt x="856" y="240"/>
                  <a:pt x="768" y="432"/>
                </a:cubicBezTo>
                <a:cubicBezTo>
                  <a:pt x="680" y="624"/>
                  <a:pt x="340" y="888"/>
                  <a:pt x="0" y="1152"/>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1440" name="Freeform 16"/>
          <p:cNvSpPr/>
          <p:nvPr/>
        </p:nvSpPr>
        <p:spPr>
          <a:xfrm>
            <a:off x="5486400" y="4267200"/>
            <a:ext cx="304800" cy="914400"/>
          </a:xfrm>
          <a:custGeom>
            <a:avLst/>
            <a:gdLst/>
            <a:ahLst/>
            <a:cxnLst>
              <a:cxn ang="0">
                <a:pos x="0" y="0"/>
              </a:cxn>
              <a:cxn ang="0">
                <a:pos x="2147483647" y="2147483647"/>
              </a:cxn>
            </a:cxnLst>
            <a:rect l="0" t="0" r="0" b="0"/>
            <a:pathLst>
              <a:path w="192" h="672">
                <a:moveTo>
                  <a:pt x="0" y="0"/>
                </a:moveTo>
                <a:cubicBezTo>
                  <a:pt x="0" y="0"/>
                  <a:pt x="96" y="336"/>
                  <a:pt x="192" y="672"/>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1441" name="Text Box 17"/>
          <p:cNvSpPr txBox="1"/>
          <p:nvPr/>
        </p:nvSpPr>
        <p:spPr>
          <a:xfrm>
            <a:off x="3276600" y="5867400"/>
            <a:ext cx="1447800" cy="368300"/>
          </a:xfrm>
          <a:prstGeom prst="rect">
            <a:avLst/>
          </a:prstGeom>
          <a:noFill/>
          <a:ln w="9525">
            <a:noFill/>
          </a:ln>
        </p:spPr>
        <p:txBody>
          <a:bodyPr lIns="0" rIns="0" anchor="t" anchorCtr="0">
            <a:spAutoFit/>
          </a:bodyPr>
          <a:lstStyle/>
          <a:p>
            <a:pPr>
              <a:spcBef>
                <a:spcPct val="50000"/>
              </a:spcBef>
            </a:pPr>
            <a:r>
              <a:rPr lang="zh-CN" altLang="en-US" dirty="0">
                <a:solidFill>
                  <a:srgbClr val="FF0000"/>
                </a:solidFill>
                <a:latin typeface="Times New Roman" panose="02020603050405020304" pitchFamily="18" charset="0"/>
                <a:ea typeface="宋体" panose="02010600030101010101" pitchFamily="2" charset="-122"/>
              </a:rPr>
              <a:t>不是最简</a:t>
            </a:r>
          </a:p>
        </p:txBody>
      </p:sp>
      <p:grpSp>
        <p:nvGrpSpPr>
          <p:cNvPr id="231442" name="Group 18"/>
          <p:cNvGrpSpPr/>
          <p:nvPr/>
        </p:nvGrpSpPr>
        <p:grpSpPr>
          <a:xfrm>
            <a:off x="7543800" y="3200400"/>
            <a:ext cx="2286000" cy="1962150"/>
            <a:chOff x="3872" y="1872"/>
            <a:chExt cx="1360" cy="1188"/>
          </a:xfrm>
        </p:grpSpPr>
        <p:sp>
          <p:nvSpPr>
            <p:cNvPr id="55315" name="Freeform 19"/>
            <p:cNvSpPr/>
            <p:nvPr/>
          </p:nvSpPr>
          <p:spPr>
            <a:xfrm>
              <a:off x="3872" y="1872"/>
              <a:ext cx="1360" cy="1008"/>
            </a:xfrm>
            <a:custGeom>
              <a:avLst/>
              <a:gdLst/>
              <a:ahLst/>
              <a:cxnLst>
                <a:cxn ang="0">
                  <a:pos x="112" y="55"/>
                </a:cxn>
                <a:cxn ang="0">
                  <a:pos x="208" y="684"/>
                </a:cxn>
                <a:cxn ang="0">
                  <a:pos x="1360" y="0"/>
                </a:cxn>
              </a:cxnLst>
              <a:rect l="0" t="0" r="0" b="0"/>
              <a:pathLst>
                <a:path w="1360" h="1216">
                  <a:moveTo>
                    <a:pt x="112" y="96"/>
                  </a:moveTo>
                  <a:cubicBezTo>
                    <a:pt x="56" y="656"/>
                    <a:pt x="0" y="1216"/>
                    <a:pt x="208" y="1200"/>
                  </a:cubicBezTo>
                  <a:cubicBezTo>
                    <a:pt x="416" y="1184"/>
                    <a:pt x="888" y="592"/>
                    <a:pt x="1360" y="0"/>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55316" name="Freeform 20"/>
            <p:cNvSpPr/>
            <p:nvPr/>
          </p:nvSpPr>
          <p:spPr>
            <a:xfrm>
              <a:off x="3984" y="2868"/>
              <a:ext cx="48" cy="192"/>
            </a:xfrm>
            <a:custGeom>
              <a:avLst/>
              <a:gdLst/>
              <a:ahLst/>
              <a:cxnLst>
                <a:cxn ang="0">
                  <a:pos x="48" y="0"/>
                </a:cxn>
                <a:cxn ang="0">
                  <a:pos x="0" y="192"/>
                </a:cxn>
              </a:cxnLst>
              <a:rect l="0" t="0" r="0" b="0"/>
              <a:pathLst>
                <a:path w="48" h="192">
                  <a:moveTo>
                    <a:pt x="48" y="0"/>
                  </a:moveTo>
                  <a:cubicBezTo>
                    <a:pt x="48" y="0"/>
                    <a:pt x="24" y="96"/>
                    <a:pt x="0" y="192"/>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grpSp>
      <p:sp>
        <p:nvSpPr>
          <p:cNvPr id="231445" name="Freeform 21"/>
          <p:cNvSpPr/>
          <p:nvPr/>
        </p:nvSpPr>
        <p:spPr>
          <a:xfrm>
            <a:off x="8686800" y="3886200"/>
            <a:ext cx="152400" cy="1219200"/>
          </a:xfrm>
          <a:custGeom>
            <a:avLst/>
            <a:gdLst/>
            <a:ahLst/>
            <a:cxnLst>
              <a:cxn ang="0">
                <a:pos x="0" y="0"/>
              </a:cxn>
              <a:cxn ang="0">
                <a:pos x="2147483647" y="2147483647"/>
              </a:cxn>
            </a:cxnLst>
            <a:rect l="0" t="0" r="0" b="0"/>
            <a:pathLst>
              <a:path w="336" h="912">
                <a:moveTo>
                  <a:pt x="0" y="0"/>
                </a:moveTo>
                <a:cubicBezTo>
                  <a:pt x="0" y="0"/>
                  <a:pt x="168" y="456"/>
                  <a:pt x="336" y="912"/>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1446" name="Freeform 22"/>
          <p:cNvSpPr/>
          <p:nvPr/>
        </p:nvSpPr>
        <p:spPr>
          <a:xfrm>
            <a:off x="9982200" y="4191000"/>
            <a:ext cx="76200" cy="1066800"/>
          </a:xfrm>
          <a:custGeom>
            <a:avLst/>
            <a:gdLst/>
            <a:ahLst/>
            <a:cxnLst>
              <a:cxn ang="0">
                <a:pos x="0" y="0"/>
              </a:cxn>
              <a:cxn ang="0">
                <a:pos x="2147483647" y="2147483647"/>
              </a:cxn>
            </a:cxnLst>
            <a:rect l="0" t="0" r="0" b="0"/>
            <a:pathLst>
              <a:path w="96" h="624">
                <a:moveTo>
                  <a:pt x="0" y="0"/>
                </a:moveTo>
                <a:cubicBezTo>
                  <a:pt x="0" y="0"/>
                  <a:pt x="48" y="312"/>
                  <a:pt x="96" y="624"/>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1447" name="Text Box 23"/>
          <p:cNvSpPr txBox="1"/>
          <p:nvPr/>
        </p:nvSpPr>
        <p:spPr>
          <a:xfrm>
            <a:off x="8534400" y="5867400"/>
            <a:ext cx="685800" cy="368300"/>
          </a:xfrm>
          <a:prstGeom prst="rect">
            <a:avLst/>
          </a:prstGeom>
          <a:noFill/>
          <a:ln w="9525">
            <a:noFill/>
          </a:ln>
        </p:spPr>
        <p:txBody>
          <a:bodyPr lIns="0" rIns="0" anchor="t" anchorCtr="0">
            <a:spAutoFit/>
          </a:bodyPr>
          <a:lstStyle/>
          <a:p>
            <a:pPr>
              <a:spcBef>
                <a:spcPct val="50000"/>
              </a:spcBef>
            </a:pPr>
            <a:r>
              <a:rPr lang="zh-CN" altLang="en-US" dirty="0">
                <a:solidFill>
                  <a:srgbClr val="0000FF"/>
                </a:solidFill>
                <a:latin typeface="Times New Roman" panose="02020603050405020304" pitchFamily="18" charset="0"/>
                <a:ea typeface="宋体" panose="02010600030101010101" pitchFamily="2" charset="-122"/>
              </a:rPr>
              <a:t>最简</a:t>
            </a:r>
          </a:p>
        </p:txBody>
      </p:sp>
      <p:sp>
        <p:nvSpPr>
          <p:cNvPr id="231448" name="Oval 24"/>
          <p:cNvSpPr/>
          <p:nvPr/>
        </p:nvSpPr>
        <p:spPr>
          <a:xfrm>
            <a:off x="8458200" y="3110940"/>
            <a:ext cx="283228" cy="636120"/>
          </a:xfrm>
          <a:prstGeom prst="ellipse">
            <a:avLst/>
          </a:prstGeom>
          <a:noFill/>
          <a:ln w="38100" cap="flat" cmpd="sng">
            <a:solidFill>
              <a:srgbClr val="CC3300"/>
            </a:solidFill>
            <a:prstDash val="solid"/>
            <a:round/>
            <a:headEnd type="none" w="med" len="med"/>
            <a:tailEnd type="none" w="med" len="med"/>
          </a:ln>
        </p:spPr>
        <p:txBody>
          <a:bodyPr wrap="none" lIns="0" rIns="0"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231449" name="Object 25"/>
          <p:cNvGraphicFramePr>
            <a:graphicFrameLocks noChangeAspect="1"/>
          </p:cNvGraphicFramePr>
          <p:nvPr/>
        </p:nvGraphicFramePr>
        <p:xfrm>
          <a:off x="2149475" y="5257800"/>
          <a:ext cx="3960813" cy="527050"/>
        </p:xfrm>
        <a:graphic>
          <a:graphicData uri="http://schemas.openxmlformats.org/presentationml/2006/ole">
            <mc:AlternateContent xmlns:mc="http://schemas.openxmlformats.org/markup-compatibility/2006">
              <mc:Choice xmlns:v="urn:schemas-microsoft-com:vml" Requires="v">
                <p:oleObj spid="_x0000_s17413" r:id="rId6" imgW="1612900" imgH="215900" progId="Equation.3">
                  <p:embed/>
                </p:oleObj>
              </mc:Choice>
              <mc:Fallback>
                <p:oleObj r:id="rId6" imgW="1612900" imgH="215900" progId="Equation.3">
                  <p:embed/>
                  <p:pic>
                    <p:nvPicPr>
                      <p:cNvPr id="0" name="图片 3210"/>
                      <p:cNvPicPr/>
                      <p:nvPr/>
                    </p:nvPicPr>
                    <p:blipFill>
                      <a:blip r:embed="rId7"/>
                      <a:stretch>
                        <a:fillRect/>
                      </a:stretch>
                    </p:blipFill>
                    <p:spPr>
                      <a:xfrm>
                        <a:off x="2149475" y="5257800"/>
                        <a:ext cx="3960813" cy="527050"/>
                      </a:xfrm>
                      <a:prstGeom prst="rect">
                        <a:avLst/>
                      </a:prstGeom>
                      <a:solidFill>
                        <a:srgbClr val="FFFF99"/>
                      </a:solidFill>
                      <a:ln w="38100">
                        <a:noFill/>
                        <a:miter/>
                      </a:ln>
                    </p:spPr>
                  </p:pic>
                </p:oleObj>
              </mc:Fallback>
            </mc:AlternateContent>
          </a:graphicData>
        </a:graphic>
      </p:graphicFrame>
      <p:graphicFrame>
        <p:nvGraphicFramePr>
          <p:cNvPr id="231450" name="Object 26"/>
          <p:cNvGraphicFramePr>
            <a:graphicFrameLocks noChangeAspect="1"/>
          </p:cNvGraphicFramePr>
          <p:nvPr/>
        </p:nvGraphicFramePr>
        <p:xfrm>
          <a:off x="7477125" y="5257800"/>
          <a:ext cx="2901950" cy="527050"/>
        </p:xfrm>
        <a:graphic>
          <a:graphicData uri="http://schemas.openxmlformats.org/presentationml/2006/ole">
            <mc:AlternateContent xmlns:mc="http://schemas.openxmlformats.org/markup-compatibility/2006">
              <mc:Choice xmlns:v="urn:schemas-microsoft-com:vml" Requires="v">
                <p:oleObj spid="_x0000_s17414" r:id="rId8" imgW="1180465" imgH="215900" progId="Equation.3">
                  <p:embed/>
                </p:oleObj>
              </mc:Choice>
              <mc:Fallback>
                <p:oleObj r:id="rId8" imgW="1180465" imgH="215900" progId="Equation.3">
                  <p:embed/>
                  <p:pic>
                    <p:nvPicPr>
                      <p:cNvPr id="0" name="图片 3207"/>
                      <p:cNvPicPr/>
                      <p:nvPr/>
                    </p:nvPicPr>
                    <p:blipFill>
                      <a:blip r:embed="rId9"/>
                      <a:stretch>
                        <a:fillRect/>
                      </a:stretch>
                    </p:blipFill>
                    <p:spPr>
                      <a:xfrm>
                        <a:off x="7477125" y="5257800"/>
                        <a:ext cx="2901950" cy="527050"/>
                      </a:xfrm>
                      <a:prstGeom prst="rect">
                        <a:avLst/>
                      </a:prstGeom>
                      <a:solidFill>
                        <a:srgbClr val="FFFF99"/>
                      </a:solidFill>
                      <a:ln w="38100">
                        <a:noFill/>
                        <a:miter/>
                      </a:ln>
                    </p:spPr>
                  </p:pic>
                </p:oleObj>
              </mc:Fallback>
            </mc:AlternateContent>
          </a:graphicData>
        </a:graphic>
      </p:graphicFrame>
      <p:sp>
        <p:nvSpPr>
          <p:cNvPr id="231427" name="Text Box 3"/>
          <p:cNvSpPr txBox="1"/>
          <p:nvPr/>
        </p:nvSpPr>
        <p:spPr>
          <a:xfrm>
            <a:off x="1752600" y="152400"/>
            <a:ext cx="1524000" cy="368300"/>
          </a:xfrm>
          <a:prstGeom prst="rect">
            <a:avLst/>
          </a:prstGeom>
          <a:solidFill>
            <a:srgbClr val="CCFFCC"/>
          </a:solidFill>
          <a:ln w="9525">
            <a:noFill/>
          </a:ln>
        </p:spPr>
        <p:txBody>
          <a:bodyPr lIns="0" rIns="0" anchor="t" anchorCtr="0">
            <a:spAutoFit/>
          </a:bodyPr>
          <a:lstStyle/>
          <a:p>
            <a:pPr>
              <a:spcBef>
                <a:spcPct val="50000"/>
              </a:spcBef>
            </a:pPr>
            <a:r>
              <a:rPr lang="zh-CN" altLang="en-US" dirty="0">
                <a:solidFill>
                  <a:srgbClr val="FF0000"/>
                </a:solidFill>
                <a:latin typeface="Times New Roman" panose="02020603050405020304" pitchFamily="18" charset="0"/>
                <a:ea typeface="宋体" panose="02010600030101010101" pitchFamily="2" charset="-122"/>
              </a:rPr>
              <a:t>两点说明：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1427">
                                            <p:txEl>
                                              <p:pRg st="0" end="0"/>
                                            </p:txEl>
                                          </p:spTgt>
                                        </p:tgtEl>
                                        <p:attrNameLst>
                                          <p:attrName>style.visibility</p:attrName>
                                        </p:attrNameLst>
                                      </p:cBhvr>
                                      <p:to>
                                        <p:strVal val="visible"/>
                                      </p:to>
                                    </p:set>
                                    <p:animEffect transition="in" filter="wipe(left)">
                                      <p:cBhvr>
                                        <p:cTn id="7" dur="500"/>
                                        <p:tgtEl>
                                          <p:spTgt spid="2314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1428">
                                            <p:txEl>
                                              <p:pRg st="0" end="0"/>
                                            </p:txEl>
                                          </p:spTgt>
                                        </p:tgtEl>
                                        <p:attrNameLst>
                                          <p:attrName>style.visibility</p:attrName>
                                        </p:attrNameLst>
                                      </p:cBhvr>
                                      <p:to>
                                        <p:strVal val="visible"/>
                                      </p:to>
                                    </p:set>
                                    <p:animEffect transition="in" filter="wipe(left)">
                                      <p:cBhvr>
                                        <p:cTn id="12" dur="500"/>
                                        <p:tgtEl>
                                          <p:spTgt spid="23142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31426"/>
                                        </p:tgtEl>
                                        <p:attrNameLst>
                                          <p:attrName>style.visibility</p:attrName>
                                        </p:attrNameLst>
                                      </p:cBhvr>
                                      <p:to>
                                        <p:strVal val="visible"/>
                                      </p:to>
                                    </p:set>
                                    <p:animEffect transition="in" filter="dissolve">
                                      <p:cBhvr>
                                        <p:cTn id="17" dur="500"/>
                                        <p:tgtEl>
                                          <p:spTgt spid="231426"/>
                                        </p:tgtEl>
                                      </p:cBhvr>
                                    </p:animEffect>
                                  </p:childTnLst>
                                </p:cTn>
                              </p:par>
                            </p:childTnLst>
                          </p:cTn>
                        </p:par>
                        <p:par>
                          <p:cTn id="18" fill="hold">
                            <p:stCondLst>
                              <p:cond delay="500"/>
                            </p:stCondLst>
                            <p:childTnLst>
                              <p:par>
                                <p:cTn id="19" presetID="16" presetClass="entr" presetSubtype="37" fill="hold" nodeType="afterEffect">
                                  <p:stCondLst>
                                    <p:cond delay="0"/>
                                  </p:stCondLst>
                                  <p:childTnLst>
                                    <p:set>
                                      <p:cBhvr>
                                        <p:cTn id="20" dur="1" fill="hold">
                                          <p:stCondLst>
                                            <p:cond delay="0"/>
                                          </p:stCondLst>
                                        </p:cTn>
                                        <p:tgtEl>
                                          <p:spTgt spid="231449"/>
                                        </p:tgtEl>
                                        <p:attrNameLst>
                                          <p:attrName>style.visibility</p:attrName>
                                        </p:attrNameLst>
                                      </p:cBhvr>
                                      <p:to>
                                        <p:strVal val="visible"/>
                                      </p:to>
                                    </p:set>
                                    <p:animEffect transition="in" filter="barn(outVertical)">
                                      <p:cBhvr>
                                        <p:cTn id="21" dur="500"/>
                                        <p:tgtEl>
                                          <p:spTgt spid="23144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31430"/>
                                        </p:tgtEl>
                                        <p:attrNameLst>
                                          <p:attrName>style.visibility</p:attrName>
                                        </p:attrNameLst>
                                      </p:cBhvr>
                                      <p:to>
                                        <p:strVal val="visible"/>
                                      </p:to>
                                    </p:set>
                                    <p:animEffect transition="in" filter="wipe(left)">
                                      <p:cBhvr>
                                        <p:cTn id="26" dur="500"/>
                                        <p:tgtEl>
                                          <p:spTgt spid="231430"/>
                                        </p:tgtEl>
                                      </p:cBhvr>
                                    </p:animEffect>
                                  </p:childTnLst>
                                </p:cTn>
                              </p:par>
                            </p:childTnLst>
                          </p:cTn>
                        </p:par>
                        <p:par>
                          <p:cTn id="27" fill="hold">
                            <p:stCondLst>
                              <p:cond delay="500"/>
                            </p:stCondLst>
                            <p:childTnLst>
                              <p:par>
                                <p:cTn id="28" presetID="18" presetClass="entr" presetSubtype="12" fill="hold" nodeType="afterEffect">
                                  <p:stCondLst>
                                    <p:cond delay="0"/>
                                  </p:stCondLst>
                                  <p:childTnLst>
                                    <p:set>
                                      <p:cBhvr>
                                        <p:cTn id="29" dur="1" fill="hold">
                                          <p:stCondLst>
                                            <p:cond delay="0"/>
                                          </p:stCondLst>
                                        </p:cTn>
                                        <p:tgtEl>
                                          <p:spTgt spid="231437"/>
                                        </p:tgtEl>
                                        <p:attrNameLst>
                                          <p:attrName>style.visibility</p:attrName>
                                        </p:attrNameLst>
                                      </p:cBhvr>
                                      <p:to>
                                        <p:strVal val="visible"/>
                                      </p:to>
                                    </p:set>
                                    <p:animEffect transition="in" filter="strips(downLeft)">
                                      <p:cBhvr>
                                        <p:cTn id="30" dur="500"/>
                                        <p:tgtEl>
                                          <p:spTgt spid="23143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31431"/>
                                        </p:tgtEl>
                                        <p:attrNameLst>
                                          <p:attrName>style.visibility</p:attrName>
                                        </p:attrNameLst>
                                      </p:cBhvr>
                                      <p:to>
                                        <p:strVal val="visible"/>
                                      </p:to>
                                    </p:set>
                                    <p:animEffect transition="in" filter="wipe(left)">
                                      <p:cBhvr>
                                        <p:cTn id="35" dur="500"/>
                                        <p:tgtEl>
                                          <p:spTgt spid="231431"/>
                                        </p:tgtEl>
                                      </p:cBhvr>
                                    </p:animEffect>
                                  </p:childTnLst>
                                </p:cTn>
                              </p:par>
                            </p:childTnLst>
                          </p:cTn>
                        </p:par>
                        <p:par>
                          <p:cTn id="36" fill="hold">
                            <p:stCondLst>
                              <p:cond delay="500"/>
                            </p:stCondLst>
                            <p:childTnLst>
                              <p:par>
                                <p:cTn id="37" presetID="18" presetClass="entr" presetSubtype="12" fill="hold" nodeType="afterEffect">
                                  <p:stCondLst>
                                    <p:cond delay="0"/>
                                  </p:stCondLst>
                                  <p:childTnLst>
                                    <p:set>
                                      <p:cBhvr>
                                        <p:cTn id="38" dur="1" fill="hold">
                                          <p:stCondLst>
                                            <p:cond delay="0"/>
                                          </p:stCondLst>
                                        </p:cTn>
                                        <p:tgtEl>
                                          <p:spTgt spid="231438"/>
                                        </p:tgtEl>
                                        <p:attrNameLst>
                                          <p:attrName>style.visibility</p:attrName>
                                        </p:attrNameLst>
                                      </p:cBhvr>
                                      <p:to>
                                        <p:strVal val="visible"/>
                                      </p:to>
                                    </p:set>
                                    <p:animEffect transition="in" filter="strips(downLeft)">
                                      <p:cBhvr>
                                        <p:cTn id="39" dur="500"/>
                                        <p:tgtEl>
                                          <p:spTgt spid="23143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231432"/>
                                        </p:tgtEl>
                                        <p:attrNameLst>
                                          <p:attrName>style.visibility</p:attrName>
                                        </p:attrNameLst>
                                      </p:cBhvr>
                                      <p:to>
                                        <p:strVal val="visible"/>
                                      </p:to>
                                    </p:set>
                                    <p:animEffect transition="in" filter="wipe(up)">
                                      <p:cBhvr>
                                        <p:cTn id="44" dur="500"/>
                                        <p:tgtEl>
                                          <p:spTgt spid="231432"/>
                                        </p:tgtEl>
                                      </p:cBhvr>
                                    </p:animEffect>
                                  </p:childTnLst>
                                </p:cTn>
                              </p:par>
                            </p:childTnLst>
                          </p:cTn>
                        </p:par>
                        <p:par>
                          <p:cTn id="45" fill="hold">
                            <p:stCondLst>
                              <p:cond delay="500"/>
                            </p:stCondLst>
                            <p:childTnLst>
                              <p:par>
                                <p:cTn id="46" presetID="18" presetClass="entr" presetSubtype="12" fill="hold" nodeType="afterEffect">
                                  <p:stCondLst>
                                    <p:cond delay="0"/>
                                  </p:stCondLst>
                                  <p:childTnLst>
                                    <p:set>
                                      <p:cBhvr>
                                        <p:cTn id="47" dur="1" fill="hold">
                                          <p:stCondLst>
                                            <p:cond delay="0"/>
                                          </p:stCondLst>
                                        </p:cTn>
                                        <p:tgtEl>
                                          <p:spTgt spid="231439"/>
                                        </p:tgtEl>
                                        <p:attrNameLst>
                                          <p:attrName>style.visibility</p:attrName>
                                        </p:attrNameLst>
                                      </p:cBhvr>
                                      <p:to>
                                        <p:strVal val="visible"/>
                                      </p:to>
                                    </p:set>
                                    <p:animEffect transition="in" filter="strips(downLeft)">
                                      <p:cBhvr>
                                        <p:cTn id="48" dur="500"/>
                                        <p:tgtEl>
                                          <p:spTgt spid="23143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31429"/>
                                        </p:tgtEl>
                                        <p:attrNameLst>
                                          <p:attrName>style.visibility</p:attrName>
                                        </p:attrNameLst>
                                      </p:cBhvr>
                                      <p:to>
                                        <p:strVal val="visible"/>
                                      </p:to>
                                    </p:set>
                                    <p:animEffect transition="in" filter="wipe(left)">
                                      <p:cBhvr>
                                        <p:cTn id="53" dur="500"/>
                                        <p:tgtEl>
                                          <p:spTgt spid="231429"/>
                                        </p:tgtEl>
                                      </p:cBhvr>
                                    </p:animEffect>
                                  </p:childTnLst>
                                </p:cTn>
                              </p:par>
                            </p:childTnLst>
                          </p:cTn>
                        </p:par>
                        <p:par>
                          <p:cTn id="54" fill="hold">
                            <p:stCondLst>
                              <p:cond delay="500"/>
                            </p:stCondLst>
                            <p:childTnLst>
                              <p:par>
                                <p:cTn id="55" presetID="18" presetClass="entr" presetSubtype="6" fill="hold" nodeType="afterEffect">
                                  <p:stCondLst>
                                    <p:cond delay="0"/>
                                  </p:stCondLst>
                                  <p:childTnLst>
                                    <p:set>
                                      <p:cBhvr>
                                        <p:cTn id="56" dur="1" fill="hold">
                                          <p:stCondLst>
                                            <p:cond delay="0"/>
                                          </p:stCondLst>
                                        </p:cTn>
                                        <p:tgtEl>
                                          <p:spTgt spid="231440"/>
                                        </p:tgtEl>
                                        <p:attrNameLst>
                                          <p:attrName>style.visibility</p:attrName>
                                        </p:attrNameLst>
                                      </p:cBhvr>
                                      <p:to>
                                        <p:strVal val="visible"/>
                                      </p:to>
                                    </p:set>
                                    <p:animEffect transition="in" filter="strips(downRight)">
                                      <p:cBhvr>
                                        <p:cTn id="57" dur="500"/>
                                        <p:tgtEl>
                                          <p:spTgt spid="231440"/>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3" fill="hold" grpId="0" nodeType="clickEffect">
                                  <p:stCondLst>
                                    <p:cond delay="0"/>
                                  </p:stCondLst>
                                  <p:iterate type="lt">
                                    <p:tmPct val="100000"/>
                                  </p:iterate>
                                  <p:childTnLst>
                                    <p:set>
                                      <p:cBhvr>
                                        <p:cTn id="61" dur="1" fill="hold">
                                          <p:stCondLst>
                                            <p:cond delay="0"/>
                                          </p:stCondLst>
                                        </p:cTn>
                                        <p:tgtEl>
                                          <p:spTgt spid="231441">
                                            <p:txEl>
                                              <p:pRg st="0" end="0"/>
                                            </p:txEl>
                                          </p:spTgt>
                                        </p:tgtEl>
                                        <p:attrNameLst>
                                          <p:attrName>style.visibility</p:attrName>
                                        </p:attrNameLst>
                                      </p:cBhvr>
                                      <p:to>
                                        <p:strVal val="visible"/>
                                      </p:to>
                                    </p:set>
                                    <p:anim calcmode="lin" valueType="num">
                                      <p:cBhvr additive="base">
                                        <p:cTn id="62" dur="75" fill="hold"/>
                                        <p:tgtEl>
                                          <p:spTgt spid="231441">
                                            <p:txEl>
                                              <p:pRg st="0" end="0"/>
                                            </p:txEl>
                                          </p:spTgt>
                                        </p:tgtEl>
                                        <p:attrNameLst>
                                          <p:attrName>ppt_x</p:attrName>
                                        </p:attrNameLst>
                                      </p:cBhvr>
                                      <p:tavLst>
                                        <p:tav tm="0">
                                          <p:val>
                                            <p:strVal val="1+#ppt_w/2"/>
                                          </p:val>
                                        </p:tav>
                                        <p:tav tm="100000">
                                          <p:val>
                                            <p:strVal val="#ppt_x"/>
                                          </p:val>
                                        </p:tav>
                                      </p:tavLst>
                                    </p:anim>
                                    <p:anim calcmode="lin" valueType="num">
                                      <p:cBhvr additive="base">
                                        <p:cTn id="63" dur="75" fill="hold"/>
                                        <p:tgtEl>
                                          <p:spTgt spid="231441">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3" name="LASER.WAV"/>
                                        </p:tgtEl>
                                      </p:cMediaNode>
                                    </p:audio>
                                  </p:subTnLst>
                                </p:cTn>
                              </p:par>
                            </p:childTnLst>
                          </p:cTn>
                        </p:par>
                      </p:childTnLst>
                    </p:cTn>
                  </p:par>
                  <p:par>
                    <p:cTn id="64" fill="hold">
                      <p:stCondLst>
                        <p:cond delay="indefinite"/>
                      </p:stCondLst>
                      <p:childTnLst>
                        <p:par>
                          <p:cTn id="65" fill="hold">
                            <p:stCondLst>
                              <p:cond delay="0"/>
                            </p:stCondLst>
                            <p:childTnLst>
                              <p:par>
                                <p:cTn id="66" presetID="16" presetClass="entr" presetSubtype="37" fill="hold" nodeType="clickEffect">
                                  <p:stCondLst>
                                    <p:cond delay="0"/>
                                  </p:stCondLst>
                                  <p:childTnLst>
                                    <p:set>
                                      <p:cBhvr>
                                        <p:cTn id="67" dur="1" fill="hold">
                                          <p:stCondLst>
                                            <p:cond delay="0"/>
                                          </p:stCondLst>
                                        </p:cTn>
                                        <p:tgtEl>
                                          <p:spTgt spid="231450"/>
                                        </p:tgtEl>
                                        <p:attrNameLst>
                                          <p:attrName>style.visibility</p:attrName>
                                        </p:attrNameLst>
                                      </p:cBhvr>
                                      <p:to>
                                        <p:strVal val="visible"/>
                                      </p:to>
                                    </p:set>
                                    <p:animEffect transition="in" filter="barn(outVertical)">
                                      <p:cBhvr>
                                        <p:cTn id="68" dur="500"/>
                                        <p:tgtEl>
                                          <p:spTgt spid="231450"/>
                                        </p:tgtEl>
                                      </p:cBhvr>
                                    </p:animEffect>
                                  </p:childTnLst>
                                </p:cTn>
                              </p:par>
                            </p:childTnLst>
                          </p:cTn>
                        </p:par>
                      </p:childTnLst>
                    </p:cTn>
                  </p:par>
                  <p:par>
                    <p:cTn id="69" fill="hold">
                      <p:stCondLst>
                        <p:cond delay="indefinite"/>
                      </p:stCondLst>
                      <p:childTnLst>
                        <p:par>
                          <p:cTn id="70" fill="hold">
                            <p:stCondLst>
                              <p:cond delay="0"/>
                            </p:stCondLst>
                            <p:childTnLst>
                              <p:par>
                                <p:cTn id="71" presetID="16" presetClass="entr" presetSubtype="37" fill="hold" nodeType="clickEffect">
                                  <p:stCondLst>
                                    <p:cond delay="0"/>
                                  </p:stCondLst>
                                  <p:childTnLst>
                                    <p:set>
                                      <p:cBhvr>
                                        <p:cTn id="72" dur="1" fill="hold">
                                          <p:stCondLst>
                                            <p:cond delay="0"/>
                                          </p:stCondLst>
                                        </p:cTn>
                                        <p:tgtEl>
                                          <p:spTgt spid="231434"/>
                                        </p:tgtEl>
                                        <p:attrNameLst>
                                          <p:attrName>style.visibility</p:attrName>
                                        </p:attrNameLst>
                                      </p:cBhvr>
                                      <p:to>
                                        <p:strVal val="visible"/>
                                      </p:to>
                                    </p:set>
                                    <p:animEffect transition="in" filter="barn(outVertical)">
                                      <p:cBhvr>
                                        <p:cTn id="73" dur="500"/>
                                        <p:tgtEl>
                                          <p:spTgt spid="231434"/>
                                        </p:tgtEl>
                                      </p:cBhvr>
                                    </p:animEffect>
                                  </p:childTnLst>
                                </p:cTn>
                              </p:par>
                            </p:childTnLst>
                          </p:cTn>
                        </p:par>
                        <p:par>
                          <p:cTn id="74" fill="hold">
                            <p:stCondLst>
                              <p:cond delay="500"/>
                            </p:stCondLst>
                            <p:childTnLst>
                              <p:par>
                                <p:cTn id="75" presetID="18" presetClass="entr" presetSubtype="12" fill="hold" nodeType="afterEffect">
                                  <p:stCondLst>
                                    <p:cond delay="0"/>
                                  </p:stCondLst>
                                  <p:childTnLst>
                                    <p:set>
                                      <p:cBhvr>
                                        <p:cTn id="76" dur="1" fill="hold">
                                          <p:stCondLst>
                                            <p:cond delay="0"/>
                                          </p:stCondLst>
                                        </p:cTn>
                                        <p:tgtEl>
                                          <p:spTgt spid="231442"/>
                                        </p:tgtEl>
                                        <p:attrNameLst>
                                          <p:attrName>style.visibility</p:attrName>
                                        </p:attrNameLst>
                                      </p:cBhvr>
                                      <p:to>
                                        <p:strVal val="visible"/>
                                      </p:to>
                                    </p:set>
                                    <p:animEffect transition="in" filter="strips(downLeft)">
                                      <p:cBhvr>
                                        <p:cTn id="77" dur="500"/>
                                        <p:tgtEl>
                                          <p:spTgt spid="23144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231448"/>
                                        </p:tgtEl>
                                        <p:attrNameLst>
                                          <p:attrName>style.visibility</p:attrName>
                                        </p:attrNameLst>
                                      </p:cBhvr>
                                      <p:to>
                                        <p:strVal val="visible"/>
                                      </p:to>
                                    </p:set>
                                    <p:animEffect transition="in" filter="wipe(up)">
                                      <p:cBhvr>
                                        <p:cTn id="82" dur="500"/>
                                        <p:tgtEl>
                                          <p:spTgt spid="231448"/>
                                        </p:tgtEl>
                                      </p:cBhvr>
                                    </p:animEffect>
                                  </p:childTnLst>
                                </p:cTn>
                              </p:par>
                            </p:childTnLst>
                          </p:cTn>
                        </p:par>
                        <p:par>
                          <p:cTn id="83" fill="hold">
                            <p:stCondLst>
                              <p:cond delay="500"/>
                            </p:stCondLst>
                            <p:childTnLst>
                              <p:par>
                                <p:cTn id="84" presetID="18" presetClass="entr" presetSubtype="6" fill="hold" nodeType="afterEffect">
                                  <p:stCondLst>
                                    <p:cond delay="0"/>
                                  </p:stCondLst>
                                  <p:childTnLst>
                                    <p:set>
                                      <p:cBhvr>
                                        <p:cTn id="85" dur="1" fill="hold">
                                          <p:stCondLst>
                                            <p:cond delay="0"/>
                                          </p:stCondLst>
                                        </p:cTn>
                                        <p:tgtEl>
                                          <p:spTgt spid="231445"/>
                                        </p:tgtEl>
                                        <p:attrNameLst>
                                          <p:attrName>style.visibility</p:attrName>
                                        </p:attrNameLst>
                                      </p:cBhvr>
                                      <p:to>
                                        <p:strVal val="visible"/>
                                      </p:to>
                                    </p:set>
                                    <p:animEffect transition="in" filter="strips(downRight)">
                                      <p:cBhvr>
                                        <p:cTn id="86" dur="500"/>
                                        <p:tgtEl>
                                          <p:spTgt spid="23144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31433"/>
                                        </p:tgtEl>
                                        <p:attrNameLst>
                                          <p:attrName>style.visibility</p:attrName>
                                        </p:attrNameLst>
                                      </p:cBhvr>
                                      <p:to>
                                        <p:strVal val="visible"/>
                                      </p:to>
                                    </p:set>
                                    <p:animEffect transition="in" filter="wipe(left)">
                                      <p:cBhvr>
                                        <p:cTn id="91" dur="500"/>
                                        <p:tgtEl>
                                          <p:spTgt spid="231433"/>
                                        </p:tgtEl>
                                      </p:cBhvr>
                                    </p:animEffect>
                                  </p:childTnLst>
                                </p:cTn>
                              </p:par>
                            </p:childTnLst>
                          </p:cTn>
                        </p:par>
                        <p:par>
                          <p:cTn id="92" fill="hold">
                            <p:stCondLst>
                              <p:cond delay="500"/>
                            </p:stCondLst>
                            <p:childTnLst>
                              <p:par>
                                <p:cTn id="93" presetID="18" presetClass="entr" presetSubtype="6" fill="hold" nodeType="afterEffect">
                                  <p:stCondLst>
                                    <p:cond delay="0"/>
                                  </p:stCondLst>
                                  <p:childTnLst>
                                    <p:set>
                                      <p:cBhvr>
                                        <p:cTn id="94" dur="1" fill="hold">
                                          <p:stCondLst>
                                            <p:cond delay="0"/>
                                          </p:stCondLst>
                                        </p:cTn>
                                        <p:tgtEl>
                                          <p:spTgt spid="231446"/>
                                        </p:tgtEl>
                                        <p:attrNameLst>
                                          <p:attrName>style.visibility</p:attrName>
                                        </p:attrNameLst>
                                      </p:cBhvr>
                                      <p:to>
                                        <p:strVal val="visible"/>
                                      </p:to>
                                    </p:set>
                                    <p:animEffect transition="in" filter="strips(downRight)">
                                      <p:cBhvr>
                                        <p:cTn id="95" dur="500"/>
                                        <p:tgtEl>
                                          <p:spTgt spid="231446"/>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3" fill="hold" grpId="0" nodeType="clickEffect">
                                  <p:stCondLst>
                                    <p:cond delay="0"/>
                                  </p:stCondLst>
                                  <p:iterate type="lt">
                                    <p:tmPct val="100000"/>
                                  </p:iterate>
                                  <p:childTnLst>
                                    <p:set>
                                      <p:cBhvr>
                                        <p:cTn id="99" dur="1" fill="hold">
                                          <p:stCondLst>
                                            <p:cond delay="0"/>
                                          </p:stCondLst>
                                        </p:cTn>
                                        <p:tgtEl>
                                          <p:spTgt spid="231447">
                                            <p:txEl>
                                              <p:pRg st="0" end="0"/>
                                            </p:txEl>
                                          </p:spTgt>
                                        </p:tgtEl>
                                        <p:attrNameLst>
                                          <p:attrName>style.visibility</p:attrName>
                                        </p:attrNameLst>
                                      </p:cBhvr>
                                      <p:to>
                                        <p:strVal val="visible"/>
                                      </p:to>
                                    </p:set>
                                    <p:anim calcmode="lin" valueType="num">
                                      <p:cBhvr additive="base">
                                        <p:cTn id="100" dur="75" fill="hold"/>
                                        <p:tgtEl>
                                          <p:spTgt spid="231447">
                                            <p:txEl>
                                              <p:pRg st="0" end="0"/>
                                            </p:txEl>
                                          </p:spTgt>
                                        </p:tgtEl>
                                        <p:attrNameLst>
                                          <p:attrName>ppt_x</p:attrName>
                                        </p:attrNameLst>
                                      </p:cBhvr>
                                      <p:tavLst>
                                        <p:tav tm="0">
                                          <p:val>
                                            <p:strVal val="1+#ppt_w/2"/>
                                          </p:val>
                                        </p:tav>
                                        <p:tav tm="100000">
                                          <p:val>
                                            <p:strVal val="#ppt_x"/>
                                          </p:val>
                                        </p:tav>
                                      </p:tavLst>
                                    </p:anim>
                                    <p:anim calcmode="lin" valueType="num">
                                      <p:cBhvr additive="base">
                                        <p:cTn id="101" dur="75" fill="hold"/>
                                        <p:tgtEl>
                                          <p:spTgt spid="231447">
                                            <p:txEl>
                                              <p:pRg st="0" end="0"/>
                                            </p:txEl>
                                          </p:spTgt>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98"/>
                                            </p:cond>
                                          </p:stCondLst>
                                          <p:endCondLst>
                                            <p:cond evt="onStopAudio" delay="0">
                                              <p:tgtEl>
                                                <p:sldTgt/>
                                              </p:tgtEl>
                                            </p:cond>
                                          </p:endCondLst>
                                        </p:cTn>
                                        <p:tgtEl>
                                          <p:sndTgt r:embed="rId3"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28" grpId="0" build="p"/>
      <p:bldP spid="231429" grpId="0" bldLvl="0" animBg="1"/>
      <p:bldP spid="231430" grpId="0" bldLvl="0" animBg="1"/>
      <p:bldP spid="231431" grpId="0" bldLvl="0" animBg="1"/>
      <p:bldP spid="231432" grpId="0" bldLvl="0" animBg="1"/>
      <p:bldP spid="231433" grpId="0" bldLvl="0" animBg="1"/>
      <p:bldP spid="231441" grpId="0" build="p"/>
      <p:bldP spid="231447" grpId="0" build="p"/>
      <p:bldP spid="231448" grpId="0" bldLvl="0" animBg="1"/>
      <p:bldP spid="231427" grpId="0" build="p" advAuto="100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日期占位符 1"/>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黑体" panose="02010609060101010101" pitchFamily="49" charset="-122"/>
                <a:cs typeface="+mn-cs"/>
              </a:rPr>
              <a:t>数字系统设计</a:t>
            </a:r>
          </a:p>
        </p:txBody>
      </p:sp>
      <p:sp>
        <p:nvSpPr>
          <p:cNvPr id="24" name="页脚占位符 2"/>
          <p:cNvSpPr txBox="1">
            <a:spLocks noGrp="1"/>
          </p:cNvSpPr>
          <p:nvPr>
            <p:ph type="ftr" sz="quarter" idx="11"/>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r>
              <a:rPr kumimoji="0" lang="zh-CN" altLang="en-US" sz="1400" b="1" i="1" u="none" strike="noStrike" kern="1200" cap="none" spc="0" normalizeH="0" baseline="0" noProof="0">
                <a:ln>
                  <a:noFill/>
                </a:ln>
                <a:solidFill>
                  <a:schemeClr val="tx1"/>
                </a:solidFill>
                <a:effectLst/>
                <a:uLnTx/>
                <a:uFillTx/>
                <a:latin typeface="+mj-lt"/>
                <a:ea typeface="楷体" panose="02010609060101010101" pitchFamily="49" charset="-122"/>
                <a:cs typeface="+mn-cs"/>
              </a:rPr>
              <a:t>华东理工大学电子与通信工程系</a:t>
            </a:r>
          </a:p>
        </p:txBody>
      </p:sp>
      <p:graphicFrame>
        <p:nvGraphicFramePr>
          <p:cNvPr id="232450" name="Object 2"/>
          <p:cNvGraphicFramePr>
            <a:graphicFrameLocks noChangeAspect="1"/>
          </p:cNvGraphicFramePr>
          <p:nvPr/>
        </p:nvGraphicFramePr>
        <p:xfrm>
          <a:off x="6232525" y="5334000"/>
          <a:ext cx="4024313" cy="527050"/>
        </p:xfrm>
        <a:graphic>
          <a:graphicData uri="http://schemas.openxmlformats.org/presentationml/2006/ole">
            <mc:AlternateContent xmlns:mc="http://schemas.openxmlformats.org/markup-compatibility/2006">
              <mc:Choice xmlns:v="urn:schemas-microsoft-com:vml" Requires="v">
                <p:oleObj spid="_x0000_s18436" r:id="rId3" imgW="1637665" imgH="215900" progId="Equation.3">
                  <p:embed/>
                </p:oleObj>
              </mc:Choice>
              <mc:Fallback>
                <p:oleObj r:id="rId3" imgW="1637665" imgH="215900" progId="Equation.3">
                  <p:embed/>
                  <p:pic>
                    <p:nvPicPr>
                      <p:cNvPr id="0" name="图片 3209"/>
                      <p:cNvPicPr/>
                      <p:nvPr/>
                    </p:nvPicPr>
                    <p:blipFill>
                      <a:blip r:embed="rId4"/>
                      <a:stretch>
                        <a:fillRect/>
                      </a:stretch>
                    </p:blipFill>
                    <p:spPr>
                      <a:xfrm>
                        <a:off x="6232525" y="5334000"/>
                        <a:ext cx="4024313" cy="527050"/>
                      </a:xfrm>
                      <a:prstGeom prst="rect">
                        <a:avLst/>
                      </a:prstGeom>
                      <a:solidFill>
                        <a:srgbClr val="FFFF99"/>
                      </a:solidFill>
                      <a:ln w="38100">
                        <a:noFill/>
                        <a:miter/>
                      </a:ln>
                    </p:spPr>
                  </p:pic>
                </p:oleObj>
              </mc:Fallback>
            </mc:AlternateContent>
          </a:graphicData>
        </a:graphic>
      </p:graphicFrame>
      <p:graphicFrame>
        <p:nvGraphicFramePr>
          <p:cNvPr id="232451" name="Object 3"/>
          <p:cNvGraphicFramePr>
            <a:graphicFrameLocks noChangeAspect="1"/>
          </p:cNvGraphicFramePr>
          <p:nvPr/>
        </p:nvGraphicFramePr>
        <p:xfrm>
          <a:off x="1981200" y="5334000"/>
          <a:ext cx="3992563" cy="527050"/>
        </p:xfrm>
        <a:graphic>
          <a:graphicData uri="http://schemas.openxmlformats.org/presentationml/2006/ole">
            <mc:AlternateContent xmlns:mc="http://schemas.openxmlformats.org/markup-compatibility/2006">
              <mc:Choice xmlns:v="urn:schemas-microsoft-com:vml" Requires="v">
                <p:oleObj spid="_x0000_s18437" r:id="rId5" imgW="1624965" imgH="215900" progId="Equation.3">
                  <p:embed/>
                </p:oleObj>
              </mc:Choice>
              <mc:Fallback>
                <p:oleObj r:id="rId5" imgW="1624965" imgH="215900" progId="Equation.3">
                  <p:embed/>
                  <p:pic>
                    <p:nvPicPr>
                      <p:cNvPr id="0" name="图片 3208"/>
                      <p:cNvPicPr/>
                      <p:nvPr/>
                    </p:nvPicPr>
                    <p:blipFill>
                      <a:blip r:embed="rId6"/>
                      <a:stretch>
                        <a:fillRect/>
                      </a:stretch>
                    </p:blipFill>
                    <p:spPr>
                      <a:xfrm>
                        <a:off x="1981200" y="5334000"/>
                        <a:ext cx="3992563" cy="527050"/>
                      </a:xfrm>
                      <a:prstGeom prst="rect">
                        <a:avLst/>
                      </a:prstGeom>
                      <a:solidFill>
                        <a:srgbClr val="FFFF99"/>
                      </a:solidFill>
                      <a:ln w="38100">
                        <a:noFill/>
                        <a:miter/>
                      </a:ln>
                    </p:spPr>
                  </p:pic>
                </p:oleObj>
              </mc:Fallback>
            </mc:AlternateContent>
          </a:graphicData>
        </a:graphic>
      </p:graphicFrame>
      <p:graphicFrame>
        <p:nvGraphicFramePr>
          <p:cNvPr id="232452" name="Object 4"/>
          <p:cNvGraphicFramePr>
            <a:graphicFrameLocks noChangeAspect="1"/>
          </p:cNvGraphicFramePr>
          <p:nvPr/>
        </p:nvGraphicFramePr>
        <p:xfrm>
          <a:off x="1752600" y="1524000"/>
          <a:ext cx="8602663" cy="3008313"/>
        </p:xfrm>
        <a:graphic>
          <a:graphicData uri="http://schemas.openxmlformats.org/presentationml/2006/ole">
            <mc:AlternateContent xmlns:mc="http://schemas.openxmlformats.org/markup-compatibility/2006">
              <mc:Choice xmlns:v="urn:schemas-microsoft-com:vml" Requires="v">
                <p:oleObj spid="_x0000_s18438" r:id="rId7" imgW="8610600" imgH="3695700" progId="Word.Document.8">
                  <p:embed/>
                </p:oleObj>
              </mc:Choice>
              <mc:Fallback>
                <p:oleObj r:id="rId7" imgW="8610600" imgH="3695700" progId="Word.Document.8">
                  <p:embed/>
                  <p:pic>
                    <p:nvPicPr>
                      <p:cNvPr id="0" name="图片 3206"/>
                      <p:cNvPicPr/>
                      <p:nvPr/>
                    </p:nvPicPr>
                    <p:blipFill>
                      <a:blip r:embed="rId8"/>
                      <a:stretch>
                        <a:fillRect/>
                      </a:stretch>
                    </p:blipFill>
                    <p:spPr>
                      <a:xfrm>
                        <a:off x="1752600" y="1524000"/>
                        <a:ext cx="8602663" cy="3008313"/>
                      </a:xfrm>
                      <a:prstGeom prst="rect">
                        <a:avLst/>
                      </a:prstGeom>
                      <a:solidFill>
                        <a:srgbClr val="D9FFEC"/>
                      </a:solidFill>
                      <a:ln w="38100">
                        <a:noFill/>
                        <a:miter/>
                      </a:ln>
                    </p:spPr>
                  </p:pic>
                </p:oleObj>
              </mc:Fallback>
            </mc:AlternateContent>
          </a:graphicData>
        </a:graphic>
      </p:graphicFrame>
      <p:sp>
        <p:nvSpPr>
          <p:cNvPr id="232453" name="Rectangle 5"/>
          <p:cNvSpPr/>
          <p:nvPr/>
        </p:nvSpPr>
        <p:spPr>
          <a:xfrm>
            <a:off x="2286000" y="609600"/>
            <a:ext cx="7543800" cy="645160"/>
          </a:xfrm>
          <a:prstGeom prst="rect">
            <a:avLst/>
          </a:prstGeom>
          <a:solidFill>
            <a:schemeClr val="bg1"/>
          </a:solidFill>
          <a:ln w="9525">
            <a:noFill/>
          </a:ln>
        </p:spPr>
        <p:txBody>
          <a:bodyPr lIns="0" rIns="0" anchor="t" anchorCtr="0">
            <a:spAutoFit/>
          </a:bodyPr>
          <a:lstStyle/>
          <a:p>
            <a:pPr>
              <a:spcBef>
                <a:spcPct val="50000"/>
              </a:spcBef>
            </a:pPr>
            <a:r>
              <a:rPr lang="zh-CN" altLang="en-US" dirty="0">
                <a:latin typeface="Times New Roman" panose="02020603050405020304" pitchFamily="18" charset="0"/>
                <a:ea typeface="宋体" panose="02010600030101010101" pitchFamily="2" charset="-122"/>
              </a:rPr>
              <a:t>　　② 在有些情况下，不同圈法得到的与或表达式都是最简形式。即</a:t>
            </a:r>
            <a:r>
              <a:rPr lang="zh-CN" altLang="en-US" dirty="0">
                <a:solidFill>
                  <a:srgbClr val="FF0000"/>
                </a:solidFill>
                <a:latin typeface="Times New Roman" panose="02020603050405020304" pitchFamily="18" charset="0"/>
                <a:ea typeface="宋体" panose="02010600030101010101" pitchFamily="2" charset="-122"/>
              </a:rPr>
              <a:t>一个函数的最简与或表达式不是唯一的</a:t>
            </a:r>
            <a:r>
              <a:rPr lang="zh-CN" altLang="en-US" dirty="0">
                <a:latin typeface="Times New Roman" panose="02020603050405020304" pitchFamily="18" charset="0"/>
                <a:ea typeface="宋体" panose="02010600030101010101" pitchFamily="2" charset="-122"/>
              </a:rPr>
              <a:t>。</a:t>
            </a:r>
            <a:endParaRPr lang="zh-CN" altLang="en-US" sz="3200" dirty="0">
              <a:latin typeface="Times New Roman" panose="02020603050405020304" pitchFamily="18" charset="0"/>
              <a:ea typeface="宋体" panose="02010600030101010101" pitchFamily="2" charset="-122"/>
            </a:endParaRPr>
          </a:p>
        </p:txBody>
      </p:sp>
      <p:sp>
        <p:nvSpPr>
          <p:cNvPr id="232454" name="Oval 6"/>
          <p:cNvSpPr/>
          <p:nvPr/>
        </p:nvSpPr>
        <p:spPr>
          <a:xfrm>
            <a:off x="3124200" y="2931599"/>
            <a:ext cx="1219200" cy="613802"/>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32455" name="Group 7"/>
          <p:cNvGrpSpPr/>
          <p:nvPr/>
        </p:nvGrpSpPr>
        <p:grpSpPr>
          <a:xfrm>
            <a:off x="3124200" y="2667000"/>
            <a:ext cx="838200" cy="1752600"/>
            <a:chOff x="960" y="1488"/>
            <a:chExt cx="528" cy="1524"/>
          </a:xfrm>
        </p:grpSpPr>
        <p:sp>
          <p:nvSpPr>
            <p:cNvPr id="56329" name="Freeform 8"/>
            <p:cNvSpPr/>
            <p:nvPr/>
          </p:nvSpPr>
          <p:spPr>
            <a:xfrm>
              <a:off x="960" y="1488"/>
              <a:ext cx="528" cy="432"/>
            </a:xfrm>
            <a:custGeom>
              <a:avLst/>
              <a:gdLst/>
              <a:ahLst/>
              <a:cxnLst>
                <a:cxn ang="0">
                  <a:pos x="0" y="0"/>
                </a:cxn>
                <a:cxn ang="0">
                  <a:pos x="192" y="432"/>
                </a:cxn>
                <a:cxn ang="0">
                  <a:pos x="528" y="0"/>
                </a:cxn>
              </a:cxnLst>
              <a:rect l="0" t="0" r="0" b="0"/>
              <a:pathLst>
                <a:path w="528" h="432">
                  <a:moveTo>
                    <a:pt x="0" y="0"/>
                  </a:moveTo>
                  <a:cubicBezTo>
                    <a:pt x="52" y="216"/>
                    <a:pt x="104" y="432"/>
                    <a:pt x="192" y="432"/>
                  </a:cubicBezTo>
                  <a:cubicBezTo>
                    <a:pt x="280" y="432"/>
                    <a:pt x="404" y="216"/>
                    <a:pt x="528" y="0"/>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56330" name="Freeform 9"/>
            <p:cNvSpPr/>
            <p:nvPr/>
          </p:nvSpPr>
          <p:spPr>
            <a:xfrm flipV="1">
              <a:off x="960" y="2580"/>
              <a:ext cx="528" cy="432"/>
            </a:xfrm>
            <a:custGeom>
              <a:avLst/>
              <a:gdLst/>
              <a:ahLst/>
              <a:cxnLst>
                <a:cxn ang="0">
                  <a:pos x="0" y="0"/>
                </a:cxn>
                <a:cxn ang="0">
                  <a:pos x="192" y="432"/>
                </a:cxn>
                <a:cxn ang="0">
                  <a:pos x="528" y="0"/>
                </a:cxn>
              </a:cxnLst>
              <a:rect l="0" t="0" r="0" b="0"/>
              <a:pathLst>
                <a:path w="528" h="432">
                  <a:moveTo>
                    <a:pt x="0" y="0"/>
                  </a:moveTo>
                  <a:cubicBezTo>
                    <a:pt x="52" y="216"/>
                    <a:pt x="104" y="432"/>
                    <a:pt x="192" y="432"/>
                  </a:cubicBezTo>
                  <a:cubicBezTo>
                    <a:pt x="280" y="432"/>
                    <a:pt x="404" y="216"/>
                    <a:pt x="528" y="0"/>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grpSp>
      <p:sp>
        <p:nvSpPr>
          <p:cNvPr id="232458" name="Oval 10"/>
          <p:cNvSpPr/>
          <p:nvPr/>
        </p:nvSpPr>
        <p:spPr>
          <a:xfrm>
            <a:off x="3886200" y="3177895"/>
            <a:ext cx="1295400" cy="502210"/>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2459" name="Oval 11"/>
          <p:cNvSpPr/>
          <p:nvPr/>
        </p:nvSpPr>
        <p:spPr>
          <a:xfrm>
            <a:off x="4476750" y="3617399"/>
            <a:ext cx="609600" cy="613802"/>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2460" name="Oval 12"/>
          <p:cNvSpPr/>
          <p:nvPr/>
        </p:nvSpPr>
        <p:spPr>
          <a:xfrm>
            <a:off x="7696200" y="2931599"/>
            <a:ext cx="1066800" cy="613802"/>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grpSp>
        <p:nvGrpSpPr>
          <p:cNvPr id="232461" name="Group 13"/>
          <p:cNvGrpSpPr/>
          <p:nvPr/>
        </p:nvGrpSpPr>
        <p:grpSpPr>
          <a:xfrm>
            <a:off x="7620000" y="2743200"/>
            <a:ext cx="838200" cy="1600200"/>
            <a:chOff x="3696" y="1488"/>
            <a:chExt cx="528" cy="1524"/>
          </a:xfrm>
        </p:grpSpPr>
        <p:sp>
          <p:nvSpPr>
            <p:cNvPr id="56335" name="Freeform 14"/>
            <p:cNvSpPr/>
            <p:nvPr/>
          </p:nvSpPr>
          <p:spPr>
            <a:xfrm>
              <a:off x="3696" y="1488"/>
              <a:ext cx="528" cy="432"/>
            </a:xfrm>
            <a:custGeom>
              <a:avLst/>
              <a:gdLst/>
              <a:ahLst/>
              <a:cxnLst>
                <a:cxn ang="0">
                  <a:pos x="0" y="0"/>
                </a:cxn>
                <a:cxn ang="0">
                  <a:pos x="192" y="432"/>
                </a:cxn>
                <a:cxn ang="0">
                  <a:pos x="528" y="0"/>
                </a:cxn>
              </a:cxnLst>
              <a:rect l="0" t="0" r="0" b="0"/>
              <a:pathLst>
                <a:path w="528" h="432">
                  <a:moveTo>
                    <a:pt x="0" y="0"/>
                  </a:moveTo>
                  <a:cubicBezTo>
                    <a:pt x="52" y="216"/>
                    <a:pt x="104" y="432"/>
                    <a:pt x="192" y="432"/>
                  </a:cubicBezTo>
                  <a:cubicBezTo>
                    <a:pt x="280" y="432"/>
                    <a:pt x="404" y="216"/>
                    <a:pt x="528" y="0"/>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sp>
          <p:nvSpPr>
            <p:cNvPr id="56336" name="Freeform 15"/>
            <p:cNvSpPr/>
            <p:nvPr/>
          </p:nvSpPr>
          <p:spPr>
            <a:xfrm flipV="1">
              <a:off x="3696" y="2580"/>
              <a:ext cx="528" cy="432"/>
            </a:xfrm>
            <a:custGeom>
              <a:avLst/>
              <a:gdLst/>
              <a:ahLst/>
              <a:cxnLst>
                <a:cxn ang="0">
                  <a:pos x="0" y="0"/>
                </a:cxn>
                <a:cxn ang="0">
                  <a:pos x="192" y="432"/>
                </a:cxn>
                <a:cxn ang="0">
                  <a:pos x="528" y="0"/>
                </a:cxn>
              </a:cxnLst>
              <a:rect l="0" t="0" r="0" b="0"/>
              <a:pathLst>
                <a:path w="528" h="432">
                  <a:moveTo>
                    <a:pt x="0" y="0"/>
                  </a:moveTo>
                  <a:cubicBezTo>
                    <a:pt x="52" y="216"/>
                    <a:pt x="104" y="432"/>
                    <a:pt x="192" y="432"/>
                  </a:cubicBezTo>
                  <a:cubicBezTo>
                    <a:pt x="280" y="432"/>
                    <a:pt x="404" y="216"/>
                    <a:pt x="528" y="0"/>
                  </a:cubicBezTo>
                </a:path>
              </a:pathLst>
            </a:custGeom>
            <a:noFill/>
            <a:ln w="38100" cap="flat" cmpd="sng">
              <a:solidFill>
                <a:srgbClr val="CC3300"/>
              </a:solidFill>
              <a:prstDash val="solid"/>
              <a:round/>
              <a:headEnd type="none" w="med" len="med"/>
              <a:tailEnd type="none" w="med" len="med"/>
            </a:ln>
          </p:spPr>
          <p:txBody>
            <a:bodyPr/>
            <a:lstStyle/>
            <a:p>
              <a:endParaRPr lang="zh-CN" altLang="en-US"/>
            </a:p>
          </p:txBody>
        </p:sp>
      </p:grpSp>
      <p:sp>
        <p:nvSpPr>
          <p:cNvPr id="232464" name="Oval 16"/>
          <p:cNvSpPr/>
          <p:nvPr/>
        </p:nvSpPr>
        <p:spPr>
          <a:xfrm rot="-5400000">
            <a:off x="8801100" y="3269877"/>
            <a:ext cx="685800" cy="546846"/>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2465" name="Oval 17"/>
          <p:cNvSpPr/>
          <p:nvPr/>
        </p:nvSpPr>
        <p:spPr>
          <a:xfrm>
            <a:off x="8839200" y="3617399"/>
            <a:ext cx="609600" cy="613802"/>
          </a:xfrm>
          <a:prstGeom prst="ellipse">
            <a:avLst/>
          </a:prstGeom>
          <a:noFill/>
          <a:ln w="38100" cap="flat" cmpd="sng">
            <a:solidFill>
              <a:srgbClr val="CC3300"/>
            </a:solidFill>
            <a:prstDash val="solid"/>
            <a:round/>
            <a:headEnd type="none" w="med" len="med"/>
            <a:tailEnd type="none" w="med" len="med"/>
          </a:ln>
        </p:spPr>
        <p:txBody>
          <a:bodyPr lIns="0" rIns="0"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32466" name="Freeform 18"/>
          <p:cNvSpPr/>
          <p:nvPr/>
        </p:nvSpPr>
        <p:spPr>
          <a:xfrm>
            <a:off x="5181600" y="3352800"/>
            <a:ext cx="889000" cy="1981200"/>
          </a:xfrm>
          <a:custGeom>
            <a:avLst/>
            <a:gdLst/>
            <a:ahLst/>
            <a:cxnLst>
              <a:cxn ang="0">
                <a:pos x="0" y="0"/>
              </a:cxn>
              <a:cxn ang="0">
                <a:pos x="2147483647" y="2147483647"/>
              </a:cxn>
              <a:cxn ang="0">
                <a:pos x="2147483647" y="2147483647"/>
              </a:cxn>
            </a:cxnLst>
            <a:rect l="0" t="0" r="0" b="0"/>
            <a:pathLst>
              <a:path w="560" h="1248">
                <a:moveTo>
                  <a:pt x="0" y="0"/>
                </a:moveTo>
                <a:cubicBezTo>
                  <a:pt x="248" y="136"/>
                  <a:pt x="496" y="272"/>
                  <a:pt x="528" y="480"/>
                </a:cubicBezTo>
                <a:cubicBezTo>
                  <a:pt x="560" y="688"/>
                  <a:pt x="376" y="968"/>
                  <a:pt x="192" y="1248"/>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2467" name="Freeform 19"/>
          <p:cNvSpPr/>
          <p:nvPr/>
        </p:nvSpPr>
        <p:spPr>
          <a:xfrm>
            <a:off x="9372600" y="3352800"/>
            <a:ext cx="1028700" cy="2057400"/>
          </a:xfrm>
          <a:custGeom>
            <a:avLst/>
            <a:gdLst/>
            <a:ahLst/>
            <a:cxnLst>
              <a:cxn ang="0">
                <a:pos x="0" y="0"/>
              </a:cxn>
              <a:cxn ang="0">
                <a:pos x="2147483647" y="2147483647"/>
              </a:cxn>
              <a:cxn ang="0">
                <a:pos x="2147483647" y="2147483647"/>
              </a:cxn>
            </a:cxnLst>
            <a:rect l="0" t="0" r="0" b="0"/>
            <a:pathLst>
              <a:path w="648" h="1296">
                <a:moveTo>
                  <a:pt x="0" y="0"/>
                </a:moveTo>
                <a:cubicBezTo>
                  <a:pt x="252" y="60"/>
                  <a:pt x="504" y="120"/>
                  <a:pt x="576" y="336"/>
                </a:cubicBezTo>
                <a:cubicBezTo>
                  <a:pt x="648" y="552"/>
                  <a:pt x="540" y="924"/>
                  <a:pt x="432" y="1296"/>
                </a:cubicBezTo>
              </a:path>
            </a:pathLst>
          </a:custGeom>
          <a:noFill/>
          <a:ln w="38100" cap="flat" cmpd="sng">
            <a:solidFill>
              <a:srgbClr val="CC3300"/>
            </a:solidFill>
            <a:prstDash val="solid"/>
            <a:round/>
            <a:headEnd type="none" w="med" len="med"/>
            <a:tailEnd type="arrow" w="med" len="med"/>
          </a:ln>
        </p:spPr>
        <p:txBody>
          <a:bodyPr/>
          <a:lstStyle/>
          <a:p>
            <a:endParaRPr lang="zh-CN" altLang="en-US"/>
          </a:p>
        </p:txBody>
      </p:sp>
      <p:sp>
        <p:nvSpPr>
          <p:cNvPr id="232468" name="Line 20"/>
          <p:cNvSpPr/>
          <p:nvPr/>
        </p:nvSpPr>
        <p:spPr>
          <a:xfrm>
            <a:off x="5029200" y="5867400"/>
            <a:ext cx="914400" cy="0"/>
          </a:xfrm>
          <a:prstGeom prst="line">
            <a:avLst/>
          </a:prstGeom>
          <a:ln w="38100" cap="flat" cmpd="sng">
            <a:solidFill>
              <a:srgbClr val="FF0000"/>
            </a:solidFill>
            <a:prstDash val="solid"/>
            <a:round/>
            <a:headEnd type="none" w="med" len="med"/>
            <a:tailEnd type="none" w="med" len="med"/>
          </a:ln>
        </p:spPr>
      </p:sp>
      <p:sp>
        <p:nvSpPr>
          <p:cNvPr id="232469" name="Line 21"/>
          <p:cNvSpPr/>
          <p:nvPr/>
        </p:nvSpPr>
        <p:spPr>
          <a:xfrm>
            <a:off x="9372600" y="5829300"/>
            <a:ext cx="914400" cy="0"/>
          </a:xfrm>
          <a:prstGeom prst="line">
            <a:avLst/>
          </a:prstGeom>
          <a:ln w="38100" cap="flat" cmpd="sng">
            <a:solidFill>
              <a:srgbClr val="FF0000"/>
            </a:solidFill>
            <a:prstDash val="solid"/>
            <a:round/>
            <a:headEnd type="none" w="med" len="med"/>
            <a:tailEnd type="none" w="med" len="med"/>
          </a:ln>
        </p:spPr>
      </p:sp>
      <p:sp>
        <p:nvSpPr>
          <p:cNvPr id="56343" name="Text Box 22"/>
          <p:cNvSpPr txBox="1"/>
          <p:nvPr/>
        </p:nvSpPr>
        <p:spPr>
          <a:xfrm>
            <a:off x="1752600" y="152400"/>
            <a:ext cx="1524000" cy="368300"/>
          </a:xfrm>
          <a:prstGeom prst="rect">
            <a:avLst/>
          </a:prstGeom>
          <a:solidFill>
            <a:srgbClr val="CCFFCC"/>
          </a:solidFill>
          <a:ln w="9525">
            <a:noFill/>
          </a:ln>
        </p:spPr>
        <p:txBody>
          <a:bodyPr lIns="0" rIns="0" anchor="t" anchorCtr="0">
            <a:spAutoFit/>
          </a:bodyPr>
          <a:lstStyle/>
          <a:p>
            <a:pPr>
              <a:spcBef>
                <a:spcPct val="50000"/>
              </a:spcBef>
            </a:pPr>
            <a:r>
              <a:rPr lang="zh-CN" altLang="en-US" dirty="0">
                <a:solidFill>
                  <a:srgbClr val="FF0000"/>
                </a:solidFill>
                <a:latin typeface="Times New Roman" panose="02020603050405020304" pitchFamily="18" charset="0"/>
                <a:ea typeface="宋体" panose="02010600030101010101" pitchFamily="2" charset="-122"/>
              </a:rPr>
              <a:t>两点说明：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32453">
                                            <p:txEl>
                                              <p:pRg st="0" end="0"/>
                                            </p:txEl>
                                          </p:spTgt>
                                        </p:tgtEl>
                                        <p:attrNameLst>
                                          <p:attrName>style.visibility</p:attrName>
                                        </p:attrNameLst>
                                      </p:cBhvr>
                                      <p:to>
                                        <p:strVal val="visible"/>
                                      </p:to>
                                    </p:set>
                                    <p:animEffect transition="in" filter="wipe(left)">
                                      <p:cBhvr>
                                        <p:cTn id="7" dur="500"/>
                                        <p:tgtEl>
                                          <p:spTgt spid="2324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32452"/>
                                        </p:tgtEl>
                                        <p:attrNameLst>
                                          <p:attrName>style.visibility</p:attrName>
                                        </p:attrNameLst>
                                      </p:cBhvr>
                                      <p:to>
                                        <p:strVal val="visible"/>
                                      </p:to>
                                    </p:set>
                                    <p:animEffect transition="in" filter="dissolve">
                                      <p:cBhvr>
                                        <p:cTn id="12" dur="500"/>
                                        <p:tgtEl>
                                          <p:spTgt spid="2324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2454"/>
                                        </p:tgtEl>
                                        <p:attrNameLst>
                                          <p:attrName>style.visibility</p:attrName>
                                        </p:attrNameLst>
                                      </p:cBhvr>
                                      <p:to>
                                        <p:strVal val="visible"/>
                                      </p:to>
                                    </p:set>
                                    <p:animEffect transition="in" filter="wipe(left)">
                                      <p:cBhvr>
                                        <p:cTn id="17" dur="500"/>
                                        <p:tgtEl>
                                          <p:spTgt spid="232454"/>
                                        </p:tgtEl>
                                      </p:cBhvr>
                                    </p:animEffect>
                                  </p:childTnLst>
                                </p:cTn>
                              </p:par>
                            </p:childTnLst>
                          </p:cTn>
                        </p:par>
                        <p:par>
                          <p:cTn id="18" fill="hold">
                            <p:stCondLst>
                              <p:cond delay="500"/>
                            </p:stCondLst>
                            <p:childTnLst>
                              <p:par>
                                <p:cTn id="19" presetID="16" presetClass="entr" presetSubtype="42" fill="hold" nodeType="afterEffect">
                                  <p:stCondLst>
                                    <p:cond delay="0"/>
                                  </p:stCondLst>
                                  <p:childTnLst>
                                    <p:set>
                                      <p:cBhvr>
                                        <p:cTn id="20" dur="1" fill="hold">
                                          <p:stCondLst>
                                            <p:cond delay="0"/>
                                          </p:stCondLst>
                                        </p:cTn>
                                        <p:tgtEl>
                                          <p:spTgt spid="232455"/>
                                        </p:tgtEl>
                                        <p:attrNameLst>
                                          <p:attrName>style.visibility</p:attrName>
                                        </p:attrNameLst>
                                      </p:cBhvr>
                                      <p:to>
                                        <p:strVal val="visible"/>
                                      </p:to>
                                    </p:set>
                                    <p:animEffect transition="in" filter="barn(outHorizontal)">
                                      <p:cBhvr>
                                        <p:cTn id="21" dur="500"/>
                                        <p:tgtEl>
                                          <p:spTgt spid="232455"/>
                                        </p:tgtEl>
                                      </p:cBhvr>
                                    </p:animEffect>
                                  </p:childTnLst>
                                </p:cTn>
                              </p:par>
                            </p:childTnLst>
                          </p:cTn>
                        </p:par>
                        <p:par>
                          <p:cTn id="22" fill="hold">
                            <p:stCondLst>
                              <p:cond delay="1000"/>
                            </p:stCondLst>
                            <p:childTnLst>
                              <p:par>
                                <p:cTn id="23" presetID="22" presetClass="entr" presetSubtype="1" fill="hold" grpId="0" nodeType="afterEffect">
                                  <p:stCondLst>
                                    <p:cond delay="0"/>
                                  </p:stCondLst>
                                  <p:childTnLst>
                                    <p:set>
                                      <p:cBhvr>
                                        <p:cTn id="24" dur="1" fill="hold">
                                          <p:stCondLst>
                                            <p:cond delay="0"/>
                                          </p:stCondLst>
                                        </p:cTn>
                                        <p:tgtEl>
                                          <p:spTgt spid="232459"/>
                                        </p:tgtEl>
                                        <p:attrNameLst>
                                          <p:attrName>style.visibility</p:attrName>
                                        </p:attrNameLst>
                                      </p:cBhvr>
                                      <p:to>
                                        <p:strVal val="visible"/>
                                      </p:to>
                                    </p:set>
                                    <p:animEffect transition="in" filter="wipe(up)">
                                      <p:cBhvr>
                                        <p:cTn id="25" dur="500"/>
                                        <p:tgtEl>
                                          <p:spTgt spid="232459"/>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232458"/>
                                        </p:tgtEl>
                                        <p:attrNameLst>
                                          <p:attrName>style.visibility</p:attrName>
                                        </p:attrNameLst>
                                      </p:cBhvr>
                                      <p:to>
                                        <p:strVal val="visible"/>
                                      </p:to>
                                    </p:set>
                                    <p:animEffect transition="in" filter="wipe(left)">
                                      <p:cBhvr>
                                        <p:cTn id="29" dur="500"/>
                                        <p:tgtEl>
                                          <p:spTgt spid="232458"/>
                                        </p:tgtEl>
                                      </p:cBhvr>
                                    </p:animEffect>
                                  </p:childTnLst>
                                </p:cTn>
                              </p:par>
                            </p:childTnLst>
                          </p:cTn>
                        </p:par>
                      </p:childTnLst>
                    </p:cTn>
                  </p:par>
                  <p:par>
                    <p:cTn id="30" fill="hold">
                      <p:stCondLst>
                        <p:cond delay="indefinite"/>
                      </p:stCondLst>
                      <p:childTnLst>
                        <p:par>
                          <p:cTn id="31" fill="hold">
                            <p:stCondLst>
                              <p:cond delay="0"/>
                            </p:stCondLst>
                            <p:childTnLst>
                              <p:par>
                                <p:cTn id="32" presetID="18" presetClass="entr" presetSubtype="12" fill="hold" nodeType="clickEffect">
                                  <p:stCondLst>
                                    <p:cond delay="0"/>
                                  </p:stCondLst>
                                  <p:childTnLst>
                                    <p:set>
                                      <p:cBhvr>
                                        <p:cTn id="33" dur="1" fill="hold">
                                          <p:stCondLst>
                                            <p:cond delay="0"/>
                                          </p:stCondLst>
                                        </p:cTn>
                                        <p:tgtEl>
                                          <p:spTgt spid="232466"/>
                                        </p:tgtEl>
                                        <p:attrNameLst>
                                          <p:attrName>style.visibility</p:attrName>
                                        </p:attrNameLst>
                                      </p:cBhvr>
                                      <p:to>
                                        <p:strVal val="visible"/>
                                      </p:to>
                                    </p:set>
                                    <p:animEffect transition="in" filter="strips(downLeft)">
                                      <p:cBhvr>
                                        <p:cTn id="34" dur="500"/>
                                        <p:tgtEl>
                                          <p:spTgt spid="232466"/>
                                        </p:tgtEl>
                                      </p:cBhvr>
                                    </p:animEffect>
                                  </p:childTnLst>
                                </p:cTn>
                              </p:par>
                            </p:childTnLst>
                          </p:cTn>
                        </p:par>
                        <p:par>
                          <p:cTn id="35" fill="hold">
                            <p:stCondLst>
                              <p:cond delay="500"/>
                            </p:stCondLst>
                            <p:childTnLst>
                              <p:par>
                                <p:cTn id="36" presetID="16" presetClass="entr" presetSubtype="37" fill="hold" nodeType="afterEffect">
                                  <p:stCondLst>
                                    <p:cond delay="0"/>
                                  </p:stCondLst>
                                  <p:childTnLst>
                                    <p:set>
                                      <p:cBhvr>
                                        <p:cTn id="37" dur="1" fill="hold">
                                          <p:stCondLst>
                                            <p:cond delay="0"/>
                                          </p:stCondLst>
                                        </p:cTn>
                                        <p:tgtEl>
                                          <p:spTgt spid="232451"/>
                                        </p:tgtEl>
                                        <p:attrNameLst>
                                          <p:attrName>style.visibility</p:attrName>
                                        </p:attrNameLst>
                                      </p:cBhvr>
                                      <p:to>
                                        <p:strVal val="visible"/>
                                      </p:to>
                                    </p:set>
                                    <p:animEffect transition="in" filter="barn(outVertical)">
                                      <p:cBhvr>
                                        <p:cTn id="38" dur="500"/>
                                        <p:tgtEl>
                                          <p:spTgt spid="232451"/>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232468"/>
                                        </p:tgtEl>
                                        <p:attrNameLst>
                                          <p:attrName>style.visibility</p:attrName>
                                        </p:attrNameLst>
                                      </p:cBhvr>
                                      <p:to>
                                        <p:strVal val="visible"/>
                                      </p:to>
                                    </p:set>
                                    <p:animEffect transition="in" filter="wipe(left)">
                                      <p:cBhvr>
                                        <p:cTn id="42" dur="500"/>
                                        <p:tgtEl>
                                          <p:spTgt spid="23246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2460"/>
                                        </p:tgtEl>
                                        <p:attrNameLst>
                                          <p:attrName>style.visibility</p:attrName>
                                        </p:attrNameLst>
                                      </p:cBhvr>
                                      <p:to>
                                        <p:strVal val="visible"/>
                                      </p:to>
                                    </p:set>
                                    <p:animEffect transition="in" filter="wipe(left)">
                                      <p:cBhvr>
                                        <p:cTn id="47" dur="500"/>
                                        <p:tgtEl>
                                          <p:spTgt spid="232460"/>
                                        </p:tgtEl>
                                      </p:cBhvr>
                                    </p:animEffect>
                                  </p:childTnLst>
                                </p:cTn>
                              </p:par>
                            </p:childTnLst>
                          </p:cTn>
                        </p:par>
                        <p:par>
                          <p:cTn id="48" fill="hold">
                            <p:stCondLst>
                              <p:cond delay="500"/>
                            </p:stCondLst>
                            <p:childTnLst>
                              <p:par>
                                <p:cTn id="49" presetID="16" presetClass="entr" presetSubtype="42" fill="hold" nodeType="afterEffect">
                                  <p:stCondLst>
                                    <p:cond delay="0"/>
                                  </p:stCondLst>
                                  <p:childTnLst>
                                    <p:set>
                                      <p:cBhvr>
                                        <p:cTn id="50" dur="1" fill="hold">
                                          <p:stCondLst>
                                            <p:cond delay="0"/>
                                          </p:stCondLst>
                                        </p:cTn>
                                        <p:tgtEl>
                                          <p:spTgt spid="232461"/>
                                        </p:tgtEl>
                                        <p:attrNameLst>
                                          <p:attrName>style.visibility</p:attrName>
                                        </p:attrNameLst>
                                      </p:cBhvr>
                                      <p:to>
                                        <p:strVal val="visible"/>
                                      </p:to>
                                    </p:set>
                                    <p:animEffect transition="in" filter="barn(outHorizontal)">
                                      <p:cBhvr>
                                        <p:cTn id="51" dur="500"/>
                                        <p:tgtEl>
                                          <p:spTgt spid="232461"/>
                                        </p:tgtEl>
                                      </p:cBhvr>
                                    </p:animEffect>
                                  </p:childTnLst>
                                </p:cTn>
                              </p:par>
                            </p:childTnLst>
                          </p:cTn>
                        </p:par>
                        <p:par>
                          <p:cTn id="52" fill="hold">
                            <p:stCondLst>
                              <p:cond delay="1000"/>
                            </p:stCondLst>
                            <p:childTnLst>
                              <p:par>
                                <p:cTn id="53" presetID="22" presetClass="entr" presetSubtype="1" fill="hold" grpId="0" nodeType="afterEffect">
                                  <p:stCondLst>
                                    <p:cond delay="0"/>
                                  </p:stCondLst>
                                  <p:childTnLst>
                                    <p:set>
                                      <p:cBhvr>
                                        <p:cTn id="54" dur="1" fill="hold">
                                          <p:stCondLst>
                                            <p:cond delay="0"/>
                                          </p:stCondLst>
                                        </p:cTn>
                                        <p:tgtEl>
                                          <p:spTgt spid="232465"/>
                                        </p:tgtEl>
                                        <p:attrNameLst>
                                          <p:attrName>style.visibility</p:attrName>
                                        </p:attrNameLst>
                                      </p:cBhvr>
                                      <p:to>
                                        <p:strVal val="visible"/>
                                      </p:to>
                                    </p:set>
                                    <p:animEffect transition="in" filter="wipe(up)">
                                      <p:cBhvr>
                                        <p:cTn id="55" dur="500"/>
                                        <p:tgtEl>
                                          <p:spTgt spid="232465"/>
                                        </p:tgtEl>
                                      </p:cBhvr>
                                    </p:animEffect>
                                  </p:childTnLst>
                                </p:cTn>
                              </p:par>
                            </p:childTnLst>
                          </p:cTn>
                        </p:par>
                        <p:par>
                          <p:cTn id="56" fill="hold">
                            <p:stCondLst>
                              <p:cond delay="1500"/>
                            </p:stCondLst>
                            <p:childTnLst>
                              <p:par>
                                <p:cTn id="57" presetID="22" presetClass="entr" presetSubtype="1" fill="hold" grpId="0" nodeType="afterEffect">
                                  <p:stCondLst>
                                    <p:cond delay="0"/>
                                  </p:stCondLst>
                                  <p:childTnLst>
                                    <p:set>
                                      <p:cBhvr>
                                        <p:cTn id="58" dur="1" fill="hold">
                                          <p:stCondLst>
                                            <p:cond delay="0"/>
                                          </p:stCondLst>
                                        </p:cTn>
                                        <p:tgtEl>
                                          <p:spTgt spid="232464"/>
                                        </p:tgtEl>
                                        <p:attrNameLst>
                                          <p:attrName>style.visibility</p:attrName>
                                        </p:attrNameLst>
                                      </p:cBhvr>
                                      <p:to>
                                        <p:strVal val="visible"/>
                                      </p:to>
                                    </p:set>
                                    <p:animEffect transition="in" filter="wipe(up)">
                                      <p:cBhvr>
                                        <p:cTn id="59" dur="500"/>
                                        <p:tgtEl>
                                          <p:spTgt spid="232464"/>
                                        </p:tgtEl>
                                      </p:cBhvr>
                                    </p:animEffect>
                                  </p:childTnLst>
                                </p:cTn>
                              </p:par>
                            </p:childTnLst>
                          </p:cTn>
                        </p:par>
                      </p:childTnLst>
                    </p:cTn>
                  </p:par>
                  <p:par>
                    <p:cTn id="60" fill="hold">
                      <p:stCondLst>
                        <p:cond delay="indefinite"/>
                      </p:stCondLst>
                      <p:childTnLst>
                        <p:par>
                          <p:cTn id="61" fill="hold">
                            <p:stCondLst>
                              <p:cond delay="0"/>
                            </p:stCondLst>
                            <p:childTnLst>
                              <p:par>
                                <p:cTn id="62" presetID="18" presetClass="entr" presetSubtype="12" fill="hold" nodeType="clickEffect">
                                  <p:stCondLst>
                                    <p:cond delay="0"/>
                                  </p:stCondLst>
                                  <p:childTnLst>
                                    <p:set>
                                      <p:cBhvr>
                                        <p:cTn id="63" dur="1" fill="hold">
                                          <p:stCondLst>
                                            <p:cond delay="0"/>
                                          </p:stCondLst>
                                        </p:cTn>
                                        <p:tgtEl>
                                          <p:spTgt spid="232467"/>
                                        </p:tgtEl>
                                        <p:attrNameLst>
                                          <p:attrName>style.visibility</p:attrName>
                                        </p:attrNameLst>
                                      </p:cBhvr>
                                      <p:to>
                                        <p:strVal val="visible"/>
                                      </p:to>
                                    </p:set>
                                    <p:animEffect transition="in" filter="strips(downLeft)">
                                      <p:cBhvr>
                                        <p:cTn id="64" dur="500"/>
                                        <p:tgtEl>
                                          <p:spTgt spid="232467"/>
                                        </p:tgtEl>
                                      </p:cBhvr>
                                    </p:animEffect>
                                  </p:childTnLst>
                                </p:cTn>
                              </p:par>
                            </p:childTnLst>
                          </p:cTn>
                        </p:par>
                        <p:par>
                          <p:cTn id="65" fill="hold">
                            <p:stCondLst>
                              <p:cond delay="500"/>
                            </p:stCondLst>
                            <p:childTnLst>
                              <p:par>
                                <p:cTn id="66" presetID="16" presetClass="entr" presetSubtype="37" fill="hold" nodeType="afterEffect">
                                  <p:stCondLst>
                                    <p:cond delay="0"/>
                                  </p:stCondLst>
                                  <p:childTnLst>
                                    <p:set>
                                      <p:cBhvr>
                                        <p:cTn id="67" dur="1" fill="hold">
                                          <p:stCondLst>
                                            <p:cond delay="0"/>
                                          </p:stCondLst>
                                        </p:cTn>
                                        <p:tgtEl>
                                          <p:spTgt spid="232450"/>
                                        </p:tgtEl>
                                        <p:attrNameLst>
                                          <p:attrName>style.visibility</p:attrName>
                                        </p:attrNameLst>
                                      </p:cBhvr>
                                      <p:to>
                                        <p:strVal val="visible"/>
                                      </p:to>
                                    </p:set>
                                    <p:animEffect transition="in" filter="barn(outVertical)">
                                      <p:cBhvr>
                                        <p:cTn id="68" dur="500"/>
                                        <p:tgtEl>
                                          <p:spTgt spid="232450"/>
                                        </p:tgtEl>
                                      </p:cBhvr>
                                    </p:animEffect>
                                  </p:childTnLst>
                                </p:cTn>
                              </p:par>
                            </p:childTnLst>
                          </p:cTn>
                        </p:par>
                        <p:par>
                          <p:cTn id="69" fill="hold">
                            <p:stCondLst>
                              <p:cond delay="1000"/>
                            </p:stCondLst>
                            <p:childTnLst>
                              <p:par>
                                <p:cTn id="70" presetID="22" presetClass="entr" presetSubtype="8" fill="hold" nodeType="afterEffect">
                                  <p:stCondLst>
                                    <p:cond delay="0"/>
                                  </p:stCondLst>
                                  <p:childTnLst>
                                    <p:set>
                                      <p:cBhvr>
                                        <p:cTn id="71" dur="1" fill="hold">
                                          <p:stCondLst>
                                            <p:cond delay="0"/>
                                          </p:stCondLst>
                                        </p:cTn>
                                        <p:tgtEl>
                                          <p:spTgt spid="232469"/>
                                        </p:tgtEl>
                                        <p:attrNameLst>
                                          <p:attrName>style.visibility</p:attrName>
                                        </p:attrNameLst>
                                      </p:cBhvr>
                                      <p:to>
                                        <p:strVal val="visible"/>
                                      </p:to>
                                    </p:set>
                                    <p:animEffect transition="in" filter="wipe(left)">
                                      <p:cBhvr>
                                        <p:cTn id="72" dur="500"/>
                                        <p:tgtEl>
                                          <p:spTgt spid="232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3" grpId="0" build="p" advAuto="1000"/>
      <p:bldP spid="232454" grpId="0" bldLvl="0" animBg="1"/>
      <p:bldP spid="232458" grpId="0" bldLvl="0" animBg="1"/>
      <p:bldP spid="232459" grpId="0" bldLvl="0" animBg="1"/>
      <p:bldP spid="232460" grpId="0" bldLvl="0" animBg="1"/>
      <p:bldP spid="232464" grpId="0" bldLvl="0" animBg="1"/>
      <p:bldP spid="232465"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2"/>
          <p:cNvSpPr>
            <a:spLocks noChangeArrowheads="1"/>
          </p:cNvSpPr>
          <p:nvPr/>
        </p:nvSpPr>
        <p:spPr bwMode="auto">
          <a:xfrm>
            <a:off x="2063750" y="1306514"/>
            <a:ext cx="838835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l">
              <a:lnSpc>
                <a:spcPct val="150000"/>
              </a:lnSpc>
            </a:pPr>
            <a:r>
              <a:rPr kumimoji="1" lang="zh-CN" altLang="en-US" sz="2400" dirty="0">
                <a:latin typeface="楷体_GB2312" pitchFamily="49" charset="-122"/>
                <a:ea typeface="楷体_GB2312" pitchFamily="49" charset="-122"/>
              </a:rPr>
              <a:t>例</a:t>
            </a:r>
            <a:r>
              <a:rPr kumimoji="1" lang="en-US" altLang="zh-CN" sz="2400" dirty="0">
                <a:latin typeface="楷体_GB2312" pitchFamily="49" charset="-122"/>
                <a:ea typeface="楷体_GB2312" pitchFamily="49" charset="-122"/>
              </a:rPr>
              <a:t>1  </a:t>
            </a:r>
            <a:r>
              <a:rPr kumimoji="1" lang="zh-CN" altLang="en-US" sz="2400" dirty="0">
                <a:latin typeface="楷体_GB2312" pitchFamily="49" charset="-122"/>
                <a:ea typeface="楷体_GB2312" pitchFamily="49" charset="-122"/>
              </a:rPr>
              <a:t>某火车站有特快、直快和慢车三种类型的客运列车进   出，试用两输入与非门和反相器设计一个指示列车等待进站的逻辑电路，</a:t>
            </a:r>
            <a:r>
              <a:rPr kumimoji="1" lang="en-US" altLang="zh-CN" sz="2400" dirty="0">
                <a:latin typeface="楷体_GB2312" pitchFamily="49" charset="-122"/>
                <a:ea typeface="楷体_GB2312" pitchFamily="49" charset="-122"/>
              </a:rPr>
              <a:t>3</a:t>
            </a:r>
            <a:r>
              <a:rPr kumimoji="1" lang="zh-CN" altLang="en-US" sz="2400" dirty="0">
                <a:latin typeface="楷体_GB2312" pitchFamily="49" charset="-122"/>
                <a:ea typeface="楷体_GB2312" pitchFamily="49" charset="-122"/>
              </a:rPr>
              <a:t>个指示灯一、二、三号分别对应特快、直快和慢车。列车的优先级别依次为特快、直快和慢车，要求当特快列车请求进站时，无论其它两种列车是否请求进站，一号灯亮。当特快没有请求，直快请求进站时，无论慢车是否请求，二号灯亮。当特快和直快均没有请求，而慢车有请求时，三号灯亮。</a:t>
            </a:r>
          </a:p>
        </p:txBody>
      </p:sp>
      <p:sp>
        <p:nvSpPr>
          <p:cNvPr id="401411" name="Text Box 3"/>
          <p:cNvSpPr txBox="1">
            <a:spLocks noChangeArrowheads="1"/>
          </p:cNvSpPr>
          <p:nvPr/>
        </p:nvSpPr>
        <p:spPr bwMode="auto">
          <a:xfrm>
            <a:off x="2208214" y="476251"/>
            <a:ext cx="43140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800" dirty="0">
                <a:latin typeface="隶书" panose="02010509060101010101" pitchFamily="49" charset="-122"/>
                <a:ea typeface="隶书" panose="02010509060101010101" pitchFamily="49" charset="-122"/>
              </a:rPr>
              <a:t>二</a:t>
            </a:r>
            <a:r>
              <a:rPr lang="en-US" altLang="zh-CN" sz="2800" dirty="0">
                <a:latin typeface="隶书" panose="02010509060101010101" pitchFamily="49" charset="-122"/>
                <a:ea typeface="隶书" panose="02010509060101010101" pitchFamily="49" charset="-122"/>
              </a:rPr>
              <a:t>.</a:t>
            </a:r>
            <a:r>
              <a:rPr lang="zh-CN" altLang="en-US" sz="2800" dirty="0">
                <a:latin typeface="隶书" panose="02010509060101010101" pitchFamily="49" charset="-122"/>
                <a:ea typeface="隶书" panose="02010509060101010101" pitchFamily="49" charset="-122"/>
              </a:rPr>
              <a:t>组合逻辑电路分析举例</a:t>
            </a:r>
          </a:p>
        </p:txBody>
      </p:sp>
    </p:spTree>
  </p:cSld>
  <p:clrMapOvr>
    <a:masterClrMapping/>
  </p:clrMapOvr>
  <p:transition>
    <p:wipe dir="r"/>
    <p:sndAc>
      <p:stSnd>
        <p:snd r:embed="rId3" name="PROJCTOR.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2"/>
          <p:cNvSpPr>
            <a:spLocks noChangeArrowheads="1"/>
          </p:cNvSpPr>
          <p:nvPr/>
        </p:nvSpPr>
        <p:spPr bwMode="auto">
          <a:xfrm>
            <a:off x="1990725" y="549275"/>
            <a:ext cx="399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r>
              <a:rPr lang="zh-CN" altLang="en-US">
                <a:ea typeface="楷体_GB2312" pitchFamily="49" charset="-122"/>
              </a:rPr>
              <a:t>解：</a:t>
            </a:r>
            <a:r>
              <a:rPr lang="en-US" altLang="zh-CN">
                <a:ea typeface="楷体_GB2312" pitchFamily="49" charset="-122"/>
              </a:rPr>
              <a:t>1</a:t>
            </a:r>
            <a:r>
              <a:rPr lang="zh-CN" altLang="en-US">
                <a:ea typeface="楷体_GB2312" pitchFamily="49" charset="-122"/>
              </a:rPr>
              <a:t>） 逻辑抽象（约定）</a:t>
            </a:r>
            <a:r>
              <a:rPr lang="zh-CN" altLang="en-US" sz="1800">
                <a:latin typeface="Arial Narrow" panose="020B0606020202030204" pitchFamily="34" charset="0"/>
              </a:rPr>
              <a:t>。</a:t>
            </a:r>
          </a:p>
        </p:txBody>
      </p:sp>
      <p:sp>
        <p:nvSpPr>
          <p:cNvPr id="403459" name="Rectangle 3"/>
          <p:cNvSpPr>
            <a:spLocks noChangeArrowheads="1"/>
          </p:cNvSpPr>
          <p:nvPr/>
        </p:nvSpPr>
        <p:spPr bwMode="auto">
          <a:xfrm>
            <a:off x="-622300" y="21902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403460" name="Text Box 4"/>
          <p:cNvSpPr txBox="1">
            <a:spLocks noChangeArrowheads="1"/>
          </p:cNvSpPr>
          <p:nvPr/>
        </p:nvSpPr>
        <p:spPr bwMode="auto">
          <a:xfrm>
            <a:off x="1703388" y="3074988"/>
            <a:ext cx="21717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03461" name="Rectangle 5"/>
          <p:cNvSpPr>
            <a:spLocks noChangeArrowheads="1"/>
          </p:cNvSpPr>
          <p:nvPr/>
        </p:nvSpPr>
        <p:spPr bwMode="auto">
          <a:xfrm>
            <a:off x="2424113" y="1337103"/>
            <a:ext cx="83487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r>
              <a:rPr lang="zh-CN" altLang="en-US">
                <a:ea typeface="楷体_GB2312" pitchFamily="49" charset="-122"/>
                <a:cs typeface="Times New Roman" panose="02020603050405020304" pitchFamily="18" charset="0"/>
              </a:rPr>
              <a:t>输入信号</a:t>
            </a:r>
            <a:r>
              <a:rPr lang="en-US" altLang="zh-CN">
                <a:ea typeface="楷体_GB2312" pitchFamily="49" charset="-122"/>
                <a:cs typeface="Times New Roman" panose="02020603050405020304" pitchFamily="18" charset="0"/>
              </a:rPr>
              <a:t>: </a:t>
            </a:r>
            <a:r>
              <a:rPr lang="en-US" altLang="zh-CN" i="1">
                <a:ea typeface="楷体_GB2312" pitchFamily="49" charset="-122"/>
                <a:cs typeface="Times New Roman" panose="02020603050405020304" pitchFamily="18" charset="0"/>
              </a:rPr>
              <a:t>I</a:t>
            </a:r>
            <a:r>
              <a:rPr lang="en-US" altLang="zh-CN" baseline="-30000">
                <a:ea typeface="楷体_GB2312" pitchFamily="49" charset="-122"/>
                <a:cs typeface="Times New Roman" panose="02020603050405020304" pitchFamily="18" charset="0"/>
              </a:rPr>
              <a:t>0</a:t>
            </a:r>
            <a:r>
              <a:rPr lang="zh-CN" altLang="en-US">
                <a:ea typeface="楷体_GB2312" pitchFamily="49" charset="-122"/>
                <a:cs typeface="Times New Roman" panose="02020603050405020304" pitchFamily="18" charset="0"/>
              </a:rPr>
              <a:t>、</a:t>
            </a:r>
            <a:r>
              <a:rPr lang="en-US" altLang="zh-CN" i="1">
                <a:ea typeface="楷体_GB2312" pitchFamily="49" charset="-122"/>
                <a:cs typeface="Times New Roman" panose="02020603050405020304" pitchFamily="18" charset="0"/>
              </a:rPr>
              <a:t>I</a:t>
            </a:r>
            <a:r>
              <a:rPr lang="en-US" altLang="zh-CN" baseline="-30000">
                <a:ea typeface="楷体_GB2312" pitchFamily="49" charset="-122"/>
                <a:cs typeface="Times New Roman" panose="02020603050405020304" pitchFamily="18" charset="0"/>
              </a:rPr>
              <a:t>1</a:t>
            </a:r>
            <a:r>
              <a:rPr lang="zh-CN" altLang="en-US">
                <a:ea typeface="楷体_GB2312" pitchFamily="49" charset="-122"/>
                <a:cs typeface="Times New Roman" panose="02020603050405020304" pitchFamily="18" charset="0"/>
              </a:rPr>
              <a:t>、</a:t>
            </a:r>
            <a:r>
              <a:rPr lang="en-US" altLang="zh-CN" i="1">
                <a:ea typeface="楷体_GB2312" pitchFamily="49" charset="-122"/>
                <a:cs typeface="Times New Roman" panose="02020603050405020304" pitchFamily="18" charset="0"/>
              </a:rPr>
              <a:t>I</a:t>
            </a:r>
            <a:r>
              <a:rPr lang="en-US" altLang="zh-CN" baseline="-30000">
                <a:ea typeface="楷体_GB2312" pitchFamily="49" charset="-122"/>
                <a:cs typeface="Times New Roman" panose="02020603050405020304" pitchFamily="18" charset="0"/>
              </a:rPr>
              <a:t>2</a:t>
            </a:r>
            <a:r>
              <a:rPr lang="zh-CN" altLang="en-US">
                <a:ea typeface="楷体_GB2312" pitchFamily="49" charset="-122"/>
                <a:cs typeface="Times New Roman" panose="02020603050405020304" pitchFamily="18" charset="0"/>
              </a:rPr>
              <a:t>分别为特快、直快和慢车的进站请求信号</a:t>
            </a:r>
          </a:p>
          <a:p>
            <a:r>
              <a:rPr lang="zh-CN" altLang="en-US">
                <a:ea typeface="楷体_GB2312" pitchFamily="49" charset="-122"/>
                <a:cs typeface="Times New Roman" panose="02020603050405020304" pitchFamily="18" charset="0"/>
              </a:rPr>
              <a:t>且有进站请求时为</a:t>
            </a:r>
            <a:r>
              <a:rPr lang="en-US" altLang="zh-CN">
                <a:ea typeface="楷体_GB2312" pitchFamily="49" charset="-122"/>
                <a:cs typeface="Times New Roman" panose="02020603050405020304" pitchFamily="18" charset="0"/>
              </a:rPr>
              <a:t>1</a:t>
            </a:r>
            <a:r>
              <a:rPr lang="zh-CN" altLang="en-US">
                <a:ea typeface="楷体_GB2312" pitchFamily="49" charset="-122"/>
                <a:cs typeface="Times New Roman" panose="02020603050405020304" pitchFamily="18" charset="0"/>
              </a:rPr>
              <a:t>，没有请求时为</a:t>
            </a:r>
            <a:r>
              <a:rPr lang="en-US" altLang="zh-CN">
                <a:ea typeface="楷体_GB2312" pitchFamily="49" charset="-122"/>
                <a:cs typeface="Times New Roman" panose="02020603050405020304" pitchFamily="18" charset="0"/>
              </a:rPr>
              <a:t>0</a:t>
            </a:r>
            <a:r>
              <a:rPr lang="zh-CN" altLang="en-US">
                <a:ea typeface="楷体_GB2312" pitchFamily="49" charset="-122"/>
                <a:cs typeface="Times New Roman" panose="02020603050405020304" pitchFamily="18" charset="0"/>
              </a:rPr>
              <a:t>。</a:t>
            </a:r>
          </a:p>
        </p:txBody>
      </p:sp>
      <p:sp>
        <p:nvSpPr>
          <p:cNvPr id="403462" name="Rectangle 6"/>
          <p:cNvSpPr>
            <a:spLocks noChangeArrowheads="1"/>
          </p:cNvSpPr>
          <p:nvPr/>
        </p:nvSpPr>
        <p:spPr bwMode="auto">
          <a:xfrm>
            <a:off x="2424113" y="2129265"/>
            <a:ext cx="65550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r>
              <a:rPr lang="zh-CN" altLang="en-US">
                <a:ea typeface="楷体_GB2312" pitchFamily="49" charset="-122"/>
                <a:cs typeface="Times New Roman" panose="02020603050405020304" pitchFamily="18" charset="0"/>
              </a:rPr>
              <a:t>输出信号</a:t>
            </a:r>
            <a:r>
              <a:rPr lang="en-US" altLang="zh-CN">
                <a:ea typeface="楷体_GB2312" pitchFamily="49" charset="-122"/>
                <a:cs typeface="Times New Roman" panose="02020603050405020304" pitchFamily="18" charset="0"/>
              </a:rPr>
              <a:t>: </a:t>
            </a:r>
            <a:r>
              <a:rPr lang="en-US" altLang="zh-CN" i="1">
                <a:ea typeface="楷体_GB2312" pitchFamily="49" charset="-122"/>
                <a:cs typeface="Times New Roman" panose="02020603050405020304" pitchFamily="18" charset="0"/>
              </a:rPr>
              <a:t>L</a:t>
            </a:r>
            <a:r>
              <a:rPr lang="en-US" altLang="zh-CN" baseline="-30000">
                <a:ea typeface="楷体_GB2312" pitchFamily="49" charset="-122"/>
                <a:cs typeface="Times New Roman" panose="02020603050405020304" pitchFamily="18" charset="0"/>
              </a:rPr>
              <a:t>0</a:t>
            </a:r>
            <a:r>
              <a:rPr lang="zh-CN" altLang="en-US">
                <a:ea typeface="楷体_GB2312" pitchFamily="49" charset="-122"/>
                <a:cs typeface="Times New Roman" panose="02020603050405020304" pitchFamily="18" charset="0"/>
              </a:rPr>
              <a:t>、</a:t>
            </a:r>
            <a:r>
              <a:rPr lang="en-US" altLang="zh-CN" i="1">
                <a:ea typeface="楷体_GB2312" pitchFamily="49" charset="-122"/>
                <a:cs typeface="Times New Roman" panose="02020603050405020304" pitchFamily="18" charset="0"/>
              </a:rPr>
              <a:t>L</a:t>
            </a:r>
            <a:r>
              <a:rPr lang="en-US" altLang="zh-CN" baseline="-30000">
                <a:ea typeface="楷体_GB2312" pitchFamily="49" charset="-122"/>
                <a:cs typeface="Times New Roman" panose="02020603050405020304" pitchFamily="18" charset="0"/>
              </a:rPr>
              <a:t>1</a:t>
            </a:r>
            <a:r>
              <a:rPr lang="zh-CN" altLang="en-US">
                <a:ea typeface="楷体_GB2312" pitchFamily="49" charset="-122"/>
                <a:cs typeface="Times New Roman" panose="02020603050405020304" pitchFamily="18" charset="0"/>
              </a:rPr>
              <a:t>、</a:t>
            </a:r>
            <a:r>
              <a:rPr lang="en-US" altLang="zh-CN" i="1">
                <a:ea typeface="楷体_GB2312" pitchFamily="49" charset="-122"/>
                <a:cs typeface="Times New Roman" panose="02020603050405020304" pitchFamily="18" charset="0"/>
              </a:rPr>
              <a:t>L</a:t>
            </a:r>
            <a:r>
              <a:rPr lang="en-US" altLang="zh-CN" baseline="-30000">
                <a:ea typeface="楷体_GB2312" pitchFamily="49" charset="-122"/>
                <a:cs typeface="Times New Roman" panose="02020603050405020304" pitchFamily="18" charset="0"/>
              </a:rPr>
              <a:t>2</a:t>
            </a:r>
            <a:r>
              <a:rPr lang="zh-CN" altLang="en-US">
                <a:ea typeface="楷体_GB2312" pitchFamily="49" charset="-122"/>
                <a:cs typeface="Times New Roman" panose="02020603050405020304" pitchFamily="18" charset="0"/>
              </a:rPr>
              <a:t>分别为</a:t>
            </a:r>
            <a:r>
              <a:rPr lang="en-US" altLang="zh-CN">
                <a:ea typeface="楷体_GB2312" pitchFamily="49" charset="-122"/>
                <a:cs typeface="Times New Roman" panose="02020603050405020304" pitchFamily="18" charset="0"/>
              </a:rPr>
              <a:t>3</a:t>
            </a:r>
            <a:r>
              <a:rPr lang="zh-CN" altLang="en-US">
                <a:ea typeface="楷体_GB2312" pitchFamily="49" charset="-122"/>
                <a:cs typeface="Times New Roman" panose="02020603050405020304" pitchFamily="18" charset="0"/>
              </a:rPr>
              <a:t>个指示灯的状态，</a:t>
            </a:r>
          </a:p>
          <a:p>
            <a:r>
              <a:rPr lang="zh-CN" altLang="en-US">
                <a:ea typeface="楷体_GB2312" pitchFamily="49" charset="-122"/>
                <a:cs typeface="Times New Roman" panose="02020603050405020304" pitchFamily="18" charset="0"/>
              </a:rPr>
              <a:t>且灯亮为</a:t>
            </a:r>
            <a:r>
              <a:rPr lang="en-US" altLang="zh-CN">
                <a:ea typeface="楷体_GB2312" pitchFamily="49" charset="-122"/>
                <a:cs typeface="Times New Roman" panose="02020603050405020304" pitchFamily="18" charset="0"/>
              </a:rPr>
              <a:t>1</a:t>
            </a:r>
            <a:r>
              <a:rPr lang="zh-CN" altLang="en-US">
                <a:ea typeface="楷体_GB2312" pitchFamily="49" charset="-122"/>
                <a:cs typeface="Times New Roman" panose="02020603050405020304" pitchFamily="18" charset="0"/>
              </a:rPr>
              <a:t>，灯灭为</a:t>
            </a:r>
            <a:r>
              <a:rPr lang="en-US" altLang="zh-CN">
                <a:ea typeface="楷体_GB2312" pitchFamily="49" charset="-122"/>
                <a:cs typeface="Times New Roman" panose="02020603050405020304" pitchFamily="18" charset="0"/>
              </a:rPr>
              <a:t>0</a:t>
            </a:r>
            <a:r>
              <a:rPr lang="zh-CN" altLang="en-US">
                <a:ea typeface="楷体_GB2312" pitchFamily="49" charset="-122"/>
                <a:cs typeface="Times New Roman" panose="02020603050405020304" pitchFamily="18" charset="0"/>
              </a:rPr>
              <a:t>。</a:t>
            </a:r>
          </a:p>
        </p:txBody>
      </p:sp>
      <p:graphicFrame>
        <p:nvGraphicFramePr>
          <p:cNvPr id="403463" name="Group 7"/>
          <p:cNvGraphicFramePr>
            <a:graphicFrameLocks noGrp="1"/>
          </p:cNvGraphicFramePr>
          <p:nvPr/>
        </p:nvGraphicFramePr>
        <p:xfrm>
          <a:off x="2116139" y="3395663"/>
          <a:ext cx="4683125" cy="3352800"/>
        </p:xfrm>
        <a:graphic>
          <a:graphicData uri="http://schemas.openxmlformats.org/drawingml/2006/table">
            <a:tbl>
              <a:tblPr/>
              <a:tblGrid>
                <a:gridCol w="781050">
                  <a:extLst>
                    <a:ext uri="{9D8B030D-6E8A-4147-A177-3AD203B41FA5}">
                      <a16:colId xmlns:a16="http://schemas.microsoft.com/office/drawing/2014/main" val="20000"/>
                    </a:ext>
                  </a:extLst>
                </a:gridCol>
                <a:gridCol w="779462">
                  <a:extLst>
                    <a:ext uri="{9D8B030D-6E8A-4147-A177-3AD203B41FA5}">
                      <a16:colId xmlns:a16="http://schemas.microsoft.com/office/drawing/2014/main" val="20001"/>
                    </a:ext>
                  </a:extLst>
                </a:gridCol>
                <a:gridCol w="78105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779463">
                  <a:extLst>
                    <a:ext uri="{9D8B030D-6E8A-4147-A177-3AD203B41FA5}">
                      <a16:colId xmlns:a16="http://schemas.microsoft.com/office/drawing/2014/main" val="20004"/>
                    </a:ext>
                  </a:extLst>
                </a:gridCol>
                <a:gridCol w="781050">
                  <a:extLst>
                    <a:ext uri="{9D8B030D-6E8A-4147-A177-3AD203B41FA5}">
                      <a16:colId xmlns:a16="http://schemas.microsoft.com/office/drawing/2014/main" val="20005"/>
                    </a:ext>
                  </a:extLst>
                </a:gridCol>
              </a:tblGrid>
              <a:tr h="762000">
                <a:tc gridSpan="3">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zh-CN" altLang="en-US"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输    入</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gridSpan="3">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zh-CN" altLang="en-US"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输   出</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762000">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I</a:t>
                      </a:r>
                      <a:r>
                        <a:rPr kumimoji="1"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I</a:t>
                      </a:r>
                      <a:r>
                        <a:rPr kumimoji="1"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I</a:t>
                      </a:r>
                      <a:r>
                        <a:rPr kumimoji="1"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2</a:t>
                      </a:r>
                      <a:endPar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L</a:t>
                      </a:r>
                      <a:r>
                        <a:rPr kumimoji="1"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endPar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L</a:t>
                      </a:r>
                      <a:r>
                        <a:rPr kumimoji="1"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endPar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1"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L</a:t>
                      </a:r>
                      <a:r>
                        <a:rPr kumimoji="1" lang="en-US" altLang="zh-CN" sz="2400" b="1" i="0" u="none" strike="noStrike" cap="none" normalizeH="0" baseline="-3000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2</a:t>
                      </a:r>
                      <a:endPar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388">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4975">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4975">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4975">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p>
                  </a:txBody>
                  <a:tcPr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0</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1pPr>
                      <a:lvl2pPr algn="l">
                        <a:spcBef>
                          <a:spcPct val="20000"/>
                        </a:spcBef>
                        <a:buClr>
                          <a:schemeClr val="accent2"/>
                        </a:buClr>
                        <a:buFont typeface="Wingdings" panose="05000000000000000000" pitchFamily="2" charset="2"/>
                        <a:tabLst>
                          <a:tab pos="971550" algn="l"/>
                          <a:tab pos="4392295" algn="r"/>
                        </a:tabLst>
                        <a:defRPr sz="2600" b="1">
                          <a:solidFill>
                            <a:schemeClr val="tx1"/>
                          </a:solidFill>
                          <a:latin typeface="Arial Narrow" panose="020B0606020202030204" pitchFamily="34" charset="0"/>
                          <a:ea typeface="楷体_GB2312" pitchFamily="49" charset="-122"/>
                        </a:defRPr>
                      </a:lvl2pPr>
                      <a:lvl3pPr algn="l">
                        <a:spcBef>
                          <a:spcPct val="20000"/>
                        </a:spcBef>
                        <a:buClr>
                          <a:schemeClr val="accent2"/>
                        </a:buClr>
                        <a:buFont typeface="Wingdings" panose="05000000000000000000" pitchFamily="2" charset="2"/>
                        <a:tabLst>
                          <a:tab pos="971550" algn="l"/>
                          <a:tab pos="4392295" algn="r"/>
                        </a:tabLst>
                        <a:defRPr sz="2400" b="1">
                          <a:solidFill>
                            <a:schemeClr val="tx1"/>
                          </a:solidFill>
                          <a:latin typeface="Arial Narrow" panose="020B0606020202030204" pitchFamily="34" charset="0"/>
                          <a:ea typeface="楷体_GB2312" pitchFamily="49" charset="-122"/>
                        </a:defRPr>
                      </a:lvl3pPr>
                      <a:lvl4pPr algn="l">
                        <a:spcBef>
                          <a:spcPct val="20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4pPr>
                      <a:lvl5pPr algn="l">
                        <a:spcBef>
                          <a:spcPct val="25000"/>
                        </a:spcBef>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5pPr>
                      <a:lvl6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6pPr>
                      <a:lvl7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7pPr>
                      <a:lvl8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8pPr>
                      <a:lvl9pPr fontAlgn="base">
                        <a:spcBef>
                          <a:spcPct val="25000"/>
                        </a:spcBef>
                        <a:spcAft>
                          <a:spcPct val="0"/>
                        </a:spcAft>
                        <a:buClr>
                          <a:schemeClr val="accent2"/>
                        </a:buClr>
                        <a:buFont typeface="Wingdings" panose="05000000000000000000" pitchFamily="2" charset="2"/>
                        <a:tabLst>
                          <a:tab pos="971550" algn="l"/>
                          <a:tab pos="4392295" algn="r"/>
                        </a:tabLst>
                        <a:defRPr sz="2000" b="1">
                          <a:solidFill>
                            <a:schemeClr val="tx1"/>
                          </a:solidFill>
                          <a:latin typeface="Arial Narrow" panose="020B0606020202030204" pitchFamily="34"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tab pos="971550" algn="l"/>
                          <a:tab pos="4392295" algn="r"/>
                        </a:tabLst>
                      </a:pPr>
                      <a:r>
                        <a:rPr kumimoji="1" lang="en-US" altLang="zh-CN" sz="2400" b="1" i="0" u="none" strike="noStrike" cap="none" normalizeH="0" baseline="0">
                          <a:ln>
                            <a:noFill/>
                          </a:ln>
                          <a:solidFill>
                            <a:srgbClr val="000066"/>
                          </a:solidFill>
                          <a:effectLst/>
                          <a:latin typeface="Times New Roman" panose="02020603050405020304" pitchFamily="18" charset="0"/>
                          <a:ea typeface="楷体_GB2312" pitchFamily="49" charset="-122"/>
                          <a:cs typeface="Times New Roman" panose="02020603050405020304" pitchFamily="18" charset="0"/>
                        </a:rPr>
                        <a:t>1</a:t>
                      </a:r>
                    </a:p>
                  </a:txBody>
                  <a:tcPr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03511" name="Rectangle 55"/>
          <p:cNvSpPr>
            <a:spLocks noChangeArrowheads="1"/>
          </p:cNvSpPr>
          <p:nvPr/>
        </p:nvSpPr>
        <p:spPr bwMode="auto">
          <a:xfrm>
            <a:off x="1990725" y="2971800"/>
            <a:ext cx="292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kumimoji="1" lang="zh-CN" altLang="en-US" sz="2400">
                <a:latin typeface="Times New Roman" panose="02020603050405020304" pitchFamily="18" charset="0"/>
                <a:ea typeface="楷体_GB2312" pitchFamily="49" charset="-122"/>
              </a:rPr>
              <a:t>根据题意列出真值表</a:t>
            </a:r>
            <a:endParaRPr kumimoji="1" lang="zh-CN" altLang="en-US"/>
          </a:p>
        </p:txBody>
      </p:sp>
      <p:sp>
        <p:nvSpPr>
          <p:cNvPr id="403512" name="Rectangle 56"/>
          <p:cNvSpPr>
            <a:spLocks noChangeArrowheads="1"/>
          </p:cNvSpPr>
          <p:nvPr/>
        </p:nvSpPr>
        <p:spPr bwMode="auto">
          <a:xfrm>
            <a:off x="6507164" y="2997200"/>
            <a:ext cx="4143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r>
              <a:rPr lang="en-US" altLang="zh-CN">
                <a:ea typeface="楷体_GB2312" pitchFamily="49" charset="-122"/>
                <a:cs typeface="Times New Roman" panose="02020603050405020304" pitchFamily="18" charset="0"/>
              </a:rPr>
              <a:t>2) </a:t>
            </a:r>
            <a:r>
              <a:rPr lang="zh-CN" altLang="en-US">
                <a:ea typeface="楷体_GB2312" pitchFamily="49" charset="-122"/>
                <a:cs typeface="Times New Roman" panose="02020603050405020304" pitchFamily="18" charset="0"/>
              </a:rPr>
              <a:t>写出各输出逻辑表达式。</a:t>
            </a:r>
          </a:p>
        </p:txBody>
      </p:sp>
      <p:graphicFrame>
        <p:nvGraphicFramePr>
          <p:cNvPr id="403513" name="Object 57"/>
          <p:cNvGraphicFramePr>
            <a:graphicFrameLocks noChangeAspect="1"/>
          </p:cNvGraphicFramePr>
          <p:nvPr/>
        </p:nvGraphicFramePr>
        <p:xfrm>
          <a:off x="7751763" y="4292600"/>
          <a:ext cx="1751012" cy="641350"/>
        </p:xfrm>
        <a:graphic>
          <a:graphicData uri="http://schemas.openxmlformats.org/presentationml/2006/ole">
            <mc:AlternateContent xmlns:mc="http://schemas.openxmlformats.org/markup-compatibility/2006">
              <mc:Choice xmlns:v="urn:schemas-microsoft-com:vml" Requires="v">
                <p:oleObj spid="_x0000_s19459" name="公式" r:id="rId4" imgW="558800" imgH="203200" progId="Equation.3">
                  <p:embed/>
                </p:oleObj>
              </mc:Choice>
              <mc:Fallback>
                <p:oleObj name="公式" r:id="rId4" imgW="558800" imgH="203200" progId="Equation.3">
                  <p:embed/>
                  <p:pic>
                    <p:nvPicPr>
                      <p:cNvPr id="0" name="Object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51763" y="4292600"/>
                        <a:ext cx="1751012"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3514" name="Object 58"/>
          <p:cNvGraphicFramePr>
            <a:graphicFrameLocks noChangeAspect="1"/>
          </p:cNvGraphicFramePr>
          <p:nvPr/>
        </p:nvGraphicFramePr>
        <p:xfrm>
          <a:off x="7751763" y="5084764"/>
          <a:ext cx="2089150" cy="617537"/>
        </p:xfrm>
        <a:graphic>
          <a:graphicData uri="http://schemas.openxmlformats.org/presentationml/2006/ole">
            <mc:AlternateContent xmlns:mc="http://schemas.openxmlformats.org/markup-compatibility/2006">
              <mc:Choice xmlns:v="urn:schemas-microsoft-com:vml" Requires="v">
                <p:oleObj spid="_x0000_s19460" name="公式" r:id="rId6" imgW="698500" imgH="203200" progId="Equation.3">
                  <p:embed/>
                </p:oleObj>
              </mc:Choice>
              <mc:Fallback>
                <p:oleObj name="公式" r:id="rId6" imgW="698500" imgH="203200" progId="Equation.3">
                  <p:embed/>
                  <p:pic>
                    <p:nvPicPr>
                      <p:cNvPr id="0" name="Object 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51763" y="5084764"/>
                        <a:ext cx="2089150" cy="617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3515" name="Rectangle 59"/>
          <p:cNvSpPr>
            <a:spLocks noChangeArrowheads="1"/>
          </p:cNvSpPr>
          <p:nvPr/>
        </p:nvSpPr>
        <p:spPr bwMode="auto">
          <a:xfrm>
            <a:off x="7535864" y="3429001"/>
            <a:ext cx="1800225" cy="6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9875"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endParaRPr lang="en-US" altLang="zh-CN" sz="1000">
              <a:ea typeface="华康简宋" charset="-122"/>
              <a:cs typeface="Times New Roman" panose="02020603050405020304" pitchFamily="18" charset="0"/>
            </a:endParaRPr>
          </a:p>
          <a:p>
            <a:pPr eaLnBrk="0" hangingPunct="0"/>
            <a:r>
              <a:rPr lang="en-US" altLang="zh-CN" sz="2800" i="1">
                <a:solidFill>
                  <a:srgbClr val="000066"/>
                </a:solidFill>
                <a:ea typeface="华康简宋" charset="-122"/>
                <a:cs typeface="Times New Roman" panose="02020603050405020304" pitchFamily="18" charset="0"/>
              </a:rPr>
              <a:t>L</a:t>
            </a:r>
            <a:r>
              <a:rPr lang="en-US" altLang="zh-CN" sz="2800" baseline="-30000">
                <a:solidFill>
                  <a:srgbClr val="000066"/>
                </a:solidFill>
                <a:ea typeface="华康简宋" charset="-122"/>
                <a:cs typeface="Times New Roman" panose="02020603050405020304" pitchFamily="18" charset="0"/>
              </a:rPr>
              <a:t>0 </a:t>
            </a:r>
            <a:r>
              <a:rPr lang="en-US" altLang="zh-CN" sz="2800">
                <a:solidFill>
                  <a:srgbClr val="000066"/>
                </a:solidFill>
                <a:ea typeface="华康简宋" charset="-122"/>
                <a:cs typeface="Times New Roman" panose="02020603050405020304" pitchFamily="18" charset="0"/>
              </a:rPr>
              <a:t>= </a:t>
            </a:r>
            <a:r>
              <a:rPr lang="en-US" altLang="zh-CN" sz="2800" i="1">
                <a:solidFill>
                  <a:srgbClr val="000066"/>
                </a:solidFill>
                <a:ea typeface="华康简宋" charset="-122"/>
                <a:cs typeface="Times New Roman" panose="02020603050405020304" pitchFamily="18" charset="0"/>
              </a:rPr>
              <a:t>I</a:t>
            </a:r>
            <a:r>
              <a:rPr lang="en-US" altLang="zh-CN" sz="2800" baseline="-30000">
                <a:solidFill>
                  <a:srgbClr val="000066"/>
                </a:solidFill>
                <a:ea typeface="华康简宋" charset="-122"/>
                <a:cs typeface="Times New Roman" panose="02020603050405020304" pitchFamily="18" charset="0"/>
              </a:rPr>
              <a:t>0</a:t>
            </a:r>
            <a:r>
              <a:rPr lang="en-US" altLang="zh-CN" sz="2800">
                <a:solidFill>
                  <a:srgbClr val="000066"/>
                </a:solidFill>
                <a:ea typeface="华康简宋" charset="-122"/>
                <a:cs typeface="Times New Roman" panose="02020603050405020304" pitchFamily="18" charset="0"/>
              </a:rPr>
              <a:t>	</a:t>
            </a:r>
          </a:p>
        </p:txBody>
      </p:sp>
    </p:spTree>
  </p:cSld>
  <p:clrMapOvr>
    <a:masterClrMapping/>
  </p:clrMapOvr>
  <p:transition>
    <p:wipe dir="r"/>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03461"/>
                                        </p:tgtEl>
                                        <p:attrNameLst>
                                          <p:attrName>style.visibility</p:attrName>
                                        </p:attrNameLst>
                                      </p:cBhvr>
                                      <p:to>
                                        <p:strVal val="visible"/>
                                      </p:to>
                                    </p:set>
                                    <p:animEffect transition="in" filter="wipe(up)">
                                      <p:cBhvr>
                                        <p:cTn id="7" dur="500"/>
                                        <p:tgtEl>
                                          <p:spTgt spid="4034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3462"/>
                                        </p:tgtEl>
                                        <p:attrNameLst>
                                          <p:attrName>style.visibility</p:attrName>
                                        </p:attrNameLst>
                                      </p:cBhvr>
                                      <p:to>
                                        <p:strVal val="visible"/>
                                      </p:to>
                                    </p:set>
                                    <p:animEffect transition="in" filter="wipe(up)">
                                      <p:cBhvr>
                                        <p:cTn id="12" dur="500"/>
                                        <p:tgtEl>
                                          <p:spTgt spid="40346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403511"/>
                                        </p:tgtEl>
                                        <p:attrNameLst>
                                          <p:attrName>style.visibility</p:attrName>
                                        </p:attrNameLst>
                                      </p:cBhvr>
                                      <p:to>
                                        <p:strVal val="visible"/>
                                      </p:to>
                                    </p:set>
                                    <p:animEffect transition="in" filter="strips(downRight)">
                                      <p:cBhvr>
                                        <p:cTn id="17" dur="500"/>
                                        <p:tgtEl>
                                          <p:spTgt spid="4035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03460"/>
                                        </p:tgtEl>
                                        <p:attrNameLst>
                                          <p:attrName>style.visibility</p:attrName>
                                        </p:attrNameLst>
                                      </p:cBhvr>
                                      <p:to>
                                        <p:strVal val="visible"/>
                                      </p:to>
                                    </p:set>
                                    <p:animEffect transition="in" filter="wipe(up)">
                                      <p:cBhvr>
                                        <p:cTn id="22" dur="500"/>
                                        <p:tgtEl>
                                          <p:spTgt spid="403460"/>
                                        </p:tgtEl>
                                      </p:cBhvr>
                                    </p:animEffect>
                                  </p:childTnLst>
                                </p:cTn>
                              </p:par>
                              <p:par>
                                <p:cTn id="23" presetID="22" presetClass="entr" presetSubtype="1" fill="hold" nodeType="withEffect">
                                  <p:stCondLst>
                                    <p:cond delay="0"/>
                                  </p:stCondLst>
                                  <p:childTnLst>
                                    <p:set>
                                      <p:cBhvr>
                                        <p:cTn id="24" dur="1" fill="hold">
                                          <p:stCondLst>
                                            <p:cond delay="0"/>
                                          </p:stCondLst>
                                        </p:cTn>
                                        <p:tgtEl>
                                          <p:spTgt spid="403463"/>
                                        </p:tgtEl>
                                        <p:attrNameLst>
                                          <p:attrName>style.visibility</p:attrName>
                                        </p:attrNameLst>
                                      </p:cBhvr>
                                      <p:to>
                                        <p:strVal val="visible"/>
                                      </p:to>
                                    </p:set>
                                    <p:animEffect transition="in" filter="wipe(up)">
                                      <p:cBhvr>
                                        <p:cTn id="25" dur="500"/>
                                        <p:tgtEl>
                                          <p:spTgt spid="403463"/>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6" fill="hold" nodeType="clickEffect">
                                  <p:stCondLst>
                                    <p:cond delay="0"/>
                                  </p:stCondLst>
                                  <p:childTnLst>
                                    <p:set>
                                      <p:cBhvr>
                                        <p:cTn id="29" dur="1" fill="hold">
                                          <p:stCondLst>
                                            <p:cond delay="0"/>
                                          </p:stCondLst>
                                        </p:cTn>
                                        <p:tgtEl>
                                          <p:spTgt spid="403512"/>
                                        </p:tgtEl>
                                        <p:attrNameLst>
                                          <p:attrName>style.visibility</p:attrName>
                                        </p:attrNameLst>
                                      </p:cBhvr>
                                      <p:to>
                                        <p:strVal val="visible"/>
                                      </p:to>
                                    </p:set>
                                    <p:animEffect transition="in" filter="strips(downRight)">
                                      <p:cBhvr>
                                        <p:cTn id="30" dur="500"/>
                                        <p:tgtEl>
                                          <p:spTgt spid="403512"/>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nodeType="clickEffect">
                                  <p:stCondLst>
                                    <p:cond delay="0"/>
                                  </p:stCondLst>
                                  <p:childTnLst>
                                    <p:set>
                                      <p:cBhvr>
                                        <p:cTn id="34" dur="1" fill="hold">
                                          <p:stCondLst>
                                            <p:cond delay="0"/>
                                          </p:stCondLst>
                                        </p:cTn>
                                        <p:tgtEl>
                                          <p:spTgt spid="403515"/>
                                        </p:tgtEl>
                                        <p:attrNameLst>
                                          <p:attrName>style.visibility</p:attrName>
                                        </p:attrNameLst>
                                      </p:cBhvr>
                                      <p:to>
                                        <p:strVal val="visible"/>
                                      </p:to>
                                    </p:set>
                                    <p:animEffect transition="in" filter="strips(downRight)">
                                      <p:cBhvr>
                                        <p:cTn id="35" dur="500"/>
                                        <p:tgtEl>
                                          <p:spTgt spid="403515"/>
                                        </p:tgtEl>
                                      </p:cBhvr>
                                    </p:animEffect>
                                  </p:childTnLst>
                                </p:cTn>
                              </p:par>
                            </p:childTnLst>
                          </p:cTn>
                        </p:par>
                      </p:childTnLst>
                    </p:cTn>
                  </p:par>
                  <p:par>
                    <p:cTn id="36" fill="hold">
                      <p:stCondLst>
                        <p:cond delay="indefinite"/>
                      </p:stCondLst>
                      <p:childTnLst>
                        <p:par>
                          <p:cTn id="37" fill="hold">
                            <p:stCondLst>
                              <p:cond delay="0"/>
                            </p:stCondLst>
                            <p:childTnLst>
                              <p:par>
                                <p:cTn id="38" presetID="18" presetClass="entr" presetSubtype="6" fill="hold" nodeType="clickEffect">
                                  <p:stCondLst>
                                    <p:cond delay="0"/>
                                  </p:stCondLst>
                                  <p:childTnLst>
                                    <p:set>
                                      <p:cBhvr>
                                        <p:cTn id="39" dur="1" fill="hold">
                                          <p:stCondLst>
                                            <p:cond delay="0"/>
                                          </p:stCondLst>
                                        </p:cTn>
                                        <p:tgtEl>
                                          <p:spTgt spid="403513"/>
                                        </p:tgtEl>
                                        <p:attrNameLst>
                                          <p:attrName>style.visibility</p:attrName>
                                        </p:attrNameLst>
                                      </p:cBhvr>
                                      <p:to>
                                        <p:strVal val="visible"/>
                                      </p:to>
                                    </p:set>
                                    <p:animEffect transition="in" filter="strips(downRight)">
                                      <p:cBhvr>
                                        <p:cTn id="40" dur="500"/>
                                        <p:tgtEl>
                                          <p:spTgt spid="403513"/>
                                        </p:tgtEl>
                                      </p:cBhvr>
                                    </p:animEffect>
                                  </p:childTnLst>
                                </p:cTn>
                              </p:par>
                            </p:childTnLst>
                          </p:cTn>
                        </p:par>
                      </p:childTnLst>
                    </p:cTn>
                  </p:par>
                  <p:par>
                    <p:cTn id="41" fill="hold">
                      <p:stCondLst>
                        <p:cond delay="indefinite"/>
                      </p:stCondLst>
                      <p:childTnLst>
                        <p:par>
                          <p:cTn id="42" fill="hold">
                            <p:stCondLst>
                              <p:cond delay="0"/>
                            </p:stCondLst>
                            <p:childTnLst>
                              <p:par>
                                <p:cTn id="43" presetID="18" presetClass="entr" presetSubtype="6" fill="hold" nodeType="clickEffect">
                                  <p:stCondLst>
                                    <p:cond delay="0"/>
                                  </p:stCondLst>
                                  <p:childTnLst>
                                    <p:set>
                                      <p:cBhvr>
                                        <p:cTn id="44" dur="1" fill="hold">
                                          <p:stCondLst>
                                            <p:cond delay="0"/>
                                          </p:stCondLst>
                                        </p:cTn>
                                        <p:tgtEl>
                                          <p:spTgt spid="403514"/>
                                        </p:tgtEl>
                                        <p:attrNameLst>
                                          <p:attrName>style.visibility</p:attrName>
                                        </p:attrNameLst>
                                      </p:cBhvr>
                                      <p:to>
                                        <p:strVal val="visible"/>
                                      </p:to>
                                    </p:set>
                                    <p:animEffect transition="in" filter="strips(downRight)">
                                      <p:cBhvr>
                                        <p:cTn id="45" dur="500"/>
                                        <p:tgtEl>
                                          <p:spTgt spid="403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61" grpId="0"/>
      <p:bldP spid="403462" grpId="0"/>
      <p:bldP spid="403511" grpId="0"/>
      <p:bldP spid="403512" grpId="0"/>
      <p:bldP spid="4035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Text Box 2"/>
          <p:cNvSpPr txBox="1">
            <a:spLocks noChangeArrowheads="1"/>
          </p:cNvSpPr>
          <p:nvPr/>
        </p:nvSpPr>
        <p:spPr bwMode="auto">
          <a:xfrm>
            <a:off x="1271588" y="1922463"/>
            <a:ext cx="2171701"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404533" name="Object 53"/>
          <p:cNvGraphicFramePr>
            <a:graphicFrameLocks noChangeAspect="1"/>
          </p:cNvGraphicFramePr>
          <p:nvPr/>
        </p:nvGraphicFramePr>
        <p:xfrm>
          <a:off x="4727576" y="1263651"/>
          <a:ext cx="1584325" cy="581025"/>
        </p:xfrm>
        <a:graphic>
          <a:graphicData uri="http://schemas.openxmlformats.org/presentationml/2006/ole">
            <mc:AlternateContent xmlns:mc="http://schemas.openxmlformats.org/markup-compatibility/2006">
              <mc:Choice xmlns:v="urn:schemas-microsoft-com:vml" Requires="v">
                <p:oleObj spid="_x0000_s20487" name="公式" r:id="rId3" imgW="558800" imgH="203200" progId="Equation.3">
                  <p:embed/>
                </p:oleObj>
              </mc:Choice>
              <mc:Fallback>
                <p:oleObj name="公式" r:id="rId3" imgW="558800" imgH="203200" progId="Equation.3">
                  <p:embed/>
                  <p:pic>
                    <p:nvPicPr>
                      <p:cNvPr id="0" name="Object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7576" y="1263651"/>
                        <a:ext cx="1584325"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534" name="Object 54"/>
          <p:cNvGraphicFramePr>
            <a:graphicFrameLocks noChangeAspect="1"/>
          </p:cNvGraphicFramePr>
          <p:nvPr/>
        </p:nvGraphicFramePr>
        <p:xfrm>
          <a:off x="7032625" y="1268414"/>
          <a:ext cx="1709738" cy="611187"/>
        </p:xfrm>
        <a:graphic>
          <a:graphicData uri="http://schemas.openxmlformats.org/presentationml/2006/ole">
            <mc:AlternateContent xmlns:mc="http://schemas.openxmlformats.org/markup-compatibility/2006">
              <mc:Choice xmlns:v="urn:schemas-microsoft-com:vml" Requires="v">
                <p:oleObj spid="_x0000_s20488" name="公式" r:id="rId5" imgW="685800" imgH="241300" progId="Equation.3">
                  <p:embed/>
                </p:oleObj>
              </mc:Choice>
              <mc:Fallback>
                <p:oleObj name="公式" r:id="rId5" imgW="685800" imgH="241300" progId="Equation.3">
                  <p:embed/>
                  <p:pic>
                    <p:nvPicPr>
                      <p:cNvPr id="0" name="Object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32625" y="1268414"/>
                        <a:ext cx="1709738" cy="611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4535" name="Rectangle 55"/>
          <p:cNvSpPr>
            <a:spLocks noChangeArrowheads="1"/>
          </p:cNvSpPr>
          <p:nvPr/>
        </p:nvSpPr>
        <p:spPr bwMode="auto">
          <a:xfrm>
            <a:off x="2855914" y="1123951"/>
            <a:ext cx="1800225" cy="671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9875"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endParaRPr lang="en-US" altLang="zh-CN" sz="1000">
              <a:ea typeface="华康简宋" charset="-122"/>
              <a:cs typeface="Times New Roman" panose="02020603050405020304" pitchFamily="18" charset="0"/>
            </a:endParaRPr>
          </a:p>
          <a:p>
            <a:pPr eaLnBrk="0" hangingPunct="0"/>
            <a:r>
              <a:rPr lang="en-US" altLang="zh-CN" sz="2800" i="1">
                <a:ea typeface="华康简宋" charset="-122"/>
                <a:cs typeface="Times New Roman" panose="02020603050405020304" pitchFamily="18" charset="0"/>
              </a:rPr>
              <a:t>L</a:t>
            </a:r>
            <a:r>
              <a:rPr lang="en-US" altLang="zh-CN" sz="2800" baseline="-30000">
                <a:ea typeface="华康简宋" charset="-122"/>
                <a:cs typeface="Times New Roman" panose="02020603050405020304" pitchFamily="18" charset="0"/>
              </a:rPr>
              <a:t>0 </a:t>
            </a:r>
            <a:r>
              <a:rPr lang="en-US" altLang="zh-CN" sz="2800">
                <a:ea typeface="华康简宋" charset="-122"/>
                <a:cs typeface="Times New Roman" panose="02020603050405020304" pitchFamily="18" charset="0"/>
              </a:rPr>
              <a:t>= </a:t>
            </a:r>
            <a:r>
              <a:rPr lang="en-US" altLang="zh-CN" sz="2800" i="1">
                <a:ea typeface="华康简宋" charset="-122"/>
                <a:cs typeface="Times New Roman" panose="02020603050405020304" pitchFamily="18" charset="0"/>
              </a:rPr>
              <a:t>I</a:t>
            </a:r>
            <a:r>
              <a:rPr lang="en-US" altLang="zh-CN" sz="2800" baseline="-30000">
                <a:ea typeface="华康简宋" charset="-122"/>
                <a:cs typeface="Times New Roman" panose="02020603050405020304" pitchFamily="18" charset="0"/>
              </a:rPr>
              <a:t>0</a:t>
            </a:r>
            <a:r>
              <a:rPr lang="en-US" altLang="zh-CN" sz="2800">
                <a:ea typeface="华康简宋" charset="-122"/>
                <a:cs typeface="Times New Roman" panose="02020603050405020304" pitchFamily="18" charset="0"/>
              </a:rPr>
              <a:t>	</a:t>
            </a:r>
          </a:p>
        </p:txBody>
      </p:sp>
      <p:graphicFrame>
        <p:nvGraphicFramePr>
          <p:cNvPr id="404536" name="Object 56"/>
          <p:cNvGraphicFramePr>
            <a:graphicFrameLocks noChangeAspect="1"/>
          </p:cNvGraphicFramePr>
          <p:nvPr/>
        </p:nvGraphicFramePr>
        <p:xfrm>
          <a:off x="3287714" y="2420939"/>
          <a:ext cx="1296987" cy="560387"/>
        </p:xfrm>
        <a:graphic>
          <a:graphicData uri="http://schemas.openxmlformats.org/presentationml/2006/ole">
            <mc:AlternateContent xmlns:mc="http://schemas.openxmlformats.org/markup-compatibility/2006">
              <mc:Choice xmlns:v="urn:schemas-microsoft-com:vml" Requires="v">
                <p:oleObj spid="_x0000_s20489" name="公式" r:id="rId7" imgW="444500" imgH="190500" progId="Equation.3">
                  <p:embed/>
                </p:oleObj>
              </mc:Choice>
              <mc:Fallback>
                <p:oleObj name="公式" r:id="rId7" imgW="444500" imgH="190500" progId="Equation.3">
                  <p:embed/>
                  <p:pic>
                    <p:nvPicPr>
                      <p:cNvPr id="0" name="Object 5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7714" y="2420939"/>
                        <a:ext cx="1296987"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537" name="Object 57"/>
          <p:cNvGraphicFramePr>
            <a:graphicFrameLocks noChangeAspect="1"/>
          </p:cNvGraphicFramePr>
          <p:nvPr/>
        </p:nvGraphicFramePr>
        <p:xfrm>
          <a:off x="5303838" y="2349501"/>
          <a:ext cx="1439862" cy="650875"/>
        </p:xfrm>
        <a:graphic>
          <a:graphicData uri="http://schemas.openxmlformats.org/presentationml/2006/ole">
            <mc:AlternateContent xmlns:mc="http://schemas.openxmlformats.org/markup-compatibility/2006">
              <mc:Choice xmlns:v="urn:schemas-microsoft-com:vml" Requires="v">
                <p:oleObj spid="_x0000_s20490" name="公式" r:id="rId9" imgW="583565" imgH="266700" progId="Equation.3">
                  <p:embed/>
                </p:oleObj>
              </mc:Choice>
              <mc:Fallback>
                <p:oleObj name="公式" r:id="rId9" imgW="583565" imgH="266700" progId="Equation.3">
                  <p:embed/>
                  <p:pic>
                    <p:nvPicPr>
                      <p:cNvPr id="0" name="Object 5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03838" y="2349501"/>
                        <a:ext cx="1439862"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4538" name="Object 58"/>
          <p:cNvGraphicFramePr>
            <a:graphicFrameLocks noChangeAspect="1"/>
          </p:cNvGraphicFramePr>
          <p:nvPr/>
        </p:nvGraphicFramePr>
        <p:xfrm>
          <a:off x="7391400" y="2205039"/>
          <a:ext cx="1944688" cy="771525"/>
        </p:xfrm>
        <a:graphic>
          <a:graphicData uri="http://schemas.openxmlformats.org/presentationml/2006/ole">
            <mc:AlternateContent xmlns:mc="http://schemas.openxmlformats.org/markup-compatibility/2006">
              <mc:Choice xmlns:v="urn:schemas-microsoft-com:vml" Requires="v">
                <p:oleObj spid="_x0000_s20491" name="公式" r:id="rId11" imgW="799465" imgH="317500" progId="Equation.3">
                  <p:embed/>
                </p:oleObj>
              </mc:Choice>
              <mc:Fallback>
                <p:oleObj name="公式" r:id="rId11" imgW="799465" imgH="317500" progId="Equation.3">
                  <p:embed/>
                  <p:pic>
                    <p:nvPicPr>
                      <p:cNvPr id="0" name="Object 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391400" y="2205039"/>
                        <a:ext cx="1944688" cy="77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4539" name="Rectangle 59"/>
          <p:cNvSpPr>
            <a:spLocks noChangeArrowheads="1"/>
          </p:cNvSpPr>
          <p:nvPr/>
        </p:nvSpPr>
        <p:spPr bwMode="auto">
          <a:xfrm>
            <a:off x="2424114" y="1773238"/>
            <a:ext cx="525462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69875"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r>
              <a:rPr lang="en-US" altLang="zh-CN">
                <a:ea typeface="楷体_GB2312" pitchFamily="49" charset="-122"/>
                <a:cs typeface="Times New Roman" panose="02020603050405020304" pitchFamily="18" charset="0"/>
              </a:rPr>
              <a:t>3</a:t>
            </a:r>
            <a:r>
              <a:rPr lang="zh-CN" altLang="en-US">
                <a:ea typeface="楷体_GB2312" pitchFamily="49" charset="-122"/>
                <a:cs typeface="Times New Roman" panose="02020603050405020304" pitchFamily="18" charset="0"/>
              </a:rPr>
              <a:t>） 根据要求将上式变换为与非形式</a:t>
            </a:r>
          </a:p>
          <a:p>
            <a:pPr eaLnBrk="0" hangingPunct="0"/>
            <a:r>
              <a:rPr lang="zh-CN" altLang="en-US" sz="1000">
                <a:ea typeface="华康简宋" charset="-122"/>
                <a:cs typeface="Times New Roman" panose="02020603050405020304" pitchFamily="18" charset="0"/>
              </a:rPr>
              <a:t>	</a:t>
            </a:r>
            <a:endParaRPr lang="zh-CN" altLang="en-US"/>
          </a:p>
        </p:txBody>
      </p:sp>
      <p:sp>
        <p:nvSpPr>
          <p:cNvPr id="404540" name="Rectangle 60"/>
          <p:cNvSpPr>
            <a:spLocks noChangeArrowheads="1"/>
          </p:cNvSpPr>
          <p:nvPr/>
        </p:nvSpPr>
        <p:spPr bwMode="auto">
          <a:xfrm>
            <a:off x="1524000" y="3938589"/>
            <a:ext cx="10985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l"/>
            <a:r>
              <a:rPr kumimoji="1" lang="en-US" altLang="zh-CN" sz="1000">
                <a:latin typeface="Times New Roman" panose="02020603050405020304" pitchFamily="18" charset="0"/>
                <a:ea typeface="华康简宋" charset="-122"/>
                <a:cs typeface="Times New Roman" panose="02020603050405020304" pitchFamily="18" charset="0"/>
              </a:rPr>
              <a:t>	</a:t>
            </a:r>
            <a:endParaRPr kumimoji="1" lang="en-US" altLang="zh-CN" sz="2400">
              <a:latin typeface="Times New Roman" panose="02020603050405020304" pitchFamily="18" charset="0"/>
              <a:ea typeface="华康简宋" charset="-122"/>
              <a:cs typeface="Times New Roman" panose="02020603050405020304" pitchFamily="18" charset="0"/>
            </a:endParaRPr>
          </a:p>
        </p:txBody>
      </p:sp>
      <p:sp>
        <p:nvSpPr>
          <p:cNvPr id="404542" name="Rectangle 62"/>
          <p:cNvSpPr>
            <a:spLocks noChangeArrowheads="1"/>
          </p:cNvSpPr>
          <p:nvPr/>
        </p:nvSpPr>
        <p:spPr bwMode="auto">
          <a:xfrm>
            <a:off x="2351089" y="3141663"/>
            <a:ext cx="5565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r>
              <a:rPr lang="en-US" altLang="zh-CN">
                <a:ea typeface="楷体_GB2312" pitchFamily="49" charset="-122"/>
                <a:cs typeface="Times New Roman" panose="02020603050405020304" pitchFamily="18" charset="0"/>
              </a:rPr>
              <a:t>4</a:t>
            </a:r>
            <a:r>
              <a:rPr lang="zh-CN" altLang="en-US">
                <a:ea typeface="楷体_GB2312" pitchFamily="49" charset="-122"/>
                <a:cs typeface="Times New Roman" panose="02020603050405020304" pitchFamily="18" charset="0"/>
              </a:rPr>
              <a:t>） 根据输出逻辑表达式画出逻辑图。</a:t>
            </a:r>
          </a:p>
        </p:txBody>
      </p:sp>
      <p:graphicFrame>
        <p:nvGraphicFramePr>
          <p:cNvPr id="404543" name="Object 63"/>
          <p:cNvGraphicFramePr>
            <a:graphicFrameLocks noChangeAspect="1"/>
          </p:cNvGraphicFramePr>
          <p:nvPr/>
        </p:nvGraphicFramePr>
        <p:xfrm>
          <a:off x="2711451" y="3644900"/>
          <a:ext cx="6119813" cy="2592388"/>
        </p:xfrm>
        <a:graphic>
          <a:graphicData uri="http://schemas.openxmlformats.org/presentationml/2006/ole">
            <mc:AlternateContent xmlns:mc="http://schemas.openxmlformats.org/markup-compatibility/2006">
              <mc:Choice xmlns:v="urn:schemas-microsoft-com:vml" Requires="v">
                <p:oleObj spid="_x0000_s20492" name="图片" r:id="rId13" imgW="2336165" imgH="1333500" progId="Word.Picture.8">
                  <p:embed/>
                </p:oleObj>
              </mc:Choice>
              <mc:Fallback>
                <p:oleObj name="图片" r:id="rId13" imgW="2336165" imgH="1333500" progId="Word.Picture.8">
                  <p:embed/>
                  <p:pic>
                    <p:nvPicPr>
                      <p:cNvPr id="0" name="Object 6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11451" y="3644900"/>
                        <a:ext cx="6119813" cy="2592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4544" name="Rectangle 64"/>
          <p:cNvSpPr>
            <a:spLocks noChangeArrowheads="1"/>
          </p:cNvSpPr>
          <p:nvPr/>
        </p:nvSpPr>
        <p:spPr bwMode="auto">
          <a:xfrm>
            <a:off x="2495551" y="476250"/>
            <a:ext cx="4143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276225"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1pPr>
            <a:lvl2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2pPr>
            <a:lvl3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3pPr>
            <a:lvl4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4pPr>
            <a:lvl5pPr algn="l">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971550" algn="l"/>
                <a:tab pos="4392295" algn="r"/>
              </a:tabLst>
              <a:defRPr kumimoji="1" sz="2400">
                <a:solidFill>
                  <a:schemeClr val="tx1"/>
                </a:solidFill>
                <a:latin typeface="Times New Roman" panose="02020603050405020304" pitchFamily="18" charset="0"/>
                <a:ea typeface="宋体" panose="02010600030101010101" pitchFamily="2" charset="-122"/>
              </a:defRPr>
            </a:lvl9pPr>
          </a:lstStyle>
          <a:p>
            <a:r>
              <a:rPr lang="en-US" altLang="zh-CN">
                <a:ea typeface="楷体_GB2312" pitchFamily="49" charset="-122"/>
                <a:cs typeface="Times New Roman" panose="02020603050405020304" pitchFamily="18" charset="0"/>
              </a:rPr>
              <a:t>2) </a:t>
            </a:r>
            <a:r>
              <a:rPr lang="zh-CN" altLang="en-US">
                <a:ea typeface="楷体_GB2312" pitchFamily="49" charset="-122"/>
                <a:cs typeface="Times New Roman" panose="02020603050405020304" pitchFamily="18" charset="0"/>
              </a:rPr>
              <a:t>写出各输出逻辑表达式。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04544"/>
                                        </p:tgtEl>
                                        <p:attrNameLst>
                                          <p:attrName>style.visibility</p:attrName>
                                        </p:attrNameLst>
                                      </p:cBhvr>
                                      <p:to>
                                        <p:strVal val="visible"/>
                                      </p:to>
                                    </p:set>
                                    <p:animEffect transition="in" filter="strips(downRight)">
                                      <p:cBhvr>
                                        <p:cTn id="7" dur="500"/>
                                        <p:tgtEl>
                                          <p:spTgt spid="40454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404535"/>
                                        </p:tgtEl>
                                        <p:attrNameLst>
                                          <p:attrName>style.visibility</p:attrName>
                                        </p:attrNameLst>
                                      </p:cBhvr>
                                      <p:to>
                                        <p:strVal val="visible"/>
                                      </p:to>
                                    </p:set>
                                    <p:animEffect transition="in" filter="strips(downRight)">
                                      <p:cBhvr>
                                        <p:cTn id="12" dur="500"/>
                                        <p:tgtEl>
                                          <p:spTgt spid="40453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404533"/>
                                        </p:tgtEl>
                                        <p:attrNameLst>
                                          <p:attrName>style.visibility</p:attrName>
                                        </p:attrNameLst>
                                      </p:cBhvr>
                                      <p:to>
                                        <p:strVal val="visible"/>
                                      </p:to>
                                    </p:set>
                                    <p:animEffect transition="in" filter="strips(downRight)">
                                      <p:cBhvr>
                                        <p:cTn id="17" dur="500"/>
                                        <p:tgtEl>
                                          <p:spTgt spid="40453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404534"/>
                                        </p:tgtEl>
                                        <p:attrNameLst>
                                          <p:attrName>style.visibility</p:attrName>
                                        </p:attrNameLst>
                                      </p:cBhvr>
                                      <p:to>
                                        <p:strVal val="visible"/>
                                      </p:to>
                                    </p:set>
                                    <p:animEffect transition="in" filter="strips(downRight)">
                                      <p:cBhvr>
                                        <p:cTn id="22" dur="500"/>
                                        <p:tgtEl>
                                          <p:spTgt spid="40453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404539"/>
                                        </p:tgtEl>
                                        <p:attrNameLst>
                                          <p:attrName>style.visibility</p:attrName>
                                        </p:attrNameLst>
                                      </p:cBhvr>
                                      <p:to>
                                        <p:strVal val="visible"/>
                                      </p:to>
                                    </p:set>
                                    <p:animEffect transition="in" filter="strips(downRight)">
                                      <p:cBhvr>
                                        <p:cTn id="27" dur="500"/>
                                        <p:tgtEl>
                                          <p:spTgt spid="404539"/>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404536"/>
                                        </p:tgtEl>
                                        <p:attrNameLst>
                                          <p:attrName>style.visibility</p:attrName>
                                        </p:attrNameLst>
                                      </p:cBhvr>
                                      <p:to>
                                        <p:strVal val="visible"/>
                                      </p:to>
                                    </p:set>
                                    <p:animEffect transition="in" filter="strips(downRight)">
                                      <p:cBhvr>
                                        <p:cTn id="32" dur="500"/>
                                        <p:tgtEl>
                                          <p:spTgt spid="40453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404537"/>
                                        </p:tgtEl>
                                        <p:attrNameLst>
                                          <p:attrName>style.visibility</p:attrName>
                                        </p:attrNameLst>
                                      </p:cBhvr>
                                      <p:to>
                                        <p:strVal val="visible"/>
                                      </p:to>
                                    </p:set>
                                    <p:animEffect transition="in" filter="strips(downRight)">
                                      <p:cBhvr>
                                        <p:cTn id="37" dur="500"/>
                                        <p:tgtEl>
                                          <p:spTgt spid="404537"/>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6" fill="hold" nodeType="clickEffect">
                                  <p:stCondLst>
                                    <p:cond delay="0"/>
                                  </p:stCondLst>
                                  <p:childTnLst>
                                    <p:set>
                                      <p:cBhvr>
                                        <p:cTn id="41" dur="1" fill="hold">
                                          <p:stCondLst>
                                            <p:cond delay="0"/>
                                          </p:stCondLst>
                                        </p:cTn>
                                        <p:tgtEl>
                                          <p:spTgt spid="404538"/>
                                        </p:tgtEl>
                                        <p:attrNameLst>
                                          <p:attrName>style.visibility</p:attrName>
                                        </p:attrNameLst>
                                      </p:cBhvr>
                                      <p:to>
                                        <p:strVal val="visible"/>
                                      </p:to>
                                    </p:set>
                                    <p:animEffect transition="in" filter="strips(downRight)">
                                      <p:cBhvr>
                                        <p:cTn id="42" dur="500"/>
                                        <p:tgtEl>
                                          <p:spTgt spid="40453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045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404543"/>
                                        </p:tgtEl>
                                        <p:attrNameLst>
                                          <p:attrName>style.visibility</p:attrName>
                                        </p:attrNameLst>
                                      </p:cBhvr>
                                      <p:to>
                                        <p:strVal val="visible"/>
                                      </p:to>
                                    </p:set>
                                    <p:animEffect transition="in" filter="wipe(left)">
                                      <p:cBhvr>
                                        <p:cTn id="51" dur="500"/>
                                        <p:tgtEl>
                                          <p:spTgt spid="404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535" grpId="0"/>
      <p:bldP spid="404539" grpId="0"/>
      <p:bldP spid="404542" grpId="0"/>
      <p:bldP spid="40454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p:cNvSpPr>
          <p:nvPr>
            <p:ph type="title"/>
          </p:nvPr>
        </p:nvSpPr>
        <p:spPr>
          <a:xfrm>
            <a:off x="3152775" y="623888"/>
            <a:ext cx="6858000" cy="609600"/>
          </a:xfrm>
        </p:spPr>
        <p:txBody>
          <a:bodyPr vert="horz" wrap="square" lIns="91440" tIns="45720" rIns="91440" bIns="45720" anchor="ctr" anchorCtr="0">
            <a:normAutofit fontScale="90000"/>
          </a:bodyPr>
          <a:lstStyle/>
          <a:p>
            <a:r>
              <a:rPr lang="en-US" altLang="zh-CN" dirty="0">
                <a:latin typeface="Arial" panose="020B0604020202020204" pitchFamily="34" charset="0"/>
                <a:ea typeface="黑体" panose="02010609060101010101" pitchFamily="49" charset="-122"/>
              </a:rPr>
              <a:t>6.2.6  </a:t>
            </a:r>
            <a:r>
              <a:rPr lang="zh-CN" altLang="en-US" dirty="0">
                <a:latin typeface="Arial" panose="020B0604020202020204" pitchFamily="34" charset="0"/>
                <a:ea typeface="黑体" panose="02010609060101010101" pitchFamily="49" charset="-122"/>
              </a:rPr>
              <a:t>奇偶校验器</a:t>
            </a:r>
          </a:p>
        </p:txBody>
      </p:sp>
      <p:sp>
        <p:nvSpPr>
          <p:cNvPr id="154627" name="Rectangle 3"/>
          <p:cNvSpPr>
            <a:spLocks noGrp="1"/>
          </p:cNvSpPr>
          <p:nvPr>
            <p:ph type="body" sz="half" idx="1"/>
          </p:nvPr>
        </p:nvSpPr>
        <p:spPr>
          <a:xfrm>
            <a:off x="2008188" y="1233488"/>
            <a:ext cx="8482012" cy="4933950"/>
          </a:xfrm>
        </p:spPr>
        <p:txBody>
          <a:bodyPr vert="horz" wrap="square" lIns="91440" tIns="45720" rIns="91440" bIns="45720" anchor="t" anchorCtr="0"/>
          <a:lstStyle/>
          <a:p>
            <a:pPr marL="381000" indent="-381000">
              <a:lnSpc>
                <a:spcPct val="115000"/>
              </a:lnSpc>
              <a:spcBef>
                <a:spcPct val="0"/>
              </a:spcBef>
              <a:buClr>
                <a:schemeClr val="hlink"/>
              </a:buClr>
              <a:buSzTx/>
              <a:buFont typeface="Wingdings" panose="05000000000000000000" pitchFamily="2" charset="2"/>
            </a:pPr>
            <a:r>
              <a:rPr lang="zh-CN" altLang="en-US" sz="2200" dirty="0">
                <a:ea typeface="宋体" panose="02010600030101010101" pitchFamily="2" charset="-122"/>
              </a:rPr>
              <a:t>在数据传输过程中由于信道的干扰，或者在数据记录过程中由于外界的干扰，可能导致传输来的数据或记录的数据与原始数据不完全相同，即数据中的某一位或某几位出现了差错。</a:t>
            </a:r>
          </a:p>
          <a:p>
            <a:pPr marL="381000" indent="-381000">
              <a:lnSpc>
                <a:spcPct val="115000"/>
              </a:lnSpc>
              <a:spcBef>
                <a:spcPct val="0"/>
              </a:spcBef>
              <a:buClr>
                <a:schemeClr val="hlink"/>
              </a:buClr>
              <a:buSzTx/>
              <a:buFont typeface="Wingdings" panose="05000000000000000000" pitchFamily="2" charset="2"/>
            </a:pPr>
            <a:r>
              <a:rPr lang="zh-CN" altLang="en-US" sz="2200" dirty="0">
                <a:ea typeface="宋体" panose="02010600030101010101" pitchFamily="2" charset="-122"/>
              </a:rPr>
              <a:t>通过检测原始数据和接收数据中包含“</a:t>
            </a:r>
            <a:r>
              <a:rPr lang="en-US" altLang="zh-CN" sz="2200" dirty="0">
                <a:ea typeface="宋体" panose="02010600030101010101" pitchFamily="2" charset="-122"/>
              </a:rPr>
              <a:t>1”</a:t>
            </a:r>
            <a:r>
              <a:rPr lang="zh-CN" altLang="en-US" sz="2200" dirty="0">
                <a:ea typeface="宋体" panose="02010600030101010101" pitchFamily="2" charset="-122"/>
              </a:rPr>
              <a:t>的个数是奇数还是偶数，可以初步判断接收到的数据是否有错</a:t>
            </a:r>
            <a:r>
              <a:rPr lang="en-US" altLang="zh-CN" sz="2200" dirty="0">
                <a:ea typeface="宋体" panose="02010600030101010101" pitchFamily="2" charset="-122"/>
              </a:rPr>
              <a:t>——</a:t>
            </a:r>
            <a:r>
              <a:rPr lang="zh-CN" altLang="en-US" sz="2200" dirty="0">
                <a:ea typeface="宋体" panose="02010600030101010101" pitchFamily="2" charset="-122"/>
              </a:rPr>
              <a:t>如果原始数据包含奇数个“</a:t>
            </a:r>
            <a:r>
              <a:rPr lang="en-US" altLang="zh-CN" sz="2200" dirty="0">
                <a:ea typeface="宋体" panose="02010600030101010101" pitchFamily="2" charset="-122"/>
              </a:rPr>
              <a:t>1”</a:t>
            </a:r>
            <a:r>
              <a:rPr lang="zh-CN" altLang="en-US" sz="2200" dirty="0">
                <a:ea typeface="宋体" panose="02010600030101010101" pitchFamily="2" charset="-122"/>
              </a:rPr>
              <a:t>，而接收数据包含偶数个“</a:t>
            </a:r>
            <a:r>
              <a:rPr lang="en-US" altLang="zh-CN" sz="2200" dirty="0">
                <a:ea typeface="宋体" panose="02010600030101010101" pitchFamily="2" charset="-122"/>
              </a:rPr>
              <a:t>1”</a:t>
            </a:r>
            <a:r>
              <a:rPr lang="zh-CN" altLang="en-US" sz="2200" dirty="0">
                <a:ea typeface="宋体" panose="02010600030101010101" pitchFamily="2" charset="-122"/>
              </a:rPr>
              <a:t>，则一定有错！</a:t>
            </a:r>
          </a:p>
          <a:p>
            <a:pPr marL="381000" indent="-381000">
              <a:lnSpc>
                <a:spcPct val="115000"/>
              </a:lnSpc>
              <a:spcBef>
                <a:spcPct val="0"/>
              </a:spcBef>
              <a:buClr>
                <a:schemeClr val="hlink"/>
              </a:buClr>
              <a:buSzTx/>
              <a:buFont typeface="Wingdings" panose="05000000000000000000" pitchFamily="2" charset="2"/>
            </a:pPr>
            <a:r>
              <a:rPr lang="zh-CN" altLang="en-US" sz="2200" dirty="0">
                <a:solidFill>
                  <a:srgbClr val="FF0000"/>
                </a:solidFill>
                <a:latin typeface="楷体_GB2312" pitchFamily="49" charset="-122"/>
                <a:ea typeface="楷体_GB2312" pitchFamily="49" charset="-122"/>
              </a:rPr>
              <a:t>奇偶校验</a:t>
            </a:r>
            <a:r>
              <a:rPr lang="zh-CN" altLang="en-US" sz="2200" dirty="0">
                <a:latin typeface="楷体_GB2312" pitchFamily="49" charset="-122"/>
                <a:ea typeface="楷体_GB2312" pitchFamily="49" charset="-122"/>
              </a:rPr>
              <a:t>就是检测数据中包含</a:t>
            </a:r>
            <a:r>
              <a:rPr lang="zh-CN" altLang="en-US" sz="2200" dirty="0">
                <a:ea typeface="楷体_GB2312" pitchFamily="49" charset="-122"/>
              </a:rPr>
              <a:t>“</a:t>
            </a:r>
            <a:r>
              <a:rPr lang="en-US" altLang="zh-CN" sz="2200" dirty="0">
                <a:latin typeface="楷体_GB2312" pitchFamily="49" charset="-122"/>
                <a:ea typeface="楷体_GB2312" pitchFamily="49" charset="-122"/>
              </a:rPr>
              <a:t>1</a:t>
            </a:r>
            <a:r>
              <a:rPr lang="en-US" altLang="zh-CN" sz="2200" dirty="0">
                <a:ea typeface="楷体_GB2312" pitchFamily="49" charset="-122"/>
              </a:rPr>
              <a:t>”</a:t>
            </a:r>
            <a:r>
              <a:rPr lang="zh-CN" altLang="en-US" sz="2200" dirty="0">
                <a:latin typeface="楷体_GB2312" pitchFamily="49" charset="-122"/>
                <a:ea typeface="楷体_GB2312" pitchFamily="49" charset="-122"/>
              </a:rPr>
              <a:t>的个数是奇数还是偶数。</a:t>
            </a:r>
          </a:p>
          <a:p>
            <a:pPr marL="381000" indent="-381000">
              <a:lnSpc>
                <a:spcPct val="115000"/>
              </a:lnSpc>
              <a:spcBef>
                <a:spcPct val="0"/>
              </a:spcBef>
              <a:buClr>
                <a:schemeClr val="hlink"/>
              </a:buClr>
              <a:buSzTx/>
              <a:buFont typeface="Wingdings" panose="05000000000000000000" pitchFamily="2" charset="2"/>
            </a:pPr>
            <a:r>
              <a:rPr lang="zh-CN" altLang="en-US" sz="2200" dirty="0">
                <a:solidFill>
                  <a:srgbClr val="FF0000"/>
                </a:solidFill>
                <a:latin typeface="楷体_GB2312" pitchFamily="49" charset="-122"/>
                <a:ea typeface="楷体_GB2312" pitchFamily="49" charset="-122"/>
              </a:rPr>
              <a:t>奇偶校验器</a:t>
            </a:r>
            <a:r>
              <a:rPr lang="zh-CN" altLang="en-US" sz="2200" dirty="0">
                <a:ea typeface="楷体_GB2312" pitchFamily="49" charset="-122"/>
              </a:rPr>
              <a:t>是采用“奇偶校验”方法来检查数据传输后和数码记录中是否存在错误的一种逻辑电路。</a:t>
            </a:r>
          </a:p>
          <a:p>
            <a:pPr marL="381000" indent="-381000">
              <a:lnSpc>
                <a:spcPct val="115000"/>
              </a:lnSpc>
              <a:spcBef>
                <a:spcPct val="0"/>
              </a:spcBef>
              <a:buClr>
                <a:schemeClr val="hlink"/>
              </a:buClr>
              <a:buSzTx/>
              <a:buFont typeface="Wingdings" panose="05000000000000000000" pitchFamily="2" charset="2"/>
            </a:pPr>
            <a:r>
              <a:rPr lang="zh-CN" altLang="en-US" sz="2200" dirty="0">
                <a:ea typeface="宋体" panose="02010600030101010101" pitchFamily="2" charset="-122"/>
              </a:rPr>
              <a:t>广泛用于计算机的内存储器以及磁盘和磁带之类的外部设备中；在通信中也常用到。</a:t>
            </a:r>
          </a:p>
        </p:txBody>
      </p:sp>
      <p:sp>
        <p:nvSpPr>
          <p:cNvPr id="191492"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26</a:t>
            </a:fld>
            <a:endParaRPr lang="ko-KR" altLang="en-US" sz="1600" dirty="0">
              <a:solidFill>
                <a:schemeClr val="accent2"/>
              </a:solidFill>
              <a:latin typeface="Verdana" panose="020B0604030504040204" pitchFamily="34" charset="0"/>
              <a:ea typeface="Gulim" panose="020B0600000101010101" pitchFamily="34" charset="-127"/>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4627">
                                            <p:txEl>
                                              <p:pRg st="2" end="2"/>
                                            </p:txEl>
                                          </p:spTgt>
                                        </p:tgtEl>
                                        <p:attrNameLst>
                                          <p:attrName>style.visibility</p:attrName>
                                        </p:attrNameLst>
                                      </p:cBhvr>
                                      <p:to>
                                        <p:strVal val="visible"/>
                                      </p:to>
                                    </p:set>
                                    <p:anim calcmode="lin" valueType="num">
                                      <p:cBhvr additive="base">
                                        <p:cTn id="19" dur="500" fill="hold"/>
                                        <p:tgtEl>
                                          <p:spTgt spid="15462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46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4627">
                                            <p:txEl>
                                              <p:pRg st="3" end="3"/>
                                            </p:txEl>
                                          </p:spTgt>
                                        </p:tgtEl>
                                        <p:attrNameLst>
                                          <p:attrName>style.visibility</p:attrName>
                                        </p:attrNameLst>
                                      </p:cBhvr>
                                      <p:to>
                                        <p:strVal val="visible"/>
                                      </p:to>
                                    </p:set>
                                    <p:anim calcmode="lin" valueType="num">
                                      <p:cBhvr additive="base">
                                        <p:cTn id="25" dur="500" fill="hold"/>
                                        <p:tgtEl>
                                          <p:spTgt spid="154627">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46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54627">
                                            <p:txEl>
                                              <p:pRg st="4" end="4"/>
                                            </p:txEl>
                                          </p:spTgt>
                                        </p:tgtEl>
                                        <p:attrNameLst>
                                          <p:attrName>style.visibility</p:attrName>
                                        </p:attrNameLst>
                                      </p:cBhvr>
                                      <p:to>
                                        <p:strVal val="visible"/>
                                      </p:to>
                                    </p:set>
                                    <p:anim calcmode="lin" valueType="num">
                                      <p:cBhvr additive="base">
                                        <p:cTn id="31" dur="500" fill="hold"/>
                                        <p:tgtEl>
                                          <p:spTgt spid="154627">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5462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p:cNvSpPr>
          <p:nvPr>
            <p:ph type="title"/>
          </p:nvPr>
        </p:nvSpPr>
        <p:spPr>
          <a:xfrm>
            <a:off x="3121025" y="542925"/>
            <a:ext cx="6858000" cy="609600"/>
          </a:xfrm>
        </p:spPr>
        <p:txBody>
          <a:bodyPr vert="horz" wrap="square" lIns="91440" tIns="45720" rIns="91440" bIns="45720" anchor="ctr" anchorCtr="0">
            <a:normAutofit fontScale="90000"/>
          </a:bodyPr>
          <a:lstStyle/>
          <a:p>
            <a:r>
              <a:rPr lang="en-US" altLang="zh-CN" dirty="0">
                <a:latin typeface="Arial" panose="020B0604020202020204" pitchFamily="34" charset="0"/>
                <a:ea typeface="黑体" panose="02010609060101010101" pitchFamily="49" charset="-122"/>
              </a:rPr>
              <a:t>4</a:t>
            </a:r>
            <a:r>
              <a:rPr lang="zh-CN" altLang="en-US" dirty="0">
                <a:latin typeface="Arial" panose="020B0604020202020204" pitchFamily="34" charset="0"/>
                <a:ea typeface="黑体" panose="02010609060101010101" pitchFamily="49" charset="-122"/>
              </a:rPr>
              <a:t>位奇偶校验器</a:t>
            </a:r>
          </a:p>
        </p:txBody>
      </p:sp>
      <p:graphicFrame>
        <p:nvGraphicFramePr>
          <p:cNvPr id="383039" name="Object 63"/>
          <p:cNvGraphicFramePr>
            <a:graphicFrameLocks noGrp="1" noChangeAspect="1"/>
          </p:cNvGraphicFramePr>
          <p:nvPr>
            <p:ph sz="half" idx="2"/>
          </p:nvPr>
        </p:nvGraphicFramePr>
        <p:xfrm>
          <a:off x="4108450" y="5146675"/>
          <a:ext cx="2619375" cy="476250"/>
        </p:xfrm>
        <a:graphic>
          <a:graphicData uri="http://schemas.openxmlformats.org/presentationml/2006/ole">
            <mc:AlternateContent xmlns:mc="http://schemas.openxmlformats.org/markup-compatibility/2006">
              <mc:Choice xmlns:v="urn:schemas-microsoft-com:vml" Requires="v">
                <p:oleObj spid="_x0000_s21507" r:id="rId5" imgW="1396365" imgH="254000" progId="Equation.3">
                  <p:embed/>
                </p:oleObj>
              </mc:Choice>
              <mc:Fallback>
                <p:oleObj r:id="rId5" imgW="1396365" imgH="254000" progId="Equation.3">
                  <p:embed/>
                  <p:pic>
                    <p:nvPicPr>
                      <p:cNvPr id="0" name="图片 3161"/>
                      <p:cNvPicPr/>
                      <p:nvPr/>
                    </p:nvPicPr>
                    <p:blipFill>
                      <a:blip r:embed="rId6"/>
                      <a:srcRect/>
                      <a:stretch>
                        <a:fillRect/>
                      </a:stretch>
                    </p:blipFill>
                    <p:spPr>
                      <a:xfrm>
                        <a:off x="4108450" y="5146675"/>
                        <a:ext cx="2619375" cy="476250"/>
                      </a:xfrm>
                      <a:prstGeom prst="rect">
                        <a:avLst/>
                      </a:prstGeom>
                      <a:solidFill>
                        <a:srgbClr val="FFFFBD">
                          <a:alpha val="100000"/>
                        </a:srgbClr>
                      </a:solidFill>
                      <a:ln w="38100">
                        <a:miter/>
                      </a:ln>
                      <a:effectLst>
                        <a:prstShdw prst="shdw13" dist="53882" dir="13499999">
                          <a:srgbClr val="808080">
                            <a:alpha val="50000"/>
                          </a:srgbClr>
                        </a:prstShdw>
                      </a:effectLst>
                    </p:spPr>
                  </p:pic>
                </p:oleObj>
              </mc:Fallback>
            </mc:AlternateContent>
          </a:graphicData>
        </a:graphic>
      </p:graphicFrame>
      <p:sp>
        <p:nvSpPr>
          <p:cNvPr id="193540"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27</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193541" name="Text Box 4"/>
          <p:cNvSpPr txBox="1"/>
          <p:nvPr/>
        </p:nvSpPr>
        <p:spPr>
          <a:xfrm>
            <a:off x="1851025" y="1477963"/>
            <a:ext cx="2865438" cy="326390"/>
          </a:xfrm>
          <a:prstGeom prst="rect">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a:noFill/>
          </a:ln>
        </p:spPr>
        <p:txBody>
          <a:bodyPr>
            <a:spAutoFit/>
          </a:bodyPr>
          <a:lstStyle/>
          <a:p>
            <a:pPr eaLnBrk="1" hangingPunct="1">
              <a:lnSpc>
                <a:spcPct val="85000"/>
              </a:lnSpc>
              <a:spcBef>
                <a:spcPct val="50000"/>
              </a:spcBef>
            </a:pPr>
            <a:r>
              <a:rPr lang="en-US" altLang="zh-CN" dirty="0">
                <a:solidFill>
                  <a:srgbClr val="990000"/>
                </a:solidFill>
                <a:latin typeface="Arial" panose="020B0604020202020204" pitchFamily="34" charset="0"/>
                <a:ea typeface="华文新魏" panose="02010800040101010101" pitchFamily="2" charset="-122"/>
              </a:rPr>
              <a:t>1</a:t>
            </a:r>
            <a:r>
              <a:rPr lang="zh-CN" altLang="en-US" dirty="0">
                <a:solidFill>
                  <a:srgbClr val="990000"/>
                </a:solidFill>
                <a:latin typeface="Arial" panose="020B0604020202020204" pitchFamily="34" charset="0"/>
                <a:ea typeface="华文新魏" panose="02010800040101010101" pitchFamily="2" charset="-122"/>
              </a:rPr>
              <a:t>、</a:t>
            </a:r>
            <a:r>
              <a:rPr lang="en-US" altLang="zh-CN" dirty="0">
                <a:solidFill>
                  <a:srgbClr val="990000"/>
                </a:solidFill>
                <a:latin typeface="Arial" panose="020B0604020202020204" pitchFamily="34" charset="0"/>
                <a:ea typeface="华文新魏" panose="02010800040101010101" pitchFamily="2" charset="-122"/>
              </a:rPr>
              <a:t>4</a:t>
            </a:r>
            <a:r>
              <a:rPr lang="zh-CN" altLang="en-US" dirty="0">
                <a:solidFill>
                  <a:srgbClr val="990000"/>
                </a:solidFill>
                <a:latin typeface="Arial" panose="020B0604020202020204" pitchFamily="34" charset="0"/>
                <a:ea typeface="华文新魏" panose="02010800040101010101" pitchFamily="2" charset="-122"/>
              </a:rPr>
              <a:t>位奇偶校验器</a:t>
            </a:r>
          </a:p>
        </p:txBody>
      </p:sp>
      <p:grpSp>
        <p:nvGrpSpPr>
          <p:cNvPr id="193542" name="Group 5"/>
          <p:cNvGrpSpPr/>
          <p:nvPr/>
        </p:nvGrpSpPr>
        <p:grpSpPr>
          <a:xfrm>
            <a:off x="4868863" y="2587625"/>
            <a:ext cx="2667000" cy="1447800"/>
            <a:chOff x="240" y="1248"/>
            <a:chExt cx="1776" cy="912"/>
          </a:xfrm>
        </p:grpSpPr>
        <p:sp>
          <p:nvSpPr>
            <p:cNvPr id="193589" name="Text Box 6"/>
            <p:cNvSpPr txBox="1"/>
            <p:nvPr/>
          </p:nvSpPr>
          <p:spPr>
            <a:xfrm>
              <a:off x="864" y="1392"/>
              <a:ext cx="528"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2k+1</a:t>
              </a:r>
            </a:p>
          </p:txBody>
        </p:sp>
        <p:sp>
          <p:nvSpPr>
            <p:cNvPr id="193590" name="Rectangle 7"/>
            <p:cNvSpPr/>
            <p:nvPr/>
          </p:nvSpPr>
          <p:spPr>
            <a:xfrm>
              <a:off x="720" y="1248"/>
              <a:ext cx="672" cy="91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193591" name="Line 8"/>
            <p:cNvSpPr/>
            <p:nvPr/>
          </p:nvSpPr>
          <p:spPr>
            <a:xfrm>
              <a:off x="480" y="1392"/>
              <a:ext cx="240" cy="0"/>
            </a:xfrm>
            <a:prstGeom prst="line">
              <a:avLst/>
            </a:prstGeom>
            <a:ln w="9525" cap="flat" cmpd="sng">
              <a:solidFill>
                <a:schemeClr val="tx1"/>
              </a:solidFill>
              <a:prstDash val="solid"/>
              <a:headEnd type="none" w="med" len="med"/>
              <a:tailEnd type="none" w="med" len="med"/>
            </a:ln>
          </p:spPr>
        </p:sp>
        <p:sp>
          <p:nvSpPr>
            <p:cNvPr id="193592" name="Line 9"/>
            <p:cNvSpPr/>
            <p:nvPr/>
          </p:nvSpPr>
          <p:spPr>
            <a:xfrm>
              <a:off x="480" y="1584"/>
              <a:ext cx="240" cy="0"/>
            </a:xfrm>
            <a:prstGeom prst="line">
              <a:avLst/>
            </a:prstGeom>
            <a:ln w="9525" cap="flat" cmpd="sng">
              <a:solidFill>
                <a:schemeClr val="tx1"/>
              </a:solidFill>
              <a:prstDash val="solid"/>
              <a:headEnd type="none" w="med" len="med"/>
              <a:tailEnd type="none" w="med" len="med"/>
            </a:ln>
          </p:spPr>
        </p:sp>
        <p:sp>
          <p:nvSpPr>
            <p:cNvPr id="193593" name="Line 10"/>
            <p:cNvSpPr/>
            <p:nvPr/>
          </p:nvSpPr>
          <p:spPr>
            <a:xfrm>
              <a:off x="480" y="1776"/>
              <a:ext cx="240" cy="0"/>
            </a:xfrm>
            <a:prstGeom prst="line">
              <a:avLst/>
            </a:prstGeom>
            <a:ln w="9525" cap="flat" cmpd="sng">
              <a:solidFill>
                <a:schemeClr val="tx1"/>
              </a:solidFill>
              <a:prstDash val="solid"/>
              <a:headEnd type="none" w="med" len="med"/>
              <a:tailEnd type="none" w="med" len="med"/>
            </a:ln>
          </p:spPr>
        </p:sp>
        <p:sp>
          <p:nvSpPr>
            <p:cNvPr id="193594" name="Line 11"/>
            <p:cNvSpPr/>
            <p:nvPr/>
          </p:nvSpPr>
          <p:spPr>
            <a:xfrm>
              <a:off x="480" y="1968"/>
              <a:ext cx="240" cy="0"/>
            </a:xfrm>
            <a:prstGeom prst="line">
              <a:avLst/>
            </a:prstGeom>
            <a:ln w="9525" cap="flat" cmpd="sng">
              <a:solidFill>
                <a:schemeClr val="tx1"/>
              </a:solidFill>
              <a:prstDash val="solid"/>
              <a:headEnd type="none" w="med" len="med"/>
              <a:tailEnd type="none" w="med" len="med"/>
            </a:ln>
          </p:spPr>
        </p:sp>
        <p:sp>
          <p:nvSpPr>
            <p:cNvPr id="193595" name="Text Box 12"/>
            <p:cNvSpPr txBox="1"/>
            <p:nvPr/>
          </p:nvSpPr>
          <p:spPr>
            <a:xfrm>
              <a:off x="240" y="1296"/>
              <a:ext cx="240" cy="786"/>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A</a:t>
              </a:r>
            </a:p>
            <a:p>
              <a:pPr algn="just">
                <a:lnSpc>
                  <a:spcPct val="80000"/>
                </a:lnSpc>
                <a:spcBef>
                  <a:spcPct val="50000"/>
                </a:spcBef>
              </a:pPr>
              <a:r>
                <a:rPr lang="en-US" altLang="zh-CN" sz="1600" dirty="0">
                  <a:solidFill>
                    <a:schemeClr val="tx1"/>
                  </a:solidFill>
                  <a:latin typeface="Arial" panose="020B0604020202020204" pitchFamily="34" charset="0"/>
                </a:rPr>
                <a:t>B</a:t>
              </a:r>
            </a:p>
            <a:p>
              <a:pPr algn="just">
                <a:lnSpc>
                  <a:spcPct val="80000"/>
                </a:lnSpc>
                <a:spcBef>
                  <a:spcPct val="50000"/>
                </a:spcBef>
              </a:pPr>
              <a:r>
                <a:rPr lang="en-US" altLang="zh-CN" sz="1600" dirty="0">
                  <a:solidFill>
                    <a:schemeClr val="tx1"/>
                  </a:solidFill>
                  <a:latin typeface="Arial" panose="020B0604020202020204" pitchFamily="34" charset="0"/>
                </a:rPr>
                <a:t>C</a:t>
              </a:r>
            </a:p>
            <a:p>
              <a:pPr algn="just">
                <a:lnSpc>
                  <a:spcPct val="80000"/>
                </a:lnSpc>
                <a:spcBef>
                  <a:spcPct val="50000"/>
                </a:spcBef>
              </a:pPr>
              <a:r>
                <a:rPr lang="en-US" altLang="zh-CN" sz="1600" dirty="0">
                  <a:solidFill>
                    <a:schemeClr val="tx1"/>
                  </a:solidFill>
                  <a:latin typeface="Arial" panose="020B0604020202020204" pitchFamily="34" charset="0"/>
                </a:rPr>
                <a:t>D</a:t>
              </a:r>
            </a:p>
          </p:txBody>
        </p:sp>
        <p:sp>
          <p:nvSpPr>
            <p:cNvPr id="193596" name="Text Box 13"/>
            <p:cNvSpPr txBox="1"/>
            <p:nvPr/>
          </p:nvSpPr>
          <p:spPr>
            <a:xfrm>
              <a:off x="1584" y="1451"/>
              <a:ext cx="432"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en-US" altLang="zh-CN" sz="1600" dirty="0">
                <a:solidFill>
                  <a:schemeClr val="tx1"/>
                </a:solidFill>
                <a:latin typeface="Arial" panose="020B0604020202020204" pitchFamily="34" charset="0"/>
              </a:endParaRPr>
            </a:p>
          </p:txBody>
        </p:sp>
        <p:sp>
          <p:nvSpPr>
            <p:cNvPr id="193597" name="Text Box 14"/>
            <p:cNvSpPr txBox="1"/>
            <p:nvPr/>
          </p:nvSpPr>
          <p:spPr>
            <a:xfrm>
              <a:off x="1584" y="1739"/>
              <a:ext cx="432"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sp>
          <p:nvSpPr>
            <p:cNvPr id="193598" name="Line 15"/>
            <p:cNvSpPr/>
            <p:nvPr/>
          </p:nvSpPr>
          <p:spPr>
            <a:xfrm>
              <a:off x="1392" y="1536"/>
              <a:ext cx="192" cy="0"/>
            </a:xfrm>
            <a:prstGeom prst="line">
              <a:avLst/>
            </a:prstGeom>
            <a:ln w="9525" cap="flat" cmpd="sng">
              <a:solidFill>
                <a:schemeClr val="tx1"/>
              </a:solidFill>
              <a:prstDash val="solid"/>
              <a:headEnd type="none" w="med" len="med"/>
              <a:tailEnd type="none" w="med" len="med"/>
            </a:ln>
          </p:spPr>
        </p:sp>
        <p:sp>
          <p:nvSpPr>
            <p:cNvPr id="193599" name="Line 16"/>
            <p:cNvSpPr/>
            <p:nvPr/>
          </p:nvSpPr>
          <p:spPr>
            <a:xfrm>
              <a:off x="1392" y="1824"/>
              <a:ext cx="192" cy="0"/>
            </a:xfrm>
            <a:prstGeom prst="line">
              <a:avLst/>
            </a:prstGeom>
            <a:ln w="9525" cap="flat" cmpd="sng">
              <a:solidFill>
                <a:schemeClr val="tx1"/>
              </a:solidFill>
              <a:prstDash val="solid"/>
              <a:headEnd type="none" w="med" len="med"/>
              <a:tailEnd type="none" w="med" len="med"/>
            </a:ln>
          </p:spPr>
        </p:sp>
      </p:grpSp>
      <p:grpSp>
        <p:nvGrpSpPr>
          <p:cNvPr id="3" name="Group 17"/>
          <p:cNvGrpSpPr/>
          <p:nvPr/>
        </p:nvGrpSpPr>
        <p:grpSpPr>
          <a:xfrm>
            <a:off x="7753350" y="1485900"/>
            <a:ext cx="2514600" cy="4629150"/>
            <a:chOff x="3836" y="1154"/>
            <a:chExt cx="1584" cy="2916"/>
          </a:xfrm>
        </p:grpSpPr>
        <p:sp>
          <p:nvSpPr>
            <p:cNvPr id="193580" name="Rectangle 18"/>
            <p:cNvSpPr/>
            <p:nvPr/>
          </p:nvSpPr>
          <p:spPr>
            <a:xfrm>
              <a:off x="4628" y="1580"/>
              <a:ext cx="792" cy="2490"/>
            </a:xfrm>
            <a:prstGeom prst="rect">
              <a:avLst/>
            </a:prstGeom>
            <a:noFill/>
            <a:ln w="9525">
              <a:noFill/>
            </a:ln>
          </p:spPr>
          <p:txBody>
            <a:bodyPr/>
            <a:lstStyle/>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a:t>
              </a:r>
            </a:p>
          </p:txBody>
        </p:sp>
        <p:sp>
          <p:nvSpPr>
            <p:cNvPr id="193581" name="Rectangle 19"/>
            <p:cNvSpPr/>
            <p:nvPr/>
          </p:nvSpPr>
          <p:spPr>
            <a:xfrm>
              <a:off x="3836" y="1580"/>
              <a:ext cx="792" cy="2490"/>
            </a:xfrm>
            <a:prstGeom prst="rect">
              <a:avLst/>
            </a:prstGeom>
            <a:noFill/>
            <a:ln w="9525">
              <a:noFill/>
            </a:ln>
          </p:spPr>
          <p:txBody>
            <a:bodyPr/>
            <a:lstStyle/>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0 0 0 0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0 0 0 1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0 0 1 0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0 0 1 1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0 1 0 0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0 1 0 1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0 1 1 0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0 1 1 1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1 0 0 0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1 0 0 1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1 0 1 0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1 0 1 1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1 1 0 0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1 1 0 1</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1 1 1 0</a:t>
              </a:r>
            </a:p>
            <a:p>
              <a:pPr algn="ctr">
                <a:lnSpc>
                  <a:spcPct val="80000"/>
                </a:lnSpc>
                <a:spcBef>
                  <a:spcPct val="20000"/>
                </a:spcBef>
                <a:buClr>
                  <a:schemeClr val="bg2"/>
                </a:buClr>
              </a:pPr>
              <a:r>
                <a:rPr lang="en-US" altLang="zh-CN" sz="1600" b="0" dirty="0">
                  <a:solidFill>
                    <a:schemeClr val="tx1"/>
                  </a:solidFill>
                  <a:latin typeface="Arial" panose="020B0604020202020204" pitchFamily="34" charset="0"/>
                </a:rPr>
                <a:t>1 1 1 1</a:t>
              </a:r>
            </a:p>
          </p:txBody>
        </p:sp>
        <p:sp>
          <p:nvSpPr>
            <p:cNvPr id="193582" name="Rectangle 20"/>
            <p:cNvSpPr/>
            <p:nvPr/>
          </p:nvSpPr>
          <p:spPr>
            <a:xfrm>
              <a:off x="4628" y="1369"/>
              <a:ext cx="792" cy="211"/>
            </a:xfrm>
            <a:prstGeom prst="rect">
              <a:avLst/>
            </a:prstGeom>
            <a:noFill/>
            <a:ln w="9525">
              <a:noFill/>
            </a:ln>
          </p:spPr>
          <p:txBody>
            <a:bodyPr/>
            <a:lstStyle/>
            <a:p>
              <a:pPr algn="ctr">
                <a:lnSpc>
                  <a:spcPct val="90000"/>
                </a:lnSpc>
                <a:spcBef>
                  <a:spcPct val="20000"/>
                </a:spcBef>
                <a:buClr>
                  <a:schemeClr val="bg2"/>
                </a:buClr>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r>
                <a:rPr lang="en-US" altLang="zh-CN" sz="1600" dirty="0">
                  <a:solidFill>
                    <a:schemeClr val="tx1"/>
                  </a:solidFill>
                  <a:latin typeface="Arial" panose="020B0604020202020204" pitchFamily="34" charset="0"/>
                </a:rPr>
                <a:t>  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sp>
          <p:nvSpPr>
            <p:cNvPr id="193583" name="Rectangle 21"/>
            <p:cNvSpPr/>
            <p:nvPr/>
          </p:nvSpPr>
          <p:spPr>
            <a:xfrm>
              <a:off x="3836" y="1369"/>
              <a:ext cx="792" cy="211"/>
            </a:xfrm>
            <a:prstGeom prst="rect">
              <a:avLst/>
            </a:prstGeom>
            <a:noFill/>
            <a:ln w="9525">
              <a:noFill/>
            </a:ln>
          </p:spPr>
          <p:txBody>
            <a:bodyPr/>
            <a:lstStyle/>
            <a:p>
              <a:pPr algn="ctr">
                <a:lnSpc>
                  <a:spcPct val="90000"/>
                </a:lnSpc>
                <a:spcBef>
                  <a:spcPct val="20000"/>
                </a:spcBef>
                <a:buClr>
                  <a:schemeClr val="bg2"/>
                </a:buClr>
              </a:pPr>
              <a:r>
                <a:rPr lang="en-US" altLang="zh-CN" sz="1600" dirty="0">
                  <a:solidFill>
                    <a:schemeClr val="tx1"/>
                  </a:solidFill>
                  <a:latin typeface="Arial" panose="020B0604020202020204" pitchFamily="34" charset="0"/>
                </a:rPr>
                <a:t>A B C D</a:t>
              </a:r>
            </a:p>
          </p:txBody>
        </p:sp>
        <p:sp>
          <p:nvSpPr>
            <p:cNvPr id="193584" name="Line 22"/>
            <p:cNvSpPr/>
            <p:nvPr/>
          </p:nvSpPr>
          <p:spPr>
            <a:xfrm>
              <a:off x="3836" y="1369"/>
              <a:ext cx="1584" cy="0"/>
            </a:xfrm>
            <a:prstGeom prst="line">
              <a:avLst/>
            </a:prstGeom>
            <a:ln w="28575" cap="sq" cmpd="sng">
              <a:solidFill>
                <a:schemeClr val="tx1"/>
              </a:solidFill>
              <a:prstDash val="solid"/>
              <a:headEnd type="none" w="med" len="med"/>
              <a:tailEnd type="none" w="med" len="med"/>
            </a:ln>
          </p:spPr>
        </p:sp>
        <p:sp>
          <p:nvSpPr>
            <p:cNvPr id="193585" name="Line 23"/>
            <p:cNvSpPr/>
            <p:nvPr/>
          </p:nvSpPr>
          <p:spPr>
            <a:xfrm>
              <a:off x="3836" y="1580"/>
              <a:ext cx="1584" cy="0"/>
            </a:xfrm>
            <a:prstGeom prst="line">
              <a:avLst/>
            </a:prstGeom>
            <a:ln w="12700" cap="flat" cmpd="sng">
              <a:solidFill>
                <a:schemeClr val="tx1"/>
              </a:solidFill>
              <a:prstDash val="solid"/>
              <a:headEnd type="none" w="med" len="med"/>
              <a:tailEnd type="none" w="med" len="med"/>
            </a:ln>
          </p:spPr>
        </p:sp>
        <p:sp>
          <p:nvSpPr>
            <p:cNvPr id="193586" name="Line 24"/>
            <p:cNvSpPr/>
            <p:nvPr/>
          </p:nvSpPr>
          <p:spPr>
            <a:xfrm>
              <a:off x="3836" y="4070"/>
              <a:ext cx="1584" cy="0"/>
            </a:xfrm>
            <a:prstGeom prst="line">
              <a:avLst/>
            </a:prstGeom>
            <a:ln w="28575" cap="sq" cmpd="sng">
              <a:solidFill>
                <a:schemeClr val="tx1"/>
              </a:solidFill>
              <a:prstDash val="solid"/>
              <a:headEnd type="none" w="med" len="med"/>
              <a:tailEnd type="none" w="med" len="med"/>
            </a:ln>
          </p:spPr>
        </p:sp>
        <p:sp>
          <p:nvSpPr>
            <p:cNvPr id="193587" name="Line 26"/>
            <p:cNvSpPr/>
            <p:nvPr/>
          </p:nvSpPr>
          <p:spPr>
            <a:xfrm>
              <a:off x="4628" y="1369"/>
              <a:ext cx="0" cy="2701"/>
            </a:xfrm>
            <a:prstGeom prst="line">
              <a:avLst/>
            </a:prstGeom>
            <a:ln w="12700" cap="flat" cmpd="sng">
              <a:solidFill>
                <a:schemeClr val="tx1"/>
              </a:solidFill>
              <a:prstDash val="solid"/>
              <a:headEnd type="none" w="med" len="med"/>
              <a:tailEnd type="none" w="med" len="med"/>
            </a:ln>
          </p:spPr>
        </p:sp>
        <p:sp>
          <p:nvSpPr>
            <p:cNvPr id="193588" name="Text Box 28"/>
            <p:cNvSpPr txBox="1"/>
            <p:nvPr/>
          </p:nvSpPr>
          <p:spPr>
            <a:xfrm>
              <a:off x="3965" y="1154"/>
              <a:ext cx="1296" cy="197"/>
            </a:xfrm>
            <a:prstGeom prst="rect">
              <a:avLst/>
            </a:prstGeom>
            <a:noFill/>
            <a:ln w="9525">
              <a:noFill/>
            </a:ln>
          </p:spPr>
          <p:txBody>
            <a:bodyPr>
              <a:spAutoFit/>
            </a:bodyPr>
            <a:lstStyle/>
            <a:p>
              <a:pPr marL="457200" indent="-457200" algn="ctr" eaLnBrk="1" hangingPunct="1">
                <a:lnSpc>
                  <a:spcPct val="90000"/>
                </a:lnSpc>
                <a:spcBef>
                  <a:spcPct val="50000"/>
                </a:spcBef>
              </a:pPr>
              <a:r>
                <a:rPr lang="zh-CN" altLang="en-US" sz="1600" dirty="0">
                  <a:solidFill>
                    <a:schemeClr val="tx1"/>
                  </a:solidFill>
                  <a:latin typeface="Arial" panose="020B0604020202020204" pitchFamily="34" charset="0"/>
                </a:rPr>
                <a:t>真值表</a:t>
              </a:r>
            </a:p>
          </p:txBody>
        </p:sp>
      </p:grpSp>
      <p:graphicFrame>
        <p:nvGraphicFramePr>
          <p:cNvPr id="383005" name="Object 29"/>
          <p:cNvGraphicFramePr>
            <a:graphicFrameLocks noChangeAspect="1"/>
          </p:cNvGraphicFramePr>
          <p:nvPr/>
        </p:nvGraphicFramePr>
        <p:xfrm>
          <a:off x="4151313" y="4392613"/>
          <a:ext cx="2557462" cy="403225"/>
        </p:xfrm>
        <a:graphic>
          <a:graphicData uri="http://schemas.openxmlformats.org/presentationml/2006/ole">
            <mc:AlternateContent xmlns:mc="http://schemas.openxmlformats.org/markup-compatibility/2006">
              <mc:Choice xmlns:v="urn:schemas-microsoft-com:vml" Requires="v">
                <p:oleObj spid="_x0000_s21508" r:id="rId7" imgW="1295400" imgH="203200" progId="Equation.3">
                  <p:embed/>
                </p:oleObj>
              </mc:Choice>
              <mc:Fallback>
                <p:oleObj r:id="rId7" imgW="1295400" imgH="203200" progId="Equation.3">
                  <p:embed/>
                  <p:pic>
                    <p:nvPicPr>
                      <p:cNvPr id="0" name="图片 3162"/>
                      <p:cNvPicPr/>
                      <p:nvPr/>
                    </p:nvPicPr>
                    <p:blipFill>
                      <a:blip r:embed="rId8"/>
                      <a:stretch>
                        <a:fillRect/>
                      </a:stretch>
                    </p:blipFill>
                    <p:spPr>
                      <a:xfrm>
                        <a:off x="4151313" y="4392613"/>
                        <a:ext cx="2557462" cy="403225"/>
                      </a:xfrm>
                      <a:prstGeom prst="rect">
                        <a:avLst/>
                      </a:prstGeom>
                      <a:solidFill>
                        <a:srgbClr val="FFFFBD"/>
                      </a:solidFill>
                      <a:ln w="38100">
                        <a:noFill/>
                        <a:miter/>
                      </a:ln>
                      <a:effectLst>
                        <a:prstShdw prst="shdw13" dist="53882" dir="13499999">
                          <a:srgbClr val="808080">
                            <a:alpha val="50000"/>
                          </a:srgbClr>
                        </a:prstShdw>
                      </a:effectLst>
                    </p:spPr>
                  </p:pic>
                </p:oleObj>
              </mc:Fallback>
            </mc:AlternateContent>
          </a:graphicData>
        </a:graphic>
      </p:graphicFrame>
      <p:grpSp>
        <p:nvGrpSpPr>
          <p:cNvPr id="193545" name="Group 30"/>
          <p:cNvGrpSpPr/>
          <p:nvPr/>
        </p:nvGrpSpPr>
        <p:grpSpPr>
          <a:xfrm>
            <a:off x="1978025" y="2505075"/>
            <a:ext cx="2438400" cy="1247776"/>
            <a:chOff x="4128" y="576"/>
            <a:chExt cx="1536" cy="786"/>
          </a:xfrm>
        </p:grpSpPr>
        <p:grpSp>
          <p:nvGrpSpPr>
            <p:cNvPr id="193548" name="Group 31"/>
            <p:cNvGrpSpPr/>
            <p:nvPr/>
          </p:nvGrpSpPr>
          <p:grpSpPr>
            <a:xfrm>
              <a:off x="4464" y="576"/>
              <a:ext cx="240" cy="336"/>
              <a:chOff x="4272" y="576"/>
              <a:chExt cx="240" cy="336"/>
            </a:xfrm>
          </p:grpSpPr>
          <p:sp>
            <p:nvSpPr>
              <p:cNvPr id="193578" name="Text Box 32"/>
              <p:cNvSpPr txBox="1"/>
              <p:nvPr/>
            </p:nvSpPr>
            <p:spPr>
              <a:xfrm>
                <a:off x="4272" y="672"/>
                <a:ext cx="240" cy="132"/>
              </a:xfrm>
              <a:prstGeom prst="rect">
                <a:avLst/>
              </a:prstGeom>
              <a:noFill/>
              <a:ln w="9525">
                <a:noFill/>
              </a:ln>
            </p:spPr>
            <p:txBody>
              <a:bodyPr>
                <a:spAutoFit/>
              </a:bodyPr>
              <a:lstStyle/>
              <a:p>
                <a:pPr algn="just">
                  <a:lnSpc>
                    <a:spcPct val="64000"/>
                  </a:lnSpc>
                  <a:spcBef>
                    <a:spcPct val="50000"/>
                  </a:spcBef>
                </a:pPr>
                <a:r>
                  <a:rPr lang="en-US" altLang="zh-CN" sz="1200" dirty="0">
                    <a:solidFill>
                      <a:schemeClr val="tx1"/>
                    </a:solidFill>
                    <a:latin typeface="Arial" panose="020B0604020202020204" pitchFamily="34" charset="0"/>
                  </a:rPr>
                  <a:t>=1</a:t>
                </a:r>
              </a:p>
            </p:txBody>
          </p:sp>
          <p:sp>
            <p:nvSpPr>
              <p:cNvPr id="193579" name="Rectangle 33"/>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3549" name="Group 34"/>
            <p:cNvGrpSpPr/>
            <p:nvPr/>
          </p:nvGrpSpPr>
          <p:grpSpPr>
            <a:xfrm>
              <a:off x="4473" y="1008"/>
              <a:ext cx="240" cy="336"/>
              <a:chOff x="4272" y="576"/>
              <a:chExt cx="240" cy="336"/>
            </a:xfrm>
          </p:grpSpPr>
          <p:sp>
            <p:nvSpPr>
              <p:cNvPr id="193576" name="Text Box 35"/>
              <p:cNvSpPr txBox="1"/>
              <p:nvPr/>
            </p:nvSpPr>
            <p:spPr>
              <a:xfrm>
                <a:off x="4272" y="672"/>
                <a:ext cx="240" cy="132"/>
              </a:xfrm>
              <a:prstGeom prst="rect">
                <a:avLst/>
              </a:prstGeom>
              <a:noFill/>
              <a:ln w="9525">
                <a:noFill/>
              </a:ln>
            </p:spPr>
            <p:txBody>
              <a:bodyPr>
                <a:spAutoFit/>
              </a:bodyPr>
              <a:lstStyle/>
              <a:p>
                <a:pPr algn="just">
                  <a:lnSpc>
                    <a:spcPct val="64000"/>
                  </a:lnSpc>
                  <a:spcBef>
                    <a:spcPct val="50000"/>
                  </a:spcBef>
                </a:pPr>
                <a:r>
                  <a:rPr lang="en-US" altLang="zh-CN" sz="1200" dirty="0">
                    <a:solidFill>
                      <a:schemeClr val="tx1"/>
                    </a:solidFill>
                    <a:latin typeface="Arial" panose="020B0604020202020204" pitchFamily="34" charset="0"/>
                  </a:rPr>
                  <a:t>=1</a:t>
                </a:r>
              </a:p>
            </p:txBody>
          </p:sp>
          <p:sp>
            <p:nvSpPr>
              <p:cNvPr id="193577" name="Rectangle 36"/>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3550" name="Group 37"/>
            <p:cNvGrpSpPr/>
            <p:nvPr/>
          </p:nvGrpSpPr>
          <p:grpSpPr>
            <a:xfrm>
              <a:off x="4848" y="768"/>
              <a:ext cx="240" cy="336"/>
              <a:chOff x="4272" y="576"/>
              <a:chExt cx="240" cy="336"/>
            </a:xfrm>
          </p:grpSpPr>
          <p:sp>
            <p:nvSpPr>
              <p:cNvPr id="193574" name="Text Box 38"/>
              <p:cNvSpPr txBox="1"/>
              <p:nvPr/>
            </p:nvSpPr>
            <p:spPr>
              <a:xfrm>
                <a:off x="4272" y="672"/>
                <a:ext cx="240" cy="132"/>
              </a:xfrm>
              <a:prstGeom prst="rect">
                <a:avLst/>
              </a:prstGeom>
              <a:noFill/>
              <a:ln w="9525">
                <a:noFill/>
              </a:ln>
            </p:spPr>
            <p:txBody>
              <a:bodyPr>
                <a:spAutoFit/>
              </a:bodyPr>
              <a:lstStyle/>
              <a:p>
                <a:pPr algn="just">
                  <a:lnSpc>
                    <a:spcPct val="64000"/>
                  </a:lnSpc>
                  <a:spcBef>
                    <a:spcPct val="50000"/>
                  </a:spcBef>
                </a:pPr>
                <a:r>
                  <a:rPr lang="en-US" altLang="zh-CN" sz="1200" dirty="0">
                    <a:solidFill>
                      <a:schemeClr val="tx1"/>
                    </a:solidFill>
                    <a:latin typeface="Arial" panose="020B0604020202020204" pitchFamily="34" charset="0"/>
                  </a:rPr>
                  <a:t>=1</a:t>
                </a:r>
              </a:p>
            </p:txBody>
          </p:sp>
          <p:sp>
            <p:nvSpPr>
              <p:cNvPr id="193575" name="Rectangle 39"/>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3551" name="Group 40"/>
            <p:cNvGrpSpPr/>
            <p:nvPr/>
          </p:nvGrpSpPr>
          <p:grpSpPr>
            <a:xfrm>
              <a:off x="4656" y="768"/>
              <a:ext cx="192" cy="96"/>
              <a:chOff x="4464" y="768"/>
              <a:chExt cx="192" cy="144"/>
            </a:xfrm>
          </p:grpSpPr>
          <p:sp>
            <p:nvSpPr>
              <p:cNvPr id="193571" name="Line 41"/>
              <p:cNvSpPr/>
              <p:nvPr/>
            </p:nvSpPr>
            <p:spPr>
              <a:xfrm>
                <a:off x="4464" y="768"/>
                <a:ext cx="96" cy="0"/>
              </a:xfrm>
              <a:prstGeom prst="line">
                <a:avLst/>
              </a:prstGeom>
              <a:ln w="9525" cap="flat" cmpd="sng">
                <a:solidFill>
                  <a:schemeClr val="tx1"/>
                </a:solidFill>
                <a:prstDash val="solid"/>
                <a:headEnd type="none" w="med" len="med"/>
                <a:tailEnd type="none" w="med" len="med"/>
              </a:ln>
            </p:spPr>
          </p:sp>
          <p:sp>
            <p:nvSpPr>
              <p:cNvPr id="193572" name="Line 42"/>
              <p:cNvSpPr/>
              <p:nvPr/>
            </p:nvSpPr>
            <p:spPr>
              <a:xfrm>
                <a:off x="4560" y="768"/>
                <a:ext cx="0" cy="144"/>
              </a:xfrm>
              <a:prstGeom prst="line">
                <a:avLst/>
              </a:prstGeom>
              <a:ln w="9525" cap="flat" cmpd="sng">
                <a:solidFill>
                  <a:schemeClr val="tx1"/>
                </a:solidFill>
                <a:prstDash val="solid"/>
                <a:headEnd type="none" w="med" len="med"/>
                <a:tailEnd type="none" w="med" len="med"/>
              </a:ln>
            </p:spPr>
          </p:sp>
          <p:sp>
            <p:nvSpPr>
              <p:cNvPr id="193573" name="Line 43"/>
              <p:cNvSpPr/>
              <p:nvPr/>
            </p:nvSpPr>
            <p:spPr>
              <a:xfrm>
                <a:off x="4560" y="912"/>
                <a:ext cx="96" cy="0"/>
              </a:xfrm>
              <a:prstGeom prst="line">
                <a:avLst/>
              </a:prstGeom>
              <a:ln w="9525" cap="flat" cmpd="sng">
                <a:solidFill>
                  <a:schemeClr val="tx1"/>
                </a:solidFill>
                <a:prstDash val="solid"/>
                <a:headEnd type="none" w="med" len="med"/>
                <a:tailEnd type="none" w="med" len="med"/>
              </a:ln>
            </p:spPr>
          </p:sp>
        </p:grpSp>
        <p:sp>
          <p:nvSpPr>
            <p:cNvPr id="193552" name="Line 44"/>
            <p:cNvSpPr/>
            <p:nvPr/>
          </p:nvSpPr>
          <p:spPr>
            <a:xfrm flipH="1">
              <a:off x="4752" y="1008"/>
              <a:ext cx="96" cy="0"/>
            </a:xfrm>
            <a:prstGeom prst="line">
              <a:avLst/>
            </a:prstGeom>
            <a:ln w="9525" cap="flat" cmpd="sng">
              <a:solidFill>
                <a:schemeClr val="tx1"/>
              </a:solidFill>
              <a:prstDash val="solid"/>
              <a:headEnd type="none" w="med" len="med"/>
              <a:tailEnd type="none" w="med" len="med"/>
            </a:ln>
          </p:spPr>
        </p:sp>
        <p:sp>
          <p:nvSpPr>
            <p:cNvPr id="193553" name="Line 45"/>
            <p:cNvSpPr/>
            <p:nvPr/>
          </p:nvSpPr>
          <p:spPr>
            <a:xfrm>
              <a:off x="4752" y="1008"/>
              <a:ext cx="0" cy="144"/>
            </a:xfrm>
            <a:prstGeom prst="line">
              <a:avLst/>
            </a:prstGeom>
            <a:ln w="9525" cap="flat" cmpd="sng">
              <a:solidFill>
                <a:schemeClr val="tx1"/>
              </a:solidFill>
              <a:prstDash val="solid"/>
              <a:headEnd type="none" w="med" len="med"/>
              <a:tailEnd type="none" w="med" len="med"/>
            </a:ln>
          </p:spPr>
        </p:sp>
        <p:sp>
          <p:nvSpPr>
            <p:cNvPr id="193554" name="Line 46"/>
            <p:cNvSpPr/>
            <p:nvPr/>
          </p:nvSpPr>
          <p:spPr>
            <a:xfrm flipH="1">
              <a:off x="4656" y="1152"/>
              <a:ext cx="96" cy="0"/>
            </a:xfrm>
            <a:prstGeom prst="line">
              <a:avLst/>
            </a:prstGeom>
            <a:ln w="9525" cap="flat" cmpd="sng">
              <a:solidFill>
                <a:schemeClr val="tx1"/>
              </a:solidFill>
              <a:prstDash val="solid"/>
              <a:headEnd type="none" w="med" len="med"/>
              <a:tailEnd type="none" w="med" len="med"/>
            </a:ln>
          </p:spPr>
        </p:sp>
        <p:sp>
          <p:nvSpPr>
            <p:cNvPr id="193555" name="Line 47"/>
            <p:cNvSpPr/>
            <p:nvPr/>
          </p:nvSpPr>
          <p:spPr>
            <a:xfrm>
              <a:off x="5040" y="939"/>
              <a:ext cx="480" cy="0"/>
            </a:xfrm>
            <a:prstGeom prst="line">
              <a:avLst/>
            </a:prstGeom>
            <a:ln w="9525" cap="flat" cmpd="sng">
              <a:solidFill>
                <a:schemeClr val="tx1"/>
              </a:solidFill>
              <a:prstDash val="solid"/>
              <a:headEnd type="none" w="med" len="med"/>
              <a:tailEnd type="none" w="med" len="med"/>
            </a:ln>
          </p:spPr>
        </p:sp>
        <p:grpSp>
          <p:nvGrpSpPr>
            <p:cNvPr id="193556" name="Group 48"/>
            <p:cNvGrpSpPr/>
            <p:nvPr/>
          </p:nvGrpSpPr>
          <p:grpSpPr>
            <a:xfrm>
              <a:off x="5184" y="1029"/>
              <a:ext cx="240" cy="240"/>
              <a:chOff x="4992" y="1029"/>
              <a:chExt cx="240" cy="240"/>
            </a:xfrm>
          </p:grpSpPr>
          <p:sp>
            <p:nvSpPr>
              <p:cNvPr id="193568" name="Text Box 49"/>
              <p:cNvSpPr txBox="1"/>
              <p:nvPr/>
            </p:nvSpPr>
            <p:spPr>
              <a:xfrm>
                <a:off x="4992" y="1104"/>
                <a:ext cx="240" cy="144"/>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3569" name="Rectangle 50"/>
              <p:cNvSpPr/>
              <p:nvPr/>
            </p:nvSpPr>
            <p:spPr>
              <a:xfrm>
                <a:off x="5004" y="1029"/>
                <a:ext cx="144" cy="240"/>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193570" name="Oval 51"/>
              <p:cNvSpPr/>
              <p:nvPr/>
            </p:nvSpPr>
            <p:spPr>
              <a:xfrm>
                <a:off x="5145" y="1122"/>
                <a:ext cx="48" cy="48"/>
              </a:xfrm>
              <a:prstGeom prst="ellipse">
                <a:avLst/>
              </a:prstGeom>
              <a:no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sp>
          <p:nvSpPr>
            <p:cNvPr id="193557" name="Line 52"/>
            <p:cNvSpPr/>
            <p:nvPr/>
          </p:nvSpPr>
          <p:spPr>
            <a:xfrm>
              <a:off x="4320" y="672"/>
              <a:ext cx="144" cy="0"/>
            </a:xfrm>
            <a:prstGeom prst="line">
              <a:avLst/>
            </a:prstGeom>
            <a:ln w="9525" cap="flat" cmpd="sng">
              <a:solidFill>
                <a:schemeClr val="tx1"/>
              </a:solidFill>
              <a:prstDash val="solid"/>
              <a:headEnd type="none" w="med" len="med"/>
              <a:tailEnd type="none" w="med" len="med"/>
            </a:ln>
          </p:spPr>
        </p:sp>
        <p:sp>
          <p:nvSpPr>
            <p:cNvPr id="193558" name="Line 53"/>
            <p:cNvSpPr/>
            <p:nvPr/>
          </p:nvSpPr>
          <p:spPr>
            <a:xfrm>
              <a:off x="4320" y="816"/>
              <a:ext cx="144" cy="0"/>
            </a:xfrm>
            <a:prstGeom prst="line">
              <a:avLst/>
            </a:prstGeom>
            <a:ln w="9525" cap="flat" cmpd="sng">
              <a:solidFill>
                <a:schemeClr val="tx1"/>
              </a:solidFill>
              <a:prstDash val="solid"/>
              <a:headEnd type="none" w="med" len="med"/>
              <a:tailEnd type="none" w="med" len="med"/>
            </a:ln>
          </p:spPr>
        </p:sp>
        <p:sp>
          <p:nvSpPr>
            <p:cNvPr id="193559" name="Line 54"/>
            <p:cNvSpPr/>
            <p:nvPr/>
          </p:nvSpPr>
          <p:spPr>
            <a:xfrm>
              <a:off x="4320" y="1104"/>
              <a:ext cx="144" cy="0"/>
            </a:xfrm>
            <a:prstGeom prst="line">
              <a:avLst/>
            </a:prstGeom>
            <a:ln w="9525" cap="flat" cmpd="sng">
              <a:solidFill>
                <a:schemeClr val="tx1"/>
              </a:solidFill>
              <a:prstDash val="solid"/>
              <a:headEnd type="none" w="med" len="med"/>
              <a:tailEnd type="none" w="med" len="med"/>
            </a:ln>
          </p:spPr>
        </p:sp>
        <p:sp>
          <p:nvSpPr>
            <p:cNvPr id="193560" name="Line 55"/>
            <p:cNvSpPr/>
            <p:nvPr/>
          </p:nvSpPr>
          <p:spPr>
            <a:xfrm>
              <a:off x="4320" y="1248"/>
              <a:ext cx="144" cy="0"/>
            </a:xfrm>
            <a:prstGeom prst="line">
              <a:avLst/>
            </a:prstGeom>
            <a:ln w="9525" cap="flat" cmpd="sng">
              <a:solidFill>
                <a:schemeClr val="tx1"/>
              </a:solidFill>
              <a:prstDash val="solid"/>
              <a:headEnd type="none" w="med" len="med"/>
              <a:tailEnd type="none" w="med" len="med"/>
            </a:ln>
          </p:spPr>
        </p:sp>
        <p:sp>
          <p:nvSpPr>
            <p:cNvPr id="193561" name="Text Box 56"/>
            <p:cNvSpPr txBox="1"/>
            <p:nvPr/>
          </p:nvSpPr>
          <p:spPr>
            <a:xfrm>
              <a:off x="4128" y="576"/>
              <a:ext cx="288" cy="786"/>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A</a:t>
              </a:r>
            </a:p>
            <a:p>
              <a:pPr algn="just">
                <a:lnSpc>
                  <a:spcPct val="80000"/>
                </a:lnSpc>
                <a:spcBef>
                  <a:spcPct val="50000"/>
                </a:spcBef>
              </a:pPr>
              <a:r>
                <a:rPr lang="en-US" altLang="zh-CN" sz="1600" dirty="0">
                  <a:solidFill>
                    <a:schemeClr val="tx1"/>
                  </a:solidFill>
                  <a:latin typeface="Arial" panose="020B0604020202020204" pitchFamily="34" charset="0"/>
                </a:rPr>
                <a:t>B</a:t>
              </a:r>
            </a:p>
            <a:p>
              <a:pPr algn="just">
                <a:lnSpc>
                  <a:spcPct val="80000"/>
                </a:lnSpc>
                <a:spcBef>
                  <a:spcPct val="50000"/>
                </a:spcBef>
              </a:pPr>
              <a:r>
                <a:rPr lang="en-US" altLang="zh-CN" sz="1600" dirty="0">
                  <a:solidFill>
                    <a:schemeClr val="tx1"/>
                  </a:solidFill>
                  <a:latin typeface="Arial" panose="020B0604020202020204" pitchFamily="34" charset="0"/>
                </a:rPr>
                <a:t>C</a:t>
              </a:r>
            </a:p>
            <a:p>
              <a:pPr algn="just">
                <a:lnSpc>
                  <a:spcPct val="80000"/>
                </a:lnSpc>
                <a:spcBef>
                  <a:spcPct val="50000"/>
                </a:spcBef>
              </a:pPr>
              <a:r>
                <a:rPr lang="en-US" altLang="zh-CN" sz="1600" dirty="0">
                  <a:solidFill>
                    <a:schemeClr val="tx1"/>
                  </a:solidFill>
                  <a:latin typeface="Arial" panose="020B0604020202020204" pitchFamily="34" charset="0"/>
                </a:rPr>
                <a:t>D</a:t>
              </a:r>
              <a:endParaRPr lang="en-US" altLang="zh-CN" sz="2000" dirty="0">
                <a:solidFill>
                  <a:schemeClr val="tx1"/>
                </a:solidFill>
                <a:latin typeface="Arial" panose="020B0604020202020204" pitchFamily="34" charset="0"/>
              </a:endParaRPr>
            </a:p>
          </p:txBody>
        </p:sp>
        <p:sp>
          <p:nvSpPr>
            <p:cNvPr id="193562" name="Line 57"/>
            <p:cNvSpPr/>
            <p:nvPr/>
          </p:nvSpPr>
          <p:spPr>
            <a:xfrm flipH="1">
              <a:off x="5136" y="1152"/>
              <a:ext cx="48" cy="0"/>
            </a:xfrm>
            <a:prstGeom prst="line">
              <a:avLst/>
            </a:prstGeom>
            <a:ln w="9525" cap="flat" cmpd="sng">
              <a:solidFill>
                <a:schemeClr val="tx1"/>
              </a:solidFill>
              <a:prstDash val="solid"/>
              <a:headEnd type="none" w="med" len="med"/>
              <a:tailEnd type="none" w="med" len="med"/>
            </a:ln>
          </p:spPr>
        </p:sp>
        <p:sp>
          <p:nvSpPr>
            <p:cNvPr id="193563" name="Line 58"/>
            <p:cNvSpPr/>
            <p:nvPr/>
          </p:nvSpPr>
          <p:spPr>
            <a:xfrm flipV="1">
              <a:off x="5136" y="960"/>
              <a:ext cx="0" cy="192"/>
            </a:xfrm>
            <a:prstGeom prst="line">
              <a:avLst/>
            </a:prstGeom>
            <a:ln w="9525" cap="flat" cmpd="sng">
              <a:solidFill>
                <a:schemeClr val="tx1"/>
              </a:solidFill>
              <a:prstDash val="solid"/>
              <a:headEnd type="none" w="med" len="med"/>
              <a:tailEnd type="none" w="med" len="med"/>
            </a:ln>
          </p:spPr>
        </p:sp>
        <p:sp>
          <p:nvSpPr>
            <p:cNvPr id="193564" name="Oval 59"/>
            <p:cNvSpPr/>
            <p:nvPr/>
          </p:nvSpPr>
          <p:spPr>
            <a:xfrm>
              <a:off x="5109" y="912"/>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193565" name="Line 60"/>
            <p:cNvSpPr/>
            <p:nvPr/>
          </p:nvSpPr>
          <p:spPr>
            <a:xfrm>
              <a:off x="5376" y="1152"/>
              <a:ext cx="144" cy="0"/>
            </a:xfrm>
            <a:prstGeom prst="line">
              <a:avLst/>
            </a:prstGeom>
            <a:ln w="9525" cap="flat" cmpd="sng">
              <a:solidFill>
                <a:schemeClr val="tx1"/>
              </a:solidFill>
              <a:prstDash val="solid"/>
              <a:headEnd type="none" w="med" len="med"/>
              <a:tailEnd type="none" w="med" len="med"/>
            </a:ln>
          </p:spPr>
        </p:sp>
        <p:sp>
          <p:nvSpPr>
            <p:cNvPr id="193566" name="Text Box 61"/>
            <p:cNvSpPr txBox="1"/>
            <p:nvPr/>
          </p:nvSpPr>
          <p:spPr>
            <a:xfrm>
              <a:off x="5328" y="755"/>
              <a:ext cx="336" cy="156"/>
            </a:xfrm>
            <a:prstGeom prst="rect">
              <a:avLst/>
            </a:prstGeom>
            <a:noFill/>
            <a:ln w="9525">
              <a:noFill/>
            </a:ln>
          </p:spPr>
          <p:txBody>
            <a:bodyPr>
              <a:spAutoFit/>
            </a:bodyPr>
            <a:lstStyle/>
            <a:p>
              <a:pPr algn="just">
                <a:lnSpc>
                  <a:spcPct val="64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en-US" altLang="zh-CN" sz="1600" dirty="0">
                <a:solidFill>
                  <a:schemeClr val="tx1"/>
                </a:solidFill>
                <a:latin typeface="Arial" panose="020B0604020202020204" pitchFamily="34" charset="0"/>
              </a:endParaRPr>
            </a:p>
          </p:txBody>
        </p:sp>
        <p:sp>
          <p:nvSpPr>
            <p:cNvPr id="193567" name="Text Box 62"/>
            <p:cNvSpPr txBox="1"/>
            <p:nvPr/>
          </p:nvSpPr>
          <p:spPr>
            <a:xfrm>
              <a:off x="5328" y="1187"/>
              <a:ext cx="336" cy="156"/>
            </a:xfrm>
            <a:prstGeom prst="rect">
              <a:avLst/>
            </a:prstGeom>
            <a:noFill/>
            <a:ln w="9525">
              <a:noFill/>
            </a:ln>
          </p:spPr>
          <p:txBody>
            <a:bodyPr>
              <a:spAutoFit/>
            </a:bodyPr>
            <a:lstStyle/>
            <a:p>
              <a:pPr algn="just">
                <a:lnSpc>
                  <a:spcPct val="64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grpSp>
      <p:sp>
        <p:nvSpPr>
          <p:cNvPr id="383041" name="Rectangle 65"/>
          <p:cNvSpPr/>
          <p:nvPr/>
        </p:nvSpPr>
        <p:spPr>
          <a:xfrm>
            <a:off x="2354104" y="4389438"/>
            <a:ext cx="1452880" cy="368300"/>
          </a:xfrm>
          <a:prstGeom prst="rect">
            <a:avLst/>
          </a:prstGeom>
          <a:noFill/>
          <a:ln w="9525">
            <a:noFill/>
          </a:ln>
        </p:spPr>
        <p:txBody>
          <a:bodyPr wrap="none">
            <a:spAutoFit/>
          </a:bodyPr>
          <a:lstStyle/>
          <a:p>
            <a:pPr algn="dist" eaLnBrk="1" hangingPunct="1">
              <a:lnSpc>
                <a:spcPct val="90000"/>
              </a:lnSpc>
            </a:pPr>
            <a:r>
              <a:rPr lang="zh-CN" altLang="en-US" sz="2000" dirty="0">
                <a:solidFill>
                  <a:srgbClr val="CC3300"/>
                </a:solidFill>
                <a:latin typeface="Times New Roman" panose="02020603050405020304" pitchFamily="18" charset="0"/>
                <a:ea typeface="楷体_GB2312" pitchFamily="49" charset="-122"/>
              </a:rPr>
              <a:t>判奇输出端</a:t>
            </a:r>
          </a:p>
        </p:txBody>
      </p:sp>
      <p:sp>
        <p:nvSpPr>
          <p:cNvPr id="383042" name="Rectangle 66"/>
          <p:cNvSpPr/>
          <p:nvPr/>
        </p:nvSpPr>
        <p:spPr>
          <a:xfrm>
            <a:off x="2381091" y="5165725"/>
            <a:ext cx="1452880" cy="368300"/>
          </a:xfrm>
          <a:prstGeom prst="rect">
            <a:avLst/>
          </a:prstGeom>
          <a:noFill/>
          <a:ln w="9525">
            <a:noFill/>
          </a:ln>
        </p:spPr>
        <p:txBody>
          <a:bodyPr wrap="none">
            <a:spAutoFit/>
          </a:bodyPr>
          <a:lstStyle/>
          <a:p>
            <a:pPr algn="dist" eaLnBrk="1" hangingPunct="1">
              <a:lnSpc>
                <a:spcPct val="90000"/>
              </a:lnSpc>
            </a:pPr>
            <a:r>
              <a:rPr lang="zh-CN" altLang="en-US" sz="2000" dirty="0">
                <a:solidFill>
                  <a:srgbClr val="CC3300"/>
                </a:solidFill>
                <a:latin typeface="Times New Roman" panose="02020603050405020304" pitchFamily="18" charset="0"/>
                <a:ea typeface="楷体_GB2312" pitchFamily="49" charset="-122"/>
              </a:rPr>
              <a:t>判偶输出端</a:t>
            </a:r>
          </a:p>
        </p:txBody>
      </p:sp>
    </p:spTree>
  </p:cSld>
  <p:clrMapOvr>
    <a:masterClrMapping/>
  </p:clrMapOvr>
  <p:transition spd="med">
    <p:blinds dir="vert"/>
    <p:sndAc>
      <p:stSnd>
        <p:snd r:embed="rId4"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83041"/>
                                        </p:tgtEl>
                                        <p:attrNameLst>
                                          <p:attrName>style.visibility</p:attrName>
                                        </p:attrNameLst>
                                      </p:cBhvr>
                                      <p:to>
                                        <p:strVal val="visible"/>
                                      </p:to>
                                    </p:set>
                                    <p:anim calcmode="lin" valueType="num">
                                      <p:cBhvr>
                                        <p:cTn id="7" dur="500" fill="hold"/>
                                        <p:tgtEl>
                                          <p:spTgt spid="383041"/>
                                        </p:tgtEl>
                                        <p:attrNameLst>
                                          <p:attrName>ppt_w</p:attrName>
                                        </p:attrNameLst>
                                      </p:cBhvr>
                                      <p:tavLst>
                                        <p:tav tm="0">
                                          <p:val>
                                            <p:fltVal val="0"/>
                                          </p:val>
                                        </p:tav>
                                        <p:tav tm="100000">
                                          <p:val>
                                            <p:strVal val="#ppt_w"/>
                                          </p:val>
                                        </p:tav>
                                      </p:tavLst>
                                    </p:anim>
                                    <p:anim calcmode="lin" valueType="num">
                                      <p:cBhvr>
                                        <p:cTn id="8" dur="500" fill="hold"/>
                                        <p:tgtEl>
                                          <p:spTgt spid="383041"/>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83005"/>
                                        </p:tgtEl>
                                        <p:attrNameLst>
                                          <p:attrName>style.visibility</p:attrName>
                                        </p:attrNameLst>
                                      </p:cBhvr>
                                      <p:to>
                                        <p:strVal val="visible"/>
                                      </p:to>
                                    </p:set>
                                    <p:anim calcmode="lin" valueType="num">
                                      <p:cBhvr additive="base">
                                        <p:cTn id="12" dur="500" fill="hold"/>
                                        <p:tgtEl>
                                          <p:spTgt spid="383005"/>
                                        </p:tgtEl>
                                        <p:attrNameLst>
                                          <p:attrName>ppt_x</p:attrName>
                                        </p:attrNameLst>
                                      </p:cBhvr>
                                      <p:tavLst>
                                        <p:tav tm="0">
                                          <p:val>
                                            <p:strVal val="#ppt_x"/>
                                          </p:val>
                                        </p:tav>
                                        <p:tav tm="100000">
                                          <p:val>
                                            <p:strVal val="#ppt_x"/>
                                          </p:val>
                                        </p:tav>
                                      </p:tavLst>
                                    </p:anim>
                                    <p:anim calcmode="lin" valueType="num">
                                      <p:cBhvr additive="base">
                                        <p:cTn id="13" dur="500" fill="hold"/>
                                        <p:tgtEl>
                                          <p:spTgt spid="38300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383042"/>
                                        </p:tgtEl>
                                        <p:attrNameLst>
                                          <p:attrName>style.visibility</p:attrName>
                                        </p:attrNameLst>
                                      </p:cBhvr>
                                      <p:to>
                                        <p:strVal val="visible"/>
                                      </p:to>
                                    </p:set>
                                    <p:anim calcmode="lin" valueType="num">
                                      <p:cBhvr>
                                        <p:cTn id="18" dur="500" fill="hold"/>
                                        <p:tgtEl>
                                          <p:spTgt spid="383042"/>
                                        </p:tgtEl>
                                        <p:attrNameLst>
                                          <p:attrName>ppt_w</p:attrName>
                                        </p:attrNameLst>
                                      </p:cBhvr>
                                      <p:tavLst>
                                        <p:tav tm="0">
                                          <p:val>
                                            <p:fltVal val="0"/>
                                          </p:val>
                                        </p:tav>
                                        <p:tav tm="100000">
                                          <p:val>
                                            <p:strVal val="#ppt_w"/>
                                          </p:val>
                                        </p:tav>
                                      </p:tavLst>
                                    </p:anim>
                                    <p:anim calcmode="lin" valueType="num">
                                      <p:cBhvr>
                                        <p:cTn id="19" dur="500" fill="hold"/>
                                        <p:tgtEl>
                                          <p:spTgt spid="383042"/>
                                        </p:tgtEl>
                                        <p:attrNameLst>
                                          <p:attrName>ppt_h</p:attrName>
                                        </p:attrNameLst>
                                      </p:cBhvr>
                                      <p:tavLst>
                                        <p:tav tm="0">
                                          <p:val>
                                            <p:fltVal val="0"/>
                                          </p:val>
                                        </p:tav>
                                        <p:tav tm="100000">
                                          <p:val>
                                            <p:strVal val="#ppt_h"/>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383039"/>
                                        </p:tgtEl>
                                        <p:attrNameLst>
                                          <p:attrName>style.visibility</p:attrName>
                                        </p:attrNameLst>
                                      </p:cBhvr>
                                      <p:to>
                                        <p:strVal val="visible"/>
                                      </p:to>
                                    </p:set>
                                    <p:anim calcmode="lin" valueType="num">
                                      <p:cBhvr additive="base">
                                        <p:cTn id="23" dur="500" fill="hold"/>
                                        <p:tgtEl>
                                          <p:spTgt spid="383039"/>
                                        </p:tgtEl>
                                        <p:attrNameLst>
                                          <p:attrName>ppt_x</p:attrName>
                                        </p:attrNameLst>
                                      </p:cBhvr>
                                      <p:tavLst>
                                        <p:tav tm="0">
                                          <p:val>
                                            <p:strVal val="#ppt_x"/>
                                          </p:val>
                                        </p:tav>
                                        <p:tav tm="100000">
                                          <p:val>
                                            <p:strVal val="#ppt_x"/>
                                          </p:val>
                                        </p:tav>
                                      </p:tavLst>
                                    </p:anim>
                                    <p:anim calcmode="lin" valueType="num">
                                      <p:cBhvr additive="base">
                                        <p:cTn id="24" dur="500" fill="hold"/>
                                        <p:tgtEl>
                                          <p:spTgt spid="38303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1+#ppt_w/2"/>
                                          </p:val>
                                        </p:tav>
                                        <p:tav tm="100000">
                                          <p:val>
                                            <p:strVal val="#ppt_x"/>
                                          </p:val>
                                        </p:tav>
                                      </p:tavLst>
                                    </p:anim>
                                    <p:anim calcmode="lin" valueType="num">
                                      <p:cBhvr additive="base">
                                        <p:cTn id="30"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3041" grpId="0"/>
      <p:bldP spid="3830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p:cNvSpPr>
          <p:nvPr>
            <p:ph type="title"/>
          </p:nvPr>
        </p:nvSpPr>
        <p:spPr>
          <a:xfrm>
            <a:off x="2894013" y="455613"/>
            <a:ext cx="6858000"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“模</a:t>
            </a:r>
            <a:r>
              <a:rPr lang="en-US" altLang="zh-CN" dirty="0">
                <a:latin typeface="Arial" panose="020B0604020202020204" pitchFamily="34" charset="0"/>
                <a:ea typeface="黑体" panose="02010609060101010101" pitchFamily="49" charset="-122"/>
              </a:rPr>
              <a:t>2</a:t>
            </a:r>
            <a:r>
              <a:rPr lang="zh-CN" altLang="en-US" dirty="0">
                <a:latin typeface="Arial" panose="020B0604020202020204" pitchFamily="34" charset="0"/>
                <a:ea typeface="黑体" panose="02010609060101010101" pitchFamily="49" charset="-122"/>
              </a:rPr>
              <a:t>加”运算</a:t>
            </a:r>
          </a:p>
        </p:txBody>
      </p:sp>
      <p:sp>
        <p:nvSpPr>
          <p:cNvPr id="195587"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28</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304192" name="Rectangle 64"/>
          <p:cNvSpPr/>
          <p:nvPr/>
        </p:nvSpPr>
        <p:spPr>
          <a:xfrm>
            <a:off x="2894013" y="1571625"/>
            <a:ext cx="6503987" cy="2330450"/>
          </a:xfrm>
          <a:prstGeom prst="rect">
            <a:avLst/>
          </a:prstGeom>
          <a:solidFill>
            <a:srgbClr val="FFFFCC"/>
          </a:solidFill>
          <a:ln w="9525">
            <a:noFill/>
          </a:ln>
          <a:effectLst>
            <a:prstShdw prst="shdw13" dist="53882" dir="13499999">
              <a:schemeClr val="bg2">
                <a:alpha val="50000"/>
              </a:schemeClr>
            </a:prstShdw>
          </a:effectLst>
        </p:spPr>
        <p:txBody>
          <a:bodyPr>
            <a:spAutoFit/>
          </a:bodyPr>
          <a:lstStyle/>
          <a:p>
            <a:pPr marL="357505" indent="-357505" eaLnBrk="1" hangingPunct="1">
              <a:lnSpc>
                <a:spcPct val="90000"/>
              </a:lnSpc>
              <a:buClr>
                <a:srgbClr val="006666"/>
              </a:buClr>
              <a:buSzPct val="110000"/>
              <a:buFont typeface="Wingdings" panose="05000000000000000000" pitchFamily="2" charset="2"/>
              <a:buChar char="w"/>
            </a:pPr>
            <a:r>
              <a:rPr lang="zh-CN" altLang="en-US" dirty="0">
                <a:solidFill>
                  <a:schemeClr val="tx1"/>
                </a:solidFill>
                <a:latin typeface="Arial" panose="020B0604020202020204" pitchFamily="34" charset="0"/>
                <a:ea typeface="楷体_GB2312" pitchFamily="49" charset="-122"/>
              </a:rPr>
              <a:t>奇偶校验器一般由</a:t>
            </a:r>
            <a:r>
              <a:rPr lang="zh-CN" altLang="en-US" dirty="0">
                <a:solidFill>
                  <a:srgbClr val="CC0066"/>
                </a:solidFill>
                <a:latin typeface="Arial" panose="020B0604020202020204" pitchFamily="34" charset="0"/>
                <a:ea typeface="楷体_GB2312" pitchFamily="49" charset="-122"/>
              </a:rPr>
              <a:t>异或门</a:t>
            </a:r>
            <a:r>
              <a:rPr lang="zh-CN" altLang="en-US" dirty="0">
                <a:solidFill>
                  <a:schemeClr val="tx1"/>
                </a:solidFill>
                <a:latin typeface="Arial" panose="020B0604020202020204" pitchFamily="34" charset="0"/>
                <a:ea typeface="楷体_GB2312" pitchFamily="49" charset="-122"/>
              </a:rPr>
              <a:t>构成，异或运算也称为“</a:t>
            </a:r>
            <a:r>
              <a:rPr lang="zh-CN" altLang="en-US" dirty="0">
                <a:solidFill>
                  <a:srgbClr val="FF0000"/>
                </a:solidFill>
                <a:latin typeface="Arial" panose="020B0604020202020204" pitchFamily="34" charset="0"/>
                <a:ea typeface="楷体_GB2312" pitchFamily="49" charset="-122"/>
              </a:rPr>
              <a:t>模</a:t>
            </a:r>
            <a:r>
              <a:rPr lang="en-US" altLang="zh-CN" dirty="0">
                <a:solidFill>
                  <a:srgbClr val="FF0000"/>
                </a:solidFill>
                <a:latin typeface="Arial" panose="020B0604020202020204" pitchFamily="34" charset="0"/>
                <a:ea typeface="楷体_GB2312" pitchFamily="49" charset="-122"/>
              </a:rPr>
              <a:t>2</a:t>
            </a:r>
            <a:r>
              <a:rPr lang="zh-CN" altLang="en-US" dirty="0">
                <a:solidFill>
                  <a:srgbClr val="FF0000"/>
                </a:solidFill>
                <a:latin typeface="Arial" panose="020B0604020202020204" pitchFamily="34" charset="0"/>
                <a:ea typeface="楷体_GB2312" pitchFamily="49" charset="-122"/>
              </a:rPr>
              <a:t>加</a:t>
            </a:r>
            <a:r>
              <a:rPr lang="zh-CN" altLang="en-US" dirty="0">
                <a:solidFill>
                  <a:schemeClr val="tx1"/>
                </a:solidFill>
                <a:latin typeface="Arial" panose="020B0604020202020204" pitchFamily="34" charset="0"/>
                <a:ea typeface="楷体_GB2312" pitchFamily="49" charset="-122"/>
              </a:rPr>
              <a:t>”运算</a:t>
            </a:r>
            <a:r>
              <a:rPr lang="en-US" altLang="zh-CN" dirty="0">
                <a:solidFill>
                  <a:schemeClr val="tx1"/>
                </a:solidFill>
                <a:latin typeface="Arial" panose="020B0604020202020204" pitchFamily="34" charset="0"/>
                <a:ea typeface="楷体_GB2312" pitchFamily="49" charset="-122"/>
              </a:rPr>
              <a:t>——</a:t>
            </a:r>
            <a:r>
              <a:rPr lang="zh-CN" altLang="en-US" dirty="0">
                <a:solidFill>
                  <a:schemeClr val="tx1"/>
                </a:solidFill>
                <a:latin typeface="Arial" panose="020B0604020202020204" pitchFamily="34" charset="0"/>
                <a:ea typeface="楷体_GB2312" pitchFamily="49" charset="-122"/>
              </a:rPr>
              <a:t>只考虑两个二进制数相加后的算术和，而不考虑它们的进位</a:t>
            </a:r>
            <a:r>
              <a:rPr lang="zh-CN" altLang="en-US" dirty="0">
                <a:solidFill>
                  <a:schemeClr val="tx1"/>
                </a:solidFill>
                <a:latin typeface="Times New Roman" panose="02020603050405020304" pitchFamily="18" charset="0"/>
              </a:rPr>
              <a:t>。</a:t>
            </a:r>
          </a:p>
          <a:p>
            <a:pPr marL="357505" indent="-357505" eaLnBrk="1" hangingPunct="1">
              <a:lnSpc>
                <a:spcPct val="90000"/>
              </a:lnSpc>
              <a:buClr>
                <a:srgbClr val="006666"/>
              </a:buClr>
              <a:buSzPct val="110000"/>
              <a:buFont typeface="Wingdings" panose="05000000000000000000" pitchFamily="2" charset="2"/>
              <a:buChar char="w"/>
            </a:pPr>
            <a:r>
              <a:rPr lang="zh-CN" altLang="en-US" dirty="0">
                <a:solidFill>
                  <a:schemeClr val="tx1"/>
                </a:solidFill>
                <a:latin typeface="Arial" panose="020B0604020202020204" pitchFamily="34" charset="0"/>
                <a:ea typeface="楷体_GB2312" pitchFamily="49" charset="-122"/>
              </a:rPr>
              <a:t>当两个（</a:t>
            </a:r>
            <a:r>
              <a:rPr lang="en-US" altLang="zh-CN" dirty="0">
                <a:solidFill>
                  <a:schemeClr val="tx1"/>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位）二进制数“模</a:t>
            </a:r>
            <a:r>
              <a:rPr lang="en-US" altLang="zh-CN" dirty="0">
                <a:solidFill>
                  <a:schemeClr val="tx1"/>
                </a:solidFill>
                <a:latin typeface="Arial" panose="020B0604020202020204" pitchFamily="34" charset="0"/>
                <a:ea typeface="楷体_GB2312" pitchFamily="49" charset="-122"/>
              </a:rPr>
              <a:t>2</a:t>
            </a:r>
            <a:r>
              <a:rPr lang="zh-CN" altLang="en-US" dirty="0">
                <a:solidFill>
                  <a:schemeClr val="tx1"/>
                </a:solidFill>
                <a:latin typeface="Arial" panose="020B0604020202020204" pitchFamily="34" charset="0"/>
                <a:ea typeface="楷体_GB2312" pitchFamily="49" charset="-122"/>
              </a:rPr>
              <a:t>加”时，若和为</a:t>
            </a:r>
            <a:r>
              <a:rPr lang="en-US" altLang="zh-CN" dirty="0">
                <a:solidFill>
                  <a:schemeClr val="tx1"/>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，表示两个数中有奇数个“</a:t>
            </a:r>
            <a:r>
              <a:rPr lang="en-US" altLang="zh-CN" dirty="0">
                <a:solidFill>
                  <a:schemeClr val="tx1"/>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；若和为</a:t>
            </a:r>
            <a:r>
              <a:rPr lang="en-US" altLang="zh-CN" dirty="0">
                <a:solidFill>
                  <a:schemeClr val="tx1"/>
                </a:solidFill>
                <a:latin typeface="Arial" panose="020B0604020202020204" pitchFamily="34" charset="0"/>
                <a:ea typeface="楷体_GB2312" pitchFamily="49" charset="-122"/>
              </a:rPr>
              <a:t>0</a:t>
            </a:r>
            <a:r>
              <a:rPr lang="zh-CN" altLang="en-US" dirty="0">
                <a:solidFill>
                  <a:schemeClr val="tx1"/>
                </a:solidFill>
                <a:latin typeface="Arial" panose="020B0604020202020204" pitchFamily="34" charset="0"/>
                <a:ea typeface="楷体_GB2312" pitchFamily="49" charset="-122"/>
              </a:rPr>
              <a:t>，表示有偶数个“</a:t>
            </a:r>
            <a:r>
              <a:rPr lang="en-US" altLang="zh-CN" dirty="0">
                <a:solidFill>
                  <a:schemeClr val="tx1"/>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a:t>
            </a:r>
          </a:p>
          <a:p>
            <a:pPr marL="357505" indent="-357505" eaLnBrk="1" hangingPunct="1">
              <a:lnSpc>
                <a:spcPct val="90000"/>
              </a:lnSpc>
              <a:buClr>
                <a:srgbClr val="006666"/>
              </a:buClr>
              <a:buSzPct val="110000"/>
              <a:buFont typeface="Wingdings" panose="05000000000000000000" pitchFamily="2" charset="2"/>
              <a:buChar char="w"/>
            </a:pPr>
            <a:r>
              <a:rPr lang="zh-CN" altLang="en-US" dirty="0">
                <a:solidFill>
                  <a:schemeClr val="tx1"/>
                </a:solidFill>
                <a:latin typeface="Arial" panose="020B0604020202020204" pitchFamily="34" charset="0"/>
                <a:ea typeface="楷体_GB2312" pitchFamily="49" charset="-122"/>
              </a:rPr>
              <a:t>同理，当</a:t>
            </a:r>
            <a:r>
              <a:rPr lang="en-US" altLang="zh-CN" dirty="0">
                <a:solidFill>
                  <a:srgbClr val="CC0066"/>
                </a:solidFill>
                <a:latin typeface="Arial" panose="020B0604020202020204" pitchFamily="34" charset="0"/>
                <a:ea typeface="楷体_GB2312" pitchFamily="49" charset="-122"/>
              </a:rPr>
              <a:t>n</a:t>
            </a:r>
            <a:r>
              <a:rPr lang="zh-CN" altLang="en-US" dirty="0">
                <a:solidFill>
                  <a:schemeClr val="tx1"/>
                </a:solidFill>
                <a:latin typeface="Arial" panose="020B0604020202020204" pitchFamily="34" charset="0"/>
                <a:ea typeface="楷体_GB2312" pitchFamily="49" charset="-122"/>
              </a:rPr>
              <a:t>个（</a:t>
            </a:r>
            <a:r>
              <a:rPr lang="en-US" altLang="zh-CN" dirty="0">
                <a:solidFill>
                  <a:schemeClr val="tx1"/>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位）二进制数“模</a:t>
            </a:r>
            <a:r>
              <a:rPr lang="en-US" altLang="zh-CN" dirty="0">
                <a:solidFill>
                  <a:schemeClr val="tx1"/>
                </a:solidFill>
                <a:latin typeface="Arial" panose="020B0604020202020204" pitchFamily="34" charset="0"/>
                <a:ea typeface="楷体_GB2312" pitchFamily="49" charset="-122"/>
              </a:rPr>
              <a:t>2</a:t>
            </a:r>
            <a:r>
              <a:rPr lang="zh-CN" altLang="en-US" dirty="0">
                <a:solidFill>
                  <a:schemeClr val="tx1"/>
                </a:solidFill>
                <a:latin typeface="Arial" panose="020B0604020202020204" pitchFamily="34" charset="0"/>
                <a:ea typeface="楷体_GB2312" pitchFamily="49" charset="-122"/>
              </a:rPr>
              <a:t>加”时，若</a:t>
            </a:r>
            <a:r>
              <a:rPr lang="zh-CN" altLang="en-US" dirty="0">
                <a:solidFill>
                  <a:srgbClr val="CC0066"/>
                </a:solidFill>
                <a:latin typeface="Arial" panose="020B0604020202020204" pitchFamily="34" charset="0"/>
                <a:ea typeface="楷体_GB2312" pitchFamily="49" charset="-122"/>
              </a:rPr>
              <a:t>和为</a:t>
            </a:r>
            <a:r>
              <a:rPr lang="en-US" altLang="zh-CN" dirty="0">
                <a:solidFill>
                  <a:srgbClr val="CC0066"/>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，表示</a:t>
            </a:r>
            <a:r>
              <a:rPr lang="en-US" altLang="zh-CN" dirty="0">
                <a:solidFill>
                  <a:schemeClr val="tx1"/>
                </a:solidFill>
                <a:latin typeface="Arial" panose="020B0604020202020204" pitchFamily="34" charset="0"/>
                <a:ea typeface="楷体_GB2312" pitchFamily="49" charset="-122"/>
              </a:rPr>
              <a:t>n</a:t>
            </a:r>
            <a:r>
              <a:rPr lang="zh-CN" altLang="en-US" dirty="0">
                <a:solidFill>
                  <a:schemeClr val="tx1"/>
                </a:solidFill>
                <a:latin typeface="Arial" panose="020B0604020202020204" pitchFamily="34" charset="0"/>
                <a:ea typeface="楷体_GB2312" pitchFamily="49" charset="-122"/>
              </a:rPr>
              <a:t>个数中有</a:t>
            </a:r>
            <a:r>
              <a:rPr lang="zh-CN" altLang="en-US" dirty="0">
                <a:solidFill>
                  <a:srgbClr val="CC0066"/>
                </a:solidFill>
                <a:latin typeface="Arial" panose="020B0604020202020204" pitchFamily="34" charset="0"/>
                <a:ea typeface="楷体_GB2312" pitchFamily="49" charset="-122"/>
              </a:rPr>
              <a:t>奇数个“</a:t>
            </a:r>
            <a:r>
              <a:rPr lang="en-US" altLang="zh-CN" dirty="0">
                <a:solidFill>
                  <a:srgbClr val="CC0066"/>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；若和为</a:t>
            </a:r>
            <a:r>
              <a:rPr lang="en-US" altLang="zh-CN" dirty="0">
                <a:solidFill>
                  <a:schemeClr val="tx1"/>
                </a:solidFill>
                <a:latin typeface="Arial" panose="020B0604020202020204" pitchFamily="34" charset="0"/>
                <a:ea typeface="楷体_GB2312" pitchFamily="49" charset="-122"/>
              </a:rPr>
              <a:t>0</a:t>
            </a:r>
            <a:r>
              <a:rPr lang="zh-CN" altLang="en-US" dirty="0">
                <a:solidFill>
                  <a:schemeClr val="tx1"/>
                </a:solidFill>
                <a:latin typeface="Arial" panose="020B0604020202020204" pitchFamily="34" charset="0"/>
                <a:ea typeface="楷体_GB2312" pitchFamily="49" charset="-122"/>
              </a:rPr>
              <a:t>，表示有偶数个“</a:t>
            </a:r>
            <a:r>
              <a:rPr lang="en-US" altLang="zh-CN" dirty="0">
                <a:solidFill>
                  <a:schemeClr val="tx1"/>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a:t>
            </a:r>
          </a:p>
          <a:p>
            <a:pPr marL="357505" indent="-357505" eaLnBrk="1" hangingPunct="1">
              <a:lnSpc>
                <a:spcPct val="90000"/>
              </a:lnSpc>
              <a:buClr>
                <a:srgbClr val="006666"/>
              </a:buClr>
              <a:buSzPct val="110000"/>
              <a:buFont typeface="Wingdings" panose="05000000000000000000" pitchFamily="2" charset="2"/>
              <a:buChar char="w"/>
            </a:pPr>
            <a:r>
              <a:rPr lang="zh-CN" altLang="en-US" dirty="0">
                <a:solidFill>
                  <a:schemeClr val="tx1"/>
                </a:solidFill>
                <a:latin typeface="Arial" panose="020B0604020202020204" pitchFamily="34" charset="0"/>
                <a:ea typeface="楷体_GB2312" pitchFamily="49" charset="-122"/>
              </a:rPr>
              <a:t>如果数据的位数较多，则可用塔状级联的异或门构成奇偶校验器。</a:t>
            </a: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04192">
                                            <p:txEl>
                                              <p:pRg st="0" end="0"/>
                                            </p:txEl>
                                          </p:spTgt>
                                        </p:tgtEl>
                                        <p:attrNameLst>
                                          <p:attrName>style.visibility</p:attrName>
                                        </p:attrNameLst>
                                      </p:cBhvr>
                                      <p:to>
                                        <p:strVal val="visible"/>
                                      </p:to>
                                    </p:set>
                                    <p:anim calcmode="lin" valueType="num">
                                      <p:cBhvr additive="base">
                                        <p:cTn id="7" dur="500" fill="hold"/>
                                        <p:tgtEl>
                                          <p:spTgt spid="30419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0419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04192">
                                            <p:txEl>
                                              <p:pRg st="1" end="1"/>
                                            </p:txEl>
                                          </p:spTgt>
                                        </p:tgtEl>
                                        <p:attrNameLst>
                                          <p:attrName>style.visibility</p:attrName>
                                        </p:attrNameLst>
                                      </p:cBhvr>
                                      <p:to>
                                        <p:strVal val="visible"/>
                                      </p:to>
                                    </p:set>
                                    <p:anim calcmode="lin" valueType="num">
                                      <p:cBhvr additive="base">
                                        <p:cTn id="13" dur="500" fill="hold"/>
                                        <p:tgtEl>
                                          <p:spTgt spid="30419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0419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4192">
                                            <p:txEl>
                                              <p:pRg st="2" end="2"/>
                                            </p:txEl>
                                          </p:spTgt>
                                        </p:tgtEl>
                                        <p:attrNameLst>
                                          <p:attrName>style.visibility</p:attrName>
                                        </p:attrNameLst>
                                      </p:cBhvr>
                                      <p:to>
                                        <p:strVal val="visible"/>
                                      </p:to>
                                    </p:set>
                                    <p:anim calcmode="lin" valueType="num">
                                      <p:cBhvr additive="base">
                                        <p:cTn id="19" dur="500" fill="hold"/>
                                        <p:tgtEl>
                                          <p:spTgt spid="30419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0419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04192">
                                            <p:txEl>
                                              <p:pRg st="3" end="3"/>
                                            </p:txEl>
                                          </p:spTgt>
                                        </p:tgtEl>
                                        <p:attrNameLst>
                                          <p:attrName>style.visibility</p:attrName>
                                        </p:attrNameLst>
                                      </p:cBhvr>
                                      <p:to>
                                        <p:strVal val="visible"/>
                                      </p:to>
                                    </p:set>
                                    <p:anim calcmode="lin" valueType="num">
                                      <p:cBhvr additive="base">
                                        <p:cTn id="25" dur="500" fill="hold"/>
                                        <p:tgtEl>
                                          <p:spTgt spid="30419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0419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9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p:cNvSpPr>
          <p:nvPr>
            <p:ph type="title"/>
          </p:nvPr>
        </p:nvSpPr>
        <p:spPr/>
        <p:txBody>
          <a:bodyPr vert="horz" wrap="square" lIns="91440" tIns="45720" rIns="91440" bIns="45720" anchor="ctr" anchorCtr="0"/>
          <a:lstStyle/>
          <a:p>
            <a:r>
              <a:rPr lang="en-US" altLang="zh-CN" dirty="0">
                <a:latin typeface="Arial" panose="020B0604020202020204" pitchFamily="34" charset="0"/>
                <a:ea typeface="黑体" panose="02010609060101010101" pitchFamily="49" charset="-122"/>
              </a:rPr>
              <a:t>8</a:t>
            </a:r>
            <a:r>
              <a:rPr lang="zh-CN" altLang="en-US" dirty="0">
                <a:latin typeface="Arial" panose="020B0604020202020204" pitchFamily="34" charset="0"/>
                <a:ea typeface="黑体" panose="02010609060101010101" pitchFamily="49" charset="-122"/>
              </a:rPr>
              <a:t>位奇偶校验器</a:t>
            </a:r>
          </a:p>
        </p:txBody>
      </p:sp>
      <p:graphicFrame>
        <p:nvGraphicFramePr>
          <p:cNvPr id="158915" name="Object 195"/>
          <p:cNvGraphicFramePr>
            <a:graphicFrameLocks noGrp="1" noChangeAspect="1"/>
          </p:cNvGraphicFramePr>
          <p:nvPr>
            <p:ph idx="1"/>
          </p:nvPr>
        </p:nvGraphicFramePr>
        <p:xfrm>
          <a:off x="2798763" y="5264150"/>
          <a:ext cx="4986337" cy="493713"/>
        </p:xfrm>
        <a:graphic>
          <a:graphicData uri="http://schemas.openxmlformats.org/presentationml/2006/ole">
            <mc:AlternateContent xmlns:mc="http://schemas.openxmlformats.org/markup-compatibility/2006">
              <mc:Choice xmlns:v="urn:schemas-microsoft-com:vml" Requires="v">
                <p:oleObj spid="_x0000_s22531" r:id="rId5" imgW="2565400" imgH="254000" progId="Equation.3">
                  <p:embed/>
                </p:oleObj>
              </mc:Choice>
              <mc:Fallback>
                <p:oleObj r:id="rId5" imgW="2565400" imgH="254000" progId="Equation.3">
                  <p:embed/>
                  <p:pic>
                    <p:nvPicPr>
                      <p:cNvPr id="0" name="图片 3169"/>
                      <p:cNvPicPr/>
                      <p:nvPr/>
                    </p:nvPicPr>
                    <p:blipFill>
                      <a:blip r:embed="rId6"/>
                      <a:srcRect/>
                      <a:stretch>
                        <a:fillRect/>
                      </a:stretch>
                    </p:blipFill>
                    <p:spPr>
                      <a:xfrm>
                        <a:off x="2798763" y="5264150"/>
                        <a:ext cx="4986337" cy="493713"/>
                      </a:xfrm>
                      <a:prstGeom prst="rect">
                        <a:avLst/>
                      </a:prstGeom>
                      <a:solidFill>
                        <a:srgbClr val="FFFFBD">
                          <a:alpha val="100000"/>
                        </a:srgbClr>
                      </a:solidFill>
                      <a:ln w="38100">
                        <a:miter/>
                      </a:ln>
                      <a:effectLst>
                        <a:prstShdw prst="shdw13" dist="53882" dir="13499999">
                          <a:srgbClr val="808080">
                            <a:alpha val="50000"/>
                          </a:srgbClr>
                        </a:prstShdw>
                      </a:effectLst>
                    </p:spPr>
                  </p:pic>
                </p:oleObj>
              </mc:Fallback>
            </mc:AlternateContent>
          </a:graphicData>
        </a:graphic>
      </p:graphicFrame>
      <p:sp>
        <p:nvSpPr>
          <p:cNvPr id="197636" name="Rectangle 25"/>
          <p:cNvSpPr txBox="1">
            <a:spLocks noGrp="1"/>
          </p:cNvSpPr>
          <p:nvPr>
            <p:ph type="sldNum" sz="quarter" idx="12"/>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29</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197637" name="Text Box 4"/>
          <p:cNvSpPr txBox="1"/>
          <p:nvPr/>
        </p:nvSpPr>
        <p:spPr>
          <a:xfrm>
            <a:off x="2100263" y="1520825"/>
            <a:ext cx="2865437" cy="326390"/>
          </a:xfrm>
          <a:prstGeom prst="rect">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a:noFill/>
          </a:ln>
        </p:spPr>
        <p:txBody>
          <a:bodyPr>
            <a:spAutoFit/>
          </a:bodyPr>
          <a:lstStyle/>
          <a:p>
            <a:pPr eaLnBrk="1" hangingPunct="1">
              <a:lnSpc>
                <a:spcPct val="85000"/>
              </a:lnSpc>
              <a:spcBef>
                <a:spcPct val="50000"/>
              </a:spcBef>
            </a:pPr>
            <a:r>
              <a:rPr lang="en-US" altLang="zh-CN" dirty="0">
                <a:solidFill>
                  <a:srgbClr val="990000"/>
                </a:solidFill>
                <a:latin typeface="Arial" panose="020B0604020202020204" pitchFamily="34" charset="0"/>
                <a:ea typeface="华文新魏" panose="02010800040101010101" pitchFamily="2" charset="-122"/>
              </a:rPr>
              <a:t>2</a:t>
            </a:r>
            <a:r>
              <a:rPr lang="zh-CN" altLang="en-US" dirty="0">
                <a:solidFill>
                  <a:srgbClr val="990000"/>
                </a:solidFill>
                <a:latin typeface="Times New Roman" panose="02020603050405020304" pitchFamily="18" charset="0"/>
                <a:ea typeface="华文新魏" panose="02010800040101010101" pitchFamily="2" charset="-122"/>
              </a:rPr>
              <a:t>、</a:t>
            </a:r>
            <a:r>
              <a:rPr lang="en-US" altLang="zh-CN" dirty="0">
                <a:solidFill>
                  <a:srgbClr val="990000"/>
                </a:solidFill>
                <a:latin typeface="Arial" panose="020B0604020202020204" pitchFamily="34" charset="0"/>
                <a:ea typeface="华文新魏" panose="02010800040101010101" pitchFamily="2" charset="-122"/>
              </a:rPr>
              <a:t>8</a:t>
            </a:r>
            <a:r>
              <a:rPr lang="zh-CN" altLang="en-US" dirty="0">
                <a:solidFill>
                  <a:srgbClr val="990000"/>
                </a:solidFill>
                <a:latin typeface="Times New Roman" panose="02020603050405020304" pitchFamily="18" charset="0"/>
                <a:ea typeface="华文新魏" panose="02010800040101010101" pitchFamily="2" charset="-122"/>
              </a:rPr>
              <a:t>位奇偶校验器</a:t>
            </a:r>
          </a:p>
        </p:txBody>
      </p:sp>
      <p:grpSp>
        <p:nvGrpSpPr>
          <p:cNvPr id="2" name="Group 65"/>
          <p:cNvGrpSpPr/>
          <p:nvPr/>
        </p:nvGrpSpPr>
        <p:grpSpPr>
          <a:xfrm>
            <a:off x="2457450" y="2173288"/>
            <a:ext cx="2667000" cy="2057400"/>
            <a:chOff x="3840" y="240"/>
            <a:chExt cx="1680" cy="1296"/>
          </a:xfrm>
        </p:grpSpPr>
        <p:sp>
          <p:nvSpPr>
            <p:cNvPr id="197706" name="Text Box 66"/>
            <p:cNvSpPr txBox="1"/>
            <p:nvPr/>
          </p:nvSpPr>
          <p:spPr>
            <a:xfrm>
              <a:off x="4430" y="384"/>
              <a:ext cx="500"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2k+1</a:t>
              </a:r>
            </a:p>
          </p:txBody>
        </p:sp>
        <p:sp>
          <p:nvSpPr>
            <p:cNvPr id="197707" name="Rectangle 67"/>
            <p:cNvSpPr/>
            <p:nvPr/>
          </p:nvSpPr>
          <p:spPr>
            <a:xfrm>
              <a:off x="4294" y="240"/>
              <a:ext cx="636" cy="129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197708" name="Line 68"/>
            <p:cNvSpPr/>
            <p:nvPr/>
          </p:nvSpPr>
          <p:spPr>
            <a:xfrm>
              <a:off x="4067" y="384"/>
              <a:ext cx="227" cy="0"/>
            </a:xfrm>
            <a:prstGeom prst="line">
              <a:avLst/>
            </a:prstGeom>
            <a:ln w="9525" cap="flat" cmpd="sng">
              <a:solidFill>
                <a:schemeClr val="tx1"/>
              </a:solidFill>
              <a:prstDash val="solid"/>
              <a:headEnd type="none" w="med" len="med"/>
              <a:tailEnd type="none" w="med" len="med"/>
            </a:ln>
          </p:spPr>
        </p:sp>
        <p:sp>
          <p:nvSpPr>
            <p:cNvPr id="197709" name="Line 69"/>
            <p:cNvSpPr/>
            <p:nvPr/>
          </p:nvSpPr>
          <p:spPr>
            <a:xfrm>
              <a:off x="4067" y="528"/>
              <a:ext cx="227" cy="0"/>
            </a:xfrm>
            <a:prstGeom prst="line">
              <a:avLst/>
            </a:prstGeom>
            <a:ln w="9525" cap="flat" cmpd="sng">
              <a:solidFill>
                <a:schemeClr val="tx1"/>
              </a:solidFill>
              <a:prstDash val="solid"/>
              <a:headEnd type="none" w="med" len="med"/>
              <a:tailEnd type="none" w="med" len="med"/>
            </a:ln>
          </p:spPr>
        </p:sp>
        <p:sp>
          <p:nvSpPr>
            <p:cNvPr id="197710" name="Line 70"/>
            <p:cNvSpPr/>
            <p:nvPr/>
          </p:nvSpPr>
          <p:spPr>
            <a:xfrm>
              <a:off x="4067" y="645"/>
              <a:ext cx="227" cy="0"/>
            </a:xfrm>
            <a:prstGeom prst="line">
              <a:avLst/>
            </a:prstGeom>
            <a:ln w="9525" cap="flat" cmpd="sng">
              <a:solidFill>
                <a:schemeClr val="tx1"/>
              </a:solidFill>
              <a:prstDash val="solid"/>
              <a:headEnd type="none" w="med" len="med"/>
              <a:tailEnd type="none" w="med" len="med"/>
            </a:ln>
          </p:spPr>
        </p:sp>
        <p:sp>
          <p:nvSpPr>
            <p:cNvPr id="197711" name="Line 71"/>
            <p:cNvSpPr/>
            <p:nvPr/>
          </p:nvSpPr>
          <p:spPr>
            <a:xfrm>
              <a:off x="4067" y="789"/>
              <a:ext cx="227" cy="0"/>
            </a:xfrm>
            <a:prstGeom prst="line">
              <a:avLst/>
            </a:prstGeom>
            <a:ln w="9525" cap="flat" cmpd="sng">
              <a:solidFill>
                <a:schemeClr val="tx1"/>
              </a:solidFill>
              <a:prstDash val="solid"/>
              <a:headEnd type="none" w="med" len="med"/>
              <a:tailEnd type="none" w="med" len="med"/>
            </a:ln>
          </p:spPr>
        </p:sp>
        <p:sp>
          <p:nvSpPr>
            <p:cNvPr id="197712" name="Text Box 72"/>
            <p:cNvSpPr txBox="1"/>
            <p:nvPr/>
          </p:nvSpPr>
          <p:spPr>
            <a:xfrm>
              <a:off x="3840" y="288"/>
              <a:ext cx="227" cy="1182"/>
            </a:xfrm>
            <a:prstGeom prst="rect">
              <a:avLst/>
            </a:prstGeom>
            <a:noFill/>
            <a:ln w="9525">
              <a:noFill/>
            </a:ln>
          </p:spPr>
          <p:txBody>
            <a:bodyPr>
              <a:spAutoFit/>
            </a:bodyPr>
            <a:lstStyle/>
            <a:p>
              <a:pPr algn="just">
                <a:lnSpc>
                  <a:spcPct val="60000"/>
                </a:lnSpc>
                <a:spcBef>
                  <a:spcPct val="50000"/>
                </a:spcBef>
              </a:pPr>
              <a:r>
                <a:rPr lang="en-US" altLang="zh-CN" sz="1400" dirty="0">
                  <a:solidFill>
                    <a:schemeClr val="tx1"/>
                  </a:solidFill>
                  <a:latin typeface="Arial" panose="020B0604020202020204" pitchFamily="34" charset="0"/>
                </a:rPr>
                <a:t>A</a:t>
              </a:r>
            </a:p>
            <a:p>
              <a:pPr algn="just">
                <a:lnSpc>
                  <a:spcPct val="60000"/>
                </a:lnSpc>
                <a:spcBef>
                  <a:spcPct val="50000"/>
                </a:spcBef>
              </a:pPr>
              <a:r>
                <a:rPr lang="en-US" altLang="zh-CN" sz="1400" dirty="0">
                  <a:solidFill>
                    <a:schemeClr val="tx1"/>
                  </a:solidFill>
                  <a:latin typeface="Arial" panose="020B0604020202020204" pitchFamily="34" charset="0"/>
                </a:rPr>
                <a:t>B</a:t>
              </a:r>
            </a:p>
            <a:p>
              <a:pPr algn="just">
                <a:lnSpc>
                  <a:spcPct val="60000"/>
                </a:lnSpc>
                <a:spcBef>
                  <a:spcPct val="50000"/>
                </a:spcBef>
              </a:pPr>
              <a:r>
                <a:rPr lang="en-US" altLang="zh-CN" sz="1400" dirty="0">
                  <a:solidFill>
                    <a:schemeClr val="tx1"/>
                  </a:solidFill>
                  <a:latin typeface="Arial" panose="020B0604020202020204" pitchFamily="34" charset="0"/>
                </a:rPr>
                <a:t>C</a:t>
              </a:r>
            </a:p>
            <a:p>
              <a:pPr algn="just">
                <a:lnSpc>
                  <a:spcPct val="60000"/>
                </a:lnSpc>
                <a:spcBef>
                  <a:spcPct val="50000"/>
                </a:spcBef>
              </a:pPr>
              <a:r>
                <a:rPr lang="en-US" altLang="zh-CN" sz="1400" dirty="0">
                  <a:solidFill>
                    <a:schemeClr val="tx1"/>
                  </a:solidFill>
                  <a:latin typeface="Arial" panose="020B0604020202020204" pitchFamily="34" charset="0"/>
                </a:rPr>
                <a:t>D</a:t>
              </a:r>
            </a:p>
            <a:p>
              <a:pPr algn="just">
                <a:lnSpc>
                  <a:spcPct val="60000"/>
                </a:lnSpc>
                <a:spcBef>
                  <a:spcPct val="50000"/>
                </a:spcBef>
              </a:pPr>
              <a:r>
                <a:rPr lang="en-US" altLang="zh-CN" sz="1400" dirty="0">
                  <a:solidFill>
                    <a:schemeClr val="tx1"/>
                  </a:solidFill>
                  <a:latin typeface="Arial" panose="020B0604020202020204" pitchFamily="34" charset="0"/>
                </a:rPr>
                <a:t>E</a:t>
              </a:r>
            </a:p>
            <a:p>
              <a:pPr algn="just">
                <a:lnSpc>
                  <a:spcPct val="60000"/>
                </a:lnSpc>
                <a:spcBef>
                  <a:spcPct val="50000"/>
                </a:spcBef>
              </a:pPr>
              <a:r>
                <a:rPr lang="en-US" altLang="zh-CN" sz="1400" dirty="0">
                  <a:solidFill>
                    <a:schemeClr val="tx1"/>
                  </a:solidFill>
                  <a:latin typeface="Arial" panose="020B0604020202020204" pitchFamily="34" charset="0"/>
                </a:rPr>
                <a:t>F</a:t>
              </a:r>
            </a:p>
            <a:p>
              <a:pPr algn="just">
                <a:lnSpc>
                  <a:spcPct val="60000"/>
                </a:lnSpc>
                <a:spcBef>
                  <a:spcPct val="50000"/>
                </a:spcBef>
              </a:pPr>
              <a:r>
                <a:rPr lang="en-US" altLang="zh-CN" sz="1400" dirty="0">
                  <a:solidFill>
                    <a:schemeClr val="tx1"/>
                  </a:solidFill>
                  <a:latin typeface="Arial" panose="020B0604020202020204" pitchFamily="34" charset="0"/>
                </a:rPr>
                <a:t>G</a:t>
              </a:r>
            </a:p>
            <a:p>
              <a:pPr algn="just">
                <a:lnSpc>
                  <a:spcPct val="60000"/>
                </a:lnSpc>
                <a:spcBef>
                  <a:spcPct val="50000"/>
                </a:spcBef>
              </a:pPr>
              <a:r>
                <a:rPr lang="en-US" altLang="zh-CN" sz="1400" dirty="0">
                  <a:solidFill>
                    <a:schemeClr val="tx1"/>
                  </a:solidFill>
                  <a:latin typeface="Arial" panose="020B0604020202020204" pitchFamily="34" charset="0"/>
                </a:rPr>
                <a:t>H</a:t>
              </a:r>
            </a:p>
          </p:txBody>
        </p:sp>
        <p:sp>
          <p:nvSpPr>
            <p:cNvPr id="197713" name="Text Box 73"/>
            <p:cNvSpPr txBox="1"/>
            <p:nvPr/>
          </p:nvSpPr>
          <p:spPr>
            <a:xfrm>
              <a:off x="5111" y="443"/>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en-US" altLang="zh-CN" sz="1600" dirty="0">
                <a:solidFill>
                  <a:schemeClr val="tx1"/>
                </a:solidFill>
                <a:latin typeface="Arial" panose="020B0604020202020204" pitchFamily="34" charset="0"/>
              </a:endParaRPr>
            </a:p>
          </p:txBody>
        </p:sp>
        <p:sp>
          <p:nvSpPr>
            <p:cNvPr id="197714" name="Text Box 74"/>
            <p:cNvSpPr txBox="1"/>
            <p:nvPr/>
          </p:nvSpPr>
          <p:spPr>
            <a:xfrm>
              <a:off x="5111" y="731"/>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sp>
          <p:nvSpPr>
            <p:cNvPr id="197715" name="Line 75"/>
            <p:cNvSpPr/>
            <p:nvPr/>
          </p:nvSpPr>
          <p:spPr>
            <a:xfrm>
              <a:off x="4930" y="528"/>
              <a:ext cx="181" cy="0"/>
            </a:xfrm>
            <a:prstGeom prst="line">
              <a:avLst/>
            </a:prstGeom>
            <a:ln w="9525" cap="flat" cmpd="sng">
              <a:solidFill>
                <a:schemeClr val="tx1"/>
              </a:solidFill>
              <a:prstDash val="solid"/>
              <a:headEnd type="none" w="med" len="med"/>
              <a:tailEnd type="none" w="med" len="med"/>
            </a:ln>
          </p:spPr>
        </p:sp>
        <p:sp>
          <p:nvSpPr>
            <p:cNvPr id="197716" name="Line 76"/>
            <p:cNvSpPr/>
            <p:nvPr/>
          </p:nvSpPr>
          <p:spPr>
            <a:xfrm>
              <a:off x="4930" y="816"/>
              <a:ext cx="181" cy="0"/>
            </a:xfrm>
            <a:prstGeom prst="line">
              <a:avLst/>
            </a:prstGeom>
            <a:ln w="9525" cap="flat" cmpd="sng">
              <a:solidFill>
                <a:schemeClr val="tx1"/>
              </a:solidFill>
              <a:prstDash val="solid"/>
              <a:headEnd type="none" w="med" len="med"/>
              <a:tailEnd type="none" w="med" len="med"/>
            </a:ln>
          </p:spPr>
        </p:sp>
        <p:sp>
          <p:nvSpPr>
            <p:cNvPr id="197717" name="Line 77"/>
            <p:cNvSpPr/>
            <p:nvPr/>
          </p:nvSpPr>
          <p:spPr>
            <a:xfrm>
              <a:off x="4062" y="918"/>
              <a:ext cx="227" cy="0"/>
            </a:xfrm>
            <a:prstGeom prst="line">
              <a:avLst/>
            </a:prstGeom>
            <a:ln w="9525" cap="flat" cmpd="sng">
              <a:solidFill>
                <a:schemeClr val="tx1"/>
              </a:solidFill>
              <a:prstDash val="solid"/>
              <a:headEnd type="none" w="med" len="med"/>
              <a:tailEnd type="none" w="med" len="med"/>
            </a:ln>
          </p:spPr>
        </p:sp>
        <p:sp>
          <p:nvSpPr>
            <p:cNvPr id="197718" name="Line 78"/>
            <p:cNvSpPr/>
            <p:nvPr/>
          </p:nvSpPr>
          <p:spPr>
            <a:xfrm>
              <a:off x="4062" y="1218"/>
              <a:ext cx="227" cy="0"/>
            </a:xfrm>
            <a:prstGeom prst="line">
              <a:avLst/>
            </a:prstGeom>
            <a:ln w="9525" cap="flat" cmpd="sng">
              <a:solidFill>
                <a:schemeClr val="tx1"/>
              </a:solidFill>
              <a:prstDash val="solid"/>
              <a:headEnd type="none" w="med" len="med"/>
              <a:tailEnd type="none" w="med" len="med"/>
            </a:ln>
          </p:spPr>
        </p:sp>
        <p:sp>
          <p:nvSpPr>
            <p:cNvPr id="197719" name="Line 79"/>
            <p:cNvSpPr/>
            <p:nvPr/>
          </p:nvSpPr>
          <p:spPr>
            <a:xfrm>
              <a:off x="4062" y="1344"/>
              <a:ext cx="227" cy="0"/>
            </a:xfrm>
            <a:prstGeom prst="line">
              <a:avLst/>
            </a:prstGeom>
            <a:ln w="9525" cap="flat" cmpd="sng">
              <a:solidFill>
                <a:schemeClr val="tx1"/>
              </a:solidFill>
              <a:prstDash val="solid"/>
              <a:headEnd type="none" w="med" len="med"/>
              <a:tailEnd type="none" w="med" len="med"/>
            </a:ln>
          </p:spPr>
        </p:sp>
        <p:sp>
          <p:nvSpPr>
            <p:cNvPr id="197720" name="Line 80"/>
            <p:cNvSpPr/>
            <p:nvPr/>
          </p:nvSpPr>
          <p:spPr>
            <a:xfrm>
              <a:off x="4062" y="1065"/>
              <a:ext cx="227" cy="0"/>
            </a:xfrm>
            <a:prstGeom prst="line">
              <a:avLst/>
            </a:prstGeom>
            <a:ln w="9525" cap="flat" cmpd="sng">
              <a:solidFill>
                <a:schemeClr val="tx1"/>
              </a:solidFill>
              <a:prstDash val="solid"/>
              <a:headEnd type="none" w="med" len="med"/>
              <a:tailEnd type="none" w="med" len="med"/>
            </a:ln>
          </p:spPr>
        </p:sp>
      </p:grpSp>
      <p:graphicFrame>
        <p:nvGraphicFramePr>
          <p:cNvPr id="158801" name="Object 81"/>
          <p:cNvGraphicFramePr>
            <a:graphicFrameLocks noChangeAspect="1"/>
          </p:cNvGraphicFramePr>
          <p:nvPr/>
        </p:nvGraphicFramePr>
        <p:xfrm>
          <a:off x="2319338" y="4575175"/>
          <a:ext cx="6069012" cy="414338"/>
        </p:xfrm>
        <a:graphic>
          <a:graphicData uri="http://schemas.openxmlformats.org/presentationml/2006/ole">
            <mc:AlternateContent xmlns:mc="http://schemas.openxmlformats.org/markup-compatibility/2006">
              <mc:Choice xmlns:v="urn:schemas-microsoft-com:vml" Requires="v">
                <p:oleObj spid="_x0000_s22532" r:id="rId7" imgW="2489200" imgH="228600" progId="Equation.3">
                  <p:embed/>
                </p:oleObj>
              </mc:Choice>
              <mc:Fallback>
                <p:oleObj r:id="rId7" imgW="2489200" imgH="228600" progId="Equation.3">
                  <p:embed/>
                  <p:pic>
                    <p:nvPicPr>
                      <p:cNvPr id="0" name="图片 3170"/>
                      <p:cNvPicPr/>
                      <p:nvPr/>
                    </p:nvPicPr>
                    <p:blipFill>
                      <a:blip r:embed="rId8"/>
                      <a:stretch>
                        <a:fillRect/>
                      </a:stretch>
                    </p:blipFill>
                    <p:spPr>
                      <a:xfrm>
                        <a:off x="2319338" y="4575175"/>
                        <a:ext cx="6069012" cy="414338"/>
                      </a:xfrm>
                      <a:prstGeom prst="rect">
                        <a:avLst/>
                      </a:prstGeom>
                      <a:solidFill>
                        <a:srgbClr val="FFFFBD"/>
                      </a:solidFill>
                      <a:ln w="38100">
                        <a:noFill/>
                        <a:miter/>
                      </a:ln>
                      <a:effectLst>
                        <a:prstShdw prst="shdw13" dist="53882" dir="13499999">
                          <a:srgbClr val="808080">
                            <a:alpha val="50000"/>
                          </a:srgbClr>
                        </a:prstShdw>
                      </a:effectLst>
                    </p:spPr>
                  </p:pic>
                </p:oleObj>
              </mc:Fallback>
            </mc:AlternateContent>
          </a:graphicData>
        </a:graphic>
      </p:graphicFrame>
      <p:grpSp>
        <p:nvGrpSpPr>
          <p:cNvPr id="3" name="Group 197"/>
          <p:cNvGrpSpPr/>
          <p:nvPr/>
        </p:nvGrpSpPr>
        <p:grpSpPr>
          <a:xfrm>
            <a:off x="6559550" y="1893888"/>
            <a:ext cx="3279775" cy="2243138"/>
            <a:chOff x="3172" y="917"/>
            <a:chExt cx="2066" cy="1413"/>
          </a:xfrm>
        </p:grpSpPr>
        <p:grpSp>
          <p:nvGrpSpPr>
            <p:cNvPr id="197641" name="Group 84"/>
            <p:cNvGrpSpPr/>
            <p:nvPr/>
          </p:nvGrpSpPr>
          <p:grpSpPr>
            <a:xfrm>
              <a:off x="3534" y="968"/>
              <a:ext cx="259" cy="276"/>
              <a:chOff x="4272" y="576"/>
              <a:chExt cx="240" cy="336"/>
            </a:xfrm>
          </p:grpSpPr>
          <p:sp>
            <p:nvSpPr>
              <p:cNvPr id="197704" name="Text Box 85"/>
              <p:cNvSpPr txBox="1"/>
              <p:nvPr/>
            </p:nvSpPr>
            <p:spPr>
              <a:xfrm>
                <a:off x="4272" y="671"/>
                <a:ext cx="240" cy="176"/>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705" name="Rectangle 86"/>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7642" name="Group 87"/>
            <p:cNvGrpSpPr/>
            <p:nvPr/>
          </p:nvGrpSpPr>
          <p:grpSpPr>
            <a:xfrm>
              <a:off x="3544" y="1323"/>
              <a:ext cx="259" cy="276"/>
              <a:chOff x="4272" y="576"/>
              <a:chExt cx="240" cy="336"/>
            </a:xfrm>
          </p:grpSpPr>
          <p:sp>
            <p:nvSpPr>
              <p:cNvPr id="197702" name="Text Box 88"/>
              <p:cNvSpPr txBox="1"/>
              <p:nvPr/>
            </p:nvSpPr>
            <p:spPr>
              <a:xfrm>
                <a:off x="4272" y="671"/>
                <a:ext cx="240" cy="176"/>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703" name="Rectangle 89"/>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7643" name="Group 90"/>
            <p:cNvGrpSpPr/>
            <p:nvPr/>
          </p:nvGrpSpPr>
          <p:grpSpPr>
            <a:xfrm>
              <a:off x="3947" y="1126"/>
              <a:ext cx="259" cy="276"/>
              <a:chOff x="4272" y="576"/>
              <a:chExt cx="240" cy="336"/>
            </a:xfrm>
          </p:grpSpPr>
          <p:sp>
            <p:nvSpPr>
              <p:cNvPr id="197700" name="Text Box 91"/>
              <p:cNvSpPr txBox="1"/>
              <p:nvPr/>
            </p:nvSpPr>
            <p:spPr>
              <a:xfrm>
                <a:off x="4272" y="671"/>
                <a:ext cx="240" cy="176"/>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701" name="Rectangle 92"/>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7644" name="Group 93"/>
            <p:cNvGrpSpPr/>
            <p:nvPr/>
          </p:nvGrpSpPr>
          <p:grpSpPr>
            <a:xfrm>
              <a:off x="3741" y="1126"/>
              <a:ext cx="207" cy="79"/>
              <a:chOff x="4464" y="768"/>
              <a:chExt cx="192" cy="144"/>
            </a:xfrm>
          </p:grpSpPr>
          <p:sp>
            <p:nvSpPr>
              <p:cNvPr id="197697" name="Line 94"/>
              <p:cNvSpPr/>
              <p:nvPr/>
            </p:nvSpPr>
            <p:spPr>
              <a:xfrm>
                <a:off x="4464" y="768"/>
                <a:ext cx="96" cy="0"/>
              </a:xfrm>
              <a:prstGeom prst="line">
                <a:avLst/>
              </a:prstGeom>
              <a:ln w="9525" cap="flat" cmpd="sng">
                <a:solidFill>
                  <a:schemeClr val="tx1"/>
                </a:solidFill>
                <a:prstDash val="solid"/>
                <a:headEnd type="none" w="med" len="med"/>
                <a:tailEnd type="none" w="med" len="med"/>
              </a:ln>
            </p:spPr>
          </p:sp>
          <p:sp>
            <p:nvSpPr>
              <p:cNvPr id="197698" name="Line 95"/>
              <p:cNvSpPr/>
              <p:nvPr/>
            </p:nvSpPr>
            <p:spPr>
              <a:xfrm>
                <a:off x="4560" y="768"/>
                <a:ext cx="0" cy="144"/>
              </a:xfrm>
              <a:prstGeom prst="line">
                <a:avLst/>
              </a:prstGeom>
              <a:ln w="9525" cap="flat" cmpd="sng">
                <a:solidFill>
                  <a:schemeClr val="tx1"/>
                </a:solidFill>
                <a:prstDash val="solid"/>
                <a:headEnd type="none" w="med" len="med"/>
                <a:tailEnd type="none" w="med" len="med"/>
              </a:ln>
            </p:spPr>
          </p:sp>
          <p:sp>
            <p:nvSpPr>
              <p:cNvPr id="197699" name="Line 96"/>
              <p:cNvSpPr/>
              <p:nvPr/>
            </p:nvSpPr>
            <p:spPr>
              <a:xfrm>
                <a:off x="4560" y="912"/>
                <a:ext cx="96" cy="0"/>
              </a:xfrm>
              <a:prstGeom prst="line">
                <a:avLst/>
              </a:prstGeom>
              <a:ln w="9525" cap="flat" cmpd="sng">
                <a:solidFill>
                  <a:schemeClr val="tx1"/>
                </a:solidFill>
                <a:prstDash val="solid"/>
                <a:headEnd type="none" w="med" len="med"/>
                <a:tailEnd type="none" w="med" len="med"/>
              </a:ln>
            </p:spPr>
          </p:sp>
        </p:grpSp>
        <p:sp>
          <p:nvSpPr>
            <p:cNvPr id="197645" name="Line 97"/>
            <p:cNvSpPr/>
            <p:nvPr/>
          </p:nvSpPr>
          <p:spPr>
            <a:xfrm flipH="1">
              <a:off x="3844" y="1323"/>
              <a:ext cx="104" cy="1"/>
            </a:xfrm>
            <a:prstGeom prst="line">
              <a:avLst/>
            </a:prstGeom>
            <a:ln w="9525" cap="flat" cmpd="sng">
              <a:solidFill>
                <a:schemeClr val="tx1"/>
              </a:solidFill>
              <a:prstDash val="solid"/>
              <a:headEnd type="none" w="med" len="med"/>
              <a:tailEnd type="none" w="med" len="med"/>
            </a:ln>
          </p:spPr>
        </p:sp>
        <p:sp>
          <p:nvSpPr>
            <p:cNvPr id="197646" name="Line 98"/>
            <p:cNvSpPr/>
            <p:nvPr/>
          </p:nvSpPr>
          <p:spPr>
            <a:xfrm>
              <a:off x="3845" y="1323"/>
              <a:ext cx="0" cy="118"/>
            </a:xfrm>
            <a:prstGeom prst="line">
              <a:avLst/>
            </a:prstGeom>
            <a:ln w="9525" cap="flat" cmpd="sng">
              <a:solidFill>
                <a:schemeClr val="tx1"/>
              </a:solidFill>
              <a:prstDash val="solid"/>
              <a:headEnd type="none" w="med" len="med"/>
              <a:tailEnd type="none" w="med" len="med"/>
            </a:ln>
          </p:spPr>
        </p:sp>
        <p:sp>
          <p:nvSpPr>
            <p:cNvPr id="197647" name="Line 99"/>
            <p:cNvSpPr/>
            <p:nvPr/>
          </p:nvSpPr>
          <p:spPr>
            <a:xfrm flipH="1">
              <a:off x="3741" y="1441"/>
              <a:ext cx="104" cy="1"/>
            </a:xfrm>
            <a:prstGeom prst="line">
              <a:avLst/>
            </a:prstGeom>
            <a:ln w="9525" cap="flat" cmpd="sng">
              <a:solidFill>
                <a:schemeClr val="tx1"/>
              </a:solidFill>
              <a:prstDash val="solid"/>
              <a:headEnd type="none" w="med" len="med"/>
              <a:tailEnd type="none" w="med" len="med"/>
            </a:ln>
          </p:spPr>
        </p:sp>
        <p:sp>
          <p:nvSpPr>
            <p:cNvPr id="197648" name="Line 100"/>
            <p:cNvSpPr/>
            <p:nvPr/>
          </p:nvSpPr>
          <p:spPr>
            <a:xfrm>
              <a:off x="3379" y="1047"/>
              <a:ext cx="156" cy="1"/>
            </a:xfrm>
            <a:prstGeom prst="line">
              <a:avLst/>
            </a:prstGeom>
            <a:ln w="9525" cap="flat" cmpd="sng">
              <a:solidFill>
                <a:schemeClr val="tx1"/>
              </a:solidFill>
              <a:prstDash val="solid"/>
              <a:headEnd type="none" w="med" len="med"/>
              <a:tailEnd type="none" w="med" len="med"/>
            </a:ln>
          </p:spPr>
        </p:sp>
        <p:sp>
          <p:nvSpPr>
            <p:cNvPr id="197649" name="Line 101"/>
            <p:cNvSpPr/>
            <p:nvPr/>
          </p:nvSpPr>
          <p:spPr>
            <a:xfrm>
              <a:off x="3379" y="1165"/>
              <a:ext cx="156" cy="1"/>
            </a:xfrm>
            <a:prstGeom prst="line">
              <a:avLst/>
            </a:prstGeom>
            <a:ln w="9525" cap="flat" cmpd="sng">
              <a:solidFill>
                <a:schemeClr val="tx1"/>
              </a:solidFill>
              <a:prstDash val="solid"/>
              <a:headEnd type="none" w="med" len="med"/>
              <a:tailEnd type="none" w="med" len="med"/>
            </a:ln>
          </p:spPr>
        </p:sp>
        <p:sp>
          <p:nvSpPr>
            <p:cNvPr id="197650" name="Line 102"/>
            <p:cNvSpPr/>
            <p:nvPr/>
          </p:nvSpPr>
          <p:spPr>
            <a:xfrm>
              <a:off x="3379" y="1402"/>
              <a:ext cx="156" cy="1"/>
            </a:xfrm>
            <a:prstGeom prst="line">
              <a:avLst/>
            </a:prstGeom>
            <a:ln w="9525" cap="flat" cmpd="sng">
              <a:solidFill>
                <a:schemeClr val="tx1"/>
              </a:solidFill>
              <a:prstDash val="solid"/>
              <a:headEnd type="none" w="med" len="med"/>
              <a:tailEnd type="none" w="med" len="med"/>
            </a:ln>
          </p:spPr>
        </p:sp>
        <p:sp>
          <p:nvSpPr>
            <p:cNvPr id="197651" name="Line 103"/>
            <p:cNvSpPr/>
            <p:nvPr/>
          </p:nvSpPr>
          <p:spPr>
            <a:xfrm>
              <a:off x="3379" y="1520"/>
              <a:ext cx="156" cy="1"/>
            </a:xfrm>
            <a:prstGeom prst="line">
              <a:avLst/>
            </a:prstGeom>
            <a:ln w="9525" cap="flat" cmpd="sng">
              <a:solidFill>
                <a:schemeClr val="tx1"/>
              </a:solidFill>
              <a:prstDash val="solid"/>
              <a:headEnd type="none" w="med" len="med"/>
              <a:tailEnd type="none" w="med" len="med"/>
            </a:ln>
          </p:spPr>
        </p:sp>
        <p:sp>
          <p:nvSpPr>
            <p:cNvPr id="197652" name="Text Box 104"/>
            <p:cNvSpPr txBox="1"/>
            <p:nvPr/>
          </p:nvSpPr>
          <p:spPr>
            <a:xfrm>
              <a:off x="3172" y="917"/>
              <a:ext cx="312" cy="69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A</a:t>
              </a:r>
            </a:p>
            <a:p>
              <a:pPr algn="just">
                <a:lnSpc>
                  <a:spcPct val="80000"/>
                </a:lnSpc>
                <a:spcBef>
                  <a:spcPct val="50000"/>
                </a:spcBef>
              </a:pPr>
              <a:r>
                <a:rPr lang="en-US" altLang="zh-CN" sz="1600" dirty="0">
                  <a:solidFill>
                    <a:schemeClr val="tx1"/>
                  </a:solidFill>
                  <a:latin typeface="Arial" panose="020B0604020202020204" pitchFamily="34" charset="0"/>
                </a:rPr>
                <a:t>B</a:t>
              </a:r>
            </a:p>
            <a:p>
              <a:pPr algn="just">
                <a:lnSpc>
                  <a:spcPct val="80000"/>
                </a:lnSpc>
                <a:spcBef>
                  <a:spcPct val="20000"/>
                </a:spcBef>
              </a:pPr>
              <a:r>
                <a:rPr lang="en-US" altLang="zh-CN" sz="1600" dirty="0">
                  <a:solidFill>
                    <a:schemeClr val="tx1"/>
                  </a:solidFill>
                  <a:latin typeface="Arial" panose="020B0604020202020204" pitchFamily="34" charset="0"/>
                </a:rPr>
                <a:t>C</a:t>
              </a:r>
            </a:p>
            <a:p>
              <a:pPr algn="just">
                <a:lnSpc>
                  <a:spcPct val="80000"/>
                </a:lnSpc>
                <a:spcBef>
                  <a:spcPct val="20000"/>
                </a:spcBef>
              </a:pPr>
              <a:r>
                <a:rPr lang="en-US" altLang="zh-CN" sz="1600" dirty="0">
                  <a:solidFill>
                    <a:schemeClr val="tx1"/>
                  </a:solidFill>
                  <a:latin typeface="Arial" panose="020B0604020202020204" pitchFamily="34" charset="0"/>
                </a:rPr>
                <a:t>D</a:t>
              </a:r>
            </a:p>
          </p:txBody>
        </p:sp>
        <p:grpSp>
          <p:nvGrpSpPr>
            <p:cNvPr id="197653" name="Group 105"/>
            <p:cNvGrpSpPr/>
            <p:nvPr/>
          </p:nvGrpSpPr>
          <p:grpSpPr>
            <a:xfrm>
              <a:off x="4564" y="1481"/>
              <a:ext cx="674" cy="510"/>
              <a:chOff x="1392" y="1222"/>
              <a:chExt cx="624" cy="620"/>
            </a:xfrm>
          </p:grpSpPr>
          <p:sp>
            <p:nvSpPr>
              <p:cNvPr id="197686" name="Line 106"/>
              <p:cNvSpPr/>
              <p:nvPr/>
            </p:nvSpPr>
            <p:spPr>
              <a:xfrm>
                <a:off x="1392" y="1406"/>
                <a:ext cx="480" cy="0"/>
              </a:xfrm>
              <a:prstGeom prst="line">
                <a:avLst/>
              </a:prstGeom>
              <a:ln w="9525" cap="flat" cmpd="sng">
                <a:solidFill>
                  <a:schemeClr val="tx1"/>
                </a:solidFill>
                <a:prstDash val="solid"/>
                <a:headEnd type="none" w="med" len="med"/>
                <a:tailEnd type="none" w="med" len="med"/>
              </a:ln>
            </p:spPr>
          </p:sp>
          <p:grpSp>
            <p:nvGrpSpPr>
              <p:cNvPr id="197687" name="Group 107"/>
              <p:cNvGrpSpPr/>
              <p:nvPr/>
            </p:nvGrpSpPr>
            <p:grpSpPr>
              <a:xfrm>
                <a:off x="1536" y="1496"/>
                <a:ext cx="240" cy="250"/>
                <a:chOff x="4992" y="1029"/>
                <a:chExt cx="240" cy="250"/>
              </a:xfrm>
            </p:grpSpPr>
            <p:sp>
              <p:nvSpPr>
                <p:cNvPr id="197694" name="Text Box 108"/>
                <p:cNvSpPr txBox="1"/>
                <p:nvPr/>
              </p:nvSpPr>
              <p:spPr>
                <a:xfrm>
                  <a:off x="4992" y="1104"/>
                  <a:ext cx="240" cy="175"/>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695" name="Rectangle 109"/>
                <p:cNvSpPr/>
                <p:nvPr/>
              </p:nvSpPr>
              <p:spPr>
                <a:xfrm>
                  <a:off x="5004" y="1029"/>
                  <a:ext cx="144" cy="240"/>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197696" name="Oval 110"/>
                <p:cNvSpPr/>
                <p:nvPr/>
              </p:nvSpPr>
              <p:spPr>
                <a:xfrm>
                  <a:off x="5145" y="1122"/>
                  <a:ext cx="48" cy="48"/>
                </a:xfrm>
                <a:prstGeom prst="ellipse">
                  <a:avLst/>
                </a:prstGeom>
                <a:no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sp>
            <p:nvSpPr>
              <p:cNvPr id="197688" name="Line 111"/>
              <p:cNvSpPr/>
              <p:nvPr/>
            </p:nvSpPr>
            <p:spPr>
              <a:xfrm flipH="1">
                <a:off x="1488" y="1619"/>
                <a:ext cx="48" cy="0"/>
              </a:xfrm>
              <a:prstGeom prst="line">
                <a:avLst/>
              </a:prstGeom>
              <a:ln w="9525" cap="flat" cmpd="sng">
                <a:solidFill>
                  <a:schemeClr val="tx1"/>
                </a:solidFill>
                <a:prstDash val="solid"/>
                <a:headEnd type="none" w="med" len="med"/>
                <a:tailEnd type="none" w="med" len="med"/>
              </a:ln>
            </p:spPr>
          </p:sp>
          <p:sp>
            <p:nvSpPr>
              <p:cNvPr id="197689" name="Line 112"/>
              <p:cNvSpPr/>
              <p:nvPr/>
            </p:nvSpPr>
            <p:spPr>
              <a:xfrm flipV="1">
                <a:off x="1488" y="1427"/>
                <a:ext cx="0" cy="192"/>
              </a:xfrm>
              <a:prstGeom prst="line">
                <a:avLst/>
              </a:prstGeom>
              <a:ln w="9525" cap="flat" cmpd="sng">
                <a:solidFill>
                  <a:schemeClr val="tx1"/>
                </a:solidFill>
                <a:prstDash val="solid"/>
                <a:headEnd type="none" w="med" len="med"/>
                <a:tailEnd type="none" w="med" len="med"/>
              </a:ln>
            </p:spPr>
          </p:sp>
          <p:sp>
            <p:nvSpPr>
              <p:cNvPr id="197690" name="Oval 113"/>
              <p:cNvSpPr/>
              <p:nvPr/>
            </p:nvSpPr>
            <p:spPr>
              <a:xfrm>
                <a:off x="1461" y="1379"/>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197691" name="Line 114"/>
              <p:cNvSpPr/>
              <p:nvPr/>
            </p:nvSpPr>
            <p:spPr>
              <a:xfrm>
                <a:off x="1728" y="1619"/>
                <a:ext cx="144" cy="0"/>
              </a:xfrm>
              <a:prstGeom prst="line">
                <a:avLst/>
              </a:prstGeom>
              <a:ln w="9525" cap="flat" cmpd="sng">
                <a:solidFill>
                  <a:schemeClr val="tx1"/>
                </a:solidFill>
                <a:prstDash val="solid"/>
                <a:headEnd type="none" w="med" len="med"/>
                <a:tailEnd type="none" w="med" len="med"/>
              </a:ln>
            </p:spPr>
          </p:sp>
          <p:sp>
            <p:nvSpPr>
              <p:cNvPr id="197692" name="Text Box 115"/>
              <p:cNvSpPr txBox="1"/>
              <p:nvPr/>
            </p:nvSpPr>
            <p:spPr>
              <a:xfrm>
                <a:off x="1680" y="1222"/>
                <a:ext cx="336" cy="190"/>
              </a:xfrm>
              <a:prstGeom prst="rect">
                <a:avLst/>
              </a:prstGeom>
              <a:noFill/>
              <a:ln w="9525">
                <a:noFill/>
              </a:ln>
            </p:spPr>
            <p:txBody>
              <a:bodyPr>
                <a:spAutoFit/>
              </a:bodyPr>
              <a:lstStyle/>
              <a:p>
                <a:pPr algn="just">
                  <a:lnSpc>
                    <a:spcPct val="64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en-US" altLang="zh-CN" sz="1600" dirty="0">
                  <a:solidFill>
                    <a:schemeClr val="tx1"/>
                  </a:solidFill>
                  <a:latin typeface="Arial" panose="020B0604020202020204" pitchFamily="34" charset="0"/>
                </a:endParaRPr>
              </a:p>
            </p:txBody>
          </p:sp>
          <p:sp>
            <p:nvSpPr>
              <p:cNvPr id="197693" name="Text Box 116"/>
              <p:cNvSpPr txBox="1"/>
              <p:nvPr/>
            </p:nvSpPr>
            <p:spPr>
              <a:xfrm>
                <a:off x="1680" y="1652"/>
                <a:ext cx="336" cy="190"/>
              </a:xfrm>
              <a:prstGeom prst="rect">
                <a:avLst/>
              </a:prstGeom>
              <a:noFill/>
              <a:ln w="9525">
                <a:noFill/>
              </a:ln>
            </p:spPr>
            <p:txBody>
              <a:bodyPr>
                <a:spAutoFit/>
              </a:bodyPr>
              <a:lstStyle/>
              <a:p>
                <a:pPr algn="just">
                  <a:lnSpc>
                    <a:spcPct val="64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grpSp>
        <p:grpSp>
          <p:nvGrpSpPr>
            <p:cNvPr id="197654" name="Group 117"/>
            <p:cNvGrpSpPr/>
            <p:nvPr/>
          </p:nvGrpSpPr>
          <p:grpSpPr>
            <a:xfrm>
              <a:off x="3534" y="1679"/>
              <a:ext cx="259" cy="276"/>
              <a:chOff x="4272" y="576"/>
              <a:chExt cx="240" cy="336"/>
            </a:xfrm>
          </p:grpSpPr>
          <p:sp>
            <p:nvSpPr>
              <p:cNvPr id="197684" name="Text Box 118"/>
              <p:cNvSpPr txBox="1"/>
              <p:nvPr/>
            </p:nvSpPr>
            <p:spPr>
              <a:xfrm>
                <a:off x="4272" y="671"/>
                <a:ext cx="240" cy="176"/>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685" name="Rectangle 119"/>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7655" name="Group 120"/>
            <p:cNvGrpSpPr/>
            <p:nvPr/>
          </p:nvGrpSpPr>
          <p:grpSpPr>
            <a:xfrm>
              <a:off x="3544" y="2034"/>
              <a:ext cx="259" cy="276"/>
              <a:chOff x="4272" y="576"/>
              <a:chExt cx="240" cy="336"/>
            </a:xfrm>
          </p:grpSpPr>
          <p:sp>
            <p:nvSpPr>
              <p:cNvPr id="197682" name="Text Box 121"/>
              <p:cNvSpPr txBox="1"/>
              <p:nvPr/>
            </p:nvSpPr>
            <p:spPr>
              <a:xfrm>
                <a:off x="4272" y="671"/>
                <a:ext cx="240" cy="176"/>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683" name="Rectangle 122"/>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7656" name="Group 123"/>
            <p:cNvGrpSpPr/>
            <p:nvPr/>
          </p:nvGrpSpPr>
          <p:grpSpPr>
            <a:xfrm>
              <a:off x="3947" y="1836"/>
              <a:ext cx="259" cy="277"/>
              <a:chOff x="4272" y="576"/>
              <a:chExt cx="240" cy="336"/>
            </a:xfrm>
          </p:grpSpPr>
          <p:sp>
            <p:nvSpPr>
              <p:cNvPr id="197680" name="Text Box 124"/>
              <p:cNvSpPr txBox="1"/>
              <p:nvPr/>
            </p:nvSpPr>
            <p:spPr>
              <a:xfrm>
                <a:off x="4272" y="671"/>
                <a:ext cx="240" cy="175"/>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681" name="Rectangle 125"/>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7657" name="Group 126"/>
            <p:cNvGrpSpPr/>
            <p:nvPr/>
          </p:nvGrpSpPr>
          <p:grpSpPr>
            <a:xfrm>
              <a:off x="3741" y="1836"/>
              <a:ext cx="207" cy="79"/>
              <a:chOff x="4464" y="768"/>
              <a:chExt cx="192" cy="144"/>
            </a:xfrm>
          </p:grpSpPr>
          <p:sp>
            <p:nvSpPr>
              <p:cNvPr id="197677" name="Line 127"/>
              <p:cNvSpPr/>
              <p:nvPr/>
            </p:nvSpPr>
            <p:spPr>
              <a:xfrm>
                <a:off x="4464" y="768"/>
                <a:ext cx="96" cy="0"/>
              </a:xfrm>
              <a:prstGeom prst="line">
                <a:avLst/>
              </a:prstGeom>
              <a:ln w="9525" cap="flat" cmpd="sng">
                <a:solidFill>
                  <a:schemeClr val="tx1"/>
                </a:solidFill>
                <a:prstDash val="solid"/>
                <a:headEnd type="none" w="med" len="med"/>
                <a:tailEnd type="none" w="med" len="med"/>
              </a:ln>
            </p:spPr>
          </p:sp>
          <p:sp>
            <p:nvSpPr>
              <p:cNvPr id="197678" name="Line 128"/>
              <p:cNvSpPr/>
              <p:nvPr/>
            </p:nvSpPr>
            <p:spPr>
              <a:xfrm>
                <a:off x="4560" y="768"/>
                <a:ext cx="0" cy="144"/>
              </a:xfrm>
              <a:prstGeom prst="line">
                <a:avLst/>
              </a:prstGeom>
              <a:ln w="9525" cap="flat" cmpd="sng">
                <a:solidFill>
                  <a:schemeClr val="tx1"/>
                </a:solidFill>
                <a:prstDash val="solid"/>
                <a:headEnd type="none" w="med" len="med"/>
                <a:tailEnd type="none" w="med" len="med"/>
              </a:ln>
            </p:spPr>
          </p:sp>
          <p:sp>
            <p:nvSpPr>
              <p:cNvPr id="197679" name="Line 129"/>
              <p:cNvSpPr/>
              <p:nvPr/>
            </p:nvSpPr>
            <p:spPr>
              <a:xfrm>
                <a:off x="4560" y="912"/>
                <a:ext cx="96" cy="0"/>
              </a:xfrm>
              <a:prstGeom prst="line">
                <a:avLst/>
              </a:prstGeom>
              <a:ln w="9525" cap="flat" cmpd="sng">
                <a:solidFill>
                  <a:schemeClr val="tx1"/>
                </a:solidFill>
                <a:prstDash val="solid"/>
                <a:headEnd type="none" w="med" len="med"/>
                <a:tailEnd type="none" w="med" len="med"/>
              </a:ln>
            </p:spPr>
          </p:sp>
        </p:grpSp>
        <p:sp>
          <p:nvSpPr>
            <p:cNvPr id="197658" name="Line 130"/>
            <p:cNvSpPr/>
            <p:nvPr/>
          </p:nvSpPr>
          <p:spPr>
            <a:xfrm flipH="1">
              <a:off x="3844" y="2034"/>
              <a:ext cx="104" cy="1"/>
            </a:xfrm>
            <a:prstGeom prst="line">
              <a:avLst/>
            </a:prstGeom>
            <a:ln w="9525" cap="flat" cmpd="sng">
              <a:solidFill>
                <a:schemeClr val="tx1"/>
              </a:solidFill>
              <a:prstDash val="solid"/>
              <a:headEnd type="none" w="med" len="med"/>
              <a:tailEnd type="none" w="med" len="med"/>
            </a:ln>
          </p:spPr>
        </p:sp>
        <p:sp>
          <p:nvSpPr>
            <p:cNvPr id="197659" name="Line 131"/>
            <p:cNvSpPr/>
            <p:nvPr/>
          </p:nvSpPr>
          <p:spPr>
            <a:xfrm>
              <a:off x="3845" y="2034"/>
              <a:ext cx="0" cy="118"/>
            </a:xfrm>
            <a:prstGeom prst="line">
              <a:avLst/>
            </a:prstGeom>
            <a:ln w="9525" cap="flat" cmpd="sng">
              <a:solidFill>
                <a:schemeClr val="tx1"/>
              </a:solidFill>
              <a:prstDash val="solid"/>
              <a:headEnd type="none" w="med" len="med"/>
              <a:tailEnd type="none" w="med" len="med"/>
            </a:ln>
          </p:spPr>
        </p:sp>
        <p:sp>
          <p:nvSpPr>
            <p:cNvPr id="197660" name="Line 132"/>
            <p:cNvSpPr/>
            <p:nvPr/>
          </p:nvSpPr>
          <p:spPr>
            <a:xfrm flipH="1">
              <a:off x="3741" y="2152"/>
              <a:ext cx="104" cy="1"/>
            </a:xfrm>
            <a:prstGeom prst="line">
              <a:avLst/>
            </a:prstGeom>
            <a:ln w="9525" cap="flat" cmpd="sng">
              <a:solidFill>
                <a:schemeClr val="tx1"/>
              </a:solidFill>
              <a:prstDash val="solid"/>
              <a:headEnd type="none" w="med" len="med"/>
              <a:tailEnd type="none" w="med" len="med"/>
            </a:ln>
          </p:spPr>
        </p:sp>
        <p:sp>
          <p:nvSpPr>
            <p:cNvPr id="197661" name="Line 133"/>
            <p:cNvSpPr/>
            <p:nvPr/>
          </p:nvSpPr>
          <p:spPr>
            <a:xfrm>
              <a:off x="3379" y="1757"/>
              <a:ext cx="156" cy="1"/>
            </a:xfrm>
            <a:prstGeom prst="line">
              <a:avLst/>
            </a:prstGeom>
            <a:ln w="9525" cap="flat" cmpd="sng">
              <a:solidFill>
                <a:schemeClr val="tx1"/>
              </a:solidFill>
              <a:prstDash val="solid"/>
              <a:headEnd type="none" w="med" len="med"/>
              <a:tailEnd type="none" w="med" len="med"/>
            </a:ln>
          </p:spPr>
        </p:sp>
        <p:sp>
          <p:nvSpPr>
            <p:cNvPr id="197662" name="Line 134"/>
            <p:cNvSpPr/>
            <p:nvPr/>
          </p:nvSpPr>
          <p:spPr>
            <a:xfrm>
              <a:off x="3379" y="1876"/>
              <a:ext cx="156" cy="1"/>
            </a:xfrm>
            <a:prstGeom prst="line">
              <a:avLst/>
            </a:prstGeom>
            <a:ln w="9525" cap="flat" cmpd="sng">
              <a:solidFill>
                <a:schemeClr val="tx1"/>
              </a:solidFill>
              <a:prstDash val="solid"/>
              <a:headEnd type="none" w="med" len="med"/>
              <a:tailEnd type="none" w="med" len="med"/>
            </a:ln>
          </p:spPr>
        </p:sp>
        <p:sp>
          <p:nvSpPr>
            <p:cNvPr id="197663" name="Line 135"/>
            <p:cNvSpPr/>
            <p:nvPr/>
          </p:nvSpPr>
          <p:spPr>
            <a:xfrm>
              <a:off x="3379" y="2113"/>
              <a:ext cx="156" cy="1"/>
            </a:xfrm>
            <a:prstGeom prst="line">
              <a:avLst/>
            </a:prstGeom>
            <a:ln w="9525" cap="flat" cmpd="sng">
              <a:solidFill>
                <a:schemeClr val="tx1"/>
              </a:solidFill>
              <a:prstDash val="solid"/>
              <a:headEnd type="none" w="med" len="med"/>
              <a:tailEnd type="none" w="med" len="med"/>
            </a:ln>
          </p:spPr>
        </p:sp>
        <p:sp>
          <p:nvSpPr>
            <p:cNvPr id="197664" name="Line 136"/>
            <p:cNvSpPr/>
            <p:nvPr/>
          </p:nvSpPr>
          <p:spPr>
            <a:xfrm>
              <a:off x="3379" y="2231"/>
              <a:ext cx="156" cy="1"/>
            </a:xfrm>
            <a:prstGeom prst="line">
              <a:avLst/>
            </a:prstGeom>
            <a:ln w="9525" cap="flat" cmpd="sng">
              <a:solidFill>
                <a:schemeClr val="tx1"/>
              </a:solidFill>
              <a:prstDash val="solid"/>
              <a:headEnd type="none" w="med" len="med"/>
              <a:tailEnd type="none" w="med" len="med"/>
            </a:ln>
          </p:spPr>
        </p:sp>
        <p:sp>
          <p:nvSpPr>
            <p:cNvPr id="197665" name="Text Box 137"/>
            <p:cNvSpPr txBox="1"/>
            <p:nvPr/>
          </p:nvSpPr>
          <p:spPr>
            <a:xfrm>
              <a:off x="3172" y="1661"/>
              <a:ext cx="312" cy="669"/>
            </a:xfrm>
            <a:prstGeom prst="rect">
              <a:avLst/>
            </a:prstGeom>
            <a:noFill/>
            <a:ln w="9525">
              <a:noFill/>
            </a:ln>
          </p:spPr>
          <p:txBody>
            <a:bodyPr>
              <a:spAutoFit/>
            </a:bodyPr>
            <a:lstStyle/>
            <a:p>
              <a:pPr algn="just">
                <a:lnSpc>
                  <a:spcPct val="80000"/>
                </a:lnSpc>
                <a:spcBef>
                  <a:spcPct val="35000"/>
                </a:spcBef>
              </a:pPr>
              <a:r>
                <a:rPr lang="en-US" altLang="zh-CN" sz="1600" dirty="0">
                  <a:solidFill>
                    <a:schemeClr val="tx1"/>
                  </a:solidFill>
                  <a:latin typeface="Arial" panose="020B0604020202020204" pitchFamily="34" charset="0"/>
                </a:rPr>
                <a:t>E</a:t>
              </a:r>
            </a:p>
            <a:p>
              <a:pPr algn="just">
                <a:lnSpc>
                  <a:spcPct val="80000"/>
                </a:lnSpc>
                <a:spcBef>
                  <a:spcPct val="35000"/>
                </a:spcBef>
              </a:pPr>
              <a:r>
                <a:rPr lang="en-US" altLang="zh-CN" sz="1600" dirty="0">
                  <a:solidFill>
                    <a:schemeClr val="tx1"/>
                  </a:solidFill>
                  <a:latin typeface="Arial" panose="020B0604020202020204" pitchFamily="34" charset="0"/>
                </a:rPr>
                <a:t>F</a:t>
              </a:r>
            </a:p>
            <a:p>
              <a:pPr algn="just">
                <a:lnSpc>
                  <a:spcPct val="80000"/>
                </a:lnSpc>
                <a:spcBef>
                  <a:spcPct val="20000"/>
                </a:spcBef>
              </a:pPr>
              <a:r>
                <a:rPr lang="en-US" altLang="zh-CN" sz="1600" dirty="0">
                  <a:solidFill>
                    <a:schemeClr val="tx1"/>
                  </a:solidFill>
                  <a:latin typeface="Arial" panose="020B0604020202020204" pitchFamily="34" charset="0"/>
                </a:rPr>
                <a:t>G</a:t>
              </a:r>
            </a:p>
            <a:p>
              <a:pPr algn="just">
                <a:lnSpc>
                  <a:spcPct val="80000"/>
                </a:lnSpc>
                <a:spcBef>
                  <a:spcPct val="20000"/>
                </a:spcBef>
              </a:pPr>
              <a:r>
                <a:rPr lang="en-US" altLang="zh-CN" sz="1600" dirty="0">
                  <a:solidFill>
                    <a:schemeClr val="tx1"/>
                  </a:solidFill>
                  <a:latin typeface="Arial" panose="020B0604020202020204" pitchFamily="34" charset="0"/>
                </a:rPr>
                <a:t>H</a:t>
              </a:r>
              <a:endParaRPr lang="en-US" altLang="zh-CN" sz="2000" dirty="0">
                <a:solidFill>
                  <a:schemeClr val="tx1"/>
                </a:solidFill>
                <a:latin typeface="Arial" panose="020B0604020202020204" pitchFamily="34" charset="0"/>
              </a:endParaRPr>
            </a:p>
          </p:txBody>
        </p:sp>
        <p:grpSp>
          <p:nvGrpSpPr>
            <p:cNvPr id="197666" name="Group 138"/>
            <p:cNvGrpSpPr/>
            <p:nvPr/>
          </p:nvGrpSpPr>
          <p:grpSpPr>
            <a:xfrm>
              <a:off x="4360" y="1492"/>
              <a:ext cx="259" cy="276"/>
              <a:chOff x="4272" y="576"/>
              <a:chExt cx="240" cy="336"/>
            </a:xfrm>
          </p:grpSpPr>
          <p:sp>
            <p:nvSpPr>
              <p:cNvPr id="197675" name="Text Box 139"/>
              <p:cNvSpPr txBox="1"/>
              <p:nvPr/>
            </p:nvSpPr>
            <p:spPr>
              <a:xfrm>
                <a:off x="4272" y="671"/>
                <a:ext cx="240" cy="176"/>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197676" name="Rectangle 140"/>
              <p:cNvSpPr/>
              <p:nvPr/>
            </p:nvSpPr>
            <p:spPr>
              <a:xfrm>
                <a:off x="4272" y="576"/>
                <a:ext cx="192" cy="3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nvGrpSpPr>
            <p:cNvPr id="197667" name="Group 141"/>
            <p:cNvGrpSpPr/>
            <p:nvPr/>
          </p:nvGrpSpPr>
          <p:grpSpPr>
            <a:xfrm>
              <a:off x="4153" y="1255"/>
              <a:ext cx="208" cy="316"/>
              <a:chOff x="1392" y="1392"/>
              <a:chExt cx="192" cy="384"/>
            </a:xfrm>
          </p:grpSpPr>
          <p:sp>
            <p:nvSpPr>
              <p:cNvPr id="197672" name="Line 142"/>
              <p:cNvSpPr/>
              <p:nvPr/>
            </p:nvSpPr>
            <p:spPr>
              <a:xfrm>
                <a:off x="1392" y="1392"/>
                <a:ext cx="96" cy="0"/>
              </a:xfrm>
              <a:prstGeom prst="line">
                <a:avLst/>
              </a:prstGeom>
              <a:ln w="9525" cap="flat" cmpd="sng">
                <a:solidFill>
                  <a:schemeClr val="tx1"/>
                </a:solidFill>
                <a:prstDash val="solid"/>
                <a:headEnd type="none" w="med" len="med"/>
                <a:tailEnd type="none" w="med" len="med"/>
              </a:ln>
            </p:spPr>
          </p:sp>
          <p:sp>
            <p:nvSpPr>
              <p:cNvPr id="197673" name="Line 143"/>
              <p:cNvSpPr/>
              <p:nvPr/>
            </p:nvSpPr>
            <p:spPr>
              <a:xfrm>
                <a:off x="1488" y="1776"/>
                <a:ext cx="96" cy="0"/>
              </a:xfrm>
              <a:prstGeom prst="line">
                <a:avLst/>
              </a:prstGeom>
              <a:ln w="9525" cap="flat" cmpd="sng">
                <a:solidFill>
                  <a:schemeClr val="tx1"/>
                </a:solidFill>
                <a:prstDash val="solid"/>
                <a:headEnd type="none" w="med" len="med"/>
                <a:tailEnd type="none" w="med" len="med"/>
              </a:ln>
            </p:spPr>
          </p:sp>
          <p:sp>
            <p:nvSpPr>
              <p:cNvPr id="197674" name="Line 144"/>
              <p:cNvSpPr/>
              <p:nvPr/>
            </p:nvSpPr>
            <p:spPr>
              <a:xfrm>
                <a:off x="1488" y="1392"/>
                <a:ext cx="0" cy="384"/>
              </a:xfrm>
              <a:prstGeom prst="line">
                <a:avLst/>
              </a:prstGeom>
              <a:ln w="9525" cap="flat" cmpd="sng">
                <a:solidFill>
                  <a:schemeClr val="tx1"/>
                </a:solidFill>
                <a:prstDash val="solid"/>
                <a:headEnd type="none" w="med" len="med"/>
                <a:tailEnd type="none" w="med" len="med"/>
              </a:ln>
            </p:spPr>
          </p:sp>
        </p:grpSp>
        <p:grpSp>
          <p:nvGrpSpPr>
            <p:cNvPr id="197668" name="Group 145"/>
            <p:cNvGrpSpPr/>
            <p:nvPr/>
          </p:nvGrpSpPr>
          <p:grpSpPr>
            <a:xfrm flipV="1">
              <a:off x="4153" y="1689"/>
              <a:ext cx="208" cy="277"/>
              <a:chOff x="1392" y="1392"/>
              <a:chExt cx="192" cy="384"/>
            </a:xfrm>
          </p:grpSpPr>
          <p:sp>
            <p:nvSpPr>
              <p:cNvPr id="197669" name="Line 146"/>
              <p:cNvSpPr/>
              <p:nvPr/>
            </p:nvSpPr>
            <p:spPr>
              <a:xfrm>
                <a:off x="1392" y="1392"/>
                <a:ext cx="96" cy="0"/>
              </a:xfrm>
              <a:prstGeom prst="line">
                <a:avLst/>
              </a:prstGeom>
              <a:ln w="9525" cap="flat" cmpd="sng">
                <a:solidFill>
                  <a:schemeClr val="tx1"/>
                </a:solidFill>
                <a:prstDash val="solid"/>
                <a:headEnd type="none" w="med" len="med"/>
                <a:tailEnd type="none" w="med" len="med"/>
              </a:ln>
            </p:spPr>
          </p:sp>
          <p:sp>
            <p:nvSpPr>
              <p:cNvPr id="197670" name="Line 147"/>
              <p:cNvSpPr/>
              <p:nvPr/>
            </p:nvSpPr>
            <p:spPr>
              <a:xfrm>
                <a:off x="1488" y="1776"/>
                <a:ext cx="96" cy="0"/>
              </a:xfrm>
              <a:prstGeom prst="line">
                <a:avLst/>
              </a:prstGeom>
              <a:ln w="9525" cap="flat" cmpd="sng">
                <a:solidFill>
                  <a:schemeClr val="tx1"/>
                </a:solidFill>
                <a:prstDash val="solid"/>
                <a:headEnd type="none" w="med" len="med"/>
                <a:tailEnd type="none" w="med" len="med"/>
              </a:ln>
            </p:spPr>
          </p:sp>
          <p:sp>
            <p:nvSpPr>
              <p:cNvPr id="197671" name="Line 148"/>
              <p:cNvSpPr/>
              <p:nvPr/>
            </p:nvSpPr>
            <p:spPr>
              <a:xfrm>
                <a:off x="1488" y="1392"/>
                <a:ext cx="0" cy="384"/>
              </a:xfrm>
              <a:prstGeom prst="line">
                <a:avLst/>
              </a:prstGeom>
              <a:ln w="9525" cap="flat" cmpd="sng">
                <a:solidFill>
                  <a:schemeClr val="tx1"/>
                </a:solidFill>
                <a:prstDash val="solid"/>
                <a:headEnd type="none" w="med" len="med"/>
                <a:tailEnd type="none" w="med" len="med"/>
              </a:ln>
            </p:spPr>
          </p:sp>
        </p:grpSp>
      </p:grpSp>
    </p:spTree>
  </p:cSld>
  <p:clrMapOvr>
    <a:masterClrMapping/>
  </p:clrMapOvr>
  <p:transition spd="med">
    <p:blinds dir="vert"/>
    <p:sndAc>
      <p:stSnd>
        <p:snd r:embed="rId4"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linds(horizontal)">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158801"/>
                                        </p:tgtEl>
                                        <p:attrNameLst>
                                          <p:attrName>style.visibility</p:attrName>
                                        </p:attrNameLst>
                                      </p:cBhvr>
                                      <p:to>
                                        <p:strVal val="visible"/>
                                      </p:to>
                                    </p:set>
                                    <p:anim calcmode="lin" valueType="num">
                                      <p:cBhvr additive="base">
                                        <p:cTn id="18" dur="500" fill="hold"/>
                                        <p:tgtEl>
                                          <p:spTgt spid="158801"/>
                                        </p:tgtEl>
                                        <p:attrNameLst>
                                          <p:attrName>ppt_x</p:attrName>
                                        </p:attrNameLst>
                                      </p:cBhvr>
                                      <p:tavLst>
                                        <p:tav tm="0">
                                          <p:val>
                                            <p:strVal val="0-#ppt_w/2"/>
                                          </p:val>
                                        </p:tav>
                                        <p:tav tm="100000">
                                          <p:val>
                                            <p:strVal val="#ppt_x"/>
                                          </p:val>
                                        </p:tav>
                                      </p:tavLst>
                                    </p:anim>
                                    <p:anim calcmode="lin" valueType="num">
                                      <p:cBhvr additive="base">
                                        <p:cTn id="19" dur="500" fill="hold"/>
                                        <p:tgtEl>
                                          <p:spTgt spid="15880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158915"/>
                                        </p:tgtEl>
                                        <p:attrNameLst>
                                          <p:attrName>style.visibility</p:attrName>
                                        </p:attrNameLst>
                                      </p:cBhvr>
                                      <p:to>
                                        <p:strVal val="visible"/>
                                      </p:to>
                                    </p:set>
                                    <p:anim calcmode="lin" valueType="num">
                                      <p:cBhvr additive="base">
                                        <p:cTn id="24" dur="500" fill="hold"/>
                                        <p:tgtEl>
                                          <p:spTgt spid="158915"/>
                                        </p:tgtEl>
                                        <p:attrNameLst>
                                          <p:attrName>ppt_x</p:attrName>
                                        </p:attrNameLst>
                                      </p:cBhvr>
                                      <p:tavLst>
                                        <p:tav tm="0">
                                          <p:val>
                                            <p:strVal val="0-#ppt_w/2"/>
                                          </p:val>
                                        </p:tav>
                                        <p:tav tm="100000">
                                          <p:val>
                                            <p:strVal val="#ppt_x"/>
                                          </p:val>
                                        </p:tav>
                                      </p:tavLst>
                                    </p:anim>
                                    <p:anim calcmode="lin" valueType="num">
                                      <p:cBhvr additive="base">
                                        <p:cTn id="25" dur="500" fill="hold"/>
                                        <p:tgtEl>
                                          <p:spTgt spid="1589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p:cNvSpPr>
          <p:nvPr>
            <p:ph type="title"/>
          </p:nvPr>
        </p:nvSpPr>
        <p:spPr>
          <a:xfrm>
            <a:off x="2495550" y="571500"/>
            <a:ext cx="7635875"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集成</a:t>
            </a:r>
            <a:r>
              <a:rPr lang="en-US" altLang="zh-CN" dirty="0">
                <a:latin typeface="Arial" panose="020B0604020202020204" pitchFamily="34" charset="0"/>
                <a:ea typeface="黑体" panose="02010609060101010101" pitchFamily="49" charset="-122"/>
              </a:rPr>
              <a:t>8</a:t>
            </a:r>
            <a:r>
              <a:rPr lang="zh-CN" altLang="en-US" dirty="0">
                <a:latin typeface="Arial" panose="020B0604020202020204" pitchFamily="34" charset="0"/>
                <a:ea typeface="黑体" panose="02010609060101010101" pitchFamily="49" charset="-122"/>
              </a:rPr>
              <a:t>位奇偶校验器</a:t>
            </a:r>
            <a:r>
              <a:rPr lang="en-US" altLang="zh-CN" dirty="0">
                <a:latin typeface="Arial" panose="020B0604020202020204" pitchFamily="34" charset="0"/>
                <a:ea typeface="黑体" panose="02010609060101010101" pitchFamily="49" charset="-122"/>
              </a:rPr>
              <a:t>/</a:t>
            </a:r>
            <a:r>
              <a:rPr lang="zh-CN" altLang="en-US" dirty="0">
                <a:latin typeface="Arial" panose="020B0604020202020204" pitchFamily="34" charset="0"/>
                <a:ea typeface="黑体" panose="02010609060101010101" pitchFamily="49" charset="-122"/>
              </a:rPr>
              <a:t>产生器（</a:t>
            </a:r>
            <a:r>
              <a:rPr lang="en-US" altLang="zh-CN" dirty="0">
                <a:latin typeface="Arial" panose="020B0604020202020204" pitchFamily="34" charset="0"/>
                <a:ea typeface="黑体" panose="02010609060101010101" pitchFamily="49" charset="-122"/>
              </a:rPr>
              <a:t>74180</a:t>
            </a:r>
            <a:r>
              <a:rPr lang="zh-CN" altLang="en-US" dirty="0">
                <a:latin typeface="Arial" panose="020B0604020202020204" pitchFamily="34" charset="0"/>
                <a:ea typeface="黑体" panose="02010609060101010101" pitchFamily="49" charset="-122"/>
              </a:rPr>
              <a:t>）</a:t>
            </a:r>
          </a:p>
        </p:txBody>
      </p:sp>
      <p:sp>
        <p:nvSpPr>
          <p:cNvPr id="301186" name="Rectangle 130"/>
          <p:cNvSpPr>
            <a:spLocks noGrp="1"/>
          </p:cNvSpPr>
          <p:nvPr>
            <p:ph type="body" sz="half" idx="1"/>
          </p:nvPr>
        </p:nvSpPr>
        <p:spPr>
          <a:xfrm>
            <a:off x="2090738" y="1674813"/>
            <a:ext cx="5853112" cy="1849437"/>
          </a:xfrm>
        </p:spPr>
        <p:txBody>
          <a:bodyPr vert="horz" wrap="square" lIns="91440" tIns="45720" rIns="91440" bIns="45720" anchor="t" anchorCtr="0"/>
          <a:lstStyle/>
          <a:p>
            <a:pPr marL="381000" indent="-381000">
              <a:lnSpc>
                <a:spcPct val="110000"/>
              </a:lnSpc>
              <a:spcBef>
                <a:spcPct val="0"/>
              </a:spcBef>
              <a:buClr>
                <a:schemeClr val="hlink"/>
              </a:buClr>
              <a:buSzTx/>
              <a:buFont typeface="Wingdings" panose="05000000000000000000" pitchFamily="2" charset="2"/>
            </a:pPr>
            <a:r>
              <a:rPr lang="zh-CN" altLang="en-US" sz="2000" dirty="0">
                <a:ea typeface="宋体" panose="02010600030101010101" pitchFamily="2" charset="-122"/>
              </a:rPr>
              <a:t>奇偶校验器还有</a:t>
            </a:r>
            <a:r>
              <a:rPr lang="zh-CN" altLang="en-US" sz="2000" dirty="0">
                <a:solidFill>
                  <a:srgbClr val="CC0066"/>
                </a:solidFill>
                <a:ea typeface="宋体" panose="02010600030101010101" pitchFamily="2" charset="-122"/>
              </a:rPr>
              <a:t>奇偶产生</a:t>
            </a:r>
            <a:r>
              <a:rPr lang="zh-CN" altLang="en-US" sz="2000" dirty="0">
                <a:ea typeface="宋体" panose="02010600030101010101" pitchFamily="2" charset="-122"/>
              </a:rPr>
              <a:t>的功能，通常称为</a:t>
            </a:r>
            <a:r>
              <a:rPr lang="zh-CN" altLang="en-US" sz="2000" dirty="0">
                <a:solidFill>
                  <a:srgbClr val="FF0000"/>
                </a:solidFill>
                <a:ea typeface="宋体" panose="02010600030101010101" pitchFamily="2" charset="-122"/>
              </a:rPr>
              <a:t>奇偶校验器</a:t>
            </a:r>
            <a:r>
              <a:rPr lang="en-US" altLang="zh-CN" sz="2000" dirty="0">
                <a:solidFill>
                  <a:srgbClr val="FF0000"/>
                </a:solidFill>
                <a:ea typeface="宋体" panose="02010600030101010101" pitchFamily="2" charset="-122"/>
              </a:rPr>
              <a:t>/</a:t>
            </a:r>
            <a:r>
              <a:rPr lang="zh-CN" altLang="en-US" sz="2000" dirty="0">
                <a:solidFill>
                  <a:srgbClr val="FF0000"/>
                </a:solidFill>
                <a:ea typeface="宋体" panose="02010600030101010101" pitchFamily="2" charset="-122"/>
              </a:rPr>
              <a:t>产生器</a:t>
            </a:r>
            <a:r>
              <a:rPr lang="zh-CN" altLang="en-US" sz="2000" dirty="0">
                <a:ea typeface="宋体" panose="02010600030101010101" pitchFamily="2" charset="-122"/>
              </a:rPr>
              <a:t>。</a:t>
            </a:r>
          </a:p>
          <a:p>
            <a:pPr marL="381000" indent="-381000">
              <a:lnSpc>
                <a:spcPct val="110000"/>
              </a:lnSpc>
              <a:spcBef>
                <a:spcPct val="0"/>
              </a:spcBef>
              <a:buClr>
                <a:schemeClr val="hlink"/>
              </a:buClr>
              <a:buSzTx/>
              <a:buFont typeface="Wingdings" panose="05000000000000000000" pitchFamily="2" charset="2"/>
            </a:pPr>
            <a:r>
              <a:rPr lang="zh-CN" altLang="en-US" sz="2000" dirty="0">
                <a:ea typeface="宋体" panose="02010600030101010101" pitchFamily="2" charset="-122"/>
              </a:rPr>
              <a:t>常用的集成奇偶校验器</a:t>
            </a:r>
            <a:r>
              <a:rPr lang="en-US" altLang="zh-CN" sz="2000" dirty="0">
                <a:ea typeface="宋体" panose="02010600030101010101" pitchFamily="2" charset="-122"/>
              </a:rPr>
              <a:t>/</a:t>
            </a:r>
            <a:r>
              <a:rPr lang="zh-CN" altLang="en-US" sz="2000" dirty="0">
                <a:ea typeface="宋体" panose="02010600030101010101" pitchFamily="2" charset="-122"/>
              </a:rPr>
              <a:t>产生器有</a:t>
            </a:r>
            <a:r>
              <a:rPr lang="en-US" altLang="zh-CN" sz="2000" dirty="0">
                <a:ea typeface="宋体" panose="02010600030101010101" pitchFamily="2" charset="-122"/>
              </a:rPr>
              <a:t>74xx180</a:t>
            </a:r>
            <a:r>
              <a:rPr lang="zh-CN" altLang="en-US" sz="2000" dirty="0">
                <a:ea typeface="宋体" panose="02010600030101010101" pitchFamily="2" charset="-122"/>
              </a:rPr>
              <a:t>、 </a:t>
            </a:r>
            <a:r>
              <a:rPr lang="en-US" altLang="zh-CN" sz="2000" dirty="0">
                <a:ea typeface="宋体" panose="02010600030101010101" pitchFamily="2" charset="-122"/>
              </a:rPr>
              <a:t>74xx280</a:t>
            </a:r>
            <a:r>
              <a:rPr lang="zh-CN" altLang="en-US" sz="2000" dirty="0">
                <a:ea typeface="宋体" panose="02010600030101010101" pitchFamily="2" charset="-122"/>
              </a:rPr>
              <a:t>等。它们还有偶控制输入端</a:t>
            </a:r>
            <a:r>
              <a:rPr lang="en-US" altLang="zh-CN" sz="2000" dirty="0">
                <a:ea typeface="宋体" panose="02010600030101010101" pitchFamily="2" charset="-122"/>
              </a:rPr>
              <a:t>EVEN </a:t>
            </a:r>
            <a:r>
              <a:rPr lang="zh-CN" altLang="en-US" sz="2000" dirty="0">
                <a:ea typeface="宋体" panose="02010600030101010101" pitchFamily="2" charset="-122"/>
              </a:rPr>
              <a:t>和奇控制输入端</a:t>
            </a:r>
            <a:r>
              <a:rPr lang="en-US" altLang="zh-CN" sz="2000" dirty="0">
                <a:ea typeface="宋体" panose="02010600030101010101" pitchFamily="2" charset="-122"/>
              </a:rPr>
              <a:t>ODD</a:t>
            </a:r>
            <a:endParaRPr lang="zh-CN" altLang="en-US" sz="2000" dirty="0">
              <a:ea typeface="宋体" panose="02010600030101010101" pitchFamily="2" charset="-122"/>
            </a:endParaRPr>
          </a:p>
          <a:p>
            <a:pPr marL="381000" indent="-381000">
              <a:lnSpc>
                <a:spcPct val="110000"/>
              </a:lnSpc>
              <a:spcBef>
                <a:spcPct val="0"/>
              </a:spcBef>
              <a:buClr>
                <a:schemeClr val="hlink"/>
              </a:buClr>
              <a:buSzTx/>
              <a:buFont typeface="Wingdings" panose="05000000000000000000" pitchFamily="2" charset="2"/>
            </a:pPr>
            <a:endParaRPr lang="zh-CN" altLang="en-US" sz="2000" dirty="0">
              <a:ea typeface="宋体" panose="02010600030101010101" pitchFamily="2" charset="-122"/>
            </a:endParaRPr>
          </a:p>
        </p:txBody>
      </p:sp>
      <p:sp>
        <p:nvSpPr>
          <p:cNvPr id="199684"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30</a:t>
            </a:fld>
            <a:endParaRPr lang="ko-KR" altLang="en-US" sz="1600" dirty="0">
              <a:solidFill>
                <a:schemeClr val="accent2"/>
              </a:solidFill>
              <a:latin typeface="Verdana" panose="020B0604030504040204" pitchFamily="34" charset="0"/>
              <a:ea typeface="Gulim" panose="020B0600000101010101" pitchFamily="34" charset="-127"/>
            </a:endParaRPr>
          </a:p>
        </p:txBody>
      </p:sp>
      <p:graphicFrame>
        <p:nvGraphicFramePr>
          <p:cNvPr id="101381" name="表格 101380"/>
          <p:cNvGraphicFramePr>
            <a:graphicFrameLocks noGrp="1"/>
          </p:cNvGraphicFramePr>
          <p:nvPr/>
        </p:nvGraphicFramePr>
        <p:xfrm>
          <a:off x="2633663" y="3733800"/>
          <a:ext cx="3881120" cy="2590801"/>
        </p:xfrm>
        <a:graphic>
          <a:graphicData uri="http://schemas.openxmlformats.org/drawingml/2006/table">
            <a:tbl>
              <a:tblPr/>
              <a:tblGrid>
                <a:gridCol w="1228725">
                  <a:extLst>
                    <a:ext uri="{9D8B030D-6E8A-4147-A177-3AD203B41FA5}">
                      <a16:colId xmlns:a16="http://schemas.microsoft.com/office/drawing/2014/main" val="20000"/>
                    </a:ext>
                  </a:extLst>
                </a:gridCol>
                <a:gridCol w="908050">
                  <a:extLst>
                    <a:ext uri="{9D8B030D-6E8A-4147-A177-3AD203B41FA5}">
                      <a16:colId xmlns:a16="http://schemas.microsoft.com/office/drawing/2014/main" val="20001"/>
                    </a:ext>
                  </a:extLst>
                </a:gridCol>
                <a:gridCol w="791845">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579438">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A~H</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中</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的个数</a:t>
                      </a:r>
                    </a:p>
                  </a:txBody>
                  <a:tcPr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EVEN</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ODD</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F</a:t>
                      </a:r>
                      <a:r>
                        <a:rPr kumimoji="0" lang="en-US" altLang="zh-CN" sz="1600" b="1" i="0" u="none" strike="noStrike" cap="none" normalizeH="0" baseline="-25000">
                          <a:ln>
                            <a:noFill/>
                          </a:ln>
                          <a:solidFill>
                            <a:schemeClr val="tx1"/>
                          </a:solidFill>
                          <a:effectLst/>
                          <a:latin typeface="Arial" panose="020B0604020202020204" pitchFamily="34" charset="0"/>
                          <a:ea typeface="宋体" panose="02010600030101010101" pitchFamily="2" charset="-122"/>
                        </a:rPr>
                        <a:t>EV</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F</a:t>
                      </a:r>
                      <a:r>
                        <a:rPr kumimoji="0" lang="en-US" altLang="zh-CN" sz="1600" b="1" i="0" u="none" strike="noStrike" cap="none" normalizeH="0" baseline="-25000">
                          <a:ln>
                            <a:noFill/>
                          </a:ln>
                          <a:solidFill>
                            <a:schemeClr val="tx1"/>
                          </a:solidFill>
                          <a:effectLst/>
                          <a:latin typeface="Arial" panose="020B0604020202020204" pitchFamily="34" charset="0"/>
                          <a:ea typeface="宋体" panose="02010600030101010101" pitchFamily="2" charset="-122"/>
                        </a:rPr>
                        <a:t>OD</a:t>
                      </a:r>
                    </a:p>
                  </a:txBody>
                  <a:tcPr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11363">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楷体_GB2312" pitchFamily="49" charset="-122"/>
                          <a:ea typeface="楷体_GB2312" pitchFamily="49" charset="-122"/>
                        </a:rPr>
                        <a:t>X</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楷体_GB2312" pitchFamily="49" charset="-122"/>
                          <a:ea typeface="楷体_GB2312" pitchFamily="49" charset="-122"/>
                        </a:rPr>
                        <a:t>X</a:t>
                      </a:r>
                    </a:p>
                  </a:txBody>
                  <a:tcPr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a:t>
                      </a:r>
                    </a:p>
                  </a:txBody>
                  <a:tcPr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01185" name="Text Box 129"/>
          <p:cNvSpPr txBox="1"/>
          <p:nvPr/>
        </p:nvSpPr>
        <p:spPr>
          <a:xfrm>
            <a:off x="2025650" y="1193800"/>
            <a:ext cx="5846763" cy="326390"/>
          </a:xfrm>
          <a:prstGeom prst="rect">
            <a:avLst/>
          </a:prstGeom>
          <a:gradFill rotWithShape="0">
            <a:gsLst>
              <a:gs pos="0">
                <a:srgbClr val="5E9EFF">
                  <a:alpha val="100000"/>
                </a:srgbClr>
              </a:gs>
              <a:gs pos="39999">
                <a:srgbClr val="85C2FF">
                  <a:alpha val="100000"/>
                </a:srgbClr>
              </a:gs>
              <a:gs pos="70000">
                <a:srgbClr val="C4D6EB">
                  <a:alpha val="100000"/>
                </a:srgbClr>
              </a:gs>
              <a:gs pos="100000">
                <a:srgbClr val="FFEBFA">
                  <a:alpha val="100000"/>
                </a:srgbClr>
              </a:gs>
            </a:gsLst>
            <a:lin ang="5400000" scaled="1"/>
            <a:tileRect/>
          </a:gradFill>
          <a:ln w="9525">
            <a:noFill/>
          </a:ln>
        </p:spPr>
        <p:txBody>
          <a:bodyPr>
            <a:spAutoFit/>
          </a:bodyPr>
          <a:lstStyle/>
          <a:p>
            <a:pPr eaLnBrk="1" hangingPunct="1">
              <a:lnSpc>
                <a:spcPct val="85000"/>
              </a:lnSpc>
              <a:spcBef>
                <a:spcPct val="50000"/>
              </a:spcBef>
            </a:pPr>
            <a:r>
              <a:rPr lang="en-US" altLang="zh-CN" dirty="0">
                <a:solidFill>
                  <a:srgbClr val="990000"/>
                </a:solidFill>
                <a:latin typeface="Arial" panose="020B0604020202020204" pitchFamily="34" charset="0"/>
                <a:ea typeface="华文新魏" panose="02010800040101010101" pitchFamily="2" charset="-122"/>
              </a:rPr>
              <a:t>3</a:t>
            </a:r>
            <a:r>
              <a:rPr lang="zh-CN" altLang="en-US" dirty="0">
                <a:solidFill>
                  <a:srgbClr val="990000"/>
                </a:solidFill>
                <a:latin typeface="Arial" panose="020B0604020202020204" pitchFamily="34" charset="0"/>
                <a:ea typeface="华文新魏" panose="02010800040101010101" pitchFamily="2" charset="-122"/>
              </a:rPr>
              <a:t>、集成</a:t>
            </a:r>
            <a:r>
              <a:rPr lang="en-US" altLang="zh-CN" dirty="0">
                <a:solidFill>
                  <a:srgbClr val="990000"/>
                </a:solidFill>
                <a:latin typeface="Arial" panose="020B0604020202020204" pitchFamily="34" charset="0"/>
                <a:ea typeface="华文新魏" panose="02010800040101010101" pitchFamily="2" charset="-122"/>
              </a:rPr>
              <a:t>8</a:t>
            </a:r>
            <a:r>
              <a:rPr lang="zh-CN" altLang="en-US" dirty="0">
                <a:solidFill>
                  <a:srgbClr val="990000"/>
                </a:solidFill>
                <a:latin typeface="Arial" panose="020B0604020202020204" pitchFamily="34" charset="0"/>
                <a:ea typeface="华文新魏" panose="02010800040101010101" pitchFamily="2" charset="-122"/>
              </a:rPr>
              <a:t>位奇偶校验器</a:t>
            </a:r>
            <a:r>
              <a:rPr lang="en-US" altLang="zh-CN" dirty="0">
                <a:solidFill>
                  <a:srgbClr val="990000"/>
                </a:solidFill>
                <a:latin typeface="Arial" panose="020B0604020202020204" pitchFamily="34" charset="0"/>
                <a:ea typeface="华文新魏" panose="02010800040101010101" pitchFamily="2" charset="-122"/>
              </a:rPr>
              <a:t>/</a:t>
            </a:r>
            <a:r>
              <a:rPr lang="zh-CN" altLang="en-US" dirty="0">
                <a:solidFill>
                  <a:srgbClr val="990000"/>
                </a:solidFill>
                <a:latin typeface="Arial" panose="020B0604020202020204" pitchFamily="34" charset="0"/>
                <a:ea typeface="华文新魏" panose="02010800040101010101" pitchFamily="2" charset="-122"/>
              </a:rPr>
              <a:t>产生器（</a:t>
            </a:r>
            <a:r>
              <a:rPr lang="en-US" altLang="zh-CN" dirty="0">
                <a:solidFill>
                  <a:srgbClr val="990000"/>
                </a:solidFill>
                <a:latin typeface="Arial" panose="020B0604020202020204" pitchFamily="34" charset="0"/>
                <a:ea typeface="华文新魏" panose="02010800040101010101" pitchFamily="2" charset="-122"/>
              </a:rPr>
              <a:t>74180</a:t>
            </a:r>
            <a:r>
              <a:rPr lang="zh-CN" altLang="en-US" dirty="0">
                <a:solidFill>
                  <a:srgbClr val="990000"/>
                </a:solidFill>
                <a:latin typeface="Arial" panose="020B0604020202020204" pitchFamily="34" charset="0"/>
                <a:ea typeface="华文新魏" panose="02010800040101010101" pitchFamily="2" charset="-122"/>
              </a:rPr>
              <a:t>）</a:t>
            </a:r>
          </a:p>
        </p:txBody>
      </p:sp>
      <p:sp>
        <p:nvSpPr>
          <p:cNvPr id="301187" name="Text Box 131"/>
          <p:cNvSpPr txBox="1"/>
          <p:nvPr/>
        </p:nvSpPr>
        <p:spPr>
          <a:xfrm>
            <a:off x="3844925" y="3324225"/>
            <a:ext cx="2076450" cy="368300"/>
          </a:xfrm>
          <a:prstGeom prst="rect">
            <a:avLst/>
          </a:prstGeom>
          <a:noFill/>
          <a:ln w="9525">
            <a:noFill/>
          </a:ln>
        </p:spPr>
        <p:txBody>
          <a:bodyPr>
            <a:spAutoFit/>
          </a:bodyPr>
          <a:lstStyle/>
          <a:p>
            <a:pPr eaLnBrk="1" hangingPunct="1">
              <a:lnSpc>
                <a:spcPct val="90000"/>
              </a:lnSpc>
              <a:spcBef>
                <a:spcPct val="50000"/>
              </a:spcBef>
            </a:pPr>
            <a:r>
              <a:rPr lang="en-US" altLang="zh-CN" sz="2000" dirty="0">
                <a:latin typeface="Times New Roman" panose="02020603050405020304" pitchFamily="18" charset="0"/>
                <a:ea typeface="楷体_GB2312" pitchFamily="49" charset="-122"/>
              </a:rPr>
              <a:t>74xx180</a:t>
            </a:r>
            <a:r>
              <a:rPr lang="zh-CN" altLang="en-US" sz="2000" dirty="0">
                <a:latin typeface="Times New Roman" panose="02020603050405020304" pitchFamily="18" charset="0"/>
                <a:ea typeface="楷体_GB2312" pitchFamily="49" charset="-122"/>
              </a:rPr>
              <a:t>功能表</a:t>
            </a:r>
          </a:p>
        </p:txBody>
      </p:sp>
      <p:grpSp>
        <p:nvGrpSpPr>
          <p:cNvPr id="2" name="Group 136"/>
          <p:cNvGrpSpPr/>
          <p:nvPr/>
        </p:nvGrpSpPr>
        <p:grpSpPr>
          <a:xfrm>
            <a:off x="7573963" y="2027238"/>
            <a:ext cx="2881312" cy="2438400"/>
            <a:chOff x="3811" y="1277"/>
            <a:chExt cx="1815" cy="1536"/>
          </a:xfrm>
        </p:grpSpPr>
        <p:grpSp>
          <p:nvGrpSpPr>
            <p:cNvPr id="199709" name="Group 87"/>
            <p:cNvGrpSpPr/>
            <p:nvPr/>
          </p:nvGrpSpPr>
          <p:grpSpPr>
            <a:xfrm>
              <a:off x="3946" y="1277"/>
              <a:ext cx="1680" cy="1536"/>
              <a:chOff x="3840" y="2208"/>
              <a:chExt cx="1680" cy="1536"/>
            </a:xfrm>
          </p:grpSpPr>
          <p:grpSp>
            <p:nvGrpSpPr>
              <p:cNvPr id="199712" name="Group 88"/>
              <p:cNvGrpSpPr/>
              <p:nvPr/>
            </p:nvGrpSpPr>
            <p:grpSpPr>
              <a:xfrm>
                <a:off x="3840" y="2208"/>
                <a:ext cx="1680" cy="1536"/>
                <a:chOff x="3840" y="2208"/>
                <a:chExt cx="1680" cy="1536"/>
              </a:xfrm>
            </p:grpSpPr>
            <p:sp>
              <p:nvSpPr>
                <p:cNvPr id="199714" name="Text Box 89"/>
                <p:cNvSpPr txBox="1"/>
                <p:nvPr/>
              </p:nvSpPr>
              <p:spPr>
                <a:xfrm>
                  <a:off x="4430" y="2352"/>
                  <a:ext cx="500"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2k+1</a:t>
                  </a:r>
                </a:p>
              </p:txBody>
            </p:sp>
            <p:sp>
              <p:nvSpPr>
                <p:cNvPr id="199715" name="Rectangle 90"/>
                <p:cNvSpPr/>
                <p:nvPr/>
              </p:nvSpPr>
              <p:spPr>
                <a:xfrm>
                  <a:off x="4294" y="2208"/>
                  <a:ext cx="636" cy="15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199716" name="Line 91"/>
                <p:cNvSpPr/>
                <p:nvPr/>
              </p:nvSpPr>
              <p:spPr>
                <a:xfrm>
                  <a:off x="4067" y="2352"/>
                  <a:ext cx="227" cy="0"/>
                </a:xfrm>
                <a:prstGeom prst="line">
                  <a:avLst/>
                </a:prstGeom>
                <a:ln w="9525" cap="flat" cmpd="sng">
                  <a:solidFill>
                    <a:schemeClr val="tx1"/>
                  </a:solidFill>
                  <a:prstDash val="solid"/>
                  <a:headEnd type="none" w="med" len="med"/>
                  <a:tailEnd type="none" w="med" len="med"/>
                </a:ln>
              </p:spPr>
            </p:sp>
            <p:sp>
              <p:nvSpPr>
                <p:cNvPr id="199717" name="Line 92"/>
                <p:cNvSpPr/>
                <p:nvPr/>
              </p:nvSpPr>
              <p:spPr>
                <a:xfrm>
                  <a:off x="4067" y="2496"/>
                  <a:ext cx="227" cy="0"/>
                </a:xfrm>
                <a:prstGeom prst="line">
                  <a:avLst/>
                </a:prstGeom>
                <a:ln w="9525" cap="flat" cmpd="sng">
                  <a:solidFill>
                    <a:schemeClr val="tx1"/>
                  </a:solidFill>
                  <a:prstDash val="solid"/>
                  <a:headEnd type="none" w="med" len="med"/>
                  <a:tailEnd type="none" w="med" len="med"/>
                </a:ln>
              </p:spPr>
            </p:sp>
            <p:sp>
              <p:nvSpPr>
                <p:cNvPr id="199718" name="Line 93"/>
                <p:cNvSpPr/>
                <p:nvPr/>
              </p:nvSpPr>
              <p:spPr>
                <a:xfrm>
                  <a:off x="4067" y="2613"/>
                  <a:ext cx="227" cy="0"/>
                </a:xfrm>
                <a:prstGeom prst="line">
                  <a:avLst/>
                </a:prstGeom>
                <a:ln w="9525" cap="flat" cmpd="sng">
                  <a:solidFill>
                    <a:schemeClr val="tx1"/>
                  </a:solidFill>
                  <a:prstDash val="solid"/>
                  <a:headEnd type="none" w="med" len="med"/>
                  <a:tailEnd type="none" w="med" len="med"/>
                </a:ln>
              </p:spPr>
            </p:sp>
            <p:sp>
              <p:nvSpPr>
                <p:cNvPr id="199719" name="Line 94"/>
                <p:cNvSpPr/>
                <p:nvPr/>
              </p:nvSpPr>
              <p:spPr>
                <a:xfrm>
                  <a:off x="4067" y="2757"/>
                  <a:ext cx="227" cy="0"/>
                </a:xfrm>
                <a:prstGeom prst="line">
                  <a:avLst/>
                </a:prstGeom>
                <a:ln w="9525" cap="flat" cmpd="sng">
                  <a:solidFill>
                    <a:schemeClr val="tx1"/>
                  </a:solidFill>
                  <a:prstDash val="solid"/>
                  <a:headEnd type="none" w="med" len="med"/>
                  <a:tailEnd type="none" w="med" len="med"/>
                </a:ln>
              </p:spPr>
            </p:sp>
            <p:sp>
              <p:nvSpPr>
                <p:cNvPr id="199720" name="Text Box 95"/>
                <p:cNvSpPr txBox="1"/>
                <p:nvPr/>
              </p:nvSpPr>
              <p:spPr>
                <a:xfrm>
                  <a:off x="3840" y="2256"/>
                  <a:ext cx="227" cy="1182"/>
                </a:xfrm>
                <a:prstGeom prst="rect">
                  <a:avLst/>
                </a:prstGeom>
                <a:noFill/>
                <a:ln w="9525">
                  <a:noFill/>
                </a:ln>
              </p:spPr>
              <p:txBody>
                <a:bodyPr>
                  <a:spAutoFit/>
                </a:bodyPr>
                <a:lstStyle/>
                <a:p>
                  <a:pPr algn="just">
                    <a:lnSpc>
                      <a:spcPct val="60000"/>
                    </a:lnSpc>
                    <a:spcBef>
                      <a:spcPct val="50000"/>
                    </a:spcBef>
                  </a:pPr>
                  <a:r>
                    <a:rPr lang="en-US" altLang="zh-CN" sz="1400" dirty="0">
                      <a:solidFill>
                        <a:schemeClr val="tx1"/>
                      </a:solidFill>
                      <a:latin typeface="Arial" panose="020B0604020202020204" pitchFamily="34" charset="0"/>
                    </a:rPr>
                    <a:t>A</a:t>
                  </a:r>
                </a:p>
                <a:p>
                  <a:pPr algn="just">
                    <a:lnSpc>
                      <a:spcPct val="60000"/>
                    </a:lnSpc>
                    <a:spcBef>
                      <a:spcPct val="50000"/>
                    </a:spcBef>
                  </a:pPr>
                  <a:r>
                    <a:rPr lang="en-US" altLang="zh-CN" sz="1400" dirty="0">
                      <a:solidFill>
                        <a:schemeClr val="tx1"/>
                      </a:solidFill>
                      <a:latin typeface="Arial" panose="020B0604020202020204" pitchFamily="34" charset="0"/>
                    </a:rPr>
                    <a:t>B</a:t>
                  </a:r>
                </a:p>
                <a:p>
                  <a:pPr algn="just">
                    <a:lnSpc>
                      <a:spcPct val="60000"/>
                    </a:lnSpc>
                    <a:spcBef>
                      <a:spcPct val="50000"/>
                    </a:spcBef>
                  </a:pPr>
                  <a:r>
                    <a:rPr lang="en-US" altLang="zh-CN" sz="1400" dirty="0">
                      <a:solidFill>
                        <a:schemeClr val="tx1"/>
                      </a:solidFill>
                      <a:latin typeface="Arial" panose="020B0604020202020204" pitchFamily="34" charset="0"/>
                    </a:rPr>
                    <a:t>C</a:t>
                  </a:r>
                </a:p>
                <a:p>
                  <a:pPr algn="just">
                    <a:lnSpc>
                      <a:spcPct val="60000"/>
                    </a:lnSpc>
                    <a:spcBef>
                      <a:spcPct val="50000"/>
                    </a:spcBef>
                  </a:pPr>
                  <a:r>
                    <a:rPr lang="en-US" altLang="zh-CN" sz="1400" dirty="0">
                      <a:solidFill>
                        <a:schemeClr val="tx1"/>
                      </a:solidFill>
                      <a:latin typeface="Arial" panose="020B0604020202020204" pitchFamily="34" charset="0"/>
                    </a:rPr>
                    <a:t>D</a:t>
                  </a:r>
                </a:p>
                <a:p>
                  <a:pPr algn="just">
                    <a:lnSpc>
                      <a:spcPct val="60000"/>
                    </a:lnSpc>
                    <a:spcBef>
                      <a:spcPct val="50000"/>
                    </a:spcBef>
                  </a:pPr>
                  <a:r>
                    <a:rPr lang="en-US" altLang="zh-CN" sz="1400" dirty="0">
                      <a:solidFill>
                        <a:schemeClr val="tx1"/>
                      </a:solidFill>
                      <a:latin typeface="Arial" panose="020B0604020202020204" pitchFamily="34" charset="0"/>
                    </a:rPr>
                    <a:t>E</a:t>
                  </a:r>
                </a:p>
                <a:p>
                  <a:pPr algn="just">
                    <a:lnSpc>
                      <a:spcPct val="60000"/>
                    </a:lnSpc>
                    <a:spcBef>
                      <a:spcPct val="50000"/>
                    </a:spcBef>
                  </a:pPr>
                  <a:r>
                    <a:rPr lang="en-US" altLang="zh-CN" sz="1400" dirty="0">
                      <a:solidFill>
                        <a:schemeClr val="tx1"/>
                      </a:solidFill>
                      <a:latin typeface="Arial" panose="020B0604020202020204" pitchFamily="34" charset="0"/>
                    </a:rPr>
                    <a:t>F</a:t>
                  </a:r>
                </a:p>
                <a:p>
                  <a:pPr algn="just">
                    <a:lnSpc>
                      <a:spcPct val="60000"/>
                    </a:lnSpc>
                    <a:spcBef>
                      <a:spcPct val="50000"/>
                    </a:spcBef>
                  </a:pPr>
                  <a:r>
                    <a:rPr lang="en-US" altLang="zh-CN" sz="1400" dirty="0">
                      <a:solidFill>
                        <a:schemeClr val="tx1"/>
                      </a:solidFill>
                      <a:latin typeface="Arial" panose="020B0604020202020204" pitchFamily="34" charset="0"/>
                    </a:rPr>
                    <a:t>G</a:t>
                  </a:r>
                </a:p>
                <a:p>
                  <a:pPr algn="just">
                    <a:lnSpc>
                      <a:spcPct val="60000"/>
                    </a:lnSpc>
                    <a:spcBef>
                      <a:spcPct val="50000"/>
                    </a:spcBef>
                  </a:pPr>
                  <a:r>
                    <a:rPr lang="en-US" altLang="zh-CN" sz="1400" dirty="0">
                      <a:solidFill>
                        <a:schemeClr val="tx1"/>
                      </a:solidFill>
                      <a:latin typeface="Arial" panose="020B0604020202020204" pitchFamily="34" charset="0"/>
                    </a:rPr>
                    <a:t>H</a:t>
                  </a:r>
                </a:p>
              </p:txBody>
            </p:sp>
            <p:sp>
              <p:nvSpPr>
                <p:cNvPr id="199721" name="Text Box 96"/>
                <p:cNvSpPr txBox="1"/>
                <p:nvPr/>
              </p:nvSpPr>
              <p:spPr>
                <a:xfrm>
                  <a:off x="5111" y="2699"/>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en-US" altLang="zh-CN" sz="1600" dirty="0">
                    <a:solidFill>
                      <a:schemeClr val="tx1"/>
                    </a:solidFill>
                    <a:latin typeface="Arial" panose="020B0604020202020204" pitchFamily="34" charset="0"/>
                  </a:endParaRPr>
                </a:p>
              </p:txBody>
            </p:sp>
            <p:sp>
              <p:nvSpPr>
                <p:cNvPr id="199722" name="Text Box 97"/>
                <p:cNvSpPr txBox="1"/>
                <p:nvPr/>
              </p:nvSpPr>
              <p:spPr>
                <a:xfrm>
                  <a:off x="5111" y="3083"/>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sp>
              <p:nvSpPr>
                <p:cNvPr id="199723" name="Line 98"/>
                <p:cNvSpPr/>
                <p:nvPr/>
              </p:nvSpPr>
              <p:spPr>
                <a:xfrm>
                  <a:off x="4930" y="2784"/>
                  <a:ext cx="181" cy="0"/>
                </a:xfrm>
                <a:prstGeom prst="line">
                  <a:avLst/>
                </a:prstGeom>
                <a:ln w="9525" cap="flat" cmpd="sng">
                  <a:solidFill>
                    <a:schemeClr val="tx1"/>
                  </a:solidFill>
                  <a:prstDash val="solid"/>
                  <a:headEnd type="none" w="med" len="med"/>
                  <a:tailEnd type="none" w="med" len="med"/>
                </a:ln>
              </p:spPr>
            </p:sp>
            <p:sp>
              <p:nvSpPr>
                <p:cNvPr id="199724" name="Line 99"/>
                <p:cNvSpPr/>
                <p:nvPr/>
              </p:nvSpPr>
              <p:spPr>
                <a:xfrm>
                  <a:off x="4930" y="3168"/>
                  <a:ext cx="181" cy="0"/>
                </a:xfrm>
                <a:prstGeom prst="line">
                  <a:avLst/>
                </a:prstGeom>
                <a:ln w="9525" cap="flat" cmpd="sng">
                  <a:solidFill>
                    <a:schemeClr val="tx1"/>
                  </a:solidFill>
                  <a:prstDash val="solid"/>
                  <a:headEnd type="none" w="med" len="med"/>
                  <a:tailEnd type="none" w="med" len="med"/>
                </a:ln>
              </p:spPr>
            </p:sp>
            <p:sp>
              <p:nvSpPr>
                <p:cNvPr id="199725" name="Line 100"/>
                <p:cNvSpPr/>
                <p:nvPr/>
              </p:nvSpPr>
              <p:spPr>
                <a:xfrm>
                  <a:off x="4062" y="2886"/>
                  <a:ext cx="227" cy="0"/>
                </a:xfrm>
                <a:prstGeom prst="line">
                  <a:avLst/>
                </a:prstGeom>
                <a:ln w="9525" cap="flat" cmpd="sng">
                  <a:solidFill>
                    <a:schemeClr val="tx1"/>
                  </a:solidFill>
                  <a:prstDash val="solid"/>
                  <a:headEnd type="none" w="med" len="med"/>
                  <a:tailEnd type="none" w="med" len="med"/>
                </a:ln>
              </p:spPr>
            </p:sp>
            <p:sp>
              <p:nvSpPr>
                <p:cNvPr id="199726" name="Line 101"/>
                <p:cNvSpPr/>
                <p:nvPr/>
              </p:nvSpPr>
              <p:spPr>
                <a:xfrm>
                  <a:off x="4062" y="3186"/>
                  <a:ext cx="227" cy="0"/>
                </a:xfrm>
                <a:prstGeom prst="line">
                  <a:avLst/>
                </a:prstGeom>
                <a:ln w="9525" cap="flat" cmpd="sng">
                  <a:solidFill>
                    <a:schemeClr val="tx1"/>
                  </a:solidFill>
                  <a:prstDash val="solid"/>
                  <a:headEnd type="none" w="med" len="med"/>
                  <a:tailEnd type="none" w="med" len="med"/>
                </a:ln>
              </p:spPr>
            </p:sp>
            <p:sp>
              <p:nvSpPr>
                <p:cNvPr id="199727" name="Line 102"/>
                <p:cNvSpPr/>
                <p:nvPr/>
              </p:nvSpPr>
              <p:spPr>
                <a:xfrm>
                  <a:off x="4062" y="3312"/>
                  <a:ext cx="227" cy="0"/>
                </a:xfrm>
                <a:prstGeom prst="line">
                  <a:avLst/>
                </a:prstGeom>
                <a:ln w="9525" cap="flat" cmpd="sng">
                  <a:solidFill>
                    <a:schemeClr val="tx1"/>
                  </a:solidFill>
                  <a:prstDash val="solid"/>
                  <a:headEnd type="none" w="med" len="med"/>
                  <a:tailEnd type="none" w="med" len="med"/>
                </a:ln>
              </p:spPr>
            </p:sp>
            <p:sp>
              <p:nvSpPr>
                <p:cNvPr id="199728" name="Line 103"/>
                <p:cNvSpPr/>
                <p:nvPr/>
              </p:nvSpPr>
              <p:spPr>
                <a:xfrm>
                  <a:off x="4062" y="3033"/>
                  <a:ext cx="227" cy="0"/>
                </a:xfrm>
                <a:prstGeom prst="line">
                  <a:avLst/>
                </a:prstGeom>
                <a:ln w="9525" cap="flat" cmpd="sng">
                  <a:solidFill>
                    <a:schemeClr val="tx1"/>
                  </a:solidFill>
                  <a:prstDash val="solid"/>
                  <a:headEnd type="none" w="med" len="med"/>
                  <a:tailEnd type="none" w="med" len="med"/>
                </a:ln>
              </p:spPr>
            </p:sp>
            <p:sp>
              <p:nvSpPr>
                <p:cNvPr id="199729" name="Line 104"/>
                <p:cNvSpPr/>
                <p:nvPr/>
              </p:nvSpPr>
              <p:spPr>
                <a:xfrm>
                  <a:off x="4063" y="3456"/>
                  <a:ext cx="227" cy="0"/>
                </a:xfrm>
                <a:prstGeom prst="line">
                  <a:avLst/>
                </a:prstGeom>
                <a:ln w="9525" cap="flat" cmpd="sng">
                  <a:solidFill>
                    <a:schemeClr val="tx1"/>
                  </a:solidFill>
                  <a:prstDash val="solid"/>
                  <a:headEnd type="none" w="med" len="med"/>
                  <a:tailEnd type="none" w="med" len="med"/>
                </a:ln>
              </p:spPr>
            </p:sp>
            <p:sp>
              <p:nvSpPr>
                <p:cNvPr id="199730" name="Line 105"/>
                <p:cNvSpPr/>
                <p:nvPr/>
              </p:nvSpPr>
              <p:spPr>
                <a:xfrm>
                  <a:off x="4063" y="3606"/>
                  <a:ext cx="227" cy="0"/>
                </a:xfrm>
                <a:prstGeom prst="line">
                  <a:avLst/>
                </a:prstGeom>
                <a:ln w="9525" cap="flat" cmpd="sng">
                  <a:solidFill>
                    <a:schemeClr val="tx1"/>
                  </a:solidFill>
                  <a:prstDash val="solid"/>
                  <a:headEnd type="none" w="med" len="med"/>
                  <a:tailEnd type="none" w="med" len="med"/>
                </a:ln>
              </p:spPr>
            </p:sp>
            <p:sp>
              <p:nvSpPr>
                <p:cNvPr id="199731" name="Text Box 106"/>
                <p:cNvSpPr txBox="1"/>
                <p:nvPr/>
              </p:nvSpPr>
              <p:spPr>
                <a:xfrm>
                  <a:off x="4320" y="3371"/>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ODD</a:t>
                  </a:r>
                </a:p>
              </p:txBody>
            </p:sp>
            <p:sp>
              <p:nvSpPr>
                <p:cNvPr id="199732" name="Text Box 107"/>
                <p:cNvSpPr txBox="1"/>
                <p:nvPr/>
              </p:nvSpPr>
              <p:spPr>
                <a:xfrm>
                  <a:off x="4320" y="3552"/>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EVEN</a:t>
                  </a:r>
                </a:p>
              </p:txBody>
            </p:sp>
          </p:grpSp>
          <p:sp>
            <p:nvSpPr>
              <p:cNvPr id="199713" name="Text Box 108"/>
              <p:cNvSpPr txBox="1"/>
              <p:nvPr/>
            </p:nvSpPr>
            <p:spPr>
              <a:xfrm>
                <a:off x="4368" y="2880"/>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74180</a:t>
                </a:r>
              </a:p>
            </p:txBody>
          </p:sp>
        </p:grpSp>
        <p:sp>
          <p:nvSpPr>
            <p:cNvPr id="199710" name="Text Box 134"/>
            <p:cNvSpPr txBox="1"/>
            <p:nvPr/>
          </p:nvSpPr>
          <p:spPr>
            <a:xfrm>
              <a:off x="3826" y="2443"/>
              <a:ext cx="429" cy="179"/>
            </a:xfrm>
            <a:prstGeom prst="rect">
              <a:avLst/>
            </a:prstGeom>
            <a:noFill/>
            <a:ln w="9525">
              <a:noFill/>
            </a:ln>
          </p:spPr>
          <p:txBody>
            <a:bodyPr>
              <a:spAutoFit/>
            </a:bodyPr>
            <a:lstStyle/>
            <a:p>
              <a:pPr eaLnBrk="1" hangingPunct="1">
                <a:lnSpc>
                  <a:spcPct val="90000"/>
                </a:lnSpc>
              </a:pPr>
              <a:r>
                <a:rPr lang="en-US" altLang="zh-CN" sz="1400" dirty="0">
                  <a:solidFill>
                    <a:schemeClr val="tx1"/>
                  </a:solidFill>
                  <a:latin typeface="Arial" panose="020B0604020202020204" pitchFamily="34" charset="0"/>
                </a:rPr>
                <a:t>ODD</a:t>
              </a:r>
            </a:p>
          </p:txBody>
        </p:sp>
        <p:sp>
          <p:nvSpPr>
            <p:cNvPr id="199711" name="Text Box 135"/>
            <p:cNvSpPr txBox="1"/>
            <p:nvPr/>
          </p:nvSpPr>
          <p:spPr>
            <a:xfrm>
              <a:off x="3811" y="2595"/>
              <a:ext cx="429" cy="179"/>
            </a:xfrm>
            <a:prstGeom prst="rect">
              <a:avLst/>
            </a:prstGeom>
            <a:noFill/>
            <a:ln w="9525">
              <a:noFill/>
            </a:ln>
          </p:spPr>
          <p:txBody>
            <a:bodyPr>
              <a:spAutoFit/>
            </a:bodyPr>
            <a:lstStyle/>
            <a:p>
              <a:pPr eaLnBrk="1" hangingPunct="1">
                <a:lnSpc>
                  <a:spcPct val="90000"/>
                </a:lnSpc>
              </a:pPr>
              <a:r>
                <a:rPr lang="en-US" altLang="zh-CN" sz="1400" dirty="0">
                  <a:solidFill>
                    <a:schemeClr val="tx1"/>
                  </a:solidFill>
                  <a:latin typeface="Arial" panose="020B0604020202020204" pitchFamily="34" charset="0"/>
                </a:rPr>
                <a:t>EVEN</a:t>
              </a:r>
            </a:p>
          </p:txBody>
        </p:sp>
      </p:grpSp>
      <p:sp>
        <p:nvSpPr>
          <p:cNvPr id="301194" name="AutoShape 138"/>
          <p:cNvSpPr/>
          <p:nvPr/>
        </p:nvSpPr>
        <p:spPr>
          <a:xfrm>
            <a:off x="9348788" y="4210050"/>
            <a:ext cx="1150937" cy="682625"/>
          </a:xfrm>
          <a:prstGeom prst="wedgeRoundRectCallout">
            <a:avLst>
              <a:gd name="adj1" fmla="val -75241"/>
              <a:gd name="adj2" fmla="val -84417"/>
              <a:gd name="adj3" fmla="val 16667"/>
            </a:avLst>
          </a:prstGeom>
          <a:solidFill>
            <a:srgbClr val="CCFFFF"/>
          </a:solidFill>
          <a:ln w="9525" cap="flat" cmpd="sng">
            <a:solidFill>
              <a:srgbClr val="FF6600"/>
            </a:solidFill>
            <a:prstDash val="solid"/>
            <a:miter/>
            <a:headEnd type="none" w="med" len="med"/>
            <a:tailEnd type="none" w="med" len="med"/>
          </a:ln>
          <a:effectLst>
            <a:prstShdw prst="shdw17" dist="17961" dir="2699999">
              <a:srgbClr val="993D00"/>
            </a:prstShdw>
          </a:effectLst>
        </p:spPr>
        <p:txBody>
          <a:bodyPr anchor="b" anchorCtr="0"/>
          <a:lstStyle/>
          <a:p>
            <a:pPr eaLnBrk="1" hangingPunct="1">
              <a:lnSpc>
                <a:spcPct val="90000"/>
              </a:lnSpc>
            </a:pPr>
            <a:r>
              <a:rPr lang="zh-CN" altLang="en-US" sz="2000" dirty="0">
                <a:solidFill>
                  <a:schemeClr val="tx1"/>
                </a:solidFill>
                <a:latin typeface="Times New Roman" panose="02020603050405020304" pitchFamily="18" charset="0"/>
                <a:ea typeface="楷体_GB2312" pitchFamily="49" charset="-122"/>
              </a:rPr>
              <a:t>奇控制输入端</a:t>
            </a:r>
          </a:p>
        </p:txBody>
      </p:sp>
      <p:sp>
        <p:nvSpPr>
          <p:cNvPr id="301196" name="AutoShape 140"/>
          <p:cNvSpPr/>
          <p:nvPr/>
        </p:nvSpPr>
        <p:spPr>
          <a:xfrm>
            <a:off x="7870825" y="4743450"/>
            <a:ext cx="1074738" cy="682625"/>
          </a:xfrm>
          <a:prstGeom prst="wedgeRoundRectCallout">
            <a:avLst>
              <a:gd name="adj1" fmla="val 30356"/>
              <a:gd name="adj2" fmla="val -107208"/>
              <a:gd name="adj3" fmla="val 16667"/>
            </a:avLst>
          </a:prstGeom>
          <a:solidFill>
            <a:srgbClr val="FFFFCC"/>
          </a:solidFill>
          <a:ln w="9525" cap="flat" cmpd="sng">
            <a:solidFill>
              <a:srgbClr val="FF6600"/>
            </a:solidFill>
            <a:prstDash val="solid"/>
            <a:miter/>
            <a:headEnd type="none" w="med" len="med"/>
            <a:tailEnd type="none" w="med" len="med"/>
          </a:ln>
          <a:effectLst>
            <a:prstShdw prst="shdw17" dist="17961" dir="2699999">
              <a:srgbClr val="993D00"/>
            </a:prstShdw>
          </a:effectLst>
        </p:spPr>
        <p:txBody>
          <a:bodyPr anchor="b" anchorCtr="0"/>
          <a:lstStyle/>
          <a:p>
            <a:pPr algn="dist" eaLnBrk="1" hangingPunct="1">
              <a:lnSpc>
                <a:spcPct val="90000"/>
              </a:lnSpc>
            </a:pPr>
            <a:r>
              <a:rPr lang="zh-CN" altLang="en-US" sz="2000" dirty="0">
                <a:solidFill>
                  <a:schemeClr val="tx1"/>
                </a:solidFill>
                <a:latin typeface="Times New Roman" panose="02020603050405020304" pitchFamily="18" charset="0"/>
                <a:ea typeface="楷体_GB2312" pitchFamily="49" charset="-122"/>
              </a:rPr>
              <a:t>偶控制输入端</a:t>
            </a:r>
          </a:p>
        </p:txBody>
      </p:sp>
      <p:sp>
        <p:nvSpPr>
          <p:cNvPr id="301200" name="AutoShape 144"/>
          <p:cNvSpPr/>
          <p:nvPr/>
        </p:nvSpPr>
        <p:spPr>
          <a:xfrm>
            <a:off x="6665913" y="5794375"/>
            <a:ext cx="190500" cy="511175"/>
          </a:xfrm>
          <a:prstGeom prst="rightBrace">
            <a:avLst>
              <a:gd name="adj1" fmla="val 22224"/>
              <a:gd name="adj2" fmla="val 50000"/>
            </a:avLst>
          </a:prstGeom>
          <a:noFill/>
          <a:ln w="19050" cap="flat" cmpd="sng">
            <a:solidFill>
              <a:srgbClr val="FF0066"/>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301201" name="AutoShape 145"/>
          <p:cNvSpPr/>
          <p:nvPr/>
        </p:nvSpPr>
        <p:spPr>
          <a:xfrm>
            <a:off x="7218363" y="5813425"/>
            <a:ext cx="1312862" cy="682625"/>
          </a:xfrm>
          <a:prstGeom prst="wedgeRoundRectCallout">
            <a:avLst>
              <a:gd name="adj1" fmla="val -73819"/>
              <a:gd name="adj2" fmla="val -15116"/>
              <a:gd name="adj3" fmla="val 16667"/>
            </a:avLst>
          </a:prstGeom>
          <a:solidFill>
            <a:srgbClr val="FFEBEB"/>
          </a:solidFill>
          <a:ln w="9525" cap="flat" cmpd="sng">
            <a:solidFill>
              <a:srgbClr val="FF6600"/>
            </a:solidFill>
            <a:prstDash val="solid"/>
            <a:miter/>
            <a:headEnd type="none" w="med" len="med"/>
            <a:tailEnd type="none" w="med" len="med"/>
          </a:ln>
          <a:effectLst>
            <a:prstShdw prst="shdw17" dist="17961" dir="2699999">
              <a:srgbClr val="993D00"/>
            </a:prstShdw>
          </a:effectLst>
        </p:spPr>
        <p:txBody>
          <a:bodyPr anchor="b" anchorCtr="0"/>
          <a:lstStyle/>
          <a:p>
            <a:pPr eaLnBrk="1" hangingPunct="1">
              <a:lnSpc>
                <a:spcPct val="90000"/>
              </a:lnSpc>
            </a:pPr>
            <a:r>
              <a:rPr lang="en-US" altLang="zh-CN" sz="1400" dirty="0">
                <a:solidFill>
                  <a:schemeClr val="tx1"/>
                </a:solidFill>
                <a:latin typeface="Arial" panose="020B0604020202020204" pitchFamily="34" charset="0"/>
              </a:rPr>
              <a:t>EVEN</a:t>
            </a:r>
            <a:r>
              <a:rPr lang="zh-CN" altLang="en-US" sz="1400" dirty="0">
                <a:solidFill>
                  <a:schemeClr val="tx1"/>
                </a:solidFill>
                <a:latin typeface="Arial" panose="020B0604020202020204" pitchFamily="34" charset="0"/>
              </a:rPr>
              <a:t>和</a:t>
            </a:r>
            <a:r>
              <a:rPr lang="en-US" altLang="zh-CN" sz="1400" dirty="0">
                <a:solidFill>
                  <a:schemeClr val="tx1"/>
                </a:solidFill>
                <a:latin typeface="Arial" panose="020B0604020202020204" pitchFamily="34" charset="0"/>
              </a:rPr>
              <a:t>ODD</a:t>
            </a:r>
            <a:r>
              <a:rPr lang="zh-CN" altLang="en-US" sz="1400" dirty="0">
                <a:solidFill>
                  <a:schemeClr val="tx1"/>
                </a:solidFill>
                <a:latin typeface="Arial" panose="020B0604020202020204" pitchFamily="34" charset="0"/>
              </a:rPr>
              <a:t>同时为</a:t>
            </a:r>
            <a:r>
              <a:rPr lang="en-US" altLang="zh-CN" sz="1400" dirty="0">
                <a:solidFill>
                  <a:schemeClr val="tx1"/>
                </a:solidFill>
                <a:latin typeface="Arial" panose="020B0604020202020204" pitchFamily="34" charset="0"/>
              </a:rPr>
              <a:t>1</a:t>
            </a:r>
            <a:r>
              <a:rPr lang="zh-CN" altLang="en-US" sz="1400" dirty="0">
                <a:solidFill>
                  <a:schemeClr val="tx1"/>
                </a:solidFill>
                <a:latin typeface="Arial" panose="020B0604020202020204" pitchFamily="34" charset="0"/>
              </a:rPr>
              <a:t>或</a:t>
            </a:r>
            <a:r>
              <a:rPr lang="en-US" altLang="zh-CN" sz="1400" dirty="0">
                <a:solidFill>
                  <a:schemeClr val="tx1"/>
                </a:solidFill>
                <a:latin typeface="Arial" panose="020B0604020202020204" pitchFamily="34" charset="0"/>
              </a:rPr>
              <a:t>0</a:t>
            </a:r>
            <a:r>
              <a:rPr lang="zh-CN" altLang="en-US" sz="1400" dirty="0">
                <a:solidFill>
                  <a:schemeClr val="tx1"/>
                </a:solidFill>
                <a:latin typeface="Arial" panose="020B0604020202020204" pitchFamily="34" charset="0"/>
              </a:rPr>
              <a:t>没有意义</a:t>
            </a: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301185"/>
                                        </p:tgtEl>
                                        <p:attrNameLst>
                                          <p:attrName>style.visibility</p:attrName>
                                        </p:attrNameLst>
                                      </p:cBhvr>
                                      <p:to>
                                        <p:strVal val="visible"/>
                                      </p:to>
                                    </p:set>
                                  </p:childTnLst>
                                </p:cTn>
                              </p:par>
                            </p:childTnLst>
                          </p:cTn>
                        </p:par>
                        <p:par>
                          <p:cTn id="7" fill="hold">
                            <p:stCondLst>
                              <p:cond delay="500"/>
                            </p:stCondLst>
                            <p:childTnLst>
                              <p:par>
                                <p:cTn id="8" presetID="2" presetClass="entr" presetSubtype="8" fill="hold" grpId="0" nodeType="afterEffect">
                                  <p:stCondLst>
                                    <p:cond delay="0"/>
                                  </p:stCondLst>
                                  <p:childTnLst>
                                    <p:set>
                                      <p:cBhvr>
                                        <p:cTn id="9" dur="1" fill="hold">
                                          <p:stCondLst>
                                            <p:cond delay="0"/>
                                          </p:stCondLst>
                                        </p:cTn>
                                        <p:tgtEl>
                                          <p:spTgt spid="301186"/>
                                        </p:tgtEl>
                                        <p:attrNameLst>
                                          <p:attrName>style.visibility</p:attrName>
                                        </p:attrNameLst>
                                      </p:cBhvr>
                                      <p:to>
                                        <p:strVal val="visible"/>
                                      </p:to>
                                    </p:set>
                                    <p:anim calcmode="lin" valueType="num">
                                      <p:cBhvr additive="base">
                                        <p:cTn id="10" dur="500" fill="hold"/>
                                        <p:tgtEl>
                                          <p:spTgt spid="301186"/>
                                        </p:tgtEl>
                                        <p:attrNameLst>
                                          <p:attrName>ppt_x</p:attrName>
                                        </p:attrNameLst>
                                      </p:cBhvr>
                                      <p:tavLst>
                                        <p:tav tm="0">
                                          <p:val>
                                            <p:strVal val="0-#ppt_w/2"/>
                                          </p:val>
                                        </p:tav>
                                        <p:tav tm="100000">
                                          <p:val>
                                            <p:strVal val="#ppt_x"/>
                                          </p:val>
                                        </p:tav>
                                      </p:tavLst>
                                    </p:anim>
                                    <p:anim calcmode="lin" valueType="num">
                                      <p:cBhvr additive="base">
                                        <p:cTn id="11" dur="500" fill="hold"/>
                                        <p:tgtEl>
                                          <p:spTgt spid="301186"/>
                                        </p:tgtEl>
                                        <p:attrNameLst>
                                          <p:attrName>ppt_y</p:attrName>
                                        </p:attrNameLst>
                                      </p:cBhvr>
                                      <p:tavLst>
                                        <p:tav tm="0">
                                          <p:val>
                                            <p:strVal val="#ppt_y"/>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grpId="0" nodeType="clickEffect">
                                  <p:stCondLst>
                                    <p:cond delay="0"/>
                                  </p:stCondLst>
                                  <p:childTnLst>
                                    <p:set>
                                      <p:cBhvr>
                                        <p:cTn id="20" dur="1" fill="hold">
                                          <p:stCondLst>
                                            <p:cond delay="0"/>
                                          </p:stCondLst>
                                        </p:cTn>
                                        <p:tgtEl>
                                          <p:spTgt spid="301187"/>
                                        </p:tgtEl>
                                        <p:attrNameLst>
                                          <p:attrName>style.visibility</p:attrName>
                                        </p:attrNameLst>
                                      </p:cBhvr>
                                      <p:to>
                                        <p:strVal val="visible"/>
                                      </p:to>
                                    </p:set>
                                    <p:anim calcmode="lin" valueType="num">
                                      <p:cBhvr>
                                        <p:cTn id="21" dur="500" fill="hold"/>
                                        <p:tgtEl>
                                          <p:spTgt spid="301187"/>
                                        </p:tgtEl>
                                        <p:attrNameLst>
                                          <p:attrName>ppt_w</p:attrName>
                                        </p:attrNameLst>
                                      </p:cBhvr>
                                      <p:tavLst>
                                        <p:tav tm="0">
                                          <p:val>
                                            <p:fltVal val="0"/>
                                          </p:val>
                                        </p:tav>
                                        <p:tav tm="100000">
                                          <p:val>
                                            <p:strVal val="#ppt_w"/>
                                          </p:val>
                                        </p:tav>
                                      </p:tavLst>
                                    </p:anim>
                                    <p:anim calcmode="lin" valueType="num">
                                      <p:cBhvr>
                                        <p:cTn id="22" dur="500" fill="hold"/>
                                        <p:tgtEl>
                                          <p:spTgt spid="301187"/>
                                        </p:tgtEl>
                                        <p:attrNameLst>
                                          <p:attrName>ppt_h</p:attrName>
                                        </p:attrNameLst>
                                      </p:cBhvr>
                                      <p:tavLst>
                                        <p:tav tm="0">
                                          <p:val>
                                            <p:fltVal val="0"/>
                                          </p:val>
                                        </p:tav>
                                        <p:tav tm="100000">
                                          <p:val>
                                            <p:strVal val="#ppt_h"/>
                                          </p:val>
                                        </p:tav>
                                      </p:tavLst>
                                    </p:anim>
                                  </p:childTnLst>
                                </p:cTn>
                              </p:par>
                            </p:childTnLst>
                          </p:cTn>
                        </p:par>
                        <p:par>
                          <p:cTn id="23" fill="hold">
                            <p:stCondLst>
                              <p:cond delay="500"/>
                            </p:stCondLst>
                            <p:childTnLst>
                              <p:par>
                                <p:cTn id="24" presetID="2" presetClass="entr" presetSubtype="8" fill="hold" nodeType="afterEffect">
                                  <p:stCondLst>
                                    <p:cond delay="0"/>
                                  </p:stCondLst>
                                  <p:childTnLst>
                                    <p:set>
                                      <p:cBhvr>
                                        <p:cTn id="25" dur="1" fill="hold">
                                          <p:stCondLst>
                                            <p:cond delay="0"/>
                                          </p:stCondLst>
                                        </p:cTn>
                                        <p:tgtEl>
                                          <p:spTgt spid="101381"/>
                                        </p:tgtEl>
                                        <p:attrNameLst>
                                          <p:attrName>style.visibility</p:attrName>
                                        </p:attrNameLst>
                                      </p:cBhvr>
                                      <p:to>
                                        <p:strVal val="visible"/>
                                      </p:to>
                                    </p:set>
                                    <p:anim calcmode="lin" valueType="num">
                                      <p:cBhvr additive="base">
                                        <p:cTn id="26" dur="500" fill="hold"/>
                                        <p:tgtEl>
                                          <p:spTgt spid="101381"/>
                                        </p:tgtEl>
                                        <p:attrNameLst>
                                          <p:attrName>ppt_x</p:attrName>
                                        </p:attrNameLst>
                                      </p:cBhvr>
                                      <p:tavLst>
                                        <p:tav tm="0">
                                          <p:val>
                                            <p:strVal val="0-#ppt_w/2"/>
                                          </p:val>
                                        </p:tav>
                                        <p:tav tm="100000">
                                          <p:val>
                                            <p:strVal val="#ppt_x"/>
                                          </p:val>
                                        </p:tav>
                                      </p:tavLst>
                                    </p:anim>
                                    <p:anim calcmode="lin" valueType="num">
                                      <p:cBhvr additive="base">
                                        <p:cTn id="27" dur="500" fill="hold"/>
                                        <p:tgtEl>
                                          <p:spTgt spid="101381"/>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301196"/>
                                        </p:tgtEl>
                                        <p:attrNameLst>
                                          <p:attrName>style.visibility</p:attrName>
                                        </p:attrNameLst>
                                      </p:cBhvr>
                                      <p:to>
                                        <p:strVal val="visible"/>
                                      </p:to>
                                    </p:set>
                                    <p:anim calcmode="lin" valueType="num">
                                      <p:cBhvr>
                                        <p:cTn id="32" dur="500" fill="hold"/>
                                        <p:tgtEl>
                                          <p:spTgt spid="301196"/>
                                        </p:tgtEl>
                                        <p:attrNameLst>
                                          <p:attrName>ppt_w</p:attrName>
                                        </p:attrNameLst>
                                      </p:cBhvr>
                                      <p:tavLst>
                                        <p:tav tm="0">
                                          <p:val>
                                            <p:fltVal val="0"/>
                                          </p:val>
                                        </p:tav>
                                        <p:tav tm="100000">
                                          <p:val>
                                            <p:strVal val="#ppt_w"/>
                                          </p:val>
                                        </p:tav>
                                      </p:tavLst>
                                    </p:anim>
                                    <p:anim calcmode="lin" valueType="num">
                                      <p:cBhvr>
                                        <p:cTn id="33" dur="500" fill="hold"/>
                                        <p:tgtEl>
                                          <p:spTgt spid="301196"/>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01194"/>
                                        </p:tgtEl>
                                        <p:attrNameLst>
                                          <p:attrName>style.visibility</p:attrName>
                                        </p:attrNameLst>
                                      </p:cBhvr>
                                      <p:to>
                                        <p:strVal val="visible"/>
                                      </p:to>
                                    </p:set>
                                    <p:animEffect transition="in" filter="dissolve">
                                      <p:cBhvr>
                                        <p:cTn id="38" dur="500"/>
                                        <p:tgtEl>
                                          <p:spTgt spid="301194"/>
                                        </p:tgtEl>
                                      </p:cBhvr>
                                    </p:animEffect>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301200"/>
                                        </p:tgtEl>
                                        <p:attrNameLst>
                                          <p:attrName>style.visibility</p:attrName>
                                        </p:attrNameLst>
                                      </p:cBhvr>
                                      <p:to>
                                        <p:strVal val="visible"/>
                                      </p:to>
                                    </p:set>
                                    <p:anim calcmode="lin" valueType="num">
                                      <p:cBhvr>
                                        <p:cTn id="43" dur="500" fill="hold"/>
                                        <p:tgtEl>
                                          <p:spTgt spid="301200"/>
                                        </p:tgtEl>
                                        <p:attrNameLst>
                                          <p:attrName>ppt_w</p:attrName>
                                        </p:attrNameLst>
                                      </p:cBhvr>
                                      <p:tavLst>
                                        <p:tav tm="0">
                                          <p:val>
                                            <p:fltVal val="0"/>
                                          </p:val>
                                        </p:tav>
                                        <p:tav tm="100000">
                                          <p:val>
                                            <p:strVal val="#ppt_w"/>
                                          </p:val>
                                        </p:tav>
                                      </p:tavLst>
                                    </p:anim>
                                    <p:anim calcmode="lin" valueType="num">
                                      <p:cBhvr>
                                        <p:cTn id="44" dur="500" fill="hold"/>
                                        <p:tgtEl>
                                          <p:spTgt spid="301200"/>
                                        </p:tgtEl>
                                        <p:attrNameLst>
                                          <p:attrName>ppt_h</p:attrName>
                                        </p:attrNameLst>
                                      </p:cBhvr>
                                      <p:tavLst>
                                        <p:tav tm="0">
                                          <p:val>
                                            <p:strVal val="#ppt_h"/>
                                          </p:val>
                                        </p:tav>
                                        <p:tav tm="100000">
                                          <p:val>
                                            <p:strVal val="#ppt_h"/>
                                          </p:val>
                                        </p:tav>
                                      </p:tavLst>
                                    </p:anim>
                                  </p:childTnLst>
                                </p:cTn>
                              </p:par>
                            </p:childTnLst>
                          </p:cTn>
                        </p:par>
                        <p:par>
                          <p:cTn id="45" fill="hold">
                            <p:stCondLst>
                              <p:cond delay="500"/>
                            </p:stCondLst>
                            <p:childTnLst>
                              <p:par>
                                <p:cTn id="46" presetID="23" presetClass="entr" presetSubtype="16" fill="hold" grpId="0" nodeType="afterEffect">
                                  <p:stCondLst>
                                    <p:cond delay="0"/>
                                  </p:stCondLst>
                                  <p:childTnLst>
                                    <p:set>
                                      <p:cBhvr>
                                        <p:cTn id="47" dur="1" fill="hold">
                                          <p:stCondLst>
                                            <p:cond delay="0"/>
                                          </p:stCondLst>
                                        </p:cTn>
                                        <p:tgtEl>
                                          <p:spTgt spid="301201"/>
                                        </p:tgtEl>
                                        <p:attrNameLst>
                                          <p:attrName>style.visibility</p:attrName>
                                        </p:attrNameLst>
                                      </p:cBhvr>
                                      <p:to>
                                        <p:strVal val="visible"/>
                                      </p:to>
                                    </p:set>
                                    <p:anim calcmode="lin" valueType="num">
                                      <p:cBhvr>
                                        <p:cTn id="48" dur="500" fill="hold"/>
                                        <p:tgtEl>
                                          <p:spTgt spid="301201"/>
                                        </p:tgtEl>
                                        <p:attrNameLst>
                                          <p:attrName>ppt_w</p:attrName>
                                        </p:attrNameLst>
                                      </p:cBhvr>
                                      <p:tavLst>
                                        <p:tav tm="0">
                                          <p:val>
                                            <p:fltVal val="0"/>
                                          </p:val>
                                        </p:tav>
                                        <p:tav tm="100000">
                                          <p:val>
                                            <p:strVal val="#ppt_w"/>
                                          </p:val>
                                        </p:tav>
                                      </p:tavLst>
                                    </p:anim>
                                    <p:anim calcmode="lin" valueType="num">
                                      <p:cBhvr>
                                        <p:cTn id="49" dur="500" fill="hold"/>
                                        <p:tgtEl>
                                          <p:spTgt spid="30120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186" grpId="0"/>
      <p:bldP spid="301185" grpId="0" bldLvl="0" animBg="1"/>
      <p:bldP spid="301187" grpId="0"/>
      <p:bldP spid="301194" grpId="0" bldLvl="0" animBg="1"/>
      <p:bldP spid="301196" grpId="0" bldLvl="0" animBg="1"/>
      <p:bldP spid="301200" grpId="0" bldLvl="0" animBg="1"/>
      <p:bldP spid="301201"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p:cNvSpPr>
          <p:nvPr>
            <p:ph type="title"/>
          </p:nvPr>
        </p:nvSpPr>
        <p:spPr>
          <a:xfrm>
            <a:off x="3028950" y="479425"/>
            <a:ext cx="6858000"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奇偶校验系统</a:t>
            </a:r>
          </a:p>
        </p:txBody>
      </p:sp>
      <p:sp>
        <p:nvSpPr>
          <p:cNvPr id="201731"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31</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161032" name="Text Box 264"/>
          <p:cNvSpPr txBox="1"/>
          <p:nvPr/>
        </p:nvSpPr>
        <p:spPr>
          <a:xfrm>
            <a:off x="3995738" y="5270500"/>
            <a:ext cx="2286000" cy="368300"/>
          </a:xfrm>
          <a:prstGeom prst="rect">
            <a:avLst/>
          </a:prstGeom>
          <a:noFill/>
          <a:ln w="9525">
            <a:noFill/>
          </a:ln>
        </p:spPr>
        <p:txBody>
          <a:bodyPr>
            <a:spAutoFit/>
          </a:bodyPr>
          <a:lstStyle/>
          <a:p>
            <a:pPr algn="ctr">
              <a:lnSpc>
                <a:spcPct val="90000"/>
              </a:lnSpc>
              <a:spcBef>
                <a:spcPct val="50000"/>
              </a:spcBef>
            </a:pPr>
            <a:r>
              <a:rPr lang="zh-CN" altLang="en-US" sz="2000" dirty="0">
                <a:latin typeface="Arial" panose="020B0604020202020204" pitchFamily="34" charset="0"/>
                <a:ea typeface="楷体_GB2312" pitchFamily="49" charset="-122"/>
              </a:rPr>
              <a:t>奇产生器（发端）</a:t>
            </a:r>
          </a:p>
        </p:txBody>
      </p:sp>
      <p:sp>
        <p:nvSpPr>
          <p:cNvPr id="161033" name="Text Box 265"/>
          <p:cNvSpPr txBox="1"/>
          <p:nvPr/>
        </p:nvSpPr>
        <p:spPr>
          <a:xfrm>
            <a:off x="7685088" y="5156200"/>
            <a:ext cx="2482850" cy="368300"/>
          </a:xfrm>
          <a:prstGeom prst="rect">
            <a:avLst/>
          </a:prstGeom>
          <a:noFill/>
          <a:ln w="9525">
            <a:noFill/>
          </a:ln>
        </p:spPr>
        <p:txBody>
          <a:bodyPr>
            <a:spAutoFit/>
          </a:bodyPr>
          <a:lstStyle/>
          <a:p>
            <a:pPr algn="ctr">
              <a:lnSpc>
                <a:spcPct val="90000"/>
              </a:lnSpc>
              <a:spcBef>
                <a:spcPct val="50000"/>
              </a:spcBef>
            </a:pPr>
            <a:r>
              <a:rPr lang="zh-CN" altLang="en-US" sz="2000" dirty="0">
                <a:latin typeface="Arial" panose="020B0604020202020204" pitchFamily="34" charset="0"/>
                <a:ea typeface="楷体_GB2312" pitchFamily="49" charset="-122"/>
              </a:rPr>
              <a:t>奇校验器（收端）</a:t>
            </a:r>
          </a:p>
        </p:txBody>
      </p:sp>
      <p:sp>
        <p:nvSpPr>
          <p:cNvPr id="161036" name="Rectangle 268"/>
          <p:cNvSpPr/>
          <p:nvPr/>
        </p:nvSpPr>
        <p:spPr>
          <a:xfrm>
            <a:off x="5145088" y="4438651"/>
            <a:ext cx="386715" cy="339725"/>
          </a:xfrm>
          <a:prstGeom prst="rect">
            <a:avLst/>
          </a:prstGeom>
          <a:noFill/>
          <a:ln w="9525">
            <a:noFill/>
          </a:ln>
        </p:spPr>
        <p:txBody>
          <a:bodyPr wrap="none" anchor="ctr" anchorCtr="0">
            <a:spAutoFit/>
          </a:bodyPr>
          <a:lstStyle/>
          <a:p>
            <a:pPr>
              <a:lnSpc>
                <a:spcPct val="90000"/>
              </a:lnSpc>
            </a:pPr>
            <a:r>
              <a:rPr lang="zh-CN" altLang="en-US" dirty="0">
                <a:latin typeface="Times New Roman" panose="02020603050405020304" pitchFamily="18" charset="0"/>
                <a:sym typeface="Wingdings" panose="05000000000000000000" pitchFamily="2" charset="2"/>
              </a:rPr>
              <a:t></a:t>
            </a:r>
          </a:p>
        </p:txBody>
      </p:sp>
      <p:sp>
        <p:nvSpPr>
          <p:cNvPr id="161037" name="Rectangle 269"/>
          <p:cNvSpPr/>
          <p:nvPr/>
        </p:nvSpPr>
        <p:spPr>
          <a:xfrm>
            <a:off x="8712200" y="4429125"/>
            <a:ext cx="455613" cy="339725"/>
          </a:xfrm>
          <a:prstGeom prst="rect">
            <a:avLst/>
          </a:prstGeom>
          <a:noFill/>
          <a:ln w="9525">
            <a:noFill/>
          </a:ln>
        </p:spPr>
        <p:txBody>
          <a:bodyPr>
            <a:spAutoFit/>
          </a:bodyPr>
          <a:lstStyle/>
          <a:p>
            <a:pPr algn="dist" eaLnBrk="1" hangingPunct="1">
              <a:lnSpc>
                <a:spcPct val="90000"/>
              </a:lnSpc>
            </a:pPr>
            <a:r>
              <a:rPr lang="zh-CN" altLang="en-US" dirty="0">
                <a:latin typeface="Times New Roman" panose="02020603050405020304" pitchFamily="18" charset="0"/>
                <a:sym typeface="Wingdings" panose="05000000000000000000" pitchFamily="2" charset="2"/>
              </a:rPr>
              <a:t></a:t>
            </a:r>
          </a:p>
        </p:txBody>
      </p:sp>
      <p:sp>
        <p:nvSpPr>
          <p:cNvPr id="161307" name="AutoShape 539"/>
          <p:cNvSpPr/>
          <p:nvPr/>
        </p:nvSpPr>
        <p:spPr>
          <a:xfrm>
            <a:off x="7505700" y="5729288"/>
            <a:ext cx="2978150" cy="788987"/>
          </a:xfrm>
          <a:prstGeom prst="wedgeRoundRectCallout">
            <a:avLst>
              <a:gd name="adj1" fmla="val -30819"/>
              <a:gd name="adj2" fmla="val -81185"/>
              <a:gd name="adj3" fmla="val 16667"/>
            </a:avLst>
          </a:prstGeom>
          <a:solidFill>
            <a:srgbClr val="FFFFCC"/>
          </a:solidFill>
          <a:ln w="9525" cap="flat" cmpd="sng">
            <a:solidFill>
              <a:srgbClr val="FF6600"/>
            </a:solidFill>
            <a:prstDash val="solid"/>
            <a:miter/>
            <a:headEnd type="none" w="med" len="med"/>
            <a:tailEnd type="none" w="med" len="med"/>
          </a:ln>
          <a:effectLst>
            <a:prstShdw prst="shdw17" dist="17961" dir="2699999">
              <a:srgbClr val="993D00"/>
            </a:prstShdw>
          </a:effectLst>
        </p:spPr>
        <p:txBody>
          <a:bodyPr anchor="b" anchorCtr="0"/>
          <a:lstStyle/>
          <a:p>
            <a:pPr eaLnBrk="1" hangingPunct="1">
              <a:lnSpc>
                <a:spcPct val="90000"/>
              </a:lnSpc>
            </a:pPr>
            <a:r>
              <a:rPr lang="zh-CN" altLang="en-US" sz="1600" dirty="0">
                <a:solidFill>
                  <a:srgbClr val="000000"/>
                </a:solidFill>
                <a:latin typeface="Arial" panose="020B0604020202020204" pitchFamily="34" charset="0"/>
                <a:ea typeface="楷体_GB2312" pitchFamily="49" charset="-122"/>
              </a:rPr>
              <a:t>若输出</a:t>
            </a:r>
            <a:r>
              <a:rPr lang="en-US" altLang="zh-CN" sz="1600" dirty="0">
                <a:solidFill>
                  <a:srgbClr val="CC0066"/>
                </a:solidFill>
                <a:latin typeface="Arial" panose="020B0604020202020204" pitchFamily="34" charset="0"/>
                <a:ea typeface="楷体_GB2312" pitchFamily="49" charset="-122"/>
              </a:rPr>
              <a:t>F</a:t>
            </a:r>
            <a:r>
              <a:rPr lang="en-US" altLang="zh-CN" sz="1600" baseline="-25000" dirty="0">
                <a:solidFill>
                  <a:srgbClr val="CC0066"/>
                </a:solidFill>
                <a:latin typeface="Arial" panose="020B0604020202020204" pitchFamily="34" charset="0"/>
                <a:ea typeface="楷体_GB2312" pitchFamily="49" charset="-122"/>
              </a:rPr>
              <a:t>OD</a:t>
            </a:r>
            <a:r>
              <a:rPr lang="en-US" altLang="zh-CN" sz="1600" dirty="0">
                <a:solidFill>
                  <a:srgbClr val="CC0066"/>
                </a:solidFill>
                <a:latin typeface="Arial" panose="020B0604020202020204" pitchFamily="34" charset="0"/>
                <a:ea typeface="楷体_GB2312" pitchFamily="49" charset="-122"/>
              </a:rPr>
              <a:t>=1</a:t>
            </a:r>
            <a:r>
              <a:rPr lang="zh-CN" altLang="en-US" sz="1600" dirty="0">
                <a:solidFill>
                  <a:srgbClr val="CC0066"/>
                </a:solidFill>
                <a:latin typeface="Arial" panose="020B0604020202020204" pitchFamily="34" charset="0"/>
                <a:ea typeface="楷体_GB2312" pitchFamily="49" charset="-122"/>
              </a:rPr>
              <a:t> ，</a:t>
            </a:r>
            <a:r>
              <a:rPr lang="en-US" altLang="zh-CN" sz="1600" dirty="0">
                <a:solidFill>
                  <a:srgbClr val="CC0066"/>
                </a:solidFill>
                <a:latin typeface="Arial" panose="020B0604020202020204" pitchFamily="34" charset="0"/>
                <a:ea typeface="楷体_GB2312" pitchFamily="49" charset="-122"/>
              </a:rPr>
              <a:t>F</a:t>
            </a:r>
            <a:r>
              <a:rPr lang="en-US" altLang="zh-CN" sz="1600" baseline="-25000" dirty="0">
                <a:solidFill>
                  <a:srgbClr val="CC0066"/>
                </a:solidFill>
                <a:latin typeface="Arial" panose="020B0604020202020204" pitchFamily="34" charset="0"/>
                <a:ea typeface="楷体_GB2312" pitchFamily="49" charset="-122"/>
              </a:rPr>
              <a:t>EV</a:t>
            </a:r>
            <a:r>
              <a:rPr lang="en-US" altLang="zh-CN" sz="1600" dirty="0">
                <a:solidFill>
                  <a:srgbClr val="CC0066"/>
                </a:solidFill>
                <a:latin typeface="Arial" panose="020B0604020202020204" pitchFamily="34" charset="0"/>
                <a:ea typeface="楷体_GB2312" pitchFamily="49" charset="-122"/>
              </a:rPr>
              <a:t>=0</a:t>
            </a:r>
            <a:r>
              <a:rPr lang="zh-CN" altLang="en-US" sz="1600" dirty="0">
                <a:solidFill>
                  <a:srgbClr val="000000"/>
                </a:solidFill>
                <a:latin typeface="Arial" panose="020B0604020202020204" pitchFamily="34" charset="0"/>
                <a:ea typeface="楷体_GB2312" pitchFamily="49" charset="-122"/>
              </a:rPr>
              <a:t>，表示数据传输正确；若</a:t>
            </a:r>
            <a:r>
              <a:rPr lang="en-US" altLang="zh-CN" sz="1600" dirty="0">
                <a:solidFill>
                  <a:srgbClr val="FF0000"/>
                </a:solidFill>
                <a:latin typeface="Arial" panose="020B0604020202020204" pitchFamily="34" charset="0"/>
                <a:ea typeface="楷体_GB2312" pitchFamily="49" charset="-122"/>
              </a:rPr>
              <a:t>F</a:t>
            </a:r>
            <a:r>
              <a:rPr lang="en-US" altLang="zh-CN" sz="1600" baseline="-25000" dirty="0">
                <a:solidFill>
                  <a:srgbClr val="FF0000"/>
                </a:solidFill>
                <a:latin typeface="Arial" panose="020B0604020202020204" pitchFamily="34" charset="0"/>
                <a:ea typeface="楷体_GB2312" pitchFamily="49" charset="-122"/>
              </a:rPr>
              <a:t>OD</a:t>
            </a:r>
            <a:r>
              <a:rPr lang="en-US" altLang="zh-CN" sz="1600" dirty="0">
                <a:solidFill>
                  <a:srgbClr val="FF0000"/>
                </a:solidFill>
                <a:latin typeface="Arial" panose="020B0604020202020204" pitchFamily="34" charset="0"/>
                <a:ea typeface="楷体_GB2312" pitchFamily="49" charset="-122"/>
              </a:rPr>
              <a:t>=0</a:t>
            </a:r>
            <a:r>
              <a:rPr lang="zh-CN" altLang="en-US" sz="1600" dirty="0">
                <a:solidFill>
                  <a:srgbClr val="FF0000"/>
                </a:solidFill>
                <a:latin typeface="Arial" panose="020B0604020202020204" pitchFamily="34" charset="0"/>
                <a:ea typeface="楷体_GB2312" pitchFamily="49" charset="-122"/>
              </a:rPr>
              <a:t> ，</a:t>
            </a:r>
            <a:r>
              <a:rPr lang="en-US" altLang="zh-CN" sz="1600" dirty="0">
                <a:solidFill>
                  <a:srgbClr val="FF0000"/>
                </a:solidFill>
                <a:latin typeface="Arial" panose="020B0604020202020204" pitchFamily="34" charset="0"/>
                <a:ea typeface="楷体_GB2312" pitchFamily="49" charset="-122"/>
              </a:rPr>
              <a:t>F</a:t>
            </a:r>
            <a:r>
              <a:rPr lang="en-US" altLang="zh-CN" sz="1600" baseline="-25000" dirty="0">
                <a:solidFill>
                  <a:srgbClr val="FF0000"/>
                </a:solidFill>
                <a:latin typeface="Arial" panose="020B0604020202020204" pitchFamily="34" charset="0"/>
                <a:ea typeface="楷体_GB2312" pitchFamily="49" charset="-122"/>
              </a:rPr>
              <a:t>EV</a:t>
            </a:r>
            <a:r>
              <a:rPr lang="en-US" altLang="zh-CN" sz="1600" dirty="0">
                <a:solidFill>
                  <a:srgbClr val="FF0000"/>
                </a:solidFill>
                <a:latin typeface="Arial" panose="020B0604020202020204" pitchFamily="34" charset="0"/>
                <a:ea typeface="楷体_GB2312" pitchFamily="49" charset="-122"/>
              </a:rPr>
              <a:t>=1</a:t>
            </a:r>
            <a:r>
              <a:rPr lang="zh-CN" altLang="en-US" sz="1600" dirty="0">
                <a:solidFill>
                  <a:srgbClr val="000000"/>
                </a:solidFill>
                <a:latin typeface="Arial" panose="020B0604020202020204" pitchFamily="34" charset="0"/>
                <a:ea typeface="楷体_GB2312" pitchFamily="49" charset="-122"/>
              </a:rPr>
              <a:t>，表示数据传输有差错</a:t>
            </a:r>
            <a:endParaRPr lang="zh-CN" altLang="en-US" sz="1600" dirty="0">
              <a:solidFill>
                <a:schemeClr val="tx1"/>
              </a:solidFill>
              <a:latin typeface="Arial" panose="020B0604020202020204" pitchFamily="34" charset="0"/>
              <a:ea typeface="楷体_GB2312" pitchFamily="49" charset="-122"/>
            </a:endParaRPr>
          </a:p>
        </p:txBody>
      </p:sp>
      <p:sp>
        <p:nvSpPr>
          <p:cNvPr id="161308" name="AutoShape 540"/>
          <p:cNvSpPr/>
          <p:nvPr/>
        </p:nvSpPr>
        <p:spPr>
          <a:xfrm>
            <a:off x="4724400" y="5784850"/>
            <a:ext cx="2495550" cy="1016000"/>
          </a:xfrm>
          <a:prstGeom prst="wedgeRoundRectCallout">
            <a:avLst>
              <a:gd name="adj1" fmla="val -43579"/>
              <a:gd name="adj2" fmla="val -69773"/>
              <a:gd name="adj3" fmla="val 16667"/>
            </a:avLst>
          </a:prstGeom>
          <a:solidFill>
            <a:srgbClr val="C1F3F7"/>
          </a:solidFill>
          <a:ln w="9525" cap="flat" cmpd="sng">
            <a:solidFill>
              <a:srgbClr val="FF6600"/>
            </a:solidFill>
            <a:prstDash val="solid"/>
            <a:miter/>
            <a:headEnd type="none" w="med" len="med"/>
            <a:tailEnd type="none" w="med" len="med"/>
          </a:ln>
          <a:effectLst>
            <a:prstShdw prst="shdw17" dist="17961" dir="2699999">
              <a:srgbClr val="993D00"/>
            </a:prstShdw>
          </a:effectLst>
        </p:spPr>
        <p:txBody>
          <a:bodyPr anchor="b" anchorCtr="0"/>
          <a:lstStyle/>
          <a:p>
            <a:pPr eaLnBrk="1" hangingPunct="1">
              <a:lnSpc>
                <a:spcPct val="90000"/>
              </a:lnSpc>
            </a:pPr>
            <a:r>
              <a:rPr lang="zh-CN" altLang="en-US" sz="1600" dirty="0">
                <a:solidFill>
                  <a:srgbClr val="000000"/>
                </a:solidFill>
                <a:latin typeface="Arial" panose="020B0604020202020204" pitchFamily="34" charset="0"/>
                <a:ea typeface="楷体_GB2312" pitchFamily="49" charset="-122"/>
              </a:rPr>
              <a:t>无论</a:t>
            </a:r>
            <a:r>
              <a:rPr lang="en-US" altLang="zh-CN" sz="1600" dirty="0">
                <a:solidFill>
                  <a:srgbClr val="000000"/>
                </a:solidFill>
                <a:latin typeface="Arial" panose="020B0604020202020204" pitchFamily="34" charset="0"/>
                <a:ea typeface="楷体_GB2312" pitchFamily="49" charset="-122"/>
              </a:rPr>
              <a:t>D0~D7</a:t>
            </a:r>
            <a:r>
              <a:rPr lang="zh-CN" altLang="en-US" sz="1600" dirty="0">
                <a:solidFill>
                  <a:srgbClr val="000000"/>
                </a:solidFill>
                <a:latin typeface="Arial" panose="020B0604020202020204" pitchFamily="34" charset="0"/>
                <a:ea typeface="楷体_GB2312" pitchFamily="49" charset="-122"/>
              </a:rPr>
              <a:t>中</a:t>
            </a:r>
            <a:r>
              <a:rPr lang="en-US" altLang="zh-CN" sz="1600" dirty="0">
                <a:solidFill>
                  <a:srgbClr val="000000"/>
                </a:solidFill>
                <a:latin typeface="Arial" panose="020B0604020202020204" pitchFamily="34" charset="0"/>
                <a:ea typeface="楷体_GB2312" pitchFamily="49" charset="-122"/>
              </a:rPr>
              <a:t>1</a:t>
            </a:r>
            <a:r>
              <a:rPr lang="zh-CN" altLang="en-US" sz="1600" dirty="0">
                <a:solidFill>
                  <a:srgbClr val="000000"/>
                </a:solidFill>
                <a:latin typeface="Arial" panose="020B0604020202020204" pitchFamily="34" charset="0"/>
                <a:ea typeface="楷体_GB2312" pitchFamily="49" charset="-122"/>
              </a:rPr>
              <a:t>的个数为偶数还是奇数，加上</a:t>
            </a:r>
            <a:r>
              <a:rPr lang="zh-CN" altLang="en-US" sz="1600" dirty="0">
                <a:solidFill>
                  <a:srgbClr val="000000"/>
                </a:solidFill>
                <a:latin typeface="Arial" panose="020B0604020202020204" pitchFamily="34" charset="0"/>
                <a:ea typeface="楷体_GB2312" pitchFamily="49" charset="-122"/>
                <a:sym typeface="Wingdings" panose="05000000000000000000" pitchFamily="2" charset="2"/>
              </a:rPr>
              <a:t>片</a:t>
            </a:r>
            <a:r>
              <a:rPr lang="zh-CN" altLang="en-US" sz="1600" dirty="0">
                <a:latin typeface="Arial" panose="020B0604020202020204" pitchFamily="34" charset="0"/>
                <a:ea typeface="楷体_GB2312" pitchFamily="49" charset="-122"/>
                <a:sym typeface="Wingdings" panose="05000000000000000000" pitchFamily="2" charset="2"/>
              </a:rPr>
              <a:t></a:t>
            </a:r>
            <a:r>
              <a:rPr lang="zh-CN" altLang="en-US" sz="1600" dirty="0">
                <a:solidFill>
                  <a:srgbClr val="000000"/>
                </a:solidFill>
                <a:latin typeface="Arial" panose="020B0604020202020204" pitchFamily="34" charset="0"/>
                <a:ea typeface="楷体_GB2312" pitchFamily="49" charset="-122"/>
                <a:sym typeface="Wingdings" panose="05000000000000000000" pitchFamily="2" charset="2"/>
              </a:rPr>
              <a:t>的</a:t>
            </a:r>
            <a:r>
              <a:rPr lang="en-US" altLang="zh-CN" sz="1600" dirty="0">
                <a:solidFill>
                  <a:srgbClr val="000000"/>
                </a:solidFill>
                <a:latin typeface="Arial" panose="020B0604020202020204" pitchFamily="34" charset="0"/>
                <a:ea typeface="楷体_GB2312" pitchFamily="49" charset="-122"/>
              </a:rPr>
              <a:t>F</a:t>
            </a:r>
            <a:r>
              <a:rPr lang="en-US" altLang="zh-CN" sz="1600" baseline="-25000" dirty="0">
                <a:solidFill>
                  <a:srgbClr val="000000"/>
                </a:solidFill>
                <a:latin typeface="Arial" panose="020B0604020202020204" pitchFamily="34" charset="0"/>
                <a:ea typeface="楷体_GB2312" pitchFamily="49" charset="-122"/>
              </a:rPr>
              <a:t>OD</a:t>
            </a:r>
            <a:r>
              <a:rPr lang="zh-CN" altLang="en-US" sz="1600" dirty="0">
                <a:solidFill>
                  <a:srgbClr val="000000"/>
                </a:solidFill>
                <a:latin typeface="Arial" panose="020B0604020202020204" pitchFamily="34" charset="0"/>
                <a:ea typeface="楷体_GB2312" pitchFamily="49" charset="-122"/>
              </a:rPr>
              <a:t>后，组成</a:t>
            </a:r>
            <a:r>
              <a:rPr lang="en-US" altLang="zh-CN" sz="1600" dirty="0">
                <a:solidFill>
                  <a:srgbClr val="000000"/>
                </a:solidFill>
                <a:latin typeface="Arial" panose="020B0604020202020204" pitchFamily="34" charset="0"/>
                <a:ea typeface="楷体_GB2312" pitchFamily="49" charset="-122"/>
              </a:rPr>
              <a:t>9</a:t>
            </a:r>
            <a:r>
              <a:rPr lang="zh-CN" altLang="en-US" sz="1600" dirty="0">
                <a:solidFill>
                  <a:srgbClr val="000000"/>
                </a:solidFill>
                <a:latin typeface="Arial" panose="020B0604020202020204" pitchFamily="34" charset="0"/>
                <a:ea typeface="楷体_GB2312" pitchFamily="49" charset="-122"/>
              </a:rPr>
              <a:t>位数据中</a:t>
            </a:r>
            <a:r>
              <a:rPr lang="en-US" altLang="zh-CN" sz="1600" dirty="0">
                <a:solidFill>
                  <a:srgbClr val="000000"/>
                </a:solidFill>
                <a:latin typeface="Arial" panose="020B0604020202020204" pitchFamily="34" charset="0"/>
                <a:ea typeface="楷体_GB2312" pitchFamily="49" charset="-122"/>
              </a:rPr>
              <a:t>1</a:t>
            </a:r>
            <a:r>
              <a:rPr lang="zh-CN" altLang="en-US" sz="1600" dirty="0">
                <a:solidFill>
                  <a:srgbClr val="000000"/>
                </a:solidFill>
                <a:latin typeface="Arial" panose="020B0604020202020204" pitchFamily="34" charset="0"/>
                <a:ea typeface="楷体_GB2312" pitchFamily="49" charset="-122"/>
              </a:rPr>
              <a:t>的个数一定是</a:t>
            </a:r>
            <a:r>
              <a:rPr lang="zh-CN" altLang="en-US" sz="1600" dirty="0">
                <a:solidFill>
                  <a:srgbClr val="CC0066"/>
                </a:solidFill>
                <a:latin typeface="Arial" panose="020B0604020202020204" pitchFamily="34" charset="0"/>
                <a:ea typeface="楷体_GB2312" pitchFamily="49" charset="-122"/>
              </a:rPr>
              <a:t>奇数</a:t>
            </a:r>
          </a:p>
        </p:txBody>
      </p:sp>
      <p:grpSp>
        <p:nvGrpSpPr>
          <p:cNvPr id="201738" name="Group 546"/>
          <p:cNvGrpSpPr/>
          <p:nvPr/>
        </p:nvGrpSpPr>
        <p:grpSpPr>
          <a:xfrm>
            <a:off x="2744788" y="1098550"/>
            <a:ext cx="8001000" cy="4038600"/>
            <a:chOff x="505" y="692"/>
            <a:chExt cx="5040" cy="2544"/>
          </a:xfrm>
        </p:grpSpPr>
        <p:grpSp>
          <p:nvGrpSpPr>
            <p:cNvPr id="201769" name="Group 541"/>
            <p:cNvGrpSpPr/>
            <p:nvPr/>
          </p:nvGrpSpPr>
          <p:grpSpPr>
            <a:xfrm>
              <a:off x="505" y="692"/>
              <a:ext cx="5040" cy="2544"/>
              <a:chOff x="505" y="752"/>
              <a:chExt cx="5040" cy="2544"/>
            </a:xfrm>
          </p:grpSpPr>
          <p:grpSp>
            <p:nvGrpSpPr>
              <p:cNvPr id="201772" name="Group 130"/>
              <p:cNvGrpSpPr/>
              <p:nvPr/>
            </p:nvGrpSpPr>
            <p:grpSpPr>
              <a:xfrm>
                <a:off x="505" y="752"/>
                <a:ext cx="5040" cy="2544"/>
                <a:chOff x="384" y="456"/>
                <a:chExt cx="5040" cy="2544"/>
              </a:xfrm>
            </p:grpSpPr>
            <p:grpSp>
              <p:nvGrpSpPr>
                <p:cNvPr id="201774" name="Group 131"/>
                <p:cNvGrpSpPr/>
                <p:nvPr/>
              </p:nvGrpSpPr>
              <p:grpSpPr>
                <a:xfrm>
                  <a:off x="384" y="456"/>
                  <a:ext cx="5040" cy="2544"/>
                  <a:chOff x="480" y="273"/>
                  <a:chExt cx="5040" cy="2544"/>
                </a:xfrm>
              </p:grpSpPr>
              <p:grpSp>
                <p:nvGrpSpPr>
                  <p:cNvPr id="201776" name="Group 132"/>
                  <p:cNvGrpSpPr/>
                  <p:nvPr/>
                </p:nvGrpSpPr>
                <p:grpSpPr>
                  <a:xfrm>
                    <a:off x="1399" y="1200"/>
                    <a:ext cx="1049" cy="1536"/>
                    <a:chOff x="1182" y="1104"/>
                    <a:chExt cx="1049" cy="1536"/>
                  </a:xfrm>
                </p:grpSpPr>
                <p:sp>
                  <p:nvSpPr>
                    <p:cNvPr id="201887" name="Text Box 133"/>
                    <p:cNvSpPr txBox="1"/>
                    <p:nvPr/>
                  </p:nvSpPr>
                  <p:spPr>
                    <a:xfrm>
                      <a:off x="1550" y="1248"/>
                      <a:ext cx="500"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2k+1</a:t>
                      </a:r>
                    </a:p>
                  </p:txBody>
                </p:sp>
                <p:sp>
                  <p:nvSpPr>
                    <p:cNvPr id="201888" name="Rectangle 134"/>
                    <p:cNvSpPr/>
                    <p:nvPr/>
                  </p:nvSpPr>
                  <p:spPr>
                    <a:xfrm>
                      <a:off x="1414" y="1104"/>
                      <a:ext cx="636" cy="15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89" name="Line 135"/>
                    <p:cNvSpPr/>
                    <p:nvPr/>
                  </p:nvSpPr>
                  <p:spPr>
                    <a:xfrm>
                      <a:off x="1187" y="1248"/>
                      <a:ext cx="227" cy="0"/>
                    </a:xfrm>
                    <a:prstGeom prst="line">
                      <a:avLst/>
                    </a:prstGeom>
                    <a:ln w="9525" cap="flat" cmpd="sng">
                      <a:solidFill>
                        <a:schemeClr val="tx1"/>
                      </a:solidFill>
                      <a:prstDash val="solid"/>
                      <a:headEnd type="none" w="med" len="med"/>
                      <a:tailEnd type="none" w="med" len="med"/>
                    </a:ln>
                  </p:spPr>
                </p:sp>
                <p:sp>
                  <p:nvSpPr>
                    <p:cNvPr id="201890" name="Line 136"/>
                    <p:cNvSpPr/>
                    <p:nvPr/>
                  </p:nvSpPr>
                  <p:spPr>
                    <a:xfrm>
                      <a:off x="1187" y="1392"/>
                      <a:ext cx="227" cy="0"/>
                    </a:xfrm>
                    <a:prstGeom prst="line">
                      <a:avLst/>
                    </a:prstGeom>
                    <a:ln w="9525" cap="flat" cmpd="sng">
                      <a:solidFill>
                        <a:schemeClr val="tx1"/>
                      </a:solidFill>
                      <a:prstDash val="solid"/>
                      <a:headEnd type="none" w="med" len="med"/>
                      <a:tailEnd type="none" w="med" len="med"/>
                    </a:ln>
                  </p:spPr>
                </p:sp>
                <p:sp>
                  <p:nvSpPr>
                    <p:cNvPr id="201891" name="Line 137"/>
                    <p:cNvSpPr/>
                    <p:nvPr/>
                  </p:nvSpPr>
                  <p:spPr>
                    <a:xfrm>
                      <a:off x="1187" y="1509"/>
                      <a:ext cx="227" cy="0"/>
                    </a:xfrm>
                    <a:prstGeom prst="line">
                      <a:avLst/>
                    </a:prstGeom>
                    <a:ln w="9525" cap="flat" cmpd="sng">
                      <a:solidFill>
                        <a:schemeClr val="tx1"/>
                      </a:solidFill>
                      <a:prstDash val="solid"/>
                      <a:headEnd type="none" w="med" len="med"/>
                      <a:tailEnd type="none" w="med" len="med"/>
                    </a:ln>
                  </p:spPr>
                </p:sp>
                <p:sp>
                  <p:nvSpPr>
                    <p:cNvPr id="201892" name="Line 138"/>
                    <p:cNvSpPr/>
                    <p:nvPr/>
                  </p:nvSpPr>
                  <p:spPr>
                    <a:xfrm>
                      <a:off x="1187" y="1653"/>
                      <a:ext cx="227" cy="0"/>
                    </a:xfrm>
                    <a:prstGeom prst="line">
                      <a:avLst/>
                    </a:prstGeom>
                    <a:ln w="9525" cap="flat" cmpd="sng">
                      <a:solidFill>
                        <a:schemeClr val="tx1"/>
                      </a:solidFill>
                      <a:prstDash val="solid"/>
                      <a:headEnd type="none" w="med" len="med"/>
                      <a:tailEnd type="none" w="med" len="med"/>
                    </a:ln>
                  </p:spPr>
                </p:sp>
                <p:sp>
                  <p:nvSpPr>
                    <p:cNvPr id="201893" name="Text Box 139"/>
                    <p:cNvSpPr txBox="1"/>
                    <p:nvPr/>
                  </p:nvSpPr>
                  <p:spPr>
                    <a:xfrm>
                      <a:off x="1440" y="1152"/>
                      <a:ext cx="227" cy="1182"/>
                    </a:xfrm>
                    <a:prstGeom prst="rect">
                      <a:avLst/>
                    </a:prstGeom>
                    <a:noFill/>
                    <a:ln w="9525">
                      <a:noFill/>
                    </a:ln>
                  </p:spPr>
                  <p:txBody>
                    <a:bodyPr>
                      <a:spAutoFit/>
                    </a:bodyPr>
                    <a:lstStyle/>
                    <a:p>
                      <a:pPr algn="just">
                        <a:lnSpc>
                          <a:spcPct val="60000"/>
                        </a:lnSpc>
                        <a:spcBef>
                          <a:spcPct val="50000"/>
                        </a:spcBef>
                      </a:pPr>
                      <a:r>
                        <a:rPr lang="en-US" altLang="zh-CN" sz="1400" dirty="0">
                          <a:solidFill>
                            <a:schemeClr val="tx1"/>
                          </a:solidFill>
                          <a:latin typeface="Arial" panose="020B0604020202020204" pitchFamily="34" charset="0"/>
                        </a:rPr>
                        <a:t>A</a:t>
                      </a:r>
                    </a:p>
                    <a:p>
                      <a:pPr algn="just">
                        <a:lnSpc>
                          <a:spcPct val="60000"/>
                        </a:lnSpc>
                        <a:spcBef>
                          <a:spcPct val="50000"/>
                        </a:spcBef>
                      </a:pPr>
                      <a:r>
                        <a:rPr lang="en-US" altLang="zh-CN" sz="1400" dirty="0">
                          <a:solidFill>
                            <a:schemeClr val="tx1"/>
                          </a:solidFill>
                          <a:latin typeface="Arial" panose="020B0604020202020204" pitchFamily="34" charset="0"/>
                        </a:rPr>
                        <a:t>B</a:t>
                      </a:r>
                    </a:p>
                    <a:p>
                      <a:pPr algn="just">
                        <a:lnSpc>
                          <a:spcPct val="60000"/>
                        </a:lnSpc>
                        <a:spcBef>
                          <a:spcPct val="50000"/>
                        </a:spcBef>
                      </a:pPr>
                      <a:r>
                        <a:rPr lang="en-US" altLang="zh-CN" sz="1400" dirty="0">
                          <a:solidFill>
                            <a:schemeClr val="tx1"/>
                          </a:solidFill>
                          <a:latin typeface="Arial" panose="020B0604020202020204" pitchFamily="34" charset="0"/>
                        </a:rPr>
                        <a:t>C</a:t>
                      </a:r>
                    </a:p>
                    <a:p>
                      <a:pPr algn="just">
                        <a:lnSpc>
                          <a:spcPct val="60000"/>
                        </a:lnSpc>
                        <a:spcBef>
                          <a:spcPct val="50000"/>
                        </a:spcBef>
                      </a:pPr>
                      <a:r>
                        <a:rPr lang="en-US" altLang="zh-CN" sz="1400" dirty="0">
                          <a:solidFill>
                            <a:schemeClr val="tx1"/>
                          </a:solidFill>
                          <a:latin typeface="Arial" panose="020B0604020202020204" pitchFamily="34" charset="0"/>
                        </a:rPr>
                        <a:t>D</a:t>
                      </a:r>
                    </a:p>
                    <a:p>
                      <a:pPr algn="just">
                        <a:lnSpc>
                          <a:spcPct val="60000"/>
                        </a:lnSpc>
                        <a:spcBef>
                          <a:spcPct val="50000"/>
                        </a:spcBef>
                      </a:pPr>
                      <a:r>
                        <a:rPr lang="en-US" altLang="zh-CN" sz="1400" dirty="0">
                          <a:solidFill>
                            <a:schemeClr val="tx1"/>
                          </a:solidFill>
                          <a:latin typeface="Arial" panose="020B0604020202020204" pitchFamily="34" charset="0"/>
                        </a:rPr>
                        <a:t>E</a:t>
                      </a:r>
                    </a:p>
                    <a:p>
                      <a:pPr algn="just">
                        <a:lnSpc>
                          <a:spcPct val="60000"/>
                        </a:lnSpc>
                        <a:spcBef>
                          <a:spcPct val="50000"/>
                        </a:spcBef>
                      </a:pPr>
                      <a:r>
                        <a:rPr lang="en-US" altLang="zh-CN" sz="1400" dirty="0">
                          <a:solidFill>
                            <a:schemeClr val="tx1"/>
                          </a:solidFill>
                          <a:latin typeface="Arial" panose="020B0604020202020204" pitchFamily="34" charset="0"/>
                        </a:rPr>
                        <a:t>F</a:t>
                      </a:r>
                    </a:p>
                    <a:p>
                      <a:pPr algn="just">
                        <a:lnSpc>
                          <a:spcPct val="60000"/>
                        </a:lnSpc>
                        <a:spcBef>
                          <a:spcPct val="50000"/>
                        </a:spcBef>
                      </a:pPr>
                      <a:r>
                        <a:rPr lang="en-US" altLang="zh-CN" sz="1400" dirty="0">
                          <a:solidFill>
                            <a:schemeClr val="tx1"/>
                          </a:solidFill>
                          <a:latin typeface="Arial" panose="020B0604020202020204" pitchFamily="34" charset="0"/>
                        </a:rPr>
                        <a:t>G</a:t>
                      </a:r>
                    </a:p>
                    <a:p>
                      <a:pPr algn="just">
                        <a:lnSpc>
                          <a:spcPct val="60000"/>
                        </a:lnSpc>
                        <a:spcBef>
                          <a:spcPct val="50000"/>
                        </a:spcBef>
                      </a:pPr>
                      <a:r>
                        <a:rPr lang="en-US" altLang="zh-CN" sz="1400" dirty="0">
                          <a:solidFill>
                            <a:schemeClr val="tx1"/>
                          </a:solidFill>
                          <a:latin typeface="Arial" panose="020B0604020202020204" pitchFamily="34" charset="0"/>
                        </a:rPr>
                        <a:t>H</a:t>
                      </a:r>
                    </a:p>
                  </p:txBody>
                </p:sp>
                <p:sp>
                  <p:nvSpPr>
                    <p:cNvPr id="201894" name="Text Box 140"/>
                    <p:cNvSpPr txBox="1"/>
                    <p:nvPr/>
                  </p:nvSpPr>
                  <p:spPr>
                    <a:xfrm>
                      <a:off x="1728" y="1595"/>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en-US" altLang="zh-CN" sz="1600" dirty="0">
                        <a:solidFill>
                          <a:schemeClr val="tx1"/>
                        </a:solidFill>
                        <a:latin typeface="Arial" panose="020B0604020202020204" pitchFamily="34" charset="0"/>
                      </a:endParaRPr>
                    </a:p>
                  </p:txBody>
                </p:sp>
                <p:sp>
                  <p:nvSpPr>
                    <p:cNvPr id="201895" name="Text Box 141"/>
                    <p:cNvSpPr txBox="1"/>
                    <p:nvPr/>
                  </p:nvSpPr>
                  <p:spPr>
                    <a:xfrm>
                      <a:off x="1728" y="1979"/>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sp>
                  <p:nvSpPr>
                    <p:cNvPr id="201896" name="Line 142"/>
                    <p:cNvSpPr/>
                    <p:nvPr/>
                  </p:nvSpPr>
                  <p:spPr>
                    <a:xfrm>
                      <a:off x="2050" y="1680"/>
                      <a:ext cx="181" cy="0"/>
                    </a:xfrm>
                    <a:prstGeom prst="line">
                      <a:avLst/>
                    </a:prstGeom>
                    <a:ln w="9525" cap="flat" cmpd="sng">
                      <a:solidFill>
                        <a:srgbClr val="CC3300"/>
                      </a:solidFill>
                      <a:prstDash val="solid"/>
                      <a:headEnd type="none" w="med" len="med"/>
                      <a:tailEnd type="none" w="med" len="med"/>
                    </a:ln>
                  </p:spPr>
                </p:sp>
                <p:sp>
                  <p:nvSpPr>
                    <p:cNvPr id="201897" name="Line 143"/>
                    <p:cNvSpPr/>
                    <p:nvPr/>
                  </p:nvSpPr>
                  <p:spPr>
                    <a:xfrm>
                      <a:off x="2050" y="2064"/>
                      <a:ext cx="181" cy="0"/>
                    </a:xfrm>
                    <a:prstGeom prst="line">
                      <a:avLst/>
                    </a:prstGeom>
                    <a:ln w="9525" cap="flat" cmpd="sng">
                      <a:solidFill>
                        <a:schemeClr val="tx1"/>
                      </a:solidFill>
                      <a:prstDash val="solid"/>
                      <a:headEnd type="none" w="med" len="med"/>
                      <a:tailEnd type="none" w="med" len="med"/>
                    </a:ln>
                  </p:spPr>
                </p:sp>
                <p:sp>
                  <p:nvSpPr>
                    <p:cNvPr id="201898" name="Line 144"/>
                    <p:cNvSpPr/>
                    <p:nvPr/>
                  </p:nvSpPr>
                  <p:spPr>
                    <a:xfrm>
                      <a:off x="1182" y="1782"/>
                      <a:ext cx="227" cy="0"/>
                    </a:xfrm>
                    <a:prstGeom prst="line">
                      <a:avLst/>
                    </a:prstGeom>
                    <a:ln w="9525" cap="flat" cmpd="sng">
                      <a:solidFill>
                        <a:schemeClr val="tx1"/>
                      </a:solidFill>
                      <a:prstDash val="solid"/>
                      <a:headEnd type="none" w="med" len="med"/>
                      <a:tailEnd type="none" w="med" len="med"/>
                    </a:ln>
                  </p:spPr>
                </p:sp>
                <p:sp>
                  <p:nvSpPr>
                    <p:cNvPr id="201899" name="Line 145"/>
                    <p:cNvSpPr/>
                    <p:nvPr/>
                  </p:nvSpPr>
                  <p:spPr>
                    <a:xfrm>
                      <a:off x="1182" y="2082"/>
                      <a:ext cx="227" cy="0"/>
                    </a:xfrm>
                    <a:prstGeom prst="line">
                      <a:avLst/>
                    </a:prstGeom>
                    <a:ln w="9525" cap="flat" cmpd="sng">
                      <a:solidFill>
                        <a:schemeClr val="tx1"/>
                      </a:solidFill>
                      <a:prstDash val="solid"/>
                      <a:headEnd type="none" w="med" len="med"/>
                      <a:tailEnd type="none" w="med" len="med"/>
                    </a:ln>
                  </p:spPr>
                </p:sp>
                <p:sp>
                  <p:nvSpPr>
                    <p:cNvPr id="201900" name="Line 146"/>
                    <p:cNvSpPr/>
                    <p:nvPr/>
                  </p:nvSpPr>
                  <p:spPr>
                    <a:xfrm>
                      <a:off x="1182" y="2208"/>
                      <a:ext cx="227" cy="0"/>
                    </a:xfrm>
                    <a:prstGeom prst="line">
                      <a:avLst/>
                    </a:prstGeom>
                    <a:ln w="9525" cap="flat" cmpd="sng">
                      <a:solidFill>
                        <a:schemeClr val="tx1"/>
                      </a:solidFill>
                      <a:prstDash val="solid"/>
                      <a:headEnd type="none" w="med" len="med"/>
                      <a:tailEnd type="none" w="med" len="med"/>
                    </a:ln>
                  </p:spPr>
                </p:sp>
                <p:sp>
                  <p:nvSpPr>
                    <p:cNvPr id="201901" name="Line 147"/>
                    <p:cNvSpPr/>
                    <p:nvPr/>
                  </p:nvSpPr>
                  <p:spPr>
                    <a:xfrm>
                      <a:off x="1182" y="1929"/>
                      <a:ext cx="227" cy="0"/>
                    </a:xfrm>
                    <a:prstGeom prst="line">
                      <a:avLst/>
                    </a:prstGeom>
                    <a:ln w="9525" cap="flat" cmpd="sng">
                      <a:solidFill>
                        <a:schemeClr val="tx1"/>
                      </a:solidFill>
                      <a:prstDash val="solid"/>
                      <a:headEnd type="none" w="med" len="med"/>
                      <a:tailEnd type="none" w="med" len="med"/>
                    </a:ln>
                  </p:spPr>
                </p:sp>
                <p:sp>
                  <p:nvSpPr>
                    <p:cNvPr id="201902" name="Line 148"/>
                    <p:cNvSpPr/>
                    <p:nvPr/>
                  </p:nvSpPr>
                  <p:spPr>
                    <a:xfrm>
                      <a:off x="1183" y="2352"/>
                      <a:ext cx="227" cy="0"/>
                    </a:xfrm>
                    <a:prstGeom prst="line">
                      <a:avLst/>
                    </a:prstGeom>
                    <a:ln w="9525" cap="flat" cmpd="sng">
                      <a:solidFill>
                        <a:schemeClr val="tx1"/>
                      </a:solidFill>
                      <a:prstDash val="solid"/>
                      <a:headEnd type="none" w="med" len="med"/>
                      <a:tailEnd type="none" w="med" len="med"/>
                    </a:ln>
                  </p:spPr>
                </p:sp>
                <p:sp>
                  <p:nvSpPr>
                    <p:cNvPr id="201903" name="Text Box 150"/>
                    <p:cNvSpPr txBox="1"/>
                    <p:nvPr/>
                  </p:nvSpPr>
                  <p:spPr>
                    <a:xfrm>
                      <a:off x="1440" y="2267"/>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ODD</a:t>
                      </a:r>
                    </a:p>
                  </p:txBody>
                </p:sp>
                <p:sp>
                  <p:nvSpPr>
                    <p:cNvPr id="201904" name="Text Box 151"/>
                    <p:cNvSpPr txBox="1"/>
                    <p:nvPr/>
                  </p:nvSpPr>
                  <p:spPr>
                    <a:xfrm>
                      <a:off x="1440" y="2448"/>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EVEN</a:t>
                      </a:r>
                    </a:p>
                  </p:txBody>
                </p:sp>
                <p:sp>
                  <p:nvSpPr>
                    <p:cNvPr id="201905" name="Text Box 152"/>
                    <p:cNvSpPr txBox="1"/>
                    <p:nvPr/>
                  </p:nvSpPr>
                  <p:spPr>
                    <a:xfrm>
                      <a:off x="1584" y="1824"/>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74180</a:t>
                      </a:r>
                    </a:p>
                  </p:txBody>
                </p:sp>
              </p:grpSp>
              <p:grpSp>
                <p:nvGrpSpPr>
                  <p:cNvPr id="201777" name="Group 153"/>
                  <p:cNvGrpSpPr/>
                  <p:nvPr/>
                </p:nvGrpSpPr>
                <p:grpSpPr>
                  <a:xfrm>
                    <a:off x="3648" y="1200"/>
                    <a:ext cx="1049" cy="1536"/>
                    <a:chOff x="1182" y="1104"/>
                    <a:chExt cx="1049" cy="1536"/>
                  </a:xfrm>
                </p:grpSpPr>
                <p:sp>
                  <p:nvSpPr>
                    <p:cNvPr id="201867" name="Text Box 154"/>
                    <p:cNvSpPr txBox="1"/>
                    <p:nvPr/>
                  </p:nvSpPr>
                  <p:spPr>
                    <a:xfrm>
                      <a:off x="1550" y="1248"/>
                      <a:ext cx="500"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2k+1</a:t>
                      </a:r>
                    </a:p>
                  </p:txBody>
                </p:sp>
                <p:sp>
                  <p:nvSpPr>
                    <p:cNvPr id="201868" name="Rectangle 155"/>
                    <p:cNvSpPr/>
                    <p:nvPr/>
                  </p:nvSpPr>
                  <p:spPr>
                    <a:xfrm>
                      <a:off x="1414" y="1104"/>
                      <a:ext cx="636" cy="153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69" name="Line 156"/>
                    <p:cNvSpPr/>
                    <p:nvPr/>
                  </p:nvSpPr>
                  <p:spPr>
                    <a:xfrm>
                      <a:off x="1187" y="1248"/>
                      <a:ext cx="227" cy="0"/>
                    </a:xfrm>
                    <a:prstGeom prst="line">
                      <a:avLst/>
                    </a:prstGeom>
                    <a:ln w="9525" cap="flat" cmpd="sng">
                      <a:solidFill>
                        <a:schemeClr val="tx1"/>
                      </a:solidFill>
                      <a:prstDash val="solid"/>
                      <a:headEnd type="none" w="med" len="med"/>
                      <a:tailEnd type="none" w="med" len="med"/>
                    </a:ln>
                  </p:spPr>
                </p:sp>
                <p:sp>
                  <p:nvSpPr>
                    <p:cNvPr id="201870" name="Line 157"/>
                    <p:cNvSpPr/>
                    <p:nvPr/>
                  </p:nvSpPr>
                  <p:spPr>
                    <a:xfrm>
                      <a:off x="1187" y="1392"/>
                      <a:ext cx="227" cy="0"/>
                    </a:xfrm>
                    <a:prstGeom prst="line">
                      <a:avLst/>
                    </a:prstGeom>
                    <a:ln w="9525" cap="flat" cmpd="sng">
                      <a:solidFill>
                        <a:schemeClr val="tx1"/>
                      </a:solidFill>
                      <a:prstDash val="solid"/>
                      <a:headEnd type="none" w="med" len="med"/>
                      <a:tailEnd type="none" w="med" len="med"/>
                    </a:ln>
                  </p:spPr>
                </p:sp>
                <p:sp>
                  <p:nvSpPr>
                    <p:cNvPr id="201871" name="Line 158"/>
                    <p:cNvSpPr/>
                    <p:nvPr/>
                  </p:nvSpPr>
                  <p:spPr>
                    <a:xfrm>
                      <a:off x="1187" y="1509"/>
                      <a:ext cx="227" cy="0"/>
                    </a:xfrm>
                    <a:prstGeom prst="line">
                      <a:avLst/>
                    </a:prstGeom>
                    <a:ln w="9525" cap="flat" cmpd="sng">
                      <a:solidFill>
                        <a:schemeClr val="tx1"/>
                      </a:solidFill>
                      <a:prstDash val="solid"/>
                      <a:headEnd type="none" w="med" len="med"/>
                      <a:tailEnd type="none" w="med" len="med"/>
                    </a:ln>
                  </p:spPr>
                </p:sp>
                <p:sp>
                  <p:nvSpPr>
                    <p:cNvPr id="201872" name="Line 159"/>
                    <p:cNvSpPr/>
                    <p:nvPr/>
                  </p:nvSpPr>
                  <p:spPr>
                    <a:xfrm>
                      <a:off x="1187" y="1653"/>
                      <a:ext cx="227" cy="0"/>
                    </a:xfrm>
                    <a:prstGeom prst="line">
                      <a:avLst/>
                    </a:prstGeom>
                    <a:ln w="9525" cap="flat" cmpd="sng">
                      <a:solidFill>
                        <a:schemeClr val="tx1"/>
                      </a:solidFill>
                      <a:prstDash val="solid"/>
                      <a:headEnd type="none" w="med" len="med"/>
                      <a:tailEnd type="none" w="med" len="med"/>
                    </a:ln>
                  </p:spPr>
                </p:sp>
                <p:sp>
                  <p:nvSpPr>
                    <p:cNvPr id="201873" name="Text Box 160"/>
                    <p:cNvSpPr txBox="1"/>
                    <p:nvPr/>
                  </p:nvSpPr>
                  <p:spPr>
                    <a:xfrm>
                      <a:off x="1440" y="1152"/>
                      <a:ext cx="227" cy="1182"/>
                    </a:xfrm>
                    <a:prstGeom prst="rect">
                      <a:avLst/>
                    </a:prstGeom>
                    <a:noFill/>
                    <a:ln w="9525">
                      <a:noFill/>
                    </a:ln>
                  </p:spPr>
                  <p:txBody>
                    <a:bodyPr>
                      <a:spAutoFit/>
                    </a:bodyPr>
                    <a:lstStyle/>
                    <a:p>
                      <a:pPr algn="just">
                        <a:lnSpc>
                          <a:spcPct val="60000"/>
                        </a:lnSpc>
                        <a:spcBef>
                          <a:spcPct val="50000"/>
                        </a:spcBef>
                      </a:pPr>
                      <a:r>
                        <a:rPr lang="en-US" altLang="zh-CN" sz="1400" dirty="0">
                          <a:solidFill>
                            <a:schemeClr val="tx1"/>
                          </a:solidFill>
                          <a:latin typeface="Arial" panose="020B0604020202020204" pitchFamily="34" charset="0"/>
                        </a:rPr>
                        <a:t>A</a:t>
                      </a:r>
                    </a:p>
                    <a:p>
                      <a:pPr algn="just">
                        <a:lnSpc>
                          <a:spcPct val="60000"/>
                        </a:lnSpc>
                        <a:spcBef>
                          <a:spcPct val="50000"/>
                        </a:spcBef>
                      </a:pPr>
                      <a:r>
                        <a:rPr lang="en-US" altLang="zh-CN" sz="1400" dirty="0">
                          <a:solidFill>
                            <a:schemeClr val="tx1"/>
                          </a:solidFill>
                          <a:latin typeface="Arial" panose="020B0604020202020204" pitchFamily="34" charset="0"/>
                        </a:rPr>
                        <a:t>B</a:t>
                      </a:r>
                    </a:p>
                    <a:p>
                      <a:pPr algn="just">
                        <a:lnSpc>
                          <a:spcPct val="60000"/>
                        </a:lnSpc>
                        <a:spcBef>
                          <a:spcPct val="50000"/>
                        </a:spcBef>
                      </a:pPr>
                      <a:r>
                        <a:rPr lang="en-US" altLang="zh-CN" sz="1400" dirty="0">
                          <a:solidFill>
                            <a:schemeClr val="tx1"/>
                          </a:solidFill>
                          <a:latin typeface="Arial" panose="020B0604020202020204" pitchFamily="34" charset="0"/>
                        </a:rPr>
                        <a:t>C</a:t>
                      </a:r>
                    </a:p>
                    <a:p>
                      <a:pPr algn="just">
                        <a:lnSpc>
                          <a:spcPct val="60000"/>
                        </a:lnSpc>
                        <a:spcBef>
                          <a:spcPct val="50000"/>
                        </a:spcBef>
                      </a:pPr>
                      <a:r>
                        <a:rPr lang="en-US" altLang="zh-CN" sz="1400" dirty="0">
                          <a:solidFill>
                            <a:schemeClr val="tx1"/>
                          </a:solidFill>
                          <a:latin typeface="Arial" panose="020B0604020202020204" pitchFamily="34" charset="0"/>
                        </a:rPr>
                        <a:t>D</a:t>
                      </a:r>
                    </a:p>
                    <a:p>
                      <a:pPr algn="just">
                        <a:lnSpc>
                          <a:spcPct val="60000"/>
                        </a:lnSpc>
                        <a:spcBef>
                          <a:spcPct val="50000"/>
                        </a:spcBef>
                      </a:pPr>
                      <a:r>
                        <a:rPr lang="en-US" altLang="zh-CN" sz="1400" dirty="0">
                          <a:solidFill>
                            <a:schemeClr val="tx1"/>
                          </a:solidFill>
                          <a:latin typeface="Arial" panose="020B0604020202020204" pitchFamily="34" charset="0"/>
                        </a:rPr>
                        <a:t>E</a:t>
                      </a:r>
                    </a:p>
                    <a:p>
                      <a:pPr algn="just">
                        <a:lnSpc>
                          <a:spcPct val="60000"/>
                        </a:lnSpc>
                        <a:spcBef>
                          <a:spcPct val="50000"/>
                        </a:spcBef>
                      </a:pPr>
                      <a:r>
                        <a:rPr lang="en-US" altLang="zh-CN" sz="1400" dirty="0">
                          <a:solidFill>
                            <a:schemeClr val="tx1"/>
                          </a:solidFill>
                          <a:latin typeface="Arial" panose="020B0604020202020204" pitchFamily="34" charset="0"/>
                        </a:rPr>
                        <a:t>F</a:t>
                      </a:r>
                    </a:p>
                    <a:p>
                      <a:pPr algn="just">
                        <a:lnSpc>
                          <a:spcPct val="60000"/>
                        </a:lnSpc>
                        <a:spcBef>
                          <a:spcPct val="50000"/>
                        </a:spcBef>
                      </a:pPr>
                      <a:r>
                        <a:rPr lang="en-US" altLang="zh-CN" sz="1400" dirty="0">
                          <a:solidFill>
                            <a:schemeClr val="tx1"/>
                          </a:solidFill>
                          <a:latin typeface="Arial" panose="020B0604020202020204" pitchFamily="34" charset="0"/>
                        </a:rPr>
                        <a:t>G</a:t>
                      </a:r>
                    </a:p>
                    <a:p>
                      <a:pPr algn="just">
                        <a:lnSpc>
                          <a:spcPct val="60000"/>
                        </a:lnSpc>
                        <a:spcBef>
                          <a:spcPct val="50000"/>
                        </a:spcBef>
                      </a:pPr>
                      <a:r>
                        <a:rPr lang="en-US" altLang="zh-CN" sz="1400" dirty="0">
                          <a:solidFill>
                            <a:schemeClr val="tx1"/>
                          </a:solidFill>
                          <a:latin typeface="Arial" panose="020B0604020202020204" pitchFamily="34" charset="0"/>
                        </a:rPr>
                        <a:t>H</a:t>
                      </a:r>
                    </a:p>
                  </p:txBody>
                </p:sp>
                <p:sp>
                  <p:nvSpPr>
                    <p:cNvPr id="201874" name="Text Box 161"/>
                    <p:cNvSpPr txBox="1"/>
                    <p:nvPr/>
                  </p:nvSpPr>
                  <p:spPr>
                    <a:xfrm>
                      <a:off x="1728" y="1595"/>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en-US" altLang="zh-CN" sz="1600" dirty="0">
                        <a:solidFill>
                          <a:schemeClr val="tx1"/>
                        </a:solidFill>
                        <a:latin typeface="Arial" panose="020B0604020202020204" pitchFamily="34" charset="0"/>
                      </a:endParaRPr>
                    </a:p>
                  </p:txBody>
                </p:sp>
                <p:sp>
                  <p:nvSpPr>
                    <p:cNvPr id="201875" name="Text Box 162"/>
                    <p:cNvSpPr txBox="1"/>
                    <p:nvPr/>
                  </p:nvSpPr>
                  <p:spPr>
                    <a:xfrm>
                      <a:off x="1728" y="1979"/>
                      <a:ext cx="409" cy="182"/>
                    </a:xfrm>
                    <a:prstGeom prst="rect">
                      <a:avLst/>
                    </a:prstGeom>
                    <a:noFill/>
                    <a:ln w="9525">
                      <a:noFill/>
                    </a:ln>
                  </p:spPr>
                  <p:txBody>
                    <a:bodyPr>
                      <a:spAutoFit/>
                    </a:bodyPr>
                    <a:lstStyle/>
                    <a:p>
                      <a:pPr algn="just">
                        <a:lnSpc>
                          <a:spcPct val="80000"/>
                        </a:lnSpc>
                        <a:spcBef>
                          <a:spcPct val="50000"/>
                        </a:spcBef>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en-US" altLang="zh-CN" sz="1600" dirty="0">
                        <a:solidFill>
                          <a:schemeClr val="tx1"/>
                        </a:solidFill>
                        <a:latin typeface="Arial" panose="020B0604020202020204" pitchFamily="34" charset="0"/>
                      </a:endParaRPr>
                    </a:p>
                  </p:txBody>
                </p:sp>
                <p:sp>
                  <p:nvSpPr>
                    <p:cNvPr id="201876" name="Line 163"/>
                    <p:cNvSpPr/>
                    <p:nvPr/>
                  </p:nvSpPr>
                  <p:spPr>
                    <a:xfrm>
                      <a:off x="2050" y="1680"/>
                      <a:ext cx="181" cy="0"/>
                    </a:xfrm>
                    <a:prstGeom prst="line">
                      <a:avLst/>
                    </a:prstGeom>
                    <a:ln w="9525" cap="flat" cmpd="sng">
                      <a:solidFill>
                        <a:schemeClr val="tx1"/>
                      </a:solidFill>
                      <a:prstDash val="solid"/>
                      <a:headEnd type="none" w="med" len="med"/>
                      <a:tailEnd type="none" w="med" len="med"/>
                    </a:ln>
                  </p:spPr>
                </p:sp>
                <p:sp>
                  <p:nvSpPr>
                    <p:cNvPr id="201877" name="Line 164"/>
                    <p:cNvSpPr/>
                    <p:nvPr/>
                  </p:nvSpPr>
                  <p:spPr>
                    <a:xfrm>
                      <a:off x="2050" y="2064"/>
                      <a:ext cx="181" cy="0"/>
                    </a:xfrm>
                    <a:prstGeom prst="line">
                      <a:avLst/>
                    </a:prstGeom>
                    <a:ln w="9525" cap="flat" cmpd="sng">
                      <a:solidFill>
                        <a:schemeClr val="tx1"/>
                      </a:solidFill>
                      <a:prstDash val="solid"/>
                      <a:headEnd type="none" w="med" len="med"/>
                      <a:tailEnd type="none" w="med" len="med"/>
                    </a:ln>
                  </p:spPr>
                </p:sp>
                <p:sp>
                  <p:nvSpPr>
                    <p:cNvPr id="201878" name="Line 165"/>
                    <p:cNvSpPr/>
                    <p:nvPr/>
                  </p:nvSpPr>
                  <p:spPr>
                    <a:xfrm>
                      <a:off x="1182" y="1782"/>
                      <a:ext cx="227" cy="0"/>
                    </a:xfrm>
                    <a:prstGeom prst="line">
                      <a:avLst/>
                    </a:prstGeom>
                    <a:ln w="9525" cap="flat" cmpd="sng">
                      <a:solidFill>
                        <a:schemeClr val="tx1"/>
                      </a:solidFill>
                      <a:prstDash val="solid"/>
                      <a:headEnd type="none" w="med" len="med"/>
                      <a:tailEnd type="none" w="med" len="med"/>
                    </a:ln>
                  </p:spPr>
                </p:sp>
                <p:sp>
                  <p:nvSpPr>
                    <p:cNvPr id="201879" name="Line 166"/>
                    <p:cNvSpPr/>
                    <p:nvPr/>
                  </p:nvSpPr>
                  <p:spPr>
                    <a:xfrm>
                      <a:off x="1182" y="2082"/>
                      <a:ext cx="227" cy="0"/>
                    </a:xfrm>
                    <a:prstGeom prst="line">
                      <a:avLst/>
                    </a:prstGeom>
                    <a:ln w="9525" cap="flat" cmpd="sng">
                      <a:solidFill>
                        <a:schemeClr val="tx1"/>
                      </a:solidFill>
                      <a:prstDash val="solid"/>
                      <a:headEnd type="none" w="med" len="med"/>
                      <a:tailEnd type="none" w="med" len="med"/>
                    </a:ln>
                  </p:spPr>
                </p:sp>
                <p:sp>
                  <p:nvSpPr>
                    <p:cNvPr id="201880" name="Line 167"/>
                    <p:cNvSpPr/>
                    <p:nvPr/>
                  </p:nvSpPr>
                  <p:spPr>
                    <a:xfrm>
                      <a:off x="1182" y="2208"/>
                      <a:ext cx="227" cy="0"/>
                    </a:xfrm>
                    <a:prstGeom prst="line">
                      <a:avLst/>
                    </a:prstGeom>
                    <a:ln w="9525" cap="flat" cmpd="sng">
                      <a:solidFill>
                        <a:schemeClr val="tx1"/>
                      </a:solidFill>
                      <a:prstDash val="solid"/>
                      <a:headEnd type="none" w="med" len="med"/>
                      <a:tailEnd type="none" w="med" len="med"/>
                    </a:ln>
                  </p:spPr>
                </p:sp>
                <p:sp>
                  <p:nvSpPr>
                    <p:cNvPr id="201881" name="Line 168"/>
                    <p:cNvSpPr/>
                    <p:nvPr/>
                  </p:nvSpPr>
                  <p:spPr>
                    <a:xfrm>
                      <a:off x="1182" y="1929"/>
                      <a:ext cx="227" cy="0"/>
                    </a:xfrm>
                    <a:prstGeom prst="line">
                      <a:avLst/>
                    </a:prstGeom>
                    <a:ln w="9525" cap="flat" cmpd="sng">
                      <a:solidFill>
                        <a:schemeClr val="tx1"/>
                      </a:solidFill>
                      <a:prstDash val="solid"/>
                      <a:headEnd type="none" w="med" len="med"/>
                      <a:tailEnd type="none" w="med" len="med"/>
                    </a:ln>
                  </p:spPr>
                </p:sp>
                <p:sp>
                  <p:nvSpPr>
                    <p:cNvPr id="201882" name="Line 169"/>
                    <p:cNvSpPr/>
                    <p:nvPr/>
                  </p:nvSpPr>
                  <p:spPr>
                    <a:xfrm>
                      <a:off x="1183" y="2352"/>
                      <a:ext cx="227" cy="0"/>
                    </a:xfrm>
                    <a:prstGeom prst="line">
                      <a:avLst/>
                    </a:prstGeom>
                    <a:ln w="9525" cap="flat" cmpd="sng">
                      <a:solidFill>
                        <a:schemeClr val="tx1"/>
                      </a:solidFill>
                      <a:prstDash val="solid"/>
                      <a:headEnd type="none" w="med" len="med"/>
                      <a:tailEnd type="none" w="med" len="med"/>
                    </a:ln>
                  </p:spPr>
                </p:sp>
                <p:sp>
                  <p:nvSpPr>
                    <p:cNvPr id="201883" name="Line 170"/>
                    <p:cNvSpPr/>
                    <p:nvPr/>
                  </p:nvSpPr>
                  <p:spPr>
                    <a:xfrm>
                      <a:off x="1183" y="2502"/>
                      <a:ext cx="227" cy="0"/>
                    </a:xfrm>
                    <a:prstGeom prst="line">
                      <a:avLst/>
                    </a:prstGeom>
                    <a:ln w="9525" cap="flat" cmpd="sng">
                      <a:solidFill>
                        <a:schemeClr val="tx1"/>
                      </a:solidFill>
                      <a:prstDash val="solid"/>
                      <a:headEnd type="none" w="med" len="med"/>
                      <a:tailEnd type="none" w="med" len="med"/>
                    </a:ln>
                  </p:spPr>
                </p:sp>
                <p:sp>
                  <p:nvSpPr>
                    <p:cNvPr id="201884" name="Text Box 171"/>
                    <p:cNvSpPr txBox="1"/>
                    <p:nvPr/>
                  </p:nvSpPr>
                  <p:spPr>
                    <a:xfrm>
                      <a:off x="1440" y="2267"/>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ODD</a:t>
                      </a:r>
                    </a:p>
                  </p:txBody>
                </p:sp>
                <p:sp>
                  <p:nvSpPr>
                    <p:cNvPr id="201885" name="Text Box 172"/>
                    <p:cNvSpPr txBox="1"/>
                    <p:nvPr/>
                  </p:nvSpPr>
                  <p:spPr>
                    <a:xfrm>
                      <a:off x="1440" y="2448"/>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EVEN</a:t>
                      </a:r>
                    </a:p>
                  </p:txBody>
                </p:sp>
                <p:sp>
                  <p:nvSpPr>
                    <p:cNvPr id="201886" name="Text Box 173"/>
                    <p:cNvSpPr txBox="1"/>
                    <p:nvPr/>
                  </p:nvSpPr>
                  <p:spPr>
                    <a:xfrm>
                      <a:off x="1584" y="1824"/>
                      <a:ext cx="500" cy="166"/>
                    </a:xfrm>
                    <a:prstGeom prst="rect">
                      <a:avLst/>
                    </a:prstGeom>
                    <a:noFill/>
                    <a:ln w="9525">
                      <a:noFill/>
                    </a:ln>
                  </p:spPr>
                  <p:txBody>
                    <a:bodyPr>
                      <a:spAutoFit/>
                    </a:bodyPr>
                    <a:lstStyle/>
                    <a:p>
                      <a:pPr algn="just">
                        <a:lnSpc>
                          <a:spcPct val="80000"/>
                        </a:lnSpc>
                        <a:spcBef>
                          <a:spcPct val="50000"/>
                        </a:spcBef>
                      </a:pPr>
                      <a:r>
                        <a:rPr lang="en-US" altLang="zh-CN" sz="1400" dirty="0">
                          <a:solidFill>
                            <a:schemeClr val="tx1"/>
                          </a:solidFill>
                          <a:latin typeface="Arial" panose="020B0604020202020204" pitchFamily="34" charset="0"/>
                        </a:rPr>
                        <a:t>74180</a:t>
                      </a:r>
                    </a:p>
                  </p:txBody>
                </p:sp>
              </p:grpSp>
              <p:grpSp>
                <p:nvGrpSpPr>
                  <p:cNvPr id="201778" name="Group 174"/>
                  <p:cNvGrpSpPr/>
                  <p:nvPr/>
                </p:nvGrpSpPr>
                <p:grpSpPr>
                  <a:xfrm>
                    <a:off x="720" y="336"/>
                    <a:ext cx="4512" cy="672"/>
                    <a:chOff x="720" y="336"/>
                    <a:chExt cx="3936" cy="672"/>
                  </a:xfrm>
                </p:grpSpPr>
                <p:sp>
                  <p:nvSpPr>
                    <p:cNvPr id="201859" name="Line 175"/>
                    <p:cNvSpPr/>
                    <p:nvPr/>
                  </p:nvSpPr>
                  <p:spPr>
                    <a:xfrm>
                      <a:off x="720" y="336"/>
                      <a:ext cx="3936" cy="0"/>
                    </a:xfrm>
                    <a:prstGeom prst="line">
                      <a:avLst/>
                    </a:prstGeom>
                    <a:ln w="9525" cap="flat" cmpd="sng">
                      <a:solidFill>
                        <a:schemeClr val="tx1"/>
                      </a:solidFill>
                      <a:prstDash val="solid"/>
                      <a:headEnd type="none" w="med" len="med"/>
                      <a:tailEnd type="none" w="med" len="med"/>
                    </a:ln>
                  </p:spPr>
                </p:sp>
                <p:sp>
                  <p:nvSpPr>
                    <p:cNvPr id="201860" name="Line 176"/>
                    <p:cNvSpPr/>
                    <p:nvPr/>
                  </p:nvSpPr>
                  <p:spPr>
                    <a:xfrm>
                      <a:off x="720" y="432"/>
                      <a:ext cx="3936" cy="0"/>
                    </a:xfrm>
                    <a:prstGeom prst="line">
                      <a:avLst/>
                    </a:prstGeom>
                    <a:ln w="9525" cap="flat" cmpd="sng">
                      <a:solidFill>
                        <a:schemeClr val="tx1"/>
                      </a:solidFill>
                      <a:prstDash val="solid"/>
                      <a:headEnd type="none" w="med" len="med"/>
                      <a:tailEnd type="none" w="med" len="med"/>
                    </a:ln>
                  </p:spPr>
                </p:sp>
                <p:sp>
                  <p:nvSpPr>
                    <p:cNvPr id="201861" name="Line 177"/>
                    <p:cNvSpPr/>
                    <p:nvPr/>
                  </p:nvSpPr>
                  <p:spPr>
                    <a:xfrm>
                      <a:off x="720" y="528"/>
                      <a:ext cx="3936" cy="0"/>
                    </a:xfrm>
                    <a:prstGeom prst="line">
                      <a:avLst/>
                    </a:prstGeom>
                    <a:ln w="9525" cap="flat" cmpd="sng">
                      <a:solidFill>
                        <a:schemeClr val="tx1"/>
                      </a:solidFill>
                      <a:prstDash val="solid"/>
                      <a:headEnd type="none" w="med" len="med"/>
                      <a:tailEnd type="none" w="med" len="med"/>
                    </a:ln>
                  </p:spPr>
                </p:sp>
                <p:sp>
                  <p:nvSpPr>
                    <p:cNvPr id="201862" name="Line 178"/>
                    <p:cNvSpPr/>
                    <p:nvPr/>
                  </p:nvSpPr>
                  <p:spPr>
                    <a:xfrm>
                      <a:off x="720" y="624"/>
                      <a:ext cx="3936" cy="0"/>
                    </a:xfrm>
                    <a:prstGeom prst="line">
                      <a:avLst/>
                    </a:prstGeom>
                    <a:ln w="9525" cap="flat" cmpd="sng">
                      <a:solidFill>
                        <a:schemeClr val="tx1"/>
                      </a:solidFill>
                      <a:prstDash val="solid"/>
                      <a:headEnd type="none" w="med" len="med"/>
                      <a:tailEnd type="none" w="med" len="med"/>
                    </a:ln>
                  </p:spPr>
                </p:sp>
                <p:sp>
                  <p:nvSpPr>
                    <p:cNvPr id="201863" name="Line 179"/>
                    <p:cNvSpPr/>
                    <p:nvPr/>
                  </p:nvSpPr>
                  <p:spPr>
                    <a:xfrm>
                      <a:off x="720" y="720"/>
                      <a:ext cx="3936" cy="0"/>
                    </a:xfrm>
                    <a:prstGeom prst="line">
                      <a:avLst/>
                    </a:prstGeom>
                    <a:ln w="9525" cap="flat" cmpd="sng">
                      <a:solidFill>
                        <a:schemeClr val="tx1"/>
                      </a:solidFill>
                      <a:prstDash val="solid"/>
                      <a:headEnd type="none" w="med" len="med"/>
                      <a:tailEnd type="none" w="med" len="med"/>
                    </a:ln>
                  </p:spPr>
                </p:sp>
                <p:sp>
                  <p:nvSpPr>
                    <p:cNvPr id="201864" name="Line 180"/>
                    <p:cNvSpPr/>
                    <p:nvPr/>
                  </p:nvSpPr>
                  <p:spPr>
                    <a:xfrm>
                      <a:off x="720" y="816"/>
                      <a:ext cx="3936" cy="0"/>
                    </a:xfrm>
                    <a:prstGeom prst="line">
                      <a:avLst/>
                    </a:prstGeom>
                    <a:ln w="9525" cap="flat" cmpd="sng">
                      <a:solidFill>
                        <a:schemeClr val="tx1"/>
                      </a:solidFill>
                      <a:prstDash val="solid"/>
                      <a:headEnd type="none" w="med" len="med"/>
                      <a:tailEnd type="none" w="med" len="med"/>
                    </a:ln>
                  </p:spPr>
                </p:sp>
                <p:sp>
                  <p:nvSpPr>
                    <p:cNvPr id="201865" name="Line 181"/>
                    <p:cNvSpPr/>
                    <p:nvPr/>
                  </p:nvSpPr>
                  <p:spPr>
                    <a:xfrm>
                      <a:off x="720" y="912"/>
                      <a:ext cx="3936" cy="0"/>
                    </a:xfrm>
                    <a:prstGeom prst="line">
                      <a:avLst/>
                    </a:prstGeom>
                    <a:ln w="9525" cap="flat" cmpd="sng">
                      <a:solidFill>
                        <a:schemeClr val="tx1"/>
                      </a:solidFill>
                      <a:prstDash val="solid"/>
                      <a:headEnd type="none" w="med" len="med"/>
                      <a:tailEnd type="none" w="med" len="med"/>
                    </a:ln>
                  </p:spPr>
                </p:sp>
                <p:sp>
                  <p:nvSpPr>
                    <p:cNvPr id="201866" name="Line 182"/>
                    <p:cNvSpPr/>
                    <p:nvPr/>
                  </p:nvSpPr>
                  <p:spPr>
                    <a:xfrm>
                      <a:off x="720" y="1008"/>
                      <a:ext cx="3936" cy="0"/>
                    </a:xfrm>
                    <a:prstGeom prst="line">
                      <a:avLst/>
                    </a:prstGeom>
                    <a:ln w="9525" cap="flat" cmpd="sng">
                      <a:solidFill>
                        <a:schemeClr val="tx1"/>
                      </a:solidFill>
                      <a:prstDash val="solid"/>
                      <a:headEnd type="none" w="med" len="med"/>
                      <a:tailEnd type="none" w="med" len="med"/>
                    </a:ln>
                  </p:spPr>
                </p:sp>
              </p:grpSp>
              <p:grpSp>
                <p:nvGrpSpPr>
                  <p:cNvPr id="201779" name="Group 183"/>
                  <p:cNvGrpSpPr/>
                  <p:nvPr/>
                </p:nvGrpSpPr>
                <p:grpSpPr>
                  <a:xfrm>
                    <a:off x="843" y="309"/>
                    <a:ext cx="606" cy="1995"/>
                    <a:chOff x="843" y="309"/>
                    <a:chExt cx="606" cy="1995"/>
                  </a:xfrm>
                </p:grpSpPr>
                <p:grpSp>
                  <p:nvGrpSpPr>
                    <p:cNvPr id="201827" name="Group 184"/>
                    <p:cNvGrpSpPr/>
                    <p:nvPr/>
                  </p:nvGrpSpPr>
                  <p:grpSpPr>
                    <a:xfrm>
                      <a:off x="873" y="336"/>
                      <a:ext cx="576" cy="1968"/>
                      <a:chOff x="873" y="336"/>
                      <a:chExt cx="576" cy="1968"/>
                    </a:xfrm>
                  </p:grpSpPr>
                  <p:grpSp>
                    <p:nvGrpSpPr>
                      <p:cNvPr id="201837" name="Group 185"/>
                      <p:cNvGrpSpPr/>
                      <p:nvPr/>
                    </p:nvGrpSpPr>
                    <p:grpSpPr>
                      <a:xfrm>
                        <a:off x="873" y="1008"/>
                        <a:ext cx="528" cy="1296"/>
                        <a:chOff x="864" y="1008"/>
                        <a:chExt cx="528" cy="1296"/>
                      </a:xfrm>
                    </p:grpSpPr>
                    <p:sp>
                      <p:nvSpPr>
                        <p:cNvPr id="201857" name="Line 186"/>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58" name="Line 187"/>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38" name="Group 188"/>
                      <p:cNvGrpSpPr/>
                      <p:nvPr/>
                    </p:nvGrpSpPr>
                    <p:grpSpPr>
                      <a:xfrm>
                        <a:off x="942" y="912"/>
                        <a:ext cx="459" cy="1266"/>
                        <a:chOff x="864" y="1008"/>
                        <a:chExt cx="528" cy="1296"/>
                      </a:xfrm>
                    </p:grpSpPr>
                    <p:sp>
                      <p:nvSpPr>
                        <p:cNvPr id="201855" name="Line 189"/>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56" name="Line 190"/>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39" name="Group 191"/>
                      <p:cNvGrpSpPr/>
                      <p:nvPr/>
                    </p:nvGrpSpPr>
                    <p:grpSpPr>
                      <a:xfrm>
                        <a:off x="1017" y="816"/>
                        <a:ext cx="384" cy="1209"/>
                        <a:chOff x="864" y="1008"/>
                        <a:chExt cx="528" cy="1296"/>
                      </a:xfrm>
                    </p:grpSpPr>
                    <p:sp>
                      <p:nvSpPr>
                        <p:cNvPr id="201853" name="Line 192"/>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54" name="Line 193"/>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40" name="Group 194"/>
                      <p:cNvGrpSpPr/>
                      <p:nvPr/>
                    </p:nvGrpSpPr>
                    <p:grpSpPr>
                      <a:xfrm>
                        <a:off x="1083" y="720"/>
                        <a:ext cx="318" cy="1161"/>
                        <a:chOff x="864" y="1008"/>
                        <a:chExt cx="528" cy="1296"/>
                      </a:xfrm>
                    </p:grpSpPr>
                    <p:sp>
                      <p:nvSpPr>
                        <p:cNvPr id="201851" name="Line 195"/>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52" name="Line 196"/>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41" name="Group 197"/>
                      <p:cNvGrpSpPr/>
                      <p:nvPr/>
                    </p:nvGrpSpPr>
                    <p:grpSpPr>
                      <a:xfrm>
                        <a:off x="1161" y="624"/>
                        <a:ext cx="240" cy="1122"/>
                        <a:chOff x="864" y="1008"/>
                        <a:chExt cx="528" cy="1296"/>
                      </a:xfrm>
                    </p:grpSpPr>
                    <p:sp>
                      <p:nvSpPr>
                        <p:cNvPr id="201849" name="Line 198"/>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50" name="Line 199"/>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42" name="Group 200"/>
                      <p:cNvGrpSpPr/>
                      <p:nvPr/>
                    </p:nvGrpSpPr>
                    <p:grpSpPr>
                      <a:xfrm>
                        <a:off x="1239" y="528"/>
                        <a:ext cx="162" cy="1077"/>
                        <a:chOff x="864" y="1008"/>
                        <a:chExt cx="528" cy="1296"/>
                      </a:xfrm>
                    </p:grpSpPr>
                    <p:sp>
                      <p:nvSpPr>
                        <p:cNvPr id="201847" name="Line 201"/>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48" name="Line 202"/>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43" name="Group 203"/>
                      <p:cNvGrpSpPr/>
                      <p:nvPr/>
                    </p:nvGrpSpPr>
                    <p:grpSpPr>
                      <a:xfrm>
                        <a:off x="1314" y="432"/>
                        <a:ext cx="135" cy="1056"/>
                        <a:chOff x="864" y="1008"/>
                        <a:chExt cx="528" cy="1296"/>
                      </a:xfrm>
                    </p:grpSpPr>
                    <p:sp>
                      <p:nvSpPr>
                        <p:cNvPr id="201845" name="Line 204"/>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46" name="Line 205"/>
                        <p:cNvSpPr/>
                        <p:nvPr/>
                      </p:nvSpPr>
                      <p:spPr>
                        <a:xfrm>
                          <a:off x="864" y="2304"/>
                          <a:ext cx="528" cy="0"/>
                        </a:xfrm>
                        <a:prstGeom prst="line">
                          <a:avLst/>
                        </a:prstGeom>
                        <a:ln w="9525" cap="flat" cmpd="sng">
                          <a:solidFill>
                            <a:schemeClr val="tx1"/>
                          </a:solidFill>
                          <a:prstDash val="solid"/>
                          <a:headEnd type="none" w="med" len="med"/>
                          <a:tailEnd type="none" w="med" len="med"/>
                        </a:ln>
                      </p:spPr>
                    </p:sp>
                  </p:grpSp>
                  <p:sp>
                    <p:nvSpPr>
                      <p:cNvPr id="201844" name="Line 206"/>
                      <p:cNvSpPr/>
                      <p:nvPr/>
                    </p:nvSpPr>
                    <p:spPr>
                      <a:xfrm flipV="1">
                        <a:off x="1401" y="336"/>
                        <a:ext cx="0" cy="1008"/>
                      </a:xfrm>
                      <a:prstGeom prst="line">
                        <a:avLst/>
                      </a:prstGeom>
                      <a:ln w="9525" cap="flat" cmpd="sng">
                        <a:solidFill>
                          <a:schemeClr val="tx1"/>
                        </a:solidFill>
                        <a:prstDash val="solid"/>
                        <a:headEnd type="none" w="med" len="med"/>
                        <a:tailEnd type="none" w="med" len="med"/>
                      </a:ln>
                    </p:spPr>
                  </p:sp>
                </p:grpSp>
                <p:grpSp>
                  <p:nvGrpSpPr>
                    <p:cNvPr id="201828" name="Group 207"/>
                    <p:cNvGrpSpPr/>
                    <p:nvPr/>
                  </p:nvGrpSpPr>
                  <p:grpSpPr>
                    <a:xfrm>
                      <a:off x="843" y="309"/>
                      <a:ext cx="576" cy="726"/>
                      <a:chOff x="843" y="309"/>
                      <a:chExt cx="576" cy="726"/>
                    </a:xfrm>
                  </p:grpSpPr>
                  <p:sp>
                    <p:nvSpPr>
                      <p:cNvPr id="201829" name="Oval 208"/>
                      <p:cNvSpPr/>
                      <p:nvPr/>
                    </p:nvSpPr>
                    <p:spPr>
                      <a:xfrm>
                        <a:off x="843" y="987"/>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30" name="Oval 209"/>
                      <p:cNvSpPr/>
                      <p:nvPr/>
                    </p:nvSpPr>
                    <p:spPr>
                      <a:xfrm>
                        <a:off x="921" y="894"/>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31" name="Oval 210"/>
                      <p:cNvSpPr/>
                      <p:nvPr/>
                    </p:nvSpPr>
                    <p:spPr>
                      <a:xfrm>
                        <a:off x="996" y="789"/>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32" name="Oval 211"/>
                      <p:cNvSpPr/>
                      <p:nvPr/>
                    </p:nvSpPr>
                    <p:spPr>
                      <a:xfrm>
                        <a:off x="1062" y="699"/>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33" name="Oval 212"/>
                      <p:cNvSpPr/>
                      <p:nvPr/>
                    </p:nvSpPr>
                    <p:spPr>
                      <a:xfrm>
                        <a:off x="1212" y="507"/>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34" name="Oval 213"/>
                      <p:cNvSpPr/>
                      <p:nvPr/>
                    </p:nvSpPr>
                    <p:spPr>
                      <a:xfrm>
                        <a:off x="1281" y="396"/>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35" name="Oval 214"/>
                      <p:cNvSpPr/>
                      <p:nvPr/>
                    </p:nvSpPr>
                    <p:spPr>
                      <a:xfrm>
                        <a:off x="1134" y="603"/>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36" name="Oval 215"/>
                      <p:cNvSpPr/>
                      <p:nvPr/>
                    </p:nvSpPr>
                    <p:spPr>
                      <a:xfrm>
                        <a:off x="1371" y="309"/>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grpSp>
                <p:nvGrpSpPr>
                  <p:cNvPr id="201780" name="Group 216"/>
                  <p:cNvGrpSpPr/>
                  <p:nvPr/>
                </p:nvGrpSpPr>
                <p:grpSpPr>
                  <a:xfrm>
                    <a:off x="3090" y="306"/>
                    <a:ext cx="606" cy="1995"/>
                    <a:chOff x="843" y="309"/>
                    <a:chExt cx="606" cy="1995"/>
                  </a:xfrm>
                </p:grpSpPr>
                <p:grpSp>
                  <p:nvGrpSpPr>
                    <p:cNvPr id="201795" name="Group 217"/>
                    <p:cNvGrpSpPr/>
                    <p:nvPr/>
                  </p:nvGrpSpPr>
                  <p:grpSpPr>
                    <a:xfrm>
                      <a:off x="873" y="336"/>
                      <a:ext cx="576" cy="1968"/>
                      <a:chOff x="873" y="336"/>
                      <a:chExt cx="576" cy="1968"/>
                    </a:xfrm>
                  </p:grpSpPr>
                  <p:grpSp>
                    <p:nvGrpSpPr>
                      <p:cNvPr id="201805" name="Group 218"/>
                      <p:cNvGrpSpPr/>
                      <p:nvPr/>
                    </p:nvGrpSpPr>
                    <p:grpSpPr>
                      <a:xfrm>
                        <a:off x="873" y="1008"/>
                        <a:ext cx="528" cy="1296"/>
                        <a:chOff x="864" y="1008"/>
                        <a:chExt cx="528" cy="1296"/>
                      </a:xfrm>
                    </p:grpSpPr>
                    <p:sp>
                      <p:nvSpPr>
                        <p:cNvPr id="201825" name="Line 219"/>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26" name="Line 220"/>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06" name="Group 221"/>
                      <p:cNvGrpSpPr/>
                      <p:nvPr/>
                    </p:nvGrpSpPr>
                    <p:grpSpPr>
                      <a:xfrm>
                        <a:off x="942" y="912"/>
                        <a:ext cx="459" cy="1266"/>
                        <a:chOff x="864" y="1008"/>
                        <a:chExt cx="528" cy="1296"/>
                      </a:xfrm>
                    </p:grpSpPr>
                    <p:sp>
                      <p:nvSpPr>
                        <p:cNvPr id="201823" name="Line 222"/>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24" name="Line 223"/>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07" name="Group 224"/>
                      <p:cNvGrpSpPr/>
                      <p:nvPr/>
                    </p:nvGrpSpPr>
                    <p:grpSpPr>
                      <a:xfrm>
                        <a:off x="1017" y="816"/>
                        <a:ext cx="384" cy="1209"/>
                        <a:chOff x="864" y="1008"/>
                        <a:chExt cx="528" cy="1296"/>
                      </a:xfrm>
                    </p:grpSpPr>
                    <p:sp>
                      <p:nvSpPr>
                        <p:cNvPr id="201821" name="Line 225"/>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22" name="Line 226"/>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08" name="Group 227"/>
                      <p:cNvGrpSpPr/>
                      <p:nvPr/>
                    </p:nvGrpSpPr>
                    <p:grpSpPr>
                      <a:xfrm>
                        <a:off x="1083" y="720"/>
                        <a:ext cx="318" cy="1161"/>
                        <a:chOff x="864" y="1008"/>
                        <a:chExt cx="528" cy="1296"/>
                      </a:xfrm>
                    </p:grpSpPr>
                    <p:sp>
                      <p:nvSpPr>
                        <p:cNvPr id="201819" name="Line 228"/>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20" name="Line 229"/>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09" name="Group 230"/>
                      <p:cNvGrpSpPr/>
                      <p:nvPr/>
                    </p:nvGrpSpPr>
                    <p:grpSpPr>
                      <a:xfrm>
                        <a:off x="1161" y="624"/>
                        <a:ext cx="240" cy="1122"/>
                        <a:chOff x="864" y="1008"/>
                        <a:chExt cx="528" cy="1296"/>
                      </a:xfrm>
                    </p:grpSpPr>
                    <p:sp>
                      <p:nvSpPr>
                        <p:cNvPr id="201817" name="Line 231"/>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18" name="Line 232"/>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10" name="Group 233"/>
                      <p:cNvGrpSpPr/>
                      <p:nvPr/>
                    </p:nvGrpSpPr>
                    <p:grpSpPr>
                      <a:xfrm>
                        <a:off x="1239" y="528"/>
                        <a:ext cx="162" cy="1077"/>
                        <a:chOff x="864" y="1008"/>
                        <a:chExt cx="528" cy="1296"/>
                      </a:xfrm>
                    </p:grpSpPr>
                    <p:sp>
                      <p:nvSpPr>
                        <p:cNvPr id="201815" name="Line 234"/>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16" name="Line 235"/>
                        <p:cNvSpPr/>
                        <p:nvPr/>
                      </p:nvSpPr>
                      <p:spPr>
                        <a:xfrm>
                          <a:off x="864" y="2304"/>
                          <a:ext cx="528" cy="0"/>
                        </a:xfrm>
                        <a:prstGeom prst="line">
                          <a:avLst/>
                        </a:prstGeom>
                        <a:ln w="9525" cap="flat" cmpd="sng">
                          <a:solidFill>
                            <a:schemeClr val="tx1"/>
                          </a:solidFill>
                          <a:prstDash val="solid"/>
                          <a:headEnd type="none" w="med" len="med"/>
                          <a:tailEnd type="none" w="med" len="med"/>
                        </a:ln>
                      </p:spPr>
                    </p:sp>
                  </p:grpSp>
                  <p:grpSp>
                    <p:nvGrpSpPr>
                      <p:cNvPr id="201811" name="Group 236"/>
                      <p:cNvGrpSpPr/>
                      <p:nvPr/>
                    </p:nvGrpSpPr>
                    <p:grpSpPr>
                      <a:xfrm>
                        <a:off x="1314" y="432"/>
                        <a:ext cx="135" cy="1056"/>
                        <a:chOff x="864" y="1008"/>
                        <a:chExt cx="528" cy="1296"/>
                      </a:xfrm>
                    </p:grpSpPr>
                    <p:sp>
                      <p:nvSpPr>
                        <p:cNvPr id="201813" name="Line 237"/>
                        <p:cNvSpPr/>
                        <p:nvPr/>
                      </p:nvSpPr>
                      <p:spPr>
                        <a:xfrm>
                          <a:off x="864" y="1008"/>
                          <a:ext cx="0" cy="1296"/>
                        </a:xfrm>
                        <a:prstGeom prst="line">
                          <a:avLst/>
                        </a:prstGeom>
                        <a:ln w="9525" cap="flat" cmpd="sng">
                          <a:solidFill>
                            <a:schemeClr val="tx1"/>
                          </a:solidFill>
                          <a:prstDash val="solid"/>
                          <a:headEnd type="none" w="med" len="med"/>
                          <a:tailEnd type="none" w="med" len="med"/>
                        </a:ln>
                      </p:spPr>
                    </p:sp>
                    <p:sp>
                      <p:nvSpPr>
                        <p:cNvPr id="201814" name="Line 238"/>
                        <p:cNvSpPr/>
                        <p:nvPr/>
                      </p:nvSpPr>
                      <p:spPr>
                        <a:xfrm>
                          <a:off x="864" y="2304"/>
                          <a:ext cx="528" cy="0"/>
                        </a:xfrm>
                        <a:prstGeom prst="line">
                          <a:avLst/>
                        </a:prstGeom>
                        <a:ln w="9525" cap="flat" cmpd="sng">
                          <a:solidFill>
                            <a:schemeClr val="tx1"/>
                          </a:solidFill>
                          <a:prstDash val="solid"/>
                          <a:headEnd type="none" w="med" len="med"/>
                          <a:tailEnd type="none" w="med" len="med"/>
                        </a:ln>
                      </p:spPr>
                    </p:sp>
                  </p:grpSp>
                  <p:sp>
                    <p:nvSpPr>
                      <p:cNvPr id="201812" name="Line 239"/>
                      <p:cNvSpPr/>
                      <p:nvPr/>
                    </p:nvSpPr>
                    <p:spPr>
                      <a:xfrm flipV="1">
                        <a:off x="1401" y="336"/>
                        <a:ext cx="0" cy="1008"/>
                      </a:xfrm>
                      <a:prstGeom prst="line">
                        <a:avLst/>
                      </a:prstGeom>
                      <a:ln w="9525" cap="flat" cmpd="sng">
                        <a:solidFill>
                          <a:schemeClr val="tx1"/>
                        </a:solidFill>
                        <a:prstDash val="solid"/>
                        <a:headEnd type="none" w="med" len="med"/>
                        <a:tailEnd type="none" w="med" len="med"/>
                      </a:ln>
                    </p:spPr>
                  </p:sp>
                </p:grpSp>
                <p:grpSp>
                  <p:nvGrpSpPr>
                    <p:cNvPr id="201796" name="Group 240"/>
                    <p:cNvGrpSpPr/>
                    <p:nvPr/>
                  </p:nvGrpSpPr>
                  <p:grpSpPr>
                    <a:xfrm>
                      <a:off x="843" y="309"/>
                      <a:ext cx="576" cy="726"/>
                      <a:chOff x="843" y="309"/>
                      <a:chExt cx="576" cy="726"/>
                    </a:xfrm>
                  </p:grpSpPr>
                  <p:sp>
                    <p:nvSpPr>
                      <p:cNvPr id="201797" name="Oval 241"/>
                      <p:cNvSpPr/>
                      <p:nvPr/>
                    </p:nvSpPr>
                    <p:spPr>
                      <a:xfrm>
                        <a:off x="843" y="987"/>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798" name="Oval 242"/>
                      <p:cNvSpPr/>
                      <p:nvPr/>
                    </p:nvSpPr>
                    <p:spPr>
                      <a:xfrm>
                        <a:off x="921" y="894"/>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799" name="Oval 243"/>
                      <p:cNvSpPr/>
                      <p:nvPr/>
                    </p:nvSpPr>
                    <p:spPr>
                      <a:xfrm>
                        <a:off x="996" y="789"/>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00" name="Oval 244"/>
                      <p:cNvSpPr/>
                      <p:nvPr/>
                    </p:nvSpPr>
                    <p:spPr>
                      <a:xfrm>
                        <a:off x="1062" y="699"/>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01" name="Oval 245"/>
                      <p:cNvSpPr/>
                      <p:nvPr/>
                    </p:nvSpPr>
                    <p:spPr>
                      <a:xfrm>
                        <a:off x="1212" y="507"/>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02" name="Oval 246"/>
                      <p:cNvSpPr/>
                      <p:nvPr/>
                    </p:nvSpPr>
                    <p:spPr>
                      <a:xfrm>
                        <a:off x="1281" y="396"/>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03" name="Oval 247"/>
                      <p:cNvSpPr/>
                      <p:nvPr/>
                    </p:nvSpPr>
                    <p:spPr>
                      <a:xfrm>
                        <a:off x="1134" y="603"/>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804" name="Oval 248"/>
                      <p:cNvSpPr/>
                      <p:nvPr/>
                    </p:nvSpPr>
                    <p:spPr>
                      <a:xfrm>
                        <a:off x="1371" y="309"/>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grpSp>
              <p:sp>
                <p:nvSpPr>
                  <p:cNvPr id="201781" name="Text Box 249"/>
                  <p:cNvSpPr txBox="1"/>
                  <p:nvPr/>
                </p:nvSpPr>
                <p:spPr>
                  <a:xfrm>
                    <a:off x="480" y="288"/>
                    <a:ext cx="288" cy="790"/>
                  </a:xfrm>
                  <a:prstGeom prst="rect">
                    <a:avLst/>
                  </a:prstGeom>
                  <a:noFill/>
                  <a:ln w="9525">
                    <a:noFill/>
                  </a:ln>
                </p:spPr>
                <p:txBody>
                  <a:bodyPr>
                    <a:spAutoFit/>
                  </a:bodyPr>
                  <a:lstStyle/>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0</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1</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2</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3</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4</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5</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6</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7</a:t>
                    </a:r>
                    <a:endParaRPr lang="en-US" altLang="zh-CN" sz="1400" dirty="0">
                      <a:solidFill>
                        <a:schemeClr val="tx1"/>
                      </a:solidFill>
                      <a:latin typeface="Arial" panose="020B0604020202020204" pitchFamily="34" charset="0"/>
                    </a:endParaRPr>
                  </a:p>
                </p:txBody>
              </p:sp>
              <p:sp>
                <p:nvSpPr>
                  <p:cNvPr id="201782" name="Text Box 250"/>
                  <p:cNvSpPr txBox="1"/>
                  <p:nvPr/>
                </p:nvSpPr>
                <p:spPr>
                  <a:xfrm>
                    <a:off x="5232" y="273"/>
                    <a:ext cx="288" cy="790"/>
                  </a:xfrm>
                  <a:prstGeom prst="rect">
                    <a:avLst/>
                  </a:prstGeom>
                  <a:noFill/>
                  <a:ln w="9525">
                    <a:noFill/>
                  </a:ln>
                </p:spPr>
                <p:txBody>
                  <a:bodyPr>
                    <a:spAutoFit/>
                  </a:bodyPr>
                  <a:lstStyle/>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0</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1</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2</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3</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4</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5</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6</a:t>
                    </a:r>
                    <a:endParaRPr lang="en-US" altLang="zh-CN" sz="1400" dirty="0">
                      <a:solidFill>
                        <a:schemeClr val="tx1"/>
                      </a:solidFill>
                      <a:latin typeface="Arial" panose="020B0604020202020204" pitchFamily="34" charset="0"/>
                    </a:endParaRPr>
                  </a:p>
                  <a:p>
                    <a:pPr algn="just">
                      <a:lnSpc>
                        <a:spcPct val="50000"/>
                      </a:lnSpc>
                      <a:spcBef>
                        <a:spcPct val="20000"/>
                      </a:spcBef>
                    </a:pPr>
                    <a:r>
                      <a:rPr lang="en-US" altLang="zh-CN" sz="1400" dirty="0">
                        <a:solidFill>
                          <a:schemeClr val="tx1"/>
                        </a:solidFill>
                        <a:latin typeface="Arial" panose="020B0604020202020204" pitchFamily="34" charset="0"/>
                      </a:rPr>
                      <a:t>D</a:t>
                    </a:r>
                    <a:r>
                      <a:rPr lang="en-US" altLang="zh-CN" sz="1400" baseline="-25000" dirty="0">
                        <a:solidFill>
                          <a:schemeClr val="tx1"/>
                        </a:solidFill>
                        <a:latin typeface="Arial" panose="020B0604020202020204" pitchFamily="34" charset="0"/>
                      </a:rPr>
                      <a:t>7</a:t>
                    </a:r>
                    <a:endParaRPr lang="en-US" altLang="zh-CN" sz="1400" dirty="0">
                      <a:solidFill>
                        <a:schemeClr val="tx1"/>
                      </a:solidFill>
                      <a:latin typeface="Arial" panose="020B0604020202020204" pitchFamily="34" charset="0"/>
                    </a:endParaRPr>
                  </a:p>
                </p:txBody>
              </p:sp>
              <p:sp>
                <p:nvSpPr>
                  <p:cNvPr id="201783" name="Line 251"/>
                  <p:cNvSpPr/>
                  <p:nvPr/>
                </p:nvSpPr>
                <p:spPr>
                  <a:xfrm flipV="1">
                    <a:off x="2448" y="1104"/>
                    <a:ext cx="0" cy="672"/>
                  </a:xfrm>
                  <a:prstGeom prst="line">
                    <a:avLst/>
                  </a:prstGeom>
                  <a:ln w="9525" cap="flat" cmpd="sng">
                    <a:solidFill>
                      <a:srgbClr val="CC3300"/>
                    </a:solidFill>
                    <a:prstDash val="solid"/>
                    <a:headEnd type="none" w="med" len="med"/>
                    <a:tailEnd type="none" w="med" len="med"/>
                  </a:ln>
                </p:spPr>
              </p:sp>
              <p:sp>
                <p:nvSpPr>
                  <p:cNvPr id="201784" name="Line 252"/>
                  <p:cNvSpPr/>
                  <p:nvPr/>
                </p:nvSpPr>
                <p:spPr>
                  <a:xfrm>
                    <a:off x="2448" y="1104"/>
                    <a:ext cx="528" cy="0"/>
                  </a:xfrm>
                  <a:prstGeom prst="line">
                    <a:avLst/>
                  </a:prstGeom>
                  <a:ln w="9525" cap="flat" cmpd="sng">
                    <a:solidFill>
                      <a:srgbClr val="CC3300"/>
                    </a:solidFill>
                    <a:prstDash val="solid"/>
                    <a:headEnd type="none" w="med" len="med"/>
                    <a:tailEnd type="none" w="med" len="med"/>
                  </a:ln>
                </p:spPr>
              </p:sp>
              <p:sp>
                <p:nvSpPr>
                  <p:cNvPr id="201785" name="Line 253"/>
                  <p:cNvSpPr/>
                  <p:nvPr/>
                </p:nvSpPr>
                <p:spPr>
                  <a:xfrm>
                    <a:off x="2976" y="1104"/>
                    <a:ext cx="0" cy="1488"/>
                  </a:xfrm>
                  <a:prstGeom prst="line">
                    <a:avLst/>
                  </a:prstGeom>
                  <a:ln w="9525" cap="flat" cmpd="sng">
                    <a:solidFill>
                      <a:srgbClr val="CC3300"/>
                    </a:solidFill>
                    <a:prstDash val="solid"/>
                    <a:headEnd type="none" w="med" len="med"/>
                    <a:tailEnd type="none" w="med" len="med"/>
                  </a:ln>
                </p:spPr>
              </p:sp>
              <p:sp>
                <p:nvSpPr>
                  <p:cNvPr id="201786" name="Line 254"/>
                  <p:cNvSpPr/>
                  <p:nvPr/>
                </p:nvSpPr>
                <p:spPr>
                  <a:xfrm flipH="1">
                    <a:off x="2976" y="2448"/>
                    <a:ext cx="720" cy="0"/>
                  </a:xfrm>
                  <a:prstGeom prst="line">
                    <a:avLst/>
                  </a:prstGeom>
                  <a:ln w="9525" cap="flat" cmpd="sng">
                    <a:solidFill>
                      <a:srgbClr val="CC3300"/>
                    </a:solidFill>
                    <a:prstDash val="solid"/>
                    <a:headEnd type="none" w="med" len="med"/>
                    <a:tailEnd type="none" w="med" len="med"/>
                  </a:ln>
                </p:spPr>
              </p:sp>
              <p:sp>
                <p:nvSpPr>
                  <p:cNvPr id="201787" name="Line 255"/>
                  <p:cNvSpPr/>
                  <p:nvPr/>
                </p:nvSpPr>
                <p:spPr>
                  <a:xfrm>
                    <a:off x="2976" y="2592"/>
                    <a:ext cx="288" cy="0"/>
                  </a:xfrm>
                  <a:prstGeom prst="line">
                    <a:avLst/>
                  </a:prstGeom>
                  <a:ln w="9525" cap="flat" cmpd="sng">
                    <a:solidFill>
                      <a:srgbClr val="CC3300"/>
                    </a:solidFill>
                    <a:prstDash val="solid"/>
                    <a:headEnd type="none" w="med" len="med"/>
                    <a:tailEnd type="none" w="med" len="med"/>
                  </a:ln>
                </p:spPr>
              </p:sp>
              <p:sp>
                <p:nvSpPr>
                  <p:cNvPr id="201788" name="Rectangle 256"/>
                  <p:cNvSpPr/>
                  <p:nvPr/>
                </p:nvSpPr>
                <p:spPr>
                  <a:xfrm>
                    <a:off x="3264" y="2496"/>
                    <a:ext cx="144" cy="192"/>
                  </a:xfrm>
                  <a:prstGeom prst="rect">
                    <a:avLst/>
                  </a:prstGeom>
                  <a:noFill/>
                  <a:ln w="9525"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789" name="Text Box 257"/>
                  <p:cNvSpPr txBox="1"/>
                  <p:nvPr/>
                </p:nvSpPr>
                <p:spPr>
                  <a:xfrm>
                    <a:off x="3255" y="2541"/>
                    <a:ext cx="144" cy="144"/>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201790" name="Oval 258"/>
                  <p:cNvSpPr/>
                  <p:nvPr/>
                </p:nvSpPr>
                <p:spPr>
                  <a:xfrm>
                    <a:off x="3408" y="2574"/>
                    <a:ext cx="48" cy="48"/>
                  </a:xfrm>
                  <a:prstGeom prst="ellipse">
                    <a:avLst/>
                  </a:prstGeom>
                  <a:no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
                <p:nvSpPr>
                  <p:cNvPr id="201791" name="Line 259"/>
                  <p:cNvSpPr/>
                  <p:nvPr/>
                </p:nvSpPr>
                <p:spPr>
                  <a:xfrm flipH="1">
                    <a:off x="3456" y="2601"/>
                    <a:ext cx="240" cy="0"/>
                  </a:xfrm>
                  <a:prstGeom prst="line">
                    <a:avLst/>
                  </a:prstGeom>
                  <a:ln w="9525" cap="flat" cmpd="sng">
                    <a:solidFill>
                      <a:schemeClr val="tx1"/>
                    </a:solidFill>
                    <a:prstDash val="solid"/>
                    <a:headEnd type="none" w="med" len="med"/>
                    <a:tailEnd type="none" w="med" len="med"/>
                  </a:ln>
                </p:spPr>
              </p:sp>
              <p:sp>
                <p:nvSpPr>
                  <p:cNvPr id="201792" name="Text Box 260"/>
                  <p:cNvSpPr txBox="1"/>
                  <p:nvPr/>
                </p:nvSpPr>
                <p:spPr>
                  <a:xfrm>
                    <a:off x="1272" y="2400"/>
                    <a:ext cx="240" cy="144"/>
                  </a:xfrm>
                  <a:prstGeom prst="rect">
                    <a:avLst/>
                  </a:prstGeom>
                  <a:noFill/>
                  <a:ln w="9525">
                    <a:noFill/>
                  </a:ln>
                </p:spPr>
                <p:txBody>
                  <a:bodyPr>
                    <a:spAutoFit/>
                  </a:bodyPr>
                  <a:lstStyle/>
                  <a:p>
                    <a:pPr algn="just">
                      <a:lnSpc>
                        <a:spcPct val="64000"/>
                      </a:lnSpc>
                      <a:spcBef>
                        <a:spcPct val="50000"/>
                      </a:spcBef>
                    </a:pPr>
                    <a:r>
                      <a:rPr lang="en-US" altLang="zh-CN" sz="1400" dirty="0">
                        <a:solidFill>
                          <a:schemeClr val="tx1"/>
                        </a:solidFill>
                        <a:latin typeface="Arial" panose="020B0604020202020204" pitchFamily="34" charset="0"/>
                      </a:rPr>
                      <a:t>1</a:t>
                    </a:r>
                  </a:p>
                </p:txBody>
              </p:sp>
              <p:sp>
                <p:nvSpPr>
                  <p:cNvPr id="201793" name="Line 261"/>
                  <p:cNvSpPr/>
                  <p:nvPr/>
                </p:nvSpPr>
                <p:spPr>
                  <a:xfrm>
                    <a:off x="1524" y="2565"/>
                    <a:ext cx="0" cy="240"/>
                  </a:xfrm>
                  <a:prstGeom prst="line">
                    <a:avLst/>
                  </a:prstGeom>
                  <a:ln w="9525" cap="flat" cmpd="sng">
                    <a:solidFill>
                      <a:schemeClr val="tx1"/>
                    </a:solidFill>
                    <a:prstDash val="solid"/>
                    <a:headEnd type="none" w="med" len="med"/>
                    <a:tailEnd type="none" w="med" len="med"/>
                  </a:ln>
                </p:spPr>
              </p:sp>
              <p:sp>
                <p:nvSpPr>
                  <p:cNvPr id="201794" name="Line 262"/>
                  <p:cNvSpPr/>
                  <p:nvPr/>
                </p:nvSpPr>
                <p:spPr>
                  <a:xfrm>
                    <a:off x="1488" y="2817"/>
                    <a:ext cx="96" cy="0"/>
                  </a:xfrm>
                  <a:prstGeom prst="line">
                    <a:avLst/>
                  </a:prstGeom>
                  <a:ln w="28575" cap="flat" cmpd="sng">
                    <a:solidFill>
                      <a:schemeClr val="tx1"/>
                    </a:solidFill>
                    <a:prstDash val="solid"/>
                    <a:headEnd type="none" w="med" len="med"/>
                    <a:tailEnd type="none" w="med" len="med"/>
                  </a:ln>
                </p:spPr>
              </p:sp>
            </p:grpSp>
            <p:sp>
              <p:nvSpPr>
                <p:cNvPr id="201775" name="Text Box 263"/>
                <p:cNvSpPr txBox="1"/>
                <p:nvPr/>
              </p:nvSpPr>
              <p:spPr>
                <a:xfrm>
                  <a:off x="2508" y="528"/>
                  <a:ext cx="336" cy="581"/>
                </a:xfrm>
                <a:prstGeom prst="rect">
                  <a:avLst/>
                </a:prstGeom>
                <a:solidFill>
                  <a:schemeClr val="bg1"/>
                </a:solidFill>
                <a:ln w="9525">
                  <a:noFill/>
                </a:ln>
              </p:spPr>
              <p:txBody>
                <a:bodyPr>
                  <a:spAutoFit/>
                </a:bodyPr>
                <a:lstStyle/>
                <a:p>
                  <a:pPr algn="just">
                    <a:lnSpc>
                      <a:spcPct val="90000"/>
                    </a:lnSpc>
                    <a:spcBef>
                      <a:spcPct val="50000"/>
                    </a:spcBef>
                  </a:pPr>
                  <a:r>
                    <a:rPr lang="zh-CN" altLang="en-US" sz="2000" dirty="0">
                      <a:solidFill>
                        <a:schemeClr val="tx1"/>
                      </a:solidFill>
                      <a:latin typeface="Arial" panose="020B0604020202020204" pitchFamily="34" charset="0"/>
                    </a:rPr>
                    <a:t>传输线</a:t>
                  </a:r>
                </a:p>
              </p:txBody>
            </p:sp>
          </p:grpSp>
          <p:sp>
            <p:nvSpPr>
              <p:cNvPr id="201773" name="Oval 538"/>
              <p:cNvSpPr/>
              <p:nvPr/>
            </p:nvSpPr>
            <p:spPr>
              <a:xfrm>
                <a:off x="2974" y="2897"/>
                <a:ext cx="48" cy="48"/>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grpSp>
        <p:sp>
          <p:nvSpPr>
            <p:cNvPr id="201770" name="Rectangle 543"/>
            <p:cNvSpPr/>
            <p:nvPr/>
          </p:nvSpPr>
          <p:spPr>
            <a:xfrm>
              <a:off x="4745" y="2102"/>
              <a:ext cx="318" cy="197"/>
            </a:xfrm>
            <a:prstGeom prst="rect">
              <a:avLst/>
            </a:prstGeom>
            <a:noFill/>
            <a:ln w="9525">
              <a:noFill/>
            </a:ln>
          </p:spPr>
          <p:txBody>
            <a:bodyPr wrap="none">
              <a:spAutoFit/>
            </a:bodyPr>
            <a:lstStyle/>
            <a:p>
              <a:pPr algn="dist" eaLnBrk="1" hangingPunct="1">
                <a:lnSpc>
                  <a:spcPct val="90000"/>
                </a:lnSpc>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OD</a:t>
              </a:r>
              <a:endParaRPr lang="zh-CN" altLang="en-US" sz="1600" baseline="-25000" dirty="0">
                <a:solidFill>
                  <a:schemeClr val="tx1"/>
                </a:solidFill>
                <a:latin typeface="Arial" panose="020B0604020202020204" pitchFamily="34" charset="0"/>
              </a:endParaRPr>
            </a:p>
          </p:txBody>
        </p:sp>
        <p:sp>
          <p:nvSpPr>
            <p:cNvPr id="201771" name="Rectangle 545"/>
            <p:cNvSpPr/>
            <p:nvPr/>
          </p:nvSpPr>
          <p:spPr>
            <a:xfrm>
              <a:off x="4742" y="2485"/>
              <a:ext cx="304" cy="197"/>
            </a:xfrm>
            <a:prstGeom prst="rect">
              <a:avLst/>
            </a:prstGeom>
            <a:noFill/>
            <a:ln w="9525">
              <a:noFill/>
            </a:ln>
          </p:spPr>
          <p:txBody>
            <a:bodyPr wrap="none">
              <a:spAutoFit/>
            </a:bodyPr>
            <a:lstStyle/>
            <a:p>
              <a:pPr algn="dist" eaLnBrk="1" hangingPunct="1">
                <a:lnSpc>
                  <a:spcPct val="90000"/>
                </a:lnSpc>
              </a:pPr>
              <a:r>
                <a:rPr lang="en-US" altLang="zh-CN" sz="1600" dirty="0">
                  <a:solidFill>
                    <a:schemeClr val="tx1"/>
                  </a:solidFill>
                  <a:latin typeface="Arial" panose="020B0604020202020204" pitchFamily="34" charset="0"/>
                </a:rPr>
                <a:t>F</a:t>
              </a:r>
              <a:r>
                <a:rPr lang="en-US" altLang="zh-CN" sz="1600" baseline="-25000" dirty="0">
                  <a:solidFill>
                    <a:schemeClr val="tx1"/>
                  </a:solidFill>
                  <a:latin typeface="Arial" panose="020B0604020202020204" pitchFamily="34" charset="0"/>
                </a:rPr>
                <a:t>EV</a:t>
              </a:r>
              <a:endParaRPr lang="zh-CN" altLang="en-US" sz="1600" baseline="-25000" dirty="0">
                <a:solidFill>
                  <a:schemeClr val="tx1"/>
                </a:solidFill>
                <a:latin typeface="Arial" panose="020B0604020202020204" pitchFamily="34" charset="0"/>
              </a:endParaRPr>
            </a:p>
          </p:txBody>
        </p:sp>
      </p:grpSp>
      <p:sp>
        <p:nvSpPr>
          <p:cNvPr id="150" name="椭圆 149"/>
          <p:cNvSpPr/>
          <p:nvPr/>
        </p:nvSpPr>
        <p:spPr>
          <a:xfrm>
            <a:off x="5867400" y="1047750"/>
            <a:ext cx="228600" cy="831408"/>
          </a:xfrm>
          <a:prstGeom prst="ellipse">
            <a:avLst/>
          </a:prstGeom>
          <a:noFill/>
          <a:ln w="9525" cap="flat" cmpd="sng">
            <a:solidFill>
              <a:srgbClr val="FF0000"/>
            </a:solidFill>
            <a:prstDash val="solid"/>
            <a:headEnd type="none" w="med" len="med"/>
            <a:tailEnd type="none" w="med" len="med"/>
          </a:ln>
        </p:spPr>
        <p:txBody>
          <a:bodyPr>
            <a:spAutoFit/>
          </a:bodyPr>
          <a:lstStyle/>
          <a:p>
            <a:pPr algn="r">
              <a:lnSpc>
                <a:spcPct val="90000"/>
              </a:lnSpc>
            </a:pPr>
            <a:endParaRPr lang="zh-CN" altLang="en-US" sz="2000" u="sng" dirty="0">
              <a:solidFill>
                <a:schemeClr val="accent1"/>
              </a:solidFill>
              <a:latin typeface="Lucida Sans Unicode" panose="020B0602030504020204" pitchFamily="34" charset="0"/>
              <a:ea typeface="Gulim" panose="020B0600000101010101" pitchFamily="34" charset="-127"/>
            </a:endParaRPr>
          </a:p>
        </p:txBody>
      </p:sp>
      <p:graphicFrame>
        <p:nvGraphicFramePr>
          <p:cNvPr id="102412" name="表格 102411"/>
          <p:cNvGraphicFramePr>
            <a:graphicFrameLocks noGrp="1"/>
          </p:cNvGraphicFramePr>
          <p:nvPr/>
        </p:nvGraphicFramePr>
        <p:xfrm>
          <a:off x="1543050" y="4557713"/>
          <a:ext cx="2495550" cy="2282825"/>
        </p:xfrm>
        <a:graphic>
          <a:graphicData uri="http://schemas.openxmlformats.org/drawingml/2006/table">
            <a:tbl>
              <a:tblPr/>
              <a:tblGrid>
                <a:gridCol w="488950">
                  <a:extLst>
                    <a:ext uri="{9D8B030D-6E8A-4147-A177-3AD203B41FA5}">
                      <a16:colId xmlns:a16="http://schemas.microsoft.com/office/drawing/2014/main" val="20000"/>
                    </a:ext>
                  </a:extLst>
                </a:gridCol>
                <a:gridCol w="65405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82296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A~H</a:t>
                      </a:r>
                      <a:r>
                        <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中</a:t>
                      </a: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的个数</a:t>
                      </a:r>
                    </a:p>
                  </a:txBody>
                  <a:tcPr marT="45702" marB="45702"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EVEN</a:t>
                      </a:r>
                    </a:p>
                  </a:txBody>
                  <a:tcPr marT="45702" marB="45702"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ODD</a:t>
                      </a:r>
                    </a:p>
                  </a:txBody>
                  <a:tcPr marT="45702" marB="45702"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F</a:t>
                      </a:r>
                      <a:r>
                        <a:rPr kumimoji="0" lang="en-US" altLang="zh-CN" sz="1200" b="1" i="0" u="none" strike="noStrike" cap="none" normalizeH="0" baseline="-25000">
                          <a:ln>
                            <a:noFill/>
                          </a:ln>
                          <a:solidFill>
                            <a:schemeClr val="tx1"/>
                          </a:solidFill>
                          <a:effectLst/>
                          <a:latin typeface="Arial" panose="020B0604020202020204" pitchFamily="34" charset="0"/>
                          <a:ea typeface="宋体" panose="02010600030101010101" pitchFamily="2" charset="-122"/>
                        </a:rPr>
                        <a:t>EV</a:t>
                      </a: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 F</a:t>
                      </a:r>
                      <a:r>
                        <a:rPr kumimoji="0" lang="en-US" altLang="zh-CN" sz="1200" b="1" i="0" u="none" strike="noStrike" cap="none" normalizeH="0" baseline="-25000">
                          <a:ln>
                            <a:noFill/>
                          </a:ln>
                          <a:solidFill>
                            <a:schemeClr val="tx1"/>
                          </a:solidFill>
                          <a:effectLst/>
                          <a:latin typeface="Arial" panose="020B0604020202020204" pitchFamily="34" charset="0"/>
                          <a:ea typeface="宋体" panose="02010600030101010101" pitchFamily="2" charset="-122"/>
                        </a:rPr>
                        <a:t>OD</a:t>
                      </a:r>
                    </a:p>
                  </a:txBody>
                  <a:tcPr marT="45702" marB="45702"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1459865">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2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2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2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2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楷体_GB2312" pitchFamily="49" charset="-122"/>
                          <a:ea typeface="楷体_GB2312" pitchFamily="49" charset="-122"/>
                        </a:rPr>
                        <a:t>X</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楷体_GB2312" pitchFamily="49" charset="-122"/>
                          <a:ea typeface="楷体_GB2312" pitchFamily="49" charset="-122"/>
                        </a:rPr>
                        <a:t>X</a:t>
                      </a:r>
                    </a:p>
                  </a:txBody>
                  <a:tcPr marT="45702" marB="45702"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02" marB="45702"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02" marB="45702"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2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en-US" altLang="zh-CN" sz="1200" b="1" i="0" u="none" strike="noStrike" cap="none" normalizeH="0" baseline="0">
                          <a:ln>
                            <a:noFill/>
                          </a:ln>
                          <a:solidFill>
                            <a:srgbClr val="CC3300"/>
                          </a:solidFill>
                          <a:effectLst/>
                          <a:latin typeface="Arial" panose="020B0604020202020204" pitchFamily="34" charset="0"/>
                          <a:ea typeface="宋体" panose="02010600030101010101" pitchFamily="2" charset="-122"/>
                        </a:rPr>
                        <a:t>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0    0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200" b="1" i="0" u="none" strike="noStrike" cap="none" normalizeH="0" baseline="0">
                          <a:ln>
                            <a:noFill/>
                          </a:ln>
                          <a:solidFill>
                            <a:schemeClr val="tx1"/>
                          </a:solidFill>
                          <a:effectLst/>
                          <a:latin typeface="Arial" panose="020B0604020202020204" pitchFamily="34" charset="0"/>
                          <a:ea typeface="宋体" panose="02010600030101010101" pitchFamily="2" charset="-122"/>
                        </a:rPr>
                        <a:t>1    1</a:t>
                      </a:r>
                    </a:p>
                  </a:txBody>
                  <a:tcPr marT="45702" marB="45702"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bl>
          </a:graphicData>
        </a:graphic>
      </p:graphicFrame>
      <p:cxnSp>
        <p:nvCxnSpPr>
          <p:cNvPr id="201757" name="直接连接符 153"/>
          <p:cNvCxnSpPr/>
          <p:nvPr/>
        </p:nvCxnSpPr>
        <p:spPr>
          <a:xfrm>
            <a:off x="4400550" y="4724400"/>
            <a:ext cx="152400" cy="1588"/>
          </a:xfrm>
          <a:prstGeom prst="line">
            <a:avLst/>
          </a:prstGeom>
          <a:ln w="9525" cap="flat" cmpd="sng">
            <a:solidFill>
              <a:schemeClr val="tx1"/>
            </a:solidFill>
            <a:prstDash val="solid"/>
            <a:headEnd type="none" w="med" len="med"/>
            <a:tailEnd type="none" w="med" len="med"/>
          </a:ln>
        </p:spPr>
      </p:cxnSp>
      <p:sp>
        <p:nvSpPr>
          <p:cNvPr id="155" name="Rectangle 65"/>
          <p:cNvSpPr/>
          <p:nvPr/>
        </p:nvSpPr>
        <p:spPr>
          <a:xfrm>
            <a:off x="1758950" y="1474788"/>
            <a:ext cx="1003300" cy="645160"/>
          </a:xfrm>
          <a:prstGeom prst="rect">
            <a:avLst/>
          </a:prstGeom>
          <a:noFill/>
          <a:ln w="9525">
            <a:noFill/>
          </a:ln>
        </p:spPr>
        <p:txBody>
          <a:bodyPr>
            <a:spAutoFit/>
          </a:bodyPr>
          <a:lstStyle/>
          <a:p>
            <a:pPr eaLnBrk="1" hangingPunct="1">
              <a:lnSpc>
                <a:spcPct val="90000"/>
              </a:lnSpc>
            </a:pPr>
            <a:r>
              <a:rPr lang="zh-CN" altLang="en-US" sz="2000" dirty="0">
                <a:solidFill>
                  <a:srgbClr val="D60093"/>
                </a:solidFill>
                <a:latin typeface="楷体_GB2312" pitchFamily="49" charset="-122"/>
                <a:ea typeface="楷体_GB2312" pitchFamily="49" charset="-122"/>
              </a:rPr>
              <a:t>若有偶数个</a:t>
            </a:r>
            <a:r>
              <a:rPr lang="en-US" altLang="zh-CN" sz="2000" dirty="0">
                <a:solidFill>
                  <a:srgbClr val="D60093"/>
                </a:solidFill>
                <a:latin typeface="楷体_GB2312" pitchFamily="49" charset="-122"/>
                <a:ea typeface="楷体_GB2312" pitchFamily="49" charset="-122"/>
              </a:rPr>
              <a:t>1</a:t>
            </a:r>
            <a:endParaRPr lang="zh-CN" altLang="en-US" sz="2000" dirty="0">
              <a:solidFill>
                <a:srgbClr val="D60093"/>
              </a:solidFill>
              <a:latin typeface="楷体_GB2312" pitchFamily="49" charset="-122"/>
              <a:ea typeface="楷体_GB2312" pitchFamily="49" charset="-122"/>
            </a:endParaRPr>
          </a:p>
        </p:txBody>
      </p:sp>
      <p:sp>
        <p:nvSpPr>
          <p:cNvPr id="156" name="Text Box 50"/>
          <p:cNvSpPr txBox="1"/>
          <p:nvPr/>
        </p:nvSpPr>
        <p:spPr>
          <a:xfrm>
            <a:off x="5578475" y="3057525"/>
            <a:ext cx="485775" cy="339725"/>
          </a:xfrm>
          <a:prstGeom prst="rect">
            <a:avLst/>
          </a:prstGeom>
          <a:noFill/>
          <a:ln w="9525">
            <a:noFill/>
          </a:ln>
        </p:spPr>
        <p:txBody>
          <a:bodyPr>
            <a:spAutoFit/>
          </a:bodyPr>
          <a:lstStyle/>
          <a:p>
            <a:pPr eaLnBrk="1" hangingPunct="1">
              <a:lnSpc>
                <a:spcPct val="90000"/>
              </a:lnSpc>
              <a:spcBef>
                <a:spcPct val="50000"/>
              </a:spcBef>
            </a:pPr>
            <a:r>
              <a:rPr lang="en-US" altLang="zh-CN" sz="1800" dirty="0">
                <a:solidFill>
                  <a:srgbClr val="D60093"/>
                </a:solidFill>
                <a:latin typeface="Arial" panose="020B0604020202020204" pitchFamily="34" charset="0"/>
              </a:rPr>
              <a:t>1</a:t>
            </a:r>
            <a:endParaRPr lang="zh-CN" altLang="en-US" sz="1800" baseline="-25000" dirty="0">
              <a:solidFill>
                <a:srgbClr val="D60093"/>
              </a:solidFill>
              <a:latin typeface="Arial" panose="020B0604020202020204" pitchFamily="34" charset="0"/>
            </a:endParaRPr>
          </a:p>
        </p:txBody>
      </p:sp>
      <p:sp>
        <p:nvSpPr>
          <p:cNvPr id="157" name="Rectangle 65"/>
          <p:cNvSpPr/>
          <p:nvPr/>
        </p:nvSpPr>
        <p:spPr>
          <a:xfrm>
            <a:off x="7607300" y="2217738"/>
            <a:ext cx="1555750" cy="368300"/>
          </a:xfrm>
          <a:prstGeom prst="rect">
            <a:avLst/>
          </a:prstGeom>
          <a:noFill/>
          <a:ln w="9525">
            <a:noFill/>
          </a:ln>
        </p:spPr>
        <p:txBody>
          <a:bodyPr>
            <a:spAutoFit/>
          </a:bodyPr>
          <a:lstStyle/>
          <a:p>
            <a:pPr eaLnBrk="1" hangingPunct="1">
              <a:lnSpc>
                <a:spcPct val="90000"/>
              </a:lnSpc>
            </a:pPr>
            <a:r>
              <a:rPr lang="zh-CN" altLang="en-US" sz="2000" dirty="0">
                <a:solidFill>
                  <a:srgbClr val="D60093"/>
                </a:solidFill>
                <a:latin typeface="楷体_GB2312" pitchFamily="49" charset="-122"/>
                <a:ea typeface="楷体_GB2312" pitchFamily="49" charset="-122"/>
              </a:rPr>
              <a:t>若传输正确</a:t>
            </a:r>
          </a:p>
        </p:txBody>
      </p:sp>
      <p:sp>
        <p:nvSpPr>
          <p:cNvPr id="158" name="Text Box 50"/>
          <p:cNvSpPr txBox="1"/>
          <p:nvPr/>
        </p:nvSpPr>
        <p:spPr>
          <a:xfrm>
            <a:off x="7597775" y="4219575"/>
            <a:ext cx="485775" cy="339725"/>
          </a:xfrm>
          <a:prstGeom prst="rect">
            <a:avLst/>
          </a:prstGeom>
          <a:noFill/>
          <a:ln w="9525">
            <a:noFill/>
          </a:ln>
        </p:spPr>
        <p:txBody>
          <a:bodyPr>
            <a:spAutoFit/>
          </a:bodyPr>
          <a:lstStyle/>
          <a:p>
            <a:pPr eaLnBrk="1" hangingPunct="1">
              <a:lnSpc>
                <a:spcPct val="90000"/>
              </a:lnSpc>
              <a:spcBef>
                <a:spcPct val="50000"/>
              </a:spcBef>
            </a:pPr>
            <a:r>
              <a:rPr lang="en-US" altLang="zh-CN" sz="1800" dirty="0">
                <a:solidFill>
                  <a:srgbClr val="D60093"/>
                </a:solidFill>
                <a:latin typeface="Arial" panose="020B0604020202020204" pitchFamily="34" charset="0"/>
              </a:rPr>
              <a:t>1</a:t>
            </a:r>
            <a:endParaRPr lang="zh-CN" altLang="en-US" sz="1800" baseline="-25000" dirty="0">
              <a:solidFill>
                <a:srgbClr val="D60093"/>
              </a:solidFill>
              <a:latin typeface="Arial" panose="020B0604020202020204" pitchFamily="34" charset="0"/>
            </a:endParaRPr>
          </a:p>
        </p:txBody>
      </p:sp>
      <p:sp>
        <p:nvSpPr>
          <p:cNvPr id="159" name="Text Box 50"/>
          <p:cNvSpPr txBox="1"/>
          <p:nvPr/>
        </p:nvSpPr>
        <p:spPr>
          <a:xfrm>
            <a:off x="7597775" y="4486275"/>
            <a:ext cx="485775" cy="339725"/>
          </a:xfrm>
          <a:prstGeom prst="rect">
            <a:avLst/>
          </a:prstGeom>
          <a:noFill/>
          <a:ln w="9525">
            <a:noFill/>
          </a:ln>
        </p:spPr>
        <p:txBody>
          <a:bodyPr>
            <a:spAutoFit/>
          </a:bodyPr>
          <a:lstStyle/>
          <a:p>
            <a:pPr eaLnBrk="1" hangingPunct="1">
              <a:lnSpc>
                <a:spcPct val="90000"/>
              </a:lnSpc>
              <a:spcBef>
                <a:spcPct val="50000"/>
              </a:spcBef>
            </a:pPr>
            <a:r>
              <a:rPr lang="en-US" altLang="zh-CN" sz="1800" dirty="0">
                <a:solidFill>
                  <a:srgbClr val="D60093"/>
                </a:solidFill>
                <a:latin typeface="Arial" panose="020B0604020202020204" pitchFamily="34" charset="0"/>
              </a:rPr>
              <a:t>0</a:t>
            </a:r>
            <a:endParaRPr lang="zh-CN" altLang="en-US" sz="1800" baseline="-25000" dirty="0">
              <a:solidFill>
                <a:srgbClr val="D60093"/>
              </a:solidFill>
              <a:latin typeface="Arial" panose="020B0604020202020204" pitchFamily="34" charset="0"/>
            </a:endParaRPr>
          </a:p>
        </p:txBody>
      </p:sp>
      <p:sp>
        <p:nvSpPr>
          <p:cNvPr id="160" name="Text Box 50"/>
          <p:cNvSpPr txBox="1"/>
          <p:nvPr/>
        </p:nvSpPr>
        <p:spPr>
          <a:xfrm>
            <a:off x="9521825" y="2981325"/>
            <a:ext cx="485775" cy="339725"/>
          </a:xfrm>
          <a:prstGeom prst="rect">
            <a:avLst/>
          </a:prstGeom>
          <a:noFill/>
          <a:ln w="9525">
            <a:noFill/>
          </a:ln>
        </p:spPr>
        <p:txBody>
          <a:bodyPr>
            <a:spAutoFit/>
          </a:bodyPr>
          <a:lstStyle/>
          <a:p>
            <a:pPr eaLnBrk="1" hangingPunct="1">
              <a:lnSpc>
                <a:spcPct val="90000"/>
              </a:lnSpc>
              <a:spcBef>
                <a:spcPct val="50000"/>
              </a:spcBef>
            </a:pPr>
            <a:r>
              <a:rPr lang="en-US" altLang="zh-CN" sz="1800" dirty="0">
                <a:solidFill>
                  <a:srgbClr val="D60093"/>
                </a:solidFill>
                <a:latin typeface="Arial" panose="020B0604020202020204" pitchFamily="34" charset="0"/>
              </a:rPr>
              <a:t>1</a:t>
            </a:r>
            <a:endParaRPr lang="zh-CN" altLang="en-US" sz="1800" baseline="-25000" dirty="0">
              <a:solidFill>
                <a:srgbClr val="D60093"/>
              </a:solidFill>
              <a:latin typeface="Arial" panose="020B0604020202020204" pitchFamily="34" charset="0"/>
            </a:endParaRPr>
          </a:p>
        </p:txBody>
      </p:sp>
      <p:sp>
        <p:nvSpPr>
          <p:cNvPr id="161" name="Text Box 50"/>
          <p:cNvSpPr txBox="1"/>
          <p:nvPr/>
        </p:nvSpPr>
        <p:spPr>
          <a:xfrm>
            <a:off x="9559925" y="3686175"/>
            <a:ext cx="485775" cy="339725"/>
          </a:xfrm>
          <a:prstGeom prst="rect">
            <a:avLst/>
          </a:prstGeom>
          <a:noFill/>
          <a:ln w="9525">
            <a:noFill/>
          </a:ln>
        </p:spPr>
        <p:txBody>
          <a:bodyPr>
            <a:spAutoFit/>
          </a:bodyPr>
          <a:lstStyle/>
          <a:p>
            <a:pPr eaLnBrk="1" hangingPunct="1">
              <a:lnSpc>
                <a:spcPct val="90000"/>
              </a:lnSpc>
              <a:spcBef>
                <a:spcPct val="50000"/>
              </a:spcBef>
            </a:pPr>
            <a:r>
              <a:rPr lang="en-US" altLang="zh-CN" sz="1800" dirty="0">
                <a:solidFill>
                  <a:srgbClr val="D60093"/>
                </a:solidFill>
                <a:latin typeface="Arial" panose="020B0604020202020204" pitchFamily="34" charset="0"/>
              </a:rPr>
              <a:t>0</a:t>
            </a:r>
            <a:endParaRPr lang="zh-CN" altLang="en-US" sz="1800" baseline="-25000" dirty="0">
              <a:solidFill>
                <a:srgbClr val="D60093"/>
              </a:solidFill>
              <a:latin typeface="Arial" panose="020B0604020202020204" pitchFamily="34" charset="0"/>
            </a:endParaRPr>
          </a:p>
        </p:txBody>
      </p:sp>
      <p:sp>
        <p:nvSpPr>
          <p:cNvPr id="162" name="Rectangle 65"/>
          <p:cNvSpPr/>
          <p:nvPr/>
        </p:nvSpPr>
        <p:spPr>
          <a:xfrm>
            <a:off x="7683500" y="2255838"/>
            <a:ext cx="1555750" cy="368300"/>
          </a:xfrm>
          <a:prstGeom prst="rect">
            <a:avLst/>
          </a:prstGeom>
          <a:solidFill>
            <a:srgbClr val="FFCCFF"/>
          </a:solidFill>
          <a:ln w="9525">
            <a:noFill/>
          </a:ln>
        </p:spPr>
        <p:txBody>
          <a:bodyPr>
            <a:spAutoFit/>
          </a:bodyPr>
          <a:lstStyle/>
          <a:p>
            <a:pPr eaLnBrk="1" hangingPunct="1">
              <a:lnSpc>
                <a:spcPct val="90000"/>
              </a:lnSpc>
            </a:pPr>
            <a:r>
              <a:rPr lang="zh-CN" altLang="en-US" sz="2000" dirty="0">
                <a:solidFill>
                  <a:srgbClr val="D60093"/>
                </a:solidFill>
                <a:latin typeface="楷体_GB2312" pitchFamily="49" charset="-122"/>
                <a:ea typeface="楷体_GB2312" pitchFamily="49" charset="-122"/>
              </a:rPr>
              <a:t>若传输错误</a:t>
            </a:r>
          </a:p>
        </p:txBody>
      </p:sp>
      <p:sp>
        <p:nvSpPr>
          <p:cNvPr id="163" name="Text Box 50"/>
          <p:cNvSpPr txBox="1"/>
          <p:nvPr/>
        </p:nvSpPr>
        <p:spPr>
          <a:xfrm>
            <a:off x="9540875" y="2962275"/>
            <a:ext cx="346075" cy="339725"/>
          </a:xfrm>
          <a:prstGeom prst="rect">
            <a:avLst/>
          </a:prstGeom>
          <a:solidFill>
            <a:srgbClr val="FFCCFF"/>
          </a:solidFill>
          <a:ln w="9525">
            <a:noFill/>
          </a:ln>
        </p:spPr>
        <p:txBody>
          <a:bodyPr>
            <a:spAutoFit/>
          </a:bodyPr>
          <a:lstStyle/>
          <a:p>
            <a:pPr eaLnBrk="1" hangingPunct="1">
              <a:lnSpc>
                <a:spcPct val="90000"/>
              </a:lnSpc>
              <a:spcBef>
                <a:spcPct val="50000"/>
              </a:spcBef>
            </a:pPr>
            <a:r>
              <a:rPr lang="en-US" altLang="zh-CN" sz="1800" dirty="0">
                <a:solidFill>
                  <a:srgbClr val="D60093"/>
                </a:solidFill>
                <a:latin typeface="Arial" panose="020B0604020202020204" pitchFamily="34" charset="0"/>
              </a:rPr>
              <a:t>0</a:t>
            </a:r>
            <a:endParaRPr lang="zh-CN" altLang="en-US" sz="1800" baseline="-25000" dirty="0">
              <a:solidFill>
                <a:srgbClr val="D60093"/>
              </a:solidFill>
              <a:latin typeface="Arial" panose="020B0604020202020204" pitchFamily="34" charset="0"/>
            </a:endParaRPr>
          </a:p>
        </p:txBody>
      </p:sp>
      <p:sp>
        <p:nvSpPr>
          <p:cNvPr id="164" name="Text Box 50"/>
          <p:cNvSpPr txBox="1"/>
          <p:nvPr/>
        </p:nvSpPr>
        <p:spPr>
          <a:xfrm>
            <a:off x="9578975" y="3629025"/>
            <a:ext cx="327025" cy="339725"/>
          </a:xfrm>
          <a:prstGeom prst="rect">
            <a:avLst/>
          </a:prstGeom>
          <a:solidFill>
            <a:srgbClr val="FFCCFF"/>
          </a:solidFill>
          <a:ln w="9525">
            <a:noFill/>
          </a:ln>
        </p:spPr>
        <p:txBody>
          <a:bodyPr>
            <a:spAutoFit/>
          </a:bodyPr>
          <a:lstStyle/>
          <a:p>
            <a:pPr eaLnBrk="1" hangingPunct="1">
              <a:lnSpc>
                <a:spcPct val="90000"/>
              </a:lnSpc>
              <a:spcBef>
                <a:spcPct val="50000"/>
              </a:spcBef>
            </a:pPr>
            <a:r>
              <a:rPr lang="en-US" altLang="zh-CN" sz="1800" dirty="0">
                <a:solidFill>
                  <a:srgbClr val="D60093"/>
                </a:solidFill>
                <a:latin typeface="Arial" panose="020B0604020202020204" pitchFamily="34" charset="0"/>
              </a:rPr>
              <a:t>1</a:t>
            </a:r>
            <a:endParaRPr lang="zh-CN" altLang="en-US" sz="1800" baseline="-25000" dirty="0">
              <a:solidFill>
                <a:srgbClr val="D60093"/>
              </a:solidFill>
              <a:latin typeface="Arial" panose="020B0604020202020204" pitchFamily="34" charset="0"/>
            </a:endParaRPr>
          </a:p>
        </p:txBody>
      </p:sp>
      <p:sp>
        <p:nvSpPr>
          <p:cNvPr id="165" name="Oval 186"/>
          <p:cNvSpPr/>
          <p:nvPr/>
        </p:nvSpPr>
        <p:spPr>
          <a:xfrm>
            <a:off x="1466850" y="5810250"/>
            <a:ext cx="2571750" cy="514350"/>
          </a:xfrm>
          <a:prstGeom prst="ellipse">
            <a:avLst/>
          </a:prstGeom>
          <a:noFill/>
          <a:ln w="9525" cap="flat" cmpd="sng">
            <a:solidFill>
              <a:srgbClr val="FF0000"/>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1036"/>
                                        </p:tgtEl>
                                        <p:attrNameLst>
                                          <p:attrName>style.visibility</p:attrName>
                                        </p:attrNameLst>
                                      </p:cBhvr>
                                      <p:to>
                                        <p:strVal val="visible"/>
                                      </p:to>
                                    </p:set>
                                    <p:anim calcmode="lin" valueType="num">
                                      <p:cBhvr additive="base">
                                        <p:cTn id="7" dur="500" fill="hold"/>
                                        <p:tgtEl>
                                          <p:spTgt spid="161036"/>
                                        </p:tgtEl>
                                        <p:attrNameLst>
                                          <p:attrName>ppt_x</p:attrName>
                                        </p:attrNameLst>
                                      </p:cBhvr>
                                      <p:tavLst>
                                        <p:tav tm="0">
                                          <p:val>
                                            <p:strVal val="#ppt_x"/>
                                          </p:val>
                                        </p:tav>
                                        <p:tav tm="100000">
                                          <p:val>
                                            <p:strVal val="#ppt_x"/>
                                          </p:val>
                                        </p:tav>
                                      </p:tavLst>
                                    </p:anim>
                                    <p:anim calcmode="lin" valueType="num">
                                      <p:cBhvr additive="base">
                                        <p:cTn id="8" dur="500" fill="hold"/>
                                        <p:tgtEl>
                                          <p:spTgt spid="16103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61032"/>
                                        </p:tgtEl>
                                        <p:attrNameLst>
                                          <p:attrName>style.visibility</p:attrName>
                                        </p:attrNameLst>
                                      </p:cBhvr>
                                      <p:to>
                                        <p:strVal val="visible"/>
                                      </p:to>
                                    </p:set>
                                    <p:anim calcmode="lin" valueType="num">
                                      <p:cBhvr additive="base">
                                        <p:cTn id="12" dur="500" fill="hold"/>
                                        <p:tgtEl>
                                          <p:spTgt spid="161032"/>
                                        </p:tgtEl>
                                        <p:attrNameLst>
                                          <p:attrName>ppt_x</p:attrName>
                                        </p:attrNameLst>
                                      </p:cBhvr>
                                      <p:tavLst>
                                        <p:tav tm="0">
                                          <p:val>
                                            <p:strVal val="0-#ppt_w/2"/>
                                          </p:val>
                                        </p:tav>
                                        <p:tav tm="100000">
                                          <p:val>
                                            <p:strVal val="#ppt_x"/>
                                          </p:val>
                                        </p:tav>
                                      </p:tavLst>
                                    </p:anim>
                                    <p:anim calcmode="lin" valueType="num">
                                      <p:cBhvr additive="base">
                                        <p:cTn id="13" dur="500" fill="hold"/>
                                        <p:tgtEl>
                                          <p:spTgt spid="16103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61308"/>
                                        </p:tgtEl>
                                        <p:attrNameLst>
                                          <p:attrName>style.visibility</p:attrName>
                                        </p:attrNameLst>
                                      </p:cBhvr>
                                      <p:to>
                                        <p:strVal val="visible"/>
                                      </p:to>
                                    </p:set>
                                    <p:anim calcmode="lin" valueType="num">
                                      <p:cBhvr>
                                        <p:cTn id="18" dur="500" fill="hold"/>
                                        <p:tgtEl>
                                          <p:spTgt spid="161308"/>
                                        </p:tgtEl>
                                        <p:attrNameLst>
                                          <p:attrName>ppt_w</p:attrName>
                                        </p:attrNameLst>
                                      </p:cBhvr>
                                      <p:tavLst>
                                        <p:tav tm="0">
                                          <p:val>
                                            <p:fltVal val="0"/>
                                          </p:val>
                                        </p:tav>
                                        <p:tav tm="100000">
                                          <p:val>
                                            <p:strVal val="#ppt_w"/>
                                          </p:val>
                                        </p:tav>
                                      </p:tavLst>
                                    </p:anim>
                                    <p:anim calcmode="lin" valueType="num">
                                      <p:cBhvr>
                                        <p:cTn id="19" dur="500" fill="hold"/>
                                        <p:tgtEl>
                                          <p:spTgt spid="161308"/>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150"/>
                                        </p:tgtEl>
                                        <p:attrNameLst>
                                          <p:attrName>style.visibility</p:attrName>
                                        </p:attrNameLst>
                                      </p:cBhvr>
                                      <p:to>
                                        <p:strVal val="visible"/>
                                      </p:to>
                                    </p:set>
                                    <p:anim calcmode="lin" valueType="num">
                                      <p:cBhvr>
                                        <p:cTn id="24" dur="500" fill="hold"/>
                                        <p:tgtEl>
                                          <p:spTgt spid="150"/>
                                        </p:tgtEl>
                                        <p:attrNameLst>
                                          <p:attrName>ppt_w</p:attrName>
                                        </p:attrNameLst>
                                      </p:cBhvr>
                                      <p:tavLst>
                                        <p:tav tm="0">
                                          <p:val>
                                            <p:fltVal val="0"/>
                                          </p:val>
                                        </p:tav>
                                        <p:tav tm="100000">
                                          <p:val>
                                            <p:strVal val="#ppt_w"/>
                                          </p:val>
                                        </p:tav>
                                      </p:tavLst>
                                    </p:anim>
                                    <p:anim calcmode="lin" valueType="num">
                                      <p:cBhvr>
                                        <p:cTn id="25" dur="500" fill="hold"/>
                                        <p:tgtEl>
                                          <p:spTgt spid="150"/>
                                        </p:tgtEl>
                                        <p:attrNameLst>
                                          <p:attrName>ppt_h</p:attrName>
                                        </p:attrNameLst>
                                      </p:cBhvr>
                                      <p:tavLst>
                                        <p:tav tm="0">
                                          <p:val>
                                            <p:fltVal val="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61037"/>
                                        </p:tgtEl>
                                        <p:attrNameLst>
                                          <p:attrName>style.visibility</p:attrName>
                                        </p:attrNameLst>
                                      </p:cBhvr>
                                      <p:to>
                                        <p:strVal val="visible"/>
                                      </p:to>
                                    </p:set>
                                    <p:anim calcmode="lin" valueType="num">
                                      <p:cBhvr>
                                        <p:cTn id="30" dur="500" fill="hold"/>
                                        <p:tgtEl>
                                          <p:spTgt spid="161037"/>
                                        </p:tgtEl>
                                        <p:attrNameLst>
                                          <p:attrName>ppt_w</p:attrName>
                                        </p:attrNameLst>
                                      </p:cBhvr>
                                      <p:tavLst>
                                        <p:tav tm="0">
                                          <p:val>
                                            <p:fltVal val="0"/>
                                          </p:val>
                                        </p:tav>
                                        <p:tav tm="100000">
                                          <p:val>
                                            <p:strVal val="#ppt_w"/>
                                          </p:val>
                                        </p:tav>
                                      </p:tavLst>
                                    </p:anim>
                                    <p:anim calcmode="lin" valueType="num">
                                      <p:cBhvr>
                                        <p:cTn id="31" dur="500" fill="hold"/>
                                        <p:tgtEl>
                                          <p:spTgt spid="161037"/>
                                        </p:tgtEl>
                                        <p:attrNameLst>
                                          <p:attrName>ppt_h</p:attrName>
                                        </p:attrNameLst>
                                      </p:cBhvr>
                                      <p:tavLst>
                                        <p:tav tm="0">
                                          <p:val>
                                            <p:fltVal val="0"/>
                                          </p:val>
                                        </p:tav>
                                        <p:tav tm="100000">
                                          <p:val>
                                            <p:strVal val="#ppt_h"/>
                                          </p:val>
                                        </p:tav>
                                      </p:tavLst>
                                    </p:anim>
                                  </p:childTnLst>
                                </p:cTn>
                              </p:par>
                            </p:childTnLst>
                          </p:cTn>
                        </p:par>
                        <p:par>
                          <p:cTn id="32" fill="hold">
                            <p:stCondLst>
                              <p:cond delay="500"/>
                            </p:stCondLst>
                            <p:childTnLst>
                              <p:par>
                                <p:cTn id="33" presetID="2" presetClass="entr" presetSubtype="2" fill="hold" grpId="0" nodeType="afterEffect">
                                  <p:stCondLst>
                                    <p:cond delay="0"/>
                                  </p:stCondLst>
                                  <p:childTnLst>
                                    <p:set>
                                      <p:cBhvr>
                                        <p:cTn id="34" dur="1" fill="hold">
                                          <p:stCondLst>
                                            <p:cond delay="0"/>
                                          </p:stCondLst>
                                        </p:cTn>
                                        <p:tgtEl>
                                          <p:spTgt spid="161033"/>
                                        </p:tgtEl>
                                        <p:attrNameLst>
                                          <p:attrName>style.visibility</p:attrName>
                                        </p:attrNameLst>
                                      </p:cBhvr>
                                      <p:to>
                                        <p:strVal val="visible"/>
                                      </p:to>
                                    </p:set>
                                    <p:anim calcmode="lin" valueType="num">
                                      <p:cBhvr additive="base">
                                        <p:cTn id="35" dur="500" fill="hold"/>
                                        <p:tgtEl>
                                          <p:spTgt spid="161033"/>
                                        </p:tgtEl>
                                        <p:attrNameLst>
                                          <p:attrName>ppt_x</p:attrName>
                                        </p:attrNameLst>
                                      </p:cBhvr>
                                      <p:tavLst>
                                        <p:tav tm="0">
                                          <p:val>
                                            <p:strVal val="1+#ppt_w/2"/>
                                          </p:val>
                                        </p:tav>
                                        <p:tav tm="100000">
                                          <p:val>
                                            <p:strVal val="#ppt_x"/>
                                          </p:val>
                                        </p:tav>
                                      </p:tavLst>
                                    </p:anim>
                                    <p:anim calcmode="lin" valueType="num">
                                      <p:cBhvr additive="base">
                                        <p:cTn id="36" dur="500" fill="hold"/>
                                        <p:tgtEl>
                                          <p:spTgt spid="16103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61307"/>
                                        </p:tgtEl>
                                        <p:attrNameLst>
                                          <p:attrName>style.visibility</p:attrName>
                                        </p:attrNameLst>
                                      </p:cBhvr>
                                      <p:to>
                                        <p:strVal val="visible"/>
                                      </p:to>
                                    </p:set>
                                    <p:animEffect transition="in" filter="dissolve">
                                      <p:cBhvr>
                                        <p:cTn id="41" dur="500"/>
                                        <p:tgtEl>
                                          <p:spTgt spid="161307"/>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8" fill="hold" nodeType="clickEffect">
                                  <p:stCondLst>
                                    <p:cond delay="0"/>
                                  </p:stCondLst>
                                  <p:childTnLst>
                                    <p:set>
                                      <p:cBhvr>
                                        <p:cTn id="45" dur="1" fill="hold">
                                          <p:stCondLst>
                                            <p:cond delay="0"/>
                                          </p:stCondLst>
                                        </p:cTn>
                                        <p:tgtEl>
                                          <p:spTgt spid="102412"/>
                                        </p:tgtEl>
                                        <p:attrNameLst>
                                          <p:attrName>style.visibility</p:attrName>
                                        </p:attrNameLst>
                                      </p:cBhvr>
                                      <p:to>
                                        <p:strVal val="visible"/>
                                      </p:to>
                                    </p:set>
                                    <p:anim calcmode="lin" valueType="num">
                                      <p:cBhvr additive="base">
                                        <p:cTn id="46" dur="500" fill="hold"/>
                                        <p:tgtEl>
                                          <p:spTgt spid="102412"/>
                                        </p:tgtEl>
                                        <p:attrNameLst>
                                          <p:attrName>ppt_x</p:attrName>
                                        </p:attrNameLst>
                                      </p:cBhvr>
                                      <p:tavLst>
                                        <p:tav tm="0">
                                          <p:val>
                                            <p:strVal val="0-#ppt_w/2"/>
                                          </p:val>
                                        </p:tav>
                                        <p:tav tm="100000">
                                          <p:val>
                                            <p:strVal val="#ppt_x"/>
                                          </p:val>
                                        </p:tav>
                                      </p:tavLst>
                                    </p:anim>
                                    <p:anim calcmode="lin" valueType="num">
                                      <p:cBhvr additive="base">
                                        <p:cTn id="47" dur="500" fill="hold"/>
                                        <p:tgtEl>
                                          <p:spTgt spid="102412"/>
                                        </p:tgtEl>
                                        <p:attrNameLst>
                                          <p:attrName>ppt_y</p:attrName>
                                        </p:attrNameLst>
                                      </p:cBhvr>
                                      <p:tavLst>
                                        <p:tav tm="0">
                                          <p:val>
                                            <p:strVal val="#ppt_y"/>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55"/>
                                        </p:tgtEl>
                                        <p:attrNameLst>
                                          <p:attrName>style.visibility</p:attrName>
                                        </p:attrNameLst>
                                      </p:cBhvr>
                                      <p:to>
                                        <p:strVal val="visible"/>
                                      </p:to>
                                    </p:set>
                                    <p:anim calcmode="lin" valueType="num">
                                      <p:cBhvr>
                                        <p:cTn id="52" dur="500" fill="hold"/>
                                        <p:tgtEl>
                                          <p:spTgt spid="155"/>
                                        </p:tgtEl>
                                        <p:attrNameLst>
                                          <p:attrName>ppt_w</p:attrName>
                                        </p:attrNameLst>
                                      </p:cBhvr>
                                      <p:tavLst>
                                        <p:tav tm="0">
                                          <p:val>
                                            <p:fltVal val="0"/>
                                          </p:val>
                                        </p:tav>
                                        <p:tav tm="100000">
                                          <p:val>
                                            <p:strVal val="#ppt_w"/>
                                          </p:val>
                                        </p:tav>
                                      </p:tavLst>
                                    </p:anim>
                                    <p:anim calcmode="lin" valueType="num">
                                      <p:cBhvr>
                                        <p:cTn id="53" dur="500" fill="hold"/>
                                        <p:tgtEl>
                                          <p:spTgt spid="155"/>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3" presetClass="entr" presetSubtype="16" fill="hold" grpId="0" nodeType="clickEffect">
                                  <p:stCondLst>
                                    <p:cond delay="0"/>
                                  </p:stCondLst>
                                  <p:childTnLst>
                                    <p:set>
                                      <p:cBhvr>
                                        <p:cTn id="57" dur="1" fill="hold">
                                          <p:stCondLst>
                                            <p:cond delay="0"/>
                                          </p:stCondLst>
                                        </p:cTn>
                                        <p:tgtEl>
                                          <p:spTgt spid="165"/>
                                        </p:tgtEl>
                                        <p:attrNameLst>
                                          <p:attrName>style.visibility</p:attrName>
                                        </p:attrNameLst>
                                      </p:cBhvr>
                                      <p:to>
                                        <p:strVal val="visible"/>
                                      </p:to>
                                    </p:set>
                                    <p:anim calcmode="lin" valueType="num">
                                      <p:cBhvr>
                                        <p:cTn id="58" dur="500" fill="hold"/>
                                        <p:tgtEl>
                                          <p:spTgt spid="165"/>
                                        </p:tgtEl>
                                        <p:attrNameLst>
                                          <p:attrName>ppt_w</p:attrName>
                                        </p:attrNameLst>
                                      </p:cBhvr>
                                      <p:tavLst>
                                        <p:tav tm="0">
                                          <p:val>
                                            <p:fltVal val="0"/>
                                          </p:val>
                                        </p:tav>
                                        <p:tav tm="100000">
                                          <p:val>
                                            <p:strVal val="#ppt_w"/>
                                          </p:val>
                                        </p:tav>
                                      </p:tavLst>
                                    </p:anim>
                                    <p:anim calcmode="lin" valueType="num">
                                      <p:cBhvr>
                                        <p:cTn id="59" dur="500" fill="hold"/>
                                        <p:tgtEl>
                                          <p:spTgt spid="165"/>
                                        </p:tgtEl>
                                        <p:attrNameLst>
                                          <p:attrName>ppt_h</p:attrName>
                                        </p:attrNameLst>
                                      </p:cBhvr>
                                      <p:tavLst>
                                        <p:tav tm="0">
                                          <p:val>
                                            <p:fltVal val="0"/>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56"/>
                                        </p:tgtEl>
                                        <p:attrNameLst>
                                          <p:attrName>style.visibility</p:attrName>
                                        </p:attrNameLst>
                                      </p:cBhvr>
                                      <p:to>
                                        <p:strVal val="visible"/>
                                      </p:to>
                                    </p:set>
                                    <p:animEffect transition="in" filter="dissolve">
                                      <p:cBhvr>
                                        <p:cTn id="64" dur="500"/>
                                        <p:tgtEl>
                                          <p:spTgt spid="156"/>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grpId="0" nodeType="clickEffect">
                                  <p:stCondLst>
                                    <p:cond delay="0"/>
                                  </p:stCondLst>
                                  <p:childTnLst>
                                    <p:set>
                                      <p:cBhvr>
                                        <p:cTn id="68" dur="1" fill="hold">
                                          <p:stCondLst>
                                            <p:cond delay="0"/>
                                          </p:stCondLst>
                                        </p:cTn>
                                        <p:tgtEl>
                                          <p:spTgt spid="158"/>
                                        </p:tgtEl>
                                        <p:attrNameLst>
                                          <p:attrName>style.visibility</p:attrName>
                                        </p:attrNameLst>
                                      </p:cBhvr>
                                      <p:to>
                                        <p:strVal val="visible"/>
                                      </p:to>
                                    </p:set>
                                    <p:animEffect transition="in" filter="dissolve">
                                      <p:cBhvr>
                                        <p:cTn id="69" dur="500"/>
                                        <p:tgtEl>
                                          <p:spTgt spid="158"/>
                                        </p:tgtEl>
                                      </p:cBhvr>
                                    </p:animEffect>
                                  </p:childTnLst>
                                </p:cTn>
                              </p:par>
                            </p:childTnLst>
                          </p:cTn>
                        </p:par>
                        <p:par>
                          <p:cTn id="70" fill="hold">
                            <p:stCondLst>
                              <p:cond delay="500"/>
                            </p:stCondLst>
                            <p:childTnLst>
                              <p:par>
                                <p:cTn id="71" presetID="9" presetClass="entr" presetSubtype="0" fill="hold" grpId="0" nodeType="afterEffect">
                                  <p:stCondLst>
                                    <p:cond delay="0"/>
                                  </p:stCondLst>
                                  <p:childTnLst>
                                    <p:set>
                                      <p:cBhvr>
                                        <p:cTn id="72" dur="1" fill="hold">
                                          <p:stCondLst>
                                            <p:cond delay="0"/>
                                          </p:stCondLst>
                                        </p:cTn>
                                        <p:tgtEl>
                                          <p:spTgt spid="159"/>
                                        </p:tgtEl>
                                        <p:attrNameLst>
                                          <p:attrName>style.visibility</p:attrName>
                                        </p:attrNameLst>
                                      </p:cBhvr>
                                      <p:to>
                                        <p:strVal val="visible"/>
                                      </p:to>
                                    </p:set>
                                    <p:animEffect transition="in" filter="dissolve">
                                      <p:cBhvr>
                                        <p:cTn id="73" dur="500"/>
                                        <p:tgtEl>
                                          <p:spTgt spid="159"/>
                                        </p:tgtEl>
                                      </p:cBhvr>
                                    </p:animEffect>
                                  </p:childTnLst>
                                </p:cTn>
                              </p:par>
                            </p:childTnLst>
                          </p:cTn>
                        </p:par>
                      </p:childTnLst>
                    </p:cTn>
                  </p:par>
                  <p:par>
                    <p:cTn id="74" fill="hold">
                      <p:stCondLst>
                        <p:cond delay="indefinite"/>
                      </p:stCondLst>
                      <p:childTnLst>
                        <p:par>
                          <p:cTn id="75" fill="hold">
                            <p:stCondLst>
                              <p:cond delay="0"/>
                            </p:stCondLst>
                            <p:childTnLst>
                              <p:par>
                                <p:cTn id="76" presetID="23" presetClass="entr" presetSubtype="16" fill="hold" grpId="0" nodeType="clickEffect">
                                  <p:stCondLst>
                                    <p:cond delay="0"/>
                                  </p:stCondLst>
                                  <p:childTnLst>
                                    <p:set>
                                      <p:cBhvr>
                                        <p:cTn id="77" dur="1" fill="hold">
                                          <p:stCondLst>
                                            <p:cond delay="0"/>
                                          </p:stCondLst>
                                        </p:cTn>
                                        <p:tgtEl>
                                          <p:spTgt spid="157"/>
                                        </p:tgtEl>
                                        <p:attrNameLst>
                                          <p:attrName>style.visibility</p:attrName>
                                        </p:attrNameLst>
                                      </p:cBhvr>
                                      <p:to>
                                        <p:strVal val="visible"/>
                                      </p:to>
                                    </p:set>
                                    <p:anim calcmode="lin" valueType="num">
                                      <p:cBhvr>
                                        <p:cTn id="78" dur="500" fill="hold"/>
                                        <p:tgtEl>
                                          <p:spTgt spid="157"/>
                                        </p:tgtEl>
                                        <p:attrNameLst>
                                          <p:attrName>ppt_w</p:attrName>
                                        </p:attrNameLst>
                                      </p:cBhvr>
                                      <p:tavLst>
                                        <p:tav tm="0">
                                          <p:val>
                                            <p:fltVal val="0"/>
                                          </p:val>
                                        </p:tav>
                                        <p:tav tm="100000">
                                          <p:val>
                                            <p:strVal val="#ppt_w"/>
                                          </p:val>
                                        </p:tav>
                                      </p:tavLst>
                                    </p:anim>
                                    <p:anim calcmode="lin" valueType="num">
                                      <p:cBhvr>
                                        <p:cTn id="79" dur="500" fill="hold"/>
                                        <p:tgtEl>
                                          <p:spTgt spid="157"/>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160"/>
                                        </p:tgtEl>
                                        <p:attrNameLst>
                                          <p:attrName>style.visibility</p:attrName>
                                        </p:attrNameLst>
                                      </p:cBhvr>
                                      <p:to>
                                        <p:strVal val="visible"/>
                                      </p:to>
                                    </p:set>
                                    <p:animEffect transition="in" filter="dissolve">
                                      <p:cBhvr>
                                        <p:cTn id="84" dur="500"/>
                                        <p:tgtEl>
                                          <p:spTgt spid="160"/>
                                        </p:tgtEl>
                                      </p:cBhvr>
                                    </p:animEffect>
                                  </p:childTnLst>
                                </p:cTn>
                              </p:par>
                            </p:childTnLst>
                          </p:cTn>
                        </p:par>
                        <p:par>
                          <p:cTn id="85" fill="hold">
                            <p:stCondLst>
                              <p:cond delay="500"/>
                            </p:stCondLst>
                            <p:childTnLst>
                              <p:par>
                                <p:cTn id="86" presetID="9" presetClass="entr" presetSubtype="0" fill="hold" grpId="0" nodeType="afterEffect">
                                  <p:stCondLst>
                                    <p:cond delay="0"/>
                                  </p:stCondLst>
                                  <p:childTnLst>
                                    <p:set>
                                      <p:cBhvr>
                                        <p:cTn id="87" dur="1" fill="hold">
                                          <p:stCondLst>
                                            <p:cond delay="0"/>
                                          </p:stCondLst>
                                        </p:cTn>
                                        <p:tgtEl>
                                          <p:spTgt spid="161"/>
                                        </p:tgtEl>
                                        <p:attrNameLst>
                                          <p:attrName>style.visibility</p:attrName>
                                        </p:attrNameLst>
                                      </p:cBhvr>
                                      <p:to>
                                        <p:strVal val="visible"/>
                                      </p:to>
                                    </p:set>
                                    <p:animEffect transition="in" filter="dissolve">
                                      <p:cBhvr>
                                        <p:cTn id="88" dur="500"/>
                                        <p:tgtEl>
                                          <p:spTgt spid="161"/>
                                        </p:tgtEl>
                                      </p:cBhvr>
                                    </p:animEffect>
                                  </p:childTnLst>
                                </p:cTn>
                              </p:par>
                            </p:childTnLst>
                          </p:cTn>
                        </p:par>
                      </p:childTnLst>
                    </p:cTn>
                  </p:par>
                  <p:par>
                    <p:cTn id="89" fill="hold">
                      <p:stCondLst>
                        <p:cond delay="indefinite"/>
                      </p:stCondLst>
                      <p:childTnLst>
                        <p:par>
                          <p:cTn id="90" fill="hold">
                            <p:stCondLst>
                              <p:cond delay="0"/>
                            </p:stCondLst>
                            <p:childTnLst>
                              <p:par>
                                <p:cTn id="91" presetID="23" presetClass="entr" presetSubtype="16" fill="hold" grpId="0" nodeType="clickEffect">
                                  <p:stCondLst>
                                    <p:cond delay="0"/>
                                  </p:stCondLst>
                                  <p:childTnLst>
                                    <p:set>
                                      <p:cBhvr>
                                        <p:cTn id="92" dur="1" fill="hold">
                                          <p:stCondLst>
                                            <p:cond delay="0"/>
                                          </p:stCondLst>
                                        </p:cTn>
                                        <p:tgtEl>
                                          <p:spTgt spid="162"/>
                                        </p:tgtEl>
                                        <p:attrNameLst>
                                          <p:attrName>style.visibility</p:attrName>
                                        </p:attrNameLst>
                                      </p:cBhvr>
                                      <p:to>
                                        <p:strVal val="visible"/>
                                      </p:to>
                                    </p:set>
                                    <p:anim calcmode="lin" valueType="num">
                                      <p:cBhvr>
                                        <p:cTn id="93" dur="500" fill="hold"/>
                                        <p:tgtEl>
                                          <p:spTgt spid="162"/>
                                        </p:tgtEl>
                                        <p:attrNameLst>
                                          <p:attrName>ppt_w</p:attrName>
                                        </p:attrNameLst>
                                      </p:cBhvr>
                                      <p:tavLst>
                                        <p:tav tm="0">
                                          <p:val>
                                            <p:fltVal val="0"/>
                                          </p:val>
                                        </p:tav>
                                        <p:tav tm="100000">
                                          <p:val>
                                            <p:strVal val="#ppt_w"/>
                                          </p:val>
                                        </p:tav>
                                      </p:tavLst>
                                    </p:anim>
                                    <p:anim calcmode="lin" valueType="num">
                                      <p:cBhvr>
                                        <p:cTn id="94" dur="500" fill="hold"/>
                                        <p:tgtEl>
                                          <p:spTgt spid="162"/>
                                        </p:tgtEl>
                                        <p:attrNameLst>
                                          <p:attrName>ppt_h</p:attrName>
                                        </p:attrNameLst>
                                      </p:cBhvr>
                                      <p:tavLst>
                                        <p:tav tm="0">
                                          <p:val>
                                            <p:fltVal val="0"/>
                                          </p:val>
                                        </p:tav>
                                        <p:tav tm="100000">
                                          <p:val>
                                            <p:strVal val="#ppt_h"/>
                                          </p:val>
                                        </p:tav>
                                      </p:tavLst>
                                    </p:anim>
                                  </p:childTnLst>
                                </p:cTn>
                              </p:par>
                            </p:childTnLst>
                          </p:cTn>
                        </p:par>
                      </p:childTnLst>
                    </p:cTn>
                  </p:par>
                  <p:par>
                    <p:cTn id="95" fill="hold">
                      <p:stCondLst>
                        <p:cond delay="indefinite"/>
                      </p:stCondLst>
                      <p:childTnLst>
                        <p:par>
                          <p:cTn id="96" fill="hold">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163"/>
                                        </p:tgtEl>
                                        <p:attrNameLst>
                                          <p:attrName>style.visibility</p:attrName>
                                        </p:attrNameLst>
                                      </p:cBhvr>
                                      <p:to>
                                        <p:strVal val="visible"/>
                                      </p:to>
                                    </p:set>
                                    <p:animEffect transition="in" filter="dissolve">
                                      <p:cBhvr>
                                        <p:cTn id="99" dur="500"/>
                                        <p:tgtEl>
                                          <p:spTgt spid="163"/>
                                        </p:tgtEl>
                                      </p:cBhvr>
                                    </p:animEffect>
                                  </p:childTnLst>
                                </p:cTn>
                              </p:par>
                            </p:childTnLst>
                          </p:cTn>
                        </p:par>
                        <p:par>
                          <p:cTn id="100" fill="hold">
                            <p:stCondLst>
                              <p:cond delay="500"/>
                            </p:stCondLst>
                            <p:childTnLst>
                              <p:par>
                                <p:cTn id="101" presetID="9" presetClass="entr" presetSubtype="0" fill="hold" grpId="0" nodeType="afterEffect">
                                  <p:stCondLst>
                                    <p:cond delay="0"/>
                                  </p:stCondLst>
                                  <p:childTnLst>
                                    <p:set>
                                      <p:cBhvr>
                                        <p:cTn id="102" dur="1" fill="hold">
                                          <p:stCondLst>
                                            <p:cond delay="0"/>
                                          </p:stCondLst>
                                        </p:cTn>
                                        <p:tgtEl>
                                          <p:spTgt spid="164"/>
                                        </p:tgtEl>
                                        <p:attrNameLst>
                                          <p:attrName>style.visibility</p:attrName>
                                        </p:attrNameLst>
                                      </p:cBhvr>
                                      <p:to>
                                        <p:strVal val="visible"/>
                                      </p:to>
                                    </p:set>
                                    <p:animEffect transition="in" filter="dissolve">
                                      <p:cBhvr>
                                        <p:cTn id="103"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032" grpId="0"/>
      <p:bldP spid="161033" grpId="0"/>
      <p:bldP spid="161036" grpId="0"/>
      <p:bldP spid="161037" grpId="0"/>
      <p:bldP spid="161307" grpId="0" bldLvl="0" animBg="1"/>
      <p:bldP spid="161308" grpId="0" bldLvl="0" animBg="1"/>
      <p:bldP spid="150" grpId="0" bldLvl="0" animBg="1"/>
      <p:bldP spid="155" grpId="0"/>
      <p:bldP spid="156" grpId="0"/>
      <p:bldP spid="157" grpId="0"/>
      <p:bldP spid="158" grpId="0"/>
      <p:bldP spid="159" grpId="0"/>
      <p:bldP spid="160" grpId="0"/>
      <p:bldP spid="161" grpId="0"/>
      <p:bldP spid="162" grpId="0" bldLvl="0" animBg="1"/>
      <p:bldP spid="163" grpId="0" bldLvl="0" animBg="1"/>
      <p:bldP spid="164" grpId="0" bldLvl="0" animBg="1"/>
      <p:bldP spid="165"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p:cNvSpPr>
          <p:nvPr>
            <p:ph type="title"/>
          </p:nvPr>
        </p:nvSpPr>
        <p:spPr>
          <a:xfrm>
            <a:off x="3021013" y="473075"/>
            <a:ext cx="6858000"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奇偶校验系统的工作原理</a:t>
            </a:r>
          </a:p>
        </p:txBody>
      </p:sp>
      <p:sp>
        <p:nvSpPr>
          <p:cNvPr id="203779"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32</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306316" name="Rectangle 140"/>
          <p:cNvSpPr/>
          <p:nvPr/>
        </p:nvSpPr>
        <p:spPr>
          <a:xfrm>
            <a:off x="1524000" y="1239838"/>
            <a:ext cx="5905500" cy="4659630"/>
          </a:xfrm>
          <a:prstGeom prst="rect">
            <a:avLst/>
          </a:prstGeom>
          <a:solidFill>
            <a:srgbClr val="FFFFCC"/>
          </a:solidFill>
          <a:ln w="9525">
            <a:noFill/>
          </a:ln>
          <a:effectLst>
            <a:prstShdw prst="shdw13" dist="53882" dir="13499999">
              <a:schemeClr val="bg2">
                <a:alpha val="50000"/>
              </a:schemeClr>
            </a:prstShdw>
          </a:effectLst>
        </p:spPr>
        <p:txBody>
          <a:bodyPr>
            <a:spAutoFit/>
          </a:bodyPr>
          <a:lstStyle/>
          <a:p>
            <a:pPr marL="266700" indent="-266700" eaLnBrk="1" hangingPunct="1">
              <a:lnSpc>
                <a:spcPct val="90000"/>
              </a:lnSpc>
              <a:buClr>
                <a:srgbClr val="006666"/>
              </a:buClr>
              <a:buFont typeface="Wingdings" panose="05000000000000000000" pitchFamily="2" charset="2"/>
              <a:buChar char="w"/>
            </a:pPr>
            <a:r>
              <a:rPr lang="zh-CN" altLang="en-US" sz="2200" dirty="0">
                <a:solidFill>
                  <a:schemeClr val="tx1"/>
                </a:solidFill>
                <a:latin typeface="Arial" panose="020B0604020202020204" pitchFamily="34" charset="0"/>
                <a:ea typeface="楷体_GB2312" pitchFamily="49" charset="-122"/>
              </a:rPr>
              <a:t>若</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0</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7</a:t>
            </a:r>
            <a:r>
              <a:rPr lang="zh-CN" altLang="en-US" sz="2200" dirty="0">
                <a:solidFill>
                  <a:schemeClr val="tx1"/>
                </a:solidFill>
                <a:latin typeface="Arial" panose="020B0604020202020204" pitchFamily="34" charset="0"/>
                <a:ea typeface="楷体_GB2312" pitchFamily="49" charset="-122"/>
              </a:rPr>
              <a:t>中</a:t>
            </a:r>
            <a:r>
              <a:rPr lang="en-US" altLang="zh-CN" sz="2200" dirty="0">
                <a:solidFill>
                  <a:schemeClr val="tx1"/>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的个数为偶数，则</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片</a:t>
            </a:r>
            <a:r>
              <a:rPr lang="zh-CN" altLang="en-US" sz="2200" dirty="0">
                <a:latin typeface="Arial" panose="020B0604020202020204" pitchFamily="34" charset="0"/>
                <a:ea typeface="楷体_GB2312" pitchFamily="49" charset="-122"/>
                <a:sym typeface="Wingdings" panose="05000000000000000000" pitchFamily="2" charset="2"/>
              </a:rPr>
              <a:t></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的</a:t>
            </a:r>
            <a:r>
              <a:rPr lang="en-US" altLang="zh-CN" sz="2200" dirty="0">
                <a:solidFill>
                  <a:schemeClr val="tx1"/>
                </a:solidFill>
                <a:latin typeface="Arial" panose="020B0604020202020204" pitchFamily="34" charset="0"/>
                <a:ea typeface="楷体_GB2312" pitchFamily="49" charset="-122"/>
              </a:rPr>
              <a:t>F</a:t>
            </a:r>
            <a:r>
              <a:rPr lang="en-US" altLang="zh-CN" sz="2200" baseline="-25000" dirty="0">
                <a:solidFill>
                  <a:schemeClr val="tx1"/>
                </a:solidFill>
                <a:latin typeface="Arial" panose="020B0604020202020204" pitchFamily="34" charset="0"/>
                <a:ea typeface="楷体_GB2312" pitchFamily="49" charset="-122"/>
              </a:rPr>
              <a:t>OD</a:t>
            </a:r>
            <a:r>
              <a:rPr lang="en-US" altLang="zh-CN" sz="2200" dirty="0">
                <a:solidFill>
                  <a:schemeClr val="tx1"/>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；若为奇数，则</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片</a:t>
            </a:r>
            <a:r>
              <a:rPr lang="zh-CN" altLang="en-US" sz="2200" dirty="0">
                <a:latin typeface="Arial" panose="020B0604020202020204" pitchFamily="34" charset="0"/>
                <a:ea typeface="楷体_GB2312" pitchFamily="49" charset="-122"/>
                <a:sym typeface="Wingdings" panose="05000000000000000000" pitchFamily="2" charset="2"/>
              </a:rPr>
              <a:t></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的</a:t>
            </a:r>
            <a:r>
              <a:rPr lang="en-US" altLang="zh-CN" sz="2200" dirty="0">
                <a:solidFill>
                  <a:schemeClr val="tx1"/>
                </a:solidFill>
                <a:latin typeface="Arial" panose="020B0604020202020204" pitchFamily="34" charset="0"/>
                <a:ea typeface="楷体_GB2312" pitchFamily="49" charset="-122"/>
              </a:rPr>
              <a:t>F</a:t>
            </a:r>
            <a:r>
              <a:rPr lang="en-US" altLang="zh-CN" sz="2200" baseline="-25000" dirty="0">
                <a:solidFill>
                  <a:schemeClr val="tx1"/>
                </a:solidFill>
                <a:latin typeface="Arial" panose="020B0604020202020204" pitchFamily="34" charset="0"/>
                <a:ea typeface="楷体_GB2312" pitchFamily="49" charset="-122"/>
              </a:rPr>
              <a:t>OD</a:t>
            </a:r>
            <a:r>
              <a:rPr lang="en-US" altLang="zh-CN" sz="2200" dirty="0">
                <a:solidFill>
                  <a:schemeClr val="tx1"/>
                </a:solidFill>
                <a:latin typeface="Arial" panose="020B0604020202020204" pitchFamily="34" charset="0"/>
                <a:ea typeface="楷体_GB2312" pitchFamily="49" charset="-122"/>
              </a:rPr>
              <a:t>=0</a:t>
            </a:r>
          </a:p>
          <a:p>
            <a:pPr marL="266700" indent="-266700" eaLnBrk="1" hangingPunct="1">
              <a:lnSpc>
                <a:spcPct val="90000"/>
              </a:lnSpc>
              <a:buClr>
                <a:srgbClr val="006666"/>
              </a:buClr>
              <a:buFont typeface="Wingdings" panose="05000000000000000000" pitchFamily="2" charset="2"/>
              <a:buChar char="w"/>
            </a:pPr>
            <a:r>
              <a:rPr lang="zh-CN" altLang="en-US" sz="2200" dirty="0">
                <a:solidFill>
                  <a:schemeClr val="tx1"/>
                </a:solidFill>
                <a:latin typeface="Arial" panose="020B0604020202020204" pitchFamily="34" charset="0"/>
                <a:ea typeface="楷体_GB2312" pitchFamily="49" charset="-122"/>
              </a:rPr>
              <a:t>无论</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0</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7</a:t>
            </a:r>
            <a:r>
              <a:rPr lang="zh-CN" altLang="en-US" sz="2200" dirty="0">
                <a:solidFill>
                  <a:schemeClr val="tx1"/>
                </a:solidFill>
                <a:latin typeface="Arial" panose="020B0604020202020204" pitchFamily="34" charset="0"/>
                <a:ea typeface="楷体_GB2312" pitchFamily="49" charset="-122"/>
              </a:rPr>
              <a:t>中</a:t>
            </a:r>
            <a:r>
              <a:rPr lang="en-US" altLang="zh-CN" sz="2200" dirty="0">
                <a:solidFill>
                  <a:schemeClr val="tx1"/>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的个数为偶数还是奇数，加上</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片</a:t>
            </a:r>
            <a:r>
              <a:rPr lang="zh-CN" altLang="en-US" sz="2200" dirty="0">
                <a:latin typeface="Arial" panose="020B0604020202020204" pitchFamily="34" charset="0"/>
                <a:ea typeface="楷体_GB2312" pitchFamily="49" charset="-122"/>
                <a:sym typeface="Wingdings" panose="05000000000000000000" pitchFamily="2" charset="2"/>
              </a:rPr>
              <a:t></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的</a:t>
            </a:r>
            <a:r>
              <a:rPr lang="en-US" altLang="zh-CN" sz="2200" dirty="0">
                <a:solidFill>
                  <a:schemeClr val="tx1"/>
                </a:solidFill>
                <a:latin typeface="Arial" panose="020B0604020202020204" pitchFamily="34" charset="0"/>
                <a:ea typeface="楷体_GB2312" pitchFamily="49" charset="-122"/>
              </a:rPr>
              <a:t>F</a:t>
            </a:r>
            <a:r>
              <a:rPr lang="en-US" altLang="zh-CN" sz="2200" baseline="-25000" dirty="0">
                <a:solidFill>
                  <a:schemeClr val="tx1"/>
                </a:solidFill>
                <a:latin typeface="Arial" panose="020B0604020202020204" pitchFamily="34" charset="0"/>
                <a:ea typeface="楷体_GB2312" pitchFamily="49" charset="-122"/>
              </a:rPr>
              <a:t>OD</a:t>
            </a:r>
            <a:r>
              <a:rPr lang="zh-CN" altLang="en-US" sz="2200" dirty="0">
                <a:solidFill>
                  <a:schemeClr val="tx1"/>
                </a:solidFill>
                <a:latin typeface="Arial" panose="020B0604020202020204" pitchFamily="34" charset="0"/>
                <a:ea typeface="楷体_GB2312" pitchFamily="49" charset="-122"/>
              </a:rPr>
              <a:t>后，组成</a:t>
            </a:r>
            <a:r>
              <a:rPr lang="en-US" altLang="zh-CN" sz="2200" dirty="0">
                <a:solidFill>
                  <a:schemeClr val="tx1"/>
                </a:solidFill>
                <a:latin typeface="Arial" panose="020B0604020202020204" pitchFamily="34" charset="0"/>
                <a:ea typeface="楷体_GB2312" pitchFamily="49" charset="-122"/>
              </a:rPr>
              <a:t>9</a:t>
            </a:r>
            <a:r>
              <a:rPr lang="zh-CN" altLang="en-US" sz="2200" dirty="0">
                <a:solidFill>
                  <a:schemeClr val="tx1"/>
                </a:solidFill>
                <a:latin typeface="Arial" panose="020B0604020202020204" pitchFamily="34" charset="0"/>
                <a:ea typeface="楷体_GB2312" pitchFamily="49" charset="-122"/>
              </a:rPr>
              <a:t>位数据中</a:t>
            </a:r>
            <a:r>
              <a:rPr lang="en-US" altLang="zh-CN" sz="2200" dirty="0">
                <a:solidFill>
                  <a:schemeClr val="tx1"/>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的个数一定是</a:t>
            </a:r>
            <a:r>
              <a:rPr lang="zh-CN" altLang="en-US" sz="2200" dirty="0">
                <a:solidFill>
                  <a:srgbClr val="CC0066"/>
                </a:solidFill>
                <a:latin typeface="Arial" panose="020B0604020202020204" pitchFamily="34" charset="0"/>
                <a:ea typeface="楷体_GB2312" pitchFamily="49" charset="-122"/>
              </a:rPr>
              <a:t>奇数</a:t>
            </a:r>
            <a:r>
              <a:rPr lang="en-US" altLang="zh-CN" sz="2200" dirty="0">
                <a:solidFill>
                  <a:schemeClr val="tx1"/>
                </a:solidFill>
                <a:latin typeface="Arial" panose="020B0604020202020204" pitchFamily="34" charset="0"/>
                <a:ea typeface="楷体_GB2312" pitchFamily="49" charset="-122"/>
              </a:rPr>
              <a:t>——</a:t>
            </a:r>
            <a:r>
              <a:rPr lang="zh-CN" altLang="en-US" sz="2200" dirty="0">
                <a:solidFill>
                  <a:schemeClr val="tx1"/>
                </a:solidFill>
                <a:latin typeface="Arial" panose="020B0604020202020204" pitchFamily="34" charset="0"/>
                <a:ea typeface="楷体_GB2312" pitchFamily="49" charset="-122"/>
              </a:rPr>
              <a:t>片</a:t>
            </a:r>
            <a:r>
              <a:rPr lang="zh-CN" altLang="en-US" sz="2200" dirty="0">
                <a:latin typeface="Arial" panose="020B0604020202020204" pitchFamily="34" charset="0"/>
                <a:ea typeface="楷体_GB2312" pitchFamily="49" charset="-122"/>
                <a:sym typeface="Wingdings" panose="05000000000000000000" pitchFamily="2" charset="2"/>
              </a:rPr>
              <a:t></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称为</a:t>
            </a:r>
            <a:r>
              <a:rPr lang="zh-CN" altLang="en-US" sz="2200" dirty="0">
                <a:solidFill>
                  <a:srgbClr val="FF0000"/>
                </a:solidFill>
                <a:latin typeface="Arial" panose="020B0604020202020204" pitchFamily="34" charset="0"/>
                <a:ea typeface="楷体_GB2312" pitchFamily="49" charset="-122"/>
              </a:rPr>
              <a:t>奇产生器</a:t>
            </a:r>
          </a:p>
          <a:p>
            <a:pPr marL="266700" indent="-266700" eaLnBrk="1" hangingPunct="1">
              <a:lnSpc>
                <a:spcPct val="90000"/>
              </a:lnSpc>
              <a:buClr>
                <a:srgbClr val="006666"/>
              </a:buClr>
              <a:buFont typeface="Wingdings" panose="05000000000000000000" pitchFamily="2" charset="2"/>
              <a:buChar char="w"/>
            </a:pPr>
            <a:r>
              <a:rPr lang="zh-CN" altLang="en-US" sz="2200" dirty="0">
                <a:solidFill>
                  <a:schemeClr val="tx1"/>
                </a:solidFill>
                <a:latin typeface="Arial" panose="020B0604020202020204" pitchFamily="34" charset="0"/>
                <a:ea typeface="楷体_GB2312" pitchFamily="49" charset="-122"/>
              </a:rPr>
              <a:t>若原数据</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0</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7</a:t>
            </a:r>
            <a:r>
              <a:rPr lang="zh-CN" altLang="en-US" sz="2200" dirty="0">
                <a:solidFill>
                  <a:schemeClr val="tx1"/>
                </a:solidFill>
                <a:latin typeface="Arial" panose="020B0604020202020204" pitchFamily="34" charset="0"/>
                <a:ea typeface="楷体_GB2312" pitchFamily="49" charset="-122"/>
              </a:rPr>
              <a:t>中有</a:t>
            </a:r>
            <a:r>
              <a:rPr lang="zh-CN" altLang="en-US" sz="2200" dirty="0">
                <a:solidFill>
                  <a:srgbClr val="CC0066"/>
                </a:solidFill>
                <a:latin typeface="Arial" panose="020B0604020202020204" pitchFamily="34" charset="0"/>
                <a:ea typeface="楷体_GB2312" pitchFamily="49" charset="-122"/>
              </a:rPr>
              <a:t>偶数个</a:t>
            </a:r>
            <a:r>
              <a:rPr lang="en-US" altLang="zh-CN" sz="2200" dirty="0">
                <a:solidFill>
                  <a:srgbClr val="CC0066"/>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，则</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片</a:t>
            </a:r>
            <a:r>
              <a:rPr lang="zh-CN" altLang="en-US" sz="2200" dirty="0">
                <a:latin typeface="Arial" panose="020B0604020202020204" pitchFamily="34" charset="0"/>
                <a:ea typeface="楷体_GB2312" pitchFamily="49" charset="-122"/>
                <a:sym typeface="Wingdings" panose="05000000000000000000" pitchFamily="2" charset="2"/>
              </a:rPr>
              <a:t></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的</a:t>
            </a:r>
            <a:r>
              <a:rPr lang="en-US" altLang="zh-CN" sz="2200" dirty="0">
                <a:solidFill>
                  <a:schemeClr val="tx1"/>
                </a:solidFill>
                <a:latin typeface="Arial" panose="020B0604020202020204" pitchFamily="34" charset="0"/>
                <a:ea typeface="楷体_GB2312" pitchFamily="49" charset="-122"/>
              </a:rPr>
              <a:t>F</a:t>
            </a:r>
            <a:r>
              <a:rPr lang="en-US" altLang="zh-CN" sz="2200" baseline="-25000" dirty="0">
                <a:solidFill>
                  <a:schemeClr val="tx1"/>
                </a:solidFill>
                <a:latin typeface="Arial" panose="020B0604020202020204" pitchFamily="34" charset="0"/>
                <a:ea typeface="楷体_GB2312" pitchFamily="49" charset="-122"/>
              </a:rPr>
              <a:t>OD</a:t>
            </a:r>
            <a:r>
              <a:rPr lang="en-US" altLang="zh-CN" sz="2200" dirty="0">
                <a:solidFill>
                  <a:schemeClr val="tx1"/>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，则片</a:t>
            </a:r>
            <a:r>
              <a:rPr lang="zh-CN" altLang="en-US" sz="2200" dirty="0">
                <a:latin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rPr>
              <a:t> </a:t>
            </a:r>
            <a:r>
              <a:rPr lang="zh-CN" altLang="en-US" sz="2200" dirty="0">
                <a:solidFill>
                  <a:schemeClr val="tx1"/>
                </a:solidFill>
                <a:latin typeface="Arial" panose="020B0604020202020204" pitchFamily="34" charset="0"/>
                <a:ea typeface="楷体_GB2312" pitchFamily="49" charset="-122"/>
              </a:rPr>
              <a:t>的</a:t>
            </a:r>
            <a:r>
              <a:rPr lang="en-US" altLang="zh-CN" sz="2200" dirty="0">
                <a:solidFill>
                  <a:schemeClr val="tx1"/>
                </a:solidFill>
                <a:latin typeface="Arial" panose="020B0604020202020204" pitchFamily="34" charset="0"/>
                <a:ea typeface="楷体_GB2312" pitchFamily="49" charset="-122"/>
              </a:rPr>
              <a:t>ODD=1</a:t>
            </a:r>
            <a:r>
              <a:rPr lang="zh-CN" altLang="en-US" sz="2200" dirty="0">
                <a:solidFill>
                  <a:schemeClr val="tx1"/>
                </a:solidFill>
                <a:latin typeface="Arial" panose="020B0604020202020204" pitchFamily="34" charset="0"/>
                <a:ea typeface="楷体_GB2312" pitchFamily="49" charset="-122"/>
              </a:rPr>
              <a:t>， </a:t>
            </a:r>
            <a:r>
              <a:rPr lang="en-US" altLang="zh-CN" sz="2200" dirty="0">
                <a:solidFill>
                  <a:schemeClr val="tx1"/>
                </a:solidFill>
                <a:latin typeface="Arial" panose="020B0604020202020204" pitchFamily="34" charset="0"/>
                <a:ea typeface="楷体_GB2312" pitchFamily="49" charset="-122"/>
              </a:rPr>
              <a:t>EVEN=0</a:t>
            </a:r>
            <a:r>
              <a:rPr lang="zh-CN" altLang="en-US" sz="2200" dirty="0">
                <a:solidFill>
                  <a:schemeClr val="tx1"/>
                </a:solidFill>
                <a:latin typeface="Arial" panose="020B0604020202020204" pitchFamily="34" charset="0"/>
                <a:ea typeface="楷体_GB2312" pitchFamily="49" charset="-122"/>
              </a:rPr>
              <a:t>，传输无误时，片</a:t>
            </a:r>
            <a:r>
              <a:rPr lang="zh-CN" altLang="en-US" sz="2200" dirty="0">
                <a:latin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rPr>
              <a:t> </a:t>
            </a:r>
            <a:r>
              <a:rPr lang="zh-CN" altLang="en-US" sz="2200" dirty="0">
                <a:solidFill>
                  <a:schemeClr val="tx1"/>
                </a:solidFill>
                <a:latin typeface="Arial" panose="020B0604020202020204" pitchFamily="34" charset="0"/>
                <a:ea typeface="楷体_GB2312" pitchFamily="49" charset="-122"/>
              </a:rPr>
              <a:t>的</a:t>
            </a:r>
            <a:r>
              <a:rPr lang="en-US" altLang="zh-CN" sz="2200" dirty="0">
                <a:solidFill>
                  <a:srgbClr val="CC0066"/>
                </a:solidFill>
                <a:latin typeface="Arial" panose="020B0604020202020204" pitchFamily="34" charset="0"/>
                <a:ea typeface="楷体_GB2312" pitchFamily="49" charset="-122"/>
              </a:rPr>
              <a:t>F</a:t>
            </a:r>
            <a:r>
              <a:rPr lang="en-US" altLang="zh-CN" sz="2200" baseline="-25000" dirty="0">
                <a:solidFill>
                  <a:srgbClr val="CC0066"/>
                </a:solidFill>
                <a:latin typeface="Arial" panose="020B0604020202020204" pitchFamily="34" charset="0"/>
                <a:ea typeface="楷体_GB2312" pitchFamily="49" charset="-122"/>
              </a:rPr>
              <a:t>OD</a:t>
            </a:r>
            <a:r>
              <a:rPr lang="en-US" altLang="zh-CN" sz="2200" dirty="0">
                <a:solidFill>
                  <a:srgbClr val="CC0066"/>
                </a:solidFill>
                <a:latin typeface="Arial" panose="020B0604020202020204" pitchFamily="34" charset="0"/>
                <a:ea typeface="楷体_GB2312" pitchFamily="49" charset="-122"/>
              </a:rPr>
              <a:t>=1</a:t>
            </a:r>
            <a:r>
              <a:rPr lang="zh-CN" altLang="en-US" sz="2200" dirty="0">
                <a:solidFill>
                  <a:srgbClr val="CC0066"/>
                </a:solidFill>
                <a:latin typeface="Arial" panose="020B0604020202020204" pitchFamily="34" charset="0"/>
                <a:ea typeface="楷体_GB2312" pitchFamily="49" charset="-122"/>
              </a:rPr>
              <a:t> ，</a:t>
            </a:r>
            <a:r>
              <a:rPr lang="en-US" altLang="zh-CN" sz="2200" dirty="0">
                <a:solidFill>
                  <a:srgbClr val="CC0066"/>
                </a:solidFill>
                <a:latin typeface="Arial" panose="020B0604020202020204" pitchFamily="34" charset="0"/>
                <a:ea typeface="楷体_GB2312" pitchFamily="49" charset="-122"/>
              </a:rPr>
              <a:t>F</a:t>
            </a:r>
            <a:r>
              <a:rPr lang="en-US" altLang="zh-CN" sz="2200" baseline="-25000" dirty="0">
                <a:solidFill>
                  <a:srgbClr val="CC0066"/>
                </a:solidFill>
                <a:latin typeface="Arial" panose="020B0604020202020204" pitchFamily="34" charset="0"/>
                <a:ea typeface="楷体_GB2312" pitchFamily="49" charset="-122"/>
              </a:rPr>
              <a:t>EV</a:t>
            </a:r>
            <a:r>
              <a:rPr lang="en-US" altLang="zh-CN" sz="2200" dirty="0">
                <a:solidFill>
                  <a:srgbClr val="CC0066"/>
                </a:solidFill>
                <a:latin typeface="Arial" panose="020B0604020202020204" pitchFamily="34" charset="0"/>
                <a:ea typeface="楷体_GB2312" pitchFamily="49" charset="-122"/>
              </a:rPr>
              <a:t>=0</a:t>
            </a:r>
            <a:r>
              <a:rPr lang="zh-CN" altLang="en-US" sz="2200" dirty="0">
                <a:solidFill>
                  <a:schemeClr val="tx1"/>
                </a:solidFill>
                <a:latin typeface="Arial" panose="020B0604020202020204" pitchFamily="34" charset="0"/>
                <a:ea typeface="楷体_GB2312" pitchFamily="49" charset="-122"/>
              </a:rPr>
              <a:t>，表示数据传输正确；若原数据</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0</a:t>
            </a:r>
            <a:r>
              <a:rPr lang="en-US" altLang="zh-CN" sz="2200" dirty="0">
                <a:solidFill>
                  <a:schemeClr val="tx1"/>
                </a:solidFill>
                <a:latin typeface="Arial" panose="020B0604020202020204" pitchFamily="34" charset="0"/>
                <a:ea typeface="楷体_GB2312" pitchFamily="49" charset="-122"/>
              </a:rPr>
              <a:t>~D</a:t>
            </a:r>
            <a:r>
              <a:rPr lang="en-US" altLang="zh-CN" sz="2200" baseline="-25000" dirty="0">
                <a:solidFill>
                  <a:schemeClr val="tx1"/>
                </a:solidFill>
                <a:latin typeface="Arial" panose="020B0604020202020204" pitchFamily="34" charset="0"/>
                <a:ea typeface="楷体_GB2312" pitchFamily="49" charset="-122"/>
              </a:rPr>
              <a:t>7</a:t>
            </a:r>
            <a:r>
              <a:rPr lang="zh-CN" altLang="en-US" sz="2200" dirty="0">
                <a:solidFill>
                  <a:schemeClr val="tx1"/>
                </a:solidFill>
                <a:latin typeface="Arial" panose="020B0604020202020204" pitchFamily="34" charset="0"/>
                <a:ea typeface="楷体_GB2312" pitchFamily="49" charset="-122"/>
              </a:rPr>
              <a:t>中有</a:t>
            </a:r>
            <a:r>
              <a:rPr lang="zh-CN" altLang="en-US" sz="2200" dirty="0">
                <a:solidFill>
                  <a:srgbClr val="CC0066"/>
                </a:solidFill>
                <a:latin typeface="Arial" panose="020B0604020202020204" pitchFamily="34" charset="0"/>
                <a:ea typeface="楷体_GB2312" pitchFamily="49" charset="-122"/>
              </a:rPr>
              <a:t>奇数个</a:t>
            </a:r>
            <a:r>
              <a:rPr lang="en-US" altLang="zh-CN" sz="2200" dirty="0">
                <a:solidFill>
                  <a:srgbClr val="CC0066"/>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，则</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片</a:t>
            </a:r>
            <a:r>
              <a:rPr lang="zh-CN" altLang="en-US" sz="2200" dirty="0">
                <a:latin typeface="Arial" panose="020B0604020202020204" pitchFamily="34" charset="0"/>
                <a:ea typeface="楷体_GB2312" pitchFamily="49" charset="-122"/>
                <a:sym typeface="Wingdings" panose="05000000000000000000" pitchFamily="2" charset="2"/>
              </a:rPr>
              <a:t></a:t>
            </a:r>
            <a:r>
              <a:rPr lang="zh-CN" altLang="en-US" sz="2200" dirty="0">
                <a:solidFill>
                  <a:schemeClr val="tx1"/>
                </a:solidFill>
                <a:latin typeface="Arial" panose="020B0604020202020204" pitchFamily="34" charset="0"/>
                <a:ea typeface="楷体_GB2312" pitchFamily="49" charset="-122"/>
                <a:sym typeface="Wingdings" panose="05000000000000000000" pitchFamily="2" charset="2"/>
              </a:rPr>
              <a:t>的</a:t>
            </a:r>
            <a:r>
              <a:rPr lang="en-US" altLang="zh-CN" sz="2200" dirty="0">
                <a:solidFill>
                  <a:schemeClr val="tx1"/>
                </a:solidFill>
                <a:latin typeface="Arial" panose="020B0604020202020204" pitchFamily="34" charset="0"/>
                <a:ea typeface="楷体_GB2312" pitchFamily="49" charset="-122"/>
              </a:rPr>
              <a:t>F</a:t>
            </a:r>
            <a:r>
              <a:rPr lang="en-US" altLang="zh-CN" sz="2200" baseline="-25000" dirty="0">
                <a:solidFill>
                  <a:schemeClr val="tx1"/>
                </a:solidFill>
                <a:latin typeface="Arial" panose="020B0604020202020204" pitchFamily="34" charset="0"/>
                <a:ea typeface="楷体_GB2312" pitchFamily="49" charset="-122"/>
              </a:rPr>
              <a:t>OD</a:t>
            </a:r>
            <a:r>
              <a:rPr lang="en-US" altLang="zh-CN" sz="2200" dirty="0">
                <a:solidFill>
                  <a:schemeClr val="tx1"/>
                </a:solidFill>
                <a:latin typeface="Arial" panose="020B0604020202020204" pitchFamily="34" charset="0"/>
                <a:ea typeface="楷体_GB2312" pitchFamily="49" charset="-122"/>
              </a:rPr>
              <a:t>=0</a:t>
            </a:r>
            <a:r>
              <a:rPr lang="zh-CN" altLang="en-US" sz="2200" dirty="0">
                <a:solidFill>
                  <a:schemeClr val="tx1"/>
                </a:solidFill>
                <a:latin typeface="Arial" panose="020B0604020202020204" pitchFamily="34" charset="0"/>
                <a:ea typeface="楷体_GB2312" pitchFamily="49" charset="-122"/>
              </a:rPr>
              <a:t>，则片</a:t>
            </a:r>
            <a:r>
              <a:rPr lang="zh-CN" altLang="en-US" sz="2200" dirty="0">
                <a:latin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rPr>
              <a:t> </a:t>
            </a:r>
            <a:r>
              <a:rPr lang="zh-CN" altLang="en-US" sz="2200" dirty="0">
                <a:solidFill>
                  <a:schemeClr val="tx1"/>
                </a:solidFill>
                <a:latin typeface="Arial" panose="020B0604020202020204" pitchFamily="34" charset="0"/>
                <a:ea typeface="楷体_GB2312" pitchFamily="49" charset="-122"/>
              </a:rPr>
              <a:t>的</a:t>
            </a:r>
            <a:r>
              <a:rPr lang="en-US" altLang="zh-CN" sz="2200" dirty="0">
                <a:solidFill>
                  <a:schemeClr val="tx1"/>
                </a:solidFill>
                <a:latin typeface="Arial" panose="020B0604020202020204" pitchFamily="34" charset="0"/>
                <a:ea typeface="楷体_GB2312" pitchFamily="49" charset="-122"/>
              </a:rPr>
              <a:t>ODD=0</a:t>
            </a:r>
            <a:r>
              <a:rPr lang="zh-CN" altLang="en-US" sz="2200" dirty="0">
                <a:solidFill>
                  <a:schemeClr val="tx1"/>
                </a:solidFill>
                <a:latin typeface="Arial" panose="020B0604020202020204" pitchFamily="34" charset="0"/>
                <a:ea typeface="楷体_GB2312" pitchFamily="49" charset="-122"/>
              </a:rPr>
              <a:t>， </a:t>
            </a:r>
            <a:r>
              <a:rPr lang="en-US" altLang="zh-CN" sz="2200" dirty="0">
                <a:solidFill>
                  <a:schemeClr val="tx1"/>
                </a:solidFill>
                <a:latin typeface="Arial" panose="020B0604020202020204" pitchFamily="34" charset="0"/>
                <a:ea typeface="楷体_GB2312" pitchFamily="49" charset="-122"/>
              </a:rPr>
              <a:t>EVEN=1</a:t>
            </a:r>
            <a:r>
              <a:rPr lang="zh-CN" altLang="en-US" sz="2200" dirty="0">
                <a:solidFill>
                  <a:schemeClr val="tx1"/>
                </a:solidFill>
                <a:latin typeface="Arial" panose="020B0604020202020204" pitchFamily="34" charset="0"/>
                <a:ea typeface="楷体_GB2312" pitchFamily="49" charset="-122"/>
              </a:rPr>
              <a:t>，在传输无误时，片</a:t>
            </a:r>
            <a:r>
              <a:rPr lang="zh-CN" altLang="en-US" sz="2200" dirty="0">
                <a:latin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rPr>
              <a:t> </a:t>
            </a:r>
            <a:r>
              <a:rPr lang="zh-CN" altLang="en-US" sz="2200" dirty="0">
                <a:solidFill>
                  <a:schemeClr val="tx1"/>
                </a:solidFill>
                <a:latin typeface="Arial" panose="020B0604020202020204" pitchFamily="34" charset="0"/>
                <a:ea typeface="楷体_GB2312" pitchFamily="49" charset="-122"/>
              </a:rPr>
              <a:t>的</a:t>
            </a:r>
            <a:r>
              <a:rPr lang="en-US" altLang="zh-CN" sz="2200" dirty="0">
                <a:solidFill>
                  <a:srgbClr val="CC0066"/>
                </a:solidFill>
                <a:latin typeface="Arial" panose="020B0604020202020204" pitchFamily="34" charset="0"/>
                <a:ea typeface="楷体_GB2312" pitchFamily="49" charset="-122"/>
              </a:rPr>
              <a:t>F</a:t>
            </a:r>
            <a:r>
              <a:rPr lang="en-US" altLang="zh-CN" sz="2200" baseline="-25000" dirty="0">
                <a:solidFill>
                  <a:srgbClr val="CC0066"/>
                </a:solidFill>
                <a:latin typeface="Arial" panose="020B0604020202020204" pitchFamily="34" charset="0"/>
                <a:ea typeface="楷体_GB2312" pitchFamily="49" charset="-122"/>
              </a:rPr>
              <a:t>OD</a:t>
            </a:r>
            <a:r>
              <a:rPr lang="en-US" altLang="zh-CN" sz="2200" dirty="0">
                <a:solidFill>
                  <a:srgbClr val="CC0066"/>
                </a:solidFill>
                <a:latin typeface="Arial" panose="020B0604020202020204" pitchFamily="34" charset="0"/>
                <a:ea typeface="楷体_GB2312" pitchFamily="49" charset="-122"/>
              </a:rPr>
              <a:t>=1</a:t>
            </a:r>
            <a:r>
              <a:rPr lang="zh-CN" altLang="en-US" sz="2200" dirty="0">
                <a:solidFill>
                  <a:srgbClr val="CC0066"/>
                </a:solidFill>
                <a:latin typeface="Arial" panose="020B0604020202020204" pitchFamily="34" charset="0"/>
                <a:ea typeface="楷体_GB2312" pitchFamily="49" charset="-122"/>
              </a:rPr>
              <a:t> ，</a:t>
            </a:r>
            <a:r>
              <a:rPr lang="en-US" altLang="zh-CN" sz="2200" dirty="0">
                <a:solidFill>
                  <a:srgbClr val="CC0066"/>
                </a:solidFill>
                <a:latin typeface="Arial" panose="020B0604020202020204" pitchFamily="34" charset="0"/>
                <a:ea typeface="楷体_GB2312" pitchFamily="49" charset="-122"/>
              </a:rPr>
              <a:t>F</a:t>
            </a:r>
            <a:r>
              <a:rPr lang="en-US" altLang="zh-CN" sz="2200" baseline="-25000" dirty="0">
                <a:solidFill>
                  <a:srgbClr val="CC0066"/>
                </a:solidFill>
                <a:latin typeface="Arial" panose="020B0604020202020204" pitchFamily="34" charset="0"/>
                <a:ea typeface="楷体_GB2312" pitchFamily="49" charset="-122"/>
              </a:rPr>
              <a:t>EV</a:t>
            </a:r>
            <a:r>
              <a:rPr lang="en-US" altLang="zh-CN" sz="2200" dirty="0">
                <a:solidFill>
                  <a:srgbClr val="CC0066"/>
                </a:solidFill>
                <a:latin typeface="Arial" panose="020B0604020202020204" pitchFamily="34" charset="0"/>
                <a:ea typeface="楷体_GB2312" pitchFamily="49" charset="-122"/>
              </a:rPr>
              <a:t>=0</a:t>
            </a:r>
            <a:r>
              <a:rPr lang="zh-CN" altLang="en-US" sz="2200" dirty="0">
                <a:solidFill>
                  <a:schemeClr val="tx1"/>
                </a:solidFill>
                <a:latin typeface="Arial" panose="020B0604020202020204" pitchFamily="34" charset="0"/>
                <a:ea typeface="楷体_GB2312" pitchFamily="49" charset="-122"/>
              </a:rPr>
              <a:t>，表示数据传输正确。</a:t>
            </a:r>
          </a:p>
          <a:p>
            <a:pPr marL="266700" indent="-266700" eaLnBrk="1" hangingPunct="1">
              <a:lnSpc>
                <a:spcPct val="90000"/>
              </a:lnSpc>
              <a:buClr>
                <a:srgbClr val="006666"/>
              </a:buClr>
              <a:buFont typeface="Wingdings" panose="05000000000000000000" pitchFamily="2" charset="2"/>
              <a:buChar char="w"/>
            </a:pPr>
            <a:r>
              <a:rPr lang="zh-CN" altLang="en-US" sz="2200" dirty="0">
                <a:solidFill>
                  <a:schemeClr val="tx1"/>
                </a:solidFill>
                <a:latin typeface="Arial" panose="020B0604020202020204" pitchFamily="34" charset="0"/>
                <a:ea typeface="楷体_GB2312" pitchFamily="49" charset="-122"/>
              </a:rPr>
              <a:t>若传输过程中有一个数据位发生差错，则</a:t>
            </a:r>
            <a:r>
              <a:rPr lang="en-US" altLang="zh-CN" sz="2200" dirty="0">
                <a:solidFill>
                  <a:schemeClr val="tx1"/>
                </a:solidFill>
                <a:latin typeface="Arial" panose="020B0604020202020204" pitchFamily="34" charset="0"/>
                <a:ea typeface="楷体_GB2312" pitchFamily="49" charset="-122"/>
              </a:rPr>
              <a:t>9</a:t>
            </a:r>
            <a:r>
              <a:rPr lang="zh-CN" altLang="en-US" sz="2200" dirty="0">
                <a:solidFill>
                  <a:schemeClr val="tx1"/>
                </a:solidFill>
                <a:latin typeface="Arial" panose="020B0604020202020204" pitchFamily="34" charset="0"/>
                <a:ea typeface="楷体_GB2312" pitchFamily="49" charset="-122"/>
              </a:rPr>
              <a:t>位数据中</a:t>
            </a:r>
            <a:r>
              <a:rPr lang="en-US" altLang="zh-CN" sz="2200" dirty="0">
                <a:solidFill>
                  <a:schemeClr val="tx1"/>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的个数由奇数变为偶数，片</a:t>
            </a:r>
            <a:r>
              <a:rPr lang="zh-CN" altLang="en-US" sz="2200" dirty="0">
                <a:latin typeface="Times New Roman" panose="02020603050405020304" pitchFamily="18" charset="0"/>
                <a:sym typeface="Wingdings" panose="05000000000000000000" pitchFamily="2" charset="2"/>
              </a:rPr>
              <a:t></a:t>
            </a:r>
            <a:r>
              <a:rPr lang="zh-CN" altLang="en-US" sz="2200" dirty="0">
                <a:latin typeface="Times New Roman" panose="02020603050405020304" pitchFamily="18" charset="0"/>
              </a:rPr>
              <a:t> </a:t>
            </a:r>
            <a:r>
              <a:rPr lang="zh-CN" altLang="en-US" sz="2200" dirty="0">
                <a:solidFill>
                  <a:schemeClr val="tx1"/>
                </a:solidFill>
                <a:latin typeface="Arial" panose="020B0604020202020204" pitchFamily="34" charset="0"/>
                <a:ea typeface="楷体_GB2312" pitchFamily="49" charset="-122"/>
              </a:rPr>
              <a:t>的</a:t>
            </a:r>
            <a:r>
              <a:rPr lang="en-US" altLang="zh-CN" sz="2200" dirty="0">
                <a:solidFill>
                  <a:srgbClr val="CC0066"/>
                </a:solidFill>
                <a:latin typeface="Arial" panose="020B0604020202020204" pitchFamily="34" charset="0"/>
                <a:ea typeface="楷体_GB2312" pitchFamily="49" charset="-122"/>
              </a:rPr>
              <a:t>F</a:t>
            </a:r>
            <a:r>
              <a:rPr lang="en-US" altLang="zh-CN" sz="2200" baseline="-25000" dirty="0">
                <a:solidFill>
                  <a:srgbClr val="CC0066"/>
                </a:solidFill>
                <a:latin typeface="Arial" panose="020B0604020202020204" pitchFamily="34" charset="0"/>
                <a:ea typeface="楷体_GB2312" pitchFamily="49" charset="-122"/>
              </a:rPr>
              <a:t>OD</a:t>
            </a:r>
            <a:r>
              <a:rPr lang="en-US" altLang="zh-CN" sz="2200" dirty="0">
                <a:solidFill>
                  <a:srgbClr val="CC0066"/>
                </a:solidFill>
                <a:latin typeface="Arial" panose="020B0604020202020204" pitchFamily="34" charset="0"/>
                <a:ea typeface="楷体_GB2312" pitchFamily="49" charset="-122"/>
              </a:rPr>
              <a:t>=0</a:t>
            </a:r>
            <a:r>
              <a:rPr lang="zh-CN" altLang="en-US" sz="2200" dirty="0">
                <a:solidFill>
                  <a:srgbClr val="CC0066"/>
                </a:solidFill>
                <a:latin typeface="Arial" panose="020B0604020202020204" pitchFamily="34" charset="0"/>
                <a:ea typeface="楷体_GB2312" pitchFamily="49" charset="-122"/>
              </a:rPr>
              <a:t> ，</a:t>
            </a:r>
            <a:r>
              <a:rPr lang="en-US" altLang="zh-CN" sz="2200" dirty="0">
                <a:solidFill>
                  <a:srgbClr val="CC0066"/>
                </a:solidFill>
                <a:latin typeface="Arial" panose="020B0604020202020204" pitchFamily="34" charset="0"/>
                <a:ea typeface="楷体_GB2312" pitchFamily="49" charset="-122"/>
              </a:rPr>
              <a:t>F</a:t>
            </a:r>
            <a:r>
              <a:rPr lang="en-US" altLang="zh-CN" sz="2200" baseline="-25000" dirty="0">
                <a:solidFill>
                  <a:srgbClr val="CC0066"/>
                </a:solidFill>
                <a:latin typeface="Arial" panose="020B0604020202020204" pitchFamily="34" charset="0"/>
                <a:ea typeface="楷体_GB2312" pitchFamily="49" charset="-122"/>
              </a:rPr>
              <a:t>EV</a:t>
            </a:r>
            <a:r>
              <a:rPr lang="en-US" altLang="zh-CN" sz="2200" dirty="0">
                <a:solidFill>
                  <a:srgbClr val="CC0066"/>
                </a:solidFill>
                <a:latin typeface="Arial" panose="020B0604020202020204" pitchFamily="34" charset="0"/>
                <a:ea typeface="楷体_GB2312" pitchFamily="49" charset="-122"/>
              </a:rPr>
              <a:t>=1</a:t>
            </a:r>
            <a:r>
              <a:rPr lang="zh-CN" altLang="en-US" sz="2200" dirty="0">
                <a:solidFill>
                  <a:schemeClr val="tx1"/>
                </a:solidFill>
                <a:latin typeface="Arial" panose="020B0604020202020204" pitchFamily="34" charset="0"/>
                <a:ea typeface="楷体_GB2312" pitchFamily="49" charset="-122"/>
              </a:rPr>
              <a:t>，表示数据传输有差错。</a:t>
            </a:r>
          </a:p>
        </p:txBody>
      </p:sp>
      <p:graphicFrame>
        <p:nvGraphicFramePr>
          <p:cNvPr id="103429" name="表格 103428"/>
          <p:cNvGraphicFramePr>
            <a:graphicFrameLocks noGrp="1"/>
          </p:cNvGraphicFramePr>
          <p:nvPr/>
        </p:nvGraphicFramePr>
        <p:xfrm>
          <a:off x="7546975" y="2865438"/>
          <a:ext cx="3073400" cy="2216150"/>
        </p:xfrm>
        <a:graphic>
          <a:graphicData uri="http://schemas.openxmlformats.org/drawingml/2006/table">
            <a:tbl>
              <a:tblPr/>
              <a:tblGrid>
                <a:gridCol w="863600">
                  <a:extLst>
                    <a:ext uri="{9D8B030D-6E8A-4147-A177-3AD203B41FA5}">
                      <a16:colId xmlns:a16="http://schemas.microsoft.com/office/drawing/2014/main" val="20000"/>
                    </a:ext>
                  </a:extLst>
                </a:gridCol>
                <a:gridCol w="716280">
                  <a:extLst>
                    <a:ext uri="{9D8B030D-6E8A-4147-A177-3AD203B41FA5}">
                      <a16:colId xmlns:a16="http://schemas.microsoft.com/office/drawing/2014/main" val="20001"/>
                    </a:ext>
                  </a:extLst>
                </a:gridCol>
                <a:gridCol w="57912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1816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A~H</a:t>
                      </a: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中</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的个数</a:t>
                      </a:r>
                    </a:p>
                  </a:txBody>
                  <a:tcPr marT="45704" marB="45704"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EVEN</a:t>
                      </a:r>
                    </a:p>
                  </a:txBody>
                  <a:tcPr marT="45704" marB="45704"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ODD</a:t>
                      </a:r>
                    </a:p>
                  </a:txBody>
                  <a:tcPr marT="45704" marB="45704"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F</a:t>
                      </a:r>
                      <a:r>
                        <a:rPr kumimoji="0" lang="en-US" altLang="zh-CN" sz="1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EV</a:t>
                      </a: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 F</a:t>
                      </a:r>
                      <a:r>
                        <a:rPr kumimoji="0" lang="en-US" altLang="zh-CN" sz="1400" b="1" i="0" u="none" strike="noStrike" cap="none" normalizeH="0" baseline="-25000">
                          <a:ln>
                            <a:noFill/>
                          </a:ln>
                          <a:solidFill>
                            <a:schemeClr val="tx1"/>
                          </a:solidFill>
                          <a:effectLst/>
                          <a:latin typeface="Arial" panose="020B0604020202020204" pitchFamily="34" charset="0"/>
                          <a:ea typeface="宋体" panose="02010600030101010101" pitchFamily="2" charset="-122"/>
                        </a:rPr>
                        <a:t>OD</a:t>
                      </a:r>
                    </a:p>
                  </a:txBody>
                  <a:tcPr marT="45704" marB="45704"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9799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4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4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4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4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楷体_GB2312" pitchFamily="49" charset="-122"/>
                          <a:ea typeface="楷体_GB2312" pitchFamily="49" charset="-122"/>
                        </a:rPr>
                        <a:t>X</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楷体_GB2312" pitchFamily="49" charset="-122"/>
                          <a:ea typeface="楷体_GB2312" pitchFamily="49" charset="-122"/>
                        </a:rPr>
                        <a:t>X</a:t>
                      </a:r>
                    </a:p>
                  </a:txBody>
                  <a:tcPr marT="45704" marB="45704"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04" marB="45704"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T="45704" marB="45704"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0    0</a:t>
                      </a:r>
                    </a:p>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400" b="1" i="0" u="none" strike="noStrike" cap="none" normalizeH="0" baseline="0">
                          <a:ln>
                            <a:noFill/>
                          </a:ln>
                          <a:solidFill>
                            <a:schemeClr val="tx1"/>
                          </a:solidFill>
                          <a:effectLst/>
                          <a:latin typeface="Arial" panose="020B0604020202020204" pitchFamily="34" charset="0"/>
                          <a:ea typeface="宋体" panose="02010600030101010101" pitchFamily="2" charset="-122"/>
                        </a:rPr>
                        <a:t>1    1</a:t>
                      </a:r>
                    </a:p>
                  </a:txBody>
                  <a:tcPr marT="45704" marB="45704"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06361" name="Text Box 185"/>
          <p:cNvSpPr txBox="1"/>
          <p:nvPr/>
        </p:nvSpPr>
        <p:spPr>
          <a:xfrm>
            <a:off x="8093075" y="1371600"/>
            <a:ext cx="1552575" cy="922020"/>
          </a:xfrm>
          <a:prstGeom prst="rect">
            <a:avLst/>
          </a:prstGeom>
          <a:noFill/>
          <a:ln w="9525">
            <a:noFill/>
          </a:ln>
        </p:spPr>
        <p:txBody>
          <a:bodyPr>
            <a:spAutoFit/>
          </a:bodyPr>
          <a:lstStyle/>
          <a:p>
            <a:pPr eaLnBrk="1" hangingPunct="1">
              <a:lnSpc>
                <a:spcPct val="90000"/>
              </a:lnSpc>
              <a:spcBef>
                <a:spcPct val="50000"/>
              </a:spcBef>
            </a:pPr>
            <a:r>
              <a:rPr lang="zh-CN" altLang="en-US" sz="2000" dirty="0">
                <a:solidFill>
                  <a:schemeClr val="tx1"/>
                </a:solidFill>
                <a:latin typeface="Arial" panose="020B0604020202020204" pitchFamily="34" charset="0"/>
                <a:ea typeface="楷体_GB2312" pitchFamily="49" charset="-122"/>
              </a:rPr>
              <a:t>片</a:t>
            </a:r>
            <a:r>
              <a:rPr lang="zh-CN" altLang="en-US" sz="2000" dirty="0">
                <a:latin typeface="Times New Roman" panose="02020603050405020304" pitchFamily="18" charset="0"/>
                <a:sym typeface="Wingdings" panose="05000000000000000000" pitchFamily="2" charset="2"/>
              </a:rPr>
              <a:t></a:t>
            </a:r>
            <a:r>
              <a:rPr lang="zh-CN" altLang="en-US" sz="2000" dirty="0">
                <a:solidFill>
                  <a:schemeClr val="tx1"/>
                </a:solidFill>
                <a:latin typeface="Arial" panose="020B0604020202020204" pitchFamily="34" charset="0"/>
                <a:ea typeface="楷体_GB2312" pitchFamily="49" charset="-122"/>
              </a:rPr>
              <a:t>的</a:t>
            </a:r>
            <a:r>
              <a:rPr lang="en-US" altLang="zh-CN" sz="2000" dirty="0">
                <a:solidFill>
                  <a:schemeClr val="tx1"/>
                </a:solidFill>
                <a:latin typeface="Arial" panose="020B0604020202020204" pitchFamily="34" charset="0"/>
                <a:ea typeface="楷体_GB2312" pitchFamily="49" charset="-122"/>
              </a:rPr>
              <a:t>ODD=1</a:t>
            </a:r>
            <a:r>
              <a:rPr lang="zh-CN" altLang="en-US" sz="2000" dirty="0">
                <a:solidFill>
                  <a:schemeClr val="tx1"/>
                </a:solidFill>
                <a:latin typeface="Arial" panose="020B0604020202020204" pitchFamily="34" charset="0"/>
                <a:ea typeface="楷体_GB2312" pitchFamily="49" charset="-122"/>
              </a:rPr>
              <a:t>， </a:t>
            </a:r>
            <a:r>
              <a:rPr lang="en-US" altLang="zh-CN" sz="2000" dirty="0">
                <a:solidFill>
                  <a:schemeClr val="tx1"/>
                </a:solidFill>
                <a:latin typeface="Arial" panose="020B0604020202020204" pitchFamily="34" charset="0"/>
                <a:ea typeface="楷体_GB2312" pitchFamily="49" charset="-122"/>
              </a:rPr>
              <a:t>EVEN=0</a:t>
            </a:r>
            <a:endParaRPr lang="zh-CN" altLang="en-US" sz="2000" dirty="0">
              <a:solidFill>
                <a:schemeClr val="tx1"/>
              </a:solidFill>
              <a:latin typeface="Arial" panose="020B0604020202020204" pitchFamily="34" charset="0"/>
              <a:ea typeface="楷体_GB2312" pitchFamily="49" charset="-122"/>
            </a:endParaRPr>
          </a:p>
        </p:txBody>
      </p:sp>
      <p:sp>
        <p:nvSpPr>
          <p:cNvPr id="306362" name="Oval 186"/>
          <p:cNvSpPr/>
          <p:nvPr/>
        </p:nvSpPr>
        <p:spPr>
          <a:xfrm>
            <a:off x="7559675" y="3865563"/>
            <a:ext cx="3108325" cy="611187"/>
          </a:xfrm>
          <a:prstGeom prst="ellipse">
            <a:avLst/>
          </a:prstGeom>
          <a:noFill/>
          <a:ln w="9525" cap="flat" cmpd="sng">
            <a:solidFill>
              <a:srgbClr val="FF0000"/>
            </a:solidFill>
            <a:prstDash val="solid"/>
            <a:headEnd type="none" w="med" len="med"/>
            <a:tailEnd type="none" w="med" len="med"/>
          </a:ln>
        </p:spPr>
        <p:txBody>
          <a:bodyPr wrap="none" anchor="ctr" anchorCtr="0"/>
          <a:lstStyle/>
          <a:p>
            <a:pPr algn="dist" eaLnBrk="1" hangingPunct="1">
              <a:lnSpc>
                <a:spcPct val="90000"/>
              </a:lnSpc>
            </a:pPr>
            <a:endParaRPr lang="zh-CN" altLang="en-US" dirty="0">
              <a:latin typeface="Times New Roman" panose="02020603050405020304" pitchFamily="18" charset="0"/>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06316"/>
                                        </p:tgtEl>
                                        <p:attrNameLst>
                                          <p:attrName>style.visibility</p:attrName>
                                        </p:attrNameLst>
                                      </p:cBhvr>
                                      <p:to>
                                        <p:strVal val="visible"/>
                                      </p:to>
                                    </p:set>
                                    <p:anim calcmode="lin" valueType="num">
                                      <p:cBhvr additive="base">
                                        <p:cTn id="7" dur="500" fill="hold"/>
                                        <p:tgtEl>
                                          <p:spTgt spid="306316"/>
                                        </p:tgtEl>
                                        <p:attrNameLst>
                                          <p:attrName>ppt_x</p:attrName>
                                        </p:attrNameLst>
                                      </p:cBhvr>
                                      <p:tavLst>
                                        <p:tav tm="0">
                                          <p:val>
                                            <p:strVal val="0-#ppt_w/2"/>
                                          </p:val>
                                        </p:tav>
                                        <p:tav tm="100000">
                                          <p:val>
                                            <p:strVal val="#ppt_x"/>
                                          </p:val>
                                        </p:tav>
                                      </p:tavLst>
                                    </p:anim>
                                    <p:anim calcmode="lin" valueType="num">
                                      <p:cBhvr additive="base">
                                        <p:cTn id="8" dur="500" fill="hold"/>
                                        <p:tgtEl>
                                          <p:spTgt spid="3063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306361"/>
                                        </p:tgtEl>
                                        <p:attrNameLst>
                                          <p:attrName>style.visibility</p:attrName>
                                        </p:attrNameLst>
                                      </p:cBhvr>
                                      <p:to>
                                        <p:strVal val="visible"/>
                                      </p:to>
                                    </p:set>
                                    <p:animEffect transition="in" filter="blinds(horizontal)">
                                      <p:cBhvr>
                                        <p:cTn id="13" dur="500"/>
                                        <p:tgtEl>
                                          <p:spTgt spid="306361"/>
                                        </p:tgtEl>
                                      </p:cBhvr>
                                    </p:animEffect>
                                  </p:childTnLst>
                                </p:cTn>
                              </p:par>
                            </p:childTnLst>
                          </p:cTn>
                        </p:par>
                        <p:par>
                          <p:cTn id="14" fill="hold">
                            <p:stCondLst>
                              <p:cond delay="500"/>
                            </p:stCondLst>
                            <p:childTnLst>
                              <p:par>
                                <p:cTn id="15" presetID="2" presetClass="entr" presetSubtype="2" fill="hold" nodeType="afterEffect">
                                  <p:stCondLst>
                                    <p:cond delay="0"/>
                                  </p:stCondLst>
                                  <p:childTnLst>
                                    <p:set>
                                      <p:cBhvr>
                                        <p:cTn id="16" dur="1" fill="hold">
                                          <p:stCondLst>
                                            <p:cond delay="0"/>
                                          </p:stCondLst>
                                        </p:cTn>
                                        <p:tgtEl>
                                          <p:spTgt spid="103429"/>
                                        </p:tgtEl>
                                        <p:attrNameLst>
                                          <p:attrName>style.visibility</p:attrName>
                                        </p:attrNameLst>
                                      </p:cBhvr>
                                      <p:to>
                                        <p:strVal val="visible"/>
                                      </p:to>
                                    </p:set>
                                    <p:anim calcmode="lin" valueType="num">
                                      <p:cBhvr additive="base">
                                        <p:cTn id="17" dur="500" fill="hold"/>
                                        <p:tgtEl>
                                          <p:spTgt spid="103429"/>
                                        </p:tgtEl>
                                        <p:attrNameLst>
                                          <p:attrName>ppt_x</p:attrName>
                                        </p:attrNameLst>
                                      </p:cBhvr>
                                      <p:tavLst>
                                        <p:tav tm="0">
                                          <p:val>
                                            <p:strVal val="1+#ppt_w/2"/>
                                          </p:val>
                                        </p:tav>
                                        <p:tav tm="100000">
                                          <p:val>
                                            <p:strVal val="#ppt_x"/>
                                          </p:val>
                                        </p:tav>
                                      </p:tavLst>
                                    </p:anim>
                                    <p:anim calcmode="lin" valueType="num">
                                      <p:cBhvr additive="base">
                                        <p:cTn id="18" dur="500" fill="hold"/>
                                        <p:tgtEl>
                                          <p:spTgt spid="103429"/>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306362"/>
                                        </p:tgtEl>
                                        <p:attrNameLst>
                                          <p:attrName>style.visibility</p:attrName>
                                        </p:attrNameLst>
                                      </p:cBhvr>
                                      <p:to>
                                        <p:strVal val="visible"/>
                                      </p:to>
                                    </p:set>
                                    <p:anim calcmode="lin" valueType="num">
                                      <p:cBhvr>
                                        <p:cTn id="23" dur="500" fill="hold"/>
                                        <p:tgtEl>
                                          <p:spTgt spid="306362"/>
                                        </p:tgtEl>
                                        <p:attrNameLst>
                                          <p:attrName>ppt_w</p:attrName>
                                        </p:attrNameLst>
                                      </p:cBhvr>
                                      <p:tavLst>
                                        <p:tav tm="0">
                                          <p:val>
                                            <p:fltVal val="0"/>
                                          </p:val>
                                        </p:tav>
                                        <p:tav tm="100000">
                                          <p:val>
                                            <p:strVal val="#ppt_w"/>
                                          </p:val>
                                        </p:tav>
                                      </p:tavLst>
                                    </p:anim>
                                    <p:anim calcmode="lin" valueType="num">
                                      <p:cBhvr>
                                        <p:cTn id="24" dur="500" fill="hold"/>
                                        <p:tgtEl>
                                          <p:spTgt spid="30636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316" grpId="0" bldLvl="0" animBg="1"/>
      <p:bldP spid="306361" grpId="0"/>
      <p:bldP spid="306362"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p:cNvSpPr>
          <p:nvPr>
            <p:ph type="title"/>
          </p:nvPr>
        </p:nvSpPr>
        <p:spPr>
          <a:xfrm>
            <a:off x="3109913" y="485775"/>
            <a:ext cx="7354887"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奇偶校验器（</a:t>
            </a:r>
            <a:r>
              <a:rPr lang="en-US" altLang="zh-CN" dirty="0">
                <a:latin typeface="Arial" panose="020B0604020202020204" pitchFamily="34" charset="0"/>
                <a:ea typeface="黑体" panose="02010609060101010101" pitchFamily="49" charset="-122"/>
              </a:rPr>
              <a:t>74180</a:t>
            </a:r>
            <a:r>
              <a:rPr lang="zh-CN" altLang="en-US" dirty="0">
                <a:latin typeface="Arial" panose="020B0604020202020204" pitchFamily="34" charset="0"/>
                <a:ea typeface="黑体" panose="02010609060101010101" pitchFamily="49" charset="-122"/>
              </a:rPr>
              <a:t>）的</a:t>
            </a:r>
            <a:r>
              <a:rPr lang="en-US" altLang="zh-CN" dirty="0">
                <a:latin typeface="Arial" panose="020B0604020202020204" pitchFamily="34" charset="0"/>
                <a:ea typeface="黑体" panose="02010609060101010101" pitchFamily="49" charset="-122"/>
              </a:rPr>
              <a:t>HDL</a:t>
            </a:r>
            <a:r>
              <a:rPr lang="zh-CN" altLang="en-US" dirty="0">
                <a:latin typeface="Arial" panose="020B0604020202020204" pitchFamily="34" charset="0"/>
                <a:ea typeface="黑体" panose="02010609060101010101" pitchFamily="49" charset="-122"/>
              </a:rPr>
              <a:t>设计</a:t>
            </a:r>
          </a:p>
        </p:txBody>
      </p:sp>
      <p:sp>
        <p:nvSpPr>
          <p:cNvPr id="205827" name="Rectangle 3"/>
          <p:cNvSpPr>
            <a:spLocks noGrp="1"/>
          </p:cNvSpPr>
          <p:nvPr>
            <p:ph type="body" sz="half" idx="1"/>
          </p:nvPr>
        </p:nvSpPr>
        <p:spPr>
          <a:xfrm>
            <a:off x="1981200" y="1095375"/>
            <a:ext cx="8083550" cy="1404938"/>
          </a:xfrm>
        </p:spPr>
        <p:txBody>
          <a:bodyPr vert="horz" wrap="square" lIns="91440" tIns="45720" rIns="91440" bIns="45720" anchor="t" anchorCtr="0"/>
          <a:lstStyle/>
          <a:p>
            <a:pPr marL="274955" indent="-274955" eaLnBrk="1" hangingPunct="1">
              <a:lnSpc>
                <a:spcPct val="105000"/>
              </a:lnSpc>
              <a:spcBef>
                <a:spcPct val="0"/>
              </a:spcBef>
              <a:buClr>
                <a:schemeClr val="hlink"/>
              </a:buClr>
              <a:buSzTx/>
              <a:buFont typeface="Wingdings" panose="05000000000000000000" pitchFamily="2" charset="2"/>
            </a:pPr>
            <a:r>
              <a:rPr lang="zh-CN" altLang="en-US" sz="2400" dirty="0">
                <a:ea typeface="宋体" panose="02010600030101010101" pitchFamily="2" charset="-122"/>
              </a:rPr>
              <a:t>信号定义</a:t>
            </a:r>
          </a:p>
          <a:p>
            <a:pPr marL="808355" lvl="1" indent="-354330" eaLnBrk="1" hangingPunct="1">
              <a:lnSpc>
                <a:spcPct val="105000"/>
              </a:lnSpc>
              <a:spcBef>
                <a:spcPct val="0"/>
              </a:spcBef>
              <a:buClr>
                <a:schemeClr val="accent1"/>
              </a:buClr>
              <a:buFont typeface="Wingdings" panose="05000000000000000000" pitchFamily="2" charset="2"/>
            </a:pPr>
            <a:r>
              <a:rPr lang="en-US" altLang="zh-CN" sz="1800" dirty="0">
                <a:ea typeface="宋体" panose="02010600030101010101" pitchFamily="2" charset="-122"/>
              </a:rPr>
              <a:t>D0</a:t>
            </a:r>
            <a:r>
              <a:rPr lang="zh-CN" altLang="en-US" sz="1800" dirty="0">
                <a:ea typeface="宋体" panose="02010600030101010101" pitchFamily="2" charset="-122"/>
              </a:rPr>
              <a:t>～</a:t>
            </a:r>
            <a:r>
              <a:rPr lang="en-US" altLang="zh-CN" sz="1800" dirty="0">
                <a:ea typeface="宋体" panose="02010600030101010101" pitchFamily="2" charset="-122"/>
              </a:rPr>
              <a:t>D7 </a:t>
            </a:r>
            <a:r>
              <a:rPr lang="zh-CN" altLang="en-US" sz="1800" dirty="0">
                <a:ea typeface="宋体" panose="02010600030101010101" pitchFamily="2" charset="-122"/>
              </a:rPr>
              <a:t>（即</a:t>
            </a:r>
            <a:r>
              <a:rPr lang="en-US" altLang="zh-CN" sz="1800" dirty="0">
                <a:ea typeface="宋体" panose="02010600030101010101" pitchFamily="2" charset="-122"/>
              </a:rPr>
              <a:t>A</a:t>
            </a:r>
            <a:r>
              <a:rPr lang="zh-CN" altLang="en-US" sz="1800" dirty="0">
                <a:ea typeface="宋体" panose="02010600030101010101" pitchFamily="2" charset="-122"/>
              </a:rPr>
              <a:t>～</a:t>
            </a:r>
            <a:r>
              <a:rPr lang="en-US" altLang="zh-CN" sz="1800" dirty="0">
                <a:ea typeface="宋体" panose="02010600030101010101" pitchFamily="2" charset="-122"/>
              </a:rPr>
              <a:t>H </a:t>
            </a:r>
            <a:r>
              <a:rPr lang="zh-CN" altLang="en-US" sz="1800" dirty="0">
                <a:ea typeface="宋体" panose="02010600030101010101" pitchFamily="2" charset="-122"/>
              </a:rPr>
              <a:t>）：</a:t>
            </a:r>
            <a:r>
              <a:rPr lang="en-US" altLang="zh-CN" sz="1800" dirty="0">
                <a:ea typeface="宋体" panose="02010600030101010101" pitchFamily="2" charset="-122"/>
              </a:rPr>
              <a:t>8</a:t>
            </a:r>
            <a:r>
              <a:rPr lang="zh-CN" altLang="en-US" sz="1800" dirty="0">
                <a:ea typeface="宋体" panose="02010600030101010101" pitchFamily="2" charset="-122"/>
              </a:rPr>
              <a:t>位数据输入端；</a:t>
            </a:r>
          </a:p>
          <a:p>
            <a:pPr marL="808355" lvl="1" indent="-354330" eaLnBrk="1" hangingPunct="1">
              <a:lnSpc>
                <a:spcPct val="105000"/>
              </a:lnSpc>
              <a:spcBef>
                <a:spcPct val="0"/>
              </a:spcBef>
              <a:buClr>
                <a:schemeClr val="accent1"/>
              </a:buClr>
              <a:buFont typeface="Wingdings" panose="05000000000000000000" pitchFamily="2" charset="2"/>
            </a:pPr>
            <a:r>
              <a:rPr lang="en-US" altLang="zh-CN" sz="1800" dirty="0">
                <a:ea typeface="宋体" panose="02010600030101010101" pitchFamily="2" charset="-122"/>
              </a:rPr>
              <a:t>SE</a:t>
            </a:r>
            <a:r>
              <a:rPr lang="zh-CN" altLang="en-US" sz="1800" dirty="0">
                <a:ea typeface="宋体" panose="02010600030101010101" pitchFamily="2" charset="-122"/>
              </a:rPr>
              <a:t>（即</a:t>
            </a:r>
            <a:r>
              <a:rPr lang="en-US" altLang="zh-CN" sz="1800" dirty="0">
                <a:ea typeface="宋体" panose="02010600030101010101" pitchFamily="2" charset="-122"/>
              </a:rPr>
              <a:t>EVEN</a:t>
            </a:r>
            <a:r>
              <a:rPr lang="zh-CN" altLang="en-US" sz="1800" dirty="0">
                <a:ea typeface="宋体" panose="02010600030101010101" pitchFamily="2" charset="-122"/>
              </a:rPr>
              <a:t>）和</a:t>
            </a:r>
            <a:r>
              <a:rPr lang="en-US" altLang="zh-CN" sz="1800" dirty="0">
                <a:ea typeface="宋体" panose="02010600030101010101" pitchFamily="2" charset="-122"/>
              </a:rPr>
              <a:t>SOD</a:t>
            </a:r>
            <a:r>
              <a:rPr lang="zh-CN" altLang="en-US" sz="1800" dirty="0">
                <a:ea typeface="宋体" panose="02010600030101010101" pitchFamily="2" charset="-122"/>
              </a:rPr>
              <a:t>（即</a:t>
            </a:r>
            <a:r>
              <a:rPr lang="en-US" altLang="zh-CN" sz="1800" dirty="0">
                <a:ea typeface="宋体" panose="02010600030101010101" pitchFamily="2" charset="-122"/>
              </a:rPr>
              <a:t>ODD</a:t>
            </a:r>
            <a:r>
              <a:rPr lang="zh-CN" altLang="en-US" sz="1800" dirty="0">
                <a:ea typeface="宋体" panose="02010600030101010101" pitchFamily="2" charset="-122"/>
              </a:rPr>
              <a:t>）：两个控制信号输入端；</a:t>
            </a:r>
          </a:p>
          <a:p>
            <a:pPr marL="808355" lvl="1" indent="-354330" eaLnBrk="1" hangingPunct="1">
              <a:lnSpc>
                <a:spcPct val="105000"/>
              </a:lnSpc>
              <a:spcBef>
                <a:spcPct val="0"/>
              </a:spcBef>
              <a:buClr>
                <a:schemeClr val="accent1"/>
              </a:buClr>
              <a:buFont typeface="Wingdings" panose="05000000000000000000" pitchFamily="2" charset="2"/>
            </a:pPr>
            <a:r>
              <a:rPr lang="en-US" altLang="zh-CN" sz="1800" dirty="0">
                <a:ea typeface="宋体" panose="02010600030101010101" pitchFamily="2" charset="-122"/>
              </a:rPr>
              <a:t>FE</a:t>
            </a:r>
            <a:r>
              <a:rPr lang="zh-CN" altLang="en-US" sz="1800" dirty="0">
                <a:ea typeface="宋体" panose="02010600030101010101" pitchFamily="2" charset="-122"/>
              </a:rPr>
              <a:t>（即</a:t>
            </a:r>
            <a:r>
              <a:rPr lang="en-US" altLang="zh-CN" sz="1800" dirty="0">
                <a:ea typeface="宋体" panose="02010600030101010101" pitchFamily="2" charset="-122"/>
              </a:rPr>
              <a:t>F</a:t>
            </a:r>
            <a:r>
              <a:rPr lang="en-US" altLang="zh-CN" sz="1800" baseline="-25000" dirty="0">
                <a:ea typeface="宋体" panose="02010600030101010101" pitchFamily="2" charset="-122"/>
              </a:rPr>
              <a:t>EV</a:t>
            </a:r>
            <a:r>
              <a:rPr lang="zh-CN" altLang="en-US" sz="1800" dirty="0">
                <a:ea typeface="宋体" panose="02010600030101010101" pitchFamily="2" charset="-122"/>
              </a:rPr>
              <a:t>）：偶校验输出端，</a:t>
            </a:r>
            <a:r>
              <a:rPr lang="en-US" altLang="zh-CN" sz="1800" dirty="0">
                <a:ea typeface="宋体" panose="02010600030101010101" pitchFamily="2" charset="-122"/>
              </a:rPr>
              <a:t>FOD</a:t>
            </a:r>
            <a:r>
              <a:rPr lang="zh-CN" altLang="en-US" sz="1800" dirty="0">
                <a:ea typeface="宋体" panose="02010600030101010101" pitchFamily="2" charset="-122"/>
              </a:rPr>
              <a:t>（即</a:t>
            </a:r>
            <a:r>
              <a:rPr lang="en-US" altLang="zh-CN" sz="1800" dirty="0">
                <a:ea typeface="宋体" panose="02010600030101010101" pitchFamily="2" charset="-122"/>
              </a:rPr>
              <a:t>F</a:t>
            </a:r>
            <a:r>
              <a:rPr lang="en-US" altLang="zh-CN" sz="1800" baseline="-25000" dirty="0">
                <a:ea typeface="宋体" panose="02010600030101010101" pitchFamily="2" charset="-122"/>
              </a:rPr>
              <a:t>OD</a:t>
            </a:r>
            <a:r>
              <a:rPr lang="zh-CN" altLang="en-US" sz="1800" dirty="0">
                <a:ea typeface="宋体" panose="02010600030101010101" pitchFamily="2" charset="-122"/>
              </a:rPr>
              <a:t>）：奇校验输出端。</a:t>
            </a:r>
          </a:p>
        </p:txBody>
      </p:sp>
      <p:graphicFrame>
        <p:nvGraphicFramePr>
          <p:cNvPr id="104452" name="内容占位符 104451"/>
          <p:cNvGraphicFramePr>
            <a:graphicFrameLocks noGrp="1"/>
          </p:cNvGraphicFramePr>
          <p:nvPr>
            <p:ph sz="half" idx="4294967295"/>
          </p:nvPr>
        </p:nvGraphicFramePr>
        <p:xfrm>
          <a:off x="2514600" y="2746375"/>
          <a:ext cx="4816475" cy="2012950"/>
        </p:xfrm>
        <a:graphic>
          <a:graphicData uri="http://schemas.openxmlformats.org/drawingml/2006/table">
            <a:tbl>
              <a:tblPr/>
              <a:tblGrid>
                <a:gridCol w="2054225">
                  <a:extLst>
                    <a:ext uri="{9D8B030D-6E8A-4147-A177-3AD203B41FA5}">
                      <a16:colId xmlns:a16="http://schemas.microsoft.com/office/drawing/2014/main" val="20000"/>
                    </a:ext>
                  </a:extLst>
                </a:gridCol>
                <a:gridCol w="882650">
                  <a:extLst>
                    <a:ext uri="{9D8B030D-6E8A-4147-A177-3AD203B41FA5}">
                      <a16:colId xmlns:a16="http://schemas.microsoft.com/office/drawing/2014/main" val="20001"/>
                    </a:ext>
                  </a:extLst>
                </a:gridCol>
                <a:gridCol w="770255">
                  <a:extLst>
                    <a:ext uri="{9D8B030D-6E8A-4147-A177-3AD203B41FA5}">
                      <a16:colId xmlns:a16="http://schemas.microsoft.com/office/drawing/2014/main" val="20002"/>
                    </a:ext>
                  </a:extLst>
                </a:gridCol>
                <a:gridCol w="1109345">
                  <a:extLst>
                    <a:ext uri="{9D8B030D-6E8A-4147-A177-3AD203B41FA5}">
                      <a16:colId xmlns:a16="http://schemas.microsoft.com/office/drawing/2014/main" val="20003"/>
                    </a:ext>
                  </a:extLst>
                </a:gridCol>
              </a:tblGrid>
              <a:tr h="37465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D0</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D7</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中</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的个数</a:t>
                      </a:r>
                    </a:p>
                  </a:txBody>
                  <a:tcPr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SE</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SOD</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FE  FOD</a:t>
                      </a:r>
                    </a:p>
                  </a:txBody>
                  <a:tcPr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6383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楷体_GB2312" pitchFamily="49" charset="-122"/>
                          <a:ea typeface="楷体_GB2312" pitchFamily="49" charset="-122"/>
                        </a:rPr>
                        <a:t>X</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楷体_GB2312" pitchFamily="49" charset="-122"/>
                          <a:ea typeface="楷体_GB2312" pitchFamily="49" charset="-122"/>
                        </a:rPr>
                        <a:t>X</a:t>
                      </a:r>
                    </a:p>
                  </a:txBody>
                  <a:tcPr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0    0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1    1</a:t>
                      </a:r>
                    </a:p>
                  </a:txBody>
                  <a:tcPr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05845"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33</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205846" name="Rectangle 4"/>
          <p:cNvSpPr/>
          <p:nvPr/>
        </p:nvSpPr>
        <p:spPr>
          <a:xfrm>
            <a:off x="5833428" y="3861753"/>
            <a:ext cx="306070" cy="340995"/>
          </a:xfrm>
          <a:prstGeom prst="rect">
            <a:avLst/>
          </a:prstGeom>
          <a:noFill/>
          <a:ln w="9525">
            <a:noFill/>
          </a:ln>
        </p:spPr>
        <p:txBody>
          <a:bodyPr wrap="none" lIns="90000" tIns="46800" rIns="90000" bIns="46800" anchor="ctr" anchorCtr="0">
            <a:spAutoFit/>
          </a:bodyPr>
          <a:lstStyle/>
          <a:p>
            <a:pPr algn="dist" eaLnBrk="1" hangingPunct="1">
              <a:lnSpc>
                <a:spcPct val="90000"/>
              </a:lnSpc>
            </a:pPr>
            <a:endParaRPr lang="zh-CN" altLang="en-US" dirty="0">
              <a:latin typeface="Times New Roman" panose="02020603050405020304" pitchFamily="18" charset="0"/>
            </a:endParaRPr>
          </a:p>
        </p:txBody>
      </p:sp>
      <p:grpSp>
        <p:nvGrpSpPr>
          <p:cNvPr id="2" name="Group 17"/>
          <p:cNvGrpSpPr/>
          <p:nvPr/>
        </p:nvGrpSpPr>
        <p:grpSpPr>
          <a:xfrm>
            <a:off x="8181975" y="2501900"/>
            <a:ext cx="2486025" cy="3852863"/>
            <a:chOff x="3673" y="1661"/>
            <a:chExt cx="1611" cy="2200"/>
          </a:xfrm>
        </p:grpSpPr>
        <p:sp>
          <p:nvSpPr>
            <p:cNvPr id="205850" name="Text Box 14"/>
            <p:cNvSpPr txBox="1"/>
            <p:nvPr/>
          </p:nvSpPr>
          <p:spPr>
            <a:xfrm>
              <a:off x="3673" y="1661"/>
              <a:ext cx="1611" cy="181"/>
            </a:xfrm>
            <a:prstGeom prst="rect">
              <a:avLst/>
            </a:prstGeom>
            <a:noFill/>
            <a:ln w="9525">
              <a:noFill/>
            </a:ln>
          </p:spPr>
          <p:txBody>
            <a:bodyPr/>
            <a:lstStyle/>
            <a:p>
              <a:pPr eaLnBrk="1" hangingPunct="1">
                <a:lnSpc>
                  <a:spcPct val="104000"/>
                </a:lnSpc>
              </a:pPr>
              <a:r>
                <a:rPr lang="en-US" altLang="zh-CN" sz="1800" dirty="0">
                  <a:solidFill>
                    <a:schemeClr val="tx1"/>
                  </a:solidFill>
                  <a:latin typeface="Arial" panose="020B0604020202020204" pitchFamily="34" charset="0"/>
                  <a:ea typeface="楷体_GB2312" pitchFamily="49" charset="-122"/>
                </a:rPr>
                <a:t>CT74180</a:t>
              </a:r>
              <a:r>
                <a:rPr lang="zh-CN" altLang="en-US" sz="1800" dirty="0">
                  <a:solidFill>
                    <a:schemeClr val="tx1"/>
                  </a:solidFill>
                  <a:latin typeface="楷体_GB2312" pitchFamily="49" charset="-122"/>
                  <a:ea typeface="楷体_GB2312" pitchFamily="49" charset="-122"/>
                </a:rPr>
                <a:t>的元件符号</a:t>
              </a:r>
            </a:p>
          </p:txBody>
        </p:sp>
        <p:pic>
          <p:nvPicPr>
            <p:cNvPr id="205851" name="Picture 16"/>
            <p:cNvPicPr>
              <a:picLocks noChangeAspect="1"/>
            </p:cNvPicPr>
            <p:nvPr/>
          </p:nvPicPr>
          <p:blipFill>
            <a:blip r:embed="rId4"/>
            <a:stretch>
              <a:fillRect/>
            </a:stretch>
          </p:blipFill>
          <p:spPr>
            <a:xfrm>
              <a:off x="3895" y="1956"/>
              <a:ext cx="981" cy="1905"/>
            </a:xfrm>
            <a:prstGeom prst="rect">
              <a:avLst/>
            </a:prstGeom>
            <a:noFill/>
            <a:ln w="9525">
              <a:noFill/>
            </a:ln>
          </p:spPr>
        </p:pic>
      </p:grpSp>
      <p:sp>
        <p:nvSpPr>
          <p:cNvPr id="200744" name="Text Box 40"/>
          <p:cNvSpPr txBox="1"/>
          <p:nvPr/>
        </p:nvSpPr>
        <p:spPr>
          <a:xfrm>
            <a:off x="3771900" y="2301875"/>
            <a:ext cx="2286000" cy="368300"/>
          </a:xfrm>
          <a:prstGeom prst="rect">
            <a:avLst/>
          </a:prstGeom>
          <a:noFill/>
          <a:ln w="9525">
            <a:noFill/>
          </a:ln>
        </p:spPr>
        <p:txBody>
          <a:bodyPr>
            <a:spAutoFit/>
          </a:bodyPr>
          <a:lstStyle/>
          <a:p>
            <a:pPr algn="ctr">
              <a:lnSpc>
                <a:spcPct val="90000"/>
              </a:lnSpc>
              <a:spcBef>
                <a:spcPct val="50000"/>
              </a:spcBef>
            </a:pPr>
            <a:r>
              <a:rPr lang="zh-CN" altLang="en-US" sz="2000" dirty="0">
                <a:latin typeface="Arial" panose="020B0604020202020204" pitchFamily="34" charset="0"/>
                <a:ea typeface="楷体_GB2312" pitchFamily="49" charset="-122"/>
              </a:rPr>
              <a:t>真值表</a:t>
            </a:r>
          </a:p>
        </p:txBody>
      </p:sp>
      <p:sp>
        <p:nvSpPr>
          <p:cNvPr id="200745" name="Rectangle 41"/>
          <p:cNvSpPr/>
          <p:nvPr/>
        </p:nvSpPr>
        <p:spPr>
          <a:xfrm>
            <a:off x="2451100" y="4937125"/>
            <a:ext cx="5557838" cy="1753235"/>
          </a:xfrm>
          <a:prstGeom prst="rect">
            <a:avLst/>
          </a:prstGeom>
          <a:solidFill>
            <a:srgbClr val="CCFFFF"/>
          </a:solidFill>
          <a:ln w="9525">
            <a:noFill/>
          </a:ln>
          <a:effectLst>
            <a:prstShdw prst="shdw13" dist="53882" dir="13499999">
              <a:schemeClr val="bg2">
                <a:alpha val="50000"/>
              </a:schemeClr>
            </a:prstShdw>
          </a:effectLst>
        </p:spPr>
        <p:txBody>
          <a:bodyPr>
            <a:spAutoFit/>
          </a:bodyPr>
          <a:lstStyle/>
          <a:p>
            <a:pPr eaLnBrk="1" hangingPunct="1">
              <a:lnSpc>
                <a:spcPct val="90000"/>
              </a:lnSpc>
            </a:pPr>
            <a:r>
              <a:rPr lang="zh-CN" altLang="en-US" sz="2000" dirty="0">
                <a:solidFill>
                  <a:srgbClr val="CC3300"/>
                </a:solidFill>
                <a:latin typeface="Arial" panose="020B0604020202020204" pitchFamily="34" charset="0"/>
                <a:ea typeface="楷体_GB2312" pitchFamily="49" charset="-122"/>
              </a:rPr>
              <a:t>分析</a:t>
            </a:r>
            <a:r>
              <a:rPr lang="zh-CN" altLang="en-US" sz="2000" dirty="0">
                <a:solidFill>
                  <a:schemeClr val="tx1"/>
                </a:solidFill>
                <a:latin typeface="Arial" panose="020B0604020202020204" pitchFamily="34" charset="0"/>
                <a:ea typeface="楷体_GB2312" pitchFamily="49" charset="-122"/>
              </a:rPr>
              <a:t>： 输入</a:t>
            </a:r>
            <a:r>
              <a:rPr lang="en-US" altLang="zh-CN" sz="2000" dirty="0">
                <a:solidFill>
                  <a:schemeClr val="tx1"/>
                </a:solidFill>
                <a:latin typeface="Arial" panose="020B0604020202020204" pitchFamily="34" charset="0"/>
                <a:ea typeface="楷体_GB2312" pitchFamily="49" charset="-122"/>
              </a:rPr>
              <a:t>SE</a:t>
            </a:r>
            <a:r>
              <a:rPr lang="zh-CN" altLang="en-US" sz="2000" dirty="0">
                <a:solidFill>
                  <a:schemeClr val="tx1"/>
                </a:solidFill>
                <a:latin typeface="Arial" panose="020B0604020202020204" pitchFamily="34" charset="0"/>
                <a:ea typeface="楷体_GB2312" pitchFamily="49" charset="-122"/>
              </a:rPr>
              <a:t>和</a:t>
            </a:r>
            <a:r>
              <a:rPr lang="en-US" altLang="zh-CN" sz="2000" dirty="0">
                <a:solidFill>
                  <a:schemeClr val="tx1"/>
                </a:solidFill>
                <a:latin typeface="Arial" panose="020B0604020202020204" pitchFamily="34" charset="0"/>
                <a:ea typeface="楷体_GB2312" pitchFamily="49" charset="-122"/>
              </a:rPr>
              <a:t>SOD</a:t>
            </a:r>
            <a:r>
              <a:rPr lang="zh-CN" altLang="en-US" sz="2000" dirty="0">
                <a:solidFill>
                  <a:schemeClr val="tx1"/>
                </a:solidFill>
                <a:latin typeface="Arial" panose="020B0604020202020204" pitchFamily="34" charset="0"/>
                <a:ea typeface="楷体_GB2312" pitchFamily="49" charset="-122"/>
              </a:rPr>
              <a:t>有</a:t>
            </a:r>
            <a:r>
              <a:rPr lang="en-US" altLang="zh-CN" sz="2000" dirty="0">
                <a:solidFill>
                  <a:schemeClr val="tx1"/>
                </a:solidFill>
                <a:latin typeface="Arial" panose="020B0604020202020204" pitchFamily="34" charset="0"/>
                <a:ea typeface="楷体_GB2312" pitchFamily="49" charset="-122"/>
              </a:rPr>
              <a:t>4</a:t>
            </a:r>
            <a:r>
              <a:rPr lang="zh-CN" altLang="en-US" sz="2000" dirty="0">
                <a:solidFill>
                  <a:schemeClr val="tx1"/>
                </a:solidFill>
                <a:latin typeface="Arial" panose="020B0604020202020204" pitchFamily="34" charset="0"/>
                <a:ea typeface="楷体_GB2312" pitchFamily="49" charset="-122"/>
              </a:rPr>
              <a:t>种取值组合，在不同的取值组合下，输出</a:t>
            </a:r>
            <a:r>
              <a:rPr lang="en-US" altLang="zh-CN" sz="2000" dirty="0">
                <a:solidFill>
                  <a:schemeClr val="tx1"/>
                </a:solidFill>
                <a:latin typeface="Arial" panose="020B0604020202020204" pitchFamily="34" charset="0"/>
                <a:ea typeface="楷体_GB2312" pitchFamily="49" charset="-122"/>
              </a:rPr>
              <a:t>FE</a:t>
            </a:r>
            <a:r>
              <a:rPr lang="zh-CN" altLang="en-US" sz="2000" dirty="0">
                <a:solidFill>
                  <a:schemeClr val="tx1"/>
                </a:solidFill>
                <a:latin typeface="Arial" panose="020B0604020202020204" pitchFamily="34" charset="0"/>
                <a:ea typeface="楷体_GB2312" pitchFamily="49" charset="-122"/>
              </a:rPr>
              <a:t>和</a:t>
            </a:r>
            <a:r>
              <a:rPr lang="en-US" altLang="zh-CN" sz="2000" dirty="0">
                <a:solidFill>
                  <a:schemeClr val="tx1"/>
                </a:solidFill>
                <a:latin typeface="Arial" panose="020B0604020202020204" pitchFamily="34" charset="0"/>
                <a:ea typeface="楷体_GB2312" pitchFamily="49" charset="-122"/>
              </a:rPr>
              <a:t>FOD</a:t>
            </a:r>
            <a:r>
              <a:rPr lang="zh-CN" altLang="en-US" sz="2000" dirty="0">
                <a:solidFill>
                  <a:schemeClr val="tx1"/>
                </a:solidFill>
                <a:latin typeface="Arial" panose="020B0604020202020204" pitchFamily="34" charset="0"/>
                <a:ea typeface="楷体_GB2312" pitchFamily="49" charset="-122"/>
              </a:rPr>
              <a:t>取不同的值</a:t>
            </a:r>
            <a:r>
              <a:rPr lang="en-US" altLang="zh-CN" sz="2000" dirty="0">
                <a:solidFill>
                  <a:schemeClr val="tx1"/>
                </a:solidFill>
                <a:latin typeface="Arial" panose="020B0604020202020204" pitchFamily="34" charset="0"/>
                <a:ea typeface="楷体_GB2312" pitchFamily="49" charset="-122"/>
              </a:rPr>
              <a:t>——</a:t>
            </a:r>
            <a:r>
              <a:rPr lang="zh-CN" altLang="en-US" sz="2000" dirty="0">
                <a:solidFill>
                  <a:schemeClr val="tx1"/>
                </a:solidFill>
                <a:latin typeface="Arial" panose="020B0604020202020204" pitchFamily="34" charset="0"/>
                <a:ea typeface="楷体_GB2312" pitchFamily="49" charset="-122"/>
              </a:rPr>
              <a:t>适合用</a:t>
            </a:r>
            <a:r>
              <a:rPr lang="en-US" altLang="zh-CN" sz="2000" dirty="0">
                <a:solidFill>
                  <a:srgbClr val="CC0066"/>
                </a:solidFill>
                <a:latin typeface="Arial" panose="020B0604020202020204" pitchFamily="34" charset="0"/>
                <a:ea typeface="楷体_GB2312" pitchFamily="49" charset="-122"/>
              </a:rPr>
              <a:t>case</a:t>
            </a:r>
            <a:r>
              <a:rPr lang="zh-CN" altLang="en-US" sz="2000" dirty="0">
                <a:solidFill>
                  <a:srgbClr val="CC0066"/>
                </a:solidFill>
                <a:latin typeface="Arial" panose="020B0604020202020204" pitchFamily="34" charset="0"/>
                <a:ea typeface="楷体_GB2312" pitchFamily="49" charset="-122"/>
              </a:rPr>
              <a:t>语句</a:t>
            </a:r>
            <a:r>
              <a:rPr lang="zh-CN" altLang="en-US" sz="2000" dirty="0">
                <a:solidFill>
                  <a:schemeClr val="tx1"/>
                </a:solidFill>
                <a:latin typeface="Arial" panose="020B0604020202020204" pitchFamily="34" charset="0"/>
                <a:ea typeface="楷体_GB2312" pitchFamily="49" charset="-122"/>
              </a:rPr>
              <a:t>描述；</a:t>
            </a:r>
          </a:p>
          <a:p>
            <a:pPr eaLnBrk="1" hangingPunct="1">
              <a:lnSpc>
                <a:spcPct val="90000"/>
              </a:lnSpc>
            </a:pPr>
            <a:r>
              <a:rPr lang="zh-CN" altLang="en-US" sz="2000" dirty="0">
                <a:solidFill>
                  <a:schemeClr val="tx1"/>
                </a:solidFill>
                <a:latin typeface="Arial" panose="020B0604020202020204" pitchFamily="34" charset="0"/>
                <a:ea typeface="楷体_GB2312" pitchFamily="49" charset="-122"/>
              </a:rPr>
              <a:t>当</a:t>
            </a:r>
            <a:r>
              <a:rPr lang="en-US" altLang="zh-CN" sz="2000" dirty="0">
                <a:solidFill>
                  <a:schemeClr val="tx1"/>
                </a:solidFill>
                <a:latin typeface="Arial" panose="020B0604020202020204" pitchFamily="34" charset="0"/>
                <a:ea typeface="楷体_GB2312" pitchFamily="49" charset="-122"/>
              </a:rPr>
              <a:t>SE</a:t>
            </a:r>
            <a:r>
              <a:rPr lang="zh-CN" altLang="en-US" sz="2000" dirty="0">
                <a:solidFill>
                  <a:schemeClr val="tx1"/>
                </a:solidFill>
                <a:latin typeface="Arial" panose="020B0604020202020204" pitchFamily="34" charset="0"/>
                <a:ea typeface="楷体_GB2312" pitchFamily="49" charset="-122"/>
              </a:rPr>
              <a:t>、</a:t>
            </a:r>
            <a:r>
              <a:rPr lang="en-US" altLang="zh-CN" sz="2000" dirty="0">
                <a:solidFill>
                  <a:schemeClr val="tx1"/>
                </a:solidFill>
                <a:latin typeface="Arial" panose="020B0604020202020204" pitchFamily="34" charset="0"/>
                <a:ea typeface="楷体_GB2312" pitchFamily="49" charset="-122"/>
              </a:rPr>
              <a:t>SOD</a:t>
            </a:r>
            <a:r>
              <a:rPr lang="zh-CN" altLang="en-US" sz="2000" dirty="0">
                <a:solidFill>
                  <a:schemeClr val="tx1"/>
                </a:solidFill>
                <a:latin typeface="Arial" panose="020B0604020202020204" pitchFamily="34" charset="0"/>
                <a:ea typeface="楷体_GB2312" pitchFamily="49" charset="-122"/>
              </a:rPr>
              <a:t>为</a:t>
            </a:r>
            <a:r>
              <a:rPr lang="en-US" altLang="zh-CN" sz="2000" dirty="0">
                <a:solidFill>
                  <a:schemeClr val="tx1"/>
                </a:solidFill>
                <a:latin typeface="Arial" panose="020B0604020202020204" pitchFamily="34" charset="0"/>
                <a:ea typeface="楷体_GB2312" pitchFamily="49" charset="-122"/>
              </a:rPr>
              <a:t>10</a:t>
            </a:r>
            <a:r>
              <a:rPr lang="zh-CN" altLang="en-US" sz="2000" dirty="0">
                <a:solidFill>
                  <a:schemeClr val="tx1"/>
                </a:solidFill>
                <a:latin typeface="Arial" panose="020B0604020202020204" pitchFamily="34" charset="0"/>
                <a:ea typeface="楷体_GB2312" pitchFamily="49" charset="-122"/>
              </a:rPr>
              <a:t>和</a:t>
            </a:r>
            <a:r>
              <a:rPr lang="en-US" altLang="zh-CN" sz="2000" dirty="0">
                <a:solidFill>
                  <a:schemeClr val="tx1"/>
                </a:solidFill>
                <a:latin typeface="Arial" panose="020B0604020202020204" pitchFamily="34" charset="0"/>
                <a:ea typeface="楷体_GB2312" pitchFamily="49" charset="-122"/>
              </a:rPr>
              <a:t>01</a:t>
            </a:r>
            <a:r>
              <a:rPr lang="zh-CN" altLang="en-US" sz="2000" dirty="0">
                <a:solidFill>
                  <a:schemeClr val="tx1"/>
                </a:solidFill>
                <a:latin typeface="Arial" panose="020B0604020202020204" pitchFamily="34" charset="0"/>
                <a:ea typeface="楷体_GB2312" pitchFamily="49" charset="-122"/>
              </a:rPr>
              <a:t>时，根据</a:t>
            </a:r>
            <a:r>
              <a:rPr lang="en-US" altLang="zh-CN" sz="2000" dirty="0">
                <a:solidFill>
                  <a:schemeClr val="tx1"/>
                </a:solidFill>
                <a:latin typeface="Arial" panose="020B0604020202020204" pitchFamily="34" charset="0"/>
                <a:ea typeface="楷体_GB2312" pitchFamily="49" charset="-122"/>
              </a:rPr>
              <a:t>D0~D7</a:t>
            </a:r>
            <a:r>
              <a:rPr lang="zh-CN" altLang="en-US" sz="2000" dirty="0">
                <a:solidFill>
                  <a:schemeClr val="tx1"/>
                </a:solidFill>
                <a:latin typeface="Arial" panose="020B0604020202020204" pitchFamily="34" charset="0"/>
                <a:ea typeface="楷体_GB2312" pitchFamily="49" charset="-122"/>
              </a:rPr>
              <a:t>中</a:t>
            </a:r>
            <a:r>
              <a:rPr lang="en-US" altLang="zh-CN" sz="2000" dirty="0">
                <a:solidFill>
                  <a:schemeClr val="tx1"/>
                </a:solidFill>
                <a:latin typeface="Arial" panose="020B0604020202020204" pitchFamily="34" charset="0"/>
                <a:ea typeface="楷体_GB2312" pitchFamily="49" charset="-122"/>
              </a:rPr>
              <a:t>1</a:t>
            </a:r>
            <a:r>
              <a:rPr lang="zh-CN" altLang="en-US" sz="2000" dirty="0">
                <a:solidFill>
                  <a:schemeClr val="tx1"/>
                </a:solidFill>
                <a:latin typeface="Arial" panose="020B0604020202020204" pitchFamily="34" charset="0"/>
                <a:ea typeface="楷体_GB2312" pitchFamily="49" charset="-122"/>
              </a:rPr>
              <a:t>的个数为偶数或奇数， </a:t>
            </a:r>
            <a:r>
              <a:rPr lang="en-US" altLang="zh-CN" sz="2000" dirty="0">
                <a:solidFill>
                  <a:schemeClr val="tx1"/>
                </a:solidFill>
                <a:latin typeface="Arial" panose="020B0604020202020204" pitchFamily="34" charset="0"/>
                <a:ea typeface="楷体_GB2312" pitchFamily="49" charset="-122"/>
              </a:rPr>
              <a:t>FE</a:t>
            </a:r>
            <a:r>
              <a:rPr lang="zh-CN" altLang="en-US" sz="2000" dirty="0">
                <a:solidFill>
                  <a:schemeClr val="tx1"/>
                </a:solidFill>
                <a:latin typeface="Arial" panose="020B0604020202020204" pitchFamily="34" charset="0"/>
                <a:ea typeface="楷体_GB2312" pitchFamily="49" charset="-122"/>
              </a:rPr>
              <a:t>和</a:t>
            </a:r>
            <a:r>
              <a:rPr lang="en-US" altLang="zh-CN" sz="2000" dirty="0">
                <a:solidFill>
                  <a:schemeClr val="tx1"/>
                </a:solidFill>
                <a:latin typeface="Arial" panose="020B0604020202020204" pitchFamily="34" charset="0"/>
                <a:ea typeface="楷体_GB2312" pitchFamily="49" charset="-122"/>
              </a:rPr>
              <a:t>FOD</a:t>
            </a:r>
            <a:r>
              <a:rPr lang="zh-CN" altLang="en-US" sz="2000" dirty="0">
                <a:solidFill>
                  <a:schemeClr val="tx1"/>
                </a:solidFill>
                <a:latin typeface="Arial" panose="020B0604020202020204" pitchFamily="34" charset="0"/>
                <a:ea typeface="楷体_GB2312" pitchFamily="49" charset="-122"/>
              </a:rPr>
              <a:t>又取不同的值</a:t>
            </a:r>
            <a:r>
              <a:rPr lang="en-US" altLang="zh-CN" sz="2000" dirty="0">
                <a:solidFill>
                  <a:schemeClr val="tx1"/>
                </a:solidFill>
                <a:latin typeface="Arial" panose="020B0604020202020204" pitchFamily="34" charset="0"/>
                <a:ea typeface="楷体_GB2312" pitchFamily="49" charset="-122"/>
              </a:rPr>
              <a:t>——</a:t>
            </a:r>
            <a:r>
              <a:rPr lang="zh-CN" altLang="en-US" sz="2000" dirty="0">
                <a:solidFill>
                  <a:schemeClr val="tx1"/>
                </a:solidFill>
                <a:latin typeface="Arial" panose="020B0604020202020204" pitchFamily="34" charset="0"/>
                <a:ea typeface="楷体_GB2312" pitchFamily="49" charset="-122"/>
              </a:rPr>
              <a:t>适合用</a:t>
            </a:r>
            <a:r>
              <a:rPr lang="en-US" altLang="zh-CN" sz="2000" dirty="0">
                <a:solidFill>
                  <a:srgbClr val="CC0066"/>
                </a:solidFill>
                <a:latin typeface="Arial" panose="020B0604020202020204" pitchFamily="34" charset="0"/>
                <a:ea typeface="楷体_GB2312" pitchFamily="49" charset="-122"/>
              </a:rPr>
              <a:t>if</a:t>
            </a:r>
            <a:r>
              <a:rPr lang="zh-CN" altLang="en-US" sz="2000" dirty="0">
                <a:solidFill>
                  <a:srgbClr val="CC0066"/>
                </a:solidFill>
                <a:latin typeface="Arial" panose="020B0604020202020204" pitchFamily="34" charset="0"/>
                <a:ea typeface="楷体_GB2312" pitchFamily="49" charset="-122"/>
              </a:rPr>
              <a:t>语句</a:t>
            </a:r>
            <a:r>
              <a:rPr lang="zh-CN" altLang="en-US" sz="2000" dirty="0">
                <a:solidFill>
                  <a:schemeClr val="tx1"/>
                </a:solidFill>
                <a:latin typeface="Arial" panose="020B0604020202020204" pitchFamily="34" charset="0"/>
                <a:ea typeface="楷体_GB2312" pitchFamily="49" charset="-122"/>
              </a:rPr>
              <a:t>描述。</a:t>
            </a:r>
            <a:endParaRPr lang="en-US" altLang="zh-CN" sz="2000" dirty="0">
              <a:solidFill>
                <a:schemeClr val="tx1"/>
              </a:solidFill>
              <a:latin typeface="Arial" panose="020B0604020202020204" pitchFamily="34" charset="0"/>
              <a:ea typeface="楷体_GB2312" pitchFamily="49" charset="-122"/>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0744"/>
                                        </p:tgtEl>
                                        <p:attrNameLst>
                                          <p:attrName>style.visibility</p:attrName>
                                        </p:attrNameLst>
                                      </p:cBhvr>
                                      <p:to>
                                        <p:strVal val="visible"/>
                                      </p:to>
                                    </p:set>
                                    <p:anim calcmode="lin" valueType="num">
                                      <p:cBhvr additive="base">
                                        <p:cTn id="7" dur="500" fill="hold"/>
                                        <p:tgtEl>
                                          <p:spTgt spid="200744"/>
                                        </p:tgtEl>
                                        <p:attrNameLst>
                                          <p:attrName>ppt_x</p:attrName>
                                        </p:attrNameLst>
                                      </p:cBhvr>
                                      <p:tavLst>
                                        <p:tav tm="0">
                                          <p:val>
                                            <p:strVal val="0-#ppt_w/2"/>
                                          </p:val>
                                        </p:tav>
                                        <p:tav tm="100000">
                                          <p:val>
                                            <p:strVal val="#ppt_x"/>
                                          </p:val>
                                        </p:tav>
                                      </p:tavLst>
                                    </p:anim>
                                    <p:anim calcmode="lin" valueType="num">
                                      <p:cBhvr additive="base">
                                        <p:cTn id="8" dur="500" fill="hold"/>
                                        <p:tgtEl>
                                          <p:spTgt spid="20074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4452"/>
                                        </p:tgtEl>
                                        <p:attrNameLst>
                                          <p:attrName>style.visibility</p:attrName>
                                        </p:attrNameLst>
                                      </p:cBhvr>
                                      <p:to>
                                        <p:strVal val="visible"/>
                                      </p:to>
                                    </p:set>
                                    <p:anim calcmode="lin" valueType="num">
                                      <p:cBhvr additive="base">
                                        <p:cTn id="12" dur="500" fill="hold"/>
                                        <p:tgtEl>
                                          <p:spTgt spid="104452"/>
                                        </p:tgtEl>
                                        <p:attrNameLst>
                                          <p:attrName>ppt_x</p:attrName>
                                        </p:attrNameLst>
                                      </p:cBhvr>
                                      <p:tavLst>
                                        <p:tav tm="0">
                                          <p:val>
                                            <p:strVal val="#ppt_x"/>
                                          </p:val>
                                        </p:tav>
                                        <p:tav tm="100000">
                                          <p:val>
                                            <p:strVal val="#ppt_x"/>
                                          </p:val>
                                        </p:tav>
                                      </p:tavLst>
                                    </p:anim>
                                    <p:anim calcmode="lin" valueType="num">
                                      <p:cBhvr additive="base">
                                        <p:cTn id="13" dur="500" fill="hold"/>
                                        <p:tgtEl>
                                          <p:spTgt spid="10445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1+#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200745"/>
                                        </p:tgtEl>
                                        <p:attrNameLst>
                                          <p:attrName>style.visibility</p:attrName>
                                        </p:attrNameLst>
                                      </p:cBhvr>
                                      <p:to>
                                        <p:strVal val="visible"/>
                                      </p:to>
                                    </p:set>
                                    <p:anim calcmode="lin" valueType="num">
                                      <p:cBhvr>
                                        <p:cTn id="24" dur="1000" fill="hold"/>
                                        <p:tgtEl>
                                          <p:spTgt spid="200745"/>
                                        </p:tgtEl>
                                        <p:attrNameLst>
                                          <p:attrName>ppt_w</p:attrName>
                                        </p:attrNameLst>
                                      </p:cBhvr>
                                      <p:tavLst>
                                        <p:tav tm="0">
                                          <p:val>
                                            <p:strVal val="#ppt_w*0.70"/>
                                          </p:val>
                                        </p:tav>
                                        <p:tav tm="100000">
                                          <p:val>
                                            <p:strVal val="#ppt_w"/>
                                          </p:val>
                                        </p:tav>
                                      </p:tavLst>
                                    </p:anim>
                                    <p:anim calcmode="lin" valueType="num">
                                      <p:cBhvr>
                                        <p:cTn id="25" dur="1000" fill="hold"/>
                                        <p:tgtEl>
                                          <p:spTgt spid="200745"/>
                                        </p:tgtEl>
                                        <p:attrNameLst>
                                          <p:attrName>ppt_h</p:attrName>
                                        </p:attrNameLst>
                                      </p:cBhvr>
                                      <p:tavLst>
                                        <p:tav tm="0">
                                          <p:val>
                                            <p:strVal val="#ppt_h"/>
                                          </p:val>
                                        </p:tav>
                                        <p:tav tm="100000">
                                          <p:val>
                                            <p:strVal val="#ppt_h"/>
                                          </p:val>
                                        </p:tav>
                                      </p:tavLst>
                                    </p:anim>
                                    <p:animEffect transition="in" filter="fade">
                                      <p:cBhvr>
                                        <p:cTn id="26" dur="1000"/>
                                        <p:tgtEl>
                                          <p:spTgt spid="200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44" grpId="0"/>
      <p:bldP spid="200745"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p:cNvSpPr>
          <p:nvPr>
            <p:ph type="title"/>
          </p:nvPr>
        </p:nvSpPr>
        <p:spPr>
          <a:xfrm>
            <a:off x="3162300" y="550863"/>
            <a:ext cx="6635750" cy="609600"/>
          </a:xfrm>
        </p:spPr>
        <p:txBody>
          <a:bodyPr vert="horz" wrap="square" lIns="91440" tIns="45720" rIns="91440" bIns="45720" anchor="ctr" anchorCtr="0">
            <a:normAutofit fontScale="90000"/>
          </a:bodyPr>
          <a:lstStyle/>
          <a:p>
            <a:r>
              <a:rPr lang="en-US" altLang="zh-CN" dirty="0">
                <a:latin typeface="Arial" panose="020B0604020202020204" pitchFamily="34" charset="0"/>
                <a:ea typeface="黑体" panose="02010609060101010101" pitchFamily="49" charset="-122"/>
              </a:rPr>
              <a:t>74180</a:t>
            </a:r>
            <a:r>
              <a:rPr lang="zh-CN" altLang="en-US" dirty="0">
                <a:latin typeface="Arial" panose="020B0604020202020204" pitchFamily="34" charset="0"/>
                <a:ea typeface="黑体" panose="02010609060101010101" pitchFamily="49" charset="-122"/>
              </a:rPr>
              <a:t>的</a:t>
            </a:r>
            <a:r>
              <a:rPr lang="en-US" altLang="zh-CN" dirty="0">
                <a:latin typeface="Arial" panose="020B0604020202020204" pitchFamily="34" charset="0"/>
                <a:ea typeface="黑体" panose="02010609060101010101" pitchFamily="49" charset="-122"/>
              </a:rPr>
              <a:t>Verilog HDL</a:t>
            </a:r>
            <a:r>
              <a:rPr lang="zh-CN" altLang="en-US" dirty="0">
                <a:latin typeface="Arial" panose="020B0604020202020204" pitchFamily="34" charset="0"/>
                <a:ea typeface="黑体" panose="02010609060101010101" pitchFamily="49" charset="-122"/>
              </a:rPr>
              <a:t>源程序（</a:t>
            </a:r>
            <a:r>
              <a:rPr lang="en-US" altLang="zh-CN" dirty="0">
                <a:latin typeface="Arial" panose="020B0604020202020204" pitchFamily="34" charset="0"/>
                <a:ea typeface="黑体" panose="02010609060101010101" pitchFamily="49" charset="-122"/>
              </a:rPr>
              <a:t>1/2</a:t>
            </a:r>
            <a:r>
              <a:rPr lang="zh-CN" altLang="en-US" dirty="0">
                <a:latin typeface="Arial" panose="020B0604020202020204" pitchFamily="34" charset="0"/>
                <a:ea typeface="黑体" panose="02010609060101010101" pitchFamily="49" charset="-122"/>
              </a:rPr>
              <a:t>）</a:t>
            </a:r>
          </a:p>
        </p:txBody>
      </p:sp>
      <p:sp>
        <p:nvSpPr>
          <p:cNvPr id="207875" name="Rectangle 4"/>
          <p:cNvSpPr>
            <a:spLocks noGrp="1"/>
          </p:cNvSpPr>
          <p:nvPr>
            <p:ph type="body" sz="half" idx="1"/>
          </p:nvPr>
        </p:nvSpPr>
        <p:spPr>
          <a:xfrm>
            <a:off x="2311400" y="1411288"/>
            <a:ext cx="7642225" cy="431800"/>
          </a:xfrm>
        </p:spPr>
        <p:txBody>
          <a:bodyPr vert="horz" wrap="square" lIns="91440" tIns="45720" rIns="91440" bIns="45720" anchor="t" anchorCtr="0">
            <a:normAutofit/>
          </a:bodyPr>
          <a:lstStyle/>
          <a:p>
            <a:pPr marL="0" indent="0">
              <a:lnSpc>
                <a:spcPct val="90000"/>
              </a:lnSpc>
              <a:spcBef>
                <a:spcPct val="0"/>
              </a:spcBef>
              <a:buClrTx/>
              <a:buSzTx/>
              <a:buFont typeface="Wingdings" panose="05000000000000000000" pitchFamily="2" charset="2"/>
              <a:buNone/>
            </a:pPr>
            <a:r>
              <a:rPr lang="zh-CN" altLang="en-US" sz="2400" dirty="0">
                <a:ea typeface="宋体" panose="02010600030101010101" pitchFamily="2" charset="-122"/>
              </a:rPr>
              <a:t>根据真值表，采用</a:t>
            </a:r>
            <a:r>
              <a:rPr lang="en-US" altLang="zh-CN" sz="2400" dirty="0">
                <a:solidFill>
                  <a:srgbClr val="CC0066"/>
                </a:solidFill>
                <a:ea typeface="宋体" panose="02010600030101010101" pitchFamily="2" charset="-122"/>
              </a:rPr>
              <a:t>case</a:t>
            </a:r>
            <a:r>
              <a:rPr lang="zh-CN" altLang="en-US" sz="2400" dirty="0">
                <a:solidFill>
                  <a:srgbClr val="CC0066"/>
                </a:solidFill>
                <a:ea typeface="宋体" panose="02010600030101010101" pitchFamily="2" charset="-122"/>
              </a:rPr>
              <a:t>语句</a:t>
            </a:r>
            <a:r>
              <a:rPr lang="zh-CN" altLang="en-US" sz="2400" dirty="0">
                <a:ea typeface="宋体" panose="02010600030101010101" pitchFamily="2" charset="-122"/>
              </a:rPr>
              <a:t>和</a:t>
            </a:r>
            <a:r>
              <a:rPr lang="en-US" altLang="zh-CN" sz="2400" dirty="0">
                <a:solidFill>
                  <a:srgbClr val="CC0066"/>
                </a:solidFill>
                <a:ea typeface="宋体" panose="02010600030101010101" pitchFamily="2" charset="-122"/>
              </a:rPr>
              <a:t>if</a:t>
            </a:r>
            <a:r>
              <a:rPr lang="zh-CN" altLang="en-US" sz="2400" dirty="0">
                <a:solidFill>
                  <a:srgbClr val="CC0066"/>
                </a:solidFill>
                <a:ea typeface="宋体" panose="02010600030101010101" pitchFamily="2" charset="-122"/>
              </a:rPr>
              <a:t>语句</a:t>
            </a:r>
            <a:r>
              <a:rPr lang="zh-CN" altLang="en-US" sz="2400" dirty="0">
                <a:ea typeface="宋体" panose="02010600030101010101" pitchFamily="2" charset="-122"/>
              </a:rPr>
              <a:t>直接描述其功能：</a:t>
            </a:r>
          </a:p>
        </p:txBody>
      </p:sp>
      <p:sp>
        <p:nvSpPr>
          <p:cNvPr id="207876"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34</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207877" name="Text Box 3"/>
          <p:cNvSpPr txBox="1"/>
          <p:nvPr/>
        </p:nvSpPr>
        <p:spPr>
          <a:xfrm>
            <a:off x="2738438" y="1997075"/>
            <a:ext cx="7215187" cy="2585720"/>
          </a:xfrm>
          <a:prstGeom prst="rect">
            <a:avLst/>
          </a:prstGeom>
          <a:solidFill>
            <a:srgbClr val="ADD6FF"/>
          </a:solidFill>
          <a:ln w="9525">
            <a:noFill/>
          </a:ln>
          <a:effectLst>
            <a:prstShdw prst="shdw13" dist="53882" dir="13499999">
              <a:srgbClr val="808080">
                <a:alpha val="50000"/>
              </a:srgbClr>
            </a:prstShdw>
          </a:effectLst>
        </p:spPr>
        <p:txBody>
          <a:bodyPr lIns="90000" tIns="46800" rIns="90000" bIns="46800">
            <a:spAutoFit/>
          </a:bodyPr>
          <a:lstStyle/>
          <a:p>
            <a:pPr>
              <a:lnSpc>
                <a:spcPct val="90000"/>
              </a:lnSpc>
            </a:pPr>
            <a:r>
              <a:rPr lang="en-US" altLang="zh-CN" sz="2000" dirty="0">
                <a:solidFill>
                  <a:schemeClr val="tx1"/>
                </a:solidFill>
                <a:latin typeface="Arial" panose="020B0604020202020204" pitchFamily="34" charset="0"/>
              </a:rPr>
              <a:t>module CT74180(D0,D1, D2, D3,D4,D5, D6,D7,</a:t>
            </a:r>
          </a:p>
          <a:p>
            <a:pPr>
              <a:lnSpc>
                <a:spcPct val="90000"/>
              </a:lnSpc>
            </a:pPr>
            <a:r>
              <a:rPr lang="en-US" altLang="zh-CN" sz="2000" dirty="0">
                <a:solidFill>
                  <a:schemeClr val="tx1"/>
                </a:solidFill>
                <a:latin typeface="Arial" panose="020B0604020202020204" pitchFamily="34" charset="0"/>
              </a:rPr>
              <a:t>              SE,SOD,FE,FOD);         //</a:t>
            </a:r>
            <a:r>
              <a:rPr lang="en-US" altLang="zh-CN" sz="2000" dirty="0">
                <a:latin typeface="Times New Roman" panose="02020603050405020304" pitchFamily="18" charset="0"/>
              </a:rPr>
              <a:t> </a:t>
            </a:r>
            <a:r>
              <a:rPr lang="en-US" altLang="zh-CN" sz="2000" dirty="0">
                <a:solidFill>
                  <a:srgbClr val="CC3300"/>
                </a:solidFill>
                <a:latin typeface="Times New Roman" panose="02020603050405020304" pitchFamily="18" charset="0"/>
              </a:rPr>
              <a:t>D0</a:t>
            </a:r>
            <a:r>
              <a:rPr lang="zh-CN" altLang="en-US" sz="2000" dirty="0">
                <a:solidFill>
                  <a:srgbClr val="CC3300"/>
                </a:solidFill>
                <a:latin typeface="Times New Roman" panose="02020603050405020304" pitchFamily="18" charset="0"/>
              </a:rPr>
              <a:t>～</a:t>
            </a:r>
            <a:r>
              <a:rPr lang="en-US" altLang="zh-CN" sz="2000" dirty="0">
                <a:solidFill>
                  <a:srgbClr val="CC3300"/>
                </a:solidFill>
                <a:latin typeface="Times New Roman" panose="02020603050405020304" pitchFamily="18" charset="0"/>
              </a:rPr>
              <a:t>D7 </a:t>
            </a:r>
            <a:r>
              <a:rPr lang="zh-CN" altLang="en-US" sz="2000" dirty="0">
                <a:solidFill>
                  <a:srgbClr val="CC3300"/>
                </a:solidFill>
                <a:latin typeface="Times New Roman" panose="02020603050405020304" pitchFamily="18" charset="0"/>
              </a:rPr>
              <a:t>对应</a:t>
            </a:r>
            <a:r>
              <a:rPr lang="en-US" altLang="zh-CN" sz="2000" dirty="0">
                <a:solidFill>
                  <a:srgbClr val="CC3300"/>
                </a:solidFill>
                <a:latin typeface="Times New Roman" panose="02020603050405020304" pitchFamily="18" charset="0"/>
              </a:rPr>
              <a:t>A</a:t>
            </a:r>
            <a:r>
              <a:rPr lang="zh-CN" altLang="en-US" sz="2000" dirty="0">
                <a:solidFill>
                  <a:srgbClr val="CC3300"/>
                </a:solidFill>
                <a:latin typeface="Times New Roman" panose="02020603050405020304" pitchFamily="18" charset="0"/>
              </a:rPr>
              <a:t>～</a:t>
            </a:r>
            <a:r>
              <a:rPr lang="en-US" altLang="zh-CN" sz="2000" dirty="0">
                <a:solidFill>
                  <a:srgbClr val="CC3300"/>
                </a:solidFill>
                <a:latin typeface="Times New Roman" panose="02020603050405020304" pitchFamily="18" charset="0"/>
              </a:rPr>
              <a:t>H </a:t>
            </a:r>
          </a:p>
          <a:p>
            <a:pPr>
              <a:lnSpc>
                <a:spcPct val="90000"/>
              </a:lnSpc>
            </a:pPr>
            <a:r>
              <a:rPr lang="en-US" altLang="zh-CN" sz="2000" dirty="0">
                <a:solidFill>
                  <a:schemeClr val="tx1"/>
                </a:solidFill>
                <a:latin typeface="Arial" panose="020B0604020202020204" pitchFamily="34" charset="0"/>
              </a:rPr>
              <a:t>      input     D0,D1,D2,D3,D4,</a:t>
            </a:r>
          </a:p>
          <a:p>
            <a:pPr>
              <a:lnSpc>
                <a:spcPct val="90000"/>
              </a:lnSpc>
            </a:pPr>
            <a:r>
              <a:rPr lang="en-US" altLang="zh-CN" sz="2000" dirty="0">
                <a:solidFill>
                  <a:schemeClr val="tx1"/>
                </a:solidFill>
                <a:latin typeface="Arial" panose="020B0604020202020204" pitchFamily="34" charset="0"/>
              </a:rPr>
              <a:t>                    D5,D6,D7,SE,SOD;</a:t>
            </a:r>
          </a:p>
          <a:p>
            <a:pPr>
              <a:lnSpc>
                <a:spcPct val="90000"/>
              </a:lnSpc>
            </a:pPr>
            <a:r>
              <a:rPr lang="en-US" altLang="zh-CN" sz="2000" dirty="0">
                <a:solidFill>
                  <a:schemeClr val="tx1"/>
                </a:solidFill>
                <a:latin typeface="Arial" panose="020B0604020202020204" pitchFamily="34" charset="0"/>
              </a:rPr>
              <a:t>      output   FE,FOD;</a:t>
            </a:r>
          </a:p>
          <a:p>
            <a:pPr>
              <a:lnSpc>
                <a:spcPct val="90000"/>
              </a:lnSpc>
            </a:pPr>
            <a:r>
              <a:rPr lang="en-US" altLang="zh-CN" sz="2000" dirty="0">
                <a:solidFill>
                  <a:schemeClr val="tx1"/>
                </a:solidFill>
                <a:latin typeface="Arial" panose="020B0604020202020204" pitchFamily="34" charset="0"/>
              </a:rPr>
              <a:t>      reg	      FE,FOD;</a:t>
            </a:r>
          </a:p>
          <a:p>
            <a:pPr>
              <a:lnSpc>
                <a:spcPct val="90000"/>
              </a:lnSpc>
            </a:pPr>
            <a:r>
              <a:rPr lang="en-US" altLang="zh-CN" sz="2000" dirty="0">
                <a:solidFill>
                  <a:schemeClr val="tx1"/>
                </a:solidFill>
                <a:latin typeface="Arial" panose="020B0604020202020204" pitchFamily="34" charset="0"/>
              </a:rPr>
              <a:t>      reg	      FE_SIGNAL;</a:t>
            </a:r>
          </a:p>
          <a:p>
            <a:pPr>
              <a:lnSpc>
                <a:spcPct val="90000"/>
              </a:lnSpc>
            </a:pPr>
            <a:r>
              <a:rPr lang="en-US" altLang="zh-CN" sz="2000" dirty="0">
                <a:solidFill>
                  <a:schemeClr val="tx1"/>
                </a:solidFill>
                <a:latin typeface="Arial" panose="020B0604020202020204" pitchFamily="34" charset="0"/>
              </a:rPr>
              <a:t>      wire[7:0]  A_SIGNAL;</a:t>
            </a:r>
          </a:p>
          <a:p>
            <a:pPr>
              <a:lnSpc>
                <a:spcPct val="90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assign     A_SIGNAL = {D0,D1,D2,D3,D4,D5,D6,D7};</a:t>
            </a:r>
          </a:p>
        </p:txBody>
      </p:sp>
      <p:sp>
        <p:nvSpPr>
          <p:cNvPr id="6" name="Rectangle 80"/>
          <p:cNvSpPr/>
          <p:nvPr/>
        </p:nvSpPr>
        <p:spPr>
          <a:xfrm>
            <a:off x="3328988" y="5276850"/>
            <a:ext cx="5338762" cy="1009650"/>
          </a:xfrm>
          <a:prstGeom prst="rect">
            <a:avLst/>
          </a:prstGeom>
          <a:noFill/>
          <a:ln w="9525">
            <a:noFill/>
          </a:ln>
        </p:spPr>
        <p:txBody>
          <a:bodyPr/>
          <a:lstStyle/>
          <a:p>
            <a:pPr marL="342900" indent="-342900" eaLnBrk="1" hangingPunct="1">
              <a:lnSpc>
                <a:spcPct val="90000"/>
              </a:lnSpc>
            </a:pPr>
            <a:r>
              <a:rPr lang="zh-CN" altLang="en-US" dirty="0">
                <a:solidFill>
                  <a:srgbClr val="FF0000"/>
                </a:solidFill>
                <a:latin typeface="宋体" panose="02010600030101010101" pitchFamily="2" charset="-122"/>
                <a:ea typeface="楷体_GB2312" pitchFamily="49" charset="-122"/>
              </a:rPr>
              <a:t>关键：怎样描述一组输入数据中为</a:t>
            </a:r>
            <a:r>
              <a:rPr lang="en-US" altLang="zh-CN" dirty="0">
                <a:solidFill>
                  <a:srgbClr val="FF0000"/>
                </a:solidFill>
                <a:latin typeface="宋体" panose="02010600030101010101" pitchFamily="2" charset="-122"/>
                <a:ea typeface="楷体_GB2312" pitchFamily="49" charset="-122"/>
              </a:rPr>
              <a:t>1</a:t>
            </a:r>
            <a:r>
              <a:rPr lang="zh-CN" altLang="en-US" dirty="0">
                <a:solidFill>
                  <a:srgbClr val="FF0000"/>
                </a:solidFill>
                <a:latin typeface="宋体" panose="02010600030101010101" pitchFamily="2" charset="-122"/>
                <a:ea typeface="楷体_GB2312" pitchFamily="49" charset="-122"/>
              </a:rPr>
              <a:t>的个数是奇数或偶数</a:t>
            </a:r>
            <a:r>
              <a:rPr lang="zh-CN" altLang="en-US" sz="3600" dirty="0">
                <a:solidFill>
                  <a:srgbClr val="FF0000"/>
                </a:solidFill>
                <a:latin typeface="宋体" panose="02010600030101010101" pitchFamily="2" charset="-122"/>
                <a:ea typeface="楷体_GB2312" pitchFamily="49" charset="-122"/>
              </a:rPr>
              <a:t>？</a:t>
            </a: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p:cNvSpPr>
          <p:nvPr>
            <p:ph type="title"/>
          </p:nvPr>
        </p:nvSpPr>
        <p:spPr>
          <a:xfrm>
            <a:off x="3135313" y="431800"/>
            <a:ext cx="6635750" cy="609600"/>
          </a:xfrm>
        </p:spPr>
        <p:txBody>
          <a:bodyPr vert="horz" wrap="square" lIns="91440" tIns="45720" rIns="91440" bIns="45720" anchor="ctr" anchorCtr="0">
            <a:normAutofit fontScale="90000"/>
          </a:bodyPr>
          <a:lstStyle/>
          <a:p>
            <a:r>
              <a:rPr lang="en-US" altLang="zh-CN" dirty="0">
                <a:latin typeface="Arial" panose="020B0604020202020204" pitchFamily="34" charset="0"/>
                <a:ea typeface="黑体" panose="02010609060101010101" pitchFamily="49" charset="-122"/>
              </a:rPr>
              <a:t>74180</a:t>
            </a:r>
            <a:r>
              <a:rPr lang="zh-CN" altLang="en-US" dirty="0">
                <a:latin typeface="Arial" panose="020B0604020202020204" pitchFamily="34" charset="0"/>
                <a:ea typeface="黑体" panose="02010609060101010101" pitchFamily="49" charset="-122"/>
              </a:rPr>
              <a:t>的</a:t>
            </a:r>
            <a:r>
              <a:rPr lang="en-US" altLang="zh-CN" dirty="0">
                <a:latin typeface="Arial" panose="020B0604020202020204" pitchFamily="34" charset="0"/>
                <a:ea typeface="黑体" panose="02010609060101010101" pitchFamily="49" charset="-122"/>
              </a:rPr>
              <a:t>Verilog HDL</a:t>
            </a:r>
            <a:r>
              <a:rPr lang="zh-CN" altLang="en-US" dirty="0">
                <a:latin typeface="Arial" panose="020B0604020202020204" pitchFamily="34" charset="0"/>
                <a:ea typeface="黑体" panose="02010609060101010101" pitchFamily="49" charset="-122"/>
              </a:rPr>
              <a:t>源程序（</a:t>
            </a:r>
            <a:r>
              <a:rPr lang="en-US" altLang="zh-CN" dirty="0">
                <a:latin typeface="Arial" panose="020B0604020202020204" pitchFamily="34" charset="0"/>
                <a:ea typeface="黑体" panose="02010609060101010101" pitchFamily="49" charset="-122"/>
              </a:rPr>
              <a:t>2/2</a:t>
            </a:r>
            <a:r>
              <a:rPr lang="zh-CN" altLang="en-US" dirty="0">
                <a:latin typeface="Arial" panose="020B0604020202020204" pitchFamily="34" charset="0"/>
                <a:ea typeface="黑体" panose="02010609060101010101" pitchFamily="49" charset="-122"/>
              </a:rPr>
              <a:t>）</a:t>
            </a:r>
          </a:p>
        </p:txBody>
      </p:sp>
      <p:graphicFrame>
        <p:nvGraphicFramePr>
          <p:cNvPr id="106499" name="内容占位符 106498"/>
          <p:cNvGraphicFramePr>
            <a:graphicFrameLocks noGrp="1"/>
          </p:cNvGraphicFramePr>
          <p:nvPr>
            <p:ph sz="half" idx="4294967295"/>
          </p:nvPr>
        </p:nvGraphicFramePr>
        <p:xfrm>
          <a:off x="4114800" y="4819650"/>
          <a:ext cx="4676775" cy="2012950"/>
        </p:xfrm>
        <a:graphic>
          <a:graphicData uri="http://schemas.openxmlformats.org/drawingml/2006/table">
            <a:tbl>
              <a:tblPr/>
              <a:tblGrid>
                <a:gridCol w="1914525">
                  <a:extLst>
                    <a:ext uri="{9D8B030D-6E8A-4147-A177-3AD203B41FA5}">
                      <a16:colId xmlns:a16="http://schemas.microsoft.com/office/drawing/2014/main" val="20000"/>
                    </a:ext>
                  </a:extLst>
                </a:gridCol>
                <a:gridCol w="882650">
                  <a:extLst>
                    <a:ext uri="{9D8B030D-6E8A-4147-A177-3AD203B41FA5}">
                      <a16:colId xmlns:a16="http://schemas.microsoft.com/office/drawing/2014/main" val="20001"/>
                    </a:ext>
                  </a:extLst>
                </a:gridCol>
                <a:gridCol w="770255">
                  <a:extLst>
                    <a:ext uri="{9D8B030D-6E8A-4147-A177-3AD203B41FA5}">
                      <a16:colId xmlns:a16="http://schemas.microsoft.com/office/drawing/2014/main" val="20002"/>
                    </a:ext>
                  </a:extLst>
                </a:gridCol>
                <a:gridCol w="1109345">
                  <a:extLst>
                    <a:ext uri="{9D8B030D-6E8A-4147-A177-3AD203B41FA5}">
                      <a16:colId xmlns:a16="http://schemas.microsoft.com/office/drawing/2014/main" val="20003"/>
                    </a:ext>
                  </a:extLst>
                </a:gridCol>
              </a:tblGrid>
              <a:tr h="37465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D0</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D7</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中</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的个数</a:t>
                      </a:r>
                    </a:p>
                  </a:txBody>
                  <a:tcPr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SE</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SOD</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FE  FOD</a:t>
                      </a:r>
                    </a:p>
                  </a:txBody>
                  <a:tcPr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28575" cap="flat" cmpd="sng" algn="ctr">
                      <a:solidFill>
                        <a:srgbClr val="1D528D"/>
                      </a:solidFill>
                      <a:prstDash val="solid"/>
                      <a:round/>
                      <a:headEnd type="none" w="med" len="med"/>
                      <a:tailEnd type="none" w="med" len="med"/>
                    </a:lnT>
                    <a:lnB w="12700" cap="flat" cmpd="sng" algn="ctr">
                      <a:solidFill>
                        <a:srgbClr val="1D528D"/>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1638300">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偶数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1600" b="1" i="0" u="none" strike="noStrike" cap="none" normalizeH="0" baseline="0">
                          <a:ln>
                            <a:noFill/>
                          </a:ln>
                          <a:solidFill>
                            <a:schemeClr val="tx1"/>
                          </a:solidFill>
                          <a:effectLst/>
                          <a:latin typeface="楷体_GB2312" pitchFamily="49" charset="-122"/>
                          <a:ea typeface="楷体_GB2312" pitchFamily="49" charset="-122"/>
                        </a:rPr>
                        <a:t>奇数</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楷体_GB2312" pitchFamily="49" charset="-122"/>
                          <a:ea typeface="楷体_GB2312" pitchFamily="49" charset="-122"/>
                        </a:rPr>
                        <a:t>X</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楷体_GB2312" pitchFamily="49" charset="-122"/>
                          <a:ea typeface="楷体_GB2312" pitchFamily="49" charset="-122"/>
                        </a:rPr>
                        <a:t>X</a:t>
                      </a:r>
                    </a:p>
                  </a:txBody>
                  <a:tcPr horzOverflow="overflow">
                    <a:lnL w="28575"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0066"/>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rgbClr val="CC3300"/>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horzOverflow="overflow">
                    <a:lnL w="12700" cap="flat" cmpd="sng" algn="ctr">
                      <a:solidFill>
                        <a:srgbClr val="1D528D"/>
                      </a:solidFill>
                      <a:prstDash val="solid"/>
                      <a:round/>
                      <a:headEnd type="none" w="med" len="med"/>
                      <a:tailEnd type="none" w="med" len="med"/>
                    </a:lnL>
                    <a:lnR w="12700"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tc>
                  <a:txBody>
                    <a:bodyPr/>
                    <a:lstStyle>
                      <a:lvl1pPr eaLnBrk="0" hangingPunct="0">
                        <a:spcBef>
                          <a:spcPct val="20000"/>
                        </a:spcBef>
                        <a:buClr>
                          <a:schemeClr val="hlink"/>
                        </a:buClr>
                        <a:buFont typeface="Wingdings" panose="05000000000000000000" pitchFamily="2" charset="2"/>
                        <a:defRPr sz="2800">
                          <a:solidFill>
                            <a:schemeClr val="tx1"/>
                          </a:solidFill>
                          <a:latin typeface="Arial" panose="020B0604020202020204" pitchFamily="34" charset="0"/>
                        </a:defRPr>
                      </a:lvl1pPr>
                      <a:lvl2pPr eaLnBrk="0" hangingPunct="0">
                        <a:spcBef>
                          <a:spcPct val="20000"/>
                        </a:spcBef>
                        <a:buClr>
                          <a:schemeClr val="accent1"/>
                        </a:buClr>
                        <a:buFont typeface="Wingdings" panose="05000000000000000000" pitchFamily="2" charset="2"/>
                        <a:defRPr sz="2400">
                          <a:solidFill>
                            <a:schemeClr val="tx1"/>
                          </a:solidFill>
                          <a:latin typeface="Arial" panose="020B0604020202020204" pitchFamily="34" charset="0"/>
                        </a:defRPr>
                      </a:lvl2pPr>
                      <a:lvl3pPr eaLnBrk="0" hangingPunct="0">
                        <a:spcBef>
                          <a:spcPct val="20000"/>
                        </a:spcBef>
                        <a:buClr>
                          <a:schemeClr val="tx1"/>
                        </a:buClr>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0    1</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1    0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0    0</a:t>
                      </a:r>
                    </a:p>
                    <a:p>
                      <a:pPr marL="0" marR="0" lvl="0" indent="0" algn="ctr"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1    1</a:t>
                      </a:r>
                    </a:p>
                  </a:txBody>
                  <a:tcPr horzOverflow="overflow">
                    <a:lnL w="12700" cap="flat" cmpd="sng" algn="ctr">
                      <a:solidFill>
                        <a:srgbClr val="1D528D"/>
                      </a:solidFill>
                      <a:prstDash val="solid"/>
                      <a:round/>
                      <a:headEnd type="none" w="med" len="med"/>
                      <a:tailEnd type="none" w="med" len="med"/>
                    </a:lnL>
                    <a:lnR w="28575" cap="flat" cmpd="sng" algn="ctr">
                      <a:solidFill>
                        <a:srgbClr val="1D528D"/>
                      </a:solidFill>
                      <a:prstDash val="solid"/>
                      <a:round/>
                      <a:headEnd type="none" w="med" len="med"/>
                      <a:tailEnd type="none" w="med" len="med"/>
                    </a:lnR>
                    <a:lnT w="12700" cap="flat" cmpd="sng" algn="ctr">
                      <a:solidFill>
                        <a:srgbClr val="1D528D"/>
                      </a:solidFill>
                      <a:prstDash val="solid"/>
                      <a:round/>
                      <a:headEnd type="none" w="med" len="med"/>
                      <a:tailEnd type="none" w="med" len="med"/>
                    </a:lnT>
                    <a:lnB w="28575" cap="flat" cmpd="sng" algn="ctr">
                      <a:solidFill>
                        <a:srgbClr val="1D528D"/>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bl>
          </a:graphicData>
        </a:graphic>
      </p:graphicFrame>
      <p:sp>
        <p:nvSpPr>
          <p:cNvPr id="209940" name="灯片编号占位符 4"/>
          <p:cNvSpPr txBox="1">
            <a:spLocks noGrp="1"/>
          </p:cNvSpPr>
          <p:nvPr>
            <p:ph type="sldNum" sz="quarter" idx="4"/>
          </p:nvPr>
        </p:nvSpPr>
        <p:spPr/>
        <p:txBody>
          <a:bodyPr/>
          <a:lstStyle>
            <a:lvl1pPr marL="0" lvl="0" indent="0" algn="l" defTabSz="914400" rtl="0" eaLnBrk="0" fontAlgn="base" latinLnBrk="0" hangingPunct="0">
              <a:lnSpc>
                <a:spcPct val="9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CC6600"/>
                </a:solidFill>
                <a:latin typeface="Times New Roman" panose="02020603050405020304" pitchFamily="18"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35</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209941" name="Text Box 5"/>
          <p:cNvSpPr txBox="1"/>
          <p:nvPr/>
        </p:nvSpPr>
        <p:spPr>
          <a:xfrm>
            <a:off x="1758950" y="1157288"/>
            <a:ext cx="8267700" cy="4478655"/>
          </a:xfrm>
          <a:prstGeom prst="rect">
            <a:avLst/>
          </a:prstGeom>
          <a:solidFill>
            <a:srgbClr val="ADD6FF"/>
          </a:solidFill>
          <a:ln w="9525">
            <a:noFill/>
          </a:ln>
          <a:effectLst>
            <a:prstShdw prst="shdw13" dist="53882" dir="13499999">
              <a:srgbClr val="808080">
                <a:alpha val="50000"/>
              </a:srgbClr>
            </a:prstShdw>
          </a:effectLst>
        </p:spPr>
        <p:txBody>
          <a:bodyPr lIns="90000" tIns="46800" rIns="90000" bIns="46800">
            <a:spAutoFit/>
          </a:bodyPr>
          <a:lstStyle/>
          <a:p>
            <a:pPr>
              <a:lnSpc>
                <a:spcPct val="95000"/>
              </a:lnSpc>
            </a:pPr>
            <a:r>
              <a:rPr lang="en-US" altLang="zh-CN" sz="2000" dirty="0">
                <a:solidFill>
                  <a:schemeClr val="tx1"/>
                </a:solidFill>
                <a:latin typeface="Arial" panose="020B0604020202020204" pitchFamily="34" charset="0"/>
              </a:rPr>
              <a:t>always @(A_SIGNAL or SE or SOD)</a:t>
            </a:r>
          </a:p>
          <a:p>
            <a:pPr>
              <a:lnSpc>
                <a:spcPct val="95000"/>
              </a:lnSpc>
            </a:pPr>
            <a:r>
              <a:rPr lang="en-US" altLang="zh-CN" sz="2000" dirty="0">
                <a:solidFill>
                  <a:schemeClr val="tx1"/>
                </a:solidFill>
                <a:latin typeface="Arial" panose="020B0604020202020204" pitchFamily="34" charset="0"/>
              </a:rPr>
              <a:t>   begin</a:t>
            </a:r>
          </a:p>
          <a:p>
            <a:pPr>
              <a:lnSpc>
                <a:spcPct val="95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FE_SIGNAL = ^A_SIGNAL</a:t>
            </a:r>
            <a:r>
              <a:rPr lang="en-US" altLang="zh-CN" sz="2000" dirty="0">
                <a:solidFill>
                  <a:schemeClr val="tx1"/>
                </a:solidFill>
                <a:latin typeface="Arial" panose="020B0604020202020204" pitchFamily="34" charset="0"/>
              </a:rPr>
              <a:t>; //</a:t>
            </a:r>
            <a:r>
              <a:rPr lang="zh-CN" altLang="en-US" sz="2000" dirty="0">
                <a:solidFill>
                  <a:srgbClr val="CC3300"/>
                </a:solidFill>
                <a:latin typeface="Times New Roman" panose="02020603050405020304" pitchFamily="18" charset="0"/>
              </a:rPr>
              <a:t>异或</a:t>
            </a:r>
            <a:r>
              <a:rPr lang="en-US" altLang="zh-CN" sz="2000" dirty="0">
                <a:solidFill>
                  <a:srgbClr val="CC3300"/>
                </a:solidFill>
                <a:latin typeface="Times New Roman" panose="02020603050405020304" pitchFamily="18" charset="0"/>
              </a:rPr>
              <a:t>(</a:t>
            </a:r>
            <a:r>
              <a:rPr lang="zh-CN" altLang="en-US" sz="2000" dirty="0">
                <a:solidFill>
                  <a:srgbClr val="CC3300"/>
                </a:solidFill>
                <a:latin typeface="Times New Roman" panose="02020603050405020304" pitchFamily="18" charset="0"/>
              </a:rPr>
              <a:t>缩减运算</a:t>
            </a:r>
            <a:r>
              <a:rPr lang="en-US" altLang="zh-CN" sz="2000" dirty="0">
                <a:solidFill>
                  <a:srgbClr val="CC3300"/>
                </a:solidFill>
                <a:latin typeface="Times New Roman" panose="02020603050405020304" pitchFamily="18" charset="0"/>
              </a:rPr>
              <a:t>)</a:t>
            </a:r>
          </a:p>
          <a:p>
            <a:pPr>
              <a:lnSpc>
                <a:spcPct val="95000"/>
              </a:lnSpc>
            </a:pPr>
            <a:r>
              <a:rPr lang="en-US" altLang="zh-CN" sz="2000" dirty="0">
                <a:solidFill>
                  <a:schemeClr val="tx1"/>
                </a:solidFill>
                <a:latin typeface="Arial" panose="020B0604020202020204" pitchFamily="34" charset="0"/>
              </a:rPr>
              <a:t>       </a:t>
            </a:r>
            <a:r>
              <a:rPr lang="en-US" altLang="zh-CN" sz="2000" dirty="0">
                <a:solidFill>
                  <a:srgbClr val="FF6600"/>
                </a:solidFill>
                <a:latin typeface="Arial" panose="020B0604020202020204" pitchFamily="34" charset="0"/>
              </a:rPr>
              <a:t>case</a:t>
            </a:r>
            <a:r>
              <a:rPr lang="en-US" altLang="zh-CN" sz="2000" dirty="0">
                <a:solidFill>
                  <a:schemeClr val="tx1"/>
                </a:solidFill>
                <a:latin typeface="Arial" panose="020B0604020202020204" pitchFamily="34" charset="0"/>
              </a:rPr>
              <a:t> ({SE,SOD}) </a:t>
            </a:r>
          </a:p>
          <a:p>
            <a:pPr>
              <a:lnSpc>
                <a:spcPct val="95000"/>
              </a:lnSpc>
            </a:pPr>
            <a:r>
              <a:rPr lang="en-US" altLang="zh-CN" sz="2000" dirty="0">
                <a:solidFill>
                  <a:schemeClr val="tx1"/>
                </a:solidFill>
                <a:latin typeface="Arial" panose="020B0604020202020204" pitchFamily="34" charset="0"/>
              </a:rPr>
              <a:t>           2'b00 : begin FE=1'b1; FOD=1'b1;end</a:t>
            </a:r>
          </a:p>
          <a:p>
            <a:pPr>
              <a:lnSpc>
                <a:spcPct val="95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2‘b01 : if (FE_SIGNAL==1’b0)</a:t>
            </a:r>
            <a:r>
              <a:rPr lang="en-US" altLang="zh-CN" sz="2000" dirty="0">
                <a:solidFill>
                  <a:schemeClr val="tx1"/>
                </a:solidFill>
                <a:latin typeface="Arial" panose="020B0604020202020204" pitchFamily="34" charset="0"/>
              </a:rPr>
              <a:t> //</a:t>
            </a:r>
            <a:r>
              <a:rPr lang="zh-CN" altLang="en-US" sz="2000" dirty="0">
                <a:solidFill>
                  <a:srgbClr val="CC3300"/>
                </a:solidFill>
                <a:latin typeface="Times New Roman" panose="02020603050405020304" pitchFamily="18" charset="0"/>
              </a:rPr>
              <a:t>有偶数个“</a:t>
            </a:r>
            <a:r>
              <a:rPr lang="en-US" altLang="zh-CN" sz="2000" dirty="0">
                <a:solidFill>
                  <a:srgbClr val="CC3300"/>
                </a:solidFill>
                <a:latin typeface="Times New Roman" panose="02020603050405020304" pitchFamily="18" charset="0"/>
              </a:rPr>
              <a:t>1”</a:t>
            </a:r>
            <a:r>
              <a:rPr lang="zh-CN" altLang="en-US" sz="2000" dirty="0">
                <a:solidFill>
                  <a:srgbClr val="CC3300"/>
                </a:solidFill>
                <a:latin typeface="Times New Roman" panose="02020603050405020304" pitchFamily="18" charset="0"/>
              </a:rPr>
              <a:t>时</a:t>
            </a:r>
          </a:p>
          <a:p>
            <a:pPr>
              <a:lnSpc>
                <a:spcPct val="95000"/>
              </a:lnSpc>
            </a:pPr>
            <a:r>
              <a:rPr lang="en-US" altLang="zh-CN" sz="2000" dirty="0">
                <a:solidFill>
                  <a:schemeClr val="tx1"/>
                </a:solidFill>
                <a:latin typeface="Arial" panose="020B0604020202020204" pitchFamily="34" charset="0"/>
              </a:rPr>
              <a:t>	              begin FE=1'b0; FOD=1'b1;end</a:t>
            </a:r>
          </a:p>
          <a:p>
            <a:pPr>
              <a:lnSpc>
                <a:spcPct val="95000"/>
              </a:lnSpc>
            </a:pPr>
            <a:r>
              <a:rPr lang="en-US" altLang="zh-CN" sz="2000" dirty="0">
                <a:solidFill>
                  <a:schemeClr val="tx1"/>
                </a:solidFill>
                <a:latin typeface="Arial" panose="020B0604020202020204" pitchFamily="34" charset="0"/>
              </a:rPr>
              <a:t>	         else   begin FE=1‘b1; FOD=1’b0;end //</a:t>
            </a:r>
            <a:r>
              <a:rPr lang="zh-CN" altLang="en-US" sz="2000" dirty="0">
                <a:solidFill>
                  <a:srgbClr val="CC3300"/>
                </a:solidFill>
                <a:latin typeface="Times New Roman" panose="02020603050405020304" pitchFamily="18" charset="0"/>
              </a:rPr>
              <a:t>有奇数个“</a:t>
            </a:r>
            <a:r>
              <a:rPr lang="en-US" altLang="zh-CN" sz="2000" dirty="0">
                <a:solidFill>
                  <a:srgbClr val="CC3300"/>
                </a:solidFill>
                <a:latin typeface="Times New Roman" panose="02020603050405020304" pitchFamily="18" charset="0"/>
              </a:rPr>
              <a:t>1”</a:t>
            </a:r>
            <a:r>
              <a:rPr lang="zh-CN" altLang="en-US" sz="2000" dirty="0">
                <a:solidFill>
                  <a:srgbClr val="CC3300"/>
                </a:solidFill>
                <a:latin typeface="Times New Roman" panose="02020603050405020304" pitchFamily="18" charset="0"/>
              </a:rPr>
              <a:t>时</a:t>
            </a:r>
            <a:endParaRPr lang="en-US" altLang="zh-CN" sz="2000" dirty="0">
              <a:solidFill>
                <a:srgbClr val="CC3300"/>
              </a:solidFill>
              <a:latin typeface="Times New Roman" panose="02020603050405020304" pitchFamily="18" charset="0"/>
            </a:endParaRPr>
          </a:p>
          <a:p>
            <a:pPr>
              <a:lnSpc>
                <a:spcPct val="95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2‘b10 : if (FE_SIGNAL==</a:t>
            </a:r>
            <a:r>
              <a:rPr lang="en-US" altLang="zh-CN" dirty="0">
                <a:solidFill>
                  <a:srgbClr val="FF0066"/>
                </a:solidFill>
                <a:latin typeface="Times New Roman" panose="02020603050405020304" pitchFamily="18" charset="0"/>
              </a:rPr>
              <a:t>1’b</a:t>
            </a:r>
            <a:r>
              <a:rPr lang="en-US" altLang="zh-CN" sz="2000" dirty="0">
                <a:solidFill>
                  <a:srgbClr val="FF0066"/>
                </a:solidFill>
                <a:latin typeface="Arial" panose="020B0604020202020204" pitchFamily="34" charset="0"/>
              </a:rPr>
              <a:t>0) </a:t>
            </a:r>
            <a:r>
              <a:rPr lang="en-US" altLang="zh-CN" sz="2000" dirty="0">
                <a:solidFill>
                  <a:schemeClr val="tx1"/>
                </a:solidFill>
                <a:latin typeface="Arial" panose="020B0604020202020204" pitchFamily="34" charset="0"/>
              </a:rPr>
              <a:t>//</a:t>
            </a:r>
            <a:r>
              <a:rPr lang="zh-CN" altLang="en-US" sz="2000" dirty="0">
                <a:solidFill>
                  <a:srgbClr val="CC3300"/>
                </a:solidFill>
                <a:latin typeface="Times New Roman" panose="02020603050405020304" pitchFamily="18" charset="0"/>
              </a:rPr>
              <a:t>有偶数个“</a:t>
            </a:r>
            <a:r>
              <a:rPr lang="en-US" altLang="zh-CN" sz="2000" dirty="0">
                <a:solidFill>
                  <a:srgbClr val="CC3300"/>
                </a:solidFill>
                <a:latin typeface="Times New Roman" panose="02020603050405020304" pitchFamily="18" charset="0"/>
              </a:rPr>
              <a:t>1”</a:t>
            </a:r>
            <a:r>
              <a:rPr lang="zh-CN" altLang="en-US" sz="2000" dirty="0">
                <a:solidFill>
                  <a:srgbClr val="CC3300"/>
                </a:solidFill>
                <a:latin typeface="Times New Roman" panose="02020603050405020304" pitchFamily="18" charset="0"/>
              </a:rPr>
              <a:t>时</a:t>
            </a:r>
            <a:endParaRPr lang="en-US" altLang="zh-CN" sz="2000" dirty="0">
              <a:solidFill>
                <a:srgbClr val="CC3300"/>
              </a:solidFill>
              <a:latin typeface="Times New Roman" panose="02020603050405020304" pitchFamily="18" charset="0"/>
            </a:endParaRPr>
          </a:p>
          <a:p>
            <a:pPr>
              <a:lnSpc>
                <a:spcPct val="95000"/>
              </a:lnSpc>
            </a:pPr>
            <a:r>
              <a:rPr lang="en-US" altLang="zh-CN" sz="2000" dirty="0">
                <a:solidFill>
                  <a:schemeClr val="tx1"/>
                </a:solidFill>
                <a:latin typeface="Arial" panose="020B0604020202020204" pitchFamily="34" charset="0"/>
              </a:rPr>
              <a:t>	              begin FE=1'b1; FOD=1'b0;end</a:t>
            </a:r>
          </a:p>
          <a:p>
            <a:pPr>
              <a:lnSpc>
                <a:spcPct val="95000"/>
              </a:lnSpc>
            </a:pPr>
            <a:r>
              <a:rPr lang="en-US" altLang="zh-CN" sz="2000" dirty="0">
                <a:solidFill>
                  <a:schemeClr val="tx1"/>
                </a:solidFill>
                <a:latin typeface="Arial" panose="020B0604020202020204" pitchFamily="34" charset="0"/>
              </a:rPr>
              <a:t>	          else   begin FE=1'b0; FOD=1'b1;end //</a:t>
            </a:r>
            <a:r>
              <a:rPr lang="zh-CN" altLang="en-US" sz="2000" dirty="0">
                <a:solidFill>
                  <a:srgbClr val="CC3300"/>
                </a:solidFill>
                <a:latin typeface="Times New Roman" panose="02020603050405020304" pitchFamily="18" charset="0"/>
              </a:rPr>
              <a:t>有奇数个“</a:t>
            </a:r>
            <a:r>
              <a:rPr lang="en-US" altLang="zh-CN" sz="2000" dirty="0">
                <a:solidFill>
                  <a:srgbClr val="CC3300"/>
                </a:solidFill>
                <a:latin typeface="Times New Roman" panose="02020603050405020304" pitchFamily="18" charset="0"/>
              </a:rPr>
              <a:t>1”</a:t>
            </a:r>
            <a:r>
              <a:rPr lang="zh-CN" altLang="en-US" sz="2000" dirty="0">
                <a:solidFill>
                  <a:srgbClr val="CC3300"/>
                </a:solidFill>
                <a:latin typeface="Times New Roman" panose="02020603050405020304" pitchFamily="18" charset="0"/>
              </a:rPr>
              <a:t>时</a:t>
            </a:r>
            <a:endParaRPr lang="en-US" altLang="zh-CN" sz="2000" dirty="0">
              <a:solidFill>
                <a:srgbClr val="CC3300"/>
              </a:solidFill>
              <a:latin typeface="Times New Roman" panose="02020603050405020304" pitchFamily="18" charset="0"/>
            </a:endParaRPr>
          </a:p>
          <a:p>
            <a:pPr>
              <a:lnSpc>
                <a:spcPct val="95000"/>
              </a:lnSpc>
            </a:pPr>
            <a:r>
              <a:rPr lang="en-US" altLang="zh-CN" sz="2000" dirty="0">
                <a:solidFill>
                  <a:schemeClr val="tx1"/>
                </a:solidFill>
                <a:latin typeface="Arial" panose="020B0604020202020204" pitchFamily="34" charset="0"/>
              </a:rPr>
              <a:t>           2'b11 : begin FE=1'b0; FOD=1'b0;end</a:t>
            </a:r>
          </a:p>
          <a:p>
            <a:pPr>
              <a:lnSpc>
                <a:spcPct val="95000"/>
              </a:lnSpc>
            </a:pPr>
            <a:r>
              <a:rPr lang="en-US" altLang="zh-CN" sz="2000" dirty="0">
                <a:solidFill>
                  <a:schemeClr val="tx1"/>
                </a:solidFill>
                <a:latin typeface="Arial" panose="020B0604020202020204" pitchFamily="34" charset="0"/>
              </a:rPr>
              <a:t>       </a:t>
            </a:r>
            <a:r>
              <a:rPr lang="en-US" altLang="zh-CN" sz="2000" dirty="0">
                <a:solidFill>
                  <a:srgbClr val="FF6600"/>
                </a:solidFill>
                <a:latin typeface="Arial" panose="020B0604020202020204" pitchFamily="34" charset="0"/>
              </a:rPr>
              <a:t>endcase</a:t>
            </a:r>
          </a:p>
          <a:p>
            <a:pPr>
              <a:lnSpc>
                <a:spcPct val="95000"/>
              </a:lnSpc>
            </a:pPr>
            <a:r>
              <a:rPr lang="en-US" altLang="zh-CN" sz="2000" dirty="0">
                <a:solidFill>
                  <a:schemeClr val="tx1"/>
                </a:solidFill>
                <a:latin typeface="Arial" panose="020B0604020202020204" pitchFamily="34" charset="0"/>
              </a:rPr>
              <a:t>   end   	</a:t>
            </a:r>
          </a:p>
          <a:p>
            <a:pPr>
              <a:lnSpc>
                <a:spcPct val="95000"/>
              </a:lnSpc>
            </a:pPr>
            <a:r>
              <a:rPr lang="en-US" altLang="zh-CN" sz="2000" dirty="0">
                <a:solidFill>
                  <a:schemeClr val="tx1"/>
                </a:solidFill>
                <a:latin typeface="Arial" panose="020B0604020202020204" pitchFamily="34" charset="0"/>
              </a:rPr>
              <a:t>endmodule</a:t>
            </a:r>
          </a:p>
        </p:txBody>
      </p:sp>
      <p:sp>
        <p:nvSpPr>
          <p:cNvPr id="318472" name="AutoShape 8"/>
          <p:cNvSpPr/>
          <p:nvPr/>
        </p:nvSpPr>
        <p:spPr>
          <a:xfrm>
            <a:off x="7824788" y="1147763"/>
            <a:ext cx="2660650" cy="1139825"/>
          </a:xfrm>
          <a:prstGeom prst="wedgeRoundRectCallout">
            <a:avLst>
              <a:gd name="adj1" fmla="val -62829"/>
              <a:gd name="adj2" fmla="val 20472"/>
              <a:gd name="adj3" fmla="val 16667"/>
            </a:avLst>
          </a:prstGeom>
          <a:solidFill>
            <a:srgbClr val="FFFFCC"/>
          </a:solidFill>
          <a:ln w="9525" cap="flat" cmpd="sng">
            <a:solidFill>
              <a:srgbClr val="FF6600"/>
            </a:solidFill>
            <a:prstDash val="solid"/>
            <a:miter/>
            <a:headEnd type="none" w="med" len="med"/>
            <a:tailEnd type="none" w="med" len="med"/>
          </a:ln>
          <a:effectLst>
            <a:prstShdw prst="shdw17" dist="17961" dir="2699999">
              <a:srgbClr val="993D00"/>
            </a:prstShdw>
          </a:effectLst>
        </p:spPr>
        <p:txBody>
          <a:bodyPr anchor="b" anchorCtr="0"/>
          <a:lstStyle/>
          <a:p>
            <a:pPr eaLnBrk="1" hangingPunct="1">
              <a:lnSpc>
                <a:spcPct val="90000"/>
              </a:lnSpc>
            </a:pPr>
            <a:r>
              <a:rPr lang="en-US" altLang="zh-CN" sz="1800" dirty="0">
                <a:solidFill>
                  <a:srgbClr val="CC0066"/>
                </a:solidFill>
                <a:latin typeface="Arial" panose="020B0604020202020204" pitchFamily="34" charset="0"/>
                <a:ea typeface="楷体_GB2312" pitchFamily="49" charset="-122"/>
              </a:rPr>
              <a:t>n</a:t>
            </a:r>
            <a:r>
              <a:rPr lang="zh-CN" altLang="en-US" sz="1800" dirty="0">
                <a:solidFill>
                  <a:schemeClr val="tx1"/>
                </a:solidFill>
                <a:latin typeface="Arial" panose="020B0604020202020204" pitchFamily="34" charset="0"/>
                <a:ea typeface="楷体_GB2312" pitchFamily="49" charset="-122"/>
              </a:rPr>
              <a:t>个数异或时，若</a:t>
            </a:r>
            <a:r>
              <a:rPr lang="zh-CN" altLang="en-US" sz="1800" dirty="0">
                <a:solidFill>
                  <a:srgbClr val="CC0066"/>
                </a:solidFill>
                <a:latin typeface="Arial" panose="020B0604020202020204" pitchFamily="34" charset="0"/>
                <a:ea typeface="楷体_GB2312" pitchFamily="49" charset="-122"/>
              </a:rPr>
              <a:t>结果为</a:t>
            </a:r>
            <a:r>
              <a:rPr lang="en-US" altLang="zh-CN" sz="1800" dirty="0">
                <a:solidFill>
                  <a:srgbClr val="CC0066"/>
                </a:solidFill>
                <a:latin typeface="Arial" panose="020B0604020202020204" pitchFamily="34" charset="0"/>
                <a:ea typeface="楷体_GB2312" pitchFamily="49" charset="-122"/>
              </a:rPr>
              <a:t>1</a:t>
            </a:r>
            <a:r>
              <a:rPr lang="zh-CN" altLang="en-US" sz="1800" dirty="0">
                <a:solidFill>
                  <a:schemeClr val="tx1"/>
                </a:solidFill>
                <a:latin typeface="Arial" panose="020B0604020202020204" pitchFamily="34" charset="0"/>
                <a:ea typeface="楷体_GB2312" pitchFamily="49" charset="-122"/>
              </a:rPr>
              <a:t>，表示其中有</a:t>
            </a:r>
            <a:r>
              <a:rPr lang="zh-CN" altLang="en-US" sz="1800" dirty="0">
                <a:solidFill>
                  <a:srgbClr val="CC0066"/>
                </a:solidFill>
                <a:latin typeface="Arial" panose="020B0604020202020204" pitchFamily="34" charset="0"/>
                <a:ea typeface="楷体_GB2312" pitchFamily="49" charset="-122"/>
              </a:rPr>
              <a:t>奇数个“</a:t>
            </a:r>
            <a:r>
              <a:rPr lang="en-US" altLang="zh-CN" sz="1800" dirty="0">
                <a:solidFill>
                  <a:srgbClr val="CC0066"/>
                </a:solidFill>
                <a:latin typeface="Arial" panose="020B0604020202020204" pitchFamily="34" charset="0"/>
                <a:ea typeface="楷体_GB2312" pitchFamily="49" charset="-122"/>
              </a:rPr>
              <a:t>1”</a:t>
            </a:r>
            <a:r>
              <a:rPr lang="zh-CN" altLang="en-US" sz="1800" dirty="0">
                <a:solidFill>
                  <a:schemeClr val="tx1"/>
                </a:solidFill>
                <a:latin typeface="Arial" panose="020B0604020202020204" pitchFamily="34" charset="0"/>
                <a:ea typeface="楷体_GB2312" pitchFamily="49" charset="-122"/>
              </a:rPr>
              <a:t>；若结果为</a:t>
            </a:r>
            <a:r>
              <a:rPr lang="en-US" altLang="zh-CN" sz="1800" dirty="0">
                <a:solidFill>
                  <a:schemeClr val="tx1"/>
                </a:solidFill>
                <a:latin typeface="Arial" panose="020B0604020202020204" pitchFamily="34" charset="0"/>
                <a:ea typeface="楷体_GB2312" pitchFamily="49" charset="-122"/>
              </a:rPr>
              <a:t>0</a:t>
            </a:r>
            <a:r>
              <a:rPr lang="zh-CN" altLang="en-US" sz="1800" dirty="0">
                <a:solidFill>
                  <a:schemeClr val="tx1"/>
                </a:solidFill>
                <a:latin typeface="Arial" panose="020B0604020202020204" pitchFamily="34" charset="0"/>
                <a:ea typeface="楷体_GB2312" pitchFamily="49" charset="-122"/>
              </a:rPr>
              <a:t>，表示有偶数个“</a:t>
            </a:r>
            <a:r>
              <a:rPr lang="en-US" altLang="zh-CN" sz="1800" dirty="0">
                <a:solidFill>
                  <a:schemeClr val="tx1"/>
                </a:solidFill>
                <a:latin typeface="Arial" panose="020B0604020202020204" pitchFamily="34" charset="0"/>
                <a:ea typeface="楷体_GB2312" pitchFamily="49" charset="-122"/>
              </a:rPr>
              <a:t>1”</a:t>
            </a:r>
            <a:r>
              <a:rPr lang="zh-CN" altLang="en-US" sz="1800" dirty="0">
                <a:solidFill>
                  <a:schemeClr val="tx1"/>
                </a:solidFill>
                <a:latin typeface="Arial" panose="020B0604020202020204" pitchFamily="34" charset="0"/>
                <a:ea typeface="楷体_GB2312" pitchFamily="49" charset="-122"/>
              </a:rPr>
              <a:t>。</a:t>
            </a:r>
            <a:endParaRPr lang="zh-CN" altLang="en-US" sz="1800" dirty="0">
              <a:latin typeface="Times New Roman" panose="02020603050405020304" pitchFamily="18" charset="0"/>
            </a:endParaRPr>
          </a:p>
        </p:txBody>
      </p:sp>
    </p:spTree>
  </p:cSld>
  <p:clrMapOvr>
    <a:masterClrMapping/>
  </p:clrMapOvr>
  <p:transition spd="med">
    <p:blinds dir="vert"/>
    <p:sndAc>
      <p:stSnd>
        <p:snd r:embed="rId3" name="projctor.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18472"/>
                                        </p:tgtEl>
                                        <p:attrNameLst>
                                          <p:attrName>style.visibility</p:attrName>
                                        </p:attrNameLst>
                                      </p:cBhvr>
                                      <p:to>
                                        <p:strVal val="visible"/>
                                      </p:to>
                                    </p:set>
                                    <p:animEffect transition="in" filter="dissolve">
                                      <p:cBhvr>
                                        <p:cTn id="7" dur="500"/>
                                        <p:tgtEl>
                                          <p:spTgt spid="31847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06499"/>
                                        </p:tgtEl>
                                        <p:attrNameLst>
                                          <p:attrName>style.visibility</p:attrName>
                                        </p:attrNameLst>
                                      </p:cBhvr>
                                      <p:to>
                                        <p:strVal val="visible"/>
                                      </p:to>
                                    </p:set>
                                    <p:anim calcmode="lin" valueType="num">
                                      <p:cBhvr additive="base">
                                        <p:cTn id="11" dur="500" fill="hold"/>
                                        <p:tgtEl>
                                          <p:spTgt spid="106499"/>
                                        </p:tgtEl>
                                        <p:attrNameLst>
                                          <p:attrName>ppt_x</p:attrName>
                                        </p:attrNameLst>
                                      </p:cBhvr>
                                      <p:tavLst>
                                        <p:tav tm="0">
                                          <p:val>
                                            <p:strVal val="#ppt_x"/>
                                          </p:val>
                                        </p:tav>
                                        <p:tav tm="100000">
                                          <p:val>
                                            <p:strVal val="#ppt_x"/>
                                          </p:val>
                                        </p:tav>
                                      </p:tavLst>
                                    </p:anim>
                                    <p:anim calcmode="lin" valueType="num">
                                      <p:cBhvr additive="base">
                                        <p:cTn id="12" dur="500" fill="hold"/>
                                        <p:tgtEl>
                                          <p:spTgt spid="1064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72" grpId="0" bldLvl="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p:txBody>
          <a:bodyPr>
            <a:normAutofit fontScale="90000"/>
          </a:bodyPr>
          <a:lstStyle/>
          <a:p>
            <a:r>
              <a:rPr lang="en-US" altLang="zh-CN" dirty="0">
                <a:solidFill>
                  <a:srgbClr val="FFCC00"/>
                </a:solidFill>
                <a:latin typeface="Arial" panose="020B0604020202020204" pitchFamily="34" charset="0"/>
                <a:ea typeface="黑体" panose="02010609060101010101" pitchFamily="49" charset="-122"/>
              </a:rPr>
              <a:t>6.3.3  </a:t>
            </a:r>
            <a:r>
              <a:rPr lang="zh-CN" altLang="en-US" dirty="0">
                <a:solidFill>
                  <a:srgbClr val="FFCC00"/>
                </a:solidFill>
                <a:latin typeface="Arial" panose="020B0604020202020204" pitchFamily="34" charset="0"/>
                <a:ea typeface="黑体" panose="02010609060101010101" pitchFamily="49" charset="-122"/>
              </a:rPr>
              <a:t>钟控</a:t>
            </a:r>
            <a:r>
              <a:rPr lang="en-US" altLang="zh-CN" dirty="0">
                <a:solidFill>
                  <a:srgbClr val="FFCC00"/>
                </a:solidFill>
                <a:latin typeface="Arial" panose="020B0604020202020204" pitchFamily="34" charset="0"/>
                <a:ea typeface="黑体" panose="02010609060101010101" pitchFamily="49" charset="-122"/>
              </a:rPr>
              <a:t>JK</a:t>
            </a:r>
            <a:r>
              <a:rPr lang="zh-CN" altLang="en-US" dirty="0">
                <a:solidFill>
                  <a:srgbClr val="FFCC00"/>
                </a:solidFill>
                <a:latin typeface="Arial" panose="020B0604020202020204" pitchFamily="34" charset="0"/>
                <a:ea typeface="黑体" panose="02010609060101010101" pitchFamily="49" charset="-122"/>
              </a:rPr>
              <a:t>触发器</a:t>
            </a:r>
          </a:p>
        </p:txBody>
      </p:sp>
      <p:sp>
        <p:nvSpPr>
          <p:cNvPr id="38916" name="Rectangle 3"/>
          <p:cNvSpPr>
            <a:spLocks noGrp="1" noChangeArrowheads="1"/>
          </p:cNvSpPr>
          <p:nvPr>
            <p:ph type="body" sz="half" idx="1"/>
          </p:nvPr>
        </p:nvSpPr>
        <p:spPr>
          <a:xfrm>
            <a:off x="1739900" y="1120776"/>
            <a:ext cx="8928100" cy="1693863"/>
          </a:xfrm>
        </p:spPr>
        <p:txBody>
          <a:bodyPr/>
          <a:lstStyle/>
          <a:p>
            <a:pPr marL="365125" indent="-365125">
              <a:lnSpc>
                <a:spcPct val="110000"/>
              </a:lnSpc>
            </a:pPr>
            <a:r>
              <a:rPr lang="en-US" altLang="zh-CN" sz="2000">
                <a:ea typeface="宋体" panose="02010600030101010101" pitchFamily="2" charset="-122"/>
              </a:rPr>
              <a:t>D</a:t>
            </a:r>
            <a:r>
              <a:rPr lang="zh-CN" altLang="en-US" sz="2000">
                <a:ea typeface="宋体" panose="02010600030101010101" pitchFamily="2" charset="-122"/>
              </a:rPr>
              <a:t>锁存器虽然没有约束条件，但功能较少（只有置</a:t>
            </a:r>
            <a:r>
              <a:rPr lang="en-US" altLang="zh-CN" sz="2000">
                <a:ea typeface="宋体" panose="02010600030101010101" pitchFamily="2" charset="-122"/>
              </a:rPr>
              <a:t>0</a:t>
            </a:r>
            <a:r>
              <a:rPr lang="zh-CN" altLang="en-US" sz="2000">
                <a:ea typeface="宋体" panose="02010600030101010101" pitchFamily="2" charset="-122"/>
              </a:rPr>
              <a:t>、置</a:t>
            </a:r>
            <a:r>
              <a:rPr lang="en-US" altLang="zh-CN" sz="2000">
                <a:ea typeface="宋体" panose="02010600030101010101" pitchFamily="2" charset="-122"/>
              </a:rPr>
              <a:t>1</a:t>
            </a:r>
            <a:r>
              <a:rPr lang="zh-CN" altLang="en-US" sz="2000">
                <a:ea typeface="宋体" panose="02010600030101010101" pitchFamily="2" charset="-122"/>
              </a:rPr>
              <a:t>功能）。</a:t>
            </a:r>
          </a:p>
          <a:p>
            <a:pPr marL="365125" indent="-365125">
              <a:lnSpc>
                <a:spcPct val="110000"/>
              </a:lnSpc>
            </a:pPr>
            <a:r>
              <a:rPr lang="en-US" altLang="zh-CN" sz="2000">
                <a:ea typeface="宋体" panose="02010600030101010101" pitchFamily="2" charset="-122"/>
              </a:rPr>
              <a:t>JK</a:t>
            </a:r>
            <a:r>
              <a:rPr lang="zh-CN" altLang="en-US" sz="2000">
                <a:ea typeface="宋体" panose="02010600030101010101" pitchFamily="2" charset="-122"/>
              </a:rPr>
              <a:t>触发器是一种功能最全面，而且没有约束条件的</a:t>
            </a:r>
            <a:r>
              <a:rPr lang="en-US" altLang="zh-CN" sz="2000">
                <a:ea typeface="宋体" panose="02010600030101010101" pitchFamily="2" charset="-122"/>
              </a:rPr>
              <a:t>FF</a:t>
            </a:r>
            <a:r>
              <a:rPr lang="zh-CN" altLang="en-US" sz="2000">
                <a:ea typeface="宋体" panose="02010600030101010101" pitchFamily="2" charset="-122"/>
              </a:rPr>
              <a:t>。它是在钟控</a:t>
            </a:r>
            <a:r>
              <a:rPr lang="en-US" altLang="zh-CN" sz="2000">
                <a:ea typeface="宋体" panose="02010600030101010101" pitchFamily="2" charset="-122"/>
              </a:rPr>
              <a:t>RS FF</a:t>
            </a:r>
            <a:r>
              <a:rPr lang="zh-CN" altLang="en-US" sz="2000">
                <a:ea typeface="宋体" panose="02010600030101010101" pitchFamily="2" charset="-122"/>
              </a:rPr>
              <a:t>的基础上，增加两条反馈线，</a:t>
            </a:r>
            <a:r>
              <a:rPr lang="en-US" altLang="zh-CN" sz="2000">
                <a:ea typeface="宋体" panose="02010600030101010101" pitchFamily="2" charset="-122"/>
              </a:rPr>
              <a:t>Q</a:t>
            </a:r>
            <a:r>
              <a:rPr lang="zh-CN" altLang="en-US" sz="2000">
                <a:ea typeface="宋体" panose="02010600030101010101" pitchFamily="2" charset="-122"/>
              </a:rPr>
              <a:t>反馈到</a:t>
            </a:r>
            <a:r>
              <a:rPr lang="en-US" altLang="zh-CN" sz="2000">
                <a:ea typeface="宋体" panose="02010600030101010101" pitchFamily="2" charset="-122"/>
              </a:rPr>
              <a:t>R</a:t>
            </a:r>
            <a:r>
              <a:rPr lang="zh-CN" altLang="en-US" sz="2000">
                <a:ea typeface="宋体" panose="02010600030101010101" pitchFamily="2" charset="-122"/>
              </a:rPr>
              <a:t>钟控门的输入端，并把</a:t>
            </a:r>
            <a:r>
              <a:rPr lang="en-US" altLang="zh-CN" sz="2000">
                <a:ea typeface="宋体" panose="02010600030101010101" pitchFamily="2" charset="-122"/>
              </a:rPr>
              <a:t>R</a:t>
            </a:r>
            <a:r>
              <a:rPr lang="zh-CN" altLang="en-US" sz="2000">
                <a:ea typeface="宋体" panose="02010600030101010101" pitchFamily="2" charset="-122"/>
              </a:rPr>
              <a:t>改为</a:t>
            </a:r>
            <a:r>
              <a:rPr lang="en-US" altLang="zh-CN" sz="2000">
                <a:ea typeface="宋体" panose="02010600030101010101" pitchFamily="2" charset="-122"/>
              </a:rPr>
              <a:t>K</a:t>
            </a:r>
            <a:r>
              <a:rPr lang="zh-CN" altLang="en-US" sz="2000">
                <a:ea typeface="宋体" panose="02010600030101010101" pitchFamily="2" charset="-122"/>
              </a:rPr>
              <a:t>；</a:t>
            </a:r>
            <a:r>
              <a:rPr lang="en-US" altLang="zh-CN" sz="2000">
                <a:ea typeface="宋体" panose="02010600030101010101" pitchFamily="2" charset="-122"/>
              </a:rPr>
              <a:t>/Q</a:t>
            </a:r>
            <a:r>
              <a:rPr lang="zh-CN" altLang="en-US" sz="2000">
                <a:ea typeface="宋体" panose="02010600030101010101" pitchFamily="2" charset="-122"/>
              </a:rPr>
              <a:t>反馈到</a:t>
            </a:r>
            <a:r>
              <a:rPr lang="en-US" altLang="zh-CN" sz="2000">
                <a:ea typeface="宋体" panose="02010600030101010101" pitchFamily="2" charset="-122"/>
              </a:rPr>
              <a:t>S</a:t>
            </a:r>
            <a:r>
              <a:rPr lang="zh-CN" altLang="en-US" sz="2000">
                <a:ea typeface="宋体" panose="02010600030101010101" pitchFamily="2" charset="-122"/>
              </a:rPr>
              <a:t>门上，并把</a:t>
            </a:r>
            <a:r>
              <a:rPr lang="en-US" altLang="zh-CN" sz="2000">
                <a:ea typeface="宋体" panose="02010600030101010101" pitchFamily="2" charset="-122"/>
              </a:rPr>
              <a:t>S</a:t>
            </a:r>
            <a:r>
              <a:rPr lang="zh-CN" altLang="en-US" sz="2000">
                <a:ea typeface="宋体" panose="02010600030101010101" pitchFamily="2" charset="-122"/>
              </a:rPr>
              <a:t>改名为</a:t>
            </a:r>
            <a:r>
              <a:rPr lang="en-US" altLang="zh-CN" sz="2000">
                <a:ea typeface="宋体" panose="02010600030101010101" pitchFamily="2" charset="-122"/>
              </a:rPr>
              <a:t>J</a:t>
            </a:r>
            <a:r>
              <a:rPr lang="zh-CN" altLang="en-US" sz="2000">
                <a:ea typeface="宋体" panose="02010600030101010101" pitchFamily="2" charset="-122"/>
              </a:rPr>
              <a:t>。</a:t>
            </a:r>
          </a:p>
        </p:txBody>
      </p:sp>
      <p:sp>
        <p:nvSpPr>
          <p:cNvPr id="99331" name="灯片编号占位符 4"/>
          <p:cNvSpPr>
            <a:spLocks noGrp="1" noChangeArrowheads="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EF05404-3581-486A-AFB9-33DAA85E61F6}" type="slidenum">
              <a:rPr lang="ko-KR" altLang="en-US" sz="1600">
                <a:solidFill>
                  <a:schemeClr val="accent2"/>
                </a:solidFill>
                <a:ea typeface="Gulim" panose="020B0600000101010101" pitchFamily="34" charset="-127"/>
              </a:rPr>
              <a:t>36</a:t>
            </a:fld>
            <a:endParaRPr lang="ko-KR" altLang="en-US" sz="1600">
              <a:solidFill>
                <a:schemeClr val="accent2"/>
              </a:solidFill>
              <a:ea typeface="Gulim" panose="020B0600000101010101" pitchFamily="34" charset="-127"/>
            </a:endParaRPr>
          </a:p>
        </p:txBody>
      </p:sp>
      <p:grpSp>
        <p:nvGrpSpPr>
          <p:cNvPr id="2" name="Group 98"/>
          <p:cNvGrpSpPr/>
          <p:nvPr/>
        </p:nvGrpSpPr>
        <p:grpSpPr bwMode="auto">
          <a:xfrm>
            <a:off x="3687764" y="4292600"/>
            <a:ext cx="541337" cy="673100"/>
            <a:chOff x="295" y="2707"/>
            <a:chExt cx="341" cy="424"/>
          </a:xfrm>
        </p:grpSpPr>
        <p:grpSp>
          <p:nvGrpSpPr>
            <p:cNvPr id="99333" name="Group 124"/>
            <p:cNvGrpSpPr/>
            <p:nvPr/>
          </p:nvGrpSpPr>
          <p:grpSpPr bwMode="auto">
            <a:xfrm>
              <a:off x="295" y="2707"/>
              <a:ext cx="114" cy="424"/>
              <a:chOff x="3312" y="1056"/>
              <a:chExt cx="96" cy="384"/>
            </a:xfrm>
          </p:grpSpPr>
          <p:sp>
            <p:nvSpPr>
              <p:cNvPr id="99334" name="Line 125"/>
              <p:cNvSpPr>
                <a:spLocks noChangeShapeType="1"/>
              </p:cNvSpPr>
              <p:nvPr/>
            </p:nvSpPr>
            <p:spPr bwMode="auto">
              <a:xfrm>
                <a:off x="3312" y="1392"/>
                <a:ext cx="0" cy="48"/>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35" name="Line 126"/>
              <p:cNvSpPr>
                <a:spLocks noChangeShapeType="1"/>
              </p:cNvSpPr>
              <p:nvPr/>
            </p:nvSpPr>
            <p:spPr bwMode="auto">
              <a:xfrm>
                <a:off x="3312" y="1440"/>
                <a:ext cx="96" cy="0"/>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36" name="Line 127"/>
              <p:cNvSpPr>
                <a:spLocks noChangeShapeType="1"/>
              </p:cNvSpPr>
              <p:nvPr/>
            </p:nvSpPr>
            <p:spPr bwMode="auto">
              <a:xfrm flipV="1">
                <a:off x="3408" y="1056"/>
                <a:ext cx="0" cy="384"/>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9337" name="Group 128"/>
            <p:cNvGrpSpPr/>
            <p:nvPr/>
          </p:nvGrpSpPr>
          <p:grpSpPr bwMode="auto">
            <a:xfrm>
              <a:off x="523" y="2707"/>
              <a:ext cx="113" cy="424"/>
              <a:chOff x="3504" y="1056"/>
              <a:chExt cx="96" cy="384"/>
            </a:xfrm>
          </p:grpSpPr>
          <p:sp>
            <p:nvSpPr>
              <p:cNvPr id="99338" name="Line 129"/>
              <p:cNvSpPr>
                <a:spLocks noChangeShapeType="1"/>
              </p:cNvSpPr>
              <p:nvPr/>
            </p:nvSpPr>
            <p:spPr bwMode="auto">
              <a:xfrm>
                <a:off x="3600" y="1392"/>
                <a:ext cx="0" cy="48"/>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39" name="Line 130"/>
              <p:cNvSpPr>
                <a:spLocks noChangeShapeType="1"/>
              </p:cNvSpPr>
              <p:nvPr/>
            </p:nvSpPr>
            <p:spPr bwMode="auto">
              <a:xfrm flipH="1">
                <a:off x="3504" y="1440"/>
                <a:ext cx="96" cy="0"/>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40" name="Line 131"/>
              <p:cNvSpPr>
                <a:spLocks noChangeShapeType="1"/>
              </p:cNvSpPr>
              <p:nvPr/>
            </p:nvSpPr>
            <p:spPr bwMode="auto">
              <a:xfrm flipV="1">
                <a:off x="3504" y="1056"/>
                <a:ext cx="0" cy="384"/>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5" name="Group 99"/>
          <p:cNvGrpSpPr/>
          <p:nvPr/>
        </p:nvGrpSpPr>
        <p:grpSpPr bwMode="auto">
          <a:xfrm>
            <a:off x="6872289" y="2852739"/>
            <a:ext cx="1563687" cy="1958975"/>
            <a:chOff x="3369" y="1797"/>
            <a:chExt cx="985" cy="1234"/>
          </a:xfrm>
        </p:grpSpPr>
        <p:sp>
          <p:nvSpPr>
            <p:cNvPr id="99342" name="Text Box 136"/>
            <p:cNvSpPr txBox="1">
              <a:spLocks noChangeArrowheads="1"/>
            </p:cNvSpPr>
            <p:nvPr/>
          </p:nvSpPr>
          <p:spPr bwMode="auto">
            <a:xfrm>
              <a:off x="3493" y="2094"/>
              <a:ext cx="32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Q</a:t>
              </a:r>
            </a:p>
          </p:txBody>
        </p:sp>
        <p:sp>
          <p:nvSpPr>
            <p:cNvPr id="99343" name="Text Box 138"/>
            <p:cNvSpPr txBox="1">
              <a:spLocks noChangeArrowheads="1"/>
            </p:cNvSpPr>
            <p:nvPr/>
          </p:nvSpPr>
          <p:spPr bwMode="auto">
            <a:xfrm>
              <a:off x="3989" y="2115"/>
              <a:ext cx="32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Q</a:t>
              </a:r>
            </a:p>
          </p:txBody>
        </p:sp>
        <p:sp>
          <p:nvSpPr>
            <p:cNvPr id="99344" name="Line 139"/>
            <p:cNvSpPr>
              <a:spLocks noChangeShapeType="1"/>
            </p:cNvSpPr>
            <p:nvPr/>
          </p:nvSpPr>
          <p:spPr bwMode="auto">
            <a:xfrm>
              <a:off x="4049" y="2147"/>
              <a:ext cx="1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45" name="Text Box 140"/>
            <p:cNvSpPr txBox="1">
              <a:spLocks noChangeArrowheads="1"/>
            </p:cNvSpPr>
            <p:nvPr/>
          </p:nvSpPr>
          <p:spPr bwMode="auto">
            <a:xfrm>
              <a:off x="3541" y="2447"/>
              <a:ext cx="24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J</a:t>
              </a:r>
            </a:p>
          </p:txBody>
        </p:sp>
        <p:sp>
          <p:nvSpPr>
            <p:cNvPr id="99346" name="Text Box 141"/>
            <p:cNvSpPr txBox="1">
              <a:spLocks noChangeArrowheads="1"/>
            </p:cNvSpPr>
            <p:nvPr/>
          </p:nvSpPr>
          <p:spPr bwMode="auto">
            <a:xfrm>
              <a:off x="4006" y="2447"/>
              <a:ext cx="34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K</a:t>
              </a:r>
            </a:p>
          </p:txBody>
        </p:sp>
        <p:sp>
          <p:nvSpPr>
            <p:cNvPr id="99347" name="Rectangle 142"/>
            <p:cNvSpPr>
              <a:spLocks noChangeArrowheads="1"/>
            </p:cNvSpPr>
            <p:nvPr/>
          </p:nvSpPr>
          <p:spPr bwMode="auto">
            <a:xfrm>
              <a:off x="3369" y="2121"/>
              <a:ext cx="960" cy="584"/>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48" name="Line 143"/>
            <p:cNvSpPr>
              <a:spLocks noChangeShapeType="1"/>
            </p:cNvSpPr>
            <p:nvPr/>
          </p:nvSpPr>
          <p:spPr bwMode="auto">
            <a:xfrm flipV="1">
              <a:off x="3625" y="1797"/>
              <a:ext cx="0" cy="3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49" name="Oval 144"/>
            <p:cNvSpPr>
              <a:spLocks noChangeArrowheads="1"/>
            </p:cNvSpPr>
            <p:nvPr/>
          </p:nvSpPr>
          <p:spPr bwMode="auto">
            <a:xfrm>
              <a:off x="4073" y="2057"/>
              <a:ext cx="64" cy="64"/>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50" name="Line 145"/>
            <p:cNvSpPr>
              <a:spLocks noChangeShapeType="1"/>
            </p:cNvSpPr>
            <p:nvPr/>
          </p:nvSpPr>
          <p:spPr bwMode="auto">
            <a:xfrm>
              <a:off x="4101" y="1797"/>
              <a:ext cx="0" cy="2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51" name="Line 146"/>
            <p:cNvSpPr>
              <a:spLocks noChangeShapeType="1"/>
            </p:cNvSpPr>
            <p:nvPr/>
          </p:nvSpPr>
          <p:spPr bwMode="auto">
            <a:xfrm>
              <a:off x="3653" y="2707"/>
              <a:ext cx="0" cy="3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52" name="Line 147"/>
            <p:cNvSpPr>
              <a:spLocks noChangeShapeType="1"/>
            </p:cNvSpPr>
            <p:nvPr/>
          </p:nvSpPr>
          <p:spPr bwMode="auto">
            <a:xfrm>
              <a:off x="4085" y="2707"/>
              <a:ext cx="0" cy="3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53" name="Line 148"/>
            <p:cNvSpPr>
              <a:spLocks noChangeShapeType="1"/>
            </p:cNvSpPr>
            <p:nvPr/>
          </p:nvSpPr>
          <p:spPr bwMode="auto">
            <a:xfrm>
              <a:off x="3869" y="2707"/>
              <a:ext cx="0" cy="32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54" name="Text Box 149"/>
            <p:cNvSpPr txBox="1">
              <a:spLocks noChangeArrowheads="1"/>
            </p:cNvSpPr>
            <p:nvPr/>
          </p:nvSpPr>
          <p:spPr bwMode="auto">
            <a:xfrm>
              <a:off x="3719" y="2447"/>
              <a:ext cx="30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CP</a:t>
              </a:r>
            </a:p>
          </p:txBody>
        </p:sp>
      </p:grpSp>
      <p:sp>
        <p:nvSpPr>
          <p:cNvPr id="38954" name="Text Box 1"/>
          <p:cNvSpPr txBox="1">
            <a:spLocks noChangeArrowheads="1"/>
          </p:cNvSpPr>
          <p:nvPr/>
        </p:nvSpPr>
        <p:spPr bwMode="auto">
          <a:xfrm>
            <a:off x="5795963" y="5307014"/>
            <a:ext cx="4513262" cy="646331"/>
          </a:xfrm>
          <a:prstGeom prst="rect">
            <a:avLst/>
          </a:prstGeom>
          <a:solidFill>
            <a:srgbClr val="FFCCFF"/>
          </a:solidFill>
          <a:ln w="9525" algn="ctr">
            <a:noFill/>
            <a:miter lim="800000"/>
          </a:ln>
          <a:effectLst>
            <a:outerShdw blurRad="50800" dist="38100" dir="18900000" algn="bl" rotWithShape="0">
              <a:prstClr val="black">
                <a:alpha val="40000"/>
              </a:prstClr>
            </a:outerShdw>
          </a:effectLst>
        </p:spPr>
        <p:txBody>
          <a:bodyPr>
            <a:spAutoFit/>
          </a:bodyPr>
          <a:lstStyle/>
          <a:p>
            <a:pPr marL="266700" indent="-266700">
              <a:spcBef>
                <a:spcPct val="50000"/>
              </a:spcBef>
              <a:buClr>
                <a:srgbClr val="FF0066"/>
              </a:buClr>
              <a:buFont typeface="Wingdings" panose="05000000000000000000" pitchFamily="2" charset="2"/>
              <a:buChar char="v"/>
            </a:pPr>
            <a:r>
              <a:rPr lang="zh-CN" altLang="en-US" noProof="1">
                <a:ea typeface="楷体_GB2312" pitchFamily="49" charset="-122"/>
              </a:rPr>
              <a:t>把</a:t>
            </a:r>
            <a:r>
              <a:rPr lang="en-US" altLang="zh-CN" noProof="1">
                <a:ea typeface="楷体_GB2312" pitchFamily="49" charset="-122"/>
              </a:rPr>
              <a:t>RS</a:t>
            </a:r>
            <a:r>
              <a:rPr lang="zh-CN" altLang="en-US" noProof="1">
                <a:ea typeface="楷体_GB2312" pitchFamily="49" charset="-122"/>
              </a:rPr>
              <a:t>＝</a:t>
            </a:r>
            <a:r>
              <a:rPr lang="en-US" altLang="zh-CN" noProof="1">
                <a:ea typeface="楷体_GB2312" pitchFamily="49" charset="-122"/>
              </a:rPr>
              <a:t>11</a:t>
            </a:r>
            <a:r>
              <a:rPr lang="zh-CN" altLang="en-US" noProof="1">
                <a:ea typeface="楷体_GB2312" pitchFamily="49" charset="-122"/>
              </a:rPr>
              <a:t>的无效状态变为</a:t>
            </a:r>
            <a:r>
              <a:rPr lang="en-US" altLang="zh-CN" noProof="1">
                <a:ea typeface="楷体_GB2312" pitchFamily="49" charset="-122"/>
              </a:rPr>
              <a:t>JK</a:t>
            </a:r>
            <a:r>
              <a:rPr lang="zh-CN" altLang="en-US" noProof="1">
                <a:ea typeface="楷体_GB2312" pitchFamily="49" charset="-122"/>
              </a:rPr>
              <a:t>触发器的</a:t>
            </a:r>
            <a:r>
              <a:rPr lang="zh-CN" altLang="en-US" noProof="1">
                <a:solidFill>
                  <a:srgbClr val="CC0066"/>
                </a:solidFill>
                <a:ea typeface="楷体_GB2312" pitchFamily="49" charset="-122"/>
              </a:rPr>
              <a:t>翻转（计数）</a:t>
            </a:r>
            <a:r>
              <a:rPr lang="zh-CN" altLang="en-US" noProof="1">
                <a:ea typeface="楷体_GB2312" pitchFamily="49" charset="-122"/>
              </a:rPr>
              <a:t>功能</a:t>
            </a:r>
          </a:p>
        </p:txBody>
      </p:sp>
      <p:sp>
        <p:nvSpPr>
          <p:cNvPr id="39002" name="Rectangle 90"/>
          <p:cNvSpPr>
            <a:spLocks noChangeArrowheads="1"/>
          </p:cNvSpPr>
          <p:nvPr/>
        </p:nvSpPr>
        <p:spPr bwMode="auto">
          <a:xfrm>
            <a:off x="2057401" y="5949950"/>
            <a:ext cx="3738563" cy="400050"/>
          </a:xfrm>
          <a:prstGeom prst="rect">
            <a:avLst/>
          </a:prstGeom>
          <a:noFill/>
          <a:ln>
            <a:noFill/>
          </a:ln>
          <a:effectLst>
            <a:prstShdw prst="shdw13" dist="53882" dir="13500000">
              <a:srgbClr val="166A6A">
                <a:alpha val="50000"/>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a:solidFill>
                  <a:srgbClr val="C00000"/>
                </a:solidFill>
                <a:ea typeface="楷体_GB2312" pitchFamily="49" charset="-122"/>
              </a:rPr>
              <a:t>钟控</a:t>
            </a:r>
            <a:r>
              <a:rPr lang="en-US" altLang="zh-CN" sz="2000">
                <a:solidFill>
                  <a:srgbClr val="C00000"/>
                </a:solidFill>
                <a:ea typeface="楷体_GB2312" pitchFamily="49" charset="-122"/>
              </a:rPr>
              <a:t>JK</a:t>
            </a:r>
            <a:r>
              <a:rPr lang="zh-CN" altLang="en-US" sz="2000">
                <a:solidFill>
                  <a:srgbClr val="C00000"/>
                </a:solidFill>
                <a:ea typeface="楷体_GB2312" pitchFamily="49" charset="-122"/>
              </a:rPr>
              <a:t>触发器的电路结构</a:t>
            </a:r>
          </a:p>
        </p:txBody>
      </p:sp>
      <p:grpSp>
        <p:nvGrpSpPr>
          <p:cNvPr id="6" name="Group 97"/>
          <p:cNvGrpSpPr/>
          <p:nvPr/>
        </p:nvGrpSpPr>
        <p:grpSpPr bwMode="auto">
          <a:xfrm>
            <a:off x="2587626" y="2814638"/>
            <a:ext cx="2716213" cy="3213100"/>
            <a:chOff x="670" y="1773"/>
            <a:chExt cx="1711" cy="2024"/>
          </a:xfrm>
        </p:grpSpPr>
        <p:grpSp>
          <p:nvGrpSpPr>
            <p:cNvPr id="99358" name="Group 69"/>
            <p:cNvGrpSpPr/>
            <p:nvPr/>
          </p:nvGrpSpPr>
          <p:grpSpPr bwMode="auto">
            <a:xfrm>
              <a:off x="966" y="2304"/>
              <a:ext cx="454" cy="265"/>
              <a:chOff x="3504" y="1584"/>
              <a:chExt cx="384" cy="240"/>
            </a:xfrm>
          </p:grpSpPr>
          <p:grpSp>
            <p:nvGrpSpPr>
              <p:cNvPr id="99359" name="Group 70"/>
              <p:cNvGrpSpPr/>
              <p:nvPr/>
            </p:nvGrpSpPr>
            <p:grpSpPr bwMode="auto">
              <a:xfrm>
                <a:off x="3504" y="1584"/>
                <a:ext cx="384" cy="240"/>
                <a:chOff x="3504" y="1584"/>
                <a:chExt cx="384" cy="240"/>
              </a:xfrm>
            </p:grpSpPr>
            <p:sp>
              <p:nvSpPr>
                <p:cNvPr id="99360" name="Rectangle 71"/>
                <p:cNvSpPr>
                  <a:spLocks noChangeArrowheads="1"/>
                </p:cNvSpPr>
                <p:nvPr/>
              </p:nvSpPr>
              <p:spPr bwMode="auto">
                <a:xfrm>
                  <a:off x="3504" y="1632"/>
                  <a:ext cx="384" cy="19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61" name="Oval 72"/>
                <p:cNvSpPr>
                  <a:spLocks noChangeArrowheads="1"/>
                </p:cNvSpPr>
                <p:nvPr/>
              </p:nvSpPr>
              <p:spPr bwMode="auto">
                <a:xfrm>
                  <a:off x="3675" y="1584"/>
                  <a:ext cx="48" cy="4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grpSp>
          <p:sp>
            <p:nvSpPr>
              <p:cNvPr id="99362" name="Text Box 73"/>
              <p:cNvSpPr txBox="1">
                <a:spLocks noChangeArrowheads="1"/>
              </p:cNvSpPr>
              <p:nvPr/>
            </p:nvSpPr>
            <p:spPr bwMode="auto">
              <a:xfrm>
                <a:off x="3561" y="163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600">
                    <a:latin typeface="Times New Roman" panose="02020603050405020304" pitchFamily="18" charset="0"/>
                  </a:rPr>
                  <a:t>&amp;</a:t>
                </a:r>
              </a:p>
            </p:txBody>
          </p:sp>
        </p:grpSp>
        <p:grpSp>
          <p:nvGrpSpPr>
            <p:cNvPr id="99363" name="Group 74"/>
            <p:cNvGrpSpPr/>
            <p:nvPr/>
          </p:nvGrpSpPr>
          <p:grpSpPr bwMode="auto">
            <a:xfrm>
              <a:off x="1647" y="2304"/>
              <a:ext cx="455" cy="265"/>
              <a:chOff x="3504" y="1584"/>
              <a:chExt cx="384" cy="240"/>
            </a:xfrm>
          </p:grpSpPr>
          <p:grpSp>
            <p:nvGrpSpPr>
              <p:cNvPr id="99364" name="Group 75"/>
              <p:cNvGrpSpPr/>
              <p:nvPr/>
            </p:nvGrpSpPr>
            <p:grpSpPr bwMode="auto">
              <a:xfrm>
                <a:off x="3504" y="1584"/>
                <a:ext cx="384" cy="240"/>
                <a:chOff x="3504" y="1584"/>
                <a:chExt cx="384" cy="240"/>
              </a:xfrm>
            </p:grpSpPr>
            <p:sp>
              <p:nvSpPr>
                <p:cNvPr id="99365" name="Rectangle 76"/>
                <p:cNvSpPr>
                  <a:spLocks noChangeArrowheads="1"/>
                </p:cNvSpPr>
                <p:nvPr/>
              </p:nvSpPr>
              <p:spPr bwMode="auto">
                <a:xfrm>
                  <a:off x="3504" y="1632"/>
                  <a:ext cx="384" cy="19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66" name="Oval 77"/>
                <p:cNvSpPr>
                  <a:spLocks noChangeArrowheads="1"/>
                </p:cNvSpPr>
                <p:nvPr/>
              </p:nvSpPr>
              <p:spPr bwMode="auto">
                <a:xfrm>
                  <a:off x="3675" y="1584"/>
                  <a:ext cx="48" cy="4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grpSp>
          <p:sp>
            <p:nvSpPr>
              <p:cNvPr id="99367" name="Text Box 78"/>
              <p:cNvSpPr txBox="1">
                <a:spLocks noChangeArrowheads="1"/>
              </p:cNvSpPr>
              <p:nvPr/>
            </p:nvSpPr>
            <p:spPr bwMode="auto">
              <a:xfrm>
                <a:off x="3561" y="163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600">
                    <a:latin typeface="Times New Roman" panose="02020603050405020304" pitchFamily="18" charset="0"/>
                  </a:rPr>
                  <a:t>&amp;</a:t>
                </a:r>
              </a:p>
            </p:txBody>
          </p:sp>
        </p:grpSp>
        <p:sp>
          <p:nvSpPr>
            <p:cNvPr id="99368" name="Line 79"/>
            <p:cNvSpPr>
              <a:spLocks noChangeShapeType="1"/>
            </p:cNvSpPr>
            <p:nvPr/>
          </p:nvSpPr>
          <p:spPr bwMode="auto">
            <a:xfrm>
              <a:off x="1193" y="2038"/>
              <a:ext cx="0" cy="26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69" name="Line 80"/>
            <p:cNvSpPr>
              <a:spLocks noChangeShapeType="1"/>
            </p:cNvSpPr>
            <p:nvPr/>
          </p:nvSpPr>
          <p:spPr bwMode="auto">
            <a:xfrm>
              <a:off x="1874" y="2038"/>
              <a:ext cx="0" cy="26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0" name="Line 81"/>
            <p:cNvSpPr>
              <a:spLocks noChangeShapeType="1"/>
            </p:cNvSpPr>
            <p:nvPr/>
          </p:nvSpPr>
          <p:spPr bwMode="auto">
            <a:xfrm>
              <a:off x="1193" y="2198"/>
              <a:ext cx="28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1" name="Line 82"/>
            <p:cNvSpPr>
              <a:spLocks noChangeShapeType="1"/>
            </p:cNvSpPr>
            <p:nvPr/>
          </p:nvSpPr>
          <p:spPr bwMode="auto">
            <a:xfrm>
              <a:off x="1477" y="2198"/>
              <a:ext cx="114" cy="53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2" name="Line 83"/>
            <p:cNvSpPr>
              <a:spLocks noChangeShapeType="1"/>
            </p:cNvSpPr>
            <p:nvPr/>
          </p:nvSpPr>
          <p:spPr bwMode="auto">
            <a:xfrm>
              <a:off x="1591" y="2729"/>
              <a:ext cx="17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3" name="Line 84"/>
            <p:cNvSpPr>
              <a:spLocks noChangeShapeType="1"/>
            </p:cNvSpPr>
            <p:nvPr/>
          </p:nvSpPr>
          <p:spPr bwMode="auto">
            <a:xfrm flipV="1">
              <a:off x="1761" y="2569"/>
              <a:ext cx="0" cy="1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4" name="Line 85"/>
            <p:cNvSpPr>
              <a:spLocks noChangeShapeType="1"/>
            </p:cNvSpPr>
            <p:nvPr/>
          </p:nvSpPr>
          <p:spPr bwMode="auto">
            <a:xfrm flipH="1">
              <a:off x="1591" y="2198"/>
              <a:ext cx="28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5" name="Line 86"/>
            <p:cNvSpPr>
              <a:spLocks noChangeShapeType="1"/>
            </p:cNvSpPr>
            <p:nvPr/>
          </p:nvSpPr>
          <p:spPr bwMode="auto">
            <a:xfrm flipH="1">
              <a:off x="1477" y="2198"/>
              <a:ext cx="114" cy="53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6" name="Line 87"/>
            <p:cNvSpPr>
              <a:spLocks noChangeShapeType="1"/>
            </p:cNvSpPr>
            <p:nvPr/>
          </p:nvSpPr>
          <p:spPr bwMode="auto">
            <a:xfrm flipH="1">
              <a:off x="1307" y="2729"/>
              <a:ext cx="17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7" name="Line 88"/>
            <p:cNvSpPr>
              <a:spLocks noChangeShapeType="1"/>
            </p:cNvSpPr>
            <p:nvPr/>
          </p:nvSpPr>
          <p:spPr bwMode="auto">
            <a:xfrm flipV="1">
              <a:off x="1307" y="2569"/>
              <a:ext cx="0" cy="16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378" name="Oval 89"/>
            <p:cNvSpPr>
              <a:spLocks noChangeArrowheads="1"/>
            </p:cNvSpPr>
            <p:nvPr/>
          </p:nvSpPr>
          <p:spPr bwMode="auto">
            <a:xfrm>
              <a:off x="1161" y="2165"/>
              <a:ext cx="57" cy="53"/>
            </a:xfrm>
            <a:prstGeom prst="ellipse">
              <a:avLst/>
            </a:prstGeom>
            <a:solidFill>
              <a:schemeClr val="tx1"/>
            </a:solidFill>
            <a:ln w="9525">
              <a:solidFill>
                <a:schemeClr val="tx1"/>
              </a:solidFill>
              <a:round/>
            </a:ln>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79" name="Oval 90"/>
            <p:cNvSpPr>
              <a:spLocks noChangeArrowheads="1"/>
            </p:cNvSpPr>
            <p:nvPr/>
          </p:nvSpPr>
          <p:spPr bwMode="auto">
            <a:xfrm>
              <a:off x="1839" y="2174"/>
              <a:ext cx="57" cy="54"/>
            </a:xfrm>
            <a:prstGeom prst="ellipse">
              <a:avLst/>
            </a:prstGeom>
            <a:solidFill>
              <a:schemeClr val="tx1"/>
            </a:solidFill>
            <a:ln w="9525">
              <a:solidFill>
                <a:schemeClr val="tx1"/>
              </a:solidFill>
              <a:round/>
            </a:ln>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80" name="Text Box 91"/>
            <p:cNvSpPr txBox="1">
              <a:spLocks noChangeArrowheads="1"/>
            </p:cNvSpPr>
            <p:nvPr/>
          </p:nvSpPr>
          <p:spPr bwMode="auto">
            <a:xfrm>
              <a:off x="1079" y="1773"/>
              <a:ext cx="2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Q</a:t>
              </a:r>
            </a:p>
          </p:txBody>
        </p:sp>
        <p:grpSp>
          <p:nvGrpSpPr>
            <p:cNvPr id="99381" name="Group 92"/>
            <p:cNvGrpSpPr/>
            <p:nvPr/>
          </p:nvGrpSpPr>
          <p:grpSpPr bwMode="auto">
            <a:xfrm>
              <a:off x="1761" y="1773"/>
              <a:ext cx="284" cy="212"/>
              <a:chOff x="4176" y="1104"/>
              <a:chExt cx="240" cy="192"/>
            </a:xfrm>
          </p:grpSpPr>
          <p:sp>
            <p:nvSpPr>
              <p:cNvPr id="99382" name="Text Box 93"/>
              <p:cNvSpPr txBox="1">
                <a:spLocks noChangeArrowheads="1"/>
              </p:cNvSpPr>
              <p:nvPr/>
            </p:nvSpPr>
            <p:spPr bwMode="auto">
              <a:xfrm>
                <a:off x="4176" y="1104"/>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Q</a:t>
                </a:r>
              </a:p>
            </p:txBody>
          </p:sp>
          <p:sp>
            <p:nvSpPr>
              <p:cNvPr id="99383" name="Line 94"/>
              <p:cNvSpPr>
                <a:spLocks noChangeShapeType="1"/>
              </p:cNvSpPr>
              <p:nvPr/>
            </p:nvSpPr>
            <p:spPr bwMode="auto">
              <a:xfrm>
                <a:off x="4233" y="1143"/>
                <a:ext cx="9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9384" name="Group 95"/>
            <p:cNvGrpSpPr/>
            <p:nvPr/>
          </p:nvGrpSpPr>
          <p:grpSpPr bwMode="auto">
            <a:xfrm>
              <a:off x="909" y="2569"/>
              <a:ext cx="398" cy="212"/>
              <a:chOff x="3504" y="2160"/>
              <a:chExt cx="336" cy="191"/>
            </a:xfrm>
          </p:grpSpPr>
          <p:sp>
            <p:nvSpPr>
              <p:cNvPr id="99385" name="Text Box 96"/>
              <p:cNvSpPr txBox="1">
                <a:spLocks noChangeArrowheads="1"/>
              </p:cNvSpPr>
              <p:nvPr/>
            </p:nvSpPr>
            <p:spPr bwMode="auto">
              <a:xfrm>
                <a:off x="3504" y="2160"/>
                <a:ext cx="336"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S</a:t>
                </a:r>
                <a:r>
                  <a:rPr lang="en-US" altLang="zh-CN" sz="1600" baseline="-25000">
                    <a:latin typeface="Times New Roman" panose="02020603050405020304" pitchFamily="18" charset="0"/>
                  </a:rPr>
                  <a:t>D</a:t>
                </a:r>
                <a:endParaRPr lang="en-US" altLang="zh-CN" sz="1600">
                  <a:latin typeface="Times New Roman" panose="02020603050405020304" pitchFamily="18" charset="0"/>
                </a:endParaRPr>
              </a:p>
            </p:txBody>
          </p:sp>
          <p:sp>
            <p:nvSpPr>
              <p:cNvPr id="99386" name="Line 97"/>
              <p:cNvSpPr>
                <a:spLocks noChangeShapeType="1"/>
              </p:cNvSpPr>
              <p:nvPr/>
            </p:nvSpPr>
            <p:spPr bwMode="auto">
              <a:xfrm>
                <a:off x="3561" y="2199"/>
                <a:ext cx="8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9387" name="Group 98"/>
            <p:cNvGrpSpPr/>
            <p:nvPr/>
          </p:nvGrpSpPr>
          <p:grpSpPr bwMode="auto">
            <a:xfrm>
              <a:off x="1874" y="2569"/>
              <a:ext cx="398" cy="212"/>
              <a:chOff x="3504" y="2160"/>
              <a:chExt cx="336" cy="191"/>
            </a:xfrm>
          </p:grpSpPr>
          <p:sp>
            <p:nvSpPr>
              <p:cNvPr id="99388" name="Text Box 99"/>
              <p:cNvSpPr txBox="1">
                <a:spLocks noChangeArrowheads="1"/>
              </p:cNvSpPr>
              <p:nvPr/>
            </p:nvSpPr>
            <p:spPr bwMode="auto">
              <a:xfrm>
                <a:off x="3504" y="2160"/>
                <a:ext cx="336"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R</a:t>
                </a:r>
                <a:r>
                  <a:rPr lang="en-US" altLang="zh-CN" sz="1600" baseline="-25000">
                    <a:latin typeface="Times New Roman" panose="02020603050405020304" pitchFamily="18" charset="0"/>
                  </a:rPr>
                  <a:t>D</a:t>
                </a:r>
                <a:endParaRPr lang="en-US" altLang="zh-CN" sz="1600">
                  <a:latin typeface="Times New Roman" panose="02020603050405020304" pitchFamily="18" charset="0"/>
                </a:endParaRPr>
              </a:p>
            </p:txBody>
          </p:sp>
          <p:sp>
            <p:nvSpPr>
              <p:cNvPr id="99389" name="Line 100"/>
              <p:cNvSpPr>
                <a:spLocks noChangeShapeType="1"/>
              </p:cNvSpPr>
              <p:nvPr/>
            </p:nvSpPr>
            <p:spPr bwMode="auto">
              <a:xfrm>
                <a:off x="3561" y="2199"/>
                <a:ext cx="87"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99390" name="Group 101"/>
            <p:cNvGrpSpPr/>
            <p:nvPr/>
          </p:nvGrpSpPr>
          <p:grpSpPr bwMode="auto">
            <a:xfrm>
              <a:off x="966" y="2813"/>
              <a:ext cx="454" cy="265"/>
              <a:chOff x="3504" y="1584"/>
              <a:chExt cx="384" cy="240"/>
            </a:xfrm>
          </p:grpSpPr>
          <p:grpSp>
            <p:nvGrpSpPr>
              <p:cNvPr id="99391" name="Group 102"/>
              <p:cNvGrpSpPr/>
              <p:nvPr/>
            </p:nvGrpSpPr>
            <p:grpSpPr bwMode="auto">
              <a:xfrm>
                <a:off x="3504" y="1584"/>
                <a:ext cx="384" cy="240"/>
                <a:chOff x="3504" y="1584"/>
                <a:chExt cx="384" cy="240"/>
              </a:xfrm>
            </p:grpSpPr>
            <p:sp>
              <p:nvSpPr>
                <p:cNvPr id="99392" name="Rectangle 103"/>
                <p:cNvSpPr>
                  <a:spLocks noChangeArrowheads="1"/>
                </p:cNvSpPr>
                <p:nvPr/>
              </p:nvSpPr>
              <p:spPr bwMode="auto">
                <a:xfrm>
                  <a:off x="3504" y="1632"/>
                  <a:ext cx="384" cy="19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93" name="Oval 104"/>
                <p:cNvSpPr>
                  <a:spLocks noChangeArrowheads="1"/>
                </p:cNvSpPr>
                <p:nvPr/>
              </p:nvSpPr>
              <p:spPr bwMode="auto">
                <a:xfrm>
                  <a:off x="3675" y="1584"/>
                  <a:ext cx="48" cy="4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grpSp>
          <p:sp>
            <p:nvSpPr>
              <p:cNvPr id="99394" name="Text Box 105"/>
              <p:cNvSpPr txBox="1">
                <a:spLocks noChangeArrowheads="1"/>
              </p:cNvSpPr>
              <p:nvPr/>
            </p:nvSpPr>
            <p:spPr bwMode="auto">
              <a:xfrm>
                <a:off x="3561" y="163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600">
                    <a:latin typeface="Times New Roman" panose="02020603050405020304" pitchFamily="18" charset="0"/>
                  </a:rPr>
                  <a:t>&amp;</a:t>
                </a:r>
              </a:p>
            </p:txBody>
          </p:sp>
        </p:grpSp>
        <p:grpSp>
          <p:nvGrpSpPr>
            <p:cNvPr id="99395" name="Group 106"/>
            <p:cNvGrpSpPr/>
            <p:nvPr/>
          </p:nvGrpSpPr>
          <p:grpSpPr bwMode="auto">
            <a:xfrm>
              <a:off x="1647" y="2813"/>
              <a:ext cx="455" cy="265"/>
              <a:chOff x="3504" y="1584"/>
              <a:chExt cx="384" cy="240"/>
            </a:xfrm>
          </p:grpSpPr>
          <p:grpSp>
            <p:nvGrpSpPr>
              <p:cNvPr id="99396" name="Group 107"/>
              <p:cNvGrpSpPr/>
              <p:nvPr/>
            </p:nvGrpSpPr>
            <p:grpSpPr bwMode="auto">
              <a:xfrm>
                <a:off x="3504" y="1584"/>
                <a:ext cx="384" cy="240"/>
                <a:chOff x="3504" y="1584"/>
                <a:chExt cx="384" cy="240"/>
              </a:xfrm>
            </p:grpSpPr>
            <p:sp>
              <p:nvSpPr>
                <p:cNvPr id="99397" name="Rectangle 108"/>
                <p:cNvSpPr>
                  <a:spLocks noChangeArrowheads="1"/>
                </p:cNvSpPr>
                <p:nvPr/>
              </p:nvSpPr>
              <p:spPr bwMode="auto">
                <a:xfrm>
                  <a:off x="3504" y="1632"/>
                  <a:ext cx="384" cy="192"/>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398" name="Oval 109"/>
                <p:cNvSpPr>
                  <a:spLocks noChangeArrowheads="1"/>
                </p:cNvSpPr>
                <p:nvPr/>
              </p:nvSpPr>
              <p:spPr bwMode="auto">
                <a:xfrm>
                  <a:off x="3675" y="1584"/>
                  <a:ext cx="48" cy="48"/>
                </a:xfrm>
                <a:prstGeom prst="ellipse">
                  <a:avLst/>
                </a:prstGeom>
                <a:noFill/>
                <a:ln w="1905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grpSp>
          <p:sp>
            <p:nvSpPr>
              <p:cNvPr id="99399" name="Text Box 110"/>
              <p:cNvSpPr txBox="1">
                <a:spLocks noChangeArrowheads="1"/>
              </p:cNvSpPr>
              <p:nvPr/>
            </p:nvSpPr>
            <p:spPr bwMode="auto">
              <a:xfrm>
                <a:off x="3561" y="1632"/>
                <a:ext cx="2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spcBef>
                    <a:spcPct val="50000"/>
                  </a:spcBef>
                </a:pPr>
                <a:r>
                  <a:rPr lang="en-US" altLang="zh-CN" sz="1600">
                    <a:latin typeface="Times New Roman" panose="02020603050405020304" pitchFamily="18" charset="0"/>
                  </a:rPr>
                  <a:t>&amp;</a:t>
                </a:r>
              </a:p>
            </p:txBody>
          </p:sp>
        </p:grpSp>
        <p:sp>
          <p:nvSpPr>
            <p:cNvPr id="99400" name="Line 111"/>
            <p:cNvSpPr>
              <a:spLocks noChangeShapeType="1"/>
            </p:cNvSpPr>
            <p:nvPr/>
          </p:nvSpPr>
          <p:spPr bwMode="auto">
            <a:xfrm flipV="1">
              <a:off x="1193" y="2569"/>
              <a:ext cx="0" cy="26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401" name="Line 112"/>
            <p:cNvSpPr>
              <a:spLocks noChangeShapeType="1"/>
            </p:cNvSpPr>
            <p:nvPr/>
          </p:nvSpPr>
          <p:spPr bwMode="auto">
            <a:xfrm flipV="1">
              <a:off x="1874" y="2569"/>
              <a:ext cx="0" cy="26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99402" name="Group 113"/>
            <p:cNvGrpSpPr/>
            <p:nvPr/>
          </p:nvGrpSpPr>
          <p:grpSpPr bwMode="auto">
            <a:xfrm>
              <a:off x="1250" y="3080"/>
              <a:ext cx="568" cy="179"/>
              <a:chOff x="3264" y="1374"/>
              <a:chExt cx="384" cy="96"/>
            </a:xfrm>
          </p:grpSpPr>
          <p:sp>
            <p:nvSpPr>
              <p:cNvPr id="99403" name="Line 114"/>
              <p:cNvSpPr>
                <a:spLocks noChangeShapeType="1"/>
              </p:cNvSpPr>
              <p:nvPr/>
            </p:nvSpPr>
            <p:spPr bwMode="auto">
              <a:xfrm>
                <a:off x="3264" y="1374"/>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404" name="Line 115"/>
              <p:cNvSpPr>
                <a:spLocks noChangeShapeType="1"/>
              </p:cNvSpPr>
              <p:nvPr/>
            </p:nvSpPr>
            <p:spPr bwMode="auto">
              <a:xfrm>
                <a:off x="3264" y="1470"/>
                <a:ext cx="38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405" name="Line 116"/>
              <p:cNvSpPr>
                <a:spLocks noChangeShapeType="1"/>
              </p:cNvSpPr>
              <p:nvPr/>
            </p:nvSpPr>
            <p:spPr bwMode="auto">
              <a:xfrm flipV="1">
                <a:off x="3648" y="1374"/>
                <a:ext cx="0"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99406" name="Line 117"/>
            <p:cNvSpPr>
              <a:spLocks noChangeShapeType="1"/>
            </p:cNvSpPr>
            <p:nvPr/>
          </p:nvSpPr>
          <p:spPr bwMode="auto">
            <a:xfrm>
              <a:off x="1534" y="3256"/>
              <a:ext cx="0" cy="1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407" name="Line 118"/>
            <p:cNvSpPr>
              <a:spLocks noChangeShapeType="1"/>
            </p:cNvSpPr>
            <p:nvPr/>
          </p:nvSpPr>
          <p:spPr bwMode="auto">
            <a:xfrm>
              <a:off x="1079" y="3080"/>
              <a:ext cx="0" cy="31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408" name="Line 119"/>
            <p:cNvSpPr>
              <a:spLocks noChangeShapeType="1"/>
            </p:cNvSpPr>
            <p:nvPr/>
          </p:nvSpPr>
          <p:spPr bwMode="auto">
            <a:xfrm>
              <a:off x="1988" y="3080"/>
              <a:ext cx="0" cy="319"/>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9409" name="Oval 120"/>
            <p:cNvSpPr>
              <a:spLocks noChangeArrowheads="1"/>
            </p:cNvSpPr>
            <p:nvPr/>
          </p:nvSpPr>
          <p:spPr bwMode="auto">
            <a:xfrm>
              <a:off x="1512" y="3230"/>
              <a:ext cx="57" cy="53"/>
            </a:xfrm>
            <a:prstGeom prst="ellipse">
              <a:avLst/>
            </a:prstGeom>
            <a:solidFill>
              <a:schemeClr val="tx1"/>
            </a:solidFill>
            <a:ln w="9525">
              <a:solidFill>
                <a:schemeClr val="tx1"/>
              </a:solidFill>
              <a:round/>
            </a:ln>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410" name="Text Box 121"/>
            <p:cNvSpPr txBox="1">
              <a:spLocks noChangeArrowheads="1"/>
            </p:cNvSpPr>
            <p:nvPr/>
          </p:nvSpPr>
          <p:spPr bwMode="auto">
            <a:xfrm>
              <a:off x="966" y="3397"/>
              <a:ext cx="2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J</a:t>
              </a:r>
            </a:p>
          </p:txBody>
        </p:sp>
        <p:sp>
          <p:nvSpPr>
            <p:cNvPr id="99411" name="Text Box 122"/>
            <p:cNvSpPr txBox="1">
              <a:spLocks noChangeArrowheads="1"/>
            </p:cNvSpPr>
            <p:nvPr/>
          </p:nvSpPr>
          <p:spPr bwMode="auto">
            <a:xfrm>
              <a:off x="1874" y="3397"/>
              <a:ext cx="284"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K</a:t>
              </a:r>
            </a:p>
          </p:txBody>
        </p:sp>
        <p:sp>
          <p:nvSpPr>
            <p:cNvPr id="99412" name="Text Box 123"/>
            <p:cNvSpPr txBox="1">
              <a:spLocks noChangeArrowheads="1"/>
            </p:cNvSpPr>
            <p:nvPr/>
          </p:nvSpPr>
          <p:spPr bwMode="auto">
            <a:xfrm>
              <a:off x="1363" y="3397"/>
              <a:ext cx="39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spcBef>
                  <a:spcPct val="50000"/>
                </a:spcBef>
              </a:pPr>
              <a:r>
                <a:rPr lang="en-US" altLang="zh-CN" sz="1600">
                  <a:latin typeface="Times New Roman" panose="02020603050405020304" pitchFamily="18" charset="0"/>
                </a:rPr>
                <a:t>CP</a:t>
              </a:r>
            </a:p>
          </p:txBody>
        </p:sp>
        <p:sp>
          <p:nvSpPr>
            <p:cNvPr id="99413" name="Oval 132"/>
            <p:cNvSpPr>
              <a:spLocks noChangeArrowheads="1"/>
            </p:cNvSpPr>
            <p:nvPr/>
          </p:nvSpPr>
          <p:spPr bwMode="auto">
            <a:xfrm>
              <a:off x="1441" y="2699"/>
              <a:ext cx="57" cy="53"/>
            </a:xfrm>
            <a:prstGeom prst="ellipse">
              <a:avLst/>
            </a:prstGeom>
            <a:solidFill>
              <a:schemeClr val="tx1"/>
            </a:solidFill>
            <a:ln w="9525">
              <a:solidFill>
                <a:schemeClr val="tx1"/>
              </a:solidFill>
              <a:round/>
            </a:ln>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414" name="Oval 133"/>
            <p:cNvSpPr>
              <a:spLocks noChangeArrowheads="1"/>
            </p:cNvSpPr>
            <p:nvPr/>
          </p:nvSpPr>
          <p:spPr bwMode="auto">
            <a:xfrm>
              <a:off x="1569" y="2695"/>
              <a:ext cx="57" cy="54"/>
            </a:xfrm>
            <a:prstGeom prst="ellipse">
              <a:avLst/>
            </a:prstGeom>
            <a:solidFill>
              <a:schemeClr val="tx1"/>
            </a:solidFill>
            <a:ln w="9525">
              <a:solidFill>
                <a:schemeClr val="tx1"/>
              </a:solidFill>
              <a:round/>
            </a:ln>
          </p:spPr>
          <p:txBody>
            <a:bodyPr wrap="none" anchor="ctr"/>
            <a:lstStyle/>
            <a:p>
              <a:pPr algn="dist">
                <a:lnSpc>
                  <a:spcPct val="90000"/>
                </a:lnSpc>
              </a:pPr>
              <a:endParaRPr lang="zh-CN" altLang="en-US" sz="4000">
                <a:solidFill>
                  <a:schemeClr val="hlink"/>
                </a:solidFill>
                <a:ea typeface="Gulim" panose="020B0600000101010101" pitchFamily="34" charset="-127"/>
              </a:endParaRPr>
            </a:p>
          </p:txBody>
        </p:sp>
        <p:sp>
          <p:nvSpPr>
            <p:cNvPr id="99415" name="Text Box 88"/>
            <p:cNvSpPr txBox="1">
              <a:spLocks noChangeArrowheads="1"/>
            </p:cNvSpPr>
            <p:nvPr/>
          </p:nvSpPr>
          <p:spPr bwMode="auto">
            <a:xfrm>
              <a:off x="966" y="3566"/>
              <a:ext cx="11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90000"/>
                </a:lnSpc>
                <a:spcBef>
                  <a:spcPct val="50000"/>
                </a:spcBef>
              </a:pPr>
              <a:r>
                <a:rPr lang="en-US" altLang="zh-CN" sz="2000">
                  <a:solidFill>
                    <a:srgbClr val="FF0066"/>
                  </a:solidFill>
                  <a:latin typeface="Times New Roman" panose="02020603050405020304" pitchFamily="18" charset="0"/>
                </a:rPr>
                <a:t>(S)                 (R)</a:t>
              </a:r>
            </a:p>
          </p:txBody>
        </p:sp>
        <p:sp>
          <p:nvSpPr>
            <p:cNvPr id="99416" name="Text Box 0"/>
            <p:cNvSpPr txBox="1">
              <a:spLocks noChangeArrowheads="1"/>
            </p:cNvSpPr>
            <p:nvPr/>
          </p:nvSpPr>
          <p:spPr bwMode="auto">
            <a:xfrm>
              <a:off x="884" y="3521"/>
              <a:ext cx="13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ct val="50000"/>
                </a:spcBef>
              </a:pPr>
              <a:endParaRPr lang="zh-CN" altLang="en-US"/>
            </a:p>
          </p:txBody>
        </p:sp>
        <p:sp>
          <p:nvSpPr>
            <p:cNvPr id="39005" name="Rectangle 93"/>
            <p:cNvSpPr>
              <a:spLocks noChangeArrowheads="1"/>
            </p:cNvSpPr>
            <p:nvPr/>
          </p:nvSpPr>
          <p:spPr bwMode="auto">
            <a:xfrm>
              <a:off x="670" y="2357"/>
              <a:ext cx="260"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algn="ctr" eaLnBrk="0" hangingPunct="0">
                <a:spcBef>
                  <a:spcPct val="50000"/>
                </a:spcBef>
                <a:defRPr/>
              </a:pPr>
              <a:r>
                <a:rPr lang="en-US" altLang="zh-CN" sz="1600">
                  <a:latin typeface="Times New Roman" panose="02020603050405020304" pitchFamily="18" charset="0"/>
                </a:rPr>
                <a:t>G</a:t>
              </a:r>
              <a:r>
                <a:rPr lang="en-US" altLang="zh-CN" sz="1600" baseline="-25000">
                  <a:latin typeface="Times New Roman" panose="02020603050405020304" pitchFamily="18" charset="0"/>
                </a:rPr>
                <a:t>1</a:t>
              </a:r>
            </a:p>
          </p:txBody>
        </p:sp>
        <p:sp>
          <p:nvSpPr>
            <p:cNvPr id="39006" name="Rectangle 94"/>
            <p:cNvSpPr>
              <a:spLocks noChangeArrowheads="1"/>
            </p:cNvSpPr>
            <p:nvPr/>
          </p:nvSpPr>
          <p:spPr bwMode="auto">
            <a:xfrm>
              <a:off x="2121" y="2364"/>
              <a:ext cx="260"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algn="ctr" eaLnBrk="0" hangingPunct="0">
                <a:spcBef>
                  <a:spcPct val="50000"/>
                </a:spcBef>
                <a:defRPr/>
              </a:pPr>
              <a:r>
                <a:rPr lang="en-US" altLang="zh-CN" sz="1600">
                  <a:latin typeface="Times New Roman" panose="02020603050405020304" pitchFamily="18" charset="0"/>
                </a:rPr>
                <a:t>G</a:t>
              </a:r>
              <a:r>
                <a:rPr lang="en-US" altLang="zh-CN" sz="1600" baseline="-25000">
                  <a:latin typeface="Times New Roman" panose="02020603050405020304" pitchFamily="18" charset="0"/>
                </a:rPr>
                <a:t>2</a:t>
              </a:r>
            </a:p>
          </p:txBody>
        </p:sp>
        <p:sp>
          <p:nvSpPr>
            <p:cNvPr id="39007" name="Rectangle 95"/>
            <p:cNvSpPr>
              <a:spLocks noChangeArrowheads="1"/>
            </p:cNvSpPr>
            <p:nvPr/>
          </p:nvSpPr>
          <p:spPr bwMode="auto">
            <a:xfrm>
              <a:off x="670" y="2866"/>
              <a:ext cx="260"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algn="ctr" eaLnBrk="0" hangingPunct="0">
                <a:spcBef>
                  <a:spcPct val="50000"/>
                </a:spcBef>
                <a:defRPr/>
              </a:pPr>
              <a:r>
                <a:rPr lang="en-US" altLang="zh-CN" sz="1600">
                  <a:latin typeface="Times New Roman" panose="02020603050405020304" pitchFamily="18" charset="0"/>
                </a:rPr>
                <a:t>G</a:t>
              </a:r>
              <a:r>
                <a:rPr lang="en-US" altLang="zh-CN" sz="1600" baseline="-25000">
                  <a:latin typeface="Times New Roman" panose="02020603050405020304" pitchFamily="18" charset="0"/>
                </a:rPr>
                <a:t>3</a:t>
              </a:r>
            </a:p>
          </p:txBody>
        </p:sp>
        <p:sp>
          <p:nvSpPr>
            <p:cNvPr id="39008" name="Rectangle 96"/>
            <p:cNvSpPr>
              <a:spLocks noChangeArrowheads="1"/>
            </p:cNvSpPr>
            <p:nvPr/>
          </p:nvSpPr>
          <p:spPr bwMode="auto">
            <a:xfrm>
              <a:off x="2102" y="2866"/>
              <a:ext cx="260"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algn="ctr" eaLnBrk="0" hangingPunct="0">
                <a:spcBef>
                  <a:spcPct val="50000"/>
                </a:spcBef>
                <a:defRPr/>
              </a:pPr>
              <a:r>
                <a:rPr lang="en-US" altLang="zh-CN" sz="1600">
                  <a:latin typeface="Times New Roman" panose="02020603050405020304" pitchFamily="18" charset="0"/>
                </a:rPr>
                <a:t>G</a:t>
              </a:r>
              <a:r>
                <a:rPr lang="en-US" altLang="zh-CN" sz="1600" baseline="-25000">
                  <a:latin typeface="Times New Roman" panose="02020603050405020304" pitchFamily="18" charset="0"/>
                </a:rPr>
                <a:t>4</a:t>
              </a: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anim calcmode="lin" valueType="num">
                                      <p:cBhvr additive="base">
                                        <p:cTn id="7" dur="500" fill="hold"/>
                                        <p:tgtEl>
                                          <p:spTgt spid="389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9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8916">
                                            <p:txEl>
                                              <p:pRg st="1" end="1"/>
                                            </p:txEl>
                                          </p:spTgt>
                                        </p:tgtEl>
                                        <p:attrNameLst>
                                          <p:attrName>style.visibility</p:attrName>
                                        </p:attrNameLst>
                                      </p:cBhvr>
                                      <p:to>
                                        <p:strVal val="visible"/>
                                      </p:to>
                                    </p:set>
                                    <p:anim calcmode="lin" valueType="num">
                                      <p:cBhvr additive="base">
                                        <p:cTn id="13" dur="500" fill="hold"/>
                                        <p:tgtEl>
                                          <p:spTgt spid="3891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9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39002"/>
                                        </p:tgtEl>
                                        <p:attrNameLst>
                                          <p:attrName>style.visibility</p:attrName>
                                        </p:attrNameLst>
                                      </p:cBhvr>
                                      <p:to>
                                        <p:strVal val="visible"/>
                                      </p:to>
                                    </p:set>
                                    <p:anim calcmode="lin" valueType="num">
                                      <p:cBhvr>
                                        <p:cTn id="19" dur="1000" fill="hold"/>
                                        <p:tgtEl>
                                          <p:spTgt spid="39002"/>
                                        </p:tgtEl>
                                        <p:attrNameLst>
                                          <p:attrName>ppt_w</p:attrName>
                                        </p:attrNameLst>
                                      </p:cBhvr>
                                      <p:tavLst>
                                        <p:tav tm="0">
                                          <p:val>
                                            <p:strVal val="#ppt_w*0.70"/>
                                          </p:val>
                                        </p:tav>
                                        <p:tav tm="100000">
                                          <p:val>
                                            <p:strVal val="#ppt_w"/>
                                          </p:val>
                                        </p:tav>
                                      </p:tavLst>
                                    </p:anim>
                                    <p:anim calcmode="lin" valueType="num">
                                      <p:cBhvr>
                                        <p:cTn id="20" dur="1000" fill="hold"/>
                                        <p:tgtEl>
                                          <p:spTgt spid="39002"/>
                                        </p:tgtEl>
                                        <p:attrNameLst>
                                          <p:attrName>ppt_h</p:attrName>
                                        </p:attrNameLst>
                                      </p:cBhvr>
                                      <p:tavLst>
                                        <p:tav tm="0">
                                          <p:val>
                                            <p:strVal val="#ppt_h"/>
                                          </p:val>
                                        </p:tav>
                                        <p:tav tm="100000">
                                          <p:val>
                                            <p:strVal val="#ppt_h"/>
                                          </p:val>
                                        </p:tav>
                                      </p:tavLst>
                                    </p:anim>
                                    <p:animEffect transition="in" filter="fade">
                                      <p:cBhvr>
                                        <p:cTn id="21" dur="1000"/>
                                        <p:tgtEl>
                                          <p:spTgt spid="39002"/>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500" fill="hold"/>
                                        <p:tgtEl>
                                          <p:spTgt spid="2"/>
                                        </p:tgtEl>
                                        <p:attrNameLst>
                                          <p:attrName>ppt_w</p:attrName>
                                        </p:attrNameLst>
                                      </p:cBhvr>
                                      <p:tavLst>
                                        <p:tav tm="0">
                                          <p:val>
                                            <p:fltVal val="0"/>
                                          </p:val>
                                        </p:tav>
                                        <p:tav tm="100000">
                                          <p:val>
                                            <p:strVal val="#ppt_w"/>
                                          </p:val>
                                        </p:tav>
                                      </p:tavLst>
                                    </p:anim>
                                    <p:anim calcmode="lin" valueType="num">
                                      <p:cBhvr>
                                        <p:cTn id="31"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blinds(horizontal)">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8954"/>
                                        </p:tgtEl>
                                        <p:attrNameLst>
                                          <p:attrName>style.visibility</p:attrName>
                                        </p:attrNameLst>
                                      </p:cBhvr>
                                      <p:to>
                                        <p:strVal val="visible"/>
                                      </p:to>
                                    </p:set>
                                    <p:anim calcmode="lin" valueType="num">
                                      <p:cBhvr additive="base">
                                        <p:cTn id="41" dur="500" fill="hold"/>
                                        <p:tgtEl>
                                          <p:spTgt spid="38954"/>
                                        </p:tgtEl>
                                        <p:attrNameLst>
                                          <p:attrName>ppt_x</p:attrName>
                                        </p:attrNameLst>
                                      </p:cBhvr>
                                      <p:tavLst>
                                        <p:tav tm="0">
                                          <p:val>
                                            <p:strVal val="#ppt_x"/>
                                          </p:val>
                                        </p:tav>
                                        <p:tav tm="100000">
                                          <p:val>
                                            <p:strVal val="#ppt_x"/>
                                          </p:val>
                                        </p:tav>
                                      </p:tavLst>
                                    </p:anim>
                                    <p:anim calcmode="lin" valueType="num">
                                      <p:cBhvr additive="base">
                                        <p:cTn id="42" dur="500" fill="hold"/>
                                        <p:tgtEl>
                                          <p:spTgt spid="389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uild="p"/>
      <p:bldP spid="38954" grpId="0" animBg="1"/>
      <p:bldP spid="3900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p:cNvSpPr>
            <a:spLocks noGrp="1"/>
          </p:cNvSpPr>
          <p:nvPr>
            <p:ph type="title"/>
          </p:nvPr>
        </p:nvSpPr>
        <p:spPr/>
        <p:txBody>
          <a:bodyPr wrap="square" lIns="91440" tIns="45720" rIns="91440" bIns="45720" anchor="ctr" anchorCtr="0">
            <a:normAutofit fontScale="90000"/>
          </a:bodyPr>
          <a:lstStyle/>
          <a:p>
            <a:r>
              <a:rPr lang="en-US" altLang="zh-CN" dirty="0">
                <a:solidFill>
                  <a:srgbClr val="FFCC00"/>
                </a:solidFill>
                <a:latin typeface="Arial" panose="020B0604020202020204" pitchFamily="34" charset="0"/>
                <a:ea typeface="黑体" panose="02010609060101010101" pitchFamily="49" charset="-122"/>
              </a:rPr>
              <a:t>6.3.4  </a:t>
            </a:r>
            <a:r>
              <a:rPr lang="zh-CN" altLang="en-US" dirty="0">
                <a:solidFill>
                  <a:srgbClr val="FFCC00"/>
                </a:solidFill>
                <a:latin typeface="Arial" panose="020B0604020202020204" pitchFamily="34" charset="0"/>
                <a:ea typeface="黑体" panose="02010609060101010101" pitchFamily="49" charset="-122"/>
              </a:rPr>
              <a:t>钟控</a:t>
            </a:r>
            <a:r>
              <a:rPr lang="en-US" altLang="zh-CN" dirty="0">
                <a:solidFill>
                  <a:srgbClr val="FFCC00"/>
                </a:solidFill>
                <a:latin typeface="Arial" panose="020B0604020202020204" pitchFamily="34" charset="0"/>
                <a:ea typeface="黑体" panose="02010609060101010101" pitchFamily="49" charset="-122"/>
              </a:rPr>
              <a:t>T</a:t>
            </a:r>
            <a:r>
              <a:rPr lang="zh-CN" altLang="en-US" dirty="0">
                <a:solidFill>
                  <a:srgbClr val="FFCC00"/>
                </a:solidFill>
                <a:latin typeface="Arial" panose="020B0604020202020204" pitchFamily="34" charset="0"/>
                <a:ea typeface="黑体" panose="02010609060101010101" pitchFamily="49" charset="-122"/>
              </a:rPr>
              <a:t>触发器</a:t>
            </a:r>
          </a:p>
        </p:txBody>
      </p:sp>
      <p:sp>
        <p:nvSpPr>
          <p:cNvPr id="115714" name="Rectangle 3"/>
          <p:cNvSpPr>
            <a:spLocks noGrp="1"/>
          </p:cNvSpPr>
          <p:nvPr>
            <p:ph type="body" sz="half" idx="1"/>
          </p:nvPr>
        </p:nvSpPr>
        <p:spPr>
          <a:xfrm>
            <a:off x="1733550" y="1176338"/>
            <a:ext cx="8610600" cy="1189037"/>
          </a:xfrm>
        </p:spPr>
        <p:txBody>
          <a:bodyPr wrap="square" lIns="91440" tIns="45720" rIns="91440" bIns="45720" anchor="t" anchorCtr="0"/>
          <a:lstStyle/>
          <a:p>
            <a:pPr marL="365125" indent="-365125">
              <a:lnSpc>
                <a:spcPct val="110000"/>
              </a:lnSpc>
              <a:buClr>
                <a:schemeClr val="hlink"/>
              </a:buClr>
              <a:buSzTx/>
              <a:buFont typeface="Wingdings" panose="05000000000000000000" pitchFamily="2" charset="2"/>
            </a:pPr>
            <a:r>
              <a:rPr lang="zh-CN" altLang="en-US" sz="1800" dirty="0"/>
              <a:t>在某些应用场合，需要这样一种触发器，当控制信号</a:t>
            </a:r>
            <a:r>
              <a:rPr lang="en-US" altLang="zh-CN" sz="1800" dirty="0">
                <a:solidFill>
                  <a:srgbClr val="CC0066"/>
                </a:solidFill>
              </a:rPr>
              <a:t>T=1</a:t>
            </a:r>
            <a:r>
              <a:rPr lang="zh-CN" altLang="en-US" sz="1800" dirty="0"/>
              <a:t>时，每来一个时钟信号其状态就</a:t>
            </a:r>
            <a:r>
              <a:rPr lang="zh-CN" altLang="en-US" sz="1800" dirty="0">
                <a:solidFill>
                  <a:srgbClr val="CC0066"/>
                </a:solidFill>
              </a:rPr>
              <a:t>翻转</a:t>
            </a:r>
            <a:r>
              <a:rPr lang="zh-CN" altLang="en-US" sz="1800" dirty="0"/>
              <a:t>一次；当</a:t>
            </a:r>
            <a:r>
              <a:rPr lang="en-US" altLang="zh-CN" sz="1800" dirty="0">
                <a:solidFill>
                  <a:srgbClr val="CC0066"/>
                </a:solidFill>
              </a:rPr>
              <a:t>T=0</a:t>
            </a:r>
            <a:r>
              <a:rPr lang="zh-CN" altLang="en-US" sz="1800" dirty="0"/>
              <a:t>时，无论时钟信号有无到来，其状态</a:t>
            </a:r>
            <a:r>
              <a:rPr lang="zh-CN" altLang="en-US" sz="1800" dirty="0">
                <a:solidFill>
                  <a:srgbClr val="CC0066"/>
                </a:solidFill>
              </a:rPr>
              <a:t>保持</a:t>
            </a:r>
            <a:r>
              <a:rPr lang="zh-CN" altLang="en-US" sz="1800" dirty="0"/>
              <a:t>不变。</a:t>
            </a:r>
          </a:p>
          <a:p>
            <a:pPr marL="365125" indent="-365125">
              <a:lnSpc>
                <a:spcPct val="110000"/>
              </a:lnSpc>
              <a:buClr>
                <a:schemeClr val="hlink"/>
              </a:buClr>
              <a:buSzTx/>
              <a:buFont typeface="Wingdings" panose="05000000000000000000" pitchFamily="2" charset="2"/>
            </a:pPr>
            <a:r>
              <a:rPr lang="zh-CN" altLang="en-US" sz="1800" dirty="0"/>
              <a:t>把</a:t>
            </a:r>
            <a:r>
              <a:rPr lang="en-US" altLang="zh-CN" sz="1800" dirty="0"/>
              <a:t>JK</a:t>
            </a:r>
            <a:r>
              <a:rPr lang="zh-CN" altLang="en-US" sz="1800" dirty="0"/>
              <a:t>触发器的两个输入端合并为一个输入端</a:t>
            </a:r>
            <a:r>
              <a:rPr lang="en-US" altLang="zh-CN" sz="1800" dirty="0"/>
              <a:t>T</a:t>
            </a:r>
            <a:r>
              <a:rPr lang="zh-CN" altLang="en-US" sz="1800" dirty="0"/>
              <a:t>，得到</a:t>
            </a:r>
            <a:r>
              <a:rPr lang="en-US" altLang="zh-CN" sz="1800" dirty="0"/>
              <a:t>T</a:t>
            </a:r>
            <a:r>
              <a:rPr lang="zh-CN" altLang="en-US" sz="1800" dirty="0"/>
              <a:t>触发器</a:t>
            </a:r>
          </a:p>
        </p:txBody>
      </p:sp>
      <p:sp>
        <p:nvSpPr>
          <p:cNvPr id="115715" name="灯片编号占位符 4"/>
          <p:cNvSpPr>
            <a:spLocks noGrp="1"/>
          </p:cNvSpPr>
          <p:nvPr>
            <p:ph type="sldNum" sz="quarter" idx="4"/>
          </p:nvPr>
        </p:nvSpPr>
        <p:spPr/>
        <p:txBody>
          <a:bodyPr wrap="square" lIns="91440" tIns="45720" rIns="91440" bIns="45720" anchor="t" anchorCtr="0"/>
          <a:lstStyle/>
          <a:p>
            <a:pPr algn="ctr"/>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37</a:t>
            </a:fld>
            <a:endParaRPr lang="ko-KR" altLang="en-US" sz="1600" dirty="0">
              <a:solidFill>
                <a:schemeClr val="accent2"/>
              </a:solidFill>
              <a:latin typeface="Verdana" panose="020B0604030504040204" pitchFamily="34" charset="0"/>
              <a:ea typeface="Gulim" panose="020B0600000101010101" pitchFamily="34" charset="-127"/>
            </a:endParaRPr>
          </a:p>
        </p:txBody>
      </p:sp>
      <p:grpSp>
        <p:nvGrpSpPr>
          <p:cNvPr id="2" name="Group 87"/>
          <p:cNvGrpSpPr/>
          <p:nvPr/>
        </p:nvGrpSpPr>
        <p:grpSpPr>
          <a:xfrm>
            <a:off x="4333875" y="2265363"/>
            <a:ext cx="2219325" cy="3143250"/>
            <a:chOff x="2928" y="192"/>
            <a:chExt cx="1152" cy="1644"/>
          </a:xfrm>
        </p:grpSpPr>
        <p:grpSp>
          <p:nvGrpSpPr>
            <p:cNvPr id="115717" name="Group 88"/>
            <p:cNvGrpSpPr/>
            <p:nvPr/>
          </p:nvGrpSpPr>
          <p:grpSpPr>
            <a:xfrm>
              <a:off x="2976" y="672"/>
              <a:ext cx="384" cy="240"/>
              <a:chOff x="3504" y="1584"/>
              <a:chExt cx="384" cy="240"/>
            </a:xfrm>
          </p:grpSpPr>
          <p:grpSp>
            <p:nvGrpSpPr>
              <p:cNvPr id="115718" name="Group 89"/>
              <p:cNvGrpSpPr/>
              <p:nvPr/>
            </p:nvGrpSpPr>
            <p:grpSpPr>
              <a:xfrm>
                <a:off x="3504" y="1584"/>
                <a:ext cx="384" cy="240"/>
                <a:chOff x="3504" y="1584"/>
                <a:chExt cx="384" cy="240"/>
              </a:xfrm>
            </p:grpSpPr>
            <p:sp>
              <p:nvSpPr>
                <p:cNvPr id="115719" name="Rectangle 90"/>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20" name="Oval 91"/>
                <p:cNvSpPr/>
                <p:nvPr/>
              </p:nvSpPr>
              <p:spPr>
                <a:xfrm>
                  <a:off x="3675" y="1584"/>
                  <a:ext cx="48" cy="48"/>
                </a:xfrm>
                <a:prstGeom prst="ellipse">
                  <a:avLst/>
                </a:prstGeom>
                <a:noFill/>
                <a:ln w="19050"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115721" name="Text Box 92"/>
              <p:cNvSpPr txBox="1"/>
              <p:nvPr/>
            </p:nvSpPr>
            <p:spPr>
              <a:xfrm>
                <a:off x="3561" y="1632"/>
                <a:ext cx="288" cy="176"/>
              </a:xfrm>
              <a:prstGeom prst="rect">
                <a:avLst/>
              </a:prstGeom>
              <a:noFill/>
              <a:ln w="9525">
                <a:noFill/>
              </a:ln>
            </p:spPr>
            <p:txBody>
              <a:bodyPr anchor="t" anchorCtr="0">
                <a:spAutoFit/>
              </a:bodyPr>
              <a:lstStyle/>
              <a:p>
                <a:pPr algn="ctr" eaLnBrk="0" hangingPunct="0">
                  <a:spcBef>
                    <a:spcPct val="50000"/>
                  </a:spcBef>
                </a:pPr>
                <a:r>
                  <a:rPr lang="en-US" altLang="zh-CN" sz="1600" dirty="0">
                    <a:solidFill>
                      <a:schemeClr val="tx1"/>
                    </a:solidFill>
                    <a:latin typeface="Times New Roman" panose="02020603050405020304" pitchFamily="18" charset="0"/>
                  </a:rPr>
                  <a:t>&amp;</a:t>
                </a:r>
              </a:p>
            </p:txBody>
          </p:sp>
        </p:grpSp>
        <p:grpSp>
          <p:nvGrpSpPr>
            <p:cNvPr id="115722" name="Group 93"/>
            <p:cNvGrpSpPr/>
            <p:nvPr/>
          </p:nvGrpSpPr>
          <p:grpSpPr>
            <a:xfrm>
              <a:off x="3552" y="672"/>
              <a:ext cx="384" cy="240"/>
              <a:chOff x="3504" y="1584"/>
              <a:chExt cx="384" cy="240"/>
            </a:xfrm>
          </p:grpSpPr>
          <p:grpSp>
            <p:nvGrpSpPr>
              <p:cNvPr id="115723" name="Group 94"/>
              <p:cNvGrpSpPr/>
              <p:nvPr/>
            </p:nvGrpSpPr>
            <p:grpSpPr>
              <a:xfrm>
                <a:off x="3504" y="1584"/>
                <a:ext cx="384" cy="240"/>
                <a:chOff x="3504" y="1584"/>
                <a:chExt cx="384" cy="240"/>
              </a:xfrm>
            </p:grpSpPr>
            <p:sp>
              <p:nvSpPr>
                <p:cNvPr id="115724" name="Rectangle 95"/>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25" name="Oval 96"/>
                <p:cNvSpPr/>
                <p:nvPr/>
              </p:nvSpPr>
              <p:spPr>
                <a:xfrm>
                  <a:off x="3675" y="1584"/>
                  <a:ext cx="48" cy="48"/>
                </a:xfrm>
                <a:prstGeom prst="ellipse">
                  <a:avLst/>
                </a:prstGeom>
                <a:noFill/>
                <a:ln w="19050"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115726" name="Text Box 97"/>
              <p:cNvSpPr txBox="1"/>
              <p:nvPr/>
            </p:nvSpPr>
            <p:spPr>
              <a:xfrm>
                <a:off x="3561" y="1632"/>
                <a:ext cx="288" cy="176"/>
              </a:xfrm>
              <a:prstGeom prst="rect">
                <a:avLst/>
              </a:prstGeom>
              <a:noFill/>
              <a:ln w="9525">
                <a:noFill/>
              </a:ln>
            </p:spPr>
            <p:txBody>
              <a:bodyPr anchor="t" anchorCtr="0">
                <a:spAutoFit/>
              </a:bodyPr>
              <a:lstStyle/>
              <a:p>
                <a:pPr algn="ctr" eaLnBrk="0" hangingPunct="0">
                  <a:spcBef>
                    <a:spcPct val="50000"/>
                  </a:spcBef>
                </a:pPr>
                <a:r>
                  <a:rPr lang="en-US" altLang="zh-CN" sz="1600" dirty="0">
                    <a:solidFill>
                      <a:schemeClr val="tx1"/>
                    </a:solidFill>
                    <a:latin typeface="Times New Roman" panose="02020603050405020304" pitchFamily="18" charset="0"/>
                  </a:rPr>
                  <a:t>&amp;</a:t>
                </a:r>
              </a:p>
            </p:txBody>
          </p:sp>
        </p:grpSp>
        <p:sp>
          <p:nvSpPr>
            <p:cNvPr id="115727" name="Line 98"/>
            <p:cNvSpPr/>
            <p:nvPr/>
          </p:nvSpPr>
          <p:spPr>
            <a:xfrm>
              <a:off x="3168" y="432"/>
              <a:ext cx="0" cy="240"/>
            </a:xfrm>
            <a:prstGeom prst="line">
              <a:avLst/>
            </a:prstGeom>
            <a:ln w="9525" cap="flat" cmpd="sng">
              <a:solidFill>
                <a:schemeClr val="tx1"/>
              </a:solidFill>
              <a:prstDash val="solid"/>
              <a:round/>
              <a:headEnd type="none" w="med" len="med"/>
              <a:tailEnd type="none" w="med" len="med"/>
            </a:ln>
          </p:spPr>
        </p:sp>
        <p:sp>
          <p:nvSpPr>
            <p:cNvPr id="115728" name="Line 99"/>
            <p:cNvSpPr/>
            <p:nvPr/>
          </p:nvSpPr>
          <p:spPr>
            <a:xfrm>
              <a:off x="3744" y="432"/>
              <a:ext cx="0" cy="240"/>
            </a:xfrm>
            <a:prstGeom prst="line">
              <a:avLst/>
            </a:prstGeom>
            <a:ln w="9525" cap="flat" cmpd="sng">
              <a:solidFill>
                <a:schemeClr val="tx1"/>
              </a:solidFill>
              <a:prstDash val="solid"/>
              <a:round/>
              <a:headEnd type="none" w="med" len="med"/>
              <a:tailEnd type="none" w="med" len="med"/>
            </a:ln>
          </p:spPr>
        </p:sp>
        <p:sp>
          <p:nvSpPr>
            <p:cNvPr id="115729" name="Line 100"/>
            <p:cNvSpPr/>
            <p:nvPr/>
          </p:nvSpPr>
          <p:spPr>
            <a:xfrm>
              <a:off x="3168" y="576"/>
              <a:ext cx="240" cy="0"/>
            </a:xfrm>
            <a:prstGeom prst="line">
              <a:avLst/>
            </a:prstGeom>
            <a:ln w="9525" cap="flat" cmpd="sng">
              <a:solidFill>
                <a:schemeClr val="tx1"/>
              </a:solidFill>
              <a:prstDash val="solid"/>
              <a:round/>
              <a:headEnd type="none" w="med" len="med"/>
              <a:tailEnd type="none" w="med" len="med"/>
            </a:ln>
          </p:spPr>
        </p:sp>
        <p:sp>
          <p:nvSpPr>
            <p:cNvPr id="115730" name="Line 101"/>
            <p:cNvSpPr/>
            <p:nvPr/>
          </p:nvSpPr>
          <p:spPr>
            <a:xfrm>
              <a:off x="3408" y="576"/>
              <a:ext cx="96" cy="480"/>
            </a:xfrm>
            <a:prstGeom prst="line">
              <a:avLst/>
            </a:prstGeom>
            <a:ln w="9525" cap="flat" cmpd="sng">
              <a:solidFill>
                <a:schemeClr val="tx1"/>
              </a:solidFill>
              <a:prstDash val="solid"/>
              <a:round/>
              <a:headEnd type="none" w="med" len="med"/>
              <a:tailEnd type="none" w="med" len="med"/>
            </a:ln>
          </p:spPr>
        </p:sp>
        <p:sp>
          <p:nvSpPr>
            <p:cNvPr id="115731" name="Line 102"/>
            <p:cNvSpPr/>
            <p:nvPr/>
          </p:nvSpPr>
          <p:spPr>
            <a:xfrm>
              <a:off x="3504" y="1056"/>
              <a:ext cx="144" cy="0"/>
            </a:xfrm>
            <a:prstGeom prst="line">
              <a:avLst/>
            </a:prstGeom>
            <a:ln w="9525" cap="flat" cmpd="sng">
              <a:solidFill>
                <a:schemeClr val="tx1"/>
              </a:solidFill>
              <a:prstDash val="solid"/>
              <a:round/>
              <a:headEnd type="none" w="med" len="med"/>
              <a:tailEnd type="none" w="med" len="med"/>
            </a:ln>
          </p:spPr>
        </p:sp>
        <p:sp>
          <p:nvSpPr>
            <p:cNvPr id="115732" name="Line 103"/>
            <p:cNvSpPr/>
            <p:nvPr/>
          </p:nvSpPr>
          <p:spPr>
            <a:xfrm flipV="1">
              <a:off x="3648" y="912"/>
              <a:ext cx="0" cy="144"/>
            </a:xfrm>
            <a:prstGeom prst="line">
              <a:avLst/>
            </a:prstGeom>
            <a:ln w="9525" cap="flat" cmpd="sng">
              <a:solidFill>
                <a:schemeClr val="tx1"/>
              </a:solidFill>
              <a:prstDash val="solid"/>
              <a:round/>
              <a:headEnd type="none" w="med" len="med"/>
              <a:tailEnd type="none" w="med" len="med"/>
            </a:ln>
          </p:spPr>
        </p:sp>
        <p:sp>
          <p:nvSpPr>
            <p:cNvPr id="115733" name="Line 104"/>
            <p:cNvSpPr/>
            <p:nvPr/>
          </p:nvSpPr>
          <p:spPr>
            <a:xfrm flipH="1">
              <a:off x="3504" y="576"/>
              <a:ext cx="240" cy="0"/>
            </a:xfrm>
            <a:prstGeom prst="line">
              <a:avLst/>
            </a:prstGeom>
            <a:ln w="9525" cap="flat" cmpd="sng">
              <a:solidFill>
                <a:schemeClr val="tx1"/>
              </a:solidFill>
              <a:prstDash val="solid"/>
              <a:round/>
              <a:headEnd type="none" w="med" len="med"/>
              <a:tailEnd type="none" w="med" len="med"/>
            </a:ln>
          </p:spPr>
        </p:sp>
        <p:sp>
          <p:nvSpPr>
            <p:cNvPr id="115734" name="Line 105"/>
            <p:cNvSpPr/>
            <p:nvPr/>
          </p:nvSpPr>
          <p:spPr>
            <a:xfrm flipH="1">
              <a:off x="3408" y="576"/>
              <a:ext cx="96" cy="480"/>
            </a:xfrm>
            <a:prstGeom prst="line">
              <a:avLst/>
            </a:prstGeom>
            <a:ln w="9525" cap="flat" cmpd="sng">
              <a:solidFill>
                <a:schemeClr val="tx1"/>
              </a:solidFill>
              <a:prstDash val="solid"/>
              <a:round/>
              <a:headEnd type="none" w="med" len="med"/>
              <a:tailEnd type="none" w="med" len="med"/>
            </a:ln>
          </p:spPr>
        </p:sp>
        <p:sp>
          <p:nvSpPr>
            <p:cNvPr id="115735" name="Line 106"/>
            <p:cNvSpPr/>
            <p:nvPr/>
          </p:nvSpPr>
          <p:spPr>
            <a:xfrm flipH="1">
              <a:off x="3264" y="1056"/>
              <a:ext cx="144" cy="0"/>
            </a:xfrm>
            <a:prstGeom prst="line">
              <a:avLst/>
            </a:prstGeom>
            <a:ln w="9525" cap="flat" cmpd="sng">
              <a:solidFill>
                <a:schemeClr val="tx1"/>
              </a:solidFill>
              <a:prstDash val="solid"/>
              <a:round/>
              <a:headEnd type="none" w="med" len="med"/>
              <a:tailEnd type="none" w="med" len="med"/>
            </a:ln>
          </p:spPr>
        </p:sp>
        <p:sp>
          <p:nvSpPr>
            <p:cNvPr id="115736" name="Line 107"/>
            <p:cNvSpPr/>
            <p:nvPr/>
          </p:nvSpPr>
          <p:spPr>
            <a:xfrm flipV="1">
              <a:off x="3264" y="912"/>
              <a:ext cx="0" cy="144"/>
            </a:xfrm>
            <a:prstGeom prst="line">
              <a:avLst/>
            </a:prstGeom>
            <a:ln w="9525" cap="flat" cmpd="sng">
              <a:solidFill>
                <a:schemeClr val="tx1"/>
              </a:solidFill>
              <a:prstDash val="solid"/>
              <a:round/>
              <a:headEnd type="none" w="med" len="med"/>
              <a:tailEnd type="none" w="med" len="med"/>
            </a:ln>
          </p:spPr>
        </p:sp>
        <p:sp>
          <p:nvSpPr>
            <p:cNvPr id="115737" name="Oval 108"/>
            <p:cNvSpPr/>
            <p:nvPr/>
          </p:nvSpPr>
          <p:spPr>
            <a:xfrm>
              <a:off x="3141" y="546"/>
              <a:ext cx="48" cy="48"/>
            </a:xfrm>
            <a:prstGeom prst="ellipse">
              <a:avLst/>
            </a:prstGeom>
            <a:solidFill>
              <a:srgbClr val="FFFFFF"/>
            </a:solidFill>
            <a:ln w="9525"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38" name="Oval 109"/>
            <p:cNvSpPr/>
            <p:nvPr/>
          </p:nvSpPr>
          <p:spPr>
            <a:xfrm>
              <a:off x="3714" y="555"/>
              <a:ext cx="48" cy="48"/>
            </a:xfrm>
            <a:prstGeom prst="ellipse">
              <a:avLst/>
            </a:prstGeom>
            <a:solidFill>
              <a:srgbClr val="FFFFFF"/>
            </a:solidFill>
            <a:ln w="9525"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39" name="Text Box 110"/>
            <p:cNvSpPr txBox="1"/>
            <p:nvPr/>
          </p:nvSpPr>
          <p:spPr>
            <a:xfrm>
              <a:off x="3072" y="192"/>
              <a:ext cx="240" cy="176"/>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Q</a:t>
              </a:r>
            </a:p>
          </p:txBody>
        </p:sp>
        <p:grpSp>
          <p:nvGrpSpPr>
            <p:cNvPr id="115740" name="Group 111"/>
            <p:cNvGrpSpPr/>
            <p:nvPr/>
          </p:nvGrpSpPr>
          <p:grpSpPr>
            <a:xfrm>
              <a:off x="3648" y="192"/>
              <a:ext cx="240" cy="176"/>
              <a:chOff x="4176" y="1104"/>
              <a:chExt cx="240" cy="176"/>
            </a:xfrm>
          </p:grpSpPr>
          <p:sp>
            <p:nvSpPr>
              <p:cNvPr id="115741" name="Text Box 112"/>
              <p:cNvSpPr txBox="1"/>
              <p:nvPr/>
            </p:nvSpPr>
            <p:spPr>
              <a:xfrm>
                <a:off x="4176" y="1104"/>
                <a:ext cx="240" cy="176"/>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Q</a:t>
                </a:r>
              </a:p>
            </p:txBody>
          </p:sp>
          <p:sp>
            <p:nvSpPr>
              <p:cNvPr id="115742" name="Line 113"/>
              <p:cNvSpPr/>
              <p:nvPr/>
            </p:nvSpPr>
            <p:spPr>
              <a:xfrm>
                <a:off x="4233" y="1143"/>
                <a:ext cx="96" cy="0"/>
              </a:xfrm>
              <a:prstGeom prst="line">
                <a:avLst/>
              </a:prstGeom>
              <a:ln w="9525" cap="flat" cmpd="sng">
                <a:solidFill>
                  <a:schemeClr val="tx1"/>
                </a:solidFill>
                <a:prstDash val="solid"/>
                <a:round/>
                <a:headEnd type="none" w="med" len="med"/>
                <a:tailEnd type="none" w="med" len="med"/>
              </a:ln>
            </p:spPr>
          </p:sp>
        </p:grpSp>
        <p:grpSp>
          <p:nvGrpSpPr>
            <p:cNvPr id="115743" name="Group 114"/>
            <p:cNvGrpSpPr/>
            <p:nvPr/>
          </p:nvGrpSpPr>
          <p:grpSpPr>
            <a:xfrm>
              <a:off x="2928" y="912"/>
              <a:ext cx="336" cy="176"/>
              <a:chOff x="3504" y="2160"/>
              <a:chExt cx="336" cy="176"/>
            </a:xfrm>
          </p:grpSpPr>
          <p:sp>
            <p:nvSpPr>
              <p:cNvPr id="115744" name="Text Box 115"/>
              <p:cNvSpPr txBox="1"/>
              <p:nvPr/>
            </p:nvSpPr>
            <p:spPr>
              <a:xfrm>
                <a:off x="3504" y="2160"/>
                <a:ext cx="336" cy="176"/>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S</a:t>
                </a:r>
                <a:r>
                  <a:rPr lang="en-US" altLang="zh-CN" sz="1600" baseline="-25000" dirty="0">
                    <a:solidFill>
                      <a:schemeClr val="tx1"/>
                    </a:solidFill>
                    <a:latin typeface="Times New Roman" panose="02020603050405020304" pitchFamily="18" charset="0"/>
                  </a:rPr>
                  <a:t>D</a:t>
                </a:r>
                <a:endParaRPr lang="en-US" altLang="zh-CN" sz="1600" dirty="0">
                  <a:solidFill>
                    <a:schemeClr val="tx1"/>
                  </a:solidFill>
                  <a:latin typeface="Times New Roman" panose="02020603050405020304" pitchFamily="18" charset="0"/>
                </a:endParaRPr>
              </a:p>
            </p:txBody>
          </p:sp>
          <p:sp>
            <p:nvSpPr>
              <p:cNvPr id="115745" name="Line 116"/>
              <p:cNvSpPr/>
              <p:nvPr/>
            </p:nvSpPr>
            <p:spPr>
              <a:xfrm>
                <a:off x="3561" y="2199"/>
                <a:ext cx="87" cy="0"/>
              </a:xfrm>
              <a:prstGeom prst="line">
                <a:avLst/>
              </a:prstGeom>
              <a:ln w="9525" cap="flat" cmpd="sng">
                <a:solidFill>
                  <a:schemeClr val="tx1"/>
                </a:solidFill>
                <a:prstDash val="solid"/>
                <a:round/>
                <a:headEnd type="none" w="med" len="med"/>
                <a:tailEnd type="none" w="med" len="med"/>
              </a:ln>
            </p:spPr>
          </p:sp>
        </p:grpSp>
        <p:grpSp>
          <p:nvGrpSpPr>
            <p:cNvPr id="115746" name="Group 117"/>
            <p:cNvGrpSpPr/>
            <p:nvPr/>
          </p:nvGrpSpPr>
          <p:grpSpPr>
            <a:xfrm>
              <a:off x="3744" y="912"/>
              <a:ext cx="336" cy="176"/>
              <a:chOff x="3504" y="2160"/>
              <a:chExt cx="336" cy="176"/>
            </a:xfrm>
          </p:grpSpPr>
          <p:sp>
            <p:nvSpPr>
              <p:cNvPr id="115747" name="Text Box 118"/>
              <p:cNvSpPr txBox="1"/>
              <p:nvPr/>
            </p:nvSpPr>
            <p:spPr>
              <a:xfrm>
                <a:off x="3504" y="2160"/>
                <a:ext cx="336" cy="176"/>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R</a:t>
                </a:r>
                <a:r>
                  <a:rPr lang="en-US" altLang="zh-CN" sz="1600" baseline="-25000" dirty="0">
                    <a:solidFill>
                      <a:schemeClr val="tx1"/>
                    </a:solidFill>
                    <a:latin typeface="Times New Roman" panose="02020603050405020304" pitchFamily="18" charset="0"/>
                  </a:rPr>
                  <a:t>D</a:t>
                </a:r>
                <a:endParaRPr lang="en-US" altLang="zh-CN" sz="1600" dirty="0">
                  <a:solidFill>
                    <a:schemeClr val="tx1"/>
                  </a:solidFill>
                  <a:latin typeface="Times New Roman" panose="02020603050405020304" pitchFamily="18" charset="0"/>
                </a:endParaRPr>
              </a:p>
            </p:txBody>
          </p:sp>
          <p:sp>
            <p:nvSpPr>
              <p:cNvPr id="115748" name="Line 119"/>
              <p:cNvSpPr/>
              <p:nvPr/>
            </p:nvSpPr>
            <p:spPr>
              <a:xfrm>
                <a:off x="3561" y="2199"/>
                <a:ext cx="87" cy="0"/>
              </a:xfrm>
              <a:prstGeom prst="line">
                <a:avLst/>
              </a:prstGeom>
              <a:ln w="9525" cap="flat" cmpd="sng">
                <a:solidFill>
                  <a:schemeClr val="tx1"/>
                </a:solidFill>
                <a:prstDash val="solid"/>
                <a:round/>
                <a:headEnd type="none" w="med" len="med"/>
                <a:tailEnd type="none" w="med" len="med"/>
              </a:ln>
            </p:spPr>
          </p:sp>
        </p:grpSp>
        <p:grpSp>
          <p:nvGrpSpPr>
            <p:cNvPr id="115749" name="Group 120"/>
            <p:cNvGrpSpPr/>
            <p:nvPr/>
          </p:nvGrpSpPr>
          <p:grpSpPr>
            <a:xfrm>
              <a:off x="2976" y="1132"/>
              <a:ext cx="384" cy="240"/>
              <a:chOff x="3504" y="1584"/>
              <a:chExt cx="384" cy="240"/>
            </a:xfrm>
          </p:grpSpPr>
          <p:grpSp>
            <p:nvGrpSpPr>
              <p:cNvPr id="115750" name="Group 121"/>
              <p:cNvGrpSpPr/>
              <p:nvPr/>
            </p:nvGrpSpPr>
            <p:grpSpPr>
              <a:xfrm>
                <a:off x="3504" y="1584"/>
                <a:ext cx="384" cy="240"/>
                <a:chOff x="3504" y="1584"/>
                <a:chExt cx="384" cy="240"/>
              </a:xfrm>
            </p:grpSpPr>
            <p:sp>
              <p:nvSpPr>
                <p:cNvPr id="115751" name="Rectangle 122"/>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52" name="Oval 123"/>
                <p:cNvSpPr/>
                <p:nvPr/>
              </p:nvSpPr>
              <p:spPr>
                <a:xfrm>
                  <a:off x="3675" y="1584"/>
                  <a:ext cx="48" cy="48"/>
                </a:xfrm>
                <a:prstGeom prst="ellipse">
                  <a:avLst/>
                </a:prstGeom>
                <a:noFill/>
                <a:ln w="19050"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115753" name="Text Box 124"/>
              <p:cNvSpPr txBox="1"/>
              <p:nvPr/>
            </p:nvSpPr>
            <p:spPr>
              <a:xfrm>
                <a:off x="3561" y="1632"/>
                <a:ext cx="288" cy="176"/>
              </a:xfrm>
              <a:prstGeom prst="rect">
                <a:avLst/>
              </a:prstGeom>
              <a:noFill/>
              <a:ln w="9525">
                <a:noFill/>
              </a:ln>
            </p:spPr>
            <p:txBody>
              <a:bodyPr anchor="t" anchorCtr="0">
                <a:spAutoFit/>
              </a:bodyPr>
              <a:lstStyle/>
              <a:p>
                <a:pPr algn="ctr" eaLnBrk="0" hangingPunct="0">
                  <a:spcBef>
                    <a:spcPct val="50000"/>
                  </a:spcBef>
                </a:pPr>
                <a:r>
                  <a:rPr lang="en-US" altLang="zh-CN" sz="1600" dirty="0">
                    <a:solidFill>
                      <a:schemeClr val="tx1"/>
                    </a:solidFill>
                    <a:latin typeface="Times New Roman" panose="02020603050405020304" pitchFamily="18" charset="0"/>
                  </a:rPr>
                  <a:t>&amp;</a:t>
                </a:r>
              </a:p>
            </p:txBody>
          </p:sp>
        </p:grpSp>
        <p:grpSp>
          <p:nvGrpSpPr>
            <p:cNvPr id="115754" name="Group 125"/>
            <p:cNvGrpSpPr/>
            <p:nvPr/>
          </p:nvGrpSpPr>
          <p:grpSpPr>
            <a:xfrm>
              <a:off x="3552" y="1132"/>
              <a:ext cx="384" cy="240"/>
              <a:chOff x="3504" y="1584"/>
              <a:chExt cx="384" cy="240"/>
            </a:xfrm>
          </p:grpSpPr>
          <p:grpSp>
            <p:nvGrpSpPr>
              <p:cNvPr id="115755" name="Group 126"/>
              <p:cNvGrpSpPr/>
              <p:nvPr/>
            </p:nvGrpSpPr>
            <p:grpSpPr>
              <a:xfrm>
                <a:off x="3504" y="1584"/>
                <a:ext cx="384" cy="240"/>
                <a:chOff x="3504" y="1584"/>
                <a:chExt cx="384" cy="240"/>
              </a:xfrm>
            </p:grpSpPr>
            <p:sp>
              <p:nvSpPr>
                <p:cNvPr id="115756" name="Rectangle 127"/>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57" name="Oval 128"/>
                <p:cNvSpPr/>
                <p:nvPr/>
              </p:nvSpPr>
              <p:spPr>
                <a:xfrm>
                  <a:off x="3675" y="1584"/>
                  <a:ext cx="48" cy="48"/>
                </a:xfrm>
                <a:prstGeom prst="ellipse">
                  <a:avLst/>
                </a:prstGeom>
                <a:noFill/>
                <a:ln w="19050"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115758" name="Text Box 129"/>
              <p:cNvSpPr txBox="1"/>
              <p:nvPr/>
            </p:nvSpPr>
            <p:spPr>
              <a:xfrm>
                <a:off x="3561" y="1632"/>
                <a:ext cx="288" cy="176"/>
              </a:xfrm>
              <a:prstGeom prst="rect">
                <a:avLst/>
              </a:prstGeom>
              <a:noFill/>
              <a:ln w="9525">
                <a:noFill/>
              </a:ln>
            </p:spPr>
            <p:txBody>
              <a:bodyPr anchor="t" anchorCtr="0">
                <a:spAutoFit/>
              </a:bodyPr>
              <a:lstStyle/>
              <a:p>
                <a:pPr algn="ctr" eaLnBrk="0" hangingPunct="0">
                  <a:spcBef>
                    <a:spcPct val="50000"/>
                  </a:spcBef>
                </a:pPr>
                <a:r>
                  <a:rPr lang="en-US" altLang="zh-CN" sz="1600" dirty="0">
                    <a:solidFill>
                      <a:schemeClr val="tx1"/>
                    </a:solidFill>
                    <a:latin typeface="Times New Roman" panose="02020603050405020304" pitchFamily="18" charset="0"/>
                  </a:rPr>
                  <a:t>&amp;</a:t>
                </a:r>
              </a:p>
            </p:txBody>
          </p:sp>
        </p:grpSp>
        <p:sp>
          <p:nvSpPr>
            <p:cNvPr id="115759" name="Line 130"/>
            <p:cNvSpPr/>
            <p:nvPr/>
          </p:nvSpPr>
          <p:spPr>
            <a:xfrm flipV="1">
              <a:off x="3168" y="912"/>
              <a:ext cx="0" cy="240"/>
            </a:xfrm>
            <a:prstGeom prst="line">
              <a:avLst/>
            </a:prstGeom>
            <a:ln w="9525" cap="flat" cmpd="sng">
              <a:solidFill>
                <a:schemeClr val="tx1"/>
              </a:solidFill>
              <a:prstDash val="solid"/>
              <a:round/>
              <a:headEnd type="none" w="med" len="med"/>
              <a:tailEnd type="none" w="med" len="med"/>
            </a:ln>
          </p:spPr>
        </p:sp>
        <p:sp>
          <p:nvSpPr>
            <p:cNvPr id="115760" name="Line 131"/>
            <p:cNvSpPr/>
            <p:nvPr/>
          </p:nvSpPr>
          <p:spPr>
            <a:xfrm flipV="1">
              <a:off x="3744" y="912"/>
              <a:ext cx="0" cy="240"/>
            </a:xfrm>
            <a:prstGeom prst="line">
              <a:avLst/>
            </a:prstGeom>
            <a:ln w="9525" cap="flat" cmpd="sng">
              <a:solidFill>
                <a:schemeClr val="tx1"/>
              </a:solidFill>
              <a:prstDash val="solid"/>
              <a:round/>
              <a:headEnd type="none" w="med" len="med"/>
              <a:tailEnd type="none" w="med" len="med"/>
            </a:ln>
          </p:spPr>
        </p:sp>
        <p:grpSp>
          <p:nvGrpSpPr>
            <p:cNvPr id="115761" name="Group 132"/>
            <p:cNvGrpSpPr/>
            <p:nvPr/>
          </p:nvGrpSpPr>
          <p:grpSpPr>
            <a:xfrm>
              <a:off x="3216" y="1374"/>
              <a:ext cx="480" cy="162"/>
              <a:chOff x="3264" y="1374"/>
              <a:chExt cx="384" cy="96"/>
            </a:xfrm>
          </p:grpSpPr>
          <p:sp>
            <p:nvSpPr>
              <p:cNvPr id="115762" name="Line 133"/>
              <p:cNvSpPr/>
              <p:nvPr/>
            </p:nvSpPr>
            <p:spPr>
              <a:xfrm>
                <a:off x="3264" y="1374"/>
                <a:ext cx="0" cy="96"/>
              </a:xfrm>
              <a:prstGeom prst="line">
                <a:avLst/>
              </a:prstGeom>
              <a:ln w="9525" cap="flat" cmpd="sng">
                <a:solidFill>
                  <a:schemeClr val="tx1"/>
                </a:solidFill>
                <a:prstDash val="solid"/>
                <a:round/>
                <a:headEnd type="none" w="med" len="med"/>
                <a:tailEnd type="none" w="med" len="med"/>
              </a:ln>
            </p:spPr>
          </p:sp>
          <p:sp>
            <p:nvSpPr>
              <p:cNvPr id="115763" name="Line 134"/>
              <p:cNvSpPr/>
              <p:nvPr/>
            </p:nvSpPr>
            <p:spPr>
              <a:xfrm>
                <a:off x="3264" y="1470"/>
                <a:ext cx="384" cy="0"/>
              </a:xfrm>
              <a:prstGeom prst="line">
                <a:avLst/>
              </a:prstGeom>
              <a:ln w="9525" cap="flat" cmpd="sng">
                <a:solidFill>
                  <a:schemeClr val="tx1"/>
                </a:solidFill>
                <a:prstDash val="solid"/>
                <a:round/>
                <a:headEnd type="none" w="med" len="med"/>
                <a:tailEnd type="none" w="med" len="med"/>
              </a:ln>
            </p:spPr>
          </p:sp>
          <p:sp>
            <p:nvSpPr>
              <p:cNvPr id="115764" name="Line 135"/>
              <p:cNvSpPr/>
              <p:nvPr/>
            </p:nvSpPr>
            <p:spPr>
              <a:xfrm flipV="1">
                <a:off x="3648" y="1374"/>
                <a:ext cx="0" cy="96"/>
              </a:xfrm>
              <a:prstGeom prst="line">
                <a:avLst/>
              </a:prstGeom>
              <a:ln w="9525" cap="flat" cmpd="sng">
                <a:solidFill>
                  <a:schemeClr val="tx1"/>
                </a:solidFill>
                <a:prstDash val="solid"/>
                <a:round/>
                <a:headEnd type="none" w="med" len="med"/>
                <a:tailEnd type="none" w="med" len="med"/>
              </a:ln>
            </p:spPr>
          </p:sp>
        </p:grpSp>
        <p:sp>
          <p:nvSpPr>
            <p:cNvPr id="115765" name="Line 136"/>
            <p:cNvSpPr/>
            <p:nvPr/>
          </p:nvSpPr>
          <p:spPr>
            <a:xfrm>
              <a:off x="3456" y="1533"/>
              <a:ext cx="0" cy="147"/>
            </a:xfrm>
            <a:prstGeom prst="line">
              <a:avLst/>
            </a:prstGeom>
            <a:ln w="9525" cap="flat" cmpd="sng">
              <a:solidFill>
                <a:schemeClr val="tx1"/>
              </a:solidFill>
              <a:prstDash val="solid"/>
              <a:round/>
              <a:headEnd type="none" w="med" len="med"/>
              <a:tailEnd type="none" w="med" len="med"/>
            </a:ln>
          </p:spPr>
        </p:sp>
        <p:sp>
          <p:nvSpPr>
            <p:cNvPr id="115766" name="Line 137"/>
            <p:cNvSpPr/>
            <p:nvPr/>
          </p:nvSpPr>
          <p:spPr>
            <a:xfrm>
              <a:off x="3072" y="1374"/>
              <a:ext cx="0" cy="288"/>
            </a:xfrm>
            <a:prstGeom prst="line">
              <a:avLst/>
            </a:prstGeom>
            <a:ln w="9525" cap="flat" cmpd="sng">
              <a:solidFill>
                <a:srgbClr val="FF0066"/>
              </a:solidFill>
              <a:prstDash val="solid"/>
              <a:round/>
              <a:headEnd type="none" w="med" len="med"/>
              <a:tailEnd type="none" w="med" len="med"/>
            </a:ln>
          </p:spPr>
        </p:sp>
        <p:sp>
          <p:nvSpPr>
            <p:cNvPr id="115767" name="Oval 138"/>
            <p:cNvSpPr/>
            <p:nvPr/>
          </p:nvSpPr>
          <p:spPr>
            <a:xfrm>
              <a:off x="3438" y="1509"/>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68" name="Text Box 139"/>
            <p:cNvSpPr txBox="1"/>
            <p:nvPr/>
          </p:nvSpPr>
          <p:spPr>
            <a:xfrm>
              <a:off x="2976" y="1660"/>
              <a:ext cx="240" cy="176"/>
            </a:xfrm>
            <a:prstGeom prst="rect">
              <a:avLst/>
            </a:prstGeom>
            <a:noFill/>
            <a:ln w="9525">
              <a:noFill/>
            </a:ln>
          </p:spPr>
          <p:txBody>
            <a:bodyPr anchor="t" anchorCtr="0">
              <a:spAutoFit/>
            </a:bodyPr>
            <a:lstStyle/>
            <a:p>
              <a:pPr algn="just" eaLnBrk="0" hangingPunct="0">
                <a:spcBef>
                  <a:spcPct val="50000"/>
                </a:spcBef>
              </a:pPr>
              <a:r>
                <a:rPr lang="en-US" altLang="zh-CN" sz="1600" dirty="0">
                  <a:solidFill>
                    <a:srgbClr val="CC3300"/>
                  </a:solidFill>
                  <a:latin typeface="Times New Roman" panose="02020603050405020304" pitchFamily="18" charset="0"/>
                </a:rPr>
                <a:t>T</a:t>
              </a:r>
            </a:p>
          </p:txBody>
        </p:sp>
        <p:sp>
          <p:nvSpPr>
            <p:cNvPr id="115769" name="Text Box 140"/>
            <p:cNvSpPr txBox="1"/>
            <p:nvPr/>
          </p:nvSpPr>
          <p:spPr>
            <a:xfrm>
              <a:off x="3312" y="1660"/>
              <a:ext cx="336" cy="176"/>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CP</a:t>
              </a:r>
            </a:p>
          </p:txBody>
        </p:sp>
        <p:grpSp>
          <p:nvGrpSpPr>
            <p:cNvPr id="115770" name="Group 141"/>
            <p:cNvGrpSpPr/>
            <p:nvPr/>
          </p:nvGrpSpPr>
          <p:grpSpPr>
            <a:xfrm>
              <a:off x="3312" y="1047"/>
              <a:ext cx="96" cy="384"/>
              <a:chOff x="3312" y="1056"/>
              <a:chExt cx="96" cy="384"/>
            </a:xfrm>
          </p:grpSpPr>
          <p:sp>
            <p:nvSpPr>
              <p:cNvPr id="115771" name="Line 142"/>
              <p:cNvSpPr/>
              <p:nvPr/>
            </p:nvSpPr>
            <p:spPr>
              <a:xfrm>
                <a:off x="3312" y="1392"/>
                <a:ext cx="0" cy="48"/>
              </a:xfrm>
              <a:prstGeom prst="line">
                <a:avLst/>
              </a:prstGeom>
              <a:ln w="9525" cap="flat" cmpd="sng">
                <a:solidFill>
                  <a:schemeClr val="tx1"/>
                </a:solidFill>
                <a:prstDash val="solid"/>
                <a:round/>
                <a:headEnd type="none" w="med" len="med"/>
                <a:tailEnd type="none" w="med" len="med"/>
              </a:ln>
            </p:spPr>
          </p:sp>
          <p:sp>
            <p:nvSpPr>
              <p:cNvPr id="115772" name="Line 143"/>
              <p:cNvSpPr/>
              <p:nvPr/>
            </p:nvSpPr>
            <p:spPr>
              <a:xfrm>
                <a:off x="3312" y="1440"/>
                <a:ext cx="96" cy="0"/>
              </a:xfrm>
              <a:prstGeom prst="line">
                <a:avLst/>
              </a:prstGeom>
              <a:ln w="9525" cap="flat" cmpd="sng">
                <a:solidFill>
                  <a:schemeClr val="tx1"/>
                </a:solidFill>
                <a:prstDash val="solid"/>
                <a:round/>
                <a:headEnd type="none" w="med" len="med"/>
                <a:tailEnd type="none" w="med" len="med"/>
              </a:ln>
            </p:spPr>
          </p:sp>
          <p:sp>
            <p:nvSpPr>
              <p:cNvPr id="115773" name="Line 144"/>
              <p:cNvSpPr/>
              <p:nvPr/>
            </p:nvSpPr>
            <p:spPr>
              <a:xfrm flipV="1">
                <a:off x="3408" y="1056"/>
                <a:ext cx="0" cy="384"/>
              </a:xfrm>
              <a:prstGeom prst="line">
                <a:avLst/>
              </a:prstGeom>
              <a:ln w="9525" cap="flat" cmpd="sng">
                <a:solidFill>
                  <a:schemeClr val="tx1"/>
                </a:solidFill>
                <a:prstDash val="solid"/>
                <a:round/>
                <a:headEnd type="none" w="med" len="med"/>
                <a:tailEnd type="none" w="med" len="med"/>
              </a:ln>
            </p:spPr>
          </p:sp>
        </p:grpSp>
        <p:grpSp>
          <p:nvGrpSpPr>
            <p:cNvPr id="115774" name="Group 145"/>
            <p:cNvGrpSpPr/>
            <p:nvPr/>
          </p:nvGrpSpPr>
          <p:grpSpPr>
            <a:xfrm>
              <a:off x="3504" y="1047"/>
              <a:ext cx="96" cy="384"/>
              <a:chOff x="3504" y="1056"/>
              <a:chExt cx="96" cy="384"/>
            </a:xfrm>
          </p:grpSpPr>
          <p:sp>
            <p:nvSpPr>
              <p:cNvPr id="115775" name="Line 146"/>
              <p:cNvSpPr/>
              <p:nvPr/>
            </p:nvSpPr>
            <p:spPr>
              <a:xfrm>
                <a:off x="3600" y="1392"/>
                <a:ext cx="0" cy="48"/>
              </a:xfrm>
              <a:prstGeom prst="line">
                <a:avLst/>
              </a:prstGeom>
              <a:ln w="9525" cap="flat" cmpd="sng">
                <a:solidFill>
                  <a:schemeClr val="tx1"/>
                </a:solidFill>
                <a:prstDash val="solid"/>
                <a:round/>
                <a:headEnd type="none" w="med" len="med"/>
                <a:tailEnd type="none" w="med" len="med"/>
              </a:ln>
            </p:spPr>
          </p:sp>
          <p:sp>
            <p:nvSpPr>
              <p:cNvPr id="115776" name="Line 147"/>
              <p:cNvSpPr/>
              <p:nvPr/>
            </p:nvSpPr>
            <p:spPr>
              <a:xfrm flipH="1">
                <a:off x="3504" y="1440"/>
                <a:ext cx="96" cy="0"/>
              </a:xfrm>
              <a:prstGeom prst="line">
                <a:avLst/>
              </a:prstGeom>
              <a:ln w="9525" cap="flat" cmpd="sng">
                <a:solidFill>
                  <a:schemeClr val="tx1"/>
                </a:solidFill>
                <a:prstDash val="solid"/>
                <a:round/>
                <a:headEnd type="none" w="med" len="med"/>
                <a:tailEnd type="none" w="med" len="med"/>
              </a:ln>
            </p:spPr>
          </p:sp>
          <p:sp>
            <p:nvSpPr>
              <p:cNvPr id="115777" name="Line 148"/>
              <p:cNvSpPr/>
              <p:nvPr/>
            </p:nvSpPr>
            <p:spPr>
              <a:xfrm flipV="1">
                <a:off x="3504" y="1056"/>
                <a:ext cx="0" cy="384"/>
              </a:xfrm>
              <a:prstGeom prst="line">
                <a:avLst/>
              </a:prstGeom>
              <a:ln w="9525" cap="flat" cmpd="sng">
                <a:solidFill>
                  <a:schemeClr val="tx1"/>
                </a:solidFill>
                <a:prstDash val="solid"/>
                <a:round/>
                <a:headEnd type="none" w="med" len="med"/>
                <a:tailEnd type="none" w="med" len="med"/>
              </a:ln>
            </p:spPr>
          </p:sp>
        </p:grpSp>
        <p:sp>
          <p:nvSpPr>
            <p:cNvPr id="115778" name="Oval 149"/>
            <p:cNvSpPr/>
            <p:nvPr/>
          </p:nvSpPr>
          <p:spPr>
            <a:xfrm>
              <a:off x="3378" y="1029"/>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79" name="Oval 150"/>
            <p:cNvSpPr/>
            <p:nvPr/>
          </p:nvSpPr>
          <p:spPr>
            <a:xfrm>
              <a:off x="3486" y="1026"/>
              <a:ext cx="48" cy="48"/>
            </a:xfrm>
            <a:prstGeom prst="ellipse">
              <a:avLst/>
            </a:prstGeom>
            <a:solidFill>
              <a:schemeClr val="tx1"/>
            </a:solidFill>
            <a:ln w="9525"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80" name="Line 151"/>
            <p:cNvSpPr/>
            <p:nvPr/>
          </p:nvSpPr>
          <p:spPr>
            <a:xfrm>
              <a:off x="3840" y="1383"/>
              <a:ext cx="0" cy="192"/>
            </a:xfrm>
            <a:prstGeom prst="line">
              <a:avLst/>
            </a:prstGeom>
            <a:ln w="9525" cap="flat" cmpd="sng">
              <a:solidFill>
                <a:srgbClr val="FF0066"/>
              </a:solidFill>
              <a:prstDash val="solid"/>
              <a:round/>
              <a:headEnd type="none" w="med" len="med"/>
              <a:tailEnd type="none" w="med" len="med"/>
            </a:ln>
          </p:spPr>
        </p:sp>
        <p:sp>
          <p:nvSpPr>
            <p:cNvPr id="115781" name="Line 152"/>
            <p:cNvSpPr/>
            <p:nvPr/>
          </p:nvSpPr>
          <p:spPr>
            <a:xfrm flipH="1">
              <a:off x="3072" y="1575"/>
              <a:ext cx="768" cy="0"/>
            </a:xfrm>
            <a:prstGeom prst="line">
              <a:avLst/>
            </a:prstGeom>
            <a:ln w="9525" cap="flat" cmpd="sng">
              <a:solidFill>
                <a:srgbClr val="FF0066"/>
              </a:solidFill>
              <a:prstDash val="solid"/>
              <a:round/>
              <a:headEnd type="none" w="med" len="med"/>
              <a:tailEnd type="none" w="med" len="med"/>
            </a:ln>
          </p:spPr>
        </p:sp>
        <p:sp>
          <p:nvSpPr>
            <p:cNvPr id="115782" name="Oval 153"/>
            <p:cNvSpPr/>
            <p:nvPr/>
          </p:nvSpPr>
          <p:spPr>
            <a:xfrm>
              <a:off x="3054" y="1548"/>
              <a:ext cx="48" cy="48"/>
            </a:xfrm>
            <a:prstGeom prst="ellipse">
              <a:avLst/>
            </a:prstGeom>
            <a:solidFill>
              <a:srgbClr val="FF0066"/>
            </a:solidFill>
            <a:ln w="9525" cap="flat" cmpd="sng">
              <a:solidFill>
                <a:srgbClr val="FF0066"/>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grpSp>
        <p:nvGrpSpPr>
          <p:cNvPr id="17" name="Group 86"/>
          <p:cNvGrpSpPr/>
          <p:nvPr/>
        </p:nvGrpSpPr>
        <p:grpSpPr>
          <a:xfrm>
            <a:off x="7523163" y="2654300"/>
            <a:ext cx="1385887" cy="1746250"/>
            <a:chOff x="3751" y="1717"/>
            <a:chExt cx="873" cy="1100"/>
          </a:xfrm>
        </p:grpSpPr>
        <p:sp>
          <p:nvSpPr>
            <p:cNvPr id="115784" name="Text Box 155"/>
            <p:cNvSpPr txBox="1"/>
            <p:nvPr/>
          </p:nvSpPr>
          <p:spPr>
            <a:xfrm>
              <a:off x="3838" y="1989"/>
              <a:ext cx="291" cy="212"/>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Q</a:t>
              </a:r>
            </a:p>
          </p:txBody>
        </p:sp>
        <p:grpSp>
          <p:nvGrpSpPr>
            <p:cNvPr id="115785" name="Group 156"/>
            <p:cNvGrpSpPr/>
            <p:nvPr/>
          </p:nvGrpSpPr>
          <p:grpSpPr>
            <a:xfrm>
              <a:off x="4300" y="1982"/>
              <a:ext cx="291" cy="212"/>
              <a:chOff x="4176" y="1104"/>
              <a:chExt cx="240" cy="176"/>
            </a:xfrm>
          </p:grpSpPr>
          <p:sp>
            <p:nvSpPr>
              <p:cNvPr id="115786" name="Text Box 157"/>
              <p:cNvSpPr txBox="1"/>
              <p:nvPr/>
            </p:nvSpPr>
            <p:spPr>
              <a:xfrm>
                <a:off x="4176" y="1104"/>
                <a:ext cx="240" cy="176"/>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Q</a:t>
                </a:r>
              </a:p>
            </p:txBody>
          </p:sp>
          <p:sp>
            <p:nvSpPr>
              <p:cNvPr id="115787" name="Line 158"/>
              <p:cNvSpPr/>
              <p:nvPr/>
            </p:nvSpPr>
            <p:spPr>
              <a:xfrm>
                <a:off x="4233" y="1143"/>
                <a:ext cx="96" cy="0"/>
              </a:xfrm>
              <a:prstGeom prst="line">
                <a:avLst/>
              </a:prstGeom>
              <a:ln w="9525" cap="flat" cmpd="sng">
                <a:solidFill>
                  <a:schemeClr val="tx1"/>
                </a:solidFill>
                <a:prstDash val="solid"/>
                <a:round/>
                <a:headEnd type="none" w="med" len="med"/>
                <a:tailEnd type="none" w="med" len="med"/>
              </a:ln>
            </p:spPr>
          </p:sp>
        </p:grpSp>
        <p:sp>
          <p:nvSpPr>
            <p:cNvPr id="115788" name="Text Box 159"/>
            <p:cNvSpPr txBox="1"/>
            <p:nvPr/>
          </p:nvSpPr>
          <p:spPr>
            <a:xfrm>
              <a:off x="3867" y="2271"/>
              <a:ext cx="408" cy="212"/>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T</a:t>
              </a:r>
            </a:p>
          </p:txBody>
        </p:sp>
        <p:sp>
          <p:nvSpPr>
            <p:cNvPr id="115789" name="Rectangle 160"/>
            <p:cNvSpPr/>
            <p:nvPr/>
          </p:nvSpPr>
          <p:spPr>
            <a:xfrm>
              <a:off x="3751" y="2006"/>
              <a:ext cx="873" cy="521"/>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90" name="Line 161"/>
            <p:cNvSpPr/>
            <p:nvPr/>
          </p:nvSpPr>
          <p:spPr>
            <a:xfrm flipV="1">
              <a:off x="3984" y="1717"/>
              <a:ext cx="0" cy="289"/>
            </a:xfrm>
            <a:prstGeom prst="line">
              <a:avLst/>
            </a:prstGeom>
            <a:ln w="9525" cap="flat" cmpd="sng">
              <a:solidFill>
                <a:schemeClr val="tx1"/>
              </a:solidFill>
              <a:prstDash val="solid"/>
              <a:round/>
              <a:headEnd type="none" w="med" len="med"/>
              <a:tailEnd type="none" w="med" len="med"/>
            </a:ln>
          </p:spPr>
        </p:sp>
        <p:sp>
          <p:nvSpPr>
            <p:cNvPr id="115791" name="Oval 162"/>
            <p:cNvSpPr/>
            <p:nvPr/>
          </p:nvSpPr>
          <p:spPr>
            <a:xfrm>
              <a:off x="4391" y="1948"/>
              <a:ext cx="58" cy="58"/>
            </a:xfrm>
            <a:prstGeom prst="ellipse">
              <a:avLst/>
            </a:prstGeom>
            <a:noFill/>
            <a:ln w="19050" cap="flat" cmpd="sng">
              <a:solidFill>
                <a:schemeClr val="tx1"/>
              </a:solidFill>
              <a:prstDash val="solid"/>
              <a:round/>
              <a:headEnd type="none" w="med" len="med"/>
              <a:tailEnd type="none" w="med" len="med"/>
            </a:ln>
          </p:spPr>
          <p:txBody>
            <a:bodyPr wrap="none" anchor="ctr" anchorCtr="0"/>
            <a:lstStyle/>
            <a:p>
              <a:pPr algn="dist">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115792" name="Line 163"/>
            <p:cNvSpPr/>
            <p:nvPr/>
          </p:nvSpPr>
          <p:spPr>
            <a:xfrm>
              <a:off x="4417" y="1717"/>
              <a:ext cx="0" cy="231"/>
            </a:xfrm>
            <a:prstGeom prst="line">
              <a:avLst/>
            </a:prstGeom>
            <a:ln w="9525" cap="flat" cmpd="sng">
              <a:solidFill>
                <a:schemeClr val="tx1"/>
              </a:solidFill>
              <a:prstDash val="solid"/>
              <a:round/>
              <a:headEnd type="none" w="med" len="med"/>
              <a:tailEnd type="none" w="med" len="med"/>
            </a:ln>
          </p:spPr>
        </p:sp>
        <p:sp>
          <p:nvSpPr>
            <p:cNvPr id="115793" name="Line 164"/>
            <p:cNvSpPr/>
            <p:nvPr/>
          </p:nvSpPr>
          <p:spPr>
            <a:xfrm>
              <a:off x="4009" y="2528"/>
              <a:ext cx="0" cy="289"/>
            </a:xfrm>
            <a:prstGeom prst="line">
              <a:avLst/>
            </a:prstGeom>
            <a:ln w="9525" cap="flat" cmpd="sng">
              <a:solidFill>
                <a:schemeClr val="tx1"/>
              </a:solidFill>
              <a:prstDash val="solid"/>
              <a:round/>
              <a:headEnd type="none" w="med" len="med"/>
              <a:tailEnd type="none" w="med" len="med"/>
            </a:ln>
          </p:spPr>
        </p:sp>
        <p:sp>
          <p:nvSpPr>
            <p:cNvPr id="115794" name="Line 165"/>
            <p:cNvSpPr/>
            <p:nvPr/>
          </p:nvSpPr>
          <p:spPr>
            <a:xfrm>
              <a:off x="4206" y="2528"/>
              <a:ext cx="0" cy="289"/>
            </a:xfrm>
            <a:prstGeom prst="line">
              <a:avLst/>
            </a:prstGeom>
            <a:ln w="9525" cap="flat" cmpd="sng">
              <a:solidFill>
                <a:schemeClr val="tx1"/>
              </a:solidFill>
              <a:prstDash val="solid"/>
              <a:round/>
              <a:headEnd type="none" w="med" len="med"/>
              <a:tailEnd type="none" w="med" len="med"/>
            </a:ln>
          </p:spPr>
        </p:sp>
        <p:sp>
          <p:nvSpPr>
            <p:cNvPr id="115795" name="Text Box 166"/>
            <p:cNvSpPr txBox="1"/>
            <p:nvPr/>
          </p:nvSpPr>
          <p:spPr>
            <a:xfrm>
              <a:off x="4100" y="2291"/>
              <a:ext cx="349" cy="212"/>
            </a:xfrm>
            <a:prstGeom prst="rect">
              <a:avLst/>
            </a:prstGeom>
            <a:noFill/>
            <a:ln w="9525">
              <a:noFill/>
            </a:ln>
          </p:spPr>
          <p:txBody>
            <a:bodyPr anchor="t" anchorCtr="0">
              <a:spAutoFit/>
            </a:bodyPr>
            <a:lstStyle/>
            <a:p>
              <a:pPr algn="just" eaLnBrk="0" hangingPunct="0">
                <a:spcBef>
                  <a:spcPct val="50000"/>
                </a:spcBef>
              </a:pPr>
              <a:r>
                <a:rPr lang="en-US" altLang="zh-CN" sz="1600" dirty="0">
                  <a:solidFill>
                    <a:schemeClr val="tx1"/>
                  </a:solidFill>
                  <a:latin typeface="Times New Roman" panose="02020603050405020304" pitchFamily="18" charset="0"/>
                </a:rPr>
                <a:t>CP</a:t>
              </a:r>
            </a:p>
          </p:txBody>
        </p:sp>
      </p:grpSp>
      <p:sp>
        <p:nvSpPr>
          <p:cNvPr id="41047" name="Text Box 78"/>
          <p:cNvSpPr txBox="1"/>
          <p:nvPr/>
        </p:nvSpPr>
        <p:spPr>
          <a:xfrm>
            <a:off x="1881188" y="5002213"/>
            <a:ext cx="8651875" cy="1139825"/>
          </a:xfrm>
          <a:prstGeom prst="rect">
            <a:avLst/>
          </a:prstGeom>
          <a:noFill/>
          <a:ln w="57150">
            <a:noFill/>
          </a:ln>
        </p:spPr>
        <p:txBody>
          <a:bodyPr anchor="t" anchorCtr="0">
            <a:spAutoFit/>
          </a:bodyPr>
          <a:lstStyle/>
          <a:p>
            <a:pPr marL="361950" indent="-361950">
              <a:lnSpc>
                <a:spcPct val="110000"/>
              </a:lnSpc>
              <a:spcBef>
                <a:spcPct val="10000"/>
              </a:spcBef>
              <a:buClr>
                <a:schemeClr val="bg2"/>
              </a:buClr>
              <a:buSzPct val="90000"/>
              <a:buFont typeface="Wingdings" panose="05000000000000000000" pitchFamily="2" charset="2"/>
              <a:buChar char="v"/>
            </a:pPr>
            <a:r>
              <a:rPr lang="zh-CN" altLang="en-US" dirty="0">
                <a:solidFill>
                  <a:schemeClr val="tx1"/>
                </a:solidFill>
                <a:latin typeface="Times New Roman" panose="02020603050405020304" pitchFamily="18" charset="0"/>
                <a:ea typeface="宋体" panose="02010600030101010101" pitchFamily="2" charset="-122"/>
              </a:rPr>
              <a:t>工作原理</a:t>
            </a:r>
          </a:p>
          <a:p>
            <a:pPr marL="906780" lvl="1" indent="-365125" algn="l" eaLnBrk="1" fontAlgn="base" hangingPunct="1">
              <a:lnSpc>
                <a:spcPct val="110000"/>
              </a:lnSpc>
              <a:spcBef>
                <a:spcPct val="0"/>
              </a:spcBef>
              <a:spcAft>
                <a:spcPct val="0"/>
              </a:spcAft>
              <a:buClr>
                <a:srgbClr val="006666"/>
              </a:buClr>
              <a:buSzPct val="70000"/>
              <a:buFont typeface="Wingdings" panose="05000000000000000000" pitchFamily="2" charset="2"/>
              <a:buChar char="u"/>
            </a:pPr>
            <a:r>
              <a:rPr lang="zh-CN" altLang="en-US" sz="2200" dirty="0">
                <a:solidFill>
                  <a:schemeClr val="tx1"/>
                </a:solidFill>
                <a:latin typeface="Arial" panose="020B0604020202020204" pitchFamily="34" charset="0"/>
                <a:ea typeface="宋体" panose="02010600030101010101" pitchFamily="2" charset="-122"/>
              </a:rPr>
              <a:t>当</a:t>
            </a:r>
            <a:r>
              <a:rPr lang="en-US" altLang="zh-CN" sz="2200" dirty="0">
                <a:solidFill>
                  <a:schemeClr val="tx1"/>
                </a:solidFill>
                <a:latin typeface="Arial" panose="020B0604020202020204" pitchFamily="34" charset="0"/>
              </a:rPr>
              <a:t>T</a:t>
            </a:r>
            <a:r>
              <a:rPr lang="zh-CN" altLang="en-US" sz="2200" dirty="0">
                <a:solidFill>
                  <a:schemeClr val="tx1"/>
                </a:solidFill>
                <a:latin typeface="Arial" panose="020B0604020202020204" pitchFamily="34" charset="0"/>
                <a:ea typeface="宋体" panose="02010600030101010101" pitchFamily="2" charset="-122"/>
              </a:rPr>
              <a:t>＝</a:t>
            </a:r>
            <a:r>
              <a:rPr lang="en-US" altLang="zh-CN" sz="2200" dirty="0">
                <a:solidFill>
                  <a:schemeClr val="tx1"/>
                </a:solidFill>
                <a:latin typeface="Arial" panose="020B0604020202020204" pitchFamily="34" charset="0"/>
              </a:rPr>
              <a:t>0</a:t>
            </a:r>
            <a:r>
              <a:rPr lang="zh-CN" altLang="en-US" sz="2200" dirty="0">
                <a:solidFill>
                  <a:schemeClr val="tx1"/>
                </a:solidFill>
                <a:latin typeface="Arial" panose="020B0604020202020204" pitchFamily="34" charset="0"/>
                <a:ea typeface="宋体" panose="02010600030101010101" pitchFamily="2" charset="-122"/>
              </a:rPr>
              <a:t>时，相当于</a:t>
            </a:r>
            <a:r>
              <a:rPr lang="en-US" altLang="zh-CN" sz="2200" dirty="0">
                <a:solidFill>
                  <a:schemeClr val="tx1"/>
                </a:solidFill>
                <a:latin typeface="Arial" panose="020B0604020202020204" pitchFamily="34" charset="0"/>
              </a:rPr>
              <a:t>J=0</a:t>
            </a:r>
            <a:r>
              <a:rPr lang="zh-CN" altLang="en-US" sz="2200" dirty="0">
                <a:solidFill>
                  <a:schemeClr val="tx1"/>
                </a:solidFill>
                <a:latin typeface="Arial" panose="020B0604020202020204" pitchFamily="34" charset="0"/>
                <a:ea typeface="宋体" panose="02010600030101010101" pitchFamily="2" charset="-122"/>
              </a:rPr>
              <a:t>，</a:t>
            </a:r>
            <a:r>
              <a:rPr lang="en-US" altLang="zh-CN" sz="2200" dirty="0">
                <a:solidFill>
                  <a:schemeClr val="tx1"/>
                </a:solidFill>
                <a:latin typeface="Arial" panose="020B0604020202020204" pitchFamily="34" charset="0"/>
              </a:rPr>
              <a:t>K=0</a:t>
            </a:r>
            <a:r>
              <a:rPr lang="zh-CN" altLang="en-US" sz="2200" dirty="0">
                <a:solidFill>
                  <a:schemeClr val="tx1"/>
                </a:solidFill>
                <a:latin typeface="Arial" panose="020B0604020202020204" pitchFamily="34" charset="0"/>
                <a:ea typeface="宋体" panose="02010600030101010101" pitchFamily="2" charset="-122"/>
              </a:rPr>
              <a:t>，触发器处于</a:t>
            </a:r>
            <a:r>
              <a:rPr lang="zh-CN" altLang="en-US" sz="2200" dirty="0">
                <a:solidFill>
                  <a:srgbClr val="CC0066"/>
                </a:solidFill>
                <a:latin typeface="Arial" panose="020B0604020202020204" pitchFamily="34" charset="0"/>
                <a:ea typeface="宋体" panose="02010600030101010101" pitchFamily="2" charset="-122"/>
              </a:rPr>
              <a:t>保持</a:t>
            </a:r>
            <a:r>
              <a:rPr lang="zh-CN" altLang="en-US" sz="2200" dirty="0">
                <a:solidFill>
                  <a:schemeClr val="tx1"/>
                </a:solidFill>
                <a:latin typeface="Arial" panose="020B0604020202020204" pitchFamily="34" charset="0"/>
                <a:ea typeface="宋体" panose="02010600030101010101" pitchFamily="2" charset="-122"/>
              </a:rPr>
              <a:t>状态；</a:t>
            </a:r>
          </a:p>
          <a:p>
            <a:pPr marL="906780" lvl="1" indent="-365125" algn="l" eaLnBrk="1" fontAlgn="base" hangingPunct="1">
              <a:lnSpc>
                <a:spcPct val="110000"/>
              </a:lnSpc>
              <a:spcBef>
                <a:spcPct val="0"/>
              </a:spcBef>
              <a:spcAft>
                <a:spcPct val="0"/>
              </a:spcAft>
              <a:buClr>
                <a:srgbClr val="006666"/>
              </a:buClr>
              <a:buSzPct val="70000"/>
              <a:buFont typeface="Wingdings" panose="05000000000000000000" pitchFamily="2" charset="2"/>
              <a:buChar char="u"/>
            </a:pPr>
            <a:r>
              <a:rPr lang="zh-CN" altLang="en-US" sz="2200" dirty="0">
                <a:solidFill>
                  <a:schemeClr val="tx1"/>
                </a:solidFill>
                <a:latin typeface="Arial" panose="020B0604020202020204" pitchFamily="34" charset="0"/>
                <a:ea typeface="宋体" panose="02010600030101010101" pitchFamily="2" charset="-122"/>
              </a:rPr>
              <a:t>当</a:t>
            </a:r>
            <a:r>
              <a:rPr lang="en-US" altLang="zh-CN" sz="2200" dirty="0">
                <a:solidFill>
                  <a:schemeClr val="tx1"/>
                </a:solidFill>
                <a:latin typeface="Arial" panose="020B0604020202020204" pitchFamily="34" charset="0"/>
              </a:rPr>
              <a:t>T</a:t>
            </a:r>
            <a:r>
              <a:rPr lang="zh-CN" altLang="en-US" sz="2200" dirty="0">
                <a:solidFill>
                  <a:schemeClr val="tx1"/>
                </a:solidFill>
                <a:latin typeface="Arial" panose="020B0604020202020204" pitchFamily="34" charset="0"/>
                <a:ea typeface="宋体" panose="02010600030101010101" pitchFamily="2" charset="-122"/>
              </a:rPr>
              <a:t>＝</a:t>
            </a:r>
            <a:r>
              <a:rPr lang="en-US" altLang="zh-CN" sz="2200" dirty="0">
                <a:solidFill>
                  <a:schemeClr val="tx1"/>
                </a:solidFill>
                <a:latin typeface="Arial" panose="020B0604020202020204" pitchFamily="34" charset="0"/>
              </a:rPr>
              <a:t>1</a:t>
            </a:r>
            <a:r>
              <a:rPr lang="zh-CN" altLang="en-US" sz="2200" dirty="0">
                <a:solidFill>
                  <a:schemeClr val="tx1"/>
                </a:solidFill>
                <a:latin typeface="Arial" panose="020B0604020202020204" pitchFamily="34" charset="0"/>
                <a:ea typeface="宋体" panose="02010600030101010101" pitchFamily="2" charset="-122"/>
              </a:rPr>
              <a:t>时，相当于</a:t>
            </a:r>
            <a:r>
              <a:rPr lang="en-US" altLang="zh-CN" sz="2200" dirty="0">
                <a:solidFill>
                  <a:schemeClr val="tx1"/>
                </a:solidFill>
                <a:latin typeface="Arial" panose="020B0604020202020204" pitchFamily="34" charset="0"/>
              </a:rPr>
              <a:t>J=1</a:t>
            </a:r>
            <a:r>
              <a:rPr lang="zh-CN" altLang="en-US" sz="2200" dirty="0">
                <a:solidFill>
                  <a:schemeClr val="tx1"/>
                </a:solidFill>
                <a:latin typeface="Arial" panose="020B0604020202020204" pitchFamily="34" charset="0"/>
                <a:ea typeface="宋体" panose="02010600030101010101" pitchFamily="2" charset="-122"/>
              </a:rPr>
              <a:t>，</a:t>
            </a:r>
            <a:r>
              <a:rPr lang="en-US" altLang="zh-CN" sz="2200" dirty="0">
                <a:solidFill>
                  <a:schemeClr val="tx1"/>
                </a:solidFill>
                <a:latin typeface="Arial" panose="020B0604020202020204" pitchFamily="34" charset="0"/>
              </a:rPr>
              <a:t>K=1</a:t>
            </a:r>
            <a:r>
              <a:rPr lang="zh-CN" altLang="en-US" sz="2200" dirty="0">
                <a:solidFill>
                  <a:schemeClr val="tx1"/>
                </a:solidFill>
                <a:latin typeface="Arial" panose="020B0604020202020204" pitchFamily="34" charset="0"/>
                <a:ea typeface="宋体" panose="02010600030101010101" pitchFamily="2" charset="-122"/>
              </a:rPr>
              <a:t>，触发器为</a:t>
            </a:r>
            <a:r>
              <a:rPr lang="zh-CN" altLang="en-US" sz="2200" dirty="0">
                <a:solidFill>
                  <a:srgbClr val="CC0066"/>
                </a:solidFill>
                <a:latin typeface="Arial" panose="020B0604020202020204" pitchFamily="34" charset="0"/>
                <a:ea typeface="宋体" panose="02010600030101010101" pitchFamily="2" charset="-122"/>
              </a:rPr>
              <a:t>翻转</a:t>
            </a:r>
            <a:r>
              <a:rPr lang="zh-CN" altLang="en-US" sz="2200" dirty="0">
                <a:solidFill>
                  <a:schemeClr val="tx1"/>
                </a:solidFill>
                <a:latin typeface="Arial" panose="020B0604020202020204" pitchFamily="34" charset="0"/>
                <a:ea typeface="宋体" panose="02010600030101010101" pitchFamily="2" charset="-122"/>
              </a:rPr>
              <a:t>功能</a:t>
            </a:r>
            <a:r>
              <a:rPr lang="zh-CN" altLang="en-US" sz="2200" dirty="0">
                <a:solidFill>
                  <a:schemeClr val="tx1"/>
                </a:solidFill>
                <a:latin typeface="Times New Roman" panose="02020603050405020304" pitchFamily="18" charset="0"/>
                <a:ea typeface="宋体" panose="02010600030101010101" pitchFamily="2" charset="-122"/>
              </a:rPr>
              <a:t>。</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1047"/>
                                        </p:tgtEl>
                                        <p:attrNameLst>
                                          <p:attrName>style.visibility</p:attrName>
                                        </p:attrNameLst>
                                      </p:cBhvr>
                                      <p:to>
                                        <p:strVal val="visible"/>
                                      </p:to>
                                    </p:set>
                                    <p:anim calcmode="lin" valueType="num">
                                      <p:cBhvr additive="base">
                                        <p:cTn id="17" dur="500" fill="hold"/>
                                        <p:tgtEl>
                                          <p:spTgt spid="41047"/>
                                        </p:tgtEl>
                                        <p:attrNameLst>
                                          <p:attrName>ppt_x</p:attrName>
                                        </p:attrNameLst>
                                      </p:cBhvr>
                                      <p:tavLst>
                                        <p:tav tm="0">
                                          <p:val>
                                            <p:strVal val="0-#ppt_w/2"/>
                                          </p:val>
                                        </p:tav>
                                        <p:tav tm="100000">
                                          <p:val>
                                            <p:strVal val="#ppt_x"/>
                                          </p:val>
                                        </p:tav>
                                      </p:tavLst>
                                    </p:anim>
                                    <p:anim calcmode="lin" valueType="num">
                                      <p:cBhvr additive="base">
                                        <p:cTn id="18" dur="500" fill="hold"/>
                                        <p:tgtEl>
                                          <p:spTgt spid="410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4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p:cNvSpPr>
            <a:spLocks noGrp="1"/>
          </p:cNvSpPr>
          <p:nvPr>
            <p:ph type="title"/>
          </p:nvPr>
        </p:nvSpPr>
        <p:spPr/>
        <p:txBody>
          <a:bodyPr wrap="square" lIns="91440" tIns="45720" rIns="91440" bIns="45720" anchor="ctr" anchorCtr="0">
            <a:normAutofit fontScale="90000"/>
          </a:bodyPr>
          <a:lstStyle/>
          <a:p>
            <a:r>
              <a:rPr lang="zh-CN" altLang="en-US" dirty="0">
                <a:solidFill>
                  <a:srgbClr val="FFCC00"/>
                </a:solidFill>
                <a:latin typeface="Arial" panose="020B0604020202020204" pitchFamily="34" charset="0"/>
                <a:ea typeface="黑体" panose="02010609060101010101" pitchFamily="49" charset="-122"/>
              </a:rPr>
              <a:t>钟控</a:t>
            </a:r>
            <a:r>
              <a:rPr lang="en-US" altLang="zh-CN" dirty="0">
                <a:solidFill>
                  <a:srgbClr val="FFCC00"/>
                </a:solidFill>
                <a:latin typeface="Arial" panose="020B0604020202020204" pitchFamily="34" charset="0"/>
                <a:ea typeface="黑体" panose="02010609060101010101" pitchFamily="49" charset="-122"/>
              </a:rPr>
              <a:t>T</a:t>
            </a:r>
            <a:r>
              <a:rPr lang="zh-CN" altLang="en-US" dirty="0">
                <a:solidFill>
                  <a:srgbClr val="FFCC00"/>
                </a:solidFill>
                <a:latin typeface="Arial" panose="020B0604020202020204" pitchFamily="34" charset="0"/>
                <a:ea typeface="黑体" panose="02010609060101010101" pitchFamily="49" charset="-122"/>
              </a:rPr>
              <a:t>触发器的逻辑功能表示</a:t>
            </a:r>
          </a:p>
        </p:txBody>
      </p:sp>
      <p:sp>
        <p:nvSpPr>
          <p:cNvPr id="117762" name="Rectangle 3"/>
          <p:cNvSpPr>
            <a:spLocks noGrp="1"/>
          </p:cNvSpPr>
          <p:nvPr>
            <p:ph type="body" sz="half" idx="1"/>
          </p:nvPr>
        </p:nvSpPr>
        <p:spPr>
          <a:xfrm>
            <a:off x="1955800" y="1125538"/>
            <a:ext cx="3043238" cy="863600"/>
          </a:xfrm>
        </p:spPr>
        <p:txBody>
          <a:bodyPr wrap="square" lIns="91440" tIns="45720" rIns="91440" bIns="45720" anchor="t" anchorCtr="0"/>
          <a:lstStyle/>
          <a:p>
            <a:pPr marL="365125" indent="-365125">
              <a:spcBef>
                <a:spcPct val="0"/>
              </a:spcBef>
              <a:buClr>
                <a:schemeClr val="hlink"/>
              </a:buClr>
              <a:buSzTx/>
              <a:buFont typeface="Wingdings" panose="05000000000000000000" pitchFamily="2" charset="2"/>
            </a:pPr>
            <a:r>
              <a:rPr lang="zh-CN" altLang="en-US" sz="2400" dirty="0"/>
              <a:t>电路功能</a:t>
            </a:r>
          </a:p>
          <a:p>
            <a:pPr marL="365125" indent="-365125" eaLnBrk="1" hangingPunct="1">
              <a:spcBef>
                <a:spcPct val="0"/>
              </a:spcBef>
              <a:buClrTx/>
              <a:buSzTx/>
              <a:buFont typeface="Wingdings" panose="05000000000000000000" pitchFamily="2" charset="2"/>
              <a:buNone/>
            </a:pPr>
            <a:r>
              <a:rPr lang="en-US" altLang="zh-CN" sz="2000" dirty="0"/>
              <a:t>	</a:t>
            </a:r>
            <a:r>
              <a:rPr lang="en-US" altLang="zh-CN" sz="2000" dirty="0">
                <a:solidFill>
                  <a:srgbClr val="FF0066"/>
                </a:solidFill>
              </a:rPr>
              <a:t>CP=0</a:t>
            </a:r>
            <a:r>
              <a:rPr lang="zh-CN" altLang="en-US" sz="2000" dirty="0">
                <a:solidFill>
                  <a:srgbClr val="FF0066"/>
                </a:solidFill>
              </a:rPr>
              <a:t>时保持</a:t>
            </a:r>
          </a:p>
        </p:txBody>
      </p:sp>
      <p:sp>
        <p:nvSpPr>
          <p:cNvPr id="117763" name="灯片编号占位符 4"/>
          <p:cNvSpPr>
            <a:spLocks noGrp="1"/>
          </p:cNvSpPr>
          <p:nvPr>
            <p:ph type="sldNum" sz="quarter" idx="4"/>
          </p:nvPr>
        </p:nvSpPr>
        <p:spPr/>
        <p:txBody>
          <a:bodyPr wrap="square" lIns="91440" tIns="45720" rIns="91440" bIns="45720" anchor="t" anchorCtr="0"/>
          <a:lstStyle/>
          <a:p>
            <a:pPr algn="ctr"/>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38</a:t>
            </a:fld>
            <a:endParaRPr lang="ko-KR" altLang="en-US" sz="1600" dirty="0">
              <a:solidFill>
                <a:schemeClr val="accent2"/>
              </a:solidFill>
              <a:latin typeface="Verdana" panose="020B0604030504040204" pitchFamily="34" charset="0"/>
              <a:ea typeface="Gulim" panose="020B0600000101010101" pitchFamily="34" charset="-127"/>
            </a:endParaRPr>
          </a:p>
        </p:txBody>
      </p:sp>
      <p:grpSp>
        <p:nvGrpSpPr>
          <p:cNvPr id="2" name="Group 78"/>
          <p:cNvGrpSpPr/>
          <p:nvPr/>
        </p:nvGrpSpPr>
        <p:grpSpPr>
          <a:xfrm>
            <a:off x="1595438" y="4343400"/>
            <a:ext cx="2514600" cy="1449388"/>
            <a:chOff x="2181" y="1896"/>
            <a:chExt cx="1584" cy="913"/>
          </a:xfrm>
        </p:grpSpPr>
        <p:sp>
          <p:nvSpPr>
            <p:cNvPr id="117765" name="Text Box 88"/>
            <p:cNvSpPr txBox="1"/>
            <p:nvPr/>
          </p:nvSpPr>
          <p:spPr>
            <a:xfrm>
              <a:off x="2181" y="1896"/>
              <a:ext cx="1584" cy="251"/>
            </a:xfrm>
            <a:prstGeom prst="rect">
              <a:avLst/>
            </a:prstGeom>
            <a:noFill/>
            <a:ln w="9525">
              <a:noFill/>
            </a:ln>
          </p:spPr>
          <p:txBody>
            <a:bodyPr anchor="t" anchorCtr="0">
              <a:spAutoFit/>
            </a:bodyPr>
            <a:lstStyle/>
            <a:p>
              <a:pPr algn="ctr" eaLnBrk="0" hangingPunct="0">
                <a:spcBef>
                  <a:spcPct val="50000"/>
                </a:spcBef>
              </a:pPr>
              <a:r>
                <a:rPr lang="zh-CN" altLang="en-US" sz="2000" dirty="0">
                  <a:solidFill>
                    <a:srgbClr val="C00000"/>
                  </a:solidFill>
                  <a:latin typeface="Times New Roman" panose="02020603050405020304" pitchFamily="18" charset="0"/>
                  <a:ea typeface="楷体_GB2312" pitchFamily="49" charset="-122"/>
                </a:rPr>
                <a:t>简化特性表</a:t>
              </a:r>
              <a:r>
                <a:rPr lang="en-US" altLang="zh-CN" sz="2000" dirty="0">
                  <a:solidFill>
                    <a:srgbClr val="C00000"/>
                  </a:solidFill>
                  <a:latin typeface="Arial" panose="020B0604020202020204" pitchFamily="34" charset="0"/>
                </a:rPr>
                <a:t>(CP=1)</a:t>
              </a:r>
            </a:p>
          </p:txBody>
        </p:sp>
        <p:sp>
          <p:nvSpPr>
            <p:cNvPr id="117766" name="Rectangle 89"/>
            <p:cNvSpPr/>
            <p:nvPr/>
          </p:nvSpPr>
          <p:spPr>
            <a:xfrm>
              <a:off x="2973" y="2413"/>
              <a:ext cx="456" cy="396"/>
            </a:xfrm>
            <a:prstGeom prst="rect">
              <a:avLst/>
            </a:prstGeom>
            <a:noFill/>
            <a:ln w="9525">
              <a:noFill/>
            </a:ln>
          </p:spPr>
          <p:txBody>
            <a:bodyPr anchor="t" anchorCtr="0"/>
            <a:lstStyle/>
            <a:p>
              <a:pPr algn="ctr" eaLnBrk="0" hangingPunct="0">
                <a:spcBef>
                  <a:spcPct val="20000"/>
                </a:spcBef>
                <a:buClr>
                  <a:schemeClr val="bg2"/>
                </a:buClr>
              </a:pPr>
              <a:r>
                <a:rPr lang="en-US" altLang="zh-CN" sz="1600" dirty="0">
                  <a:solidFill>
                    <a:schemeClr val="tx1"/>
                  </a:solidFill>
                  <a:latin typeface="Arial" panose="020B0604020202020204" pitchFamily="34" charset="0"/>
                </a:rPr>
                <a:t>Q</a:t>
              </a:r>
              <a:r>
                <a:rPr lang="en-US" altLang="zh-CN" sz="1600" baseline="30000" dirty="0">
                  <a:solidFill>
                    <a:schemeClr val="tx1"/>
                  </a:solidFill>
                  <a:latin typeface="Arial" panose="020B0604020202020204" pitchFamily="34" charset="0"/>
                </a:rPr>
                <a:t>n</a:t>
              </a:r>
              <a:endParaRPr lang="en-US" altLang="zh-CN" sz="1600" dirty="0">
                <a:solidFill>
                  <a:schemeClr val="tx1"/>
                </a:solidFill>
                <a:latin typeface="Arial" panose="020B0604020202020204" pitchFamily="34" charset="0"/>
              </a:endParaRPr>
            </a:p>
            <a:p>
              <a:pPr algn="ctr" eaLnBrk="0" hangingPunct="0">
                <a:spcBef>
                  <a:spcPct val="20000"/>
                </a:spcBef>
                <a:buClr>
                  <a:schemeClr val="bg2"/>
                </a:buClr>
              </a:pPr>
              <a:r>
                <a:rPr lang="en-US" altLang="zh-CN" sz="1600" dirty="0">
                  <a:solidFill>
                    <a:schemeClr val="tx1"/>
                  </a:solidFill>
                  <a:latin typeface="Arial" panose="020B0604020202020204" pitchFamily="34" charset="0"/>
                </a:rPr>
                <a:t>Q</a:t>
              </a:r>
              <a:r>
                <a:rPr lang="en-US" altLang="zh-CN" sz="1600" baseline="30000" dirty="0">
                  <a:solidFill>
                    <a:schemeClr val="tx1"/>
                  </a:solidFill>
                  <a:latin typeface="Arial" panose="020B0604020202020204" pitchFamily="34" charset="0"/>
                </a:rPr>
                <a:t>n</a:t>
              </a:r>
              <a:endParaRPr lang="en-US" altLang="zh-CN" sz="1600" dirty="0">
                <a:solidFill>
                  <a:schemeClr val="tx1"/>
                </a:solidFill>
                <a:latin typeface="Arial" panose="020B0604020202020204" pitchFamily="34" charset="0"/>
              </a:endParaRPr>
            </a:p>
          </p:txBody>
        </p:sp>
        <p:sp>
          <p:nvSpPr>
            <p:cNvPr id="117767" name="Rectangle 90"/>
            <p:cNvSpPr/>
            <p:nvPr/>
          </p:nvSpPr>
          <p:spPr>
            <a:xfrm>
              <a:off x="2517" y="2413"/>
              <a:ext cx="456" cy="396"/>
            </a:xfrm>
            <a:prstGeom prst="rect">
              <a:avLst/>
            </a:prstGeom>
            <a:noFill/>
            <a:ln w="9525">
              <a:noFill/>
            </a:ln>
          </p:spPr>
          <p:txBody>
            <a:bodyPr anchor="t" anchorCtr="0"/>
            <a:lstStyle/>
            <a:p>
              <a:pPr algn="ctr" eaLnBrk="0" hangingPunct="0">
                <a:spcBef>
                  <a:spcPct val="20000"/>
                </a:spcBef>
                <a:buClr>
                  <a:schemeClr val="bg2"/>
                </a:buClr>
              </a:pPr>
              <a:r>
                <a:rPr lang="en-US" altLang="zh-CN" sz="1600" dirty="0">
                  <a:solidFill>
                    <a:schemeClr val="tx1"/>
                  </a:solidFill>
                  <a:latin typeface="Arial" panose="020B0604020202020204" pitchFamily="34" charset="0"/>
                </a:rPr>
                <a:t>0</a:t>
              </a:r>
            </a:p>
            <a:p>
              <a:pPr algn="ctr" eaLnBrk="0" hangingPunct="0">
                <a:spcBef>
                  <a:spcPct val="20000"/>
                </a:spcBef>
                <a:buClr>
                  <a:schemeClr val="bg2"/>
                </a:buClr>
              </a:pPr>
              <a:r>
                <a:rPr lang="en-US" altLang="zh-CN" sz="1600" dirty="0">
                  <a:solidFill>
                    <a:schemeClr val="tx1"/>
                  </a:solidFill>
                  <a:latin typeface="Arial" panose="020B0604020202020204" pitchFamily="34" charset="0"/>
                </a:rPr>
                <a:t>1</a:t>
              </a:r>
            </a:p>
          </p:txBody>
        </p:sp>
        <p:sp>
          <p:nvSpPr>
            <p:cNvPr id="117768" name="Rectangle 91"/>
            <p:cNvSpPr/>
            <p:nvPr/>
          </p:nvSpPr>
          <p:spPr>
            <a:xfrm>
              <a:off x="2973" y="2202"/>
              <a:ext cx="456" cy="211"/>
            </a:xfrm>
            <a:prstGeom prst="rect">
              <a:avLst/>
            </a:prstGeom>
            <a:noFill/>
            <a:ln w="9525">
              <a:noFill/>
            </a:ln>
          </p:spPr>
          <p:txBody>
            <a:bodyPr anchor="t" anchorCtr="0"/>
            <a:lstStyle/>
            <a:p>
              <a:pPr algn="ctr" eaLnBrk="0" hangingPunct="0">
                <a:spcBef>
                  <a:spcPct val="20000"/>
                </a:spcBef>
                <a:buClr>
                  <a:schemeClr val="bg2"/>
                </a:buClr>
              </a:pPr>
              <a:r>
                <a:rPr lang="en-US" altLang="zh-CN" sz="1600" dirty="0">
                  <a:solidFill>
                    <a:schemeClr val="tx1"/>
                  </a:solidFill>
                  <a:latin typeface="Arial" panose="020B0604020202020204" pitchFamily="34" charset="0"/>
                </a:rPr>
                <a:t>Q</a:t>
              </a:r>
              <a:r>
                <a:rPr lang="en-US" altLang="zh-CN" sz="1600" baseline="30000" dirty="0">
                  <a:solidFill>
                    <a:schemeClr val="tx1"/>
                  </a:solidFill>
                  <a:latin typeface="Arial" panose="020B0604020202020204" pitchFamily="34" charset="0"/>
                </a:rPr>
                <a:t>n+1</a:t>
              </a:r>
              <a:endParaRPr lang="en-US" altLang="zh-CN" sz="1600" dirty="0">
                <a:solidFill>
                  <a:schemeClr val="tx1"/>
                </a:solidFill>
                <a:latin typeface="Arial" panose="020B0604020202020204" pitchFamily="34" charset="0"/>
              </a:endParaRPr>
            </a:p>
          </p:txBody>
        </p:sp>
        <p:sp>
          <p:nvSpPr>
            <p:cNvPr id="117769" name="Rectangle 92"/>
            <p:cNvSpPr/>
            <p:nvPr/>
          </p:nvSpPr>
          <p:spPr>
            <a:xfrm>
              <a:off x="2517" y="2202"/>
              <a:ext cx="456" cy="211"/>
            </a:xfrm>
            <a:prstGeom prst="rect">
              <a:avLst/>
            </a:prstGeom>
            <a:noFill/>
            <a:ln w="9525">
              <a:noFill/>
            </a:ln>
          </p:spPr>
          <p:txBody>
            <a:bodyPr anchor="t" anchorCtr="0"/>
            <a:lstStyle/>
            <a:p>
              <a:pPr algn="ctr" eaLnBrk="0" hangingPunct="0">
                <a:spcBef>
                  <a:spcPct val="20000"/>
                </a:spcBef>
                <a:buClr>
                  <a:schemeClr val="bg2"/>
                </a:buClr>
              </a:pPr>
              <a:r>
                <a:rPr lang="en-US" altLang="zh-CN" sz="1600" dirty="0">
                  <a:solidFill>
                    <a:schemeClr val="tx1"/>
                  </a:solidFill>
                  <a:latin typeface="Arial" panose="020B0604020202020204" pitchFamily="34" charset="0"/>
                </a:rPr>
                <a:t>T</a:t>
              </a:r>
            </a:p>
          </p:txBody>
        </p:sp>
        <p:sp>
          <p:nvSpPr>
            <p:cNvPr id="117770" name="Line 93"/>
            <p:cNvSpPr/>
            <p:nvPr/>
          </p:nvSpPr>
          <p:spPr>
            <a:xfrm>
              <a:off x="2517" y="2202"/>
              <a:ext cx="912" cy="0"/>
            </a:xfrm>
            <a:prstGeom prst="line">
              <a:avLst/>
            </a:prstGeom>
            <a:ln w="28575" cap="sq" cmpd="sng">
              <a:solidFill>
                <a:schemeClr val="tx1"/>
              </a:solidFill>
              <a:prstDash val="solid"/>
              <a:round/>
              <a:headEnd type="none" w="med" len="med"/>
              <a:tailEnd type="none" w="med" len="med"/>
            </a:ln>
          </p:spPr>
        </p:sp>
        <p:sp>
          <p:nvSpPr>
            <p:cNvPr id="117771" name="Line 94"/>
            <p:cNvSpPr/>
            <p:nvPr/>
          </p:nvSpPr>
          <p:spPr>
            <a:xfrm>
              <a:off x="2517" y="2413"/>
              <a:ext cx="912" cy="0"/>
            </a:xfrm>
            <a:prstGeom prst="line">
              <a:avLst/>
            </a:prstGeom>
            <a:ln w="12700" cap="flat" cmpd="sng">
              <a:solidFill>
                <a:schemeClr val="tx1"/>
              </a:solidFill>
              <a:prstDash val="solid"/>
              <a:round/>
              <a:headEnd type="none" w="med" len="med"/>
              <a:tailEnd type="none" w="med" len="med"/>
            </a:ln>
          </p:spPr>
        </p:sp>
        <p:sp>
          <p:nvSpPr>
            <p:cNvPr id="117772" name="Line 95"/>
            <p:cNvSpPr/>
            <p:nvPr/>
          </p:nvSpPr>
          <p:spPr>
            <a:xfrm>
              <a:off x="2517" y="2809"/>
              <a:ext cx="912" cy="0"/>
            </a:xfrm>
            <a:prstGeom prst="line">
              <a:avLst/>
            </a:prstGeom>
            <a:ln w="28575" cap="sq" cmpd="sng">
              <a:solidFill>
                <a:schemeClr val="tx1"/>
              </a:solidFill>
              <a:prstDash val="solid"/>
              <a:round/>
              <a:headEnd type="none" w="med" len="med"/>
              <a:tailEnd type="none" w="med" len="med"/>
            </a:ln>
          </p:spPr>
        </p:sp>
        <p:sp>
          <p:nvSpPr>
            <p:cNvPr id="117773" name="Line 97"/>
            <p:cNvSpPr/>
            <p:nvPr/>
          </p:nvSpPr>
          <p:spPr>
            <a:xfrm>
              <a:off x="2973" y="2202"/>
              <a:ext cx="0" cy="607"/>
            </a:xfrm>
            <a:prstGeom prst="line">
              <a:avLst/>
            </a:prstGeom>
            <a:ln w="12700" cap="flat" cmpd="sng">
              <a:solidFill>
                <a:schemeClr val="tx1"/>
              </a:solidFill>
              <a:prstDash val="solid"/>
              <a:round/>
              <a:headEnd type="none" w="med" len="med"/>
              <a:tailEnd type="none" w="med" len="med"/>
            </a:ln>
          </p:spPr>
        </p:sp>
        <p:sp>
          <p:nvSpPr>
            <p:cNvPr id="117774" name="Line 99"/>
            <p:cNvSpPr/>
            <p:nvPr/>
          </p:nvSpPr>
          <p:spPr>
            <a:xfrm>
              <a:off x="3141" y="2634"/>
              <a:ext cx="96" cy="0"/>
            </a:xfrm>
            <a:prstGeom prst="line">
              <a:avLst/>
            </a:prstGeom>
            <a:ln w="9525" cap="flat" cmpd="sng">
              <a:solidFill>
                <a:schemeClr val="tx1"/>
              </a:solidFill>
              <a:prstDash val="solid"/>
              <a:round/>
              <a:headEnd type="none" w="med" len="med"/>
              <a:tailEnd type="none" w="med" len="med"/>
            </a:ln>
          </p:spPr>
        </p:sp>
      </p:grpSp>
      <p:grpSp>
        <p:nvGrpSpPr>
          <p:cNvPr id="3" name="组合 24"/>
          <p:cNvGrpSpPr/>
          <p:nvPr/>
        </p:nvGrpSpPr>
        <p:grpSpPr>
          <a:xfrm>
            <a:off x="5286375" y="1068388"/>
            <a:ext cx="2752725" cy="1006475"/>
            <a:chOff x="4679950" y="3227387"/>
            <a:chExt cx="2752725" cy="1007121"/>
          </a:xfrm>
        </p:grpSpPr>
        <p:sp>
          <p:nvSpPr>
            <p:cNvPr id="117776" name="Text Box 100"/>
            <p:cNvSpPr txBox="1"/>
            <p:nvPr/>
          </p:nvSpPr>
          <p:spPr>
            <a:xfrm>
              <a:off x="4679950" y="3227387"/>
              <a:ext cx="2057400" cy="399036"/>
            </a:xfrm>
            <a:prstGeom prst="rect">
              <a:avLst/>
            </a:prstGeom>
            <a:noFill/>
            <a:ln w="9525">
              <a:noFill/>
            </a:ln>
          </p:spPr>
          <p:txBody>
            <a:bodyPr anchor="t" anchorCtr="0">
              <a:spAutoFit/>
            </a:bodyPr>
            <a:lstStyle/>
            <a:p>
              <a:pPr algn="just" eaLnBrk="0" hangingPunct="0">
                <a:spcBef>
                  <a:spcPct val="50000"/>
                </a:spcBef>
              </a:pPr>
              <a:r>
                <a:rPr lang="zh-CN" altLang="en-US" sz="2000" dirty="0">
                  <a:solidFill>
                    <a:srgbClr val="C00000"/>
                  </a:solidFill>
                  <a:latin typeface="Times New Roman" panose="02020603050405020304" pitchFamily="18" charset="0"/>
                  <a:ea typeface="楷体_GB2312" pitchFamily="49" charset="-122"/>
                </a:rPr>
                <a:t>特性方程</a:t>
              </a:r>
            </a:p>
          </p:txBody>
        </p:sp>
        <p:pic>
          <p:nvPicPr>
            <p:cNvPr id="117777" name="图片 4" descr="图片7.png"/>
            <p:cNvPicPr>
              <a:picLocks noChangeAspect="1"/>
            </p:cNvPicPr>
            <p:nvPr/>
          </p:nvPicPr>
          <p:blipFill>
            <a:blip r:embed="rId4"/>
            <a:stretch>
              <a:fillRect/>
            </a:stretch>
          </p:blipFill>
          <p:spPr>
            <a:xfrm>
              <a:off x="4679950" y="3643958"/>
              <a:ext cx="2752725" cy="590550"/>
            </a:xfrm>
            <a:prstGeom prst="rect">
              <a:avLst/>
            </a:prstGeom>
            <a:noFill/>
            <a:ln w="9525">
              <a:noFill/>
            </a:ln>
            <a:effectLst>
              <a:prstShdw prst="shdw13" dist="53882" dir="13499999">
                <a:srgbClr val="808080">
                  <a:alpha val="50000"/>
                </a:srgbClr>
              </a:prstShdw>
            </a:effectLst>
          </p:spPr>
        </p:pic>
      </p:grpSp>
      <p:sp>
        <p:nvSpPr>
          <p:cNvPr id="42032" name="Rectangle 48"/>
          <p:cNvSpPr/>
          <p:nvPr/>
        </p:nvSpPr>
        <p:spPr>
          <a:xfrm>
            <a:off x="2211071" y="1989138"/>
            <a:ext cx="1756410" cy="398780"/>
          </a:xfrm>
          <a:prstGeom prst="rect">
            <a:avLst/>
          </a:prstGeom>
          <a:noFill/>
          <a:ln w="9525">
            <a:noFill/>
          </a:ln>
          <a:effectLst>
            <a:prstShdw prst="shdw13" dist="53882" dir="13499999">
              <a:srgbClr val="166A6A">
                <a:alpha val="50000"/>
              </a:srgbClr>
            </a:prstShdw>
          </a:effectLst>
        </p:spPr>
        <p:txBody>
          <a:bodyPr wrap="none" anchor="t" anchorCtr="0">
            <a:spAutoFit/>
          </a:bodyPr>
          <a:lstStyle/>
          <a:p>
            <a:pPr algn="ctr" eaLnBrk="0" hangingPunct="0">
              <a:spcBef>
                <a:spcPct val="50000"/>
              </a:spcBef>
            </a:pPr>
            <a:r>
              <a:rPr lang="zh-CN" altLang="en-US" sz="2000" dirty="0">
                <a:solidFill>
                  <a:srgbClr val="C00000"/>
                </a:solidFill>
                <a:latin typeface="Arial" panose="020B0604020202020204" pitchFamily="34" charset="0"/>
                <a:ea typeface="楷体_GB2312" pitchFamily="49" charset="-122"/>
              </a:rPr>
              <a:t>特性表</a:t>
            </a:r>
            <a:r>
              <a:rPr lang="en-US" altLang="zh-CN" sz="2000" dirty="0">
                <a:solidFill>
                  <a:srgbClr val="C00000"/>
                </a:solidFill>
                <a:latin typeface="Arial" panose="020B0604020202020204" pitchFamily="34" charset="0"/>
              </a:rPr>
              <a:t>(CP=1)</a:t>
            </a:r>
          </a:p>
        </p:txBody>
      </p:sp>
      <p:graphicFrame>
        <p:nvGraphicFramePr>
          <p:cNvPr id="42061" name="Group 77"/>
          <p:cNvGraphicFramePr>
            <a:graphicFrameLocks noGrp="1"/>
          </p:cNvGraphicFramePr>
          <p:nvPr/>
        </p:nvGraphicFramePr>
        <p:xfrm>
          <a:off x="2259013" y="2457450"/>
          <a:ext cx="1620520" cy="1768475"/>
        </p:xfrm>
        <a:graphic>
          <a:graphicData uri="http://schemas.openxmlformats.org/drawingml/2006/table">
            <a:tbl>
              <a:tblPr/>
              <a:tblGrid>
                <a:gridCol w="944245">
                  <a:extLst>
                    <a:ext uri="{9D8B030D-6E8A-4147-A177-3AD203B41FA5}">
                      <a16:colId xmlns:a16="http://schemas.microsoft.com/office/drawing/2014/main" val="20000"/>
                    </a:ext>
                  </a:extLst>
                </a:gridCol>
                <a:gridCol w="676275">
                  <a:extLst>
                    <a:ext uri="{9D8B030D-6E8A-4147-A177-3AD203B41FA5}">
                      <a16:colId xmlns:a16="http://schemas.microsoft.com/office/drawing/2014/main" val="20001"/>
                    </a:ext>
                  </a:extLst>
                </a:gridCol>
              </a:tblGrid>
              <a:tr h="396382">
                <a:tc>
                  <a:txBody>
                    <a:bodyPr/>
                    <a:lstStyle/>
                    <a:p>
                      <a:pPr marL="0" marR="0" lvl="0" indent="0" algn="l"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T   </a:t>
                      </a:r>
                      <a:r>
                        <a:rPr kumimoji="0" lang="en-US" altLang="zh-CN" sz="20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Q</a:t>
                      </a:r>
                      <a:r>
                        <a:rPr kumimoji="0" lang="en-US" altLang="zh-CN" sz="2000" b="1" i="0" u="none" strike="noStrike" cap="none" normalizeH="0" baseline="30000" dirty="0" err="1" smtClean="0">
                          <a:ln>
                            <a:noFill/>
                          </a:ln>
                          <a:solidFill>
                            <a:schemeClr val="tx1"/>
                          </a:solidFill>
                          <a:effectLst/>
                          <a:latin typeface="Arial" panose="020B0604020202020204" pitchFamily="34" charset="0"/>
                          <a:ea typeface="宋体" panose="02010600030101010101" pitchFamily="2" charset="-122"/>
                        </a:rPr>
                        <a:t>n</a:t>
                      </a:r>
                      <a:endParaRPr kumimoji="0" lang="en-US"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Q</a:t>
                      </a:r>
                      <a:r>
                        <a:rPr kumimoji="0" lang="en-US" altLang="zh-CN" sz="2000" b="1" i="0" u="none" strike="noStrike" cap="none" normalizeH="0" baseline="30000" smtClean="0">
                          <a:ln>
                            <a:noFill/>
                          </a:ln>
                          <a:solidFill>
                            <a:schemeClr val="tx1"/>
                          </a:solidFill>
                          <a:effectLst/>
                          <a:latin typeface="Arial" panose="020B0604020202020204" pitchFamily="34" charset="0"/>
                          <a:ea typeface="宋体" panose="02010600030101010101" pitchFamily="2" charset="-122"/>
                        </a:rPr>
                        <a:t>n+1</a:t>
                      </a:r>
                      <a:endParaRPr kumimoji="0" lang="zh-CN" altLang="en-US" sz="2000" b="1" i="0" u="none" strike="noStrike" cap="none" normalizeH="0" baseline="30000" smtClean="0">
                        <a:ln>
                          <a:noFill/>
                        </a:ln>
                        <a:solidFill>
                          <a:schemeClr val="tx1"/>
                        </a:solidFill>
                        <a:effectLst/>
                        <a:latin typeface="Arial" panose="020B0604020202020204" pitchFamily="34" charset="0"/>
                        <a:ea typeface="宋体" panose="02010600030101010101" pitchFamily="2" charset="-122"/>
                      </a:endParaRP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72093">
                <a:tc>
                  <a:txBody>
                    <a:bodyPr/>
                    <a:lstStyle/>
                    <a:p>
                      <a:pPr marL="457200" marR="0" lvl="0" indent="-45720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0  0</a:t>
                      </a:r>
                    </a:p>
                    <a:p>
                      <a:pPr marL="457200" marR="0" lvl="0" indent="-45720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0  1</a:t>
                      </a:r>
                    </a:p>
                    <a:p>
                      <a:pPr marL="457200" marR="0" lvl="0" indent="-45720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1  0</a:t>
                      </a:r>
                    </a:p>
                    <a:p>
                      <a:pPr marL="457200" marR="0" lvl="0" indent="-45720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 1  1</a:t>
                      </a:r>
                    </a:p>
                  </a:txBody>
                  <a:tcPr marT="45736" marB="4573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zh-CN" altLang="en-US"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0</a:t>
                      </a:r>
                    </a:p>
                    <a:p>
                      <a:pPr marL="0" marR="0" lvl="0" indent="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a:t>
                      </a:r>
                    </a:p>
                    <a:p>
                      <a:pPr marL="0" marR="0" lvl="0" indent="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1</a:t>
                      </a:r>
                    </a:p>
                    <a:p>
                      <a:pPr marL="0" marR="0" lvl="0" indent="0" algn="l" defTabSz="914400" rtl="0" eaLnBrk="0" fontAlgn="base" latinLnBrk="0" hangingPunct="0">
                        <a:lnSpc>
                          <a:spcPct val="100000"/>
                        </a:lnSpc>
                        <a:spcBef>
                          <a:spcPct val="0"/>
                        </a:spcBef>
                        <a:spcAft>
                          <a:spcPct val="0"/>
                        </a:spcAft>
                        <a:buClr>
                          <a:schemeClr val="bg2"/>
                        </a:buClr>
                        <a:buSzTx/>
                        <a:buFont typeface="Wingdings" panose="05000000000000000000" pitchFamily="2" charset="2"/>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0</a:t>
                      </a:r>
                    </a:p>
                  </a:txBody>
                  <a:tcPr marT="45736" marB="4573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42052" name="Text Box 1024"/>
          <p:cNvSpPr txBox="1"/>
          <p:nvPr/>
        </p:nvSpPr>
        <p:spPr>
          <a:xfrm>
            <a:off x="3533775" y="5118100"/>
            <a:ext cx="995363" cy="398780"/>
          </a:xfrm>
          <a:prstGeom prst="rect">
            <a:avLst/>
          </a:prstGeom>
          <a:noFill/>
          <a:ln w="9525">
            <a:noFill/>
          </a:ln>
        </p:spPr>
        <p:txBody>
          <a:bodyPr anchor="t" anchorCtr="0">
            <a:spAutoFit/>
          </a:bodyPr>
          <a:lstStyle/>
          <a:p>
            <a:pPr algn="ctr">
              <a:spcBef>
                <a:spcPct val="50000"/>
              </a:spcBef>
            </a:pPr>
            <a:r>
              <a:rPr lang="zh-CN" altLang="en-US" sz="2000" dirty="0">
                <a:solidFill>
                  <a:srgbClr val="CC0066"/>
                </a:solidFill>
                <a:latin typeface="楷体_GB2312" pitchFamily="49" charset="-122"/>
                <a:ea typeface="楷体_GB2312" pitchFamily="49" charset="-122"/>
              </a:rPr>
              <a:t>保持</a:t>
            </a:r>
          </a:p>
        </p:txBody>
      </p:sp>
      <p:sp>
        <p:nvSpPr>
          <p:cNvPr id="42053" name="Text Box 1024"/>
          <p:cNvSpPr txBox="1"/>
          <p:nvPr/>
        </p:nvSpPr>
        <p:spPr>
          <a:xfrm>
            <a:off x="3536950" y="5445125"/>
            <a:ext cx="992188" cy="398780"/>
          </a:xfrm>
          <a:prstGeom prst="rect">
            <a:avLst/>
          </a:prstGeom>
          <a:noFill/>
          <a:ln w="9525">
            <a:noFill/>
          </a:ln>
        </p:spPr>
        <p:txBody>
          <a:bodyPr anchor="t" anchorCtr="0">
            <a:spAutoFit/>
          </a:bodyPr>
          <a:lstStyle/>
          <a:p>
            <a:pPr algn="ctr">
              <a:spcBef>
                <a:spcPct val="50000"/>
              </a:spcBef>
            </a:pPr>
            <a:r>
              <a:rPr lang="zh-CN" altLang="en-US" sz="2000" dirty="0">
                <a:solidFill>
                  <a:srgbClr val="CC0066"/>
                </a:solidFill>
                <a:latin typeface="楷体_GB2312" pitchFamily="49" charset="-122"/>
                <a:ea typeface="楷体_GB2312" pitchFamily="49" charset="-122"/>
              </a:rPr>
              <a:t>翻转</a:t>
            </a:r>
          </a:p>
        </p:txBody>
      </p:sp>
      <p:sp>
        <p:nvSpPr>
          <p:cNvPr id="42063" name="AutoShape 79"/>
          <p:cNvSpPr/>
          <p:nvPr/>
        </p:nvSpPr>
        <p:spPr>
          <a:xfrm>
            <a:off x="7831138" y="58654"/>
            <a:ext cx="3148012" cy="2044867"/>
          </a:xfrm>
          <a:prstGeom prst="irregularSeal1">
            <a:avLst/>
          </a:prstGeom>
          <a:solidFill>
            <a:srgbClr val="F0C200"/>
          </a:solidFill>
          <a:ln w="9525">
            <a:noFill/>
          </a:ln>
        </p:spPr>
        <p:txBody>
          <a:bodyPr anchor="ctr" anchorCtr="0">
            <a:spAutoFit/>
          </a:bodyPr>
          <a:lstStyle/>
          <a:p>
            <a:pPr algn="ctr"/>
            <a:r>
              <a:rPr lang="zh-CN" altLang="en-US" dirty="0">
                <a:solidFill>
                  <a:srgbClr val="CC0000"/>
                </a:solidFill>
                <a:latin typeface="Arial" panose="020B0604020202020204" pitchFamily="34" charset="0"/>
                <a:ea typeface="华文行楷" panose="02010800040101010101" pitchFamily="2" charset="-122"/>
              </a:rPr>
              <a:t>如何进行</a:t>
            </a:r>
            <a:r>
              <a:rPr lang="en-US" altLang="zh-CN" dirty="0">
                <a:solidFill>
                  <a:srgbClr val="CC0000"/>
                </a:solidFill>
                <a:latin typeface="Arial" panose="020B0604020202020204" pitchFamily="34" charset="0"/>
                <a:ea typeface="华文行楷" panose="02010800040101010101" pitchFamily="2" charset="-122"/>
              </a:rPr>
              <a:t>HDL</a:t>
            </a:r>
            <a:r>
              <a:rPr lang="zh-CN" altLang="en-US" dirty="0">
                <a:solidFill>
                  <a:srgbClr val="CC0000"/>
                </a:solidFill>
                <a:latin typeface="Arial" panose="020B0604020202020204" pitchFamily="34" charset="0"/>
                <a:ea typeface="华文行楷" panose="02010800040101010101" pitchFamily="2" charset="-122"/>
              </a:rPr>
              <a:t>设计？</a:t>
            </a:r>
            <a:endParaRPr lang="zh-CN" altLang="en-US" dirty="0">
              <a:latin typeface="Arial" panose="020B0604020202020204" pitchFamily="34" charset="0"/>
              <a:ea typeface="宋体" panose="02010600030101010101" pitchFamily="2" charset="-122"/>
            </a:endParaRPr>
          </a:p>
        </p:txBody>
      </p:sp>
      <p:sp>
        <p:nvSpPr>
          <p:cNvPr id="42010" name="AutoShape 26"/>
          <p:cNvSpPr/>
          <p:nvPr/>
        </p:nvSpPr>
        <p:spPr>
          <a:xfrm>
            <a:off x="4637088" y="4992450"/>
            <a:ext cx="5383212" cy="1575276"/>
          </a:xfrm>
          <a:prstGeom prst="horizontalScroll">
            <a:avLst>
              <a:gd name="adj" fmla="val 12500"/>
            </a:avLst>
          </a:prstGeom>
          <a:solidFill>
            <a:srgbClr val="FFCC99"/>
          </a:solidFill>
          <a:ln w="9525" cap="flat" cmpd="sng">
            <a:solidFill>
              <a:srgbClr val="CC6600"/>
            </a:solidFill>
            <a:prstDash val="solid"/>
            <a:round/>
            <a:headEnd type="none" w="med" len="med"/>
            <a:tailEnd type="none" w="med" len="med"/>
          </a:ln>
        </p:spPr>
        <p:txBody>
          <a:bodyPr anchor="ctr" anchorCtr="0">
            <a:spAutoFit/>
          </a:bodyPr>
          <a:lstStyle/>
          <a:p>
            <a:pPr marL="354330" indent="-354330" algn="just" eaLnBrk="0" hangingPunct="0">
              <a:lnSpc>
                <a:spcPct val="110000"/>
              </a:lnSpc>
              <a:buClr>
                <a:schemeClr val="bg2"/>
              </a:buClr>
              <a:buFont typeface="Wingdings" panose="05000000000000000000" pitchFamily="2" charset="2"/>
              <a:buChar char="v"/>
            </a:pPr>
            <a:r>
              <a:rPr lang="zh-CN" altLang="en-US" dirty="0">
                <a:solidFill>
                  <a:schemeClr val="tx1"/>
                </a:solidFill>
                <a:latin typeface="Arial" panose="020B0604020202020204" pitchFamily="34" charset="0"/>
                <a:ea typeface="楷体_GB2312" pitchFamily="49" charset="-122"/>
              </a:rPr>
              <a:t>只有</a:t>
            </a:r>
            <a:r>
              <a:rPr lang="zh-CN" altLang="en-US" dirty="0">
                <a:solidFill>
                  <a:srgbClr val="CC0066"/>
                </a:solidFill>
                <a:latin typeface="Arial" panose="020B0604020202020204" pitchFamily="34" charset="0"/>
                <a:ea typeface="楷体_GB2312" pitchFamily="49" charset="-122"/>
              </a:rPr>
              <a:t>保持</a:t>
            </a:r>
            <a:r>
              <a:rPr lang="zh-CN" altLang="en-US" dirty="0">
                <a:solidFill>
                  <a:schemeClr val="tx1"/>
                </a:solidFill>
                <a:latin typeface="Arial" panose="020B0604020202020204" pitchFamily="34" charset="0"/>
                <a:ea typeface="楷体_GB2312" pitchFamily="49" charset="-122"/>
              </a:rPr>
              <a:t>和</a:t>
            </a:r>
            <a:r>
              <a:rPr lang="zh-CN" altLang="en-US" dirty="0">
                <a:solidFill>
                  <a:srgbClr val="CC0066"/>
                </a:solidFill>
                <a:latin typeface="Arial" panose="020B0604020202020204" pitchFamily="34" charset="0"/>
                <a:ea typeface="楷体_GB2312" pitchFamily="49" charset="-122"/>
              </a:rPr>
              <a:t>翻转</a:t>
            </a:r>
            <a:r>
              <a:rPr lang="zh-CN" altLang="en-US" dirty="0">
                <a:solidFill>
                  <a:schemeClr val="tx1"/>
                </a:solidFill>
                <a:latin typeface="Arial" panose="020B0604020202020204" pitchFamily="34" charset="0"/>
                <a:ea typeface="楷体_GB2312" pitchFamily="49" charset="-122"/>
              </a:rPr>
              <a:t>功能，没有置</a:t>
            </a:r>
            <a:r>
              <a:rPr lang="en-US" altLang="zh-CN" dirty="0">
                <a:solidFill>
                  <a:schemeClr val="tx1"/>
                </a:solidFill>
                <a:latin typeface="Arial" panose="020B0604020202020204" pitchFamily="34" charset="0"/>
                <a:ea typeface="楷体_GB2312" pitchFamily="49" charset="-122"/>
              </a:rPr>
              <a:t>0</a:t>
            </a:r>
            <a:r>
              <a:rPr lang="zh-CN" altLang="en-US" dirty="0">
                <a:solidFill>
                  <a:schemeClr val="tx1"/>
                </a:solidFill>
                <a:latin typeface="Arial" panose="020B0604020202020204" pitchFamily="34" charset="0"/>
                <a:ea typeface="楷体_GB2312" pitchFamily="49" charset="-122"/>
              </a:rPr>
              <a:t>和置</a:t>
            </a:r>
            <a:r>
              <a:rPr lang="en-US" altLang="zh-CN" dirty="0">
                <a:solidFill>
                  <a:schemeClr val="tx1"/>
                </a:solidFill>
                <a:latin typeface="Arial" panose="020B0604020202020204" pitchFamily="34" charset="0"/>
                <a:ea typeface="楷体_GB2312" pitchFamily="49" charset="-122"/>
              </a:rPr>
              <a:t>1</a:t>
            </a:r>
            <a:r>
              <a:rPr lang="zh-CN" altLang="en-US" dirty="0">
                <a:solidFill>
                  <a:schemeClr val="tx1"/>
                </a:solidFill>
                <a:latin typeface="Arial" panose="020B0604020202020204" pitchFamily="34" charset="0"/>
                <a:ea typeface="楷体_GB2312" pitchFamily="49" charset="-122"/>
              </a:rPr>
              <a:t>功能。</a:t>
            </a:r>
          </a:p>
          <a:p>
            <a:pPr marL="354330" indent="-354330" algn="just" eaLnBrk="0" hangingPunct="0">
              <a:lnSpc>
                <a:spcPct val="110000"/>
              </a:lnSpc>
              <a:buClr>
                <a:schemeClr val="bg2"/>
              </a:buClr>
              <a:buFont typeface="Wingdings" panose="05000000000000000000" pitchFamily="2" charset="2"/>
              <a:buChar char="v"/>
            </a:pPr>
            <a:r>
              <a:rPr lang="zh-CN" altLang="en-US" dirty="0">
                <a:solidFill>
                  <a:schemeClr val="tx1"/>
                </a:solidFill>
                <a:latin typeface="Arial" panose="020B0604020202020204" pitchFamily="34" charset="0"/>
                <a:ea typeface="楷体_GB2312" pitchFamily="49" charset="-122"/>
              </a:rPr>
              <a:t>钟控</a:t>
            </a:r>
            <a:r>
              <a:rPr lang="en-US" altLang="zh-CN" dirty="0">
                <a:solidFill>
                  <a:schemeClr val="tx1"/>
                </a:solidFill>
                <a:latin typeface="Arial" panose="020B0604020202020204" pitchFamily="34" charset="0"/>
                <a:ea typeface="楷体_GB2312" pitchFamily="49" charset="-122"/>
              </a:rPr>
              <a:t>T</a:t>
            </a:r>
            <a:r>
              <a:rPr lang="zh-CN" altLang="en-US" dirty="0">
                <a:solidFill>
                  <a:schemeClr val="tx1"/>
                </a:solidFill>
                <a:latin typeface="Arial" panose="020B0604020202020204" pitchFamily="34" charset="0"/>
                <a:ea typeface="楷体_GB2312" pitchFamily="49" charset="-122"/>
              </a:rPr>
              <a:t>触发器的结构与</a:t>
            </a:r>
            <a:r>
              <a:rPr lang="en-US" altLang="zh-CN" dirty="0">
                <a:solidFill>
                  <a:schemeClr val="tx1"/>
                </a:solidFill>
                <a:latin typeface="Arial" panose="020B0604020202020204" pitchFamily="34" charset="0"/>
                <a:ea typeface="楷体_GB2312" pitchFamily="49" charset="-122"/>
              </a:rPr>
              <a:t>JK</a:t>
            </a:r>
            <a:r>
              <a:rPr lang="zh-CN" altLang="en-US" dirty="0">
                <a:solidFill>
                  <a:schemeClr val="tx1"/>
                </a:solidFill>
                <a:latin typeface="Arial" panose="020B0604020202020204" pitchFamily="34" charset="0"/>
                <a:ea typeface="楷体_GB2312" pitchFamily="49" charset="-122"/>
              </a:rPr>
              <a:t>触发器相似，也存在</a:t>
            </a:r>
            <a:r>
              <a:rPr lang="zh-CN" altLang="en-US" dirty="0">
                <a:solidFill>
                  <a:srgbClr val="CC0066"/>
                </a:solidFill>
                <a:latin typeface="Arial" panose="020B0604020202020204" pitchFamily="34" charset="0"/>
                <a:ea typeface="楷体_GB2312" pitchFamily="49" charset="-122"/>
              </a:rPr>
              <a:t>空翻</a:t>
            </a:r>
            <a:r>
              <a:rPr lang="zh-CN" altLang="en-US" dirty="0">
                <a:solidFill>
                  <a:schemeClr val="tx1"/>
                </a:solidFill>
                <a:latin typeface="Arial" panose="020B0604020202020204" pitchFamily="34" charset="0"/>
                <a:ea typeface="楷体_GB2312" pitchFamily="49" charset="-122"/>
              </a:rPr>
              <a:t>现象。</a:t>
            </a:r>
          </a:p>
        </p:txBody>
      </p:sp>
      <p:grpSp>
        <p:nvGrpSpPr>
          <p:cNvPr id="4" name="组合 28"/>
          <p:cNvGrpSpPr/>
          <p:nvPr/>
        </p:nvGrpSpPr>
        <p:grpSpPr>
          <a:xfrm>
            <a:off x="5340350" y="2268538"/>
            <a:ext cx="4159250" cy="2638896"/>
            <a:chOff x="3815916" y="2267805"/>
            <a:chExt cx="4159299" cy="2640308"/>
          </a:xfrm>
        </p:grpSpPr>
        <p:graphicFrame>
          <p:nvGraphicFramePr>
            <p:cNvPr id="117795" name="Object 106"/>
            <p:cNvGraphicFramePr>
              <a:graphicFrameLocks noChangeAspect="1"/>
            </p:cNvGraphicFramePr>
            <p:nvPr/>
          </p:nvGraphicFramePr>
          <p:xfrm>
            <a:off x="3815916" y="2267805"/>
            <a:ext cx="4159299" cy="2553539"/>
          </p:xfrm>
          <a:graphic>
            <a:graphicData uri="http://schemas.openxmlformats.org/presentationml/2006/ole">
              <mc:AlternateContent xmlns:mc="http://schemas.openxmlformats.org/markup-compatibility/2006">
                <mc:Choice xmlns:v="urn:schemas-microsoft-com:vml" Requires="v">
                  <p:oleObj spid="_x0000_s23554" r:id="rId5" imgW="1609725" imgH="857250" progId="Word.Picture.8">
                    <p:embed/>
                  </p:oleObj>
                </mc:Choice>
                <mc:Fallback>
                  <p:oleObj r:id="rId5" imgW="1609725" imgH="857250" progId="Word.Picture.8">
                    <p:embed/>
                    <p:pic>
                      <p:nvPicPr>
                        <p:cNvPr id="0" name="图片 3088"/>
                        <p:cNvPicPr/>
                        <p:nvPr/>
                      </p:nvPicPr>
                      <p:blipFill>
                        <a:blip r:embed="rId6"/>
                        <a:stretch>
                          <a:fillRect/>
                        </a:stretch>
                      </p:blipFill>
                      <p:spPr>
                        <a:xfrm>
                          <a:off x="3815916" y="2267805"/>
                          <a:ext cx="4159299" cy="2553539"/>
                        </a:xfrm>
                        <a:prstGeom prst="rect">
                          <a:avLst/>
                        </a:prstGeom>
                        <a:solidFill>
                          <a:srgbClr val="F8F8F8"/>
                        </a:solidFill>
                        <a:ln w="38100">
                          <a:noFill/>
                          <a:miter/>
                        </a:ln>
                      </p:spPr>
                    </p:pic>
                  </p:oleObj>
                </mc:Fallback>
              </mc:AlternateContent>
            </a:graphicData>
          </a:graphic>
        </p:graphicFrame>
        <p:sp>
          <p:nvSpPr>
            <p:cNvPr id="117796" name="Text Box 110"/>
            <p:cNvSpPr txBox="1"/>
            <p:nvPr/>
          </p:nvSpPr>
          <p:spPr>
            <a:xfrm>
              <a:off x="5040052" y="4509120"/>
              <a:ext cx="1705620" cy="398993"/>
            </a:xfrm>
            <a:prstGeom prst="rect">
              <a:avLst/>
            </a:prstGeom>
            <a:noFill/>
            <a:ln w="9525">
              <a:noFill/>
            </a:ln>
          </p:spPr>
          <p:txBody>
            <a:bodyPr anchor="t" anchorCtr="0">
              <a:spAutoFit/>
            </a:bodyPr>
            <a:lstStyle/>
            <a:p>
              <a:pPr algn="ctr" eaLnBrk="0" hangingPunct="0">
                <a:spcBef>
                  <a:spcPct val="50000"/>
                </a:spcBef>
              </a:pPr>
              <a:r>
                <a:rPr lang="zh-CN" altLang="en-US" sz="2000" dirty="0">
                  <a:solidFill>
                    <a:srgbClr val="CC3300"/>
                  </a:solidFill>
                  <a:latin typeface="Arial" panose="020B0604020202020204" pitchFamily="34" charset="0"/>
                  <a:ea typeface="楷体_GB2312" pitchFamily="49" charset="-122"/>
                </a:rPr>
                <a:t>时序图</a:t>
              </a:r>
            </a:p>
          </p:txBody>
        </p:sp>
      </p:grpSp>
      <p:sp>
        <p:nvSpPr>
          <p:cNvPr id="28" name="Rectangle 24"/>
          <p:cNvSpPr/>
          <p:nvPr/>
        </p:nvSpPr>
        <p:spPr>
          <a:xfrm>
            <a:off x="7824788" y="3389313"/>
            <a:ext cx="908050" cy="398780"/>
          </a:xfrm>
          <a:prstGeom prst="rect">
            <a:avLst/>
          </a:prstGeom>
          <a:noFill/>
          <a:ln w="9525">
            <a:noFill/>
          </a:ln>
          <a:effectLst>
            <a:prstShdw prst="shdw13" dist="53882" dir="13499999">
              <a:srgbClr val="166A6A">
                <a:alpha val="50000"/>
              </a:srgbClr>
            </a:prstShdw>
          </a:effectLst>
        </p:spPr>
        <p:txBody>
          <a:bodyPr anchor="t" anchorCtr="0">
            <a:spAutoFit/>
          </a:bodyPr>
          <a:lstStyle/>
          <a:p>
            <a:pPr algn="ctr"/>
            <a:r>
              <a:rPr lang="zh-CN" altLang="en-US" sz="2000" dirty="0">
                <a:solidFill>
                  <a:srgbClr val="0000FF"/>
                </a:solidFill>
                <a:latin typeface="Arial" panose="020B0604020202020204" pitchFamily="34" charset="0"/>
                <a:ea typeface="楷体_GB2312" pitchFamily="49" charset="-122"/>
              </a:rPr>
              <a:t>保持</a:t>
            </a:r>
          </a:p>
        </p:txBody>
      </p:sp>
      <p:sp>
        <p:nvSpPr>
          <p:cNvPr id="29" name="Rectangle 24"/>
          <p:cNvSpPr/>
          <p:nvPr/>
        </p:nvSpPr>
        <p:spPr>
          <a:xfrm>
            <a:off x="6596063" y="3392488"/>
            <a:ext cx="908050" cy="398780"/>
          </a:xfrm>
          <a:prstGeom prst="rect">
            <a:avLst/>
          </a:prstGeom>
          <a:noFill/>
          <a:ln w="9525">
            <a:noFill/>
          </a:ln>
          <a:effectLst>
            <a:prstShdw prst="shdw13" dist="53882" dir="13499999">
              <a:srgbClr val="166A6A">
                <a:alpha val="50000"/>
              </a:srgbClr>
            </a:prstShdw>
          </a:effectLst>
        </p:spPr>
        <p:txBody>
          <a:bodyPr anchor="t" anchorCtr="0">
            <a:spAutoFit/>
          </a:bodyPr>
          <a:lstStyle/>
          <a:p>
            <a:pPr algn="ctr"/>
            <a:r>
              <a:rPr lang="zh-CN" altLang="en-US" sz="2000" dirty="0">
                <a:solidFill>
                  <a:srgbClr val="C00000"/>
                </a:solidFill>
                <a:latin typeface="Arial" panose="020B0604020202020204" pitchFamily="34" charset="0"/>
                <a:ea typeface="楷体_GB2312" pitchFamily="49" charset="-122"/>
              </a:rPr>
              <a:t>翻转</a:t>
            </a:r>
          </a:p>
        </p:txBody>
      </p:sp>
      <p:sp>
        <p:nvSpPr>
          <p:cNvPr id="30" name="Text Box 50"/>
          <p:cNvSpPr txBox="1"/>
          <p:nvPr/>
        </p:nvSpPr>
        <p:spPr>
          <a:xfrm>
            <a:off x="6978650" y="2852738"/>
            <a:ext cx="485775" cy="398780"/>
          </a:xfrm>
          <a:prstGeom prst="rect">
            <a:avLst/>
          </a:prstGeom>
          <a:noFill/>
          <a:ln w="9525">
            <a:noFill/>
          </a:ln>
        </p:spPr>
        <p:txBody>
          <a:bodyPr anchor="t" anchorCtr="0">
            <a:spAutoFit/>
          </a:bodyPr>
          <a:lstStyle/>
          <a:p>
            <a:pPr>
              <a:spcBef>
                <a:spcPct val="50000"/>
              </a:spcBef>
            </a:pPr>
            <a:r>
              <a:rPr lang="en-US" altLang="zh-CN" sz="2000" dirty="0">
                <a:solidFill>
                  <a:srgbClr val="CC3300"/>
                </a:solidFill>
                <a:latin typeface="Arial" panose="020B0604020202020204" pitchFamily="34" charset="0"/>
              </a:rPr>
              <a:t>1</a:t>
            </a:r>
            <a:endParaRPr lang="zh-CN" altLang="en-US" sz="2000" baseline="-25000" dirty="0">
              <a:solidFill>
                <a:srgbClr val="CC3300"/>
              </a:solidFill>
              <a:latin typeface="Arial" panose="020B0604020202020204" pitchFamily="34" charset="0"/>
              <a:ea typeface="宋体" panose="02010600030101010101" pitchFamily="2" charset="-122"/>
            </a:endParaRPr>
          </a:p>
        </p:txBody>
      </p:sp>
      <p:sp>
        <p:nvSpPr>
          <p:cNvPr id="31" name="Text Box 50"/>
          <p:cNvSpPr txBox="1"/>
          <p:nvPr/>
        </p:nvSpPr>
        <p:spPr>
          <a:xfrm>
            <a:off x="8094663" y="2889250"/>
            <a:ext cx="485775" cy="398780"/>
          </a:xfrm>
          <a:prstGeom prst="rect">
            <a:avLst/>
          </a:prstGeom>
          <a:noFill/>
          <a:ln w="9525">
            <a:noFill/>
          </a:ln>
        </p:spPr>
        <p:txBody>
          <a:bodyPr anchor="t" anchorCtr="0">
            <a:spAutoFit/>
          </a:bodyPr>
          <a:lstStyle/>
          <a:p>
            <a:pPr>
              <a:spcBef>
                <a:spcPct val="50000"/>
              </a:spcBef>
            </a:pPr>
            <a:r>
              <a:rPr lang="en-US" altLang="zh-CN" sz="2000" dirty="0">
                <a:solidFill>
                  <a:srgbClr val="135A8F"/>
                </a:solidFill>
                <a:latin typeface="Arial" panose="020B0604020202020204" pitchFamily="34" charset="0"/>
              </a:rPr>
              <a:t>0</a:t>
            </a:r>
            <a:endParaRPr lang="zh-CN" altLang="en-US" sz="2000" baseline="-25000" dirty="0">
              <a:solidFill>
                <a:srgbClr val="135A8F"/>
              </a:solidFill>
              <a:latin typeface="Arial" panose="020B0604020202020204" pitchFamily="34" charset="0"/>
              <a:ea typeface="宋体" panose="02010600030101010101" pitchFamily="2" charset="-122"/>
            </a:endParaRPr>
          </a:p>
        </p:txBody>
      </p:sp>
      <p:cxnSp>
        <p:nvCxnSpPr>
          <p:cNvPr id="32" name="肘形连接符 31"/>
          <p:cNvCxnSpPr/>
          <p:nvPr/>
        </p:nvCxnSpPr>
        <p:spPr>
          <a:xfrm>
            <a:off x="7253288" y="3344863"/>
            <a:ext cx="427037" cy="300037"/>
          </a:xfrm>
          <a:prstGeom prst="bentConnector3">
            <a:avLst>
              <a:gd name="adj1" fmla="val 50000"/>
            </a:avLst>
          </a:prstGeom>
          <a:ln w="28575" cap="flat" cmpd="sng">
            <a:solidFill>
              <a:srgbClr val="FF0000"/>
            </a:solidFill>
            <a:prstDash val="solid"/>
            <a:round/>
            <a:headEnd type="none" w="med" len="med"/>
            <a:tailEnd type="arrow" w="med" len="med"/>
          </a:ln>
        </p:spPr>
      </p:cxnSp>
      <p:cxnSp>
        <p:nvCxnSpPr>
          <p:cNvPr id="35" name="肘形连接符 34"/>
          <p:cNvCxnSpPr/>
          <p:nvPr/>
        </p:nvCxnSpPr>
        <p:spPr>
          <a:xfrm flipV="1">
            <a:off x="6361113" y="3344863"/>
            <a:ext cx="469900" cy="355600"/>
          </a:xfrm>
          <a:prstGeom prst="bentConnector3">
            <a:avLst>
              <a:gd name="adj1" fmla="val 50000"/>
            </a:avLst>
          </a:prstGeom>
          <a:ln w="28575" cap="flat" cmpd="sng">
            <a:solidFill>
              <a:srgbClr val="FF0000"/>
            </a:solidFill>
            <a:prstDash val="solid"/>
            <a:round/>
            <a:headEnd type="none" w="med" len="med"/>
            <a:tailEnd type="arrow" w="med" len="med"/>
          </a:ln>
        </p:spPr>
      </p:cxn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2032"/>
                                        </p:tgtEl>
                                        <p:attrNameLst>
                                          <p:attrName>style.visibility</p:attrName>
                                        </p:attrNameLst>
                                      </p:cBhvr>
                                      <p:to>
                                        <p:strVal val="visible"/>
                                      </p:to>
                                    </p:set>
                                    <p:anim calcmode="lin" valueType="num">
                                      <p:cBhvr>
                                        <p:cTn id="7" dur="500" fill="hold"/>
                                        <p:tgtEl>
                                          <p:spTgt spid="42032"/>
                                        </p:tgtEl>
                                        <p:attrNameLst>
                                          <p:attrName>ppt_w</p:attrName>
                                        </p:attrNameLst>
                                      </p:cBhvr>
                                      <p:tavLst>
                                        <p:tav tm="0">
                                          <p:val>
                                            <p:fltVal val="0"/>
                                          </p:val>
                                        </p:tav>
                                        <p:tav tm="100000">
                                          <p:val>
                                            <p:strVal val="#ppt_w"/>
                                          </p:val>
                                        </p:tav>
                                      </p:tavLst>
                                    </p:anim>
                                    <p:anim calcmode="lin" valueType="num">
                                      <p:cBhvr>
                                        <p:cTn id="8" dur="500" fill="hold"/>
                                        <p:tgtEl>
                                          <p:spTgt spid="42032"/>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42061"/>
                                        </p:tgtEl>
                                        <p:attrNameLst>
                                          <p:attrName>style.visibility</p:attrName>
                                        </p:attrNameLst>
                                      </p:cBhvr>
                                      <p:to>
                                        <p:strVal val="visible"/>
                                      </p:to>
                                    </p:set>
                                    <p:animEffect transition="in" filter="dissolve">
                                      <p:cBhvr>
                                        <p:cTn id="12" dur="500"/>
                                        <p:tgtEl>
                                          <p:spTgt spid="4206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42052"/>
                                        </p:tgtEl>
                                        <p:attrNameLst>
                                          <p:attrName>style.visibility</p:attrName>
                                        </p:attrNameLst>
                                      </p:cBhvr>
                                      <p:to>
                                        <p:strVal val="visible"/>
                                      </p:to>
                                    </p:set>
                                    <p:anim calcmode="lin" valueType="num">
                                      <p:cBhvr>
                                        <p:cTn id="27" dur="500" fill="hold"/>
                                        <p:tgtEl>
                                          <p:spTgt spid="42052"/>
                                        </p:tgtEl>
                                        <p:attrNameLst>
                                          <p:attrName>ppt_w</p:attrName>
                                        </p:attrNameLst>
                                      </p:cBhvr>
                                      <p:tavLst>
                                        <p:tav tm="0">
                                          <p:val>
                                            <p:fltVal val="0"/>
                                          </p:val>
                                        </p:tav>
                                        <p:tav tm="100000">
                                          <p:val>
                                            <p:strVal val="#ppt_w"/>
                                          </p:val>
                                        </p:tav>
                                      </p:tavLst>
                                    </p:anim>
                                    <p:anim calcmode="lin" valueType="num">
                                      <p:cBhvr>
                                        <p:cTn id="28" dur="500" fill="hold"/>
                                        <p:tgtEl>
                                          <p:spTgt spid="42052"/>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42053"/>
                                        </p:tgtEl>
                                        <p:attrNameLst>
                                          <p:attrName>style.visibility</p:attrName>
                                        </p:attrNameLst>
                                      </p:cBhvr>
                                      <p:to>
                                        <p:strVal val="visible"/>
                                      </p:to>
                                    </p:set>
                                    <p:anim calcmode="lin" valueType="num">
                                      <p:cBhvr>
                                        <p:cTn id="33" dur="500" fill="hold"/>
                                        <p:tgtEl>
                                          <p:spTgt spid="42053"/>
                                        </p:tgtEl>
                                        <p:attrNameLst>
                                          <p:attrName>ppt_w</p:attrName>
                                        </p:attrNameLst>
                                      </p:cBhvr>
                                      <p:tavLst>
                                        <p:tav tm="0">
                                          <p:val>
                                            <p:fltVal val="0"/>
                                          </p:val>
                                        </p:tav>
                                        <p:tav tm="100000">
                                          <p:val>
                                            <p:strVal val="#ppt_w"/>
                                          </p:val>
                                        </p:tav>
                                      </p:tavLst>
                                    </p:anim>
                                    <p:anim calcmode="lin" valueType="num">
                                      <p:cBhvr>
                                        <p:cTn id="34" dur="500" fill="hold"/>
                                        <p:tgtEl>
                                          <p:spTgt spid="42053"/>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linds(horizontal)">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dissolve">
                                      <p:cBhvr>
                                        <p:cTn id="44" dur="500"/>
                                        <p:tgtEl>
                                          <p:spTgt spid="30"/>
                                        </p:tgtEl>
                                      </p:cBhvr>
                                    </p:animEffect>
                                  </p:childTnLst>
                                </p:cTn>
                              </p:par>
                            </p:childTnLst>
                          </p:cTn>
                        </p:par>
                        <p:par>
                          <p:cTn id="45" fill="hold">
                            <p:stCondLst>
                              <p:cond delay="500"/>
                            </p:stCondLst>
                            <p:childTnLst>
                              <p:par>
                                <p:cTn id="46" presetID="9" presetClass="entr" presetSubtype="0" fill="hold" grpId="0" nodeType="after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dissolve">
                                      <p:cBhvr>
                                        <p:cTn id="48" dur="500"/>
                                        <p:tgtEl>
                                          <p:spTgt spid="2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wipe(down)">
                                      <p:cBhvr>
                                        <p:cTn id="53" dur="500"/>
                                        <p:tgtEl>
                                          <p:spTgt spid="3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up)">
                                      <p:cBhvr>
                                        <p:cTn id="58" dur="500"/>
                                        <p:tgtEl>
                                          <p:spTgt spid="32"/>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dissolve">
                                      <p:cBhvr>
                                        <p:cTn id="63" dur="500"/>
                                        <p:tgtEl>
                                          <p:spTgt spid="31"/>
                                        </p:tgtEl>
                                      </p:cBhvr>
                                    </p:animEffect>
                                  </p:childTnLst>
                                </p:cTn>
                              </p:par>
                            </p:childTnLst>
                          </p:cTn>
                        </p:par>
                        <p:par>
                          <p:cTn id="64" fill="hold">
                            <p:stCondLst>
                              <p:cond delay="500"/>
                            </p:stCondLst>
                            <p:childTnLst>
                              <p:par>
                                <p:cTn id="65" presetID="9" presetClass="entr" presetSubtype="0" fill="hold" grpId="0" nodeType="after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dissolv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37" fill="hold" grpId="0" nodeType="clickEffect">
                                  <p:stCondLst>
                                    <p:cond delay="0"/>
                                  </p:stCondLst>
                                  <p:childTnLst>
                                    <p:set>
                                      <p:cBhvr>
                                        <p:cTn id="71" dur="1" fill="hold">
                                          <p:stCondLst>
                                            <p:cond delay="0"/>
                                          </p:stCondLst>
                                        </p:cTn>
                                        <p:tgtEl>
                                          <p:spTgt spid="42010"/>
                                        </p:tgtEl>
                                        <p:attrNameLst>
                                          <p:attrName>style.visibility</p:attrName>
                                        </p:attrNameLst>
                                      </p:cBhvr>
                                      <p:to>
                                        <p:strVal val="visible"/>
                                      </p:to>
                                    </p:set>
                                    <p:animEffect transition="in" filter="barn(outVertical)">
                                      <p:cBhvr>
                                        <p:cTn id="72" dur="500"/>
                                        <p:tgtEl>
                                          <p:spTgt spid="42010"/>
                                        </p:tgtEl>
                                      </p:cBhvr>
                                    </p:animEffect>
                                  </p:childTnLst>
                                </p:cTn>
                              </p:par>
                            </p:childTnLst>
                          </p:cTn>
                        </p:par>
                      </p:childTnLst>
                    </p:cTn>
                  </p:par>
                  <p:par>
                    <p:cTn id="73" fill="hold">
                      <p:stCondLst>
                        <p:cond delay="indefinite"/>
                      </p:stCondLst>
                      <p:childTnLst>
                        <p:par>
                          <p:cTn id="74" fill="hold">
                            <p:stCondLst>
                              <p:cond delay="0"/>
                            </p:stCondLst>
                            <p:childTnLst>
                              <p:par>
                                <p:cTn id="75" presetID="23" presetClass="entr" presetSubtype="16" fill="hold" grpId="0" nodeType="clickEffect">
                                  <p:stCondLst>
                                    <p:cond delay="0"/>
                                  </p:stCondLst>
                                  <p:childTnLst>
                                    <p:set>
                                      <p:cBhvr>
                                        <p:cTn id="76" dur="1" fill="hold">
                                          <p:stCondLst>
                                            <p:cond delay="0"/>
                                          </p:stCondLst>
                                        </p:cTn>
                                        <p:tgtEl>
                                          <p:spTgt spid="42063"/>
                                        </p:tgtEl>
                                        <p:attrNameLst>
                                          <p:attrName>style.visibility</p:attrName>
                                        </p:attrNameLst>
                                      </p:cBhvr>
                                      <p:to>
                                        <p:strVal val="visible"/>
                                      </p:to>
                                    </p:set>
                                    <p:anim calcmode="lin" valueType="num">
                                      <p:cBhvr>
                                        <p:cTn id="77" dur="500" fill="hold"/>
                                        <p:tgtEl>
                                          <p:spTgt spid="42063"/>
                                        </p:tgtEl>
                                        <p:attrNameLst>
                                          <p:attrName>ppt_w</p:attrName>
                                        </p:attrNameLst>
                                      </p:cBhvr>
                                      <p:tavLst>
                                        <p:tav tm="0">
                                          <p:val>
                                            <p:fltVal val="0"/>
                                          </p:val>
                                        </p:tav>
                                        <p:tav tm="100000">
                                          <p:val>
                                            <p:strVal val="#ppt_w"/>
                                          </p:val>
                                        </p:tav>
                                      </p:tavLst>
                                    </p:anim>
                                    <p:anim calcmode="lin" valueType="num">
                                      <p:cBhvr>
                                        <p:cTn id="78" dur="500" fill="hold"/>
                                        <p:tgtEl>
                                          <p:spTgt spid="420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32" grpId="0" bldLvl="0" animBg="1"/>
      <p:bldP spid="42052" grpId="0"/>
      <p:bldP spid="42053" grpId="0"/>
      <p:bldP spid="42063" grpId="0" bldLvl="0" animBg="1"/>
      <p:bldP spid="42010" grpId="0" bldLvl="0" animBg="1"/>
      <p:bldP spid="28" grpId="0" bldLvl="0" animBg="1"/>
      <p:bldP spid="29" grpId="0" bldLvl="0" animBg="1"/>
      <p:bldP spid="30" grpId="0"/>
      <p:bldP spid="3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灯片编号占位符 4"/>
          <p:cNvSpPr txBox="1">
            <a:spLocks noGrp="1"/>
          </p:cNvSpPr>
          <p:nvPr/>
        </p:nvSpPr>
        <p:spPr>
          <a:xfrm>
            <a:off x="9625013" y="6453188"/>
            <a:ext cx="871537" cy="304800"/>
          </a:xfrm>
          <a:prstGeom prst="rect">
            <a:avLst/>
          </a:prstGeom>
          <a:noFill/>
          <a:ln w="9525">
            <a:noFill/>
          </a:ln>
        </p:spPr>
        <p:txBody>
          <a:bodyPr anchor="t" anchorCtr="0"/>
          <a:lstStyle/>
          <a:p>
            <a:pPr algn="r"/>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39</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119810" name="Rectangle 2"/>
          <p:cNvSpPr>
            <a:spLocks noGrp="1"/>
          </p:cNvSpPr>
          <p:nvPr>
            <p:ph type="title" idx="4294967295"/>
          </p:nvPr>
        </p:nvSpPr>
        <p:spPr>
          <a:xfrm>
            <a:off x="3810000" y="304800"/>
            <a:ext cx="6858000" cy="609600"/>
          </a:xfrm>
        </p:spPr>
        <p:txBody>
          <a:bodyPr wrap="square" lIns="91440" tIns="45720" rIns="91440" bIns="45720" anchor="ctr" anchorCtr="0">
            <a:normAutofit fontScale="90000"/>
          </a:bodyPr>
          <a:lstStyle/>
          <a:p>
            <a:r>
              <a:rPr lang="zh-CN" altLang="en-US" dirty="0">
                <a:solidFill>
                  <a:srgbClr val="FF0000"/>
                </a:solidFill>
                <a:latin typeface="Arial" panose="020B0604020202020204" pitchFamily="34" charset="0"/>
                <a:ea typeface="黑体" panose="02010609060101010101" pitchFamily="49" charset="-122"/>
              </a:rPr>
              <a:t>钟控</a:t>
            </a:r>
            <a:r>
              <a:rPr lang="en-US" altLang="zh-CN" dirty="0">
                <a:solidFill>
                  <a:srgbClr val="FF0000"/>
                </a:solidFill>
                <a:latin typeface="Arial" panose="020B0604020202020204" pitchFamily="34" charset="0"/>
                <a:ea typeface="黑体" panose="02010609060101010101" pitchFamily="49" charset="-122"/>
              </a:rPr>
              <a:t>T</a:t>
            </a:r>
            <a:r>
              <a:rPr lang="zh-CN" altLang="en-US" dirty="0">
                <a:solidFill>
                  <a:srgbClr val="FF0000"/>
                </a:solidFill>
                <a:latin typeface="Arial" panose="020B0604020202020204" pitchFamily="34" charset="0"/>
                <a:ea typeface="黑体" panose="02010609060101010101" pitchFamily="49" charset="-122"/>
              </a:rPr>
              <a:t>触发器的</a:t>
            </a:r>
            <a:r>
              <a:rPr lang="en-US" altLang="zh-CN" dirty="0">
                <a:solidFill>
                  <a:srgbClr val="FF0000"/>
                </a:solidFill>
                <a:latin typeface="Arial" panose="020B0604020202020204" pitchFamily="34" charset="0"/>
                <a:ea typeface="黑体" panose="02010609060101010101" pitchFamily="49" charset="-122"/>
              </a:rPr>
              <a:t>HDL</a:t>
            </a:r>
            <a:r>
              <a:rPr lang="zh-CN" altLang="en-US" dirty="0">
                <a:solidFill>
                  <a:srgbClr val="FF0000"/>
                </a:solidFill>
                <a:latin typeface="Arial" panose="020B0604020202020204" pitchFamily="34" charset="0"/>
                <a:ea typeface="黑体" panose="02010609060101010101" pitchFamily="49" charset="-122"/>
              </a:rPr>
              <a:t>设计</a:t>
            </a:r>
          </a:p>
        </p:txBody>
      </p:sp>
      <p:sp>
        <p:nvSpPr>
          <p:cNvPr id="119811" name="Text Box 4"/>
          <p:cNvSpPr txBox="1"/>
          <p:nvPr/>
        </p:nvSpPr>
        <p:spPr>
          <a:xfrm>
            <a:off x="2351088" y="1403350"/>
            <a:ext cx="7534275" cy="4247515"/>
          </a:xfrm>
          <a:prstGeom prst="rect">
            <a:avLst/>
          </a:prstGeom>
          <a:solidFill>
            <a:srgbClr val="ADD6FF"/>
          </a:solidFill>
          <a:ln w="9525" cap="flat" cmpd="sng">
            <a:solidFill>
              <a:schemeClr val="tx1"/>
            </a:solidFill>
            <a:prstDash val="solid"/>
            <a:miter/>
            <a:headEnd type="none" w="med" len="med"/>
            <a:tailEnd type="none" w="med" len="med"/>
          </a:ln>
        </p:spPr>
        <p:txBody>
          <a:bodyPr lIns="90000" tIns="46800" rIns="90000" bIns="46800" anchor="t" anchorCtr="0">
            <a:spAutoFit/>
          </a:bodyPr>
          <a:lstStyle/>
          <a:p>
            <a:pPr>
              <a:lnSpc>
                <a:spcPct val="90000"/>
              </a:lnSpc>
            </a:pPr>
            <a:r>
              <a:rPr lang="en-US" altLang="zh-CN" sz="2000" dirty="0">
                <a:solidFill>
                  <a:schemeClr val="tx1"/>
                </a:solidFill>
                <a:latin typeface="Arial" panose="020B0604020202020204" pitchFamily="34" charset="0"/>
              </a:rPr>
              <a:t>module	  T_FF(CP,T,Q,QN);</a:t>
            </a:r>
          </a:p>
          <a:p>
            <a:pPr>
              <a:lnSpc>
                <a:spcPct val="90000"/>
              </a:lnSpc>
            </a:pPr>
            <a:r>
              <a:rPr lang="en-US" altLang="zh-CN" sz="2000" dirty="0">
                <a:solidFill>
                  <a:schemeClr val="tx1"/>
                </a:solidFill>
                <a:latin typeface="Arial" panose="020B0604020202020204" pitchFamily="34" charset="0"/>
              </a:rPr>
              <a:t>     input      CP, T;</a:t>
            </a:r>
          </a:p>
          <a:p>
            <a:pPr>
              <a:lnSpc>
                <a:spcPct val="90000"/>
              </a:lnSpc>
            </a:pPr>
            <a:r>
              <a:rPr lang="en-US" altLang="zh-CN" sz="2000" dirty="0">
                <a:solidFill>
                  <a:schemeClr val="tx1"/>
                </a:solidFill>
                <a:latin typeface="Arial" panose="020B0604020202020204" pitchFamily="34" charset="0"/>
              </a:rPr>
              <a:t>     output    Q,QN;</a:t>
            </a:r>
          </a:p>
          <a:p>
            <a:pPr>
              <a:lnSpc>
                <a:spcPct val="90000"/>
              </a:lnSpc>
            </a:pPr>
            <a:r>
              <a:rPr lang="en-US" altLang="zh-CN" sz="2000" dirty="0">
                <a:solidFill>
                  <a:schemeClr val="tx1"/>
                </a:solidFill>
                <a:latin typeface="Arial" panose="020B0604020202020204" pitchFamily="34" charset="0"/>
              </a:rPr>
              <a:t>     reg	       Q,QN;     </a:t>
            </a:r>
          </a:p>
          <a:p>
            <a:pPr>
              <a:lnSpc>
                <a:spcPct val="90000"/>
              </a:lnSpc>
            </a:pPr>
            <a:r>
              <a:rPr lang="en-US" altLang="zh-CN" sz="2000" dirty="0">
                <a:solidFill>
                  <a:schemeClr val="tx1"/>
                </a:solidFill>
                <a:latin typeface="Arial" panose="020B0604020202020204" pitchFamily="34" charset="0"/>
              </a:rPr>
              <a:t>     always  @(CP or T)</a:t>
            </a:r>
          </a:p>
          <a:p>
            <a:pPr>
              <a:lnSpc>
                <a:spcPct val="90000"/>
              </a:lnSpc>
            </a:pPr>
            <a:r>
              <a:rPr lang="en-US" altLang="zh-CN" sz="2000" dirty="0">
                <a:solidFill>
                  <a:schemeClr val="tx1"/>
                </a:solidFill>
                <a:latin typeface="Arial" panose="020B0604020202020204" pitchFamily="34" charset="0"/>
              </a:rPr>
              <a:t>         begin	</a:t>
            </a:r>
          </a:p>
          <a:p>
            <a:pPr>
              <a:lnSpc>
                <a:spcPct val="90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if (CP==0) 			</a:t>
            </a:r>
            <a:r>
              <a:rPr lang="en-US" altLang="zh-CN" sz="2000" dirty="0">
                <a:solidFill>
                  <a:schemeClr val="tx1"/>
                </a:solidFill>
                <a:latin typeface="Arial" panose="020B0604020202020204" pitchFamily="34" charset="0"/>
              </a:rPr>
              <a:t>//</a:t>
            </a:r>
            <a:r>
              <a:rPr lang="zh-CN" altLang="en-US" sz="2000" dirty="0">
                <a:solidFill>
                  <a:srgbClr val="CC0066"/>
                </a:solidFill>
                <a:latin typeface="Arial" panose="020B0604020202020204" pitchFamily="34" charset="0"/>
                <a:ea typeface="楷体_GB2312" pitchFamily="49" charset="-122"/>
              </a:rPr>
              <a:t>保持</a:t>
            </a:r>
            <a:endParaRPr lang="en-US" altLang="zh-CN" sz="2000" dirty="0">
              <a:solidFill>
                <a:srgbClr val="FF0066"/>
              </a:solidFill>
              <a:latin typeface="Arial" panose="020B0604020202020204" pitchFamily="34" charset="0"/>
            </a:endParaRPr>
          </a:p>
          <a:p>
            <a:pPr>
              <a:lnSpc>
                <a:spcPct val="90000"/>
              </a:lnSpc>
            </a:pPr>
            <a:r>
              <a:rPr lang="en-US" altLang="zh-CN" sz="2000" dirty="0">
                <a:solidFill>
                  <a:schemeClr val="tx1"/>
                </a:solidFill>
                <a:latin typeface="Arial" panose="020B0604020202020204" pitchFamily="34" charset="0"/>
              </a:rPr>
              <a:t>	  begin Q = Q; 	QN = QN; end</a:t>
            </a:r>
          </a:p>
          <a:p>
            <a:pPr>
              <a:lnSpc>
                <a:spcPct val="90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else if (CP==1)</a:t>
            </a:r>
            <a:r>
              <a:rPr lang="en-US" altLang="zh-CN" sz="2000" dirty="0">
                <a:solidFill>
                  <a:schemeClr val="tx1"/>
                </a:solidFill>
                <a:latin typeface="Arial" panose="020B0604020202020204" pitchFamily="34" charset="0"/>
              </a:rPr>
              <a:t>	</a:t>
            </a:r>
          </a:p>
          <a:p>
            <a:pPr>
              <a:lnSpc>
                <a:spcPct val="90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case</a:t>
            </a:r>
            <a:r>
              <a:rPr lang="en-US" altLang="zh-CN" sz="2000" dirty="0">
                <a:solidFill>
                  <a:schemeClr val="tx1"/>
                </a:solidFill>
                <a:latin typeface="Arial" panose="020B0604020202020204" pitchFamily="34" charset="0"/>
              </a:rPr>
              <a:t> (T)</a:t>
            </a:r>
          </a:p>
          <a:p>
            <a:pPr>
              <a:lnSpc>
                <a:spcPct val="90000"/>
              </a:lnSpc>
            </a:pPr>
            <a:r>
              <a:rPr lang="en-US" altLang="zh-CN" sz="2000" dirty="0">
                <a:solidFill>
                  <a:schemeClr val="tx1"/>
                </a:solidFill>
                <a:latin typeface="Arial" panose="020B0604020202020204" pitchFamily="34" charset="0"/>
              </a:rPr>
              <a:t>	       	1‘b0: begin Q = Q; 	QN = QN; end  //</a:t>
            </a:r>
            <a:r>
              <a:rPr lang="zh-CN" altLang="en-US" sz="2000" dirty="0">
                <a:solidFill>
                  <a:srgbClr val="CC0066"/>
                </a:solidFill>
                <a:latin typeface="Arial" panose="020B0604020202020204" pitchFamily="34" charset="0"/>
                <a:ea typeface="楷体_GB2312" pitchFamily="49" charset="-122"/>
              </a:rPr>
              <a:t>保持</a:t>
            </a:r>
          </a:p>
          <a:p>
            <a:pPr>
              <a:lnSpc>
                <a:spcPct val="90000"/>
              </a:lnSpc>
            </a:pPr>
            <a:r>
              <a:rPr lang="en-US" altLang="zh-CN" sz="2000" dirty="0">
                <a:solidFill>
                  <a:schemeClr val="tx1"/>
                </a:solidFill>
                <a:latin typeface="Arial" panose="020B0604020202020204" pitchFamily="34" charset="0"/>
              </a:rPr>
              <a:t>		1‘b1: begin </a:t>
            </a:r>
            <a:r>
              <a:rPr lang="en-US" altLang="zh-CN" sz="2000" dirty="0">
                <a:solidFill>
                  <a:srgbClr val="CC3300"/>
                </a:solidFill>
                <a:latin typeface="Arial" panose="020B0604020202020204" pitchFamily="34" charset="0"/>
              </a:rPr>
              <a:t>Q = !Q; 	QN = !QN</a:t>
            </a:r>
            <a:r>
              <a:rPr lang="en-US" altLang="zh-CN" sz="2000" dirty="0">
                <a:solidFill>
                  <a:schemeClr val="tx1"/>
                </a:solidFill>
                <a:latin typeface="Arial" panose="020B0604020202020204" pitchFamily="34" charset="0"/>
              </a:rPr>
              <a:t>; end</a:t>
            </a:r>
            <a:r>
              <a:rPr lang="zh-CN" altLang="en-US" sz="2000" dirty="0">
                <a:solidFill>
                  <a:schemeClr val="tx1"/>
                </a:solidFill>
                <a:latin typeface="Arial" panose="020B0604020202020204" pitchFamily="34" charset="0"/>
              </a:rPr>
              <a:t> </a:t>
            </a:r>
            <a:r>
              <a:rPr lang="en-US" altLang="zh-CN" sz="2000" dirty="0">
                <a:solidFill>
                  <a:schemeClr val="tx1"/>
                </a:solidFill>
                <a:latin typeface="Arial" panose="020B0604020202020204" pitchFamily="34" charset="0"/>
              </a:rPr>
              <a:t>//</a:t>
            </a:r>
            <a:r>
              <a:rPr lang="zh-CN" altLang="en-US" sz="2000" dirty="0">
                <a:solidFill>
                  <a:srgbClr val="CC0066"/>
                </a:solidFill>
                <a:latin typeface="Arial" panose="020B0604020202020204" pitchFamily="34" charset="0"/>
                <a:ea typeface="楷体_GB2312" pitchFamily="49" charset="-122"/>
              </a:rPr>
              <a:t>翻转</a:t>
            </a:r>
          </a:p>
          <a:p>
            <a:pPr>
              <a:lnSpc>
                <a:spcPct val="90000"/>
              </a:lnSpc>
            </a:pPr>
            <a:r>
              <a:rPr lang="en-US" altLang="zh-CN" sz="2000" dirty="0">
                <a:solidFill>
                  <a:schemeClr val="tx1"/>
                </a:solidFill>
                <a:latin typeface="Arial" panose="020B0604020202020204" pitchFamily="34" charset="0"/>
              </a:rPr>
              <a:t>	      </a:t>
            </a:r>
            <a:r>
              <a:rPr lang="en-US" altLang="zh-CN" sz="2000" dirty="0">
                <a:solidFill>
                  <a:srgbClr val="FF0066"/>
                </a:solidFill>
                <a:latin typeface="Arial" panose="020B0604020202020204" pitchFamily="34" charset="0"/>
              </a:rPr>
              <a:t>endcase</a:t>
            </a:r>
          </a:p>
          <a:p>
            <a:pPr>
              <a:lnSpc>
                <a:spcPct val="90000"/>
              </a:lnSpc>
            </a:pPr>
            <a:r>
              <a:rPr lang="en-US" altLang="zh-CN" sz="2000" dirty="0">
                <a:solidFill>
                  <a:schemeClr val="tx1"/>
                </a:solidFill>
                <a:latin typeface="Arial" panose="020B0604020202020204" pitchFamily="34" charset="0"/>
              </a:rPr>
              <a:t>          end</a:t>
            </a:r>
          </a:p>
          <a:p>
            <a:pPr>
              <a:lnSpc>
                <a:spcPct val="90000"/>
              </a:lnSpc>
            </a:pPr>
            <a:r>
              <a:rPr lang="en-US" altLang="zh-CN" sz="2000" dirty="0">
                <a:solidFill>
                  <a:schemeClr val="tx1"/>
                </a:solidFill>
                <a:latin typeface="Arial" panose="020B0604020202020204" pitchFamily="34" charset="0"/>
              </a:rPr>
              <a:t>endmodule </a:t>
            </a:r>
          </a:p>
        </p:txBody>
      </p:sp>
      <p:sp>
        <p:nvSpPr>
          <p:cNvPr id="6" name="AutoShape 59"/>
          <p:cNvSpPr/>
          <p:nvPr/>
        </p:nvSpPr>
        <p:spPr>
          <a:xfrm>
            <a:off x="5808663" y="1773238"/>
            <a:ext cx="1954212" cy="1597025"/>
          </a:xfrm>
          <a:prstGeom prst="wedgeRoundRectCallout">
            <a:avLst>
              <a:gd name="adj1" fmla="val -124583"/>
              <a:gd name="adj2" fmla="val 17481"/>
              <a:gd name="adj3" fmla="val 16667"/>
            </a:avLst>
          </a:prstGeom>
          <a:solidFill>
            <a:srgbClr val="FFFFBD"/>
          </a:solidFill>
          <a:ln w="9525" cap="flat" cmpd="sng">
            <a:solidFill>
              <a:srgbClr val="CC6600"/>
            </a:solidFill>
            <a:prstDash val="solid"/>
            <a:miter/>
            <a:headEnd type="none" w="med" len="med"/>
            <a:tailEnd type="none" w="med" len="med"/>
          </a:ln>
          <a:effectLst>
            <a:prstShdw prst="shdw17" dist="17961" dir="2699999">
              <a:srgbClr val="7A3D00"/>
            </a:prstShdw>
          </a:effectLst>
        </p:spPr>
        <p:txBody>
          <a:bodyPr anchor="b" anchorCtr="0"/>
          <a:lstStyle/>
          <a:p>
            <a:r>
              <a:rPr lang="en-US" altLang="zh-CN" sz="1800" dirty="0">
                <a:solidFill>
                  <a:schemeClr val="tx1"/>
                </a:solidFill>
                <a:latin typeface="Arial" panose="020B0604020202020204" pitchFamily="34" charset="0"/>
                <a:ea typeface="楷体_GB2312" pitchFamily="49" charset="-122"/>
              </a:rPr>
              <a:t>initial</a:t>
            </a:r>
          </a:p>
          <a:p>
            <a:r>
              <a:rPr lang="en-US" altLang="zh-CN" sz="1800" dirty="0">
                <a:solidFill>
                  <a:schemeClr val="tx1"/>
                </a:solidFill>
                <a:latin typeface="Arial" panose="020B0604020202020204" pitchFamily="34" charset="0"/>
                <a:ea typeface="楷体_GB2312" pitchFamily="49" charset="-122"/>
              </a:rPr>
              <a:t>    begin</a:t>
            </a:r>
          </a:p>
          <a:p>
            <a:r>
              <a:rPr lang="en-US" altLang="zh-CN" sz="1800" dirty="0">
                <a:solidFill>
                  <a:schemeClr val="tx1"/>
                </a:solidFill>
                <a:latin typeface="Arial" panose="020B0604020202020204" pitchFamily="34" charset="0"/>
                <a:ea typeface="楷体_GB2312" pitchFamily="49" charset="-122"/>
              </a:rPr>
              <a:t>      Q=1'b0;</a:t>
            </a:r>
            <a:endParaRPr lang="zh-CN" altLang="en-US" sz="1800" dirty="0">
              <a:solidFill>
                <a:schemeClr val="tx1"/>
              </a:solidFill>
              <a:latin typeface="Arial" panose="020B0604020202020204" pitchFamily="34" charset="0"/>
              <a:ea typeface="楷体_GB2312" pitchFamily="49" charset="-122"/>
            </a:endParaRPr>
          </a:p>
          <a:p>
            <a:r>
              <a:rPr lang="zh-CN" altLang="en-US" sz="1800" dirty="0">
                <a:solidFill>
                  <a:schemeClr val="tx1"/>
                </a:solidFill>
                <a:latin typeface="Arial" panose="020B0604020202020204" pitchFamily="34" charset="0"/>
                <a:ea typeface="楷体_GB2312" pitchFamily="49" charset="-122"/>
              </a:rPr>
              <a:t>      </a:t>
            </a:r>
            <a:r>
              <a:rPr lang="en-US" altLang="zh-CN" sz="1800" dirty="0">
                <a:solidFill>
                  <a:schemeClr val="tx1"/>
                </a:solidFill>
                <a:latin typeface="Arial" panose="020B0604020202020204" pitchFamily="34" charset="0"/>
                <a:ea typeface="楷体_GB2312" pitchFamily="49" charset="-122"/>
              </a:rPr>
              <a:t>QN=1'b1;</a:t>
            </a:r>
          </a:p>
          <a:p>
            <a:r>
              <a:rPr lang="en-US" altLang="zh-CN" sz="1800" dirty="0">
                <a:solidFill>
                  <a:schemeClr val="tx1"/>
                </a:solidFill>
                <a:latin typeface="Arial" panose="020B0604020202020204" pitchFamily="34" charset="0"/>
                <a:ea typeface="楷体_GB2312" pitchFamily="49" charset="-122"/>
              </a:rPr>
              <a:t>    end</a:t>
            </a:r>
            <a:endParaRPr lang="zh-CN" altLang="en-US" sz="1800" dirty="0">
              <a:solidFill>
                <a:schemeClr val="tx1"/>
              </a:solidFill>
              <a:latin typeface="Arial" panose="020B0604020202020204" pitchFamily="34" charset="0"/>
              <a:ea typeface="楷体_GB2312" pitchFamily="49"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p:cNvSpPr>
          <p:nvPr>
            <p:ph type="title"/>
          </p:nvPr>
        </p:nvSpPr>
        <p:spPr>
          <a:xfrm>
            <a:off x="2960688" y="527050"/>
            <a:ext cx="6858000" cy="609600"/>
          </a:xfrm>
        </p:spPr>
        <p:txBody>
          <a:bodyPr vert="horz" wrap="square" lIns="91440" tIns="45720" rIns="91440" bIns="45720" anchor="ctr" anchorCtr="0">
            <a:normAutofit fontScale="90000"/>
          </a:bodyPr>
          <a:lstStyle/>
          <a:p>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钟控</a:t>
            </a:r>
            <a:r>
              <a:rPr lang="en-US" altLang="zh-CN" dirty="0">
                <a:latin typeface="Arial" panose="020B0604020202020204" pitchFamily="34" charset="0"/>
                <a:ea typeface="黑体" panose="02010609060101010101" pitchFamily="49" charset="-122"/>
              </a:rPr>
              <a:t>D</a:t>
            </a:r>
            <a:r>
              <a:rPr lang="zh-CN" altLang="en-US" dirty="0">
                <a:latin typeface="Arial" panose="020B0604020202020204" pitchFamily="34" charset="0"/>
                <a:ea typeface="黑体" panose="02010609060101010101" pitchFamily="49" charset="-122"/>
              </a:rPr>
              <a:t>触发器（</a:t>
            </a:r>
            <a:r>
              <a:rPr lang="en-US" altLang="zh-CN" dirty="0">
                <a:latin typeface="Arial" panose="020B0604020202020204" pitchFamily="34" charset="0"/>
                <a:ea typeface="黑体" panose="02010609060101010101" pitchFamily="49" charset="-122"/>
              </a:rPr>
              <a:t>D</a:t>
            </a:r>
            <a:r>
              <a:rPr lang="zh-CN" altLang="en-US" dirty="0">
                <a:latin typeface="Arial" panose="020B0604020202020204" pitchFamily="34" charset="0"/>
                <a:ea typeface="黑体" panose="02010609060101010101" pitchFamily="49" charset="-122"/>
              </a:rPr>
              <a:t>锁存器）</a:t>
            </a:r>
          </a:p>
        </p:txBody>
      </p:sp>
      <p:sp>
        <p:nvSpPr>
          <p:cNvPr id="79875" name="Rectangle 3"/>
          <p:cNvSpPr>
            <a:spLocks noGrp="1"/>
          </p:cNvSpPr>
          <p:nvPr>
            <p:ph type="body" sz="half" idx="1"/>
          </p:nvPr>
        </p:nvSpPr>
        <p:spPr>
          <a:xfrm>
            <a:off x="1914525" y="1030288"/>
            <a:ext cx="8220075" cy="1570037"/>
          </a:xfrm>
        </p:spPr>
        <p:txBody>
          <a:bodyPr vert="horz" wrap="square" lIns="91440" tIns="45720" rIns="91440" bIns="45720" anchor="t" anchorCtr="0">
            <a:normAutofit fontScale="77500" lnSpcReduction="10000"/>
          </a:bodyPr>
          <a:lstStyle/>
          <a:p>
            <a:pPr marL="365125" indent="-365125">
              <a:lnSpc>
                <a:spcPct val="110000"/>
              </a:lnSpc>
              <a:buClr>
                <a:schemeClr val="hlink"/>
              </a:buClr>
              <a:buSzTx/>
              <a:buFont typeface="Wingdings" panose="05000000000000000000" pitchFamily="2" charset="2"/>
            </a:pPr>
            <a:r>
              <a:rPr lang="zh-CN" altLang="en-US" sz="2400" dirty="0">
                <a:solidFill>
                  <a:srgbClr val="FF0000"/>
                </a:solidFill>
                <a:ea typeface="楷体_GB2312" pitchFamily="49" charset="-122"/>
              </a:rPr>
              <a:t>问题</a:t>
            </a:r>
            <a:r>
              <a:rPr lang="en-US" altLang="zh-CN" sz="2400" dirty="0">
                <a:solidFill>
                  <a:srgbClr val="FF0000"/>
                </a:solidFill>
                <a:ea typeface="楷体_GB2312" pitchFamily="49" charset="-122"/>
              </a:rPr>
              <a:t>——</a:t>
            </a:r>
            <a:r>
              <a:rPr lang="zh-CN" altLang="en-US" sz="2400" dirty="0">
                <a:solidFill>
                  <a:srgbClr val="FF0000"/>
                </a:solidFill>
                <a:ea typeface="楷体_GB2312" pitchFamily="49" charset="-122"/>
              </a:rPr>
              <a:t>如何消除钟控</a:t>
            </a:r>
            <a:r>
              <a:rPr lang="en-US" altLang="zh-CN" sz="2400" dirty="0">
                <a:solidFill>
                  <a:srgbClr val="FF0000"/>
                </a:solidFill>
                <a:ea typeface="楷体_GB2312" pitchFamily="49" charset="-122"/>
              </a:rPr>
              <a:t>RS</a:t>
            </a:r>
            <a:r>
              <a:rPr lang="zh-CN" altLang="en-US" sz="2400" dirty="0">
                <a:solidFill>
                  <a:srgbClr val="FF0000"/>
                </a:solidFill>
                <a:ea typeface="楷体_GB2312" pitchFamily="49" charset="-122"/>
              </a:rPr>
              <a:t>触发器的不定状态</a:t>
            </a:r>
            <a:r>
              <a:rPr lang="zh-CN" altLang="en-US" dirty="0">
                <a:solidFill>
                  <a:srgbClr val="FF0000"/>
                </a:solidFill>
                <a:ea typeface="楷体_GB2312" pitchFamily="49" charset="-122"/>
              </a:rPr>
              <a:t>？</a:t>
            </a:r>
            <a:endParaRPr lang="en-US" altLang="zh-CN" dirty="0">
              <a:solidFill>
                <a:srgbClr val="FF0000"/>
              </a:solidFill>
              <a:ea typeface="楷体_GB2312" pitchFamily="49" charset="-122"/>
            </a:endParaRPr>
          </a:p>
          <a:p>
            <a:pPr marL="765175" lvl="1" indent="-365125">
              <a:lnSpc>
                <a:spcPct val="110000"/>
              </a:lnSpc>
              <a:buClr>
                <a:schemeClr val="accent1"/>
              </a:buClr>
              <a:buFont typeface="Wingdings" panose="05000000000000000000" pitchFamily="2" charset="2"/>
            </a:pPr>
            <a:r>
              <a:rPr lang="zh-CN" altLang="en-US" sz="2000" dirty="0">
                <a:ea typeface="宋体" panose="02010600030101010101" pitchFamily="2" charset="-122"/>
              </a:rPr>
              <a:t>将钟控</a:t>
            </a:r>
            <a:r>
              <a:rPr lang="en-US" altLang="zh-CN" sz="2000" dirty="0">
                <a:ea typeface="宋体" panose="02010600030101010101" pitchFamily="2" charset="-122"/>
              </a:rPr>
              <a:t>RS</a:t>
            </a:r>
            <a:r>
              <a:rPr lang="zh-CN" altLang="en-US" sz="2000" dirty="0">
                <a:ea typeface="宋体" panose="02010600030101010101" pitchFamily="2" charset="-122"/>
              </a:rPr>
              <a:t>触发器的输入由</a:t>
            </a:r>
            <a:r>
              <a:rPr lang="en-US" altLang="zh-CN" sz="2000" dirty="0">
                <a:ea typeface="宋体" panose="02010600030101010101" pitchFamily="2" charset="-122"/>
              </a:rPr>
              <a:t>R</a:t>
            </a:r>
            <a:r>
              <a:rPr lang="zh-CN" altLang="en-US" sz="2000" dirty="0">
                <a:ea typeface="宋体" panose="02010600030101010101" pitchFamily="2" charset="-122"/>
              </a:rPr>
              <a:t>、</a:t>
            </a:r>
            <a:r>
              <a:rPr lang="en-US" altLang="zh-CN" sz="2000" dirty="0">
                <a:ea typeface="宋体" panose="02010600030101010101" pitchFamily="2" charset="-122"/>
              </a:rPr>
              <a:t>S</a:t>
            </a:r>
            <a:r>
              <a:rPr lang="zh-CN" altLang="en-US" sz="2000" dirty="0">
                <a:ea typeface="宋体" panose="02010600030101010101" pitchFamily="2" charset="-122"/>
              </a:rPr>
              <a:t>双端输入改为单端输入（</a:t>
            </a:r>
            <a:r>
              <a:rPr lang="en-US" altLang="zh-CN" sz="2000" dirty="0">
                <a:ea typeface="宋体" panose="02010600030101010101" pitchFamily="2" charset="-122"/>
              </a:rPr>
              <a:t>D</a:t>
            </a:r>
            <a:r>
              <a:rPr lang="zh-CN" altLang="en-US" sz="2000" dirty="0">
                <a:ea typeface="宋体" panose="02010600030101010101" pitchFamily="2" charset="-122"/>
              </a:rPr>
              <a:t>）</a:t>
            </a:r>
            <a:r>
              <a:rPr lang="en-US" altLang="zh-CN" sz="2000" dirty="0">
                <a:ea typeface="宋体" panose="02010600030101010101" pitchFamily="2" charset="-122"/>
              </a:rPr>
              <a:t>——</a:t>
            </a:r>
            <a:r>
              <a:rPr lang="zh-CN" altLang="en-US" sz="2000" dirty="0">
                <a:latin typeface="Times New Roman" panose="02020603050405020304" pitchFamily="18" charset="0"/>
                <a:ea typeface="宋体" panose="02010600030101010101" pitchFamily="2" charset="-122"/>
              </a:rPr>
              <a:t>即将其</a:t>
            </a:r>
            <a:r>
              <a:rPr lang="en-US" altLang="zh-CN" sz="2000" dirty="0">
                <a:latin typeface="Times New Roman" panose="02020603050405020304" pitchFamily="18" charset="0"/>
                <a:ea typeface="宋体" panose="02010600030101010101" pitchFamily="2" charset="-122"/>
              </a:rPr>
              <a:t>S</a:t>
            </a:r>
            <a:r>
              <a:rPr lang="zh-CN" altLang="en-US" sz="2000" dirty="0">
                <a:latin typeface="Times New Roman" panose="02020603050405020304" pitchFamily="18" charset="0"/>
                <a:ea typeface="宋体" panose="02010600030101010101" pitchFamily="2" charset="-122"/>
              </a:rPr>
              <a:t>输入端改为</a:t>
            </a:r>
            <a:r>
              <a:rPr lang="en-US" altLang="zh-CN" sz="2000" dirty="0">
                <a:latin typeface="Times New Roman" panose="02020603050405020304" pitchFamily="18" charset="0"/>
                <a:ea typeface="宋体" panose="02010600030101010101" pitchFamily="2" charset="-122"/>
              </a:rPr>
              <a:t>D</a:t>
            </a:r>
            <a:r>
              <a:rPr lang="zh-CN" altLang="en-US" sz="2000" dirty="0">
                <a:latin typeface="Times New Roman" panose="02020603050405020304" pitchFamily="18" charset="0"/>
                <a:ea typeface="宋体" panose="02010600030101010101" pitchFamily="2" charset="-122"/>
              </a:rPr>
              <a:t>输入端，然后经过非门接</a:t>
            </a:r>
            <a:r>
              <a:rPr lang="en-US" altLang="zh-CN" sz="2000" dirty="0">
                <a:latin typeface="Times New Roman" panose="02020603050405020304" pitchFamily="18" charset="0"/>
                <a:ea typeface="宋体" panose="02010600030101010101" pitchFamily="2" charset="-122"/>
              </a:rPr>
              <a:t>R</a:t>
            </a:r>
            <a:r>
              <a:rPr lang="zh-CN" altLang="en-US" sz="2000" dirty="0">
                <a:latin typeface="Times New Roman" panose="02020603050405020304" pitchFamily="18" charset="0"/>
                <a:ea typeface="宋体" panose="02010600030101010101" pitchFamily="2" charset="-122"/>
              </a:rPr>
              <a:t>端</a:t>
            </a:r>
            <a:r>
              <a:rPr lang="en-US" altLang="zh-CN" sz="2000" dirty="0">
                <a:ea typeface="宋体" panose="02010600030101010101" pitchFamily="2" charset="-122"/>
              </a:rPr>
              <a:t>——S</a:t>
            </a:r>
            <a:r>
              <a:rPr lang="zh-CN" altLang="en-US" sz="2000" dirty="0">
                <a:ea typeface="宋体" panose="02010600030101010101" pitchFamily="2" charset="-122"/>
              </a:rPr>
              <a:t>、</a:t>
            </a:r>
            <a:r>
              <a:rPr lang="en-US" altLang="zh-CN" sz="2000" dirty="0">
                <a:ea typeface="宋体" panose="02010600030101010101" pitchFamily="2" charset="-122"/>
              </a:rPr>
              <a:t>R</a:t>
            </a:r>
            <a:r>
              <a:rPr lang="zh-CN" altLang="en-US" sz="2000" dirty="0">
                <a:ea typeface="宋体" panose="02010600030101010101" pitchFamily="2" charset="-122"/>
              </a:rPr>
              <a:t>总是</a:t>
            </a:r>
            <a:r>
              <a:rPr lang="zh-CN" altLang="en-US" sz="2000" dirty="0">
                <a:solidFill>
                  <a:srgbClr val="CC0066"/>
                </a:solidFill>
                <a:ea typeface="宋体" panose="02010600030101010101" pitchFamily="2" charset="-122"/>
              </a:rPr>
              <a:t>互非</a:t>
            </a:r>
            <a:r>
              <a:rPr lang="zh-CN" altLang="en-US" sz="2000" dirty="0">
                <a:ea typeface="宋体" panose="02010600030101010101" pitchFamily="2" charset="-122"/>
              </a:rPr>
              <a:t>，钟控</a:t>
            </a:r>
            <a:r>
              <a:rPr lang="en-US" altLang="zh-CN" sz="2000" dirty="0">
                <a:ea typeface="宋体" panose="02010600030101010101" pitchFamily="2" charset="-122"/>
              </a:rPr>
              <a:t>D</a:t>
            </a:r>
            <a:r>
              <a:rPr lang="zh-CN" altLang="en-US" sz="2000" dirty="0">
                <a:ea typeface="宋体" panose="02010600030101010101" pitchFamily="2" charset="-122"/>
              </a:rPr>
              <a:t>触发器不会出现不定状态！</a:t>
            </a:r>
          </a:p>
          <a:p>
            <a:pPr marL="365125" indent="-365125">
              <a:lnSpc>
                <a:spcPct val="110000"/>
              </a:lnSpc>
              <a:buClr>
                <a:schemeClr val="hlink"/>
              </a:buClr>
              <a:buSzTx/>
              <a:buFont typeface="Wingdings" panose="05000000000000000000" pitchFamily="2" charset="2"/>
            </a:pPr>
            <a:r>
              <a:rPr lang="zh-CN" altLang="en-US" sz="2400" dirty="0">
                <a:ea typeface="宋体" panose="02010600030101010101" pitchFamily="2" charset="-122"/>
              </a:rPr>
              <a:t>钟控</a:t>
            </a:r>
            <a:r>
              <a:rPr lang="en-US" altLang="zh-CN" sz="2400" dirty="0">
                <a:ea typeface="宋体" panose="02010600030101010101" pitchFamily="2" charset="-122"/>
              </a:rPr>
              <a:t>D</a:t>
            </a:r>
            <a:r>
              <a:rPr lang="zh-CN" altLang="en-US" sz="2400" dirty="0">
                <a:ea typeface="宋体" panose="02010600030101010101" pitchFamily="2" charset="-122"/>
              </a:rPr>
              <a:t>触发器（ </a:t>
            </a:r>
            <a:r>
              <a:rPr lang="en-US" altLang="zh-CN" sz="2400" dirty="0">
                <a:ea typeface="宋体" panose="02010600030101010101" pitchFamily="2" charset="-122"/>
              </a:rPr>
              <a:t>D</a:t>
            </a:r>
            <a:r>
              <a:rPr lang="zh-CN" altLang="en-US" sz="2400" dirty="0">
                <a:ea typeface="宋体" panose="02010600030101010101" pitchFamily="2" charset="-122"/>
              </a:rPr>
              <a:t>锁存器）电路结构和逻辑符号</a:t>
            </a:r>
          </a:p>
        </p:txBody>
      </p:sp>
      <p:sp>
        <p:nvSpPr>
          <p:cNvPr id="89092"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40</a:t>
            </a:fld>
            <a:endParaRPr lang="ko-KR" altLang="en-US" sz="1600" dirty="0">
              <a:solidFill>
                <a:schemeClr val="accent2"/>
              </a:solidFill>
              <a:latin typeface="Verdana" panose="020B0604030504040204" pitchFamily="34" charset="0"/>
              <a:ea typeface="Gulim" panose="020B0600000101010101" pitchFamily="34" charset="-127"/>
            </a:endParaRPr>
          </a:p>
        </p:txBody>
      </p:sp>
      <p:grpSp>
        <p:nvGrpSpPr>
          <p:cNvPr id="2" name="Group 78"/>
          <p:cNvGrpSpPr/>
          <p:nvPr/>
        </p:nvGrpSpPr>
        <p:grpSpPr>
          <a:xfrm>
            <a:off x="7181850" y="3025775"/>
            <a:ext cx="1470025" cy="1663700"/>
            <a:chOff x="3496" y="1668"/>
            <a:chExt cx="926" cy="1048"/>
          </a:xfrm>
        </p:grpSpPr>
        <p:sp>
          <p:nvSpPr>
            <p:cNvPr id="89160" name="Text Box 91"/>
            <p:cNvSpPr txBox="1"/>
            <p:nvPr/>
          </p:nvSpPr>
          <p:spPr>
            <a:xfrm>
              <a:off x="3616" y="1921"/>
              <a:ext cx="308"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grpSp>
          <p:nvGrpSpPr>
            <p:cNvPr id="89161" name="Group 92"/>
            <p:cNvGrpSpPr/>
            <p:nvPr/>
          </p:nvGrpSpPr>
          <p:grpSpPr>
            <a:xfrm>
              <a:off x="4079" y="1921"/>
              <a:ext cx="308" cy="212"/>
              <a:chOff x="4176" y="1104"/>
              <a:chExt cx="240" cy="185"/>
            </a:xfrm>
          </p:grpSpPr>
          <p:sp>
            <p:nvSpPr>
              <p:cNvPr id="89170" name="Text Box 93"/>
              <p:cNvSpPr txBox="1"/>
              <p:nvPr/>
            </p:nvSpPr>
            <p:spPr>
              <a:xfrm>
                <a:off x="4176" y="1104"/>
                <a:ext cx="240" cy="185"/>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sp>
            <p:nvSpPr>
              <p:cNvPr id="89171" name="Line 94"/>
              <p:cNvSpPr/>
              <p:nvPr/>
            </p:nvSpPr>
            <p:spPr>
              <a:xfrm>
                <a:off x="4233" y="1143"/>
                <a:ext cx="96" cy="0"/>
              </a:xfrm>
              <a:prstGeom prst="line">
                <a:avLst/>
              </a:prstGeom>
              <a:ln w="9525" cap="flat" cmpd="sng">
                <a:solidFill>
                  <a:schemeClr val="tx1"/>
                </a:solidFill>
                <a:prstDash val="solid"/>
                <a:headEnd type="none" w="med" len="med"/>
                <a:tailEnd type="none" w="med" len="med"/>
              </a:ln>
            </p:spPr>
          </p:sp>
        </p:grpSp>
        <p:sp>
          <p:nvSpPr>
            <p:cNvPr id="89162" name="Text Box 95"/>
            <p:cNvSpPr txBox="1"/>
            <p:nvPr/>
          </p:nvSpPr>
          <p:spPr>
            <a:xfrm>
              <a:off x="3619" y="2196"/>
              <a:ext cx="433"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D</a:t>
              </a:r>
            </a:p>
          </p:txBody>
        </p:sp>
        <p:sp>
          <p:nvSpPr>
            <p:cNvPr id="89163" name="Rectangle 96"/>
            <p:cNvSpPr/>
            <p:nvPr/>
          </p:nvSpPr>
          <p:spPr>
            <a:xfrm>
              <a:off x="3496" y="1944"/>
              <a:ext cx="926" cy="496"/>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64" name="Line 97"/>
            <p:cNvSpPr/>
            <p:nvPr/>
          </p:nvSpPr>
          <p:spPr>
            <a:xfrm flipV="1">
              <a:off x="3743" y="1668"/>
              <a:ext cx="0" cy="276"/>
            </a:xfrm>
            <a:prstGeom prst="line">
              <a:avLst/>
            </a:prstGeom>
            <a:ln w="9525" cap="flat" cmpd="sng">
              <a:solidFill>
                <a:schemeClr val="tx1"/>
              </a:solidFill>
              <a:prstDash val="solid"/>
              <a:headEnd type="none" w="med" len="med"/>
              <a:tailEnd type="none" w="med" len="med"/>
            </a:ln>
          </p:spPr>
        </p:sp>
        <p:sp>
          <p:nvSpPr>
            <p:cNvPr id="89165" name="Oval 98"/>
            <p:cNvSpPr/>
            <p:nvPr/>
          </p:nvSpPr>
          <p:spPr>
            <a:xfrm>
              <a:off x="4175" y="1888"/>
              <a:ext cx="62" cy="56"/>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66" name="Line 99"/>
            <p:cNvSpPr/>
            <p:nvPr/>
          </p:nvSpPr>
          <p:spPr>
            <a:xfrm>
              <a:off x="4202" y="1668"/>
              <a:ext cx="0" cy="220"/>
            </a:xfrm>
            <a:prstGeom prst="line">
              <a:avLst/>
            </a:prstGeom>
            <a:ln w="9525" cap="flat" cmpd="sng">
              <a:solidFill>
                <a:schemeClr val="tx1"/>
              </a:solidFill>
              <a:prstDash val="solid"/>
              <a:headEnd type="none" w="med" len="med"/>
              <a:tailEnd type="none" w="med" len="med"/>
            </a:ln>
          </p:spPr>
        </p:sp>
        <p:sp>
          <p:nvSpPr>
            <p:cNvPr id="89167" name="Line 100"/>
            <p:cNvSpPr/>
            <p:nvPr/>
          </p:nvSpPr>
          <p:spPr>
            <a:xfrm>
              <a:off x="3770" y="2441"/>
              <a:ext cx="0" cy="275"/>
            </a:xfrm>
            <a:prstGeom prst="line">
              <a:avLst/>
            </a:prstGeom>
            <a:ln w="9525" cap="flat" cmpd="sng">
              <a:solidFill>
                <a:schemeClr val="tx1"/>
              </a:solidFill>
              <a:prstDash val="solid"/>
              <a:headEnd type="none" w="med" len="med"/>
              <a:tailEnd type="none" w="med" len="med"/>
            </a:ln>
          </p:spPr>
        </p:sp>
        <p:sp>
          <p:nvSpPr>
            <p:cNvPr id="89168" name="Line 101"/>
            <p:cNvSpPr/>
            <p:nvPr/>
          </p:nvSpPr>
          <p:spPr>
            <a:xfrm>
              <a:off x="4153" y="2441"/>
              <a:ext cx="0" cy="275"/>
            </a:xfrm>
            <a:prstGeom prst="line">
              <a:avLst/>
            </a:prstGeom>
            <a:ln w="9525" cap="flat" cmpd="sng">
              <a:solidFill>
                <a:schemeClr val="tx1"/>
              </a:solidFill>
              <a:prstDash val="solid"/>
              <a:headEnd type="none" w="med" len="med"/>
              <a:tailEnd type="none" w="med" len="med"/>
            </a:ln>
          </p:spPr>
        </p:sp>
        <p:sp>
          <p:nvSpPr>
            <p:cNvPr id="89169" name="Text Box 102"/>
            <p:cNvSpPr txBox="1"/>
            <p:nvPr/>
          </p:nvSpPr>
          <p:spPr>
            <a:xfrm>
              <a:off x="3967" y="2187"/>
              <a:ext cx="370"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CP</a:t>
              </a:r>
            </a:p>
          </p:txBody>
        </p:sp>
      </p:grpSp>
      <p:grpSp>
        <p:nvGrpSpPr>
          <p:cNvPr id="4" name="Group 139"/>
          <p:cNvGrpSpPr/>
          <p:nvPr/>
        </p:nvGrpSpPr>
        <p:grpSpPr>
          <a:xfrm>
            <a:off x="2614613" y="2894013"/>
            <a:ext cx="2638425" cy="3187700"/>
            <a:chOff x="399" y="1722"/>
            <a:chExt cx="1662" cy="2008"/>
          </a:xfrm>
        </p:grpSpPr>
        <p:grpSp>
          <p:nvGrpSpPr>
            <p:cNvPr id="89100" name="Group 104"/>
            <p:cNvGrpSpPr/>
            <p:nvPr/>
          </p:nvGrpSpPr>
          <p:grpSpPr>
            <a:xfrm>
              <a:off x="463" y="2273"/>
              <a:ext cx="493" cy="276"/>
              <a:chOff x="3504" y="1584"/>
              <a:chExt cx="384" cy="240"/>
            </a:xfrm>
          </p:grpSpPr>
          <p:grpSp>
            <p:nvGrpSpPr>
              <p:cNvPr id="89156" name="Group 105"/>
              <p:cNvGrpSpPr/>
              <p:nvPr/>
            </p:nvGrpSpPr>
            <p:grpSpPr>
              <a:xfrm>
                <a:off x="3504" y="1584"/>
                <a:ext cx="384" cy="240"/>
                <a:chOff x="3504" y="1584"/>
                <a:chExt cx="384" cy="240"/>
              </a:xfrm>
            </p:grpSpPr>
            <p:sp>
              <p:nvSpPr>
                <p:cNvPr id="89158" name="Rectangle 106"/>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59" name="Oval 107"/>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89157" name="Text Box 108"/>
              <p:cNvSpPr txBox="1"/>
              <p:nvPr/>
            </p:nvSpPr>
            <p:spPr>
              <a:xfrm>
                <a:off x="3561" y="1632"/>
                <a:ext cx="288" cy="185"/>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grpSp>
          <p:nvGrpSpPr>
            <p:cNvPr id="89101" name="Group 109"/>
            <p:cNvGrpSpPr/>
            <p:nvPr/>
          </p:nvGrpSpPr>
          <p:grpSpPr>
            <a:xfrm>
              <a:off x="1203" y="2273"/>
              <a:ext cx="494" cy="276"/>
              <a:chOff x="3504" y="1584"/>
              <a:chExt cx="384" cy="240"/>
            </a:xfrm>
          </p:grpSpPr>
          <p:grpSp>
            <p:nvGrpSpPr>
              <p:cNvPr id="89152" name="Group 110"/>
              <p:cNvGrpSpPr/>
              <p:nvPr/>
            </p:nvGrpSpPr>
            <p:grpSpPr>
              <a:xfrm>
                <a:off x="3504" y="1584"/>
                <a:ext cx="384" cy="240"/>
                <a:chOff x="3504" y="1584"/>
                <a:chExt cx="384" cy="240"/>
              </a:xfrm>
            </p:grpSpPr>
            <p:sp>
              <p:nvSpPr>
                <p:cNvPr id="89154" name="Rectangle 111"/>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55" name="Oval 112"/>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89153" name="Text Box 113"/>
              <p:cNvSpPr txBox="1"/>
              <p:nvPr/>
            </p:nvSpPr>
            <p:spPr>
              <a:xfrm>
                <a:off x="3561" y="1632"/>
                <a:ext cx="288" cy="185"/>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sp>
          <p:nvSpPr>
            <p:cNvPr id="89102" name="Line 114"/>
            <p:cNvSpPr/>
            <p:nvPr/>
          </p:nvSpPr>
          <p:spPr>
            <a:xfrm>
              <a:off x="710" y="1998"/>
              <a:ext cx="0" cy="275"/>
            </a:xfrm>
            <a:prstGeom prst="line">
              <a:avLst/>
            </a:prstGeom>
            <a:ln w="9525" cap="flat" cmpd="sng">
              <a:solidFill>
                <a:schemeClr val="tx1"/>
              </a:solidFill>
              <a:prstDash val="solid"/>
              <a:headEnd type="none" w="med" len="med"/>
              <a:tailEnd type="none" w="med" len="med"/>
            </a:ln>
          </p:spPr>
        </p:sp>
        <p:sp>
          <p:nvSpPr>
            <p:cNvPr id="89103" name="Line 115"/>
            <p:cNvSpPr/>
            <p:nvPr/>
          </p:nvSpPr>
          <p:spPr>
            <a:xfrm>
              <a:off x="1450" y="1998"/>
              <a:ext cx="0" cy="275"/>
            </a:xfrm>
            <a:prstGeom prst="line">
              <a:avLst/>
            </a:prstGeom>
            <a:ln w="9525" cap="flat" cmpd="sng">
              <a:solidFill>
                <a:schemeClr val="tx1"/>
              </a:solidFill>
              <a:prstDash val="solid"/>
              <a:headEnd type="none" w="med" len="med"/>
              <a:tailEnd type="none" w="med" len="med"/>
            </a:ln>
          </p:spPr>
        </p:sp>
        <p:sp>
          <p:nvSpPr>
            <p:cNvPr id="89104" name="Line 116"/>
            <p:cNvSpPr/>
            <p:nvPr/>
          </p:nvSpPr>
          <p:spPr>
            <a:xfrm>
              <a:off x="710" y="2163"/>
              <a:ext cx="308" cy="0"/>
            </a:xfrm>
            <a:prstGeom prst="line">
              <a:avLst/>
            </a:prstGeom>
            <a:ln w="9525" cap="flat" cmpd="sng">
              <a:solidFill>
                <a:schemeClr val="tx1"/>
              </a:solidFill>
              <a:prstDash val="solid"/>
              <a:headEnd type="none" w="med" len="med"/>
              <a:tailEnd type="none" w="med" len="med"/>
            </a:ln>
          </p:spPr>
        </p:sp>
        <p:sp>
          <p:nvSpPr>
            <p:cNvPr id="89105" name="Line 117"/>
            <p:cNvSpPr/>
            <p:nvPr/>
          </p:nvSpPr>
          <p:spPr>
            <a:xfrm>
              <a:off x="1018" y="2163"/>
              <a:ext cx="124" cy="551"/>
            </a:xfrm>
            <a:prstGeom prst="line">
              <a:avLst/>
            </a:prstGeom>
            <a:ln w="9525" cap="flat" cmpd="sng">
              <a:solidFill>
                <a:schemeClr val="tx1"/>
              </a:solidFill>
              <a:prstDash val="solid"/>
              <a:headEnd type="none" w="med" len="med"/>
              <a:tailEnd type="none" w="med" len="med"/>
            </a:ln>
          </p:spPr>
        </p:sp>
        <p:sp>
          <p:nvSpPr>
            <p:cNvPr id="89106" name="Line 118"/>
            <p:cNvSpPr/>
            <p:nvPr/>
          </p:nvSpPr>
          <p:spPr>
            <a:xfrm>
              <a:off x="1142" y="2714"/>
              <a:ext cx="185" cy="0"/>
            </a:xfrm>
            <a:prstGeom prst="line">
              <a:avLst/>
            </a:prstGeom>
            <a:ln w="9525" cap="flat" cmpd="sng">
              <a:solidFill>
                <a:schemeClr val="tx1"/>
              </a:solidFill>
              <a:prstDash val="solid"/>
              <a:headEnd type="none" w="med" len="med"/>
              <a:tailEnd type="none" w="med" len="med"/>
            </a:ln>
          </p:spPr>
        </p:sp>
        <p:sp>
          <p:nvSpPr>
            <p:cNvPr id="89107" name="Line 119"/>
            <p:cNvSpPr/>
            <p:nvPr/>
          </p:nvSpPr>
          <p:spPr>
            <a:xfrm flipV="1">
              <a:off x="1327" y="2549"/>
              <a:ext cx="0" cy="165"/>
            </a:xfrm>
            <a:prstGeom prst="line">
              <a:avLst/>
            </a:prstGeom>
            <a:ln w="9525" cap="flat" cmpd="sng">
              <a:solidFill>
                <a:schemeClr val="tx1"/>
              </a:solidFill>
              <a:prstDash val="solid"/>
              <a:headEnd type="none" w="med" len="med"/>
              <a:tailEnd type="none" w="med" len="med"/>
            </a:ln>
          </p:spPr>
        </p:sp>
        <p:sp>
          <p:nvSpPr>
            <p:cNvPr id="89108" name="Line 120"/>
            <p:cNvSpPr/>
            <p:nvPr/>
          </p:nvSpPr>
          <p:spPr>
            <a:xfrm flipH="1">
              <a:off x="1142" y="2163"/>
              <a:ext cx="308" cy="0"/>
            </a:xfrm>
            <a:prstGeom prst="line">
              <a:avLst/>
            </a:prstGeom>
            <a:ln w="9525" cap="flat" cmpd="sng">
              <a:solidFill>
                <a:schemeClr val="tx1"/>
              </a:solidFill>
              <a:prstDash val="solid"/>
              <a:headEnd type="none" w="med" len="med"/>
              <a:tailEnd type="none" w="med" len="med"/>
            </a:ln>
          </p:spPr>
        </p:sp>
        <p:sp>
          <p:nvSpPr>
            <p:cNvPr id="89109" name="Line 121"/>
            <p:cNvSpPr/>
            <p:nvPr/>
          </p:nvSpPr>
          <p:spPr>
            <a:xfrm flipH="1">
              <a:off x="1018" y="2163"/>
              <a:ext cx="124" cy="551"/>
            </a:xfrm>
            <a:prstGeom prst="line">
              <a:avLst/>
            </a:prstGeom>
            <a:ln w="9525" cap="flat" cmpd="sng">
              <a:solidFill>
                <a:schemeClr val="tx1"/>
              </a:solidFill>
              <a:prstDash val="solid"/>
              <a:headEnd type="none" w="med" len="med"/>
              <a:tailEnd type="none" w="med" len="med"/>
            </a:ln>
          </p:spPr>
        </p:sp>
        <p:sp>
          <p:nvSpPr>
            <p:cNvPr id="89110" name="Line 122"/>
            <p:cNvSpPr/>
            <p:nvPr/>
          </p:nvSpPr>
          <p:spPr>
            <a:xfrm flipH="1">
              <a:off x="833" y="2714"/>
              <a:ext cx="185" cy="0"/>
            </a:xfrm>
            <a:prstGeom prst="line">
              <a:avLst/>
            </a:prstGeom>
            <a:ln w="9525" cap="flat" cmpd="sng">
              <a:solidFill>
                <a:schemeClr val="tx1"/>
              </a:solidFill>
              <a:prstDash val="solid"/>
              <a:headEnd type="none" w="med" len="med"/>
              <a:tailEnd type="none" w="med" len="med"/>
            </a:ln>
          </p:spPr>
        </p:sp>
        <p:sp>
          <p:nvSpPr>
            <p:cNvPr id="89111" name="Line 123"/>
            <p:cNvSpPr/>
            <p:nvPr/>
          </p:nvSpPr>
          <p:spPr>
            <a:xfrm flipV="1">
              <a:off x="833" y="2549"/>
              <a:ext cx="0" cy="165"/>
            </a:xfrm>
            <a:prstGeom prst="line">
              <a:avLst/>
            </a:prstGeom>
            <a:ln w="9525" cap="flat" cmpd="sng">
              <a:solidFill>
                <a:schemeClr val="tx1"/>
              </a:solidFill>
              <a:prstDash val="solid"/>
              <a:headEnd type="none" w="med" len="med"/>
              <a:tailEnd type="none" w="med" len="med"/>
            </a:ln>
          </p:spPr>
        </p:sp>
        <p:sp>
          <p:nvSpPr>
            <p:cNvPr id="89112" name="Oval 124"/>
            <p:cNvSpPr/>
            <p:nvPr/>
          </p:nvSpPr>
          <p:spPr>
            <a:xfrm>
              <a:off x="675" y="2128"/>
              <a:ext cx="62" cy="56"/>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13" name="Oval 125"/>
            <p:cNvSpPr/>
            <p:nvPr/>
          </p:nvSpPr>
          <p:spPr>
            <a:xfrm>
              <a:off x="1411" y="2139"/>
              <a:ext cx="62" cy="55"/>
            </a:xfrm>
            <a:prstGeom prst="ellipse">
              <a:avLst/>
            </a:prstGeom>
            <a:solidFill>
              <a:srgbClr val="000000"/>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14" name="Text Box 126"/>
            <p:cNvSpPr txBox="1"/>
            <p:nvPr/>
          </p:nvSpPr>
          <p:spPr>
            <a:xfrm>
              <a:off x="586" y="1722"/>
              <a:ext cx="309"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grpSp>
          <p:nvGrpSpPr>
            <p:cNvPr id="89115" name="Group 127"/>
            <p:cNvGrpSpPr/>
            <p:nvPr/>
          </p:nvGrpSpPr>
          <p:grpSpPr>
            <a:xfrm>
              <a:off x="1327" y="1722"/>
              <a:ext cx="308" cy="212"/>
              <a:chOff x="4176" y="1104"/>
              <a:chExt cx="240" cy="185"/>
            </a:xfrm>
          </p:grpSpPr>
          <p:sp>
            <p:nvSpPr>
              <p:cNvPr id="89150" name="Text Box 128"/>
              <p:cNvSpPr txBox="1"/>
              <p:nvPr/>
            </p:nvSpPr>
            <p:spPr>
              <a:xfrm>
                <a:off x="4176" y="1104"/>
                <a:ext cx="240" cy="185"/>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sp>
            <p:nvSpPr>
              <p:cNvPr id="89151" name="Line 129"/>
              <p:cNvSpPr/>
              <p:nvPr/>
            </p:nvSpPr>
            <p:spPr>
              <a:xfrm>
                <a:off x="4202" y="1130"/>
                <a:ext cx="96" cy="0"/>
              </a:xfrm>
              <a:prstGeom prst="line">
                <a:avLst/>
              </a:prstGeom>
              <a:ln w="9525" cap="flat" cmpd="sng">
                <a:solidFill>
                  <a:schemeClr val="tx1"/>
                </a:solidFill>
                <a:prstDash val="solid"/>
                <a:headEnd type="none" w="med" len="med"/>
                <a:tailEnd type="none" w="med" len="med"/>
              </a:ln>
            </p:spPr>
          </p:sp>
        </p:grpSp>
        <p:grpSp>
          <p:nvGrpSpPr>
            <p:cNvPr id="89116" name="Group 130"/>
            <p:cNvGrpSpPr/>
            <p:nvPr/>
          </p:nvGrpSpPr>
          <p:grpSpPr>
            <a:xfrm>
              <a:off x="401" y="2549"/>
              <a:ext cx="432" cy="212"/>
              <a:chOff x="3504" y="2160"/>
              <a:chExt cx="336" cy="185"/>
            </a:xfrm>
          </p:grpSpPr>
          <p:sp>
            <p:nvSpPr>
              <p:cNvPr id="89148" name="Text Box 131"/>
              <p:cNvSpPr txBox="1"/>
              <p:nvPr/>
            </p:nvSpPr>
            <p:spPr>
              <a:xfrm>
                <a:off x="3504" y="2160"/>
                <a:ext cx="336" cy="185"/>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S</a:t>
                </a:r>
                <a:r>
                  <a:rPr lang="en-US" altLang="zh-CN" sz="1600" baseline="-25000" dirty="0">
                    <a:solidFill>
                      <a:schemeClr val="tx1"/>
                    </a:solidFill>
                    <a:latin typeface="Times New Roman" panose="02020603050405020304" pitchFamily="18" charset="0"/>
                  </a:rPr>
                  <a:t>D</a:t>
                </a:r>
                <a:endParaRPr lang="en-US" altLang="zh-CN" sz="1600" dirty="0">
                  <a:solidFill>
                    <a:schemeClr val="tx1"/>
                  </a:solidFill>
                  <a:latin typeface="Times New Roman" panose="02020603050405020304" pitchFamily="18" charset="0"/>
                </a:endParaRPr>
              </a:p>
            </p:txBody>
          </p:sp>
          <p:sp>
            <p:nvSpPr>
              <p:cNvPr id="89149" name="Line 132"/>
              <p:cNvSpPr/>
              <p:nvPr/>
            </p:nvSpPr>
            <p:spPr>
              <a:xfrm>
                <a:off x="3545" y="2199"/>
                <a:ext cx="87" cy="0"/>
              </a:xfrm>
              <a:prstGeom prst="line">
                <a:avLst/>
              </a:prstGeom>
              <a:ln w="9525" cap="flat" cmpd="sng">
                <a:solidFill>
                  <a:schemeClr val="tx1"/>
                </a:solidFill>
                <a:prstDash val="solid"/>
                <a:headEnd type="none" w="med" len="med"/>
                <a:tailEnd type="none" w="med" len="med"/>
              </a:ln>
            </p:spPr>
          </p:sp>
        </p:grpSp>
        <p:grpSp>
          <p:nvGrpSpPr>
            <p:cNvPr id="89117" name="Group 133"/>
            <p:cNvGrpSpPr/>
            <p:nvPr/>
          </p:nvGrpSpPr>
          <p:grpSpPr>
            <a:xfrm>
              <a:off x="1450" y="2549"/>
              <a:ext cx="432" cy="212"/>
              <a:chOff x="3504" y="2160"/>
              <a:chExt cx="336" cy="185"/>
            </a:xfrm>
          </p:grpSpPr>
          <p:sp>
            <p:nvSpPr>
              <p:cNvPr id="89146" name="Text Box 134"/>
              <p:cNvSpPr txBox="1"/>
              <p:nvPr/>
            </p:nvSpPr>
            <p:spPr>
              <a:xfrm>
                <a:off x="3504" y="2160"/>
                <a:ext cx="336" cy="185"/>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R</a:t>
                </a:r>
                <a:r>
                  <a:rPr lang="en-US" altLang="zh-CN" sz="1600" baseline="-25000" dirty="0">
                    <a:solidFill>
                      <a:schemeClr val="tx1"/>
                    </a:solidFill>
                    <a:latin typeface="Times New Roman" panose="02020603050405020304" pitchFamily="18" charset="0"/>
                  </a:rPr>
                  <a:t>D</a:t>
                </a:r>
                <a:endParaRPr lang="en-US" altLang="zh-CN" sz="1600" dirty="0">
                  <a:solidFill>
                    <a:schemeClr val="tx1"/>
                  </a:solidFill>
                  <a:latin typeface="Times New Roman" panose="02020603050405020304" pitchFamily="18" charset="0"/>
                </a:endParaRPr>
              </a:p>
            </p:txBody>
          </p:sp>
          <p:sp>
            <p:nvSpPr>
              <p:cNvPr id="89147" name="Line 135"/>
              <p:cNvSpPr/>
              <p:nvPr/>
            </p:nvSpPr>
            <p:spPr>
              <a:xfrm>
                <a:off x="3540" y="2199"/>
                <a:ext cx="87" cy="0"/>
              </a:xfrm>
              <a:prstGeom prst="line">
                <a:avLst/>
              </a:prstGeom>
              <a:ln w="9525" cap="flat" cmpd="sng">
                <a:solidFill>
                  <a:schemeClr val="tx1"/>
                </a:solidFill>
                <a:prstDash val="solid"/>
                <a:headEnd type="none" w="med" len="med"/>
                <a:tailEnd type="none" w="med" len="med"/>
              </a:ln>
            </p:spPr>
          </p:sp>
        </p:grpSp>
        <p:grpSp>
          <p:nvGrpSpPr>
            <p:cNvPr id="89118" name="Group 136"/>
            <p:cNvGrpSpPr/>
            <p:nvPr/>
          </p:nvGrpSpPr>
          <p:grpSpPr>
            <a:xfrm>
              <a:off x="463" y="2801"/>
              <a:ext cx="493" cy="276"/>
              <a:chOff x="3504" y="1584"/>
              <a:chExt cx="384" cy="240"/>
            </a:xfrm>
          </p:grpSpPr>
          <p:grpSp>
            <p:nvGrpSpPr>
              <p:cNvPr id="89142" name="Group 137"/>
              <p:cNvGrpSpPr/>
              <p:nvPr/>
            </p:nvGrpSpPr>
            <p:grpSpPr>
              <a:xfrm>
                <a:off x="3504" y="1584"/>
                <a:ext cx="384" cy="240"/>
                <a:chOff x="3504" y="1584"/>
                <a:chExt cx="384" cy="240"/>
              </a:xfrm>
            </p:grpSpPr>
            <p:sp>
              <p:nvSpPr>
                <p:cNvPr id="89144" name="Rectangle 138"/>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45" name="Oval 139"/>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89143" name="Text Box 140"/>
              <p:cNvSpPr txBox="1"/>
              <p:nvPr/>
            </p:nvSpPr>
            <p:spPr>
              <a:xfrm>
                <a:off x="3561" y="1632"/>
                <a:ext cx="288" cy="185"/>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grpSp>
          <p:nvGrpSpPr>
            <p:cNvPr id="89119" name="Group 141"/>
            <p:cNvGrpSpPr/>
            <p:nvPr/>
          </p:nvGrpSpPr>
          <p:grpSpPr>
            <a:xfrm>
              <a:off x="1203" y="2814"/>
              <a:ext cx="494" cy="276"/>
              <a:chOff x="3504" y="1584"/>
              <a:chExt cx="384" cy="240"/>
            </a:xfrm>
          </p:grpSpPr>
          <p:grpSp>
            <p:nvGrpSpPr>
              <p:cNvPr id="89138" name="Group 142"/>
              <p:cNvGrpSpPr/>
              <p:nvPr/>
            </p:nvGrpSpPr>
            <p:grpSpPr>
              <a:xfrm>
                <a:off x="3504" y="1584"/>
                <a:ext cx="384" cy="240"/>
                <a:chOff x="3504" y="1584"/>
                <a:chExt cx="384" cy="240"/>
              </a:xfrm>
            </p:grpSpPr>
            <p:sp>
              <p:nvSpPr>
                <p:cNvPr id="89140" name="Rectangle 143"/>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41" name="Oval 144"/>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89139" name="Text Box 145"/>
              <p:cNvSpPr txBox="1"/>
              <p:nvPr/>
            </p:nvSpPr>
            <p:spPr>
              <a:xfrm>
                <a:off x="3561" y="1632"/>
                <a:ext cx="288" cy="185"/>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sp>
          <p:nvSpPr>
            <p:cNvPr id="89120" name="Line 146"/>
            <p:cNvSpPr/>
            <p:nvPr/>
          </p:nvSpPr>
          <p:spPr>
            <a:xfrm flipV="1">
              <a:off x="710" y="2549"/>
              <a:ext cx="0" cy="275"/>
            </a:xfrm>
            <a:prstGeom prst="line">
              <a:avLst/>
            </a:prstGeom>
            <a:ln w="9525" cap="flat" cmpd="sng">
              <a:solidFill>
                <a:schemeClr val="tx1"/>
              </a:solidFill>
              <a:prstDash val="solid"/>
              <a:headEnd type="none" w="med" len="med"/>
              <a:tailEnd type="none" w="med" len="med"/>
            </a:ln>
          </p:spPr>
        </p:sp>
        <p:sp>
          <p:nvSpPr>
            <p:cNvPr id="89121" name="Line 147"/>
            <p:cNvSpPr/>
            <p:nvPr/>
          </p:nvSpPr>
          <p:spPr>
            <a:xfrm flipV="1">
              <a:off x="1450" y="2549"/>
              <a:ext cx="0" cy="275"/>
            </a:xfrm>
            <a:prstGeom prst="line">
              <a:avLst/>
            </a:prstGeom>
            <a:ln w="9525" cap="flat" cmpd="sng">
              <a:solidFill>
                <a:schemeClr val="tx1"/>
              </a:solidFill>
              <a:prstDash val="solid"/>
              <a:headEnd type="none" w="med" len="med"/>
              <a:tailEnd type="none" w="med" len="med"/>
            </a:ln>
          </p:spPr>
        </p:sp>
        <p:sp>
          <p:nvSpPr>
            <p:cNvPr id="89122" name="Line 148"/>
            <p:cNvSpPr/>
            <p:nvPr/>
          </p:nvSpPr>
          <p:spPr>
            <a:xfrm>
              <a:off x="1080" y="3265"/>
              <a:ext cx="0" cy="220"/>
            </a:xfrm>
            <a:prstGeom prst="line">
              <a:avLst/>
            </a:prstGeom>
            <a:ln w="9525" cap="flat" cmpd="sng">
              <a:solidFill>
                <a:schemeClr val="tx1"/>
              </a:solidFill>
              <a:prstDash val="solid"/>
              <a:headEnd type="none" w="med" len="med"/>
              <a:tailEnd type="none" w="med" len="med"/>
            </a:ln>
          </p:spPr>
        </p:sp>
        <p:sp>
          <p:nvSpPr>
            <p:cNvPr id="89123" name="Line 149"/>
            <p:cNvSpPr/>
            <p:nvPr/>
          </p:nvSpPr>
          <p:spPr>
            <a:xfrm>
              <a:off x="586" y="3079"/>
              <a:ext cx="0" cy="396"/>
            </a:xfrm>
            <a:prstGeom prst="line">
              <a:avLst/>
            </a:prstGeom>
            <a:ln w="9525" cap="flat" cmpd="sng">
              <a:solidFill>
                <a:schemeClr val="tx1"/>
              </a:solidFill>
              <a:prstDash val="solid"/>
              <a:headEnd type="none" w="med" len="med"/>
              <a:tailEnd type="none" w="med" len="med"/>
            </a:ln>
          </p:spPr>
        </p:sp>
        <p:sp>
          <p:nvSpPr>
            <p:cNvPr id="89124" name="Oval 150"/>
            <p:cNvSpPr/>
            <p:nvPr/>
          </p:nvSpPr>
          <p:spPr>
            <a:xfrm>
              <a:off x="1045" y="3231"/>
              <a:ext cx="62" cy="55"/>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25" name="Text Box 151"/>
            <p:cNvSpPr txBox="1"/>
            <p:nvPr/>
          </p:nvSpPr>
          <p:spPr>
            <a:xfrm>
              <a:off x="476" y="3498"/>
              <a:ext cx="308" cy="212"/>
            </a:xfrm>
            <a:prstGeom prst="rect">
              <a:avLst/>
            </a:prstGeom>
            <a:noFill/>
            <a:ln w="9525">
              <a:noFill/>
            </a:ln>
          </p:spPr>
          <p:txBody>
            <a:bodyPr>
              <a:spAutoFit/>
            </a:bodyPr>
            <a:lstStyle/>
            <a:p>
              <a:pPr algn="just">
                <a:spcBef>
                  <a:spcPct val="50000"/>
                </a:spcBef>
              </a:pPr>
              <a:r>
                <a:rPr lang="en-US" altLang="zh-CN" sz="1600" dirty="0">
                  <a:solidFill>
                    <a:srgbClr val="CC3300"/>
                  </a:solidFill>
                  <a:latin typeface="Times New Roman" panose="02020603050405020304" pitchFamily="18" charset="0"/>
                </a:rPr>
                <a:t>D</a:t>
              </a:r>
            </a:p>
          </p:txBody>
        </p:sp>
        <p:sp>
          <p:nvSpPr>
            <p:cNvPr id="89126" name="Text Box 152"/>
            <p:cNvSpPr txBox="1"/>
            <p:nvPr/>
          </p:nvSpPr>
          <p:spPr>
            <a:xfrm>
              <a:off x="952" y="3518"/>
              <a:ext cx="432"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CP</a:t>
              </a:r>
            </a:p>
          </p:txBody>
        </p:sp>
        <p:sp>
          <p:nvSpPr>
            <p:cNvPr id="89127" name="Line 158"/>
            <p:cNvSpPr/>
            <p:nvPr/>
          </p:nvSpPr>
          <p:spPr>
            <a:xfrm>
              <a:off x="833" y="3079"/>
              <a:ext cx="0" cy="186"/>
            </a:xfrm>
            <a:prstGeom prst="line">
              <a:avLst/>
            </a:prstGeom>
            <a:ln w="9525" cap="flat" cmpd="sng">
              <a:solidFill>
                <a:schemeClr val="tx1"/>
              </a:solidFill>
              <a:prstDash val="solid"/>
              <a:headEnd type="none" w="med" len="med"/>
              <a:tailEnd type="none" w="med" len="med"/>
            </a:ln>
          </p:spPr>
        </p:sp>
        <p:sp>
          <p:nvSpPr>
            <p:cNvPr id="89128" name="Line 159"/>
            <p:cNvSpPr/>
            <p:nvPr/>
          </p:nvSpPr>
          <p:spPr>
            <a:xfrm>
              <a:off x="833" y="3265"/>
              <a:ext cx="504" cy="0"/>
            </a:xfrm>
            <a:prstGeom prst="line">
              <a:avLst/>
            </a:prstGeom>
            <a:ln w="9525" cap="flat" cmpd="sng">
              <a:solidFill>
                <a:schemeClr val="tx1"/>
              </a:solidFill>
              <a:prstDash val="solid"/>
              <a:headEnd type="none" w="med" len="med"/>
              <a:tailEnd type="none" w="med" len="med"/>
            </a:ln>
          </p:spPr>
        </p:sp>
        <p:sp>
          <p:nvSpPr>
            <p:cNvPr id="89129" name="Line 160"/>
            <p:cNvSpPr/>
            <p:nvPr/>
          </p:nvSpPr>
          <p:spPr>
            <a:xfrm flipV="1">
              <a:off x="1337" y="3100"/>
              <a:ext cx="0" cy="165"/>
            </a:xfrm>
            <a:prstGeom prst="line">
              <a:avLst/>
            </a:prstGeom>
            <a:ln w="9525" cap="flat" cmpd="sng">
              <a:solidFill>
                <a:schemeClr val="tx1"/>
              </a:solidFill>
              <a:prstDash val="solid"/>
              <a:headEnd type="none" w="med" len="med"/>
              <a:tailEnd type="none" w="med" len="med"/>
            </a:ln>
          </p:spPr>
        </p:sp>
        <p:sp>
          <p:nvSpPr>
            <p:cNvPr id="89130" name="Line 138"/>
            <p:cNvSpPr/>
            <p:nvPr/>
          </p:nvSpPr>
          <p:spPr>
            <a:xfrm>
              <a:off x="586" y="3367"/>
              <a:ext cx="774" cy="0"/>
            </a:xfrm>
            <a:prstGeom prst="line">
              <a:avLst/>
            </a:prstGeom>
            <a:ln w="12700" cap="flat" cmpd="sng">
              <a:solidFill>
                <a:srgbClr val="FF0066"/>
              </a:solidFill>
              <a:prstDash val="solid"/>
              <a:headEnd type="none" w="med" len="med"/>
              <a:tailEnd type="none" w="med" len="med"/>
            </a:ln>
          </p:spPr>
        </p:sp>
        <p:sp>
          <p:nvSpPr>
            <p:cNvPr id="89131" name="Rectangle 139"/>
            <p:cNvSpPr/>
            <p:nvPr/>
          </p:nvSpPr>
          <p:spPr>
            <a:xfrm>
              <a:off x="1371" y="3262"/>
              <a:ext cx="179" cy="197"/>
            </a:xfrm>
            <a:prstGeom prst="rect">
              <a:avLst/>
            </a:prstGeom>
            <a:solidFill>
              <a:srgbClr val="FFFFFF"/>
            </a:solidFill>
            <a:ln w="12700" cap="flat" cmpd="sng">
              <a:solidFill>
                <a:srgbClr val="FF0066"/>
              </a:solidFill>
              <a:prstDash val="solid"/>
              <a:miter/>
              <a:headEnd type="none" w="med" len="med"/>
              <a:tailEnd type="none" w="med" len="med"/>
            </a:ln>
          </p:spPr>
          <p:txBody>
            <a:bodyPr wrap="none" anchor="ctr" anchorCtr="0">
              <a:spAutoFit/>
            </a:bodyPr>
            <a:lstStyle/>
            <a:p>
              <a:pPr algn="ctr" eaLnBrk="1" hangingPunct="1">
                <a:lnSpc>
                  <a:spcPct val="90000"/>
                </a:lnSpc>
                <a:spcBef>
                  <a:spcPct val="50000"/>
                </a:spcBef>
              </a:pPr>
              <a:r>
                <a:rPr lang="en-US" altLang="zh-CN" sz="1600" b="0" dirty="0">
                  <a:solidFill>
                    <a:schemeClr val="tx1"/>
                  </a:solidFill>
                  <a:latin typeface="宋体" panose="02010600030101010101" pitchFamily="2" charset="-122"/>
                </a:rPr>
                <a:t>1</a:t>
              </a:r>
            </a:p>
          </p:txBody>
        </p:sp>
        <p:sp>
          <p:nvSpPr>
            <p:cNvPr id="89132" name="Oval 124"/>
            <p:cNvSpPr/>
            <p:nvPr/>
          </p:nvSpPr>
          <p:spPr>
            <a:xfrm>
              <a:off x="1525" y="3336"/>
              <a:ext cx="62" cy="56"/>
            </a:xfrm>
            <a:prstGeom prst="ellipse">
              <a:avLst/>
            </a:prstGeom>
            <a:solidFill>
              <a:srgbClr val="FFFFFF"/>
            </a:solidFill>
            <a:ln w="9525" cap="flat" cmpd="sng">
              <a:solidFill>
                <a:srgbClr val="FF0066"/>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89133" name="Line 142"/>
            <p:cNvSpPr/>
            <p:nvPr/>
          </p:nvSpPr>
          <p:spPr>
            <a:xfrm>
              <a:off x="1587" y="3367"/>
              <a:ext cx="60" cy="0"/>
            </a:xfrm>
            <a:prstGeom prst="line">
              <a:avLst/>
            </a:prstGeom>
            <a:ln w="12700" cap="flat" cmpd="sng">
              <a:solidFill>
                <a:srgbClr val="FF0066"/>
              </a:solidFill>
              <a:prstDash val="solid"/>
              <a:headEnd type="none" w="med" len="med"/>
              <a:tailEnd type="none" w="med" len="med"/>
            </a:ln>
          </p:spPr>
        </p:sp>
        <p:sp>
          <p:nvSpPr>
            <p:cNvPr id="89134" name="Line 143"/>
            <p:cNvSpPr/>
            <p:nvPr/>
          </p:nvSpPr>
          <p:spPr>
            <a:xfrm>
              <a:off x="1655" y="3090"/>
              <a:ext cx="0" cy="277"/>
            </a:xfrm>
            <a:prstGeom prst="line">
              <a:avLst/>
            </a:prstGeom>
            <a:ln w="12700" cap="flat" cmpd="sng">
              <a:solidFill>
                <a:srgbClr val="FF0066"/>
              </a:solidFill>
              <a:prstDash val="solid"/>
              <a:headEnd type="none" w="med" len="med"/>
              <a:tailEnd type="none" w="med" len="med"/>
            </a:ln>
          </p:spPr>
        </p:sp>
        <p:sp>
          <p:nvSpPr>
            <p:cNvPr id="89135" name="Text Box 131"/>
            <p:cNvSpPr txBox="1"/>
            <p:nvPr/>
          </p:nvSpPr>
          <p:spPr>
            <a:xfrm>
              <a:off x="399" y="3133"/>
              <a:ext cx="281" cy="212"/>
            </a:xfrm>
            <a:prstGeom prst="rect">
              <a:avLst/>
            </a:prstGeom>
            <a:noFill/>
            <a:ln w="9525">
              <a:noFill/>
            </a:ln>
          </p:spPr>
          <p:txBody>
            <a:bodyPr>
              <a:spAutoFit/>
            </a:bodyPr>
            <a:lstStyle/>
            <a:p>
              <a:pPr algn="just">
                <a:spcBef>
                  <a:spcPct val="50000"/>
                </a:spcBef>
              </a:pPr>
              <a:r>
                <a:rPr lang="en-US" altLang="zh-CN" sz="1600" dirty="0">
                  <a:solidFill>
                    <a:srgbClr val="CC3300"/>
                  </a:solidFill>
                  <a:latin typeface="Times New Roman" panose="02020603050405020304" pitchFamily="18" charset="0"/>
                </a:rPr>
                <a:t>S</a:t>
              </a:r>
            </a:p>
          </p:txBody>
        </p:sp>
        <p:sp>
          <p:nvSpPr>
            <p:cNvPr id="89136" name="Text Box 131"/>
            <p:cNvSpPr txBox="1"/>
            <p:nvPr/>
          </p:nvSpPr>
          <p:spPr>
            <a:xfrm>
              <a:off x="1703" y="3100"/>
              <a:ext cx="358" cy="212"/>
            </a:xfrm>
            <a:prstGeom prst="rect">
              <a:avLst/>
            </a:prstGeom>
            <a:noFill/>
            <a:ln w="9525">
              <a:noFill/>
            </a:ln>
          </p:spPr>
          <p:txBody>
            <a:bodyPr>
              <a:spAutoFit/>
            </a:bodyPr>
            <a:lstStyle/>
            <a:p>
              <a:pPr algn="just">
                <a:spcBef>
                  <a:spcPct val="50000"/>
                </a:spcBef>
              </a:pPr>
              <a:r>
                <a:rPr lang="en-US" altLang="zh-CN" sz="1600" dirty="0">
                  <a:solidFill>
                    <a:srgbClr val="CC3300"/>
                  </a:solidFill>
                  <a:latin typeface="Times New Roman" panose="02020603050405020304" pitchFamily="18" charset="0"/>
                </a:rPr>
                <a:t>R</a:t>
              </a:r>
            </a:p>
          </p:txBody>
        </p:sp>
        <p:sp>
          <p:nvSpPr>
            <p:cNvPr id="89137" name="Oval 150"/>
            <p:cNvSpPr/>
            <p:nvPr/>
          </p:nvSpPr>
          <p:spPr>
            <a:xfrm>
              <a:off x="567" y="3344"/>
              <a:ext cx="62" cy="55"/>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grpSp>
        <p:nvGrpSpPr>
          <p:cNvPr id="16" name="组合 96"/>
          <p:cNvGrpSpPr/>
          <p:nvPr/>
        </p:nvGrpSpPr>
        <p:grpSpPr>
          <a:xfrm>
            <a:off x="5199063" y="4616450"/>
            <a:ext cx="5468937" cy="368300"/>
            <a:chOff x="3296118" y="2819955"/>
            <a:chExt cx="5468938" cy="368063"/>
          </a:xfrm>
        </p:grpSpPr>
        <p:sp>
          <p:nvSpPr>
            <p:cNvPr id="89097" name="Text Box 44"/>
            <p:cNvSpPr txBox="1"/>
            <p:nvPr/>
          </p:nvSpPr>
          <p:spPr>
            <a:xfrm>
              <a:off x="3296118" y="2819955"/>
              <a:ext cx="5468938" cy="368063"/>
            </a:xfrm>
            <a:prstGeom prst="rect">
              <a:avLst/>
            </a:prstGeom>
            <a:noFill/>
            <a:ln w="38100">
              <a:noFill/>
            </a:ln>
          </p:spPr>
          <p:txBody>
            <a:bodyPr>
              <a:spAutoFit/>
            </a:bodyPr>
            <a:lstStyle/>
            <a:p>
              <a:pPr eaLnBrk="1" hangingPunct="1">
                <a:spcBef>
                  <a:spcPct val="50000"/>
                </a:spcBef>
                <a:buClr>
                  <a:srgbClr val="0F5C62"/>
                </a:buClr>
                <a:buSzPct val="80000"/>
                <a:buFont typeface="Wingdings" panose="05000000000000000000" pitchFamily="2" charset="2"/>
                <a:buChar char="u"/>
              </a:pPr>
              <a:r>
                <a:rPr lang="en-US" altLang="zh-CN" dirty="0">
                  <a:solidFill>
                    <a:schemeClr val="tx1"/>
                  </a:solidFill>
                  <a:latin typeface="Times New Roman" panose="02020603050405020304" pitchFamily="18" charset="0"/>
                </a:rPr>
                <a:t>CP</a:t>
              </a:r>
              <a:r>
                <a:rPr lang="zh-CN" altLang="en-US" dirty="0">
                  <a:solidFill>
                    <a:schemeClr val="tx1"/>
                  </a:solidFill>
                  <a:latin typeface="Times New Roman" panose="02020603050405020304" pitchFamily="18" charset="0"/>
                </a:rPr>
                <a:t>＝</a:t>
              </a:r>
              <a:r>
                <a:rPr lang="en-US" altLang="zh-CN" dirty="0">
                  <a:solidFill>
                    <a:schemeClr val="tx1"/>
                  </a:solidFill>
                  <a:latin typeface="Times New Roman" panose="02020603050405020304" pitchFamily="18" charset="0"/>
                </a:rPr>
                <a:t>0</a:t>
              </a:r>
              <a:r>
                <a:rPr lang="zh-CN" altLang="en-US" dirty="0">
                  <a:solidFill>
                    <a:schemeClr val="tx1"/>
                  </a:solidFill>
                  <a:latin typeface="Times New Roman" panose="02020603050405020304" pitchFamily="18" charset="0"/>
                </a:rPr>
                <a:t>，</a:t>
              </a:r>
              <a:r>
                <a:rPr lang="en-US" altLang="zh-CN" dirty="0">
                  <a:solidFill>
                    <a:schemeClr val="tx1"/>
                  </a:solidFill>
                  <a:latin typeface="Times New Roman" panose="02020603050405020304" pitchFamily="18" charset="0"/>
                </a:rPr>
                <a:t>S</a:t>
              </a:r>
              <a:r>
                <a:rPr lang="en-US" altLang="zh-CN" baseline="-25000" dirty="0">
                  <a:solidFill>
                    <a:schemeClr val="tx1"/>
                  </a:solidFill>
                  <a:latin typeface="Times New Roman" panose="02020603050405020304" pitchFamily="18" charset="0"/>
                </a:rPr>
                <a:t>D</a:t>
              </a:r>
              <a:r>
                <a:rPr lang="en-US" altLang="zh-CN" dirty="0">
                  <a:solidFill>
                    <a:schemeClr val="tx1"/>
                  </a:solidFill>
                  <a:latin typeface="Times New Roman" panose="02020603050405020304" pitchFamily="18" charset="0"/>
                </a:rPr>
                <a:t>=R</a:t>
              </a:r>
              <a:r>
                <a:rPr lang="en-US" altLang="zh-CN" baseline="-25000" dirty="0">
                  <a:solidFill>
                    <a:schemeClr val="tx1"/>
                  </a:solidFill>
                  <a:latin typeface="Times New Roman" panose="02020603050405020304" pitchFamily="18" charset="0"/>
                </a:rPr>
                <a:t>D</a:t>
              </a:r>
              <a:r>
                <a:rPr lang="en-US" altLang="zh-CN" dirty="0">
                  <a:solidFill>
                    <a:schemeClr val="tx1"/>
                  </a:solidFill>
                  <a:latin typeface="Times New Roman" panose="02020603050405020304" pitchFamily="18" charset="0"/>
                </a:rPr>
                <a:t>=1</a:t>
              </a:r>
              <a:r>
                <a:rPr lang="zh-CN" altLang="en-US" dirty="0">
                  <a:solidFill>
                    <a:schemeClr val="tx1"/>
                  </a:solidFill>
                  <a:latin typeface="Times New Roman" panose="02020603050405020304" pitchFamily="18" charset="0"/>
                </a:rPr>
                <a:t>，</a:t>
              </a:r>
              <a:r>
                <a:rPr lang="zh-CN" altLang="en-US" dirty="0">
                  <a:solidFill>
                    <a:srgbClr val="CC0066"/>
                  </a:solidFill>
                  <a:latin typeface="Times New Roman" panose="02020603050405020304" pitchFamily="18" charset="0"/>
                </a:rPr>
                <a:t>保持原态</a:t>
              </a:r>
              <a:r>
                <a:rPr lang="zh-CN" altLang="en-US" dirty="0">
                  <a:solidFill>
                    <a:schemeClr val="tx1"/>
                  </a:solidFill>
                  <a:latin typeface="Times New Roman" panose="02020603050405020304" pitchFamily="18" charset="0"/>
                </a:rPr>
                <a:t>。</a:t>
              </a:r>
            </a:p>
          </p:txBody>
        </p:sp>
        <p:sp>
          <p:nvSpPr>
            <p:cNvPr id="89098" name="Line 105"/>
            <p:cNvSpPr/>
            <p:nvPr/>
          </p:nvSpPr>
          <p:spPr>
            <a:xfrm>
              <a:off x="4787069" y="2888940"/>
              <a:ext cx="180975" cy="0"/>
            </a:xfrm>
            <a:prstGeom prst="line">
              <a:avLst/>
            </a:prstGeom>
            <a:ln w="12700" cap="flat" cmpd="sng">
              <a:solidFill>
                <a:schemeClr val="tx1"/>
              </a:solidFill>
              <a:prstDash val="solid"/>
              <a:headEnd type="none" w="med" len="med"/>
              <a:tailEnd type="none" w="med" len="med"/>
            </a:ln>
          </p:spPr>
        </p:sp>
        <p:sp>
          <p:nvSpPr>
            <p:cNvPr id="89099" name="Line 106"/>
            <p:cNvSpPr/>
            <p:nvPr/>
          </p:nvSpPr>
          <p:spPr>
            <a:xfrm>
              <a:off x="5291125" y="2888940"/>
              <a:ext cx="180975" cy="0"/>
            </a:xfrm>
            <a:prstGeom prst="line">
              <a:avLst/>
            </a:prstGeom>
            <a:ln w="12700" cap="flat" cmpd="sng">
              <a:solidFill>
                <a:schemeClr val="tx1"/>
              </a:solidFill>
              <a:prstDash val="solid"/>
              <a:headEnd type="none" w="med" len="med"/>
              <a:tailEnd type="none" w="med" len="med"/>
            </a:ln>
          </p:spPr>
        </p:sp>
      </p:grpSp>
      <p:sp>
        <p:nvSpPr>
          <p:cNvPr id="95" name="Text Box 45"/>
          <p:cNvSpPr txBox="1"/>
          <p:nvPr/>
        </p:nvSpPr>
        <p:spPr>
          <a:xfrm>
            <a:off x="5195888" y="5192713"/>
            <a:ext cx="5453062" cy="645160"/>
          </a:xfrm>
          <a:prstGeom prst="rect">
            <a:avLst/>
          </a:prstGeom>
          <a:noFill/>
          <a:ln w="38100">
            <a:noFill/>
          </a:ln>
        </p:spPr>
        <p:txBody>
          <a:bodyPr>
            <a:spAutoFit/>
          </a:bodyPr>
          <a:lstStyle/>
          <a:p>
            <a:pPr marL="273050" indent="-273050">
              <a:spcBef>
                <a:spcPts val="600"/>
              </a:spcBef>
              <a:buClr>
                <a:srgbClr val="0F5C62"/>
              </a:buClr>
              <a:buSzPct val="80000"/>
              <a:buFont typeface="Wingdings" panose="05000000000000000000" pitchFamily="2" charset="2"/>
              <a:buChar char="u"/>
            </a:pPr>
            <a:r>
              <a:rPr lang="zh-CN" altLang="en-US" dirty="0">
                <a:solidFill>
                  <a:schemeClr val="tx1"/>
                </a:solidFill>
                <a:latin typeface="Arial" panose="020B0604020202020204" pitchFamily="34" charset="0"/>
              </a:rPr>
              <a:t>当</a:t>
            </a:r>
            <a:r>
              <a:rPr lang="en-US" altLang="zh-CN" dirty="0">
                <a:solidFill>
                  <a:schemeClr val="tx1"/>
                </a:solidFill>
                <a:latin typeface="Times New Roman" panose="02020603050405020304" pitchFamily="18" charset="0"/>
              </a:rPr>
              <a:t>CP</a:t>
            </a:r>
            <a:r>
              <a:rPr lang="zh-CN" altLang="en-US" dirty="0">
                <a:solidFill>
                  <a:schemeClr val="tx1"/>
                </a:solidFill>
                <a:latin typeface="Times New Roman" panose="02020603050405020304" pitchFamily="18" charset="0"/>
              </a:rPr>
              <a:t>＝</a:t>
            </a:r>
            <a:r>
              <a:rPr lang="en-US" altLang="zh-CN" dirty="0">
                <a:solidFill>
                  <a:schemeClr val="tx1"/>
                </a:solidFill>
                <a:latin typeface="Times New Roman" panose="02020603050405020304" pitchFamily="18" charset="0"/>
              </a:rPr>
              <a:t>1</a:t>
            </a:r>
            <a:r>
              <a:rPr lang="zh-CN" altLang="en-US" dirty="0">
                <a:solidFill>
                  <a:schemeClr val="tx1"/>
                </a:solidFill>
                <a:latin typeface="Times New Roman" panose="02020603050405020304" pitchFamily="18" charset="0"/>
              </a:rPr>
              <a:t>时，若</a:t>
            </a:r>
            <a:r>
              <a:rPr lang="en-US" altLang="zh-CN" dirty="0">
                <a:solidFill>
                  <a:srgbClr val="CC0066"/>
                </a:solidFill>
                <a:latin typeface="Times New Roman" panose="02020603050405020304" pitchFamily="18" charset="0"/>
              </a:rPr>
              <a:t>D=0</a:t>
            </a:r>
            <a:r>
              <a:rPr lang="zh-CN" altLang="en-US" dirty="0">
                <a:solidFill>
                  <a:schemeClr val="tx1"/>
                </a:solidFill>
                <a:latin typeface="Times New Roman" panose="02020603050405020304" pitchFamily="18" charset="0"/>
              </a:rPr>
              <a:t>，相当于</a:t>
            </a:r>
            <a:r>
              <a:rPr lang="en-US" altLang="zh-CN" dirty="0">
                <a:solidFill>
                  <a:schemeClr val="tx1"/>
                </a:solidFill>
                <a:latin typeface="Times New Roman" panose="02020603050405020304" pitchFamily="18" charset="0"/>
              </a:rPr>
              <a:t>S=0</a:t>
            </a:r>
            <a:r>
              <a:rPr lang="zh-CN" altLang="en-US" dirty="0">
                <a:solidFill>
                  <a:schemeClr val="tx1"/>
                </a:solidFill>
                <a:latin typeface="Times New Roman" panose="02020603050405020304" pitchFamily="18" charset="0"/>
              </a:rPr>
              <a:t>，</a:t>
            </a:r>
            <a:r>
              <a:rPr lang="en-US" altLang="zh-CN" dirty="0">
                <a:solidFill>
                  <a:schemeClr val="tx1"/>
                </a:solidFill>
                <a:latin typeface="Times New Roman" panose="02020603050405020304" pitchFamily="18" charset="0"/>
              </a:rPr>
              <a:t>R=1</a:t>
            </a:r>
            <a:r>
              <a:rPr lang="zh-CN" altLang="en-US" dirty="0">
                <a:solidFill>
                  <a:schemeClr val="tx1"/>
                </a:solidFill>
                <a:latin typeface="Times New Roman" panose="02020603050405020304" pitchFamily="18" charset="0"/>
              </a:rPr>
              <a:t>，触发器</a:t>
            </a:r>
            <a:r>
              <a:rPr lang="zh-CN" altLang="en-US" dirty="0">
                <a:solidFill>
                  <a:srgbClr val="CC0066"/>
                </a:solidFill>
                <a:latin typeface="Times New Roman" panose="02020603050405020304" pitchFamily="18" charset="0"/>
              </a:rPr>
              <a:t>置“</a:t>
            </a:r>
            <a:r>
              <a:rPr lang="en-US" altLang="zh-CN" dirty="0">
                <a:solidFill>
                  <a:srgbClr val="CC0066"/>
                </a:solidFill>
                <a:latin typeface="Times New Roman" panose="02020603050405020304" pitchFamily="18" charset="0"/>
              </a:rPr>
              <a:t>0”</a:t>
            </a:r>
            <a:r>
              <a:rPr lang="zh-CN" altLang="en-US" dirty="0">
                <a:solidFill>
                  <a:schemeClr val="tx1"/>
                </a:solidFill>
                <a:latin typeface="Times New Roman" panose="02020603050405020304" pitchFamily="18" charset="0"/>
              </a:rPr>
              <a:t>；</a:t>
            </a:r>
            <a:r>
              <a:rPr lang="zh-CN" altLang="en-US" dirty="0">
                <a:solidFill>
                  <a:schemeClr val="tx1"/>
                </a:solidFill>
                <a:latin typeface="Arial" panose="020B0604020202020204" pitchFamily="34" charset="0"/>
              </a:rPr>
              <a:t>若</a:t>
            </a:r>
            <a:r>
              <a:rPr lang="en-US" altLang="zh-CN" dirty="0">
                <a:solidFill>
                  <a:srgbClr val="CC0066"/>
                </a:solidFill>
                <a:latin typeface="Times New Roman" panose="02020603050405020304" pitchFamily="18" charset="0"/>
              </a:rPr>
              <a:t>D=1</a:t>
            </a:r>
            <a:r>
              <a:rPr lang="zh-CN" altLang="en-US" dirty="0">
                <a:solidFill>
                  <a:schemeClr val="tx1"/>
                </a:solidFill>
                <a:latin typeface="Arial" panose="020B0604020202020204" pitchFamily="34" charset="0"/>
              </a:rPr>
              <a:t>，相当于</a:t>
            </a:r>
            <a:r>
              <a:rPr lang="en-US" altLang="zh-CN" dirty="0">
                <a:solidFill>
                  <a:schemeClr val="tx1"/>
                </a:solidFill>
                <a:latin typeface="Arial" panose="020B0604020202020204" pitchFamily="34" charset="0"/>
              </a:rPr>
              <a:t>S=1</a:t>
            </a:r>
            <a:r>
              <a:rPr lang="zh-CN" altLang="en-US" dirty="0">
                <a:solidFill>
                  <a:schemeClr val="tx1"/>
                </a:solidFill>
                <a:latin typeface="Arial" panose="020B0604020202020204" pitchFamily="34" charset="0"/>
              </a:rPr>
              <a:t>，</a:t>
            </a:r>
            <a:r>
              <a:rPr lang="en-US" altLang="zh-CN" dirty="0">
                <a:solidFill>
                  <a:schemeClr val="tx1"/>
                </a:solidFill>
                <a:latin typeface="Arial" panose="020B0604020202020204" pitchFamily="34" charset="0"/>
              </a:rPr>
              <a:t>R=0</a:t>
            </a:r>
            <a:r>
              <a:rPr lang="zh-CN" altLang="en-US" dirty="0">
                <a:solidFill>
                  <a:schemeClr val="tx1"/>
                </a:solidFill>
                <a:latin typeface="Arial" panose="020B0604020202020204" pitchFamily="34" charset="0"/>
              </a:rPr>
              <a:t>，触发器</a:t>
            </a:r>
            <a:r>
              <a:rPr lang="zh-CN" altLang="en-US" dirty="0">
                <a:solidFill>
                  <a:srgbClr val="CC0066"/>
                </a:solidFill>
                <a:latin typeface="Arial" panose="020B0604020202020204" pitchFamily="34" charset="0"/>
              </a:rPr>
              <a:t>置“</a:t>
            </a:r>
            <a:r>
              <a:rPr lang="en-US" altLang="zh-CN" dirty="0">
                <a:solidFill>
                  <a:srgbClr val="CC0066"/>
                </a:solidFill>
                <a:latin typeface="Arial" panose="020B0604020202020204" pitchFamily="34" charset="0"/>
              </a:rPr>
              <a:t>1”</a:t>
            </a:r>
            <a:r>
              <a:rPr lang="zh-CN" altLang="en-US" dirty="0">
                <a:solidFill>
                  <a:schemeClr val="tx1"/>
                </a:solidFill>
                <a:latin typeface="Times New Roman" panose="02020603050405020304" pitchFamily="18" charset="0"/>
              </a:rPr>
              <a:t> 。</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79875"/>
                                        </p:tgtEl>
                                        <p:attrNameLst>
                                          <p:attrName>style.visibility</p:attrName>
                                        </p:attrNameLst>
                                      </p:cBhvr>
                                      <p:to>
                                        <p:strVal val="visible"/>
                                      </p:to>
                                    </p:set>
                                    <p:anim calcmode="lin" valueType="num">
                                      <p:cBhvr additive="base">
                                        <p:cTn id="7" dur="500" fill="hold"/>
                                        <p:tgtEl>
                                          <p:spTgt spid="79875"/>
                                        </p:tgtEl>
                                        <p:attrNameLst>
                                          <p:attrName>ppt_x</p:attrName>
                                        </p:attrNameLst>
                                      </p:cBhvr>
                                      <p:tavLst>
                                        <p:tav tm="0">
                                          <p:val>
                                            <p:strVal val="0-#ppt_w/2"/>
                                          </p:val>
                                        </p:tav>
                                        <p:tav tm="100000">
                                          <p:val>
                                            <p:strVal val="#ppt_x"/>
                                          </p:val>
                                        </p:tav>
                                      </p:tavLst>
                                    </p:anim>
                                    <p:anim calcmode="lin" valueType="num">
                                      <p:cBhvr additive="base">
                                        <p:cTn id="8" dur="500" fill="hold"/>
                                        <p:tgtEl>
                                          <p:spTgt spid="7987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1+#ppt_w/2"/>
                                          </p:val>
                                        </p:tav>
                                        <p:tav tm="100000">
                                          <p:val>
                                            <p:strVal val="#ppt_x"/>
                                          </p:val>
                                        </p:tav>
                                      </p:tavLst>
                                    </p:anim>
                                    <p:anim calcmode="lin" valueType="num">
                                      <p:cBhvr additive="base">
                                        <p:cTn id="25"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95"/>
                                        </p:tgtEl>
                                        <p:attrNameLst>
                                          <p:attrName>style.visibility</p:attrName>
                                        </p:attrNameLst>
                                      </p:cBhvr>
                                      <p:to>
                                        <p:strVal val="visible"/>
                                      </p:to>
                                    </p:set>
                                    <p:anim calcmode="lin" valueType="num">
                                      <p:cBhvr additive="base">
                                        <p:cTn id="30" dur="500" fill="hold"/>
                                        <p:tgtEl>
                                          <p:spTgt spid="95"/>
                                        </p:tgtEl>
                                        <p:attrNameLst>
                                          <p:attrName>ppt_x</p:attrName>
                                        </p:attrNameLst>
                                      </p:cBhvr>
                                      <p:tavLst>
                                        <p:tav tm="0">
                                          <p:val>
                                            <p:strVal val="1+#ppt_w/2"/>
                                          </p:val>
                                        </p:tav>
                                        <p:tav tm="100000">
                                          <p:val>
                                            <p:strVal val="#ppt_x"/>
                                          </p:val>
                                        </p:tav>
                                      </p:tavLst>
                                    </p:anim>
                                    <p:anim calcmode="lin" valueType="num">
                                      <p:cBhvr additive="base">
                                        <p:cTn id="31" dur="500" fill="hold"/>
                                        <p:tgtEl>
                                          <p:spTgt spid="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p:bldP spid="9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p:cNvSpPr>
          <p:nvPr>
            <p:ph type="title"/>
          </p:nvPr>
        </p:nvSpPr>
        <p:spPr>
          <a:xfrm>
            <a:off x="3178175" y="509588"/>
            <a:ext cx="6858000"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钟控</a:t>
            </a:r>
            <a:r>
              <a:rPr lang="en-US" altLang="zh-CN" dirty="0">
                <a:latin typeface="Arial" panose="020B0604020202020204" pitchFamily="34" charset="0"/>
                <a:ea typeface="黑体" panose="02010609060101010101" pitchFamily="49" charset="-122"/>
              </a:rPr>
              <a:t>D</a:t>
            </a:r>
            <a:r>
              <a:rPr lang="zh-CN" altLang="en-US" dirty="0">
                <a:latin typeface="Arial" panose="020B0604020202020204" pitchFamily="34" charset="0"/>
                <a:ea typeface="黑体" panose="02010609060101010101" pitchFamily="49" charset="-122"/>
              </a:rPr>
              <a:t>触发器的逻辑功能表示</a:t>
            </a:r>
          </a:p>
        </p:txBody>
      </p:sp>
      <p:sp>
        <p:nvSpPr>
          <p:cNvPr id="91139" name="Rectangle 3"/>
          <p:cNvSpPr>
            <a:spLocks noGrp="1"/>
          </p:cNvSpPr>
          <p:nvPr>
            <p:ph type="body" sz="half" idx="1"/>
          </p:nvPr>
        </p:nvSpPr>
        <p:spPr>
          <a:xfrm>
            <a:off x="1889125" y="1425575"/>
            <a:ext cx="2916238" cy="1012825"/>
          </a:xfrm>
        </p:spPr>
        <p:txBody>
          <a:bodyPr vert="horz" wrap="square" lIns="91440" tIns="45720" rIns="91440" bIns="45720" anchor="t" anchorCtr="0"/>
          <a:lstStyle/>
          <a:p>
            <a:pPr marL="365125" indent="-365125">
              <a:lnSpc>
                <a:spcPct val="110000"/>
              </a:lnSpc>
              <a:buClr>
                <a:schemeClr val="hlink"/>
              </a:buClr>
              <a:buSzTx/>
              <a:buFont typeface="Wingdings" panose="05000000000000000000" pitchFamily="2" charset="2"/>
            </a:pPr>
            <a:r>
              <a:rPr lang="zh-CN" altLang="en-US" sz="2400" dirty="0">
                <a:ea typeface="宋体" panose="02010600030101010101" pitchFamily="2" charset="-122"/>
              </a:rPr>
              <a:t>电路功能</a:t>
            </a:r>
          </a:p>
          <a:p>
            <a:pPr lvl="1">
              <a:lnSpc>
                <a:spcPct val="110000"/>
              </a:lnSpc>
              <a:buClr>
                <a:schemeClr val="accent1"/>
              </a:buClr>
              <a:buFont typeface="Wingdings" panose="05000000000000000000" pitchFamily="2" charset="2"/>
            </a:pPr>
            <a:r>
              <a:rPr lang="en-US" altLang="zh-CN" dirty="0">
                <a:ea typeface="宋体" panose="02010600030101010101" pitchFamily="2" charset="-122"/>
              </a:rPr>
              <a:t>CP=0</a:t>
            </a:r>
            <a:r>
              <a:rPr lang="zh-CN" altLang="en-US" dirty="0">
                <a:ea typeface="宋体" panose="02010600030101010101" pitchFamily="2" charset="-122"/>
              </a:rPr>
              <a:t>时保持</a:t>
            </a:r>
            <a:endParaRPr lang="zh-CN" altLang="en-US" sz="1400" dirty="0">
              <a:ea typeface="宋体" panose="02010600030101010101" pitchFamily="2" charset="-122"/>
            </a:endParaRPr>
          </a:p>
        </p:txBody>
      </p:sp>
      <p:sp>
        <p:nvSpPr>
          <p:cNvPr id="91140"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41</a:t>
            </a:fld>
            <a:endParaRPr lang="ko-KR" altLang="en-US" sz="1600" dirty="0">
              <a:solidFill>
                <a:schemeClr val="accent2"/>
              </a:solidFill>
              <a:latin typeface="Verdana" panose="020B0604030504040204" pitchFamily="34" charset="0"/>
              <a:ea typeface="Gulim" panose="020B0600000101010101" pitchFamily="34" charset="-127"/>
            </a:endParaRPr>
          </a:p>
        </p:txBody>
      </p:sp>
      <p:grpSp>
        <p:nvGrpSpPr>
          <p:cNvPr id="2" name="组合 68"/>
          <p:cNvGrpSpPr/>
          <p:nvPr/>
        </p:nvGrpSpPr>
        <p:grpSpPr>
          <a:xfrm>
            <a:off x="1971675" y="2659063"/>
            <a:ext cx="2514600" cy="2425700"/>
            <a:chOff x="795338" y="3097213"/>
            <a:chExt cx="2514600" cy="2100262"/>
          </a:xfrm>
        </p:grpSpPr>
        <p:sp>
          <p:nvSpPr>
            <p:cNvPr id="91204" name="Text Box 97"/>
            <p:cNvSpPr txBox="1"/>
            <p:nvPr/>
          </p:nvSpPr>
          <p:spPr>
            <a:xfrm>
              <a:off x="795338" y="3097213"/>
              <a:ext cx="2514600" cy="345279"/>
            </a:xfrm>
            <a:prstGeom prst="rect">
              <a:avLst/>
            </a:prstGeom>
            <a:noFill/>
            <a:ln w="9525">
              <a:noFill/>
            </a:ln>
          </p:spPr>
          <p:txBody>
            <a:bodyPr>
              <a:spAutoFit/>
            </a:bodyPr>
            <a:lstStyle/>
            <a:p>
              <a:pPr algn="ctr">
                <a:spcBef>
                  <a:spcPct val="50000"/>
                </a:spcBef>
              </a:pPr>
              <a:r>
                <a:rPr lang="zh-CN" altLang="en-US" sz="2000" dirty="0">
                  <a:solidFill>
                    <a:srgbClr val="C00000"/>
                  </a:solidFill>
                  <a:latin typeface="Times New Roman" panose="02020603050405020304" pitchFamily="18" charset="0"/>
                  <a:ea typeface="楷体_GB2312" pitchFamily="49" charset="-122"/>
                </a:rPr>
                <a:t>特性表</a:t>
              </a:r>
              <a:r>
                <a:rPr lang="en-US" altLang="zh-CN" sz="2000" dirty="0">
                  <a:solidFill>
                    <a:srgbClr val="C00000"/>
                  </a:solidFill>
                  <a:latin typeface="Arial" panose="020B0604020202020204" pitchFamily="34" charset="0"/>
                </a:rPr>
                <a:t>(CP=1)</a:t>
              </a:r>
            </a:p>
          </p:txBody>
        </p:sp>
        <p:sp>
          <p:nvSpPr>
            <p:cNvPr id="91205" name="Rectangle 98"/>
            <p:cNvSpPr/>
            <p:nvPr/>
          </p:nvSpPr>
          <p:spPr>
            <a:xfrm>
              <a:off x="2243138" y="3981450"/>
              <a:ext cx="914400" cy="1216025"/>
            </a:xfrm>
            <a:prstGeom prst="rect">
              <a:avLst/>
            </a:prstGeom>
            <a:noFill/>
            <a:ln w="9525">
              <a:noFill/>
            </a:ln>
          </p:spPr>
          <p:txBody>
            <a:bodyPr/>
            <a:lstStyle/>
            <a:p>
              <a:pPr algn="ctr">
                <a:spcBef>
                  <a:spcPct val="20000"/>
                </a:spcBef>
                <a:buClr>
                  <a:schemeClr val="bg2"/>
                </a:buClr>
              </a:pPr>
              <a:r>
                <a:rPr lang="zh-CN" altLang="en-US" sz="1600" dirty="0">
                  <a:solidFill>
                    <a:schemeClr val="tx1"/>
                  </a:solidFill>
                  <a:latin typeface="Arial" panose="020B0604020202020204" pitchFamily="34" charset="0"/>
                </a:rPr>
                <a:t>置</a:t>
              </a:r>
              <a:r>
                <a:rPr lang="en-US" altLang="zh-CN" sz="1600" dirty="0">
                  <a:solidFill>
                    <a:schemeClr val="tx1"/>
                  </a:solidFill>
                  <a:latin typeface="Arial" panose="020B0604020202020204" pitchFamily="34" charset="0"/>
                </a:rPr>
                <a:t>0</a:t>
              </a:r>
            </a:p>
            <a:p>
              <a:pPr algn="ctr">
                <a:spcBef>
                  <a:spcPct val="20000"/>
                </a:spcBef>
                <a:buClr>
                  <a:schemeClr val="bg2"/>
                </a:buClr>
              </a:pPr>
              <a:endParaRPr lang="en-US" altLang="zh-CN" sz="1600" dirty="0">
                <a:solidFill>
                  <a:schemeClr val="tx1"/>
                </a:solidFill>
                <a:latin typeface="Arial" panose="020B0604020202020204" pitchFamily="34" charset="0"/>
              </a:endParaRPr>
            </a:p>
            <a:p>
              <a:pPr algn="ctr">
                <a:spcBef>
                  <a:spcPct val="20000"/>
                </a:spcBef>
                <a:buClr>
                  <a:schemeClr val="bg2"/>
                </a:buClr>
              </a:pPr>
              <a:r>
                <a:rPr lang="zh-CN" altLang="en-US" sz="1600" dirty="0">
                  <a:solidFill>
                    <a:schemeClr val="tx1"/>
                  </a:solidFill>
                  <a:latin typeface="Arial" panose="020B0604020202020204" pitchFamily="34" charset="0"/>
                </a:rPr>
                <a:t>置</a:t>
              </a:r>
              <a:r>
                <a:rPr lang="en-US" altLang="zh-CN" sz="1600" dirty="0">
                  <a:solidFill>
                    <a:schemeClr val="tx1"/>
                  </a:solidFill>
                  <a:latin typeface="Arial" panose="020B0604020202020204" pitchFamily="34" charset="0"/>
                </a:rPr>
                <a:t>1</a:t>
              </a:r>
            </a:p>
            <a:p>
              <a:pPr algn="ctr">
                <a:spcBef>
                  <a:spcPct val="20000"/>
                </a:spcBef>
                <a:buClr>
                  <a:schemeClr val="bg2"/>
                </a:buClr>
              </a:pPr>
              <a:endParaRPr lang="zh-CN" altLang="en-US" sz="1600" dirty="0">
                <a:solidFill>
                  <a:schemeClr val="tx1"/>
                </a:solidFill>
                <a:latin typeface="Arial" panose="020B0604020202020204" pitchFamily="34" charset="0"/>
              </a:endParaRPr>
            </a:p>
          </p:txBody>
        </p:sp>
        <p:sp>
          <p:nvSpPr>
            <p:cNvPr id="91206" name="Rectangle 99"/>
            <p:cNvSpPr/>
            <p:nvPr/>
          </p:nvSpPr>
          <p:spPr>
            <a:xfrm>
              <a:off x="1633538" y="3981450"/>
              <a:ext cx="609600" cy="1216025"/>
            </a:xfrm>
            <a:prstGeom prst="rect">
              <a:avLst/>
            </a:prstGeom>
            <a:noFill/>
            <a:ln w="9525">
              <a:noFill/>
            </a:ln>
          </p:spPr>
          <p:txBody>
            <a:bodyPr/>
            <a:lstStyle/>
            <a:p>
              <a:pPr algn="ctr">
                <a:spcBef>
                  <a:spcPct val="20000"/>
                </a:spcBef>
                <a:buClr>
                  <a:schemeClr val="bg2"/>
                </a:buClr>
              </a:pPr>
              <a:r>
                <a:rPr lang="en-US" altLang="zh-CN" sz="1600" dirty="0">
                  <a:solidFill>
                    <a:schemeClr val="tx1"/>
                  </a:solidFill>
                  <a:latin typeface="Arial" panose="020B0604020202020204" pitchFamily="34" charset="0"/>
                </a:rPr>
                <a:t>0</a:t>
              </a:r>
            </a:p>
            <a:p>
              <a:pPr algn="ctr">
                <a:spcBef>
                  <a:spcPct val="20000"/>
                </a:spcBef>
                <a:buClr>
                  <a:schemeClr val="bg2"/>
                </a:buClr>
              </a:pPr>
              <a:r>
                <a:rPr lang="en-US" altLang="zh-CN" sz="1600" dirty="0">
                  <a:solidFill>
                    <a:schemeClr val="tx1"/>
                  </a:solidFill>
                  <a:latin typeface="Arial" panose="020B0604020202020204" pitchFamily="34" charset="0"/>
                </a:rPr>
                <a:t>0</a:t>
              </a:r>
            </a:p>
            <a:p>
              <a:pPr algn="ctr">
                <a:spcBef>
                  <a:spcPct val="20000"/>
                </a:spcBef>
                <a:buClr>
                  <a:schemeClr val="bg2"/>
                </a:buClr>
              </a:pPr>
              <a:r>
                <a:rPr lang="en-US" altLang="zh-CN" sz="1600" dirty="0">
                  <a:solidFill>
                    <a:schemeClr val="tx1"/>
                  </a:solidFill>
                  <a:latin typeface="Arial" panose="020B0604020202020204" pitchFamily="34" charset="0"/>
                </a:rPr>
                <a:t>1</a:t>
              </a:r>
            </a:p>
            <a:p>
              <a:pPr algn="ctr">
                <a:spcBef>
                  <a:spcPct val="20000"/>
                </a:spcBef>
                <a:buClr>
                  <a:schemeClr val="bg2"/>
                </a:buClr>
              </a:pPr>
              <a:r>
                <a:rPr lang="en-US" altLang="zh-CN" sz="1600" dirty="0">
                  <a:solidFill>
                    <a:schemeClr val="tx1"/>
                  </a:solidFill>
                  <a:latin typeface="Arial" panose="020B0604020202020204" pitchFamily="34" charset="0"/>
                </a:rPr>
                <a:t>1</a:t>
              </a:r>
            </a:p>
          </p:txBody>
        </p:sp>
        <p:sp>
          <p:nvSpPr>
            <p:cNvPr id="91207" name="Rectangle 100"/>
            <p:cNvSpPr/>
            <p:nvPr/>
          </p:nvSpPr>
          <p:spPr>
            <a:xfrm>
              <a:off x="947738" y="3981450"/>
              <a:ext cx="685800" cy="1216025"/>
            </a:xfrm>
            <a:prstGeom prst="rect">
              <a:avLst/>
            </a:prstGeom>
            <a:noFill/>
            <a:ln w="9525">
              <a:noFill/>
            </a:ln>
          </p:spPr>
          <p:txBody>
            <a:bodyPr/>
            <a:lstStyle/>
            <a:p>
              <a:pPr algn="ctr">
                <a:spcBef>
                  <a:spcPct val="20000"/>
                </a:spcBef>
                <a:buClr>
                  <a:schemeClr val="bg2"/>
                </a:buClr>
              </a:pPr>
              <a:r>
                <a:rPr lang="en-US" altLang="zh-CN" sz="1600" dirty="0">
                  <a:solidFill>
                    <a:schemeClr val="tx1"/>
                  </a:solidFill>
                  <a:latin typeface="Arial" panose="020B0604020202020204" pitchFamily="34" charset="0"/>
                </a:rPr>
                <a:t>0  0</a:t>
              </a:r>
            </a:p>
            <a:p>
              <a:pPr algn="ctr">
                <a:spcBef>
                  <a:spcPct val="20000"/>
                </a:spcBef>
                <a:buClr>
                  <a:schemeClr val="bg2"/>
                </a:buClr>
              </a:pPr>
              <a:r>
                <a:rPr lang="en-US" altLang="zh-CN" sz="1600" dirty="0">
                  <a:solidFill>
                    <a:schemeClr val="tx1"/>
                  </a:solidFill>
                  <a:latin typeface="Arial" panose="020B0604020202020204" pitchFamily="34" charset="0"/>
                </a:rPr>
                <a:t>0  1</a:t>
              </a:r>
            </a:p>
            <a:p>
              <a:pPr algn="ctr">
                <a:spcBef>
                  <a:spcPct val="20000"/>
                </a:spcBef>
                <a:buClr>
                  <a:schemeClr val="bg2"/>
                </a:buClr>
              </a:pPr>
              <a:r>
                <a:rPr lang="en-US" altLang="zh-CN" sz="1600" dirty="0">
                  <a:solidFill>
                    <a:schemeClr val="tx1"/>
                  </a:solidFill>
                  <a:latin typeface="Arial" panose="020B0604020202020204" pitchFamily="34" charset="0"/>
                </a:rPr>
                <a:t>1  0</a:t>
              </a:r>
            </a:p>
            <a:p>
              <a:pPr algn="ctr">
                <a:spcBef>
                  <a:spcPct val="20000"/>
                </a:spcBef>
                <a:buClr>
                  <a:schemeClr val="bg2"/>
                </a:buClr>
              </a:pPr>
              <a:r>
                <a:rPr lang="en-US" altLang="zh-CN" sz="1600" dirty="0">
                  <a:solidFill>
                    <a:schemeClr val="tx1"/>
                  </a:solidFill>
                  <a:latin typeface="Arial" panose="020B0604020202020204" pitchFamily="34" charset="0"/>
                </a:rPr>
                <a:t>1  1</a:t>
              </a:r>
            </a:p>
          </p:txBody>
        </p:sp>
        <p:sp>
          <p:nvSpPr>
            <p:cNvPr id="91208" name="Rectangle 101"/>
            <p:cNvSpPr/>
            <p:nvPr/>
          </p:nvSpPr>
          <p:spPr>
            <a:xfrm>
              <a:off x="2243138" y="3646488"/>
              <a:ext cx="914400" cy="334962"/>
            </a:xfrm>
            <a:prstGeom prst="rect">
              <a:avLst/>
            </a:prstGeom>
            <a:noFill/>
            <a:ln w="9525">
              <a:noFill/>
            </a:ln>
          </p:spPr>
          <p:txBody>
            <a:bodyPr/>
            <a:lstStyle/>
            <a:p>
              <a:pPr algn="ctr">
                <a:spcBef>
                  <a:spcPct val="20000"/>
                </a:spcBef>
                <a:buClr>
                  <a:schemeClr val="bg2"/>
                </a:buClr>
              </a:pPr>
              <a:r>
                <a:rPr lang="zh-CN" altLang="en-US" sz="1600" dirty="0">
                  <a:solidFill>
                    <a:schemeClr val="tx1"/>
                  </a:solidFill>
                  <a:latin typeface="Arial" panose="020B0604020202020204" pitchFamily="34" charset="0"/>
                </a:rPr>
                <a:t>功能</a:t>
              </a:r>
            </a:p>
          </p:txBody>
        </p:sp>
        <p:sp>
          <p:nvSpPr>
            <p:cNvPr id="91209" name="Rectangle 102"/>
            <p:cNvSpPr/>
            <p:nvPr/>
          </p:nvSpPr>
          <p:spPr>
            <a:xfrm>
              <a:off x="1633538" y="3646488"/>
              <a:ext cx="609600" cy="334962"/>
            </a:xfrm>
            <a:prstGeom prst="rect">
              <a:avLst/>
            </a:prstGeom>
            <a:noFill/>
            <a:ln w="9525">
              <a:noFill/>
            </a:ln>
          </p:spPr>
          <p:txBody>
            <a:bodyPr/>
            <a:lstStyle/>
            <a:p>
              <a:pPr algn="ctr">
                <a:spcBef>
                  <a:spcPct val="20000"/>
                </a:spcBef>
                <a:buClr>
                  <a:schemeClr val="bg2"/>
                </a:buClr>
              </a:pPr>
              <a:r>
                <a:rPr lang="en-US" altLang="zh-CN" sz="1600" dirty="0">
                  <a:solidFill>
                    <a:schemeClr val="tx1"/>
                  </a:solidFill>
                  <a:latin typeface="Arial" panose="020B0604020202020204" pitchFamily="34" charset="0"/>
                </a:rPr>
                <a:t>Q</a:t>
              </a:r>
              <a:r>
                <a:rPr lang="en-US" altLang="zh-CN" sz="1600" baseline="30000" dirty="0">
                  <a:solidFill>
                    <a:schemeClr val="tx1"/>
                  </a:solidFill>
                  <a:latin typeface="Arial" panose="020B0604020202020204" pitchFamily="34" charset="0"/>
                </a:rPr>
                <a:t>n+1</a:t>
              </a:r>
              <a:endParaRPr lang="en-US" altLang="zh-CN" sz="1600" dirty="0">
                <a:solidFill>
                  <a:schemeClr val="tx1"/>
                </a:solidFill>
                <a:latin typeface="Arial" panose="020B0604020202020204" pitchFamily="34" charset="0"/>
              </a:endParaRPr>
            </a:p>
          </p:txBody>
        </p:sp>
        <p:sp>
          <p:nvSpPr>
            <p:cNvPr id="91210" name="Rectangle 103"/>
            <p:cNvSpPr/>
            <p:nvPr/>
          </p:nvSpPr>
          <p:spPr>
            <a:xfrm>
              <a:off x="947738" y="3646488"/>
              <a:ext cx="685800" cy="334962"/>
            </a:xfrm>
            <a:prstGeom prst="rect">
              <a:avLst/>
            </a:prstGeom>
            <a:noFill/>
            <a:ln w="9525">
              <a:noFill/>
            </a:ln>
          </p:spPr>
          <p:txBody>
            <a:bodyPr/>
            <a:lstStyle/>
            <a:p>
              <a:pPr algn="ctr">
                <a:spcBef>
                  <a:spcPct val="20000"/>
                </a:spcBef>
                <a:buClr>
                  <a:schemeClr val="bg2"/>
                </a:buClr>
              </a:pPr>
              <a:r>
                <a:rPr lang="en-US" altLang="zh-CN" sz="1600" dirty="0">
                  <a:solidFill>
                    <a:schemeClr val="tx1"/>
                  </a:solidFill>
                  <a:latin typeface="Arial" panose="020B0604020202020204" pitchFamily="34" charset="0"/>
                </a:rPr>
                <a:t>D Q</a:t>
              </a:r>
              <a:r>
                <a:rPr lang="en-US" altLang="zh-CN" sz="1600" baseline="30000" dirty="0">
                  <a:solidFill>
                    <a:schemeClr val="tx1"/>
                  </a:solidFill>
                  <a:latin typeface="Arial" panose="020B0604020202020204" pitchFamily="34" charset="0"/>
                </a:rPr>
                <a:t>n</a:t>
              </a:r>
              <a:endParaRPr lang="en-US" altLang="zh-CN" sz="1600" dirty="0">
                <a:solidFill>
                  <a:schemeClr val="tx1"/>
                </a:solidFill>
                <a:latin typeface="Arial" panose="020B0604020202020204" pitchFamily="34" charset="0"/>
              </a:endParaRPr>
            </a:p>
          </p:txBody>
        </p:sp>
        <p:sp>
          <p:nvSpPr>
            <p:cNvPr id="91211" name="Line 104"/>
            <p:cNvSpPr/>
            <p:nvPr/>
          </p:nvSpPr>
          <p:spPr>
            <a:xfrm>
              <a:off x="947738" y="3646488"/>
              <a:ext cx="2209800" cy="0"/>
            </a:xfrm>
            <a:prstGeom prst="line">
              <a:avLst/>
            </a:prstGeom>
            <a:ln w="28575" cap="sq" cmpd="sng">
              <a:solidFill>
                <a:schemeClr val="tx1"/>
              </a:solidFill>
              <a:prstDash val="solid"/>
              <a:headEnd type="none" w="med" len="med"/>
              <a:tailEnd type="none" w="med" len="med"/>
            </a:ln>
          </p:spPr>
        </p:sp>
        <p:sp>
          <p:nvSpPr>
            <p:cNvPr id="91212" name="Line 105"/>
            <p:cNvSpPr/>
            <p:nvPr/>
          </p:nvSpPr>
          <p:spPr>
            <a:xfrm>
              <a:off x="947738" y="3981450"/>
              <a:ext cx="2209800" cy="0"/>
            </a:xfrm>
            <a:prstGeom prst="line">
              <a:avLst/>
            </a:prstGeom>
            <a:ln w="12700" cap="flat" cmpd="sng">
              <a:solidFill>
                <a:schemeClr val="tx1"/>
              </a:solidFill>
              <a:prstDash val="solid"/>
              <a:headEnd type="none" w="med" len="med"/>
              <a:tailEnd type="none" w="med" len="med"/>
            </a:ln>
          </p:spPr>
        </p:sp>
        <p:sp>
          <p:nvSpPr>
            <p:cNvPr id="91213" name="Line 106"/>
            <p:cNvSpPr/>
            <p:nvPr/>
          </p:nvSpPr>
          <p:spPr>
            <a:xfrm>
              <a:off x="947738" y="5197475"/>
              <a:ext cx="2209800" cy="0"/>
            </a:xfrm>
            <a:prstGeom prst="line">
              <a:avLst/>
            </a:prstGeom>
            <a:ln w="28575" cap="sq" cmpd="sng">
              <a:solidFill>
                <a:schemeClr val="tx1"/>
              </a:solidFill>
              <a:prstDash val="solid"/>
              <a:headEnd type="none" w="med" len="med"/>
              <a:tailEnd type="none" w="med" len="med"/>
            </a:ln>
          </p:spPr>
        </p:sp>
        <p:sp>
          <p:nvSpPr>
            <p:cNvPr id="91214" name="Line 108"/>
            <p:cNvSpPr/>
            <p:nvPr/>
          </p:nvSpPr>
          <p:spPr>
            <a:xfrm>
              <a:off x="1633538" y="3646488"/>
              <a:ext cx="0" cy="1550987"/>
            </a:xfrm>
            <a:prstGeom prst="line">
              <a:avLst/>
            </a:prstGeom>
            <a:ln w="12700" cap="flat" cmpd="sng">
              <a:solidFill>
                <a:schemeClr val="tx1"/>
              </a:solidFill>
              <a:prstDash val="solid"/>
              <a:headEnd type="none" w="med" len="med"/>
              <a:tailEnd type="none" w="med" len="med"/>
            </a:ln>
          </p:spPr>
        </p:sp>
        <p:sp>
          <p:nvSpPr>
            <p:cNvPr id="91215" name="Line 109"/>
            <p:cNvSpPr/>
            <p:nvPr/>
          </p:nvSpPr>
          <p:spPr>
            <a:xfrm>
              <a:off x="2243138" y="3646488"/>
              <a:ext cx="0" cy="1550987"/>
            </a:xfrm>
            <a:prstGeom prst="line">
              <a:avLst/>
            </a:prstGeom>
            <a:ln w="12700" cap="flat" cmpd="sng">
              <a:solidFill>
                <a:schemeClr val="tx1"/>
              </a:solidFill>
              <a:prstDash val="solid"/>
              <a:headEnd type="none" w="med" len="med"/>
              <a:tailEnd type="none" w="med" len="med"/>
            </a:ln>
          </p:spPr>
        </p:sp>
      </p:grpSp>
      <p:grpSp>
        <p:nvGrpSpPr>
          <p:cNvPr id="3" name="Group 74"/>
          <p:cNvGrpSpPr/>
          <p:nvPr/>
        </p:nvGrpSpPr>
        <p:grpSpPr>
          <a:xfrm>
            <a:off x="5006975" y="1878013"/>
            <a:ext cx="2514600" cy="1122362"/>
            <a:chOff x="2275" y="1183"/>
            <a:chExt cx="1584" cy="707"/>
          </a:xfrm>
        </p:grpSpPr>
        <p:sp>
          <p:nvSpPr>
            <p:cNvPr id="91202" name="Text Box 112"/>
            <p:cNvSpPr txBox="1"/>
            <p:nvPr/>
          </p:nvSpPr>
          <p:spPr>
            <a:xfrm>
              <a:off x="2275" y="1183"/>
              <a:ext cx="1584" cy="251"/>
            </a:xfrm>
            <a:prstGeom prst="rect">
              <a:avLst/>
            </a:prstGeom>
            <a:noFill/>
            <a:ln w="9525">
              <a:noFill/>
            </a:ln>
          </p:spPr>
          <p:txBody>
            <a:bodyPr>
              <a:spAutoFit/>
            </a:bodyPr>
            <a:lstStyle/>
            <a:p>
              <a:pPr algn="just">
                <a:spcBef>
                  <a:spcPct val="50000"/>
                </a:spcBef>
              </a:pPr>
              <a:r>
                <a:rPr lang="en-US" altLang="zh-CN" sz="2000" dirty="0">
                  <a:solidFill>
                    <a:srgbClr val="C00000"/>
                  </a:solidFill>
                  <a:latin typeface="Arial" panose="020B0604020202020204" pitchFamily="34" charset="0"/>
                  <a:ea typeface="楷体_GB2312" pitchFamily="49" charset="-122"/>
                </a:rPr>
                <a:t>CP=1</a:t>
              </a:r>
              <a:r>
                <a:rPr lang="zh-CN" altLang="en-US" sz="2000" dirty="0">
                  <a:solidFill>
                    <a:srgbClr val="C00000"/>
                  </a:solidFill>
                  <a:latin typeface="Arial" panose="020B0604020202020204" pitchFamily="34" charset="0"/>
                  <a:ea typeface="楷体_GB2312" pitchFamily="49" charset="-122"/>
                </a:rPr>
                <a:t>时的特性方程</a:t>
              </a:r>
            </a:p>
          </p:txBody>
        </p:sp>
        <p:pic>
          <p:nvPicPr>
            <p:cNvPr id="91203" name="图片 3" descr="图片6.png"/>
            <p:cNvPicPr>
              <a:picLocks noChangeAspect="1"/>
            </p:cNvPicPr>
            <p:nvPr/>
          </p:nvPicPr>
          <p:blipFill>
            <a:blip r:embed="rId4"/>
            <a:stretch>
              <a:fillRect/>
            </a:stretch>
          </p:blipFill>
          <p:spPr>
            <a:xfrm>
              <a:off x="2362" y="1525"/>
              <a:ext cx="804" cy="365"/>
            </a:xfrm>
            <a:prstGeom prst="rect">
              <a:avLst/>
            </a:prstGeom>
            <a:noFill/>
            <a:ln w="9525">
              <a:noFill/>
            </a:ln>
            <a:effectLst>
              <a:prstShdw prst="shdw13" dist="53882" dir="13499999">
                <a:srgbClr val="808080">
                  <a:alpha val="50000"/>
                </a:srgbClr>
              </a:prstShdw>
            </a:effectLst>
          </p:spPr>
        </p:pic>
      </p:grpSp>
      <p:grpSp>
        <p:nvGrpSpPr>
          <p:cNvPr id="4" name="Group 75"/>
          <p:cNvGrpSpPr/>
          <p:nvPr/>
        </p:nvGrpSpPr>
        <p:grpSpPr>
          <a:xfrm>
            <a:off x="4678363" y="3746500"/>
            <a:ext cx="3173412" cy="2200275"/>
            <a:chOff x="1987" y="2382"/>
            <a:chExt cx="1999" cy="1386"/>
          </a:xfrm>
          <a:solidFill>
            <a:srgbClr val="FFFFCC"/>
          </a:solidFill>
        </p:grpSpPr>
        <p:graphicFrame>
          <p:nvGraphicFramePr>
            <p:cNvPr id="91157" name="Object 72"/>
            <p:cNvGraphicFramePr>
              <a:graphicFrameLocks noChangeAspect="1"/>
            </p:cNvGraphicFramePr>
            <p:nvPr/>
          </p:nvGraphicFramePr>
          <p:xfrm>
            <a:off x="1987" y="2632"/>
            <a:ext cx="1999" cy="1136"/>
          </p:xfrm>
          <a:graphic>
            <a:graphicData uri="http://schemas.openxmlformats.org/presentationml/2006/ole">
              <mc:AlternateContent xmlns:mc="http://schemas.openxmlformats.org/markup-compatibility/2006">
                <mc:Choice xmlns:v="urn:schemas-microsoft-com:vml" Requires="v">
                  <p:oleObj spid="_x0000_s24579" r:id="rId5" imgW="2581275" imgH="1466850" progId="PBrush">
                    <p:embed/>
                  </p:oleObj>
                </mc:Choice>
                <mc:Fallback>
                  <p:oleObj r:id="rId5" imgW="2581275" imgH="1466850" progId="PBrush">
                    <p:embed/>
                    <p:pic>
                      <p:nvPicPr>
                        <p:cNvPr id="0" name="Object 72"/>
                        <p:cNvPicPr/>
                        <p:nvPr/>
                      </p:nvPicPr>
                      <p:blipFill>
                        <a:blip r:embed="rId6">
                          <a:lum contrast="52000"/>
                        </a:blip>
                        <a:stretch>
                          <a:fillRect/>
                        </a:stretch>
                      </p:blipFill>
                      <p:spPr>
                        <a:xfrm>
                          <a:off x="1987" y="2632"/>
                          <a:ext cx="1999" cy="1136"/>
                        </a:xfrm>
                        <a:prstGeom prst="rect">
                          <a:avLst/>
                        </a:prstGeom>
                        <a:solidFill>
                          <a:schemeClr val="bg1"/>
                        </a:solidFill>
                        <a:ln w="38100">
                          <a:solidFill>
                            <a:schemeClr val="bg1"/>
                          </a:solidFill>
                          <a:miter/>
                        </a:ln>
                      </p:spPr>
                    </p:pic>
                  </p:oleObj>
                </mc:Fallback>
              </mc:AlternateContent>
            </a:graphicData>
          </a:graphic>
        </p:graphicFrame>
        <p:sp>
          <p:nvSpPr>
            <p:cNvPr id="91158" name="Text Box 115"/>
            <p:cNvSpPr txBox="1"/>
            <p:nvPr/>
          </p:nvSpPr>
          <p:spPr>
            <a:xfrm>
              <a:off x="2067" y="2382"/>
              <a:ext cx="890" cy="251"/>
            </a:xfrm>
            <a:prstGeom prst="rect">
              <a:avLst/>
            </a:prstGeom>
            <a:grpFill/>
            <a:ln w="9525">
              <a:solidFill>
                <a:schemeClr val="bg1"/>
              </a:solidFill>
            </a:ln>
          </p:spPr>
          <p:txBody>
            <a:bodyPr>
              <a:spAutoFit/>
            </a:bodyPr>
            <a:lstStyle/>
            <a:p>
              <a:pPr marL="0" marR="0" lvl="0" indent="0" algn="l" defTabSz="914400" rtl="0" eaLnBrk="1" fontAlgn="base" latinLnBrk="0" hangingPunct="1">
                <a:lnSpc>
                  <a:spcPct val="100000"/>
                </a:lnSpc>
                <a:spcBef>
                  <a:spcPct val="50000"/>
                </a:spcBef>
                <a:spcAft>
                  <a:spcPct val="0"/>
                </a:spcAft>
                <a:buClrTx/>
                <a:buSzTx/>
                <a:buFont typeface="Wingdings" panose="05000000000000000000" pitchFamily="2" charset="2"/>
                <a:buNone/>
                <a:defRPr/>
              </a:pPr>
              <a:r>
                <a:rPr kumimoji="0" lang="zh-CN" altLang="en-US" sz="2000" b="1" i="0" u="none" strike="noStrike" kern="1200" cap="none" spc="0" normalizeH="0" baseline="0" noProof="1">
                  <a:ln>
                    <a:noFill/>
                  </a:ln>
                  <a:solidFill>
                    <a:srgbClr val="C00000"/>
                  </a:solidFill>
                  <a:effectLst/>
                  <a:uLnTx/>
                  <a:uFillTx/>
                  <a:latin typeface="Times New Roman" panose="02020603050405020304" pitchFamily="18" charset="0"/>
                  <a:ea typeface="楷体_GB2312" pitchFamily="49" charset="-122"/>
                  <a:cs typeface="+mn-cs"/>
                </a:rPr>
                <a:t>状态图</a:t>
              </a:r>
            </a:p>
          </p:txBody>
        </p:sp>
      </p:grpSp>
      <p:graphicFrame>
        <p:nvGraphicFramePr>
          <p:cNvPr id="6215" name="Object 71" descr="蓝色面巾纸"/>
          <p:cNvGraphicFramePr>
            <a:graphicFrameLocks noChangeAspect="1"/>
          </p:cNvGraphicFramePr>
          <p:nvPr/>
        </p:nvGraphicFramePr>
        <p:xfrm>
          <a:off x="1889125" y="5408613"/>
          <a:ext cx="2681288" cy="468312"/>
        </p:xfrm>
        <a:graphic>
          <a:graphicData uri="http://schemas.openxmlformats.org/presentationml/2006/ole">
            <mc:AlternateContent xmlns:mc="http://schemas.openxmlformats.org/markup-compatibility/2006">
              <mc:Choice xmlns:v="urn:schemas-microsoft-com:vml" Requires="v">
                <p:oleObj spid="_x0000_s24580" r:id="rId7" imgW="1523365" imgH="266700" progId="Equation.3">
                  <p:embed/>
                </p:oleObj>
              </mc:Choice>
              <mc:Fallback>
                <p:oleObj r:id="rId7" imgW="1523365" imgH="266700" progId="Equation.3">
                  <p:embed/>
                  <p:pic>
                    <p:nvPicPr>
                      <p:cNvPr id="0" name="图片 3083"/>
                      <p:cNvPicPr/>
                      <p:nvPr/>
                    </p:nvPicPr>
                    <p:blipFill>
                      <a:blip r:embed="rId8"/>
                      <a:stretch>
                        <a:fillRect/>
                      </a:stretch>
                    </p:blipFill>
                    <p:spPr>
                      <a:xfrm>
                        <a:off x="1889125" y="5408613"/>
                        <a:ext cx="2681288" cy="468312"/>
                      </a:xfrm>
                      <a:prstGeom prst="rect">
                        <a:avLst/>
                      </a:prstGeom>
                      <a:blipFill rotWithShape="1">
                        <a:blip r:embed="rId9"/>
                      </a:blipFill>
                      <a:ln w="38100">
                        <a:noFill/>
                        <a:miter/>
                      </a:ln>
                    </p:spPr>
                  </p:pic>
                </p:oleObj>
              </mc:Fallback>
            </mc:AlternateContent>
          </a:graphicData>
        </a:graphic>
      </p:graphicFrame>
      <p:sp>
        <p:nvSpPr>
          <p:cNvPr id="69" name="Text Box 201"/>
          <p:cNvSpPr txBox="1"/>
          <p:nvPr/>
        </p:nvSpPr>
        <p:spPr>
          <a:xfrm>
            <a:off x="8435975" y="4767263"/>
            <a:ext cx="1922463" cy="1614170"/>
          </a:xfrm>
          <a:prstGeom prst="rect">
            <a:avLst/>
          </a:prstGeom>
          <a:noFill/>
          <a:ln w="9525">
            <a:noFill/>
          </a:ln>
        </p:spPr>
        <p:txBody>
          <a:bodyPr>
            <a:spAutoFit/>
          </a:bodyPr>
          <a:lstStyle/>
          <a:p>
            <a:pPr algn="just">
              <a:lnSpc>
                <a:spcPct val="110000"/>
              </a:lnSpc>
            </a:pPr>
            <a:r>
              <a:rPr lang="zh-CN" altLang="en-US" sz="1800" dirty="0">
                <a:solidFill>
                  <a:srgbClr val="FF0066"/>
                </a:solidFill>
                <a:latin typeface="Times New Roman" panose="02020603050405020304" pitchFamily="18" charset="0"/>
                <a:ea typeface="楷体_GB2312" pitchFamily="49" charset="-122"/>
              </a:rPr>
              <a:t>当</a:t>
            </a:r>
            <a:r>
              <a:rPr lang="en-US" altLang="zh-CN" sz="1800" dirty="0">
                <a:solidFill>
                  <a:srgbClr val="FF0066"/>
                </a:solidFill>
                <a:latin typeface="Times New Roman" panose="02020603050405020304" pitchFamily="18" charset="0"/>
                <a:ea typeface="楷体_GB2312" pitchFamily="49" charset="-122"/>
              </a:rPr>
              <a:t>CP=1</a:t>
            </a:r>
            <a:r>
              <a:rPr lang="zh-CN" altLang="en-US" sz="1800" dirty="0">
                <a:solidFill>
                  <a:srgbClr val="FF0066"/>
                </a:solidFill>
                <a:latin typeface="Times New Roman" panose="02020603050405020304" pitchFamily="18" charset="0"/>
                <a:ea typeface="楷体_GB2312" pitchFamily="49" charset="-122"/>
              </a:rPr>
              <a:t>时，</a:t>
            </a:r>
            <a:r>
              <a:rPr lang="en-US" altLang="zh-CN" sz="1800" dirty="0">
                <a:solidFill>
                  <a:srgbClr val="FF0066"/>
                </a:solidFill>
                <a:latin typeface="Times New Roman" panose="02020603050405020304" pitchFamily="18" charset="0"/>
                <a:ea typeface="楷体_GB2312" pitchFamily="49" charset="-122"/>
              </a:rPr>
              <a:t>Q</a:t>
            </a:r>
            <a:r>
              <a:rPr lang="zh-CN" altLang="en-US" sz="1800" dirty="0">
                <a:solidFill>
                  <a:srgbClr val="FF0066"/>
                </a:solidFill>
                <a:latin typeface="Times New Roman" panose="02020603050405020304" pitchFamily="18" charset="0"/>
                <a:ea typeface="楷体_GB2312" pitchFamily="49" charset="-122"/>
              </a:rPr>
              <a:t>的波形与</a:t>
            </a:r>
            <a:r>
              <a:rPr lang="en-US" altLang="zh-CN" sz="1800" dirty="0">
                <a:solidFill>
                  <a:srgbClr val="FF0066"/>
                </a:solidFill>
                <a:latin typeface="Times New Roman" panose="02020603050405020304" pitchFamily="18" charset="0"/>
                <a:ea typeface="楷体_GB2312" pitchFamily="49" charset="-122"/>
              </a:rPr>
              <a:t>D</a:t>
            </a:r>
            <a:r>
              <a:rPr lang="zh-CN" altLang="en-US" sz="1800" dirty="0">
                <a:solidFill>
                  <a:srgbClr val="FF0066"/>
                </a:solidFill>
                <a:latin typeface="Times New Roman" panose="02020603050405020304" pitchFamily="18" charset="0"/>
                <a:ea typeface="楷体_GB2312" pitchFamily="49" charset="-122"/>
              </a:rPr>
              <a:t>相同；</a:t>
            </a:r>
            <a:endParaRPr lang="en-US" altLang="zh-CN" sz="1800" dirty="0">
              <a:solidFill>
                <a:srgbClr val="FF0066"/>
              </a:solidFill>
              <a:latin typeface="Times New Roman" panose="02020603050405020304" pitchFamily="18" charset="0"/>
              <a:ea typeface="楷体_GB2312" pitchFamily="49" charset="-122"/>
            </a:endParaRPr>
          </a:p>
          <a:p>
            <a:pPr algn="just">
              <a:lnSpc>
                <a:spcPct val="110000"/>
              </a:lnSpc>
            </a:pPr>
            <a:r>
              <a:rPr lang="zh-CN" altLang="en-US" sz="1800" dirty="0">
                <a:solidFill>
                  <a:srgbClr val="FF0066"/>
                </a:solidFill>
                <a:latin typeface="Times New Roman" panose="02020603050405020304" pitchFamily="18" charset="0"/>
                <a:ea typeface="楷体_GB2312" pitchFamily="49" charset="-122"/>
              </a:rPr>
              <a:t>当</a:t>
            </a:r>
            <a:r>
              <a:rPr lang="en-US" altLang="zh-CN" sz="1800" dirty="0">
                <a:solidFill>
                  <a:srgbClr val="FF0066"/>
                </a:solidFill>
                <a:latin typeface="Times New Roman" panose="02020603050405020304" pitchFamily="18" charset="0"/>
                <a:ea typeface="楷体_GB2312" pitchFamily="49" charset="-122"/>
              </a:rPr>
              <a:t>CP=0</a:t>
            </a:r>
            <a:r>
              <a:rPr lang="zh-CN" altLang="en-US" sz="1800" dirty="0">
                <a:solidFill>
                  <a:srgbClr val="FF0066"/>
                </a:solidFill>
                <a:latin typeface="Times New Roman" panose="02020603050405020304" pitchFamily="18" charset="0"/>
                <a:ea typeface="楷体_GB2312" pitchFamily="49" charset="-122"/>
              </a:rPr>
              <a:t>时，</a:t>
            </a:r>
            <a:r>
              <a:rPr lang="en-US" altLang="zh-CN" sz="1800" dirty="0">
                <a:solidFill>
                  <a:srgbClr val="FF0066"/>
                </a:solidFill>
                <a:latin typeface="Times New Roman" panose="02020603050405020304" pitchFamily="18" charset="0"/>
                <a:ea typeface="楷体_GB2312" pitchFamily="49" charset="-122"/>
              </a:rPr>
              <a:t>Q</a:t>
            </a:r>
            <a:r>
              <a:rPr lang="zh-CN" altLang="en-US" sz="1800" dirty="0">
                <a:solidFill>
                  <a:srgbClr val="FF0066"/>
                </a:solidFill>
                <a:latin typeface="Times New Roman" panose="02020603050405020304" pitchFamily="18" charset="0"/>
                <a:ea typeface="楷体_GB2312" pitchFamily="49" charset="-122"/>
              </a:rPr>
              <a:t>保持原来的状态</a:t>
            </a:r>
            <a:endParaRPr lang="en-US" altLang="zh-CN" sz="1800" dirty="0">
              <a:solidFill>
                <a:srgbClr val="FF0066"/>
              </a:solidFill>
              <a:latin typeface="Times New Roman" panose="02020603050405020304" pitchFamily="18" charset="0"/>
              <a:ea typeface="楷体_GB2312" pitchFamily="49" charset="-122"/>
            </a:endParaRPr>
          </a:p>
          <a:p>
            <a:pPr algn="just">
              <a:lnSpc>
                <a:spcPct val="110000"/>
              </a:lnSpc>
            </a:pPr>
            <a:endParaRPr lang="zh-CN" altLang="en-US" sz="1800" dirty="0">
              <a:solidFill>
                <a:srgbClr val="FF0066"/>
              </a:solidFill>
              <a:latin typeface="Times New Roman" panose="02020603050405020304" pitchFamily="18" charset="0"/>
              <a:ea typeface="楷体_GB2312" pitchFamily="49" charset="-122"/>
            </a:endParaRPr>
          </a:p>
        </p:txBody>
      </p:sp>
      <p:grpSp>
        <p:nvGrpSpPr>
          <p:cNvPr id="5" name="组合 101"/>
          <p:cNvGrpSpPr/>
          <p:nvPr/>
        </p:nvGrpSpPr>
        <p:grpSpPr>
          <a:xfrm>
            <a:off x="7521575" y="1878013"/>
            <a:ext cx="3054350" cy="2103755"/>
            <a:chOff x="5997575" y="1878013"/>
            <a:chExt cx="3054350" cy="2103755"/>
          </a:xfrm>
        </p:grpSpPr>
        <p:sp>
          <p:nvSpPr>
            <p:cNvPr id="91147" name="Text Box 115"/>
            <p:cNvSpPr txBox="1"/>
            <p:nvPr/>
          </p:nvSpPr>
          <p:spPr>
            <a:xfrm>
              <a:off x="6569075" y="3582988"/>
              <a:ext cx="2362200" cy="398780"/>
            </a:xfrm>
            <a:prstGeom prst="rect">
              <a:avLst/>
            </a:prstGeom>
            <a:noFill/>
            <a:ln w="9525">
              <a:noFill/>
            </a:ln>
          </p:spPr>
          <p:txBody>
            <a:bodyPr>
              <a:spAutoFit/>
            </a:bodyPr>
            <a:lstStyle/>
            <a:p>
              <a:pPr eaLnBrk="1" hangingPunct="1">
                <a:spcBef>
                  <a:spcPct val="50000"/>
                </a:spcBef>
              </a:pPr>
              <a:r>
                <a:rPr lang="zh-CN" altLang="en-US" sz="2000" dirty="0">
                  <a:solidFill>
                    <a:srgbClr val="C00000"/>
                  </a:solidFill>
                  <a:latin typeface="Times New Roman" panose="02020603050405020304" pitchFamily="18" charset="0"/>
                  <a:ea typeface="楷体_GB2312" pitchFamily="49" charset="-122"/>
                </a:rPr>
                <a:t>时序图</a:t>
              </a:r>
              <a:r>
                <a:rPr lang="zh-CN" altLang="en-US" sz="2000" dirty="0">
                  <a:solidFill>
                    <a:srgbClr val="C00000"/>
                  </a:solidFill>
                  <a:latin typeface="Arial" panose="020B0604020202020204" pitchFamily="34" charset="0"/>
                </a:rPr>
                <a:t>（</a:t>
              </a:r>
              <a:r>
                <a:rPr lang="zh-CN" altLang="en-US" sz="2000" dirty="0">
                  <a:solidFill>
                    <a:srgbClr val="C00000"/>
                  </a:solidFill>
                  <a:latin typeface="Times New Roman" panose="02020603050405020304" pitchFamily="18" charset="0"/>
                  <a:ea typeface="楷体_GB2312" pitchFamily="49" charset="-122"/>
                </a:rPr>
                <a:t>初态</a:t>
              </a:r>
              <a:r>
                <a:rPr lang="en-US" altLang="zh-CN" sz="2000" dirty="0">
                  <a:solidFill>
                    <a:srgbClr val="C00000"/>
                  </a:solidFill>
                  <a:latin typeface="Arial" panose="020B0604020202020204" pitchFamily="34" charset="0"/>
                </a:rPr>
                <a:t>=0</a:t>
              </a:r>
              <a:r>
                <a:rPr lang="zh-CN" altLang="en-US" sz="2000" dirty="0">
                  <a:solidFill>
                    <a:srgbClr val="C00000"/>
                  </a:solidFill>
                  <a:latin typeface="Arial" panose="020B0604020202020204" pitchFamily="34" charset="0"/>
                </a:rPr>
                <a:t>）</a:t>
              </a:r>
            </a:p>
          </p:txBody>
        </p:sp>
        <p:grpSp>
          <p:nvGrpSpPr>
            <p:cNvPr id="91148" name="Group 116"/>
            <p:cNvGrpSpPr/>
            <p:nvPr/>
          </p:nvGrpSpPr>
          <p:grpSpPr>
            <a:xfrm>
              <a:off x="5997575" y="1878013"/>
              <a:ext cx="3054350" cy="1520825"/>
              <a:chOff x="3264" y="2544"/>
              <a:chExt cx="1924" cy="912"/>
            </a:xfrm>
          </p:grpSpPr>
          <p:grpSp>
            <p:nvGrpSpPr>
              <p:cNvPr id="91166" name="Group 117"/>
              <p:cNvGrpSpPr/>
              <p:nvPr/>
            </p:nvGrpSpPr>
            <p:grpSpPr>
              <a:xfrm>
                <a:off x="3552" y="2544"/>
                <a:ext cx="1632" cy="192"/>
                <a:chOff x="3696" y="2544"/>
                <a:chExt cx="1632" cy="192"/>
              </a:xfrm>
            </p:grpSpPr>
            <p:grpSp>
              <p:nvGrpSpPr>
                <p:cNvPr id="91186" name="Group 118"/>
                <p:cNvGrpSpPr/>
                <p:nvPr/>
              </p:nvGrpSpPr>
              <p:grpSpPr>
                <a:xfrm>
                  <a:off x="3696" y="2544"/>
                  <a:ext cx="480" cy="192"/>
                  <a:chOff x="3696" y="2544"/>
                  <a:chExt cx="480" cy="192"/>
                </a:xfrm>
              </p:grpSpPr>
              <p:sp>
                <p:nvSpPr>
                  <p:cNvPr id="91198" name="Line 119"/>
                  <p:cNvSpPr/>
                  <p:nvPr/>
                </p:nvSpPr>
                <p:spPr>
                  <a:xfrm>
                    <a:off x="3696" y="2736"/>
                    <a:ext cx="192" cy="0"/>
                  </a:xfrm>
                  <a:prstGeom prst="line">
                    <a:avLst/>
                  </a:prstGeom>
                  <a:ln w="19050" cap="flat" cmpd="sng">
                    <a:solidFill>
                      <a:schemeClr val="tx2"/>
                    </a:solidFill>
                    <a:prstDash val="solid"/>
                    <a:headEnd type="none" w="med" len="med"/>
                    <a:tailEnd type="none" w="med" len="med"/>
                  </a:ln>
                </p:spPr>
              </p:sp>
              <p:sp>
                <p:nvSpPr>
                  <p:cNvPr id="91199" name="Line 120"/>
                  <p:cNvSpPr/>
                  <p:nvPr/>
                </p:nvSpPr>
                <p:spPr>
                  <a:xfrm flipV="1">
                    <a:off x="3888" y="2544"/>
                    <a:ext cx="0" cy="192"/>
                  </a:xfrm>
                  <a:prstGeom prst="line">
                    <a:avLst/>
                  </a:prstGeom>
                  <a:ln w="19050" cap="flat" cmpd="sng">
                    <a:solidFill>
                      <a:schemeClr val="tx2"/>
                    </a:solidFill>
                    <a:prstDash val="solid"/>
                    <a:headEnd type="none" w="med" len="med"/>
                    <a:tailEnd type="none" w="med" len="med"/>
                  </a:ln>
                </p:spPr>
              </p:sp>
              <p:sp>
                <p:nvSpPr>
                  <p:cNvPr id="91200" name="Line 121"/>
                  <p:cNvSpPr/>
                  <p:nvPr/>
                </p:nvSpPr>
                <p:spPr>
                  <a:xfrm>
                    <a:off x="3888" y="2544"/>
                    <a:ext cx="288" cy="0"/>
                  </a:xfrm>
                  <a:prstGeom prst="line">
                    <a:avLst/>
                  </a:prstGeom>
                  <a:ln w="19050" cap="flat" cmpd="sng">
                    <a:solidFill>
                      <a:srgbClr val="FF0000"/>
                    </a:solidFill>
                    <a:prstDash val="solid"/>
                    <a:headEnd type="none" w="med" len="med"/>
                    <a:tailEnd type="none" w="med" len="med"/>
                  </a:ln>
                </p:spPr>
              </p:sp>
              <p:sp>
                <p:nvSpPr>
                  <p:cNvPr id="91201" name="Line 122"/>
                  <p:cNvSpPr/>
                  <p:nvPr/>
                </p:nvSpPr>
                <p:spPr>
                  <a:xfrm>
                    <a:off x="4176" y="2544"/>
                    <a:ext cx="0" cy="192"/>
                  </a:xfrm>
                  <a:prstGeom prst="line">
                    <a:avLst/>
                  </a:prstGeom>
                  <a:ln w="19050" cap="flat" cmpd="sng">
                    <a:solidFill>
                      <a:schemeClr val="tx2"/>
                    </a:solidFill>
                    <a:prstDash val="solid"/>
                    <a:headEnd type="none" w="med" len="med"/>
                    <a:tailEnd type="none" w="med" len="med"/>
                  </a:ln>
                </p:spPr>
              </p:sp>
            </p:grpSp>
            <p:grpSp>
              <p:nvGrpSpPr>
                <p:cNvPr id="91187" name="Group 123"/>
                <p:cNvGrpSpPr/>
                <p:nvPr/>
              </p:nvGrpSpPr>
              <p:grpSpPr>
                <a:xfrm>
                  <a:off x="4176" y="2544"/>
                  <a:ext cx="480" cy="192"/>
                  <a:chOff x="3696" y="2544"/>
                  <a:chExt cx="480" cy="192"/>
                </a:xfrm>
              </p:grpSpPr>
              <p:sp>
                <p:nvSpPr>
                  <p:cNvPr id="91194" name="Line 124"/>
                  <p:cNvSpPr/>
                  <p:nvPr/>
                </p:nvSpPr>
                <p:spPr>
                  <a:xfrm>
                    <a:off x="3696" y="2736"/>
                    <a:ext cx="192" cy="0"/>
                  </a:xfrm>
                  <a:prstGeom prst="line">
                    <a:avLst/>
                  </a:prstGeom>
                  <a:ln w="19050" cap="flat" cmpd="sng">
                    <a:solidFill>
                      <a:schemeClr val="tx2"/>
                    </a:solidFill>
                    <a:prstDash val="solid"/>
                    <a:headEnd type="none" w="med" len="med"/>
                    <a:tailEnd type="none" w="med" len="med"/>
                  </a:ln>
                </p:spPr>
              </p:sp>
              <p:sp>
                <p:nvSpPr>
                  <p:cNvPr id="91195" name="Line 125"/>
                  <p:cNvSpPr/>
                  <p:nvPr/>
                </p:nvSpPr>
                <p:spPr>
                  <a:xfrm flipV="1">
                    <a:off x="3888" y="2544"/>
                    <a:ext cx="0" cy="192"/>
                  </a:xfrm>
                  <a:prstGeom prst="line">
                    <a:avLst/>
                  </a:prstGeom>
                  <a:ln w="19050" cap="flat" cmpd="sng">
                    <a:solidFill>
                      <a:schemeClr val="tx2"/>
                    </a:solidFill>
                    <a:prstDash val="solid"/>
                    <a:headEnd type="none" w="med" len="med"/>
                    <a:tailEnd type="none" w="med" len="med"/>
                  </a:ln>
                </p:spPr>
              </p:sp>
              <p:sp>
                <p:nvSpPr>
                  <p:cNvPr id="91196" name="Line 126"/>
                  <p:cNvSpPr/>
                  <p:nvPr/>
                </p:nvSpPr>
                <p:spPr>
                  <a:xfrm>
                    <a:off x="3888" y="2544"/>
                    <a:ext cx="288" cy="0"/>
                  </a:xfrm>
                  <a:prstGeom prst="line">
                    <a:avLst/>
                  </a:prstGeom>
                  <a:ln w="19050" cap="flat" cmpd="sng">
                    <a:solidFill>
                      <a:srgbClr val="FF0000"/>
                    </a:solidFill>
                    <a:prstDash val="solid"/>
                    <a:headEnd type="none" w="med" len="med"/>
                    <a:tailEnd type="none" w="med" len="med"/>
                  </a:ln>
                </p:spPr>
              </p:sp>
              <p:sp>
                <p:nvSpPr>
                  <p:cNvPr id="91197" name="Line 127"/>
                  <p:cNvSpPr/>
                  <p:nvPr/>
                </p:nvSpPr>
                <p:spPr>
                  <a:xfrm>
                    <a:off x="4176" y="2544"/>
                    <a:ext cx="0" cy="192"/>
                  </a:xfrm>
                  <a:prstGeom prst="line">
                    <a:avLst/>
                  </a:prstGeom>
                  <a:ln w="19050" cap="flat" cmpd="sng">
                    <a:solidFill>
                      <a:schemeClr val="tx2"/>
                    </a:solidFill>
                    <a:prstDash val="solid"/>
                    <a:headEnd type="none" w="med" len="med"/>
                    <a:tailEnd type="none" w="med" len="med"/>
                  </a:ln>
                </p:spPr>
              </p:sp>
            </p:grpSp>
            <p:grpSp>
              <p:nvGrpSpPr>
                <p:cNvPr id="91188" name="Group 128"/>
                <p:cNvGrpSpPr/>
                <p:nvPr/>
              </p:nvGrpSpPr>
              <p:grpSpPr>
                <a:xfrm>
                  <a:off x="4656" y="2544"/>
                  <a:ext cx="480" cy="192"/>
                  <a:chOff x="3696" y="2544"/>
                  <a:chExt cx="480" cy="192"/>
                </a:xfrm>
              </p:grpSpPr>
              <p:sp>
                <p:nvSpPr>
                  <p:cNvPr id="91190" name="Line 129"/>
                  <p:cNvSpPr/>
                  <p:nvPr/>
                </p:nvSpPr>
                <p:spPr>
                  <a:xfrm>
                    <a:off x="3696" y="2736"/>
                    <a:ext cx="192" cy="0"/>
                  </a:xfrm>
                  <a:prstGeom prst="line">
                    <a:avLst/>
                  </a:prstGeom>
                  <a:ln w="19050" cap="flat" cmpd="sng">
                    <a:solidFill>
                      <a:schemeClr val="tx2"/>
                    </a:solidFill>
                    <a:prstDash val="solid"/>
                    <a:headEnd type="none" w="med" len="med"/>
                    <a:tailEnd type="none" w="med" len="med"/>
                  </a:ln>
                </p:spPr>
              </p:sp>
              <p:sp>
                <p:nvSpPr>
                  <p:cNvPr id="91191" name="Line 130"/>
                  <p:cNvSpPr/>
                  <p:nvPr/>
                </p:nvSpPr>
                <p:spPr>
                  <a:xfrm flipV="1">
                    <a:off x="3888" y="2544"/>
                    <a:ext cx="0" cy="192"/>
                  </a:xfrm>
                  <a:prstGeom prst="line">
                    <a:avLst/>
                  </a:prstGeom>
                  <a:ln w="19050" cap="flat" cmpd="sng">
                    <a:solidFill>
                      <a:schemeClr val="tx2"/>
                    </a:solidFill>
                    <a:prstDash val="solid"/>
                    <a:headEnd type="none" w="med" len="med"/>
                    <a:tailEnd type="none" w="med" len="med"/>
                  </a:ln>
                </p:spPr>
              </p:sp>
              <p:sp>
                <p:nvSpPr>
                  <p:cNvPr id="91192" name="Line 131"/>
                  <p:cNvSpPr/>
                  <p:nvPr/>
                </p:nvSpPr>
                <p:spPr>
                  <a:xfrm>
                    <a:off x="3888" y="2544"/>
                    <a:ext cx="288" cy="0"/>
                  </a:xfrm>
                  <a:prstGeom prst="line">
                    <a:avLst/>
                  </a:prstGeom>
                  <a:ln w="19050" cap="flat" cmpd="sng">
                    <a:solidFill>
                      <a:srgbClr val="FF0000"/>
                    </a:solidFill>
                    <a:prstDash val="solid"/>
                    <a:headEnd type="none" w="med" len="med"/>
                    <a:tailEnd type="none" w="med" len="med"/>
                  </a:ln>
                </p:spPr>
              </p:sp>
              <p:sp>
                <p:nvSpPr>
                  <p:cNvPr id="91193" name="Line 132"/>
                  <p:cNvSpPr/>
                  <p:nvPr/>
                </p:nvSpPr>
                <p:spPr>
                  <a:xfrm>
                    <a:off x="4176" y="2544"/>
                    <a:ext cx="0" cy="192"/>
                  </a:xfrm>
                  <a:prstGeom prst="line">
                    <a:avLst/>
                  </a:prstGeom>
                  <a:ln w="19050" cap="flat" cmpd="sng">
                    <a:solidFill>
                      <a:schemeClr val="tx2"/>
                    </a:solidFill>
                    <a:prstDash val="solid"/>
                    <a:headEnd type="none" w="med" len="med"/>
                    <a:tailEnd type="none" w="med" len="med"/>
                  </a:ln>
                </p:spPr>
              </p:sp>
            </p:grpSp>
            <p:sp>
              <p:nvSpPr>
                <p:cNvPr id="91189" name="Line 133"/>
                <p:cNvSpPr/>
                <p:nvPr/>
              </p:nvSpPr>
              <p:spPr>
                <a:xfrm>
                  <a:off x="5136" y="2736"/>
                  <a:ext cx="192" cy="0"/>
                </a:xfrm>
                <a:prstGeom prst="line">
                  <a:avLst/>
                </a:prstGeom>
                <a:ln w="19050" cap="flat" cmpd="sng">
                  <a:solidFill>
                    <a:schemeClr val="tx2"/>
                  </a:solidFill>
                  <a:prstDash val="solid"/>
                  <a:headEnd type="none" w="med" len="med"/>
                  <a:tailEnd type="none" w="med" len="med"/>
                </a:ln>
              </p:spPr>
            </p:sp>
          </p:grpSp>
          <p:grpSp>
            <p:nvGrpSpPr>
              <p:cNvPr id="91167" name="Group 134"/>
              <p:cNvGrpSpPr/>
              <p:nvPr/>
            </p:nvGrpSpPr>
            <p:grpSpPr>
              <a:xfrm>
                <a:off x="3552" y="2880"/>
                <a:ext cx="1636" cy="192"/>
                <a:chOff x="3552" y="2880"/>
                <a:chExt cx="1636" cy="192"/>
              </a:xfrm>
            </p:grpSpPr>
            <p:sp>
              <p:nvSpPr>
                <p:cNvPr id="91181" name="Line 135"/>
                <p:cNvSpPr/>
                <p:nvPr/>
              </p:nvSpPr>
              <p:spPr>
                <a:xfrm>
                  <a:off x="3552" y="2880"/>
                  <a:ext cx="288" cy="0"/>
                </a:xfrm>
                <a:prstGeom prst="line">
                  <a:avLst/>
                </a:prstGeom>
                <a:ln w="19050" cap="flat" cmpd="sng">
                  <a:solidFill>
                    <a:schemeClr val="tx2"/>
                  </a:solidFill>
                  <a:prstDash val="solid"/>
                  <a:headEnd type="none" w="med" len="med"/>
                  <a:tailEnd type="none" w="med" len="med"/>
                </a:ln>
              </p:spPr>
            </p:sp>
            <p:sp>
              <p:nvSpPr>
                <p:cNvPr id="91182" name="Line 136"/>
                <p:cNvSpPr/>
                <p:nvPr/>
              </p:nvSpPr>
              <p:spPr>
                <a:xfrm>
                  <a:off x="3840" y="2880"/>
                  <a:ext cx="0" cy="192"/>
                </a:xfrm>
                <a:prstGeom prst="line">
                  <a:avLst/>
                </a:prstGeom>
                <a:ln w="19050" cap="flat" cmpd="sng">
                  <a:solidFill>
                    <a:schemeClr val="tx2"/>
                  </a:solidFill>
                  <a:prstDash val="solid"/>
                  <a:headEnd type="none" w="med" len="med"/>
                  <a:tailEnd type="none" w="med" len="med"/>
                </a:ln>
              </p:spPr>
            </p:sp>
            <p:sp>
              <p:nvSpPr>
                <p:cNvPr id="91183" name="Line 138"/>
                <p:cNvSpPr/>
                <p:nvPr/>
              </p:nvSpPr>
              <p:spPr>
                <a:xfrm flipV="1">
                  <a:off x="4368" y="2880"/>
                  <a:ext cx="0" cy="192"/>
                </a:xfrm>
                <a:prstGeom prst="line">
                  <a:avLst/>
                </a:prstGeom>
                <a:ln w="19050" cap="flat" cmpd="sng">
                  <a:solidFill>
                    <a:schemeClr val="tx2"/>
                  </a:solidFill>
                  <a:prstDash val="solid"/>
                  <a:headEnd type="none" w="med" len="med"/>
                  <a:tailEnd type="none" w="med" len="med"/>
                </a:ln>
              </p:spPr>
            </p:sp>
            <p:sp>
              <p:nvSpPr>
                <p:cNvPr id="91184" name="Line 140"/>
                <p:cNvSpPr/>
                <p:nvPr/>
              </p:nvSpPr>
              <p:spPr>
                <a:xfrm>
                  <a:off x="4800" y="2880"/>
                  <a:ext cx="0" cy="192"/>
                </a:xfrm>
                <a:prstGeom prst="line">
                  <a:avLst/>
                </a:prstGeom>
                <a:ln w="19050" cap="flat" cmpd="sng">
                  <a:solidFill>
                    <a:schemeClr val="tx2"/>
                  </a:solidFill>
                  <a:prstDash val="solid"/>
                  <a:headEnd type="none" w="med" len="med"/>
                  <a:tailEnd type="none" w="med" len="med"/>
                </a:ln>
              </p:spPr>
            </p:sp>
            <p:sp>
              <p:nvSpPr>
                <p:cNvPr id="91185" name="Line 141"/>
                <p:cNvSpPr/>
                <p:nvPr/>
              </p:nvSpPr>
              <p:spPr>
                <a:xfrm>
                  <a:off x="4804" y="2883"/>
                  <a:ext cx="384" cy="0"/>
                </a:xfrm>
                <a:prstGeom prst="line">
                  <a:avLst/>
                </a:prstGeom>
                <a:ln w="19050" cap="flat" cmpd="sng">
                  <a:solidFill>
                    <a:schemeClr val="tx2"/>
                  </a:solidFill>
                  <a:prstDash val="solid"/>
                  <a:headEnd type="none" w="med" len="med"/>
                  <a:tailEnd type="none" w="med" len="med"/>
                </a:ln>
              </p:spPr>
            </p:sp>
          </p:grpSp>
          <p:sp>
            <p:nvSpPr>
              <p:cNvPr id="91168" name="Line 142"/>
              <p:cNvSpPr/>
              <p:nvPr/>
            </p:nvSpPr>
            <p:spPr>
              <a:xfrm>
                <a:off x="3744" y="2736"/>
                <a:ext cx="0" cy="720"/>
              </a:xfrm>
              <a:prstGeom prst="line">
                <a:avLst/>
              </a:prstGeom>
              <a:ln w="9525" cap="flat" cmpd="sng">
                <a:solidFill>
                  <a:schemeClr val="tx1"/>
                </a:solidFill>
                <a:prstDash val="dash"/>
                <a:headEnd type="none" w="med" len="med"/>
                <a:tailEnd type="none" w="med" len="med"/>
              </a:ln>
            </p:spPr>
          </p:sp>
          <p:sp>
            <p:nvSpPr>
              <p:cNvPr id="91169" name="Line 143"/>
              <p:cNvSpPr/>
              <p:nvPr/>
            </p:nvSpPr>
            <p:spPr>
              <a:xfrm>
                <a:off x="4224" y="2736"/>
                <a:ext cx="0" cy="720"/>
              </a:xfrm>
              <a:prstGeom prst="line">
                <a:avLst/>
              </a:prstGeom>
              <a:ln w="9525" cap="flat" cmpd="sng">
                <a:solidFill>
                  <a:schemeClr val="tx1"/>
                </a:solidFill>
                <a:prstDash val="dash"/>
                <a:headEnd type="none" w="med" len="med"/>
                <a:tailEnd type="none" w="med" len="med"/>
              </a:ln>
            </p:spPr>
          </p:sp>
          <p:sp>
            <p:nvSpPr>
              <p:cNvPr id="91170" name="Line 144"/>
              <p:cNvSpPr/>
              <p:nvPr/>
            </p:nvSpPr>
            <p:spPr>
              <a:xfrm>
                <a:off x="4704" y="2736"/>
                <a:ext cx="0" cy="720"/>
              </a:xfrm>
              <a:prstGeom prst="line">
                <a:avLst/>
              </a:prstGeom>
              <a:ln w="9525" cap="flat" cmpd="sng">
                <a:solidFill>
                  <a:schemeClr val="tx1"/>
                </a:solidFill>
                <a:prstDash val="dash"/>
                <a:headEnd type="none" w="med" len="med"/>
                <a:tailEnd type="none" w="med" len="med"/>
              </a:ln>
            </p:spPr>
          </p:sp>
          <p:grpSp>
            <p:nvGrpSpPr>
              <p:cNvPr id="91171" name="Group 145"/>
              <p:cNvGrpSpPr/>
              <p:nvPr/>
            </p:nvGrpSpPr>
            <p:grpSpPr>
              <a:xfrm>
                <a:off x="3552" y="3168"/>
                <a:ext cx="1632" cy="192"/>
                <a:chOff x="3552" y="3120"/>
                <a:chExt cx="1632" cy="192"/>
              </a:xfrm>
            </p:grpSpPr>
            <p:sp>
              <p:nvSpPr>
                <p:cNvPr id="91175" name="Line 146"/>
                <p:cNvSpPr/>
                <p:nvPr/>
              </p:nvSpPr>
              <p:spPr>
                <a:xfrm>
                  <a:off x="3552" y="3312"/>
                  <a:ext cx="192" cy="0"/>
                </a:xfrm>
                <a:prstGeom prst="line">
                  <a:avLst/>
                </a:prstGeom>
                <a:ln w="19050" cap="flat" cmpd="sng">
                  <a:solidFill>
                    <a:schemeClr val="tx2"/>
                  </a:solidFill>
                  <a:prstDash val="solid"/>
                  <a:headEnd type="none" w="med" len="med"/>
                  <a:tailEnd type="none" w="med" len="med"/>
                </a:ln>
              </p:spPr>
            </p:sp>
            <p:sp>
              <p:nvSpPr>
                <p:cNvPr id="91176" name="Line 147"/>
                <p:cNvSpPr/>
                <p:nvPr/>
              </p:nvSpPr>
              <p:spPr>
                <a:xfrm flipV="1">
                  <a:off x="3744" y="3120"/>
                  <a:ext cx="0" cy="192"/>
                </a:xfrm>
                <a:prstGeom prst="line">
                  <a:avLst/>
                </a:prstGeom>
                <a:ln w="19050" cap="flat" cmpd="sng">
                  <a:solidFill>
                    <a:schemeClr val="tx2"/>
                  </a:solidFill>
                  <a:prstDash val="solid"/>
                  <a:headEnd type="none" w="med" len="med"/>
                  <a:tailEnd type="none" w="med" len="med"/>
                </a:ln>
              </p:spPr>
            </p:sp>
            <p:sp>
              <p:nvSpPr>
                <p:cNvPr id="91177" name="Line 148"/>
                <p:cNvSpPr/>
                <p:nvPr/>
              </p:nvSpPr>
              <p:spPr>
                <a:xfrm>
                  <a:off x="3744" y="3120"/>
                  <a:ext cx="96" cy="0"/>
                </a:xfrm>
                <a:prstGeom prst="line">
                  <a:avLst/>
                </a:prstGeom>
                <a:ln w="19050" cap="flat" cmpd="sng">
                  <a:solidFill>
                    <a:schemeClr val="tx2"/>
                  </a:solidFill>
                  <a:prstDash val="solid"/>
                  <a:headEnd type="none" w="med" len="med"/>
                  <a:tailEnd type="none" w="med" len="med"/>
                </a:ln>
              </p:spPr>
            </p:sp>
            <p:sp>
              <p:nvSpPr>
                <p:cNvPr id="91178" name="Line 149"/>
                <p:cNvSpPr/>
                <p:nvPr/>
              </p:nvSpPr>
              <p:spPr>
                <a:xfrm>
                  <a:off x="3840" y="3120"/>
                  <a:ext cx="0" cy="192"/>
                </a:xfrm>
                <a:prstGeom prst="line">
                  <a:avLst/>
                </a:prstGeom>
                <a:ln w="19050" cap="flat" cmpd="sng">
                  <a:solidFill>
                    <a:schemeClr val="tx2"/>
                  </a:solidFill>
                  <a:prstDash val="solid"/>
                  <a:headEnd type="none" w="med" len="med"/>
                  <a:tailEnd type="none" w="med" len="med"/>
                </a:ln>
              </p:spPr>
            </p:sp>
            <p:sp>
              <p:nvSpPr>
                <p:cNvPr id="91179" name="Line 153"/>
                <p:cNvSpPr/>
                <p:nvPr/>
              </p:nvSpPr>
              <p:spPr>
                <a:xfrm>
                  <a:off x="4800" y="3120"/>
                  <a:ext cx="0" cy="192"/>
                </a:xfrm>
                <a:prstGeom prst="line">
                  <a:avLst/>
                </a:prstGeom>
                <a:ln w="19050" cap="flat" cmpd="sng">
                  <a:solidFill>
                    <a:schemeClr val="tx2"/>
                  </a:solidFill>
                  <a:prstDash val="solid"/>
                  <a:headEnd type="none" w="med" len="med"/>
                  <a:tailEnd type="none" w="med" len="med"/>
                </a:ln>
              </p:spPr>
            </p:sp>
            <p:sp>
              <p:nvSpPr>
                <p:cNvPr id="91180" name="Line 154"/>
                <p:cNvSpPr/>
                <p:nvPr/>
              </p:nvSpPr>
              <p:spPr>
                <a:xfrm>
                  <a:off x="4800" y="3120"/>
                  <a:ext cx="384" cy="0"/>
                </a:xfrm>
                <a:prstGeom prst="line">
                  <a:avLst/>
                </a:prstGeom>
                <a:ln w="19050" cap="flat" cmpd="sng">
                  <a:solidFill>
                    <a:schemeClr val="tx2"/>
                  </a:solidFill>
                  <a:prstDash val="solid"/>
                  <a:headEnd type="none" w="med" len="med"/>
                  <a:tailEnd type="none" w="med" len="med"/>
                </a:ln>
              </p:spPr>
            </p:sp>
          </p:grpSp>
          <p:sp>
            <p:nvSpPr>
              <p:cNvPr id="91172" name="Text Box 155"/>
              <p:cNvSpPr txBox="1"/>
              <p:nvPr/>
            </p:nvSpPr>
            <p:spPr>
              <a:xfrm>
                <a:off x="3264" y="2544"/>
                <a:ext cx="288" cy="20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CP</a:t>
                </a:r>
              </a:p>
            </p:txBody>
          </p:sp>
          <p:sp>
            <p:nvSpPr>
              <p:cNvPr id="91173" name="Text Box 156"/>
              <p:cNvSpPr txBox="1"/>
              <p:nvPr/>
            </p:nvSpPr>
            <p:spPr>
              <a:xfrm>
                <a:off x="3264" y="2880"/>
                <a:ext cx="288" cy="20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D</a:t>
                </a:r>
              </a:p>
            </p:txBody>
          </p:sp>
          <p:sp>
            <p:nvSpPr>
              <p:cNvPr id="91174" name="Text Box 157"/>
              <p:cNvSpPr txBox="1"/>
              <p:nvPr/>
            </p:nvSpPr>
            <p:spPr>
              <a:xfrm>
                <a:off x="3264" y="3168"/>
                <a:ext cx="288" cy="20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grpSp>
        <p:cxnSp>
          <p:nvCxnSpPr>
            <p:cNvPr id="91149" name="直接连接符 70"/>
            <p:cNvCxnSpPr/>
            <p:nvPr/>
          </p:nvCxnSpPr>
          <p:spPr>
            <a:xfrm>
              <a:off x="6911975" y="2775166"/>
              <a:ext cx="398500" cy="1588"/>
            </a:xfrm>
            <a:prstGeom prst="line">
              <a:avLst/>
            </a:prstGeom>
            <a:ln w="9525" cap="flat" cmpd="sng">
              <a:solidFill>
                <a:schemeClr val="tx1"/>
              </a:solidFill>
              <a:prstDash val="solid"/>
              <a:headEnd type="none" w="med" len="med"/>
              <a:tailEnd type="none" w="med" len="med"/>
            </a:ln>
          </p:spPr>
        </p:cxnSp>
        <p:sp>
          <p:nvSpPr>
            <p:cNvPr id="91150" name="Line 122"/>
            <p:cNvSpPr/>
            <p:nvPr/>
          </p:nvSpPr>
          <p:spPr>
            <a:xfrm>
              <a:off x="7310475" y="2451592"/>
              <a:ext cx="0" cy="320174"/>
            </a:xfrm>
            <a:prstGeom prst="line">
              <a:avLst/>
            </a:prstGeom>
            <a:ln w="19050" cap="flat" cmpd="sng">
              <a:solidFill>
                <a:schemeClr val="tx2"/>
              </a:solidFill>
              <a:prstDash val="solid"/>
              <a:headEnd type="none" w="med" len="med"/>
              <a:tailEnd type="none" w="med" len="med"/>
            </a:ln>
          </p:spPr>
        </p:sp>
        <p:sp>
          <p:nvSpPr>
            <p:cNvPr id="91151" name="Line 122"/>
            <p:cNvSpPr/>
            <p:nvPr/>
          </p:nvSpPr>
          <p:spPr>
            <a:xfrm>
              <a:off x="7639092" y="2451592"/>
              <a:ext cx="0" cy="320174"/>
            </a:xfrm>
            <a:prstGeom prst="line">
              <a:avLst/>
            </a:prstGeom>
            <a:ln w="19050" cap="flat" cmpd="sng">
              <a:solidFill>
                <a:schemeClr val="tx2"/>
              </a:solidFill>
              <a:prstDash val="solid"/>
              <a:headEnd type="none" w="med" len="med"/>
              <a:tailEnd type="none" w="med" len="med"/>
            </a:ln>
          </p:spPr>
        </p:sp>
        <p:cxnSp>
          <p:nvCxnSpPr>
            <p:cNvPr id="91152" name="直接连接符 75"/>
            <p:cNvCxnSpPr>
              <a:stCxn id="91150" idx="0"/>
              <a:endCxn id="91151" idx="0"/>
            </p:cNvCxnSpPr>
            <p:nvPr/>
          </p:nvCxnSpPr>
          <p:spPr>
            <a:xfrm rot="-5400000" flipH="1">
              <a:off x="7474776" y="2287277"/>
              <a:ext cx="1588" cy="328617"/>
            </a:xfrm>
            <a:prstGeom prst="line">
              <a:avLst/>
            </a:prstGeom>
            <a:ln w="9525" cap="flat" cmpd="sng">
              <a:solidFill>
                <a:schemeClr val="tx1"/>
              </a:solidFill>
              <a:prstDash val="solid"/>
              <a:headEnd type="none" w="med" len="med"/>
              <a:tailEnd type="none" w="med" len="med"/>
            </a:ln>
          </p:spPr>
        </p:cxnSp>
        <p:cxnSp>
          <p:nvCxnSpPr>
            <p:cNvPr id="91153" name="直接连接符 77"/>
            <p:cNvCxnSpPr>
              <a:stCxn id="91150" idx="0"/>
              <a:endCxn id="91151" idx="0"/>
            </p:cNvCxnSpPr>
            <p:nvPr/>
          </p:nvCxnSpPr>
          <p:spPr>
            <a:xfrm>
              <a:off x="6911975" y="3253759"/>
              <a:ext cx="609600" cy="1588"/>
            </a:xfrm>
            <a:prstGeom prst="line">
              <a:avLst/>
            </a:prstGeom>
            <a:ln w="9525" cap="flat" cmpd="sng">
              <a:solidFill>
                <a:schemeClr val="tx1"/>
              </a:solidFill>
              <a:prstDash val="solid"/>
              <a:headEnd type="none" w="med" len="med"/>
              <a:tailEnd type="none" w="med" len="med"/>
            </a:ln>
          </p:spPr>
        </p:cxnSp>
        <p:sp>
          <p:nvSpPr>
            <p:cNvPr id="91154" name="Line 122"/>
            <p:cNvSpPr/>
            <p:nvPr/>
          </p:nvSpPr>
          <p:spPr>
            <a:xfrm>
              <a:off x="7529553" y="2926261"/>
              <a:ext cx="0" cy="320174"/>
            </a:xfrm>
            <a:prstGeom prst="line">
              <a:avLst/>
            </a:prstGeom>
            <a:ln w="19050" cap="flat" cmpd="sng">
              <a:solidFill>
                <a:schemeClr val="tx2"/>
              </a:solidFill>
              <a:prstDash val="solid"/>
              <a:headEnd type="none" w="med" len="med"/>
              <a:tailEnd type="none" w="med" len="med"/>
            </a:ln>
          </p:spPr>
        </p:sp>
        <p:cxnSp>
          <p:nvCxnSpPr>
            <p:cNvPr id="91155" name="直接连接符 82"/>
            <p:cNvCxnSpPr>
              <a:stCxn id="91151" idx="1"/>
              <a:endCxn id="91151" idx="0"/>
            </p:cNvCxnSpPr>
            <p:nvPr/>
          </p:nvCxnSpPr>
          <p:spPr>
            <a:xfrm rot="-5400000" flipH="1">
              <a:off x="7692132" y="2718713"/>
              <a:ext cx="4988" cy="111083"/>
            </a:xfrm>
            <a:prstGeom prst="line">
              <a:avLst/>
            </a:prstGeom>
            <a:ln w="9525" cap="flat" cmpd="sng">
              <a:solidFill>
                <a:schemeClr val="tx1"/>
              </a:solidFill>
              <a:prstDash val="solid"/>
              <a:headEnd type="none" w="med" len="med"/>
              <a:tailEnd type="none" w="med" len="med"/>
            </a:ln>
          </p:spPr>
        </p:cxnSp>
        <p:cxnSp>
          <p:nvCxnSpPr>
            <p:cNvPr id="91156" name="直接连接符 85"/>
            <p:cNvCxnSpPr>
              <a:stCxn id="91183" idx="1"/>
              <a:endCxn id="91151" idx="0"/>
            </p:cNvCxnSpPr>
            <p:nvPr/>
          </p:nvCxnSpPr>
          <p:spPr>
            <a:xfrm rot="-5400000" flipH="1">
              <a:off x="7925547" y="2262932"/>
              <a:ext cx="83" cy="350838"/>
            </a:xfrm>
            <a:prstGeom prst="line">
              <a:avLst/>
            </a:prstGeom>
            <a:ln w="9525" cap="flat" cmpd="sng">
              <a:solidFill>
                <a:schemeClr val="tx1"/>
              </a:solidFill>
              <a:prstDash val="solid"/>
              <a:headEnd type="none" w="med" len="med"/>
              <a:tailEnd type="none" w="med" len="med"/>
            </a:ln>
          </p:spPr>
        </p:cxnSp>
        <p:sp>
          <p:nvSpPr>
            <p:cNvPr id="7" name="Line 138"/>
            <p:cNvSpPr/>
            <p:nvPr/>
          </p:nvSpPr>
          <p:spPr>
            <a:xfrm flipV="1">
              <a:off x="8101013" y="2443149"/>
              <a:ext cx="0" cy="320174"/>
            </a:xfrm>
            <a:prstGeom prst="line">
              <a:avLst/>
            </a:prstGeom>
            <a:ln w="19050" cap="flat" cmpd="sng">
              <a:solidFill>
                <a:schemeClr val="tx2"/>
              </a:solidFill>
              <a:prstDash val="solid"/>
              <a:headEnd type="none" w="med" len="med"/>
              <a:tailEnd type="none" w="med" len="med"/>
            </a:ln>
          </p:spPr>
        </p:sp>
        <p:cxnSp>
          <p:nvCxnSpPr>
            <p:cNvPr id="8" name="直接连接符 88"/>
            <p:cNvCxnSpPr>
              <a:stCxn id="7" idx="0"/>
              <a:endCxn id="91184" idx="1"/>
            </p:cNvCxnSpPr>
            <p:nvPr/>
          </p:nvCxnSpPr>
          <p:spPr>
            <a:xfrm rot="5400000" flipH="1" flipV="1">
              <a:off x="8266078" y="2593426"/>
              <a:ext cx="4832" cy="334962"/>
            </a:xfrm>
            <a:prstGeom prst="line">
              <a:avLst/>
            </a:prstGeom>
            <a:ln w="9525" cap="flat" cmpd="sng">
              <a:solidFill>
                <a:schemeClr val="tx1"/>
              </a:solidFill>
              <a:prstDash val="solid"/>
              <a:headEnd type="none" w="med" len="med"/>
              <a:tailEnd type="none" w="med" len="med"/>
            </a:ln>
          </p:spPr>
        </p:cxnSp>
        <p:sp>
          <p:nvSpPr>
            <p:cNvPr id="91159" name="Line 122"/>
            <p:cNvSpPr/>
            <p:nvPr/>
          </p:nvSpPr>
          <p:spPr>
            <a:xfrm>
              <a:off x="7639092" y="2921272"/>
              <a:ext cx="0" cy="320174"/>
            </a:xfrm>
            <a:prstGeom prst="line">
              <a:avLst/>
            </a:prstGeom>
            <a:ln w="19050" cap="flat" cmpd="sng">
              <a:solidFill>
                <a:schemeClr val="tx2"/>
              </a:solidFill>
              <a:prstDash val="solid"/>
              <a:headEnd type="none" w="med" len="med"/>
              <a:tailEnd type="none" w="med" len="med"/>
            </a:ln>
          </p:spPr>
        </p:sp>
        <p:cxnSp>
          <p:nvCxnSpPr>
            <p:cNvPr id="91160" name="直接连接符 90"/>
            <p:cNvCxnSpPr>
              <a:stCxn id="91159" idx="1"/>
              <a:endCxn id="91184" idx="1"/>
            </p:cNvCxnSpPr>
            <p:nvPr/>
          </p:nvCxnSpPr>
          <p:spPr>
            <a:xfrm rot="-5400000" flipH="1">
              <a:off x="7692132" y="3188393"/>
              <a:ext cx="4988" cy="111083"/>
            </a:xfrm>
            <a:prstGeom prst="line">
              <a:avLst/>
            </a:prstGeom>
            <a:ln w="9525" cap="flat" cmpd="sng">
              <a:solidFill>
                <a:schemeClr val="tx1"/>
              </a:solidFill>
              <a:prstDash val="solid"/>
              <a:headEnd type="none" w="med" len="med"/>
              <a:tailEnd type="none" w="med" len="med"/>
            </a:ln>
          </p:spPr>
        </p:cxnSp>
        <p:sp>
          <p:nvSpPr>
            <p:cNvPr id="91161" name="Line 138"/>
            <p:cNvSpPr/>
            <p:nvPr/>
          </p:nvSpPr>
          <p:spPr>
            <a:xfrm flipV="1">
              <a:off x="7748631" y="2917818"/>
              <a:ext cx="0" cy="320174"/>
            </a:xfrm>
            <a:prstGeom prst="line">
              <a:avLst/>
            </a:prstGeom>
            <a:ln w="19050" cap="flat" cmpd="sng">
              <a:solidFill>
                <a:schemeClr val="tx2"/>
              </a:solidFill>
              <a:prstDash val="solid"/>
              <a:headEnd type="none" w="med" len="med"/>
              <a:tailEnd type="none" w="med" len="med"/>
            </a:ln>
          </p:spPr>
        </p:sp>
        <p:cxnSp>
          <p:nvCxnSpPr>
            <p:cNvPr id="91162" name="直接连接符 92"/>
            <p:cNvCxnSpPr>
              <a:stCxn id="91159" idx="1"/>
              <a:endCxn id="91184" idx="1"/>
            </p:cNvCxnSpPr>
            <p:nvPr/>
          </p:nvCxnSpPr>
          <p:spPr>
            <a:xfrm>
              <a:off x="7748631" y="2917734"/>
              <a:ext cx="534944" cy="1588"/>
            </a:xfrm>
            <a:prstGeom prst="line">
              <a:avLst/>
            </a:prstGeom>
            <a:ln w="9525" cap="flat" cmpd="sng">
              <a:solidFill>
                <a:schemeClr val="tx1"/>
              </a:solidFill>
              <a:prstDash val="solid"/>
              <a:headEnd type="none" w="med" len="med"/>
              <a:tailEnd type="none" w="med" len="med"/>
            </a:ln>
          </p:spPr>
        </p:cxnSp>
        <p:cxnSp>
          <p:nvCxnSpPr>
            <p:cNvPr id="91163" name="直接连接符 95"/>
            <p:cNvCxnSpPr>
              <a:stCxn id="91154" idx="0"/>
              <a:endCxn id="91159" idx="0"/>
            </p:cNvCxnSpPr>
            <p:nvPr/>
          </p:nvCxnSpPr>
          <p:spPr>
            <a:xfrm rot="5400000" flipH="1" flipV="1">
              <a:off x="7581822" y="2868992"/>
              <a:ext cx="4989" cy="109539"/>
            </a:xfrm>
            <a:prstGeom prst="line">
              <a:avLst/>
            </a:prstGeom>
            <a:ln w="9525" cap="flat" cmpd="sng">
              <a:solidFill>
                <a:schemeClr val="tx1"/>
              </a:solidFill>
              <a:prstDash val="solid"/>
              <a:headEnd type="none" w="med" len="med"/>
              <a:tailEnd type="none" w="med" len="med"/>
            </a:ln>
          </p:spPr>
        </p:cxnSp>
        <p:cxnSp>
          <p:nvCxnSpPr>
            <p:cNvPr id="91164" name="直接连接符 99"/>
            <p:cNvCxnSpPr>
              <a:stCxn id="91179" idx="1"/>
              <a:endCxn id="91159" idx="0"/>
            </p:cNvCxnSpPr>
            <p:nvPr/>
          </p:nvCxnSpPr>
          <p:spPr>
            <a:xfrm rot="-5400000" flipV="1">
              <a:off x="8359775" y="3162551"/>
              <a:ext cx="1588" cy="152400"/>
            </a:xfrm>
            <a:prstGeom prst="line">
              <a:avLst/>
            </a:prstGeom>
            <a:ln w="9525" cap="flat" cmpd="sng">
              <a:solidFill>
                <a:schemeClr val="tx1"/>
              </a:solidFill>
              <a:prstDash val="solid"/>
              <a:headEnd type="none" w="med" len="med"/>
              <a:tailEnd type="none" w="med" len="med"/>
            </a:ln>
          </p:spPr>
        </p:cxnSp>
        <p:sp>
          <p:nvSpPr>
            <p:cNvPr id="91165" name="Line 140"/>
            <p:cNvSpPr/>
            <p:nvPr/>
          </p:nvSpPr>
          <p:spPr>
            <a:xfrm>
              <a:off x="8296326" y="2926261"/>
              <a:ext cx="0" cy="320174"/>
            </a:xfrm>
            <a:prstGeom prst="line">
              <a:avLst/>
            </a:prstGeom>
            <a:ln w="19050" cap="flat" cmpd="sng">
              <a:solidFill>
                <a:schemeClr val="tx2"/>
              </a:solidFill>
              <a:prstDash val="solid"/>
              <a:headEnd type="none" w="med" len="med"/>
              <a:tailEnd type="none" w="med" len="med"/>
            </a:ln>
          </p:spPr>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215"/>
                                        </p:tgtEl>
                                        <p:attrNameLst>
                                          <p:attrName>style.visibility</p:attrName>
                                        </p:attrNameLst>
                                      </p:cBhvr>
                                      <p:to>
                                        <p:strVal val="visible"/>
                                      </p:to>
                                    </p:set>
                                    <p:anim calcmode="lin" valueType="num">
                                      <p:cBhvr additive="base">
                                        <p:cTn id="12" dur="500" fill="hold"/>
                                        <p:tgtEl>
                                          <p:spTgt spid="6215"/>
                                        </p:tgtEl>
                                        <p:attrNameLst>
                                          <p:attrName>ppt_x</p:attrName>
                                        </p:attrNameLst>
                                      </p:cBhvr>
                                      <p:tavLst>
                                        <p:tav tm="0">
                                          <p:val>
                                            <p:strVal val="#ppt_x"/>
                                          </p:val>
                                        </p:tav>
                                        <p:tav tm="100000">
                                          <p:val>
                                            <p:strVal val="#ppt_x"/>
                                          </p:val>
                                        </p:tav>
                                      </p:tavLst>
                                    </p:anim>
                                    <p:anim calcmode="lin" valueType="num">
                                      <p:cBhvr additive="base">
                                        <p:cTn id="13" dur="500" fill="hold"/>
                                        <p:tgtEl>
                                          <p:spTgt spid="621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blinds(horizontal)">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69"/>
                                        </p:tgtEl>
                                        <p:attrNameLst>
                                          <p:attrName>style.visibility</p:attrName>
                                        </p:attrNameLst>
                                      </p:cBhvr>
                                      <p:to>
                                        <p:strVal val="visible"/>
                                      </p:to>
                                    </p:set>
                                    <p:anim calcmode="lin" valueType="num">
                                      <p:cBhvr>
                                        <p:cTn id="34" dur="500" fill="hold"/>
                                        <p:tgtEl>
                                          <p:spTgt spid="69"/>
                                        </p:tgtEl>
                                        <p:attrNameLst>
                                          <p:attrName>ppt_w</p:attrName>
                                        </p:attrNameLst>
                                      </p:cBhvr>
                                      <p:tavLst>
                                        <p:tav tm="0">
                                          <p:val>
                                            <p:fltVal val="0"/>
                                          </p:val>
                                        </p:tav>
                                        <p:tav tm="100000">
                                          <p:val>
                                            <p:strVal val="#ppt_w"/>
                                          </p:val>
                                        </p:tav>
                                      </p:tavLst>
                                    </p:anim>
                                    <p:anim calcmode="lin" valueType="num">
                                      <p:cBhvr>
                                        <p:cTn id="35" dur="500" fill="hold"/>
                                        <p:tgtEl>
                                          <p:spTgt spid="6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p:cNvSpPr>
          <p:nvPr>
            <p:ph type="title" idx="4294967295"/>
          </p:nvPr>
        </p:nvSpPr>
        <p:spPr>
          <a:xfrm>
            <a:off x="3005138" y="465138"/>
            <a:ext cx="6858000"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钟控</a:t>
            </a:r>
            <a:r>
              <a:rPr lang="en-US" altLang="zh-CN" dirty="0">
                <a:latin typeface="Arial" panose="020B0604020202020204" pitchFamily="34" charset="0"/>
                <a:ea typeface="黑体" panose="02010609060101010101" pitchFamily="49" charset="-122"/>
              </a:rPr>
              <a:t>D</a:t>
            </a:r>
            <a:r>
              <a:rPr lang="zh-CN" altLang="en-US" dirty="0">
                <a:latin typeface="Arial" panose="020B0604020202020204" pitchFamily="34" charset="0"/>
                <a:ea typeface="黑体" panose="02010609060101010101" pitchFamily="49" charset="-122"/>
              </a:rPr>
              <a:t>触发器又称为</a:t>
            </a:r>
            <a:r>
              <a:rPr lang="en-US" altLang="zh-CN" dirty="0">
                <a:latin typeface="Arial" panose="020B0604020202020204" pitchFamily="34" charset="0"/>
                <a:ea typeface="黑体" panose="02010609060101010101" pitchFamily="49" charset="-122"/>
              </a:rPr>
              <a:t>D</a:t>
            </a:r>
            <a:r>
              <a:rPr lang="zh-CN" altLang="en-US" dirty="0">
                <a:latin typeface="Arial" panose="020B0604020202020204" pitchFamily="34" charset="0"/>
                <a:ea typeface="黑体" panose="02010609060101010101" pitchFamily="49" charset="-122"/>
              </a:rPr>
              <a:t>锁存器</a:t>
            </a:r>
          </a:p>
        </p:txBody>
      </p:sp>
      <p:sp>
        <p:nvSpPr>
          <p:cNvPr id="7172" name="Text Box 78"/>
          <p:cNvSpPr txBox="1"/>
          <p:nvPr/>
        </p:nvSpPr>
        <p:spPr>
          <a:xfrm>
            <a:off x="2182813" y="4687888"/>
            <a:ext cx="8243887" cy="1032510"/>
          </a:xfrm>
          <a:prstGeom prst="rect">
            <a:avLst/>
          </a:prstGeom>
          <a:noFill/>
          <a:ln w="57150">
            <a:noFill/>
          </a:ln>
        </p:spPr>
        <p:txBody>
          <a:bodyPr>
            <a:spAutoFit/>
          </a:bodyPr>
          <a:lstStyle/>
          <a:p>
            <a:pPr marL="441325" indent="-441325" eaLnBrk="1" hangingPunct="1">
              <a:lnSpc>
                <a:spcPct val="110000"/>
              </a:lnSpc>
              <a:spcBef>
                <a:spcPct val="10000"/>
              </a:spcBef>
              <a:buClr>
                <a:schemeClr val="bg2"/>
              </a:buClr>
              <a:buSzPct val="90000"/>
              <a:buFont typeface="Wingdings" panose="05000000000000000000" pitchFamily="2" charset="2"/>
              <a:buChar char="v"/>
            </a:pPr>
            <a:r>
              <a:rPr lang="zh-CN" altLang="en-US" dirty="0">
                <a:solidFill>
                  <a:schemeClr val="tx1"/>
                </a:solidFill>
                <a:latin typeface="Arial" panose="020B0604020202020204" pitchFamily="34" charset="0"/>
              </a:rPr>
              <a:t>当</a:t>
            </a:r>
            <a:r>
              <a:rPr lang="en-US" altLang="zh-CN" dirty="0">
                <a:solidFill>
                  <a:schemeClr val="tx1"/>
                </a:solidFill>
                <a:latin typeface="Arial" panose="020B0604020202020204" pitchFamily="34" charset="0"/>
              </a:rPr>
              <a:t>CP</a:t>
            </a:r>
            <a:r>
              <a:rPr lang="zh-CN" altLang="en-US" dirty="0">
                <a:solidFill>
                  <a:schemeClr val="tx1"/>
                </a:solidFill>
                <a:latin typeface="Arial" panose="020B0604020202020204" pitchFamily="34" charset="0"/>
              </a:rPr>
              <a:t>＝</a:t>
            </a:r>
            <a:r>
              <a:rPr lang="en-US" altLang="zh-CN" dirty="0">
                <a:solidFill>
                  <a:schemeClr val="tx1"/>
                </a:solidFill>
                <a:latin typeface="Arial" panose="020B0604020202020204" pitchFamily="34" charset="0"/>
              </a:rPr>
              <a:t>1</a:t>
            </a:r>
            <a:r>
              <a:rPr lang="zh-CN" altLang="en-US" dirty="0">
                <a:solidFill>
                  <a:schemeClr val="tx1"/>
                </a:solidFill>
                <a:latin typeface="Arial" panose="020B0604020202020204" pitchFamily="34" charset="0"/>
              </a:rPr>
              <a:t>时，</a:t>
            </a:r>
            <a:r>
              <a:rPr lang="en-US" altLang="zh-CN" dirty="0">
                <a:solidFill>
                  <a:schemeClr val="tx1"/>
                </a:solidFill>
                <a:latin typeface="Arial" panose="020B0604020202020204" pitchFamily="34" charset="0"/>
              </a:rPr>
              <a:t>Q</a:t>
            </a:r>
            <a:r>
              <a:rPr lang="zh-CN" altLang="en-US" dirty="0">
                <a:solidFill>
                  <a:schemeClr val="tx1"/>
                </a:solidFill>
                <a:latin typeface="Arial" panose="020B0604020202020204" pitchFamily="34" charset="0"/>
              </a:rPr>
              <a:t>＝</a:t>
            </a:r>
            <a:r>
              <a:rPr lang="en-US" altLang="zh-CN" dirty="0">
                <a:solidFill>
                  <a:schemeClr val="tx1"/>
                </a:solidFill>
                <a:latin typeface="Arial" panose="020B0604020202020204" pitchFamily="34" charset="0"/>
              </a:rPr>
              <a:t>D</a:t>
            </a:r>
            <a:r>
              <a:rPr lang="zh-CN" altLang="en-US" dirty="0">
                <a:solidFill>
                  <a:schemeClr val="tx1"/>
                </a:solidFill>
                <a:latin typeface="Arial" panose="020B0604020202020204" pitchFamily="34" charset="0"/>
              </a:rPr>
              <a:t>，</a:t>
            </a:r>
            <a:r>
              <a:rPr lang="en-US" altLang="zh-CN" dirty="0">
                <a:solidFill>
                  <a:schemeClr val="tx1"/>
                </a:solidFill>
                <a:latin typeface="Arial" panose="020B0604020202020204" pitchFamily="34" charset="0"/>
              </a:rPr>
              <a:t>Q</a:t>
            </a:r>
            <a:r>
              <a:rPr lang="zh-CN" altLang="en-US" dirty="0">
                <a:solidFill>
                  <a:schemeClr val="tx1"/>
                </a:solidFill>
                <a:latin typeface="Arial" panose="020B0604020202020204" pitchFamily="34" charset="0"/>
              </a:rPr>
              <a:t>的波形与</a:t>
            </a:r>
            <a:r>
              <a:rPr lang="en-US" altLang="zh-CN" dirty="0">
                <a:solidFill>
                  <a:schemeClr val="tx1"/>
                </a:solidFill>
                <a:latin typeface="Arial" panose="020B0604020202020204" pitchFamily="34" charset="0"/>
              </a:rPr>
              <a:t>D</a:t>
            </a:r>
            <a:r>
              <a:rPr lang="zh-CN" altLang="en-US" dirty="0">
                <a:solidFill>
                  <a:schemeClr val="tx1"/>
                </a:solidFill>
                <a:latin typeface="Arial" panose="020B0604020202020204" pitchFamily="34" charset="0"/>
              </a:rPr>
              <a:t>的波形相同。</a:t>
            </a:r>
          </a:p>
          <a:p>
            <a:pPr marL="441325" indent="-441325" eaLnBrk="1" hangingPunct="1">
              <a:lnSpc>
                <a:spcPct val="110000"/>
              </a:lnSpc>
              <a:spcBef>
                <a:spcPct val="10000"/>
              </a:spcBef>
              <a:buClr>
                <a:schemeClr val="bg2"/>
              </a:buClr>
              <a:buSzPct val="90000"/>
              <a:buFont typeface="Wingdings" panose="05000000000000000000" pitchFamily="2" charset="2"/>
              <a:buChar char="v"/>
            </a:pPr>
            <a:r>
              <a:rPr lang="en-US" altLang="zh-CN" dirty="0">
                <a:solidFill>
                  <a:schemeClr val="tx1"/>
                </a:solidFill>
                <a:latin typeface="Arial" panose="020B0604020202020204" pitchFamily="34" charset="0"/>
              </a:rPr>
              <a:t>CP</a:t>
            </a:r>
            <a:r>
              <a:rPr lang="zh-CN" altLang="en-US" dirty="0">
                <a:solidFill>
                  <a:schemeClr val="tx1"/>
                </a:solidFill>
                <a:latin typeface="Arial" panose="020B0604020202020204" pitchFamily="34" charset="0"/>
              </a:rPr>
              <a:t>＝</a:t>
            </a:r>
            <a:r>
              <a:rPr lang="en-US" altLang="zh-CN" dirty="0">
                <a:solidFill>
                  <a:schemeClr val="tx1"/>
                </a:solidFill>
                <a:latin typeface="Arial" panose="020B0604020202020204" pitchFamily="34" charset="0"/>
              </a:rPr>
              <a:t>1“</a:t>
            </a:r>
            <a:r>
              <a:rPr lang="zh-CN" altLang="en-US" dirty="0">
                <a:solidFill>
                  <a:schemeClr val="tx1"/>
                </a:solidFill>
                <a:latin typeface="Arial" panose="020B0604020202020204" pitchFamily="34" charset="0"/>
              </a:rPr>
              <a:t>电位”一到，触发器就接收数据，这种触发器称为“</a:t>
            </a:r>
            <a:r>
              <a:rPr lang="zh-CN" altLang="en-US" dirty="0">
                <a:solidFill>
                  <a:srgbClr val="FF0000"/>
                </a:solidFill>
                <a:latin typeface="Arial" panose="020B0604020202020204" pitchFamily="34" charset="0"/>
              </a:rPr>
              <a:t>电位触发器</a:t>
            </a:r>
            <a:r>
              <a:rPr lang="zh-CN" altLang="en-US" dirty="0">
                <a:solidFill>
                  <a:schemeClr val="tx1"/>
                </a:solidFill>
                <a:latin typeface="Arial" panose="020B0604020202020204" pitchFamily="34" charset="0"/>
              </a:rPr>
              <a:t>” ，它与集成触发器不同。</a:t>
            </a:r>
          </a:p>
        </p:txBody>
      </p:sp>
      <p:grpSp>
        <p:nvGrpSpPr>
          <p:cNvPr id="2" name="Group 0"/>
          <p:cNvGrpSpPr/>
          <p:nvPr/>
        </p:nvGrpSpPr>
        <p:grpSpPr>
          <a:xfrm>
            <a:off x="3197225" y="2168525"/>
            <a:ext cx="5829300" cy="2160588"/>
            <a:chOff x="1054" y="1028"/>
            <a:chExt cx="3672" cy="1361"/>
          </a:xfrm>
        </p:grpSpPr>
        <p:graphicFrame>
          <p:nvGraphicFramePr>
            <p:cNvPr id="93194" name="Object 80"/>
            <p:cNvGraphicFramePr>
              <a:graphicFrameLocks noChangeAspect="1"/>
            </p:cNvGraphicFramePr>
            <p:nvPr/>
          </p:nvGraphicFramePr>
          <p:xfrm>
            <a:off x="1460" y="1028"/>
            <a:ext cx="3266" cy="1361"/>
          </p:xfrm>
          <a:graphic>
            <a:graphicData uri="http://schemas.openxmlformats.org/presentationml/2006/ole">
              <mc:AlternateContent xmlns:mc="http://schemas.openxmlformats.org/markup-compatibility/2006">
                <mc:Choice xmlns:v="urn:schemas-microsoft-com:vml" Requires="v">
                  <p:oleObj spid="_x0000_s25602" r:id="rId4" imgW="2752725" imgH="838200" progId="PBrush">
                    <p:embed/>
                  </p:oleObj>
                </mc:Choice>
                <mc:Fallback>
                  <p:oleObj r:id="rId4" imgW="2752725" imgH="838200" progId="PBrush">
                    <p:embed/>
                    <p:pic>
                      <p:nvPicPr>
                        <p:cNvPr id="0" name="图片 3084"/>
                        <p:cNvPicPr/>
                        <p:nvPr/>
                      </p:nvPicPr>
                      <p:blipFill>
                        <a:blip r:embed="rId5"/>
                        <a:stretch>
                          <a:fillRect/>
                        </a:stretch>
                      </p:blipFill>
                      <p:spPr>
                        <a:xfrm>
                          <a:off x="1460" y="1028"/>
                          <a:ext cx="3266" cy="1361"/>
                        </a:xfrm>
                        <a:prstGeom prst="rect">
                          <a:avLst/>
                        </a:prstGeom>
                        <a:noFill/>
                        <a:ln w="38100">
                          <a:noFill/>
                          <a:miter/>
                        </a:ln>
                      </p:spPr>
                    </p:pic>
                  </p:oleObj>
                </mc:Fallback>
              </mc:AlternateContent>
            </a:graphicData>
          </a:graphic>
        </p:graphicFrame>
        <p:sp>
          <p:nvSpPr>
            <p:cNvPr id="93195" name="Rectangle 81"/>
            <p:cNvSpPr/>
            <p:nvPr/>
          </p:nvSpPr>
          <p:spPr>
            <a:xfrm>
              <a:off x="1054" y="1042"/>
              <a:ext cx="402" cy="1336"/>
            </a:xfrm>
            <a:prstGeom prst="rect">
              <a:avLst/>
            </a:prstGeom>
            <a:solidFill>
              <a:schemeClr val="bg1"/>
            </a:solidFill>
            <a:ln w="38100" cap="flat" cmpd="sng">
              <a:solidFill>
                <a:srgbClr val="FFFFFF"/>
              </a:solidFill>
              <a:prstDash val="solid"/>
              <a:miter/>
              <a:headEnd type="none" w="med" len="med"/>
              <a:tailEnd type="none" w="med" len="med"/>
            </a:ln>
          </p:spPr>
          <p:txBody>
            <a:bodyPr wrap="none" anchor="ctr" anchorCtr="0"/>
            <a:lstStyle/>
            <a:p>
              <a:pPr algn="ctr" eaLnBrk="1" hangingPunct="1"/>
              <a:endParaRPr lang="zh-CN" altLang="en-US" dirty="0">
                <a:latin typeface="Arial" panose="020B0604020202020204" pitchFamily="34" charset="0"/>
              </a:endParaRPr>
            </a:p>
          </p:txBody>
        </p:sp>
        <p:sp>
          <p:nvSpPr>
            <p:cNvPr id="93196" name="Text Box 82"/>
            <p:cNvSpPr txBox="1"/>
            <p:nvPr/>
          </p:nvSpPr>
          <p:spPr>
            <a:xfrm>
              <a:off x="1054" y="1247"/>
              <a:ext cx="522" cy="251"/>
            </a:xfrm>
            <a:prstGeom prst="rect">
              <a:avLst/>
            </a:prstGeom>
            <a:noFill/>
            <a:ln w="38100">
              <a:noFill/>
            </a:ln>
          </p:spPr>
          <p:txBody>
            <a:bodyPr>
              <a:spAutoFit/>
            </a:bodyPr>
            <a:lstStyle/>
            <a:p>
              <a:pPr eaLnBrk="1" hangingPunct="1">
                <a:spcBef>
                  <a:spcPct val="50000"/>
                </a:spcBef>
              </a:pPr>
              <a:r>
                <a:rPr lang="en-US" altLang="zh-CN" sz="2000" dirty="0">
                  <a:solidFill>
                    <a:schemeClr val="tx1"/>
                  </a:solidFill>
                  <a:latin typeface="Times New Roman" panose="02020603050405020304" pitchFamily="18" charset="0"/>
                </a:rPr>
                <a:t>CP</a:t>
              </a:r>
            </a:p>
          </p:txBody>
        </p:sp>
        <p:sp>
          <p:nvSpPr>
            <p:cNvPr id="93197" name="Text Box 83"/>
            <p:cNvSpPr txBox="1"/>
            <p:nvPr/>
          </p:nvSpPr>
          <p:spPr>
            <a:xfrm>
              <a:off x="1239" y="1660"/>
              <a:ext cx="337" cy="251"/>
            </a:xfrm>
            <a:prstGeom prst="rect">
              <a:avLst/>
            </a:prstGeom>
            <a:noFill/>
            <a:ln w="38100">
              <a:noFill/>
            </a:ln>
          </p:spPr>
          <p:txBody>
            <a:bodyPr>
              <a:spAutoFit/>
            </a:bodyPr>
            <a:lstStyle/>
            <a:p>
              <a:pPr eaLnBrk="1" hangingPunct="1">
                <a:spcBef>
                  <a:spcPct val="50000"/>
                </a:spcBef>
              </a:pPr>
              <a:r>
                <a:rPr lang="en-US" altLang="zh-CN" sz="2000" dirty="0">
                  <a:solidFill>
                    <a:schemeClr val="tx1"/>
                  </a:solidFill>
                  <a:latin typeface="Times New Roman" panose="02020603050405020304" pitchFamily="18" charset="0"/>
                </a:rPr>
                <a:t>D</a:t>
              </a:r>
            </a:p>
          </p:txBody>
        </p:sp>
        <p:sp>
          <p:nvSpPr>
            <p:cNvPr id="93198" name="Text Box 84"/>
            <p:cNvSpPr txBox="1"/>
            <p:nvPr/>
          </p:nvSpPr>
          <p:spPr>
            <a:xfrm>
              <a:off x="1076" y="2029"/>
              <a:ext cx="587" cy="251"/>
            </a:xfrm>
            <a:prstGeom prst="rect">
              <a:avLst/>
            </a:prstGeom>
            <a:noFill/>
            <a:ln w="38100">
              <a:noFill/>
            </a:ln>
          </p:spPr>
          <p:txBody>
            <a:bodyPr>
              <a:spAutoFit/>
            </a:bodyPr>
            <a:lstStyle/>
            <a:p>
              <a:pPr eaLnBrk="1" hangingPunct="1">
                <a:spcBef>
                  <a:spcPct val="50000"/>
                </a:spcBef>
              </a:pPr>
              <a:r>
                <a:rPr lang="en-US" altLang="zh-CN" sz="2000" dirty="0">
                  <a:solidFill>
                    <a:schemeClr val="tx1"/>
                  </a:solidFill>
                  <a:latin typeface="Times New Roman" panose="02020603050405020304" pitchFamily="18" charset="0"/>
                </a:rPr>
                <a:t>Q</a:t>
              </a:r>
              <a:r>
                <a:rPr lang="en-US" altLang="zh-CN" sz="2000" baseline="30000" dirty="0">
                  <a:solidFill>
                    <a:schemeClr val="tx1"/>
                  </a:solidFill>
                  <a:latin typeface="Times New Roman" panose="02020603050405020304" pitchFamily="18" charset="0"/>
                </a:rPr>
                <a:t>n+1</a:t>
              </a:r>
            </a:p>
          </p:txBody>
        </p:sp>
        <p:sp>
          <p:nvSpPr>
            <p:cNvPr id="93199" name="Rectangle 85"/>
            <p:cNvSpPr/>
            <p:nvPr/>
          </p:nvSpPr>
          <p:spPr>
            <a:xfrm>
              <a:off x="1468" y="1457"/>
              <a:ext cx="3253" cy="56"/>
            </a:xfrm>
            <a:prstGeom prst="rect">
              <a:avLst/>
            </a:prstGeom>
            <a:solidFill>
              <a:schemeClr val="bg1"/>
            </a:solidFill>
            <a:ln w="38100">
              <a:noFill/>
            </a:ln>
          </p:spPr>
          <p:txBody>
            <a:bodyPr wrap="none" anchor="ctr" anchorCtr="0"/>
            <a:lstStyle/>
            <a:p>
              <a:pPr algn="ctr" eaLnBrk="1" hangingPunct="1"/>
              <a:endParaRPr lang="zh-CN" altLang="en-US" dirty="0">
                <a:latin typeface="Arial" panose="020B0604020202020204" pitchFamily="34" charset="0"/>
              </a:endParaRPr>
            </a:p>
          </p:txBody>
        </p:sp>
        <p:sp>
          <p:nvSpPr>
            <p:cNvPr id="93200" name="Rectangle 86"/>
            <p:cNvSpPr/>
            <p:nvPr/>
          </p:nvSpPr>
          <p:spPr>
            <a:xfrm>
              <a:off x="1468" y="1457"/>
              <a:ext cx="3253" cy="56"/>
            </a:xfrm>
            <a:prstGeom prst="rect">
              <a:avLst/>
            </a:prstGeom>
            <a:solidFill>
              <a:schemeClr val="bg1"/>
            </a:solidFill>
            <a:ln w="38100">
              <a:noFill/>
            </a:ln>
          </p:spPr>
          <p:txBody>
            <a:bodyPr wrap="none" anchor="ctr" anchorCtr="0"/>
            <a:lstStyle/>
            <a:p>
              <a:pPr algn="ctr" eaLnBrk="1" hangingPunct="1"/>
              <a:endParaRPr lang="zh-CN" altLang="en-US" dirty="0">
                <a:latin typeface="Arial" panose="020B0604020202020204" pitchFamily="34" charset="0"/>
              </a:endParaRPr>
            </a:p>
          </p:txBody>
        </p:sp>
        <p:sp>
          <p:nvSpPr>
            <p:cNvPr id="93201" name="Rectangle 87"/>
            <p:cNvSpPr/>
            <p:nvPr/>
          </p:nvSpPr>
          <p:spPr>
            <a:xfrm>
              <a:off x="1467" y="1874"/>
              <a:ext cx="3253" cy="56"/>
            </a:xfrm>
            <a:prstGeom prst="rect">
              <a:avLst/>
            </a:prstGeom>
            <a:solidFill>
              <a:schemeClr val="bg1"/>
            </a:solidFill>
            <a:ln w="38100">
              <a:noFill/>
            </a:ln>
          </p:spPr>
          <p:txBody>
            <a:bodyPr wrap="none" anchor="ctr" anchorCtr="0"/>
            <a:lstStyle/>
            <a:p>
              <a:pPr algn="ctr" eaLnBrk="1" hangingPunct="1"/>
              <a:endParaRPr lang="zh-CN" altLang="en-US" dirty="0">
                <a:latin typeface="Arial" panose="020B0604020202020204" pitchFamily="34" charset="0"/>
              </a:endParaRPr>
            </a:p>
          </p:txBody>
        </p:sp>
        <p:sp>
          <p:nvSpPr>
            <p:cNvPr id="93202" name="Rectangle 88"/>
            <p:cNvSpPr/>
            <p:nvPr/>
          </p:nvSpPr>
          <p:spPr>
            <a:xfrm>
              <a:off x="1466" y="2270"/>
              <a:ext cx="3253" cy="56"/>
            </a:xfrm>
            <a:prstGeom prst="rect">
              <a:avLst/>
            </a:prstGeom>
            <a:solidFill>
              <a:schemeClr val="bg1"/>
            </a:solidFill>
            <a:ln w="38100">
              <a:noFill/>
            </a:ln>
          </p:spPr>
          <p:txBody>
            <a:bodyPr wrap="none" anchor="ctr" anchorCtr="0"/>
            <a:lstStyle/>
            <a:p>
              <a:pPr algn="ctr" eaLnBrk="1" hangingPunct="1"/>
              <a:endParaRPr lang="zh-CN" altLang="en-US" dirty="0">
                <a:latin typeface="Arial" panose="020B0604020202020204" pitchFamily="34" charset="0"/>
              </a:endParaRPr>
            </a:p>
          </p:txBody>
        </p:sp>
      </p:grpSp>
      <p:sp>
        <p:nvSpPr>
          <p:cNvPr id="93189" name="灯片编号占位符 4"/>
          <p:cNvSpPr txBox="1">
            <a:spLocks noGrp="1"/>
          </p:cNvSpPr>
          <p:nvPr/>
        </p:nvSpPr>
        <p:spPr>
          <a:xfrm>
            <a:off x="9625013" y="6453188"/>
            <a:ext cx="871537" cy="304800"/>
          </a:xfrm>
          <a:prstGeom prst="rect">
            <a:avLst/>
          </a:prstGeom>
          <a:noFill/>
          <a:ln w="9525">
            <a:noFill/>
          </a:ln>
        </p:spPr>
        <p:txBody>
          <a:bodyPr/>
          <a:lstStyle/>
          <a:p>
            <a:pPr algn="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42</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7187" name="Oval 19"/>
          <p:cNvSpPr/>
          <p:nvPr/>
        </p:nvSpPr>
        <p:spPr>
          <a:xfrm>
            <a:off x="5807075" y="3571875"/>
            <a:ext cx="1404938" cy="185738"/>
          </a:xfrm>
          <a:prstGeom prst="ellipse">
            <a:avLst/>
          </a:prstGeom>
          <a:noFill/>
          <a:ln w="9525" cap="flat" cmpd="sng">
            <a:solidFill>
              <a:srgbClr val="FF0066"/>
            </a:solidFill>
            <a:prstDash val="solid"/>
            <a:headEnd type="none" w="med" len="med"/>
            <a:tailEnd type="none" w="med" len="med"/>
          </a:ln>
        </p:spPr>
        <p:txBody>
          <a:bodyPr wrap="none" anchor="ctr" anchorCtr="0"/>
          <a:lstStyle/>
          <a:p>
            <a:pPr algn="ctr" eaLnBrk="1" hangingPunct="1"/>
            <a:endParaRPr lang="zh-CN" altLang="en-US" dirty="0">
              <a:latin typeface="Arial" panose="020B0604020202020204" pitchFamily="34" charset="0"/>
            </a:endParaRPr>
          </a:p>
        </p:txBody>
      </p:sp>
      <p:sp>
        <p:nvSpPr>
          <p:cNvPr id="7188" name="Rectangle 20"/>
          <p:cNvSpPr/>
          <p:nvPr/>
        </p:nvSpPr>
        <p:spPr>
          <a:xfrm>
            <a:off x="5726113" y="3895725"/>
            <a:ext cx="1846262" cy="398780"/>
          </a:xfrm>
          <a:prstGeom prst="rect">
            <a:avLst/>
          </a:prstGeom>
          <a:noFill/>
          <a:ln w="9525">
            <a:noFill/>
          </a:ln>
          <a:effectLst>
            <a:prstShdw prst="shdw13" dist="53882" dir="13499999">
              <a:srgbClr val="166A6A">
                <a:alpha val="50000"/>
              </a:srgbClr>
            </a:prstShdw>
          </a:effectLst>
        </p:spPr>
        <p:txBody>
          <a:bodyPr>
            <a:spAutoFit/>
          </a:bodyPr>
          <a:lstStyle/>
          <a:p>
            <a:pPr algn="ctr" eaLnBrk="1" hangingPunct="1"/>
            <a:r>
              <a:rPr lang="en-US" altLang="zh-CN" sz="2000" dirty="0">
                <a:solidFill>
                  <a:srgbClr val="C00000"/>
                </a:solidFill>
                <a:latin typeface="Arial" panose="020B0604020202020204" pitchFamily="34" charset="0"/>
                <a:ea typeface="楷体_GB2312" pitchFamily="49" charset="-122"/>
              </a:rPr>
              <a:t>CP=0</a:t>
            </a:r>
            <a:r>
              <a:rPr lang="zh-CN" altLang="en-US" sz="2000" dirty="0">
                <a:solidFill>
                  <a:srgbClr val="C00000"/>
                </a:solidFill>
                <a:latin typeface="Arial" panose="020B0604020202020204" pitchFamily="34" charset="0"/>
                <a:ea typeface="楷体_GB2312" pitchFamily="49" charset="-122"/>
              </a:rPr>
              <a:t>时保持</a:t>
            </a:r>
          </a:p>
        </p:txBody>
      </p:sp>
      <p:sp>
        <p:nvSpPr>
          <p:cNvPr id="7177" name="Rectangle 18"/>
          <p:cNvSpPr/>
          <p:nvPr/>
        </p:nvSpPr>
        <p:spPr>
          <a:xfrm>
            <a:off x="1524000" y="2973388"/>
            <a:ext cx="1966913" cy="706755"/>
          </a:xfrm>
          <a:prstGeom prst="rect">
            <a:avLst/>
          </a:prstGeom>
          <a:noFill/>
          <a:ln w="9525">
            <a:noFill/>
          </a:ln>
          <a:effectLst>
            <a:prstShdw prst="shdw13" dist="53882" dir="13499999">
              <a:srgbClr val="5B8E91">
                <a:alpha val="50000"/>
              </a:srgbClr>
            </a:prstShdw>
          </a:effectLst>
        </p:spPr>
        <p:txBody>
          <a:bodyPr>
            <a:spAutoFit/>
          </a:bodyPr>
          <a:lstStyle/>
          <a:p>
            <a:pPr algn="ctr" eaLnBrk="1" hangingPunct="1"/>
            <a:r>
              <a:rPr lang="zh-CN" altLang="en-US" sz="2000" dirty="0">
                <a:solidFill>
                  <a:srgbClr val="C00000"/>
                </a:solidFill>
                <a:latin typeface="Arial" panose="020B0604020202020204" pitchFamily="34" charset="0"/>
                <a:ea typeface="楷体_GB2312" pitchFamily="49" charset="-122"/>
              </a:rPr>
              <a:t>钟控</a:t>
            </a:r>
            <a:r>
              <a:rPr lang="en-US" altLang="zh-CN" sz="2000" dirty="0">
                <a:solidFill>
                  <a:srgbClr val="C00000"/>
                </a:solidFill>
                <a:latin typeface="Arial" panose="020B0604020202020204" pitchFamily="34" charset="0"/>
                <a:ea typeface="楷体_GB2312" pitchFamily="49" charset="-122"/>
              </a:rPr>
              <a:t>D</a:t>
            </a:r>
            <a:r>
              <a:rPr lang="zh-CN" altLang="en-US" sz="2000" dirty="0">
                <a:solidFill>
                  <a:srgbClr val="C00000"/>
                </a:solidFill>
                <a:latin typeface="Arial" panose="020B0604020202020204" pitchFamily="34" charset="0"/>
                <a:ea typeface="楷体_GB2312" pitchFamily="49" charset="-122"/>
              </a:rPr>
              <a:t>触发器（Ｄ锁存器）</a:t>
            </a:r>
          </a:p>
        </p:txBody>
      </p:sp>
      <p:sp>
        <p:nvSpPr>
          <p:cNvPr id="93193" name="Text Box 78"/>
          <p:cNvSpPr txBox="1"/>
          <p:nvPr/>
        </p:nvSpPr>
        <p:spPr>
          <a:xfrm>
            <a:off x="1890713" y="1089025"/>
            <a:ext cx="8535987" cy="1240155"/>
          </a:xfrm>
          <a:prstGeom prst="rect">
            <a:avLst/>
          </a:prstGeom>
          <a:noFill/>
          <a:ln w="57150">
            <a:noFill/>
          </a:ln>
        </p:spPr>
        <p:txBody>
          <a:bodyPr>
            <a:spAutoFit/>
          </a:bodyPr>
          <a:lstStyle/>
          <a:p>
            <a:pPr marL="441325" indent="-441325" eaLnBrk="1" hangingPunct="1">
              <a:lnSpc>
                <a:spcPct val="110000"/>
              </a:lnSpc>
              <a:spcBef>
                <a:spcPct val="10000"/>
              </a:spcBef>
              <a:buClr>
                <a:schemeClr val="bg2"/>
              </a:buClr>
              <a:buSzPct val="90000"/>
              <a:buFont typeface="Wingdings" panose="05000000000000000000" pitchFamily="2" charset="2"/>
              <a:buChar char="v"/>
            </a:pPr>
            <a:r>
              <a:rPr lang="zh-CN" altLang="en-US" sz="2200" dirty="0">
                <a:solidFill>
                  <a:schemeClr val="tx1"/>
                </a:solidFill>
                <a:latin typeface="Arial" panose="020B0604020202020204" pitchFamily="34" charset="0"/>
              </a:rPr>
              <a:t>集成</a:t>
            </a:r>
            <a:r>
              <a:rPr lang="en-US" altLang="zh-CN" sz="2200" dirty="0">
                <a:solidFill>
                  <a:schemeClr val="tx1"/>
                </a:solidFill>
                <a:latin typeface="Arial" panose="020B0604020202020204" pitchFamily="34" charset="0"/>
              </a:rPr>
              <a:t>D</a:t>
            </a:r>
            <a:r>
              <a:rPr lang="zh-CN" altLang="en-US" sz="2200" dirty="0">
                <a:solidFill>
                  <a:schemeClr val="tx1"/>
                </a:solidFill>
                <a:latin typeface="Arial" panose="020B0604020202020204" pitchFamily="34" charset="0"/>
              </a:rPr>
              <a:t>触发器（边沿触发）的状态变化只发生在</a:t>
            </a:r>
            <a:r>
              <a:rPr lang="en-US" altLang="zh-CN" sz="2200" dirty="0">
                <a:solidFill>
                  <a:schemeClr val="tx1"/>
                </a:solidFill>
                <a:latin typeface="Arial" panose="020B0604020202020204" pitchFamily="34" charset="0"/>
              </a:rPr>
              <a:t>CP</a:t>
            </a:r>
            <a:r>
              <a:rPr lang="zh-CN" altLang="en-US" sz="2200" dirty="0">
                <a:solidFill>
                  <a:schemeClr val="tx1"/>
                </a:solidFill>
                <a:latin typeface="Arial" panose="020B0604020202020204" pitchFamily="34" charset="0"/>
              </a:rPr>
              <a:t>的上升沿或下降沿到来时</a:t>
            </a:r>
            <a:endParaRPr lang="en-US" altLang="zh-CN" sz="2200" dirty="0">
              <a:solidFill>
                <a:schemeClr val="tx1"/>
              </a:solidFill>
              <a:latin typeface="Arial" panose="020B0604020202020204" pitchFamily="34" charset="0"/>
            </a:endParaRPr>
          </a:p>
          <a:p>
            <a:pPr marL="441325" indent="-441325" eaLnBrk="1" hangingPunct="1">
              <a:lnSpc>
                <a:spcPct val="110000"/>
              </a:lnSpc>
              <a:spcBef>
                <a:spcPct val="10000"/>
              </a:spcBef>
              <a:buClr>
                <a:schemeClr val="bg2"/>
              </a:buClr>
              <a:buSzPct val="90000"/>
              <a:buFont typeface="Wingdings" panose="05000000000000000000" pitchFamily="2" charset="2"/>
              <a:buChar char="v"/>
            </a:pPr>
            <a:r>
              <a:rPr lang="zh-CN" altLang="en-US" sz="2200" dirty="0">
                <a:solidFill>
                  <a:schemeClr val="tx1"/>
                </a:solidFill>
                <a:latin typeface="Arial" panose="020B0604020202020204" pitchFamily="34" charset="0"/>
              </a:rPr>
              <a:t>为了与集成</a:t>
            </a:r>
            <a:r>
              <a:rPr lang="en-US" altLang="zh-CN" sz="2200" dirty="0">
                <a:solidFill>
                  <a:schemeClr val="tx1"/>
                </a:solidFill>
                <a:latin typeface="Arial" panose="020B0604020202020204" pitchFamily="34" charset="0"/>
              </a:rPr>
              <a:t>D</a:t>
            </a:r>
            <a:r>
              <a:rPr lang="zh-CN" altLang="en-US" sz="2200" dirty="0">
                <a:solidFill>
                  <a:schemeClr val="tx1"/>
                </a:solidFill>
                <a:latin typeface="Arial" panose="020B0604020202020204" pitchFamily="34" charset="0"/>
              </a:rPr>
              <a:t>触发器区别，将钟控</a:t>
            </a:r>
            <a:r>
              <a:rPr lang="en-US" altLang="zh-CN" sz="2200" dirty="0">
                <a:solidFill>
                  <a:schemeClr val="tx1"/>
                </a:solidFill>
                <a:latin typeface="Arial" panose="020B0604020202020204" pitchFamily="34" charset="0"/>
              </a:rPr>
              <a:t>D</a:t>
            </a:r>
            <a:r>
              <a:rPr lang="zh-CN" altLang="en-US" sz="2200" dirty="0">
                <a:solidFill>
                  <a:schemeClr val="tx1"/>
                </a:solidFill>
                <a:latin typeface="Arial" panose="020B0604020202020204" pitchFamily="34" charset="0"/>
              </a:rPr>
              <a:t>触发器称为</a:t>
            </a:r>
            <a:r>
              <a:rPr lang="en-US" altLang="zh-CN" sz="2200" dirty="0">
                <a:solidFill>
                  <a:srgbClr val="FF0000"/>
                </a:solidFill>
                <a:latin typeface="Arial" panose="020B0604020202020204" pitchFamily="34" charset="0"/>
              </a:rPr>
              <a:t>D</a:t>
            </a:r>
            <a:r>
              <a:rPr lang="zh-CN" altLang="en-US" sz="2200" dirty="0">
                <a:solidFill>
                  <a:srgbClr val="FF0000"/>
                </a:solidFill>
                <a:latin typeface="Arial" panose="020B0604020202020204" pitchFamily="34" charset="0"/>
              </a:rPr>
              <a:t>锁存器</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177"/>
                                        </p:tgtEl>
                                        <p:attrNameLst>
                                          <p:attrName>style.visibility</p:attrName>
                                        </p:attrNameLst>
                                      </p:cBhvr>
                                      <p:to>
                                        <p:strVal val="visible"/>
                                      </p:to>
                                    </p:set>
                                    <p:anim calcmode="lin" valueType="num">
                                      <p:cBhvr>
                                        <p:cTn id="7" dur="500" fill="hold"/>
                                        <p:tgtEl>
                                          <p:spTgt spid="7177"/>
                                        </p:tgtEl>
                                        <p:attrNameLst>
                                          <p:attrName>ppt_w</p:attrName>
                                        </p:attrNameLst>
                                      </p:cBhvr>
                                      <p:tavLst>
                                        <p:tav tm="0">
                                          <p:val>
                                            <p:fltVal val="0"/>
                                          </p:val>
                                        </p:tav>
                                        <p:tav tm="100000">
                                          <p:val>
                                            <p:strVal val="#ppt_w"/>
                                          </p:val>
                                        </p:tav>
                                      </p:tavLst>
                                    </p:anim>
                                    <p:anim calcmode="lin" valueType="num">
                                      <p:cBhvr>
                                        <p:cTn id="8" dur="500" fill="hold"/>
                                        <p:tgtEl>
                                          <p:spTgt spid="717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3" presetClass="entr" presetSubtype="10"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172">
                                            <p:txEl>
                                              <p:pRg st="0" end="0"/>
                                            </p:txEl>
                                          </p:spTgt>
                                        </p:tgtEl>
                                        <p:attrNameLst>
                                          <p:attrName>style.visibility</p:attrName>
                                        </p:attrNameLst>
                                      </p:cBhvr>
                                      <p:to>
                                        <p:strVal val="visible"/>
                                      </p:to>
                                    </p:set>
                                    <p:anim calcmode="lin" valueType="num">
                                      <p:cBhvr additive="base">
                                        <p:cTn id="17" dur="500" fill="hold"/>
                                        <p:tgtEl>
                                          <p:spTgt spid="7172">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1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7187"/>
                                        </p:tgtEl>
                                        <p:attrNameLst>
                                          <p:attrName>style.visibility</p:attrName>
                                        </p:attrNameLst>
                                      </p:cBhvr>
                                      <p:to>
                                        <p:strVal val="visible"/>
                                      </p:to>
                                    </p:set>
                                    <p:anim calcmode="lin" valueType="num">
                                      <p:cBhvr>
                                        <p:cTn id="23" dur="500" fill="hold"/>
                                        <p:tgtEl>
                                          <p:spTgt spid="7187"/>
                                        </p:tgtEl>
                                        <p:attrNameLst>
                                          <p:attrName>ppt_w</p:attrName>
                                        </p:attrNameLst>
                                      </p:cBhvr>
                                      <p:tavLst>
                                        <p:tav tm="0">
                                          <p:val>
                                            <p:fltVal val="0"/>
                                          </p:val>
                                        </p:tav>
                                        <p:tav tm="100000">
                                          <p:val>
                                            <p:strVal val="#ppt_w"/>
                                          </p:val>
                                        </p:tav>
                                      </p:tavLst>
                                    </p:anim>
                                    <p:anim calcmode="lin" valueType="num">
                                      <p:cBhvr>
                                        <p:cTn id="24" dur="500" fill="hold"/>
                                        <p:tgtEl>
                                          <p:spTgt spid="7187"/>
                                        </p:tgtEl>
                                        <p:attrNameLst>
                                          <p:attrName>ppt_h</p:attrName>
                                        </p:attrNameLst>
                                      </p:cBhvr>
                                      <p:tavLst>
                                        <p:tav tm="0">
                                          <p:val>
                                            <p:fltVal val="0"/>
                                          </p:val>
                                        </p:tav>
                                        <p:tav tm="100000">
                                          <p:val>
                                            <p:strVal val="#ppt_h"/>
                                          </p:val>
                                        </p:tav>
                                      </p:tavLst>
                                    </p:anim>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7188"/>
                                        </p:tgtEl>
                                        <p:attrNameLst>
                                          <p:attrName>style.visibility</p:attrName>
                                        </p:attrNameLst>
                                      </p:cBhvr>
                                      <p:to>
                                        <p:strVal val="visible"/>
                                      </p:to>
                                    </p:set>
                                    <p:animEffect transition="in" filter="dissolve">
                                      <p:cBhvr>
                                        <p:cTn id="28" dur="500"/>
                                        <p:tgtEl>
                                          <p:spTgt spid="718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7172">
                                            <p:txEl>
                                              <p:pRg st="1" end="1"/>
                                            </p:txEl>
                                          </p:spTgt>
                                        </p:tgtEl>
                                        <p:attrNameLst>
                                          <p:attrName>style.visibility</p:attrName>
                                        </p:attrNameLst>
                                      </p:cBhvr>
                                      <p:to>
                                        <p:strVal val="visible"/>
                                      </p:to>
                                    </p:set>
                                    <p:anim calcmode="lin" valueType="num">
                                      <p:cBhvr additive="base">
                                        <p:cTn id="33" dur="500" fill="hold"/>
                                        <p:tgtEl>
                                          <p:spTgt spid="7172">
                                            <p:txEl>
                                              <p:pRg st="1" end="1"/>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717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P spid="7187" grpId="0" bldLvl="0" animBg="1"/>
      <p:bldP spid="7188" grpId="0" bldLvl="0" animBg="1"/>
      <p:bldP spid="7177"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p:cNvSpPr>
          <p:nvPr>
            <p:ph type="title" idx="4294967295"/>
          </p:nvPr>
        </p:nvSpPr>
        <p:spPr>
          <a:xfrm>
            <a:off x="2495550" y="569913"/>
            <a:ext cx="6858000" cy="609600"/>
          </a:xfrm>
        </p:spPr>
        <p:txBody>
          <a:bodyPr vert="horz" wrap="square" lIns="91440" tIns="45720" rIns="91440" bIns="45720" anchor="ctr" anchorCtr="0">
            <a:normAutofit fontScale="90000"/>
          </a:bodyPr>
          <a:lstStyle/>
          <a:p>
            <a:r>
              <a:rPr lang="zh-CN" altLang="en-US" dirty="0">
                <a:latin typeface="Arial" panose="020B0604020202020204" pitchFamily="34" charset="0"/>
                <a:ea typeface="黑体" panose="02010609060101010101" pitchFamily="49" charset="-122"/>
              </a:rPr>
              <a:t>（集成）</a:t>
            </a:r>
            <a:r>
              <a:rPr lang="en-US" altLang="zh-CN" dirty="0">
                <a:latin typeface="Arial" panose="020B0604020202020204" pitchFamily="34" charset="0"/>
                <a:ea typeface="黑体" panose="02010609060101010101" pitchFamily="49" charset="-122"/>
              </a:rPr>
              <a:t>D</a:t>
            </a:r>
            <a:r>
              <a:rPr lang="zh-CN" altLang="en-US" dirty="0">
                <a:latin typeface="Arial" panose="020B0604020202020204" pitchFamily="34" charset="0"/>
                <a:ea typeface="黑体" panose="02010609060101010101" pitchFamily="49" charset="-122"/>
              </a:rPr>
              <a:t>触发器的特点</a:t>
            </a:r>
          </a:p>
        </p:txBody>
      </p:sp>
      <p:sp>
        <p:nvSpPr>
          <p:cNvPr id="7172" name="Text Box 78"/>
          <p:cNvSpPr txBox="1"/>
          <p:nvPr/>
        </p:nvSpPr>
        <p:spPr>
          <a:xfrm>
            <a:off x="2100263" y="3644900"/>
            <a:ext cx="8243887" cy="1032510"/>
          </a:xfrm>
          <a:prstGeom prst="rect">
            <a:avLst/>
          </a:prstGeom>
          <a:noFill/>
          <a:ln w="57150">
            <a:noFill/>
          </a:ln>
        </p:spPr>
        <p:txBody>
          <a:bodyPr>
            <a:spAutoFit/>
          </a:bodyPr>
          <a:lstStyle/>
          <a:p>
            <a:pPr marL="441325" indent="-441325" eaLnBrk="1" hangingPunct="1">
              <a:lnSpc>
                <a:spcPct val="110000"/>
              </a:lnSpc>
              <a:spcBef>
                <a:spcPct val="10000"/>
              </a:spcBef>
              <a:buClr>
                <a:schemeClr val="bg2"/>
              </a:buClr>
              <a:buSzPct val="90000"/>
              <a:buFont typeface="Wingdings" panose="05000000000000000000" pitchFamily="2" charset="2"/>
              <a:buChar char="v"/>
            </a:pPr>
            <a:r>
              <a:rPr lang="zh-CN" altLang="en-US" dirty="0">
                <a:solidFill>
                  <a:schemeClr val="tx1"/>
                </a:solidFill>
                <a:latin typeface="Arial" panose="020B0604020202020204" pitchFamily="34" charset="0"/>
              </a:rPr>
              <a:t>集成</a:t>
            </a:r>
            <a:r>
              <a:rPr lang="en-US" altLang="zh-CN" dirty="0">
                <a:solidFill>
                  <a:schemeClr val="tx1"/>
                </a:solidFill>
                <a:latin typeface="Arial" panose="020B0604020202020204" pitchFamily="34" charset="0"/>
              </a:rPr>
              <a:t>D</a:t>
            </a:r>
            <a:r>
              <a:rPr lang="zh-CN" altLang="en-US" dirty="0">
                <a:solidFill>
                  <a:schemeClr val="tx1"/>
                </a:solidFill>
                <a:latin typeface="Arial" panose="020B0604020202020204" pitchFamily="34" charset="0"/>
              </a:rPr>
              <a:t>触发器的状态变化只发生在</a:t>
            </a:r>
            <a:r>
              <a:rPr lang="en-US" altLang="zh-CN" dirty="0">
                <a:solidFill>
                  <a:schemeClr val="tx1"/>
                </a:solidFill>
                <a:latin typeface="Arial" panose="020B0604020202020204" pitchFamily="34" charset="0"/>
              </a:rPr>
              <a:t>CP</a:t>
            </a:r>
            <a:r>
              <a:rPr lang="zh-CN" altLang="en-US" dirty="0">
                <a:solidFill>
                  <a:schemeClr val="tx1"/>
                </a:solidFill>
                <a:latin typeface="Arial" panose="020B0604020202020204" pitchFamily="34" charset="0"/>
              </a:rPr>
              <a:t>脉冲的上升沿或者下降沿到来的时候，</a:t>
            </a:r>
            <a:r>
              <a:rPr lang="en-US" altLang="zh-CN" dirty="0">
                <a:solidFill>
                  <a:schemeClr val="tx1"/>
                </a:solidFill>
                <a:latin typeface="Arial" panose="020B0604020202020204" pitchFamily="34" charset="0"/>
              </a:rPr>
              <a:t>CP</a:t>
            </a:r>
            <a:r>
              <a:rPr lang="zh-CN" altLang="en-US" dirty="0">
                <a:solidFill>
                  <a:schemeClr val="tx1"/>
                </a:solidFill>
                <a:latin typeface="Arial" panose="020B0604020202020204" pitchFamily="34" charset="0"/>
              </a:rPr>
              <a:t>＝</a:t>
            </a:r>
            <a:r>
              <a:rPr lang="en-US" altLang="zh-CN" dirty="0">
                <a:solidFill>
                  <a:schemeClr val="tx1"/>
                </a:solidFill>
                <a:latin typeface="Arial" panose="020B0604020202020204" pitchFamily="34" charset="0"/>
              </a:rPr>
              <a:t>1</a:t>
            </a:r>
            <a:r>
              <a:rPr lang="zh-CN" altLang="en-US" dirty="0">
                <a:solidFill>
                  <a:schemeClr val="tx1"/>
                </a:solidFill>
                <a:latin typeface="Arial" panose="020B0604020202020204" pitchFamily="34" charset="0"/>
              </a:rPr>
              <a:t>、</a:t>
            </a:r>
            <a:r>
              <a:rPr lang="en-US" altLang="zh-CN" dirty="0">
                <a:solidFill>
                  <a:schemeClr val="tx1"/>
                </a:solidFill>
                <a:latin typeface="Arial" panose="020B0604020202020204" pitchFamily="34" charset="0"/>
              </a:rPr>
              <a:t>CP=0</a:t>
            </a:r>
            <a:r>
              <a:rPr lang="zh-CN" altLang="en-US" dirty="0">
                <a:solidFill>
                  <a:schemeClr val="tx1"/>
                </a:solidFill>
                <a:latin typeface="Arial" panose="020B0604020202020204" pitchFamily="34" charset="0"/>
              </a:rPr>
              <a:t>时触发器的状态不会发生变化。</a:t>
            </a:r>
          </a:p>
          <a:p>
            <a:pPr marL="441325" indent="-441325" eaLnBrk="1" hangingPunct="1">
              <a:lnSpc>
                <a:spcPct val="110000"/>
              </a:lnSpc>
              <a:spcBef>
                <a:spcPct val="10000"/>
              </a:spcBef>
              <a:buClr>
                <a:schemeClr val="bg2"/>
              </a:buClr>
              <a:buSzPct val="90000"/>
              <a:buFont typeface="Wingdings" panose="05000000000000000000" pitchFamily="2" charset="2"/>
              <a:buChar char="v"/>
            </a:pPr>
            <a:r>
              <a:rPr lang="zh-CN" altLang="en-US" dirty="0">
                <a:solidFill>
                  <a:srgbClr val="CC0066"/>
                </a:solidFill>
                <a:latin typeface="Arial" panose="020B0604020202020204" pitchFamily="34" charset="0"/>
              </a:rPr>
              <a:t>锁存器</a:t>
            </a:r>
            <a:r>
              <a:rPr lang="zh-CN" altLang="en-US" dirty="0">
                <a:solidFill>
                  <a:schemeClr val="tx1"/>
                </a:solidFill>
                <a:latin typeface="Arial" panose="020B0604020202020204" pitchFamily="34" charset="0"/>
              </a:rPr>
              <a:t>是</a:t>
            </a:r>
            <a:r>
              <a:rPr lang="zh-CN" altLang="en-US" dirty="0">
                <a:solidFill>
                  <a:srgbClr val="CC0066"/>
                </a:solidFill>
                <a:latin typeface="Arial" panose="020B0604020202020204" pitchFamily="34" charset="0"/>
              </a:rPr>
              <a:t>电位（电平）</a:t>
            </a:r>
            <a:r>
              <a:rPr lang="zh-CN" altLang="en-US" dirty="0">
                <a:solidFill>
                  <a:schemeClr val="tx1"/>
                </a:solidFill>
                <a:latin typeface="Arial" panose="020B0604020202020204" pitchFamily="34" charset="0"/>
              </a:rPr>
              <a:t>触发的，而</a:t>
            </a:r>
            <a:r>
              <a:rPr lang="zh-CN" altLang="en-US" dirty="0">
                <a:solidFill>
                  <a:srgbClr val="CC0066"/>
                </a:solidFill>
                <a:latin typeface="Arial" panose="020B0604020202020204" pitchFamily="34" charset="0"/>
              </a:rPr>
              <a:t>触发器</a:t>
            </a:r>
            <a:r>
              <a:rPr lang="zh-CN" altLang="en-US" dirty="0">
                <a:solidFill>
                  <a:schemeClr val="tx1"/>
                </a:solidFill>
                <a:latin typeface="Arial" panose="020B0604020202020204" pitchFamily="34" charset="0"/>
              </a:rPr>
              <a:t>是脉冲</a:t>
            </a:r>
            <a:r>
              <a:rPr lang="zh-CN" altLang="en-US" dirty="0">
                <a:solidFill>
                  <a:srgbClr val="CC0066"/>
                </a:solidFill>
                <a:latin typeface="Arial" panose="020B0604020202020204" pitchFamily="34" charset="0"/>
              </a:rPr>
              <a:t>边沿</a:t>
            </a:r>
            <a:r>
              <a:rPr lang="zh-CN" altLang="en-US" dirty="0">
                <a:solidFill>
                  <a:schemeClr val="tx1"/>
                </a:solidFill>
                <a:latin typeface="Arial" panose="020B0604020202020204" pitchFamily="34" charset="0"/>
              </a:rPr>
              <a:t>触发的。</a:t>
            </a:r>
          </a:p>
        </p:txBody>
      </p:sp>
      <p:sp>
        <p:nvSpPr>
          <p:cNvPr id="95236" name="灯片编号占位符 4"/>
          <p:cNvSpPr txBox="1">
            <a:spLocks noGrp="1"/>
          </p:cNvSpPr>
          <p:nvPr/>
        </p:nvSpPr>
        <p:spPr>
          <a:xfrm>
            <a:off x="9625013" y="6453188"/>
            <a:ext cx="871537" cy="304800"/>
          </a:xfrm>
          <a:prstGeom prst="rect">
            <a:avLst/>
          </a:prstGeom>
          <a:noFill/>
          <a:ln w="9525">
            <a:noFill/>
          </a:ln>
        </p:spPr>
        <p:txBody>
          <a:bodyPr/>
          <a:lstStyle/>
          <a:p>
            <a:pPr algn="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43</a:t>
            </a:fld>
            <a:endParaRPr lang="ko-KR" altLang="en-US" sz="1600" dirty="0">
              <a:solidFill>
                <a:schemeClr val="accent2"/>
              </a:solidFill>
              <a:latin typeface="Verdana" panose="020B0604030504040204" pitchFamily="34" charset="0"/>
              <a:ea typeface="Gulim" panose="020B0600000101010101" pitchFamily="34" charset="-127"/>
            </a:endParaRPr>
          </a:p>
        </p:txBody>
      </p:sp>
      <p:grpSp>
        <p:nvGrpSpPr>
          <p:cNvPr id="95237" name="Group 17"/>
          <p:cNvGrpSpPr/>
          <p:nvPr/>
        </p:nvGrpSpPr>
        <p:grpSpPr>
          <a:xfrm>
            <a:off x="3255963" y="1557338"/>
            <a:ext cx="5108575" cy="1585913"/>
            <a:chOff x="1023" y="2251"/>
            <a:chExt cx="3218" cy="999"/>
          </a:xfrm>
        </p:grpSpPr>
        <p:sp>
          <p:nvSpPr>
            <p:cNvPr id="95240" name="Text Box 82"/>
            <p:cNvSpPr txBox="1"/>
            <p:nvPr/>
          </p:nvSpPr>
          <p:spPr>
            <a:xfrm>
              <a:off x="1066" y="2296"/>
              <a:ext cx="363" cy="251"/>
            </a:xfrm>
            <a:prstGeom prst="rect">
              <a:avLst/>
            </a:prstGeom>
            <a:noFill/>
            <a:ln w="38100">
              <a:noFill/>
            </a:ln>
          </p:spPr>
          <p:txBody>
            <a:bodyPr>
              <a:spAutoFit/>
            </a:bodyPr>
            <a:lstStyle/>
            <a:p>
              <a:pPr eaLnBrk="1" hangingPunct="1">
                <a:spcBef>
                  <a:spcPct val="50000"/>
                </a:spcBef>
              </a:pPr>
              <a:r>
                <a:rPr lang="en-US" altLang="zh-CN" sz="2000" dirty="0">
                  <a:solidFill>
                    <a:schemeClr val="tx1"/>
                  </a:solidFill>
                  <a:latin typeface="Times New Roman" panose="02020603050405020304" pitchFamily="18" charset="0"/>
                </a:rPr>
                <a:t>CP</a:t>
              </a:r>
            </a:p>
          </p:txBody>
        </p:sp>
        <p:sp>
          <p:nvSpPr>
            <p:cNvPr id="95241" name="Text Box 83"/>
            <p:cNvSpPr txBox="1"/>
            <p:nvPr/>
          </p:nvSpPr>
          <p:spPr>
            <a:xfrm>
              <a:off x="1137" y="2614"/>
              <a:ext cx="337" cy="251"/>
            </a:xfrm>
            <a:prstGeom prst="rect">
              <a:avLst/>
            </a:prstGeom>
            <a:noFill/>
            <a:ln w="38100">
              <a:noFill/>
            </a:ln>
          </p:spPr>
          <p:txBody>
            <a:bodyPr>
              <a:spAutoFit/>
            </a:bodyPr>
            <a:lstStyle/>
            <a:p>
              <a:pPr eaLnBrk="1" hangingPunct="1">
                <a:spcBef>
                  <a:spcPct val="50000"/>
                </a:spcBef>
              </a:pPr>
              <a:r>
                <a:rPr lang="en-US" altLang="zh-CN" sz="2000" dirty="0">
                  <a:solidFill>
                    <a:schemeClr val="tx1"/>
                  </a:solidFill>
                  <a:latin typeface="Times New Roman" panose="02020603050405020304" pitchFamily="18" charset="0"/>
                </a:rPr>
                <a:t>D</a:t>
              </a:r>
            </a:p>
          </p:txBody>
        </p:sp>
        <p:sp>
          <p:nvSpPr>
            <p:cNvPr id="95242" name="Text Box 84"/>
            <p:cNvSpPr txBox="1"/>
            <p:nvPr/>
          </p:nvSpPr>
          <p:spPr>
            <a:xfrm>
              <a:off x="1023" y="2999"/>
              <a:ext cx="451" cy="251"/>
            </a:xfrm>
            <a:prstGeom prst="rect">
              <a:avLst/>
            </a:prstGeom>
            <a:noFill/>
            <a:ln w="38100">
              <a:noFill/>
            </a:ln>
          </p:spPr>
          <p:txBody>
            <a:bodyPr>
              <a:spAutoFit/>
            </a:bodyPr>
            <a:lstStyle/>
            <a:p>
              <a:pPr eaLnBrk="1" hangingPunct="1">
                <a:spcBef>
                  <a:spcPct val="50000"/>
                </a:spcBef>
              </a:pPr>
              <a:r>
                <a:rPr lang="en-US" altLang="zh-CN" sz="2000" dirty="0">
                  <a:solidFill>
                    <a:schemeClr val="tx1"/>
                  </a:solidFill>
                  <a:latin typeface="Times New Roman" panose="02020603050405020304" pitchFamily="18" charset="0"/>
                </a:rPr>
                <a:t>Q</a:t>
              </a:r>
              <a:r>
                <a:rPr lang="en-US" altLang="zh-CN" sz="2000" baseline="30000" dirty="0">
                  <a:solidFill>
                    <a:schemeClr val="tx1"/>
                  </a:solidFill>
                  <a:latin typeface="Times New Roman" panose="02020603050405020304" pitchFamily="18" charset="0"/>
                </a:rPr>
                <a:t>n+1</a:t>
              </a:r>
            </a:p>
          </p:txBody>
        </p:sp>
        <p:pic>
          <p:nvPicPr>
            <p:cNvPr id="95243" name="Picture 21"/>
            <p:cNvPicPr>
              <a:picLocks noChangeAspect="1"/>
            </p:cNvPicPr>
            <p:nvPr/>
          </p:nvPicPr>
          <p:blipFill>
            <a:blip r:embed="rId3"/>
            <a:stretch>
              <a:fillRect/>
            </a:stretch>
          </p:blipFill>
          <p:spPr>
            <a:xfrm>
              <a:off x="1519" y="2251"/>
              <a:ext cx="2694" cy="636"/>
            </a:xfrm>
            <a:prstGeom prst="rect">
              <a:avLst/>
            </a:prstGeom>
            <a:noFill/>
            <a:ln w="9525">
              <a:noFill/>
            </a:ln>
          </p:spPr>
        </p:pic>
        <p:sp>
          <p:nvSpPr>
            <p:cNvPr id="95244" name="Line 22"/>
            <p:cNvSpPr/>
            <p:nvPr/>
          </p:nvSpPr>
          <p:spPr>
            <a:xfrm>
              <a:off x="1519" y="3158"/>
              <a:ext cx="1724" cy="0"/>
            </a:xfrm>
            <a:prstGeom prst="line">
              <a:avLst/>
            </a:prstGeom>
            <a:ln w="19050" cap="flat" cmpd="sng">
              <a:solidFill>
                <a:srgbClr val="FF0000"/>
              </a:solidFill>
              <a:prstDash val="solid"/>
              <a:headEnd type="none" w="med" len="med"/>
              <a:tailEnd type="none" w="med" len="med"/>
            </a:ln>
          </p:spPr>
        </p:sp>
        <p:sp>
          <p:nvSpPr>
            <p:cNvPr id="95245" name="Line 23"/>
            <p:cNvSpPr/>
            <p:nvPr/>
          </p:nvSpPr>
          <p:spPr>
            <a:xfrm flipV="1">
              <a:off x="3243" y="2976"/>
              <a:ext cx="45" cy="182"/>
            </a:xfrm>
            <a:prstGeom prst="line">
              <a:avLst/>
            </a:prstGeom>
            <a:ln w="19050" cap="flat" cmpd="sng">
              <a:solidFill>
                <a:srgbClr val="FF0000"/>
              </a:solidFill>
              <a:prstDash val="solid"/>
              <a:headEnd type="none" w="med" len="med"/>
              <a:tailEnd type="none" w="med" len="med"/>
            </a:ln>
          </p:spPr>
        </p:sp>
        <p:sp>
          <p:nvSpPr>
            <p:cNvPr id="95246" name="Line 24"/>
            <p:cNvSpPr/>
            <p:nvPr/>
          </p:nvSpPr>
          <p:spPr>
            <a:xfrm>
              <a:off x="3289" y="2976"/>
              <a:ext cx="952" cy="0"/>
            </a:xfrm>
            <a:prstGeom prst="line">
              <a:avLst/>
            </a:prstGeom>
            <a:ln w="19050" cap="flat" cmpd="sng">
              <a:solidFill>
                <a:srgbClr val="FF0000"/>
              </a:solidFill>
              <a:prstDash val="solid"/>
              <a:headEnd type="none" w="med" len="med"/>
              <a:tailEnd type="none" w="med" len="med"/>
            </a:ln>
          </p:spPr>
        </p:sp>
      </p:grpSp>
      <p:sp>
        <p:nvSpPr>
          <p:cNvPr id="231449" name="AutoShape 25"/>
          <p:cNvSpPr/>
          <p:nvPr/>
        </p:nvSpPr>
        <p:spPr>
          <a:xfrm>
            <a:off x="6851650" y="1628775"/>
            <a:ext cx="354013" cy="1368425"/>
          </a:xfrm>
          <a:prstGeom prst="curvedLeftArrow">
            <a:avLst>
              <a:gd name="adj1" fmla="val 77309"/>
              <a:gd name="adj2" fmla="val 154618"/>
              <a:gd name="adj3" fmla="val 33305"/>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pPr algn="ctr" eaLnBrk="1" hangingPunct="1"/>
            <a:endParaRPr lang="zh-CN" altLang="en-US" dirty="0">
              <a:latin typeface="Arial" panose="020B0604020202020204" pitchFamily="34" charset="0"/>
            </a:endParaRPr>
          </a:p>
        </p:txBody>
      </p:sp>
      <p:sp>
        <p:nvSpPr>
          <p:cNvPr id="95239" name="Rectangle 26"/>
          <p:cNvSpPr/>
          <p:nvPr/>
        </p:nvSpPr>
        <p:spPr>
          <a:xfrm>
            <a:off x="2049463" y="2128838"/>
            <a:ext cx="1274762" cy="706755"/>
          </a:xfrm>
          <a:prstGeom prst="rect">
            <a:avLst/>
          </a:prstGeom>
          <a:noFill/>
          <a:ln w="9525">
            <a:noFill/>
          </a:ln>
          <a:effectLst>
            <a:prstShdw prst="shdw13" dist="53882" dir="13499999">
              <a:srgbClr val="5B8E91">
                <a:alpha val="50000"/>
              </a:srgbClr>
            </a:prstShdw>
          </a:effectLst>
        </p:spPr>
        <p:txBody>
          <a:bodyPr>
            <a:spAutoFit/>
          </a:bodyPr>
          <a:lstStyle/>
          <a:p>
            <a:pPr algn="ctr" eaLnBrk="1" hangingPunct="1"/>
            <a:r>
              <a:rPr lang="zh-CN" altLang="en-US" sz="2000" dirty="0">
                <a:solidFill>
                  <a:srgbClr val="C00000"/>
                </a:solidFill>
                <a:latin typeface="Arial" panose="020B0604020202020204" pitchFamily="34" charset="0"/>
                <a:ea typeface="楷体_GB2312" pitchFamily="49" charset="-122"/>
              </a:rPr>
              <a:t>（集成）Ｄ触发器</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2">
                                            <p:txEl>
                                              <p:pRg st="0" end="0"/>
                                            </p:txEl>
                                          </p:spTgt>
                                        </p:tgtEl>
                                        <p:attrNameLst>
                                          <p:attrName>style.visibility</p:attrName>
                                        </p:attrNameLst>
                                      </p:cBhvr>
                                      <p:to>
                                        <p:strVal val="visible"/>
                                      </p:to>
                                    </p:set>
                                    <p:anim calcmode="lin" valueType="num">
                                      <p:cBhvr additive="base">
                                        <p:cTn id="7" dur="500" fill="hold"/>
                                        <p:tgtEl>
                                          <p:spTgt spid="717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231449"/>
                                        </p:tgtEl>
                                        <p:attrNameLst>
                                          <p:attrName>style.visibility</p:attrName>
                                        </p:attrNameLst>
                                      </p:cBhvr>
                                      <p:to>
                                        <p:strVal val="visible"/>
                                      </p:to>
                                    </p:set>
                                    <p:animEffect transition="in" filter="wipe(up)">
                                      <p:cBhvr>
                                        <p:cTn id="13" dur="500"/>
                                        <p:tgtEl>
                                          <p:spTgt spid="23144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7172">
                                            <p:txEl>
                                              <p:pRg st="1" end="1"/>
                                            </p:txEl>
                                          </p:spTgt>
                                        </p:tgtEl>
                                        <p:attrNameLst>
                                          <p:attrName>style.visibility</p:attrName>
                                        </p:attrNameLst>
                                      </p:cBhvr>
                                      <p:to>
                                        <p:strVal val="visible"/>
                                      </p:to>
                                    </p:set>
                                    <p:anim calcmode="lin" valueType="num">
                                      <p:cBhvr additive="base">
                                        <p:cTn id="18" dur="500" fill="hold"/>
                                        <p:tgtEl>
                                          <p:spTgt spid="7172">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717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build="p"/>
      <p:bldP spid="231449"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5"/>
          <p:cNvSpPr txBox="1">
            <a:spLocks noGrp="1"/>
          </p:cNvSpPr>
          <p:nvPr/>
        </p:nvSpPr>
        <p:spPr>
          <a:xfrm>
            <a:off x="9625013" y="6453188"/>
            <a:ext cx="871537" cy="304800"/>
          </a:xfrm>
          <a:prstGeom prst="rect">
            <a:avLst/>
          </a:prstGeom>
          <a:noFill/>
          <a:ln w="9525">
            <a:noFill/>
          </a:ln>
        </p:spPr>
        <p:txBody>
          <a:bodyPr/>
          <a:lstStyle/>
          <a:p>
            <a:pPr algn="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44</a:t>
            </a:fld>
            <a:endParaRPr lang="ko-KR" altLang="en-US" sz="1600" dirty="0">
              <a:solidFill>
                <a:schemeClr val="accent2"/>
              </a:solidFill>
              <a:latin typeface="Verdana" panose="020B0604030504040204" pitchFamily="34" charset="0"/>
              <a:ea typeface="Gulim" panose="020B0600000101010101" pitchFamily="34" charset="-127"/>
            </a:endParaRPr>
          </a:p>
        </p:txBody>
      </p:sp>
      <p:sp>
        <p:nvSpPr>
          <p:cNvPr id="97283" name="Rectangle 2"/>
          <p:cNvSpPr>
            <a:spLocks noGrp="1"/>
          </p:cNvSpPr>
          <p:nvPr>
            <p:ph type="title" idx="4294967295"/>
          </p:nvPr>
        </p:nvSpPr>
        <p:spPr>
          <a:xfrm>
            <a:off x="2976563" y="493713"/>
            <a:ext cx="6858000" cy="609600"/>
          </a:xfrm>
        </p:spPr>
        <p:txBody>
          <a:bodyPr vert="horz" wrap="square" lIns="91440" tIns="45720" rIns="91440" bIns="45720" anchor="ctr" anchorCtr="0">
            <a:normAutofit fontScale="90000"/>
          </a:bodyPr>
          <a:lstStyle/>
          <a:p>
            <a:r>
              <a:rPr lang="en-US" altLang="zh-CN" dirty="0">
                <a:latin typeface="Arial" panose="020B0604020202020204" pitchFamily="34" charset="0"/>
                <a:ea typeface="黑体" panose="02010609060101010101" pitchFamily="49" charset="-122"/>
              </a:rPr>
              <a:t>D</a:t>
            </a:r>
            <a:r>
              <a:rPr lang="zh-CN" altLang="en-US" dirty="0">
                <a:latin typeface="Arial" panose="020B0604020202020204" pitchFamily="34" charset="0"/>
                <a:ea typeface="黑体" panose="02010609060101010101" pitchFamily="49" charset="-122"/>
              </a:rPr>
              <a:t>锁存器的</a:t>
            </a:r>
            <a:r>
              <a:rPr lang="en-US" altLang="zh-CN" dirty="0">
                <a:latin typeface="Arial" panose="020B0604020202020204" pitchFamily="34" charset="0"/>
                <a:ea typeface="黑体" panose="02010609060101010101" pitchFamily="49" charset="-122"/>
              </a:rPr>
              <a:t>HDL</a:t>
            </a:r>
            <a:r>
              <a:rPr lang="zh-CN" altLang="en-US" dirty="0">
                <a:latin typeface="Arial" panose="020B0604020202020204" pitchFamily="34" charset="0"/>
                <a:ea typeface="黑体" panose="02010609060101010101" pitchFamily="49" charset="-122"/>
              </a:rPr>
              <a:t>设计</a:t>
            </a:r>
          </a:p>
        </p:txBody>
      </p:sp>
      <p:sp>
        <p:nvSpPr>
          <p:cNvPr id="97284" name="Rectangle 11"/>
          <p:cNvSpPr/>
          <p:nvPr/>
        </p:nvSpPr>
        <p:spPr>
          <a:xfrm>
            <a:off x="1847850" y="1033463"/>
            <a:ext cx="5032375" cy="1100137"/>
          </a:xfrm>
          <a:prstGeom prst="rect">
            <a:avLst/>
          </a:prstGeom>
          <a:noFill/>
          <a:ln w="9525">
            <a:noFill/>
          </a:ln>
        </p:spPr>
        <p:txBody>
          <a:bodyPr/>
          <a:lstStyle/>
          <a:p>
            <a:pPr marL="365125" indent="-365125">
              <a:lnSpc>
                <a:spcPct val="110000"/>
              </a:lnSpc>
              <a:spcBef>
                <a:spcPct val="20000"/>
              </a:spcBef>
              <a:buClr>
                <a:schemeClr val="bg2"/>
              </a:buClr>
              <a:buFont typeface="Wingdings" panose="05000000000000000000" pitchFamily="2" charset="2"/>
              <a:buChar char="v"/>
            </a:pPr>
            <a:r>
              <a:rPr lang="zh-CN" altLang="en-US" dirty="0">
                <a:solidFill>
                  <a:schemeClr val="tx1"/>
                </a:solidFill>
                <a:latin typeface="Arial" panose="020B0604020202020204" pitchFamily="34" charset="0"/>
              </a:rPr>
              <a:t>根据特性表，采用行为描述方式</a:t>
            </a:r>
          </a:p>
          <a:p>
            <a:pPr marL="742950" lvl="1" indent="-285750">
              <a:lnSpc>
                <a:spcPct val="110000"/>
              </a:lnSpc>
              <a:spcBef>
                <a:spcPct val="20000"/>
              </a:spcBef>
              <a:buClr>
                <a:srgbClr val="006666"/>
              </a:buClr>
              <a:buSzPct val="85000"/>
              <a:buFont typeface="Wingdings" panose="05000000000000000000" pitchFamily="2" charset="2"/>
              <a:buChar char="u"/>
            </a:pPr>
            <a:r>
              <a:rPr lang="en-US" altLang="zh-CN" dirty="0">
                <a:solidFill>
                  <a:schemeClr val="tx1"/>
                </a:solidFill>
                <a:latin typeface="Arial" panose="020B0604020202020204" pitchFamily="34" charset="0"/>
              </a:rPr>
              <a:t>D</a:t>
            </a:r>
            <a:r>
              <a:rPr lang="zh-CN" altLang="en-US" dirty="0">
                <a:solidFill>
                  <a:schemeClr val="tx1"/>
                </a:solidFill>
                <a:latin typeface="Arial" panose="020B0604020202020204" pitchFamily="34" charset="0"/>
              </a:rPr>
              <a:t>锁存器为</a:t>
            </a:r>
            <a:r>
              <a:rPr lang="zh-CN" altLang="en-US" dirty="0">
                <a:solidFill>
                  <a:srgbClr val="CC0066"/>
                </a:solidFill>
                <a:latin typeface="Arial" panose="020B0604020202020204" pitchFamily="34" charset="0"/>
              </a:rPr>
              <a:t>电位</a:t>
            </a:r>
            <a:r>
              <a:rPr lang="zh-CN" altLang="en-US" dirty="0">
                <a:solidFill>
                  <a:schemeClr val="tx1"/>
                </a:solidFill>
                <a:latin typeface="Arial" panose="020B0604020202020204" pitchFamily="34" charset="0"/>
              </a:rPr>
              <a:t>触发器，假定为高电平触发</a:t>
            </a:r>
            <a:endParaRPr lang="zh-CN" altLang="en-US" sz="2000" dirty="0">
              <a:solidFill>
                <a:schemeClr val="tx1"/>
              </a:solidFill>
              <a:latin typeface="Arial" panose="020B0604020202020204" pitchFamily="34" charset="0"/>
            </a:endParaRPr>
          </a:p>
        </p:txBody>
      </p:sp>
      <p:pic>
        <p:nvPicPr>
          <p:cNvPr id="231429" name="Picture 9" descr="图片24"/>
          <p:cNvPicPr>
            <a:picLocks noChangeAspect="1"/>
          </p:cNvPicPr>
          <p:nvPr/>
        </p:nvPicPr>
        <p:blipFill>
          <a:blip r:embed="rId3"/>
          <a:stretch>
            <a:fillRect/>
          </a:stretch>
        </p:blipFill>
        <p:spPr>
          <a:xfrm>
            <a:off x="6880225" y="1571625"/>
            <a:ext cx="3103563" cy="771525"/>
          </a:xfrm>
          <a:prstGeom prst="rect">
            <a:avLst/>
          </a:prstGeom>
          <a:noFill/>
          <a:ln w="9525">
            <a:noFill/>
          </a:ln>
          <a:effectLst>
            <a:prstShdw prst="shdw13" dist="53882" dir="13499999">
              <a:srgbClr val="808080">
                <a:alpha val="50000"/>
              </a:srgbClr>
            </a:prstShdw>
          </a:effectLst>
        </p:spPr>
      </p:pic>
      <p:sp>
        <p:nvSpPr>
          <p:cNvPr id="113668" name="Text Box 4"/>
          <p:cNvSpPr txBox="1"/>
          <p:nvPr/>
        </p:nvSpPr>
        <p:spPr>
          <a:xfrm>
            <a:off x="2984500" y="2528888"/>
            <a:ext cx="6172200" cy="2862580"/>
          </a:xfrm>
          <a:prstGeom prst="rect">
            <a:avLst/>
          </a:prstGeom>
          <a:solidFill>
            <a:srgbClr val="ADD6FF"/>
          </a:solidFill>
          <a:ln w="9525" cap="flat" cmpd="sng">
            <a:solidFill>
              <a:schemeClr val="tx1"/>
            </a:solidFill>
            <a:prstDash val="solid"/>
            <a:miter/>
            <a:headEnd type="none" w="med" len="med"/>
            <a:tailEnd type="none" w="med" len="med"/>
          </a:ln>
        </p:spPr>
        <p:txBody>
          <a:bodyPr lIns="90000" tIns="46800" rIns="90000" bIns="46800">
            <a:spAutoFit/>
          </a:bodyPr>
          <a:lstStyle/>
          <a:p>
            <a:pPr eaLnBrk="1" hangingPunct="1">
              <a:lnSpc>
                <a:spcPct val="90000"/>
              </a:lnSpc>
            </a:pPr>
            <a:r>
              <a:rPr lang="en-US" altLang="zh-CN" sz="2000" dirty="0">
                <a:solidFill>
                  <a:schemeClr val="tx1"/>
                </a:solidFill>
                <a:latin typeface="Arial" panose="020B0604020202020204" pitchFamily="34" charset="0"/>
              </a:rPr>
              <a:t>module	  D_FF_1(CP,D,Q,QN);</a:t>
            </a:r>
          </a:p>
          <a:p>
            <a:pPr eaLnBrk="1" hangingPunct="1">
              <a:lnSpc>
                <a:spcPct val="90000"/>
              </a:lnSpc>
            </a:pPr>
            <a:r>
              <a:rPr lang="en-US" altLang="zh-CN" sz="2000" dirty="0">
                <a:solidFill>
                  <a:schemeClr val="tx1"/>
                </a:solidFill>
                <a:latin typeface="Arial" panose="020B0604020202020204" pitchFamily="34" charset="0"/>
              </a:rPr>
              <a:t>	input	CP,D;</a:t>
            </a:r>
          </a:p>
          <a:p>
            <a:pPr eaLnBrk="1" hangingPunct="1">
              <a:lnSpc>
                <a:spcPct val="90000"/>
              </a:lnSpc>
            </a:pPr>
            <a:r>
              <a:rPr lang="en-US" altLang="zh-CN" sz="2000" dirty="0">
                <a:solidFill>
                  <a:schemeClr val="tx1"/>
                </a:solidFill>
                <a:latin typeface="Arial" panose="020B0604020202020204" pitchFamily="34" charset="0"/>
              </a:rPr>
              <a:t>	output	Q,QN;</a:t>
            </a:r>
          </a:p>
          <a:p>
            <a:pPr eaLnBrk="1" hangingPunct="1">
              <a:lnSpc>
                <a:spcPct val="90000"/>
              </a:lnSpc>
            </a:pPr>
            <a:r>
              <a:rPr lang="en-US" altLang="zh-CN" sz="2000" dirty="0">
                <a:solidFill>
                  <a:schemeClr val="tx1"/>
                </a:solidFill>
                <a:latin typeface="Arial" panose="020B0604020202020204" pitchFamily="34" charset="0"/>
              </a:rPr>
              <a:t>	reg	Q,QN;</a:t>
            </a:r>
          </a:p>
          <a:p>
            <a:pPr eaLnBrk="1" hangingPunct="1">
              <a:lnSpc>
                <a:spcPct val="90000"/>
              </a:lnSpc>
            </a:pPr>
            <a:r>
              <a:rPr lang="en-US" altLang="zh-CN" sz="2000" dirty="0">
                <a:solidFill>
                  <a:schemeClr val="tx1"/>
                </a:solidFill>
                <a:latin typeface="Arial" panose="020B0604020202020204" pitchFamily="34" charset="0"/>
              </a:rPr>
              <a:t>    always	</a:t>
            </a:r>
          </a:p>
          <a:p>
            <a:pPr eaLnBrk="1" hangingPunct="1">
              <a:lnSpc>
                <a:spcPct val="90000"/>
              </a:lnSpc>
            </a:pPr>
            <a:r>
              <a:rPr lang="en-US" altLang="zh-CN" sz="2000" dirty="0">
                <a:solidFill>
                  <a:schemeClr val="tx1"/>
                </a:solidFill>
                <a:latin typeface="Arial" panose="020B0604020202020204" pitchFamily="34" charset="0"/>
              </a:rPr>
              <a:t>        begin	</a:t>
            </a:r>
          </a:p>
          <a:p>
            <a:pPr eaLnBrk="1" hangingPunct="1">
              <a:lnSpc>
                <a:spcPct val="90000"/>
              </a:lnSpc>
            </a:pPr>
            <a:r>
              <a:rPr lang="en-US" altLang="zh-CN" sz="2000" dirty="0">
                <a:solidFill>
                  <a:schemeClr val="tx1"/>
                </a:solidFill>
                <a:latin typeface="Arial" panose="020B0604020202020204" pitchFamily="34" charset="0"/>
              </a:rPr>
              <a:t>	if (CP == 1)begin Q = D;QN = ~Q; end</a:t>
            </a:r>
          </a:p>
          <a:p>
            <a:pPr eaLnBrk="1" hangingPunct="1">
              <a:lnSpc>
                <a:spcPct val="90000"/>
              </a:lnSpc>
            </a:pPr>
            <a:r>
              <a:rPr lang="en-US" altLang="zh-CN" sz="2000" dirty="0">
                <a:solidFill>
                  <a:schemeClr val="tx1"/>
                </a:solidFill>
                <a:latin typeface="Arial" panose="020B0604020202020204" pitchFamily="34" charset="0"/>
              </a:rPr>
              <a:t>	else 	      begin Q = Q;QN = QN; end</a:t>
            </a:r>
          </a:p>
          <a:p>
            <a:pPr eaLnBrk="1" hangingPunct="1">
              <a:lnSpc>
                <a:spcPct val="90000"/>
              </a:lnSpc>
            </a:pPr>
            <a:r>
              <a:rPr lang="en-US" altLang="zh-CN" sz="2000" dirty="0">
                <a:solidFill>
                  <a:schemeClr val="tx1"/>
                </a:solidFill>
                <a:latin typeface="Arial" panose="020B0604020202020204" pitchFamily="34" charset="0"/>
              </a:rPr>
              <a:t>        end</a:t>
            </a:r>
          </a:p>
          <a:p>
            <a:pPr eaLnBrk="1" hangingPunct="1">
              <a:lnSpc>
                <a:spcPct val="90000"/>
              </a:lnSpc>
            </a:pPr>
            <a:r>
              <a:rPr lang="en-US" altLang="zh-CN" sz="2000" dirty="0">
                <a:solidFill>
                  <a:schemeClr val="tx1"/>
                </a:solidFill>
                <a:latin typeface="Arial" panose="020B0604020202020204" pitchFamily="34" charset="0"/>
              </a:rPr>
              <a:t>endmodule</a:t>
            </a:r>
          </a:p>
        </p:txBody>
      </p:sp>
      <p:pic>
        <p:nvPicPr>
          <p:cNvPr id="48135" name="Picture 9"/>
          <p:cNvPicPr>
            <a:picLocks noChangeAspect="1"/>
          </p:cNvPicPr>
          <p:nvPr/>
        </p:nvPicPr>
        <p:blipFill>
          <a:blip r:embed="rId4"/>
          <a:srcRect l="3691" t="14764" r="1845" b="67914"/>
          <a:stretch>
            <a:fillRect/>
          </a:stretch>
        </p:blipFill>
        <p:spPr>
          <a:xfrm>
            <a:off x="2316163" y="5408613"/>
            <a:ext cx="7685087" cy="1057275"/>
          </a:xfrm>
          <a:prstGeom prst="rect">
            <a:avLst/>
          </a:prstGeom>
          <a:noFill/>
          <a:ln w="9525">
            <a:noFill/>
          </a:ln>
        </p:spPr>
      </p:pic>
      <p:sp>
        <p:nvSpPr>
          <p:cNvPr id="231432" name="Oval 8"/>
          <p:cNvSpPr/>
          <p:nvPr/>
        </p:nvSpPr>
        <p:spPr>
          <a:xfrm>
            <a:off x="3575050" y="5949950"/>
            <a:ext cx="863600" cy="395288"/>
          </a:xfrm>
          <a:prstGeom prst="ellipse">
            <a:avLst/>
          </a:prstGeom>
          <a:noFill/>
          <a:ln w="9525" cap="flat" cmpd="sng">
            <a:solidFill>
              <a:srgbClr val="FF0066"/>
            </a:solidFill>
            <a:prstDash val="solid"/>
            <a:headEnd type="none" w="med" len="med"/>
            <a:tailEnd type="none" w="med" len="med"/>
          </a:ln>
        </p:spPr>
        <p:txBody>
          <a:bodyPr wrap="none" anchor="ctr" anchorCtr="0"/>
          <a:lstStyle/>
          <a:p>
            <a:pPr algn="ctr" eaLnBrk="1" hangingPunct="1"/>
            <a:endParaRPr lang="zh-CN" altLang="en-US" dirty="0">
              <a:latin typeface="Arial" panose="020B0604020202020204" pitchFamily="34" charset="0"/>
            </a:endParaRPr>
          </a:p>
        </p:txBody>
      </p:sp>
      <p:sp>
        <p:nvSpPr>
          <p:cNvPr id="75" name="AutoShape 59"/>
          <p:cNvSpPr/>
          <p:nvPr/>
        </p:nvSpPr>
        <p:spPr>
          <a:xfrm>
            <a:off x="4689475" y="6345238"/>
            <a:ext cx="2451100" cy="412750"/>
          </a:xfrm>
          <a:prstGeom prst="wedgeRoundRectCallout">
            <a:avLst>
              <a:gd name="adj1" fmla="val -64056"/>
              <a:gd name="adj2" fmla="val -67306"/>
              <a:gd name="adj3" fmla="val 16667"/>
            </a:avLst>
          </a:prstGeom>
          <a:solidFill>
            <a:srgbClr val="FFFFBD"/>
          </a:solidFill>
          <a:ln w="9525" cap="flat" cmpd="sng">
            <a:solidFill>
              <a:srgbClr val="CC6600"/>
            </a:solidFill>
            <a:prstDash val="solid"/>
            <a:miter/>
            <a:headEnd type="none" w="med" len="med"/>
            <a:tailEnd type="none" w="med" len="med"/>
          </a:ln>
          <a:effectLst>
            <a:prstShdw prst="shdw17" dist="17961" dir="2699999">
              <a:srgbClr val="7A3D00"/>
            </a:prstShdw>
          </a:effectLst>
        </p:spPr>
        <p:txBody>
          <a:bodyPr anchor="b" anchorCtr="0"/>
          <a:lstStyle/>
          <a:p>
            <a:pPr eaLnBrk="1" hangingPunct="1"/>
            <a:r>
              <a:rPr lang="en-US" altLang="zh-CN" sz="2000" dirty="0">
                <a:solidFill>
                  <a:schemeClr val="tx1"/>
                </a:solidFill>
                <a:latin typeface="Arial" panose="020B0604020202020204" pitchFamily="34" charset="0"/>
                <a:ea typeface="楷体_GB2312" pitchFamily="49" charset="-122"/>
              </a:rPr>
              <a:t>CP=0</a:t>
            </a:r>
            <a:r>
              <a:rPr lang="zh-CN" altLang="en-US" sz="2000" dirty="0">
                <a:solidFill>
                  <a:schemeClr val="tx1"/>
                </a:solidFill>
                <a:latin typeface="Arial" panose="020B0604020202020204" pitchFamily="34" charset="0"/>
                <a:ea typeface="楷体_GB2312" pitchFamily="49" charset="-122"/>
              </a:rPr>
              <a:t>时保持原态</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31429"/>
                                        </p:tgtEl>
                                        <p:attrNameLst>
                                          <p:attrName>style.visibility</p:attrName>
                                        </p:attrNameLst>
                                      </p:cBhvr>
                                      <p:to>
                                        <p:strVal val="visible"/>
                                      </p:to>
                                    </p:set>
                                    <p:animEffect transition="in" filter="blinds(horizontal)">
                                      <p:cBhvr>
                                        <p:cTn id="7" dur="500"/>
                                        <p:tgtEl>
                                          <p:spTgt spid="2314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3668"/>
                                        </p:tgtEl>
                                        <p:attrNameLst>
                                          <p:attrName>style.visibility</p:attrName>
                                        </p:attrNameLst>
                                      </p:cBhvr>
                                      <p:to>
                                        <p:strVal val="visible"/>
                                      </p:to>
                                    </p:set>
                                    <p:animEffect transition="in" filter="blinds(horizontal)">
                                      <p:cBhvr>
                                        <p:cTn id="12" dur="500"/>
                                        <p:tgtEl>
                                          <p:spTgt spid="11366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8135"/>
                                        </p:tgtEl>
                                        <p:attrNameLst>
                                          <p:attrName>style.visibility</p:attrName>
                                        </p:attrNameLst>
                                      </p:cBhvr>
                                      <p:to>
                                        <p:strVal val="visible"/>
                                      </p:to>
                                    </p:set>
                                    <p:animEffect transition="in" filter="blinds(horizontal)">
                                      <p:cBhvr>
                                        <p:cTn id="17" dur="500"/>
                                        <p:tgtEl>
                                          <p:spTgt spid="4813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231432"/>
                                        </p:tgtEl>
                                        <p:attrNameLst>
                                          <p:attrName>style.visibility</p:attrName>
                                        </p:attrNameLst>
                                      </p:cBhvr>
                                      <p:to>
                                        <p:strVal val="visible"/>
                                      </p:to>
                                    </p:set>
                                    <p:anim calcmode="lin" valueType="num">
                                      <p:cBhvr>
                                        <p:cTn id="22" dur="500" fill="hold"/>
                                        <p:tgtEl>
                                          <p:spTgt spid="231432"/>
                                        </p:tgtEl>
                                        <p:attrNameLst>
                                          <p:attrName>ppt_w</p:attrName>
                                        </p:attrNameLst>
                                      </p:cBhvr>
                                      <p:tavLst>
                                        <p:tav tm="0">
                                          <p:val>
                                            <p:fltVal val="0"/>
                                          </p:val>
                                        </p:tav>
                                        <p:tav tm="100000">
                                          <p:val>
                                            <p:strVal val="#ppt_w"/>
                                          </p:val>
                                        </p:tav>
                                      </p:tavLst>
                                    </p:anim>
                                    <p:anim calcmode="lin" valueType="num">
                                      <p:cBhvr>
                                        <p:cTn id="23" dur="500" fill="hold"/>
                                        <p:tgtEl>
                                          <p:spTgt spid="231432"/>
                                        </p:tgtEl>
                                        <p:attrNameLst>
                                          <p:attrName>ppt_h</p:attrName>
                                        </p:attrNameLst>
                                      </p:cBhvr>
                                      <p:tavLst>
                                        <p:tav tm="0">
                                          <p:val>
                                            <p:fltVal val="0"/>
                                          </p:val>
                                        </p:tav>
                                        <p:tav tm="100000">
                                          <p:val>
                                            <p:strVal val="#ppt_h"/>
                                          </p:val>
                                        </p:tav>
                                      </p:tavLst>
                                    </p:anim>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75"/>
                                        </p:tgtEl>
                                        <p:attrNameLst>
                                          <p:attrName>style.visibility</p:attrName>
                                        </p:attrNameLst>
                                      </p:cBhvr>
                                      <p:to>
                                        <p:strVal val="visible"/>
                                      </p:to>
                                    </p:set>
                                    <p:animEffect transition="in" filter="dissolve">
                                      <p:cBhvr>
                                        <p:cTn id="27"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8" grpId="0" bldLvl="0" animBg="1"/>
      <p:bldP spid="231432" grpId="0" bldLvl="0" animBg="1"/>
      <p:bldP spid="75"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p:cNvSpPr>
          <p:nvPr>
            <p:ph type="title"/>
          </p:nvPr>
        </p:nvSpPr>
        <p:spPr>
          <a:xfrm>
            <a:off x="3168650" y="477838"/>
            <a:ext cx="6858000" cy="609600"/>
          </a:xfrm>
        </p:spPr>
        <p:txBody>
          <a:bodyPr vert="horz" wrap="square" lIns="91440" tIns="45720" rIns="91440" bIns="45720" anchor="ctr" anchorCtr="0">
            <a:normAutofit fontScale="90000"/>
          </a:bodyPr>
          <a:lstStyle/>
          <a:p>
            <a:r>
              <a:rPr lang="en-US" altLang="zh-CN" dirty="0">
                <a:latin typeface="Arial" panose="020B0604020202020204" pitchFamily="34" charset="0"/>
                <a:ea typeface="黑体" panose="02010609060101010101" pitchFamily="49" charset="-122"/>
              </a:rPr>
              <a:t>7.3.3  </a:t>
            </a:r>
            <a:r>
              <a:rPr lang="zh-CN" altLang="en-US" dirty="0">
                <a:latin typeface="Arial" panose="020B0604020202020204" pitchFamily="34" charset="0"/>
                <a:ea typeface="黑体" panose="02010609060101010101" pitchFamily="49" charset="-122"/>
              </a:rPr>
              <a:t>钟控</a:t>
            </a:r>
            <a:r>
              <a:rPr lang="en-US" altLang="zh-CN" dirty="0">
                <a:latin typeface="Arial" panose="020B0604020202020204" pitchFamily="34" charset="0"/>
                <a:ea typeface="黑体" panose="02010609060101010101" pitchFamily="49" charset="-122"/>
              </a:rPr>
              <a:t>JK</a:t>
            </a:r>
            <a:r>
              <a:rPr lang="zh-CN" altLang="en-US" dirty="0">
                <a:latin typeface="Arial" panose="020B0604020202020204" pitchFamily="34" charset="0"/>
                <a:ea typeface="黑体" panose="02010609060101010101" pitchFamily="49" charset="-122"/>
              </a:rPr>
              <a:t>触发器</a:t>
            </a:r>
          </a:p>
        </p:txBody>
      </p:sp>
      <p:sp>
        <p:nvSpPr>
          <p:cNvPr id="38916" name="Rectangle 3"/>
          <p:cNvSpPr>
            <a:spLocks noGrp="1"/>
          </p:cNvSpPr>
          <p:nvPr>
            <p:ph type="body" sz="half" idx="1"/>
          </p:nvPr>
        </p:nvSpPr>
        <p:spPr>
          <a:xfrm>
            <a:off x="1739900" y="1120775"/>
            <a:ext cx="8928100" cy="1693863"/>
          </a:xfrm>
        </p:spPr>
        <p:txBody>
          <a:bodyPr vert="horz" wrap="square" lIns="91440" tIns="45720" rIns="91440" bIns="45720" anchor="t" anchorCtr="0"/>
          <a:lstStyle/>
          <a:p>
            <a:pPr marL="365125" indent="-365125">
              <a:lnSpc>
                <a:spcPct val="110000"/>
              </a:lnSpc>
              <a:buClr>
                <a:schemeClr val="hlink"/>
              </a:buClr>
              <a:buSzTx/>
              <a:buFont typeface="Wingdings" panose="05000000000000000000" pitchFamily="2" charset="2"/>
            </a:pPr>
            <a:r>
              <a:rPr lang="en-US" altLang="zh-CN" sz="2000" dirty="0">
                <a:ea typeface="宋体" panose="02010600030101010101" pitchFamily="2" charset="-122"/>
              </a:rPr>
              <a:t>D</a:t>
            </a:r>
            <a:r>
              <a:rPr lang="zh-CN" altLang="en-US" sz="2000" dirty="0">
                <a:ea typeface="宋体" panose="02010600030101010101" pitchFamily="2" charset="-122"/>
              </a:rPr>
              <a:t>锁存器虽然没有约束条件，但功能较少（只有置</a:t>
            </a:r>
            <a:r>
              <a:rPr lang="en-US" altLang="zh-CN" sz="2000" dirty="0">
                <a:ea typeface="宋体" panose="02010600030101010101" pitchFamily="2" charset="-122"/>
              </a:rPr>
              <a:t>0</a:t>
            </a:r>
            <a:r>
              <a:rPr lang="zh-CN" altLang="en-US" sz="2000" dirty="0">
                <a:ea typeface="宋体" panose="02010600030101010101" pitchFamily="2" charset="-122"/>
              </a:rPr>
              <a:t>、置</a:t>
            </a:r>
            <a:r>
              <a:rPr lang="en-US" altLang="zh-CN" sz="2000" dirty="0">
                <a:ea typeface="宋体" panose="02010600030101010101" pitchFamily="2" charset="-122"/>
              </a:rPr>
              <a:t>1</a:t>
            </a:r>
            <a:r>
              <a:rPr lang="zh-CN" altLang="en-US" sz="2000" dirty="0">
                <a:ea typeface="宋体" panose="02010600030101010101" pitchFamily="2" charset="-122"/>
              </a:rPr>
              <a:t>功能）。</a:t>
            </a:r>
          </a:p>
          <a:p>
            <a:pPr marL="365125" indent="-365125">
              <a:lnSpc>
                <a:spcPct val="110000"/>
              </a:lnSpc>
              <a:buClr>
                <a:schemeClr val="hlink"/>
              </a:buClr>
              <a:buSzTx/>
              <a:buFont typeface="Wingdings" panose="05000000000000000000" pitchFamily="2" charset="2"/>
            </a:pPr>
            <a:r>
              <a:rPr lang="en-US" altLang="zh-CN" sz="2000" dirty="0">
                <a:ea typeface="宋体" panose="02010600030101010101" pitchFamily="2" charset="-122"/>
              </a:rPr>
              <a:t>JK</a:t>
            </a:r>
            <a:r>
              <a:rPr lang="zh-CN" altLang="en-US" sz="2000" dirty="0">
                <a:ea typeface="宋体" panose="02010600030101010101" pitchFamily="2" charset="-122"/>
              </a:rPr>
              <a:t>触发器是一种功能最全面，而且没有约束条件的</a:t>
            </a:r>
            <a:r>
              <a:rPr lang="en-US" altLang="zh-CN" sz="2000" dirty="0">
                <a:ea typeface="宋体" panose="02010600030101010101" pitchFamily="2" charset="-122"/>
              </a:rPr>
              <a:t>FF</a:t>
            </a:r>
            <a:r>
              <a:rPr lang="zh-CN" altLang="en-US" sz="2000" dirty="0">
                <a:ea typeface="宋体" panose="02010600030101010101" pitchFamily="2" charset="-122"/>
              </a:rPr>
              <a:t>。它是在钟控</a:t>
            </a:r>
            <a:r>
              <a:rPr lang="en-US" altLang="zh-CN" sz="2000" dirty="0">
                <a:ea typeface="宋体" panose="02010600030101010101" pitchFamily="2" charset="-122"/>
              </a:rPr>
              <a:t>RS FF</a:t>
            </a:r>
            <a:r>
              <a:rPr lang="zh-CN" altLang="en-US" sz="2000" dirty="0">
                <a:ea typeface="宋体" panose="02010600030101010101" pitchFamily="2" charset="-122"/>
              </a:rPr>
              <a:t>的基础上，增加两条反馈线，</a:t>
            </a:r>
            <a:r>
              <a:rPr lang="en-US" altLang="zh-CN" sz="2000" dirty="0">
                <a:ea typeface="宋体" panose="02010600030101010101" pitchFamily="2" charset="-122"/>
              </a:rPr>
              <a:t>Q</a:t>
            </a:r>
            <a:r>
              <a:rPr lang="zh-CN" altLang="en-US" sz="2000" dirty="0">
                <a:ea typeface="宋体" panose="02010600030101010101" pitchFamily="2" charset="-122"/>
              </a:rPr>
              <a:t>反馈到</a:t>
            </a:r>
            <a:r>
              <a:rPr lang="en-US" altLang="zh-CN" sz="2000" dirty="0">
                <a:ea typeface="宋体" panose="02010600030101010101" pitchFamily="2" charset="-122"/>
              </a:rPr>
              <a:t>R</a:t>
            </a:r>
            <a:r>
              <a:rPr lang="zh-CN" altLang="en-US" sz="2000" dirty="0">
                <a:ea typeface="宋体" panose="02010600030101010101" pitchFamily="2" charset="-122"/>
              </a:rPr>
              <a:t>钟控门的输入端，并把</a:t>
            </a:r>
            <a:r>
              <a:rPr lang="en-US" altLang="zh-CN" sz="2000" dirty="0">
                <a:ea typeface="宋体" panose="02010600030101010101" pitchFamily="2" charset="-122"/>
              </a:rPr>
              <a:t>R</a:t>
            </a:r>
            <a:r>
              <a:rPr lang="zh-CN" altLang="en-US" sz="2000" dirty="0">
                <a:ea typeface="宋体" panose="02010600030101010101" pitchFamily="2" charset="-122"/>
              </a:rPr>
              <a:t>改为</a:t>
            </a:r>
            <a:r>
              <a:rPr lang="en-US" altLang="zh-CN" sz="2000" dirty="0">
                <a:ea typeface="宋体" panose="02010600030101010101" pitchFamily="2" charset="-122"/>
              </a:rPr>
              <a:t>K</a:t>
            </a:r>
            <a:r>
              <a:rPr lang="zh-CN" altLang="en-US" sz="2000" dirty="0">
                <a:ea typeface="宋体" panose="02010600030101010101" pitchFamily="2" charset="-122"/>
              </a:rPr>
              <a:t>；</a:t>
            </a:r>
            <a:r>
              <a:rPr lang="en-US" altLang="zh-CN" sz="2000" dirty="0">
                <a:ea typeface="宋体" panose="02010600030101010101" pitchFamily="2" charset="-122"/>
              </a:rPr>
              <a:t>/Q</a:t>
            </a:r>
            <a:r>
              <a:rPr lang="zh-CN" altLang="en-US" sz="2000" dirty="0">
                <a:ea typeface="宋体" panose="02010600030101010101" pitchFamily="2" charset="-122"/>
              </a:rPr>
              <a:t>反馈到</a:t>
            </a:r>
            <a:r>
              <a:rPr lang="en-US" altLang="zh-CN" sz="2000" dirty="0">
                <a:ea typeface="宋体" panose="02010600030101010101" pitchFamily="2" charset="-122"/>
              </a:rPr>
              <a:t>S</a:t>
            </a:r>
            <a:r>
              <a:rPr lang="zh-CN" altLang="en-US" sz="2000" dirty="0">
                <a:ea typeface="宋体" panose="02010600030101010101" pitchFamily="2" charset="-122"/>
              </a:rPr>
              <a:t>门上，并把</a:t>
            </a:r>
            <a:r>
              <a:rPr lang="en-US" altLang="zh-CN" sz="2000" dirty="0">
                <a:ea typeface="宋体" panose="02010600030101010101" pitchFamily="2" charset="-122"/>
              </a:rPr>
              <a:t>S</a:t>
            </a:r>
            <a:r>
              <a:rPr lang="zh-CN" altLang="en-US" sz="2000" dirty="0">
                <a:ea typeface="宋体" panose="02010600030101010101" pitchFamily="2" charset="-122"/>
              </a:rPr>
              <a:t>改名为</a:t>
            </a:r>
            <a:r>
              <a:rPr lang="en-US" altLang="zh-CN" sz="2000" dirty="0">
                <a:ea typeface="宋体" panose="02010600030101010101" pitchFamily="2" charset="-122"/>
              </a:rPr>
              <a:t>J</a:t>
            </a:r>
            <a:r>
              <a:rPr lang="zh-CN" altLang="en-US" sz="2000" dirty="0">
                <a:ea typeface="宋体" panose="02010600030101010101" pitchFamily="2" charset="-122"/>
              </a:rPr>
              <a:t>。</a:t>
            </a:r>
          </a:p>
        </p:txBody>
      </p:sp>
      <p:sp>
        <p:nvSpPr>
          <p:cNvPr id="99332" name="灯片编号占位符 4"/>
          <p:cNvSpPr txBox="1">
            <a:spLocks noGrp="1"/>
          </p:cNvSpPr>
          <p:nvPr>
            <p:ph type="sldNum" sz="quarter" idx="4"/>
          </p:nvPr>
        </p:nvSpPr>
        <p:spPr/>
        <p:txBody>
          <a:bodyPr/>
          <a:lstStyle>
            <a:lvl1pPr marL="0" lvl="0"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1" i="0" u="none" kern="1200" baseline="0">
                <a:solidFill>
                  <a:srgbClr val="FF66FF"/>
                </a:solidFill>
                <a:latin typeface="Arial" panose="020B0604020202020204" pitchFamily="34" charset="0"/>
                <a:ea typeface="宋体" panose="02010600030101010101" pitchFamily="2" charset="-122"/>
                <a:cs typeface="+mn-cs"/>
              </a:defRPr>
            </a:lvl5pPr>
          </a:lstStyle>
          <a:p>
            <a:pPr lvl="0" algn="ctr" eaLnBrk="1" hangingPunct="1"/>
            <a:fld id="{9A0DB2DC-4C9A-4742-B13C-FB6460FD3503}" type="slidenum">
              <a:rPr lang="ko-KR" altLang="en-US" sz="1600" dirty="0">
                <a:solidFill>
                  <a:schemeClr val="accent2"/>
                </a:solidFill>
                <a:latin typeface="Verdana" panose="020B0604030504040204" pitchFamily="34" charset="0"/>
                <a:ea typeface="Gulim" panose="020B0600000101010101" pitchFamily="34" charset="-127"/>
              </a:rPr>
              <a:t>45</a:t>
            </a:fld>
            <a:endParaRPr lang="ko-KR" altLang="en-US" sz="1600" dirty="0">
              <a:solidFill>
                <a:schemeClr val="accent2"/>
              </a:solidFill>
              <a:latin typeface="Verdana" panose="020B0604030504040204" pitchFamily="34" charset="0"/>
              <a:ea typeface="Gulim" panose="020B0600000101010101" pitchFamily="34" charset="-127"/>
            </a:endParaRPr>
          </a:p>
        </p:txBody>
      </p:sp>
      <p:grpSp>
        <p:nvGrpSpPr>
          <p:cNvPr id="2" name="Group 98"/>
          <p:cNvGrpSpPr/>
          <p:nvPr/>
        </p:nvGrpSpPr>
        <p:grpSpPr>
          <a:xfrm>
            <a:off x="3687763" y="4292600"/>
            <a:ext cx="541337" cy="673100"/>
            <a:chOff x="295" y="2707"/>
            <a:chExt cx="341" cy="424"/>
          </a:xfrm>
        </p:grpSpPr>
        <p:grpSp>
          <p:nvGrpSpPr>
            <p:cNvPr id="99414" name="Group 124"/>
            <p:cNvGrpSpPr/>
            <p:nvPr/>
          </p:nvGrpSpPr>
          <p:grpSpPr>
            <a:xfrm>
              <a:off x="295" y="2707"/>
              <a:ext cx="114" cy="424"/>
              <a:chOff x="3312" y="1056"/>
              <a:chExt cx="96" cy="384"/>
            </a:xfrm>
          </p:grpSpPr>
          <p:sp>
            <p:nvSpPr>
              <p:cNvPr id="99419" name="Line 125"/>
              <p:cNvSpPr/>
              <p:nvPr/>
            </p:nvSpPr>
            <p:spPr>
              <a:xfrm>
                <a:off x="3312" y="1392"/>
                <a:ext cx="0" cy="48"/>
              </a:xfrm>
              <a:prstGeom prst="line">
                <a:avLst/>
              </a:prstGeom>
              <a:ln w="28575" cap="flat" cmpd="sng">
                <a:solidFill>
                  <a:srgbClr val="FF0066"/>
                </a:solidFill>
                <a:prstDash val="solid"/>
                <a:headEnd type="none" w="med" len="med"/>
                <a:tailEnd type="none" w="med" len="med"/>
              </a:ln>
            </p:spPr>
          </p:sp>
          <p:sp>
            <p:nvSpPr>
              <p:cNvPr id="99420" name="Line 126"/>
              <p:cNvSpPr/>
              <p:nvPr/>
            </p:nvSpPr>
            <p:spPr>
              <a:xfrm>
                <a:off x="3312" y="1440"/>
                <a:ext cx="96" cy="0"/>
              </a:xfrm>
              <a:prstGeom prst="line">
                <a:avLst/>
              </a:prstGeom>
              <a:ln w="28575" cap="flat" cmpd="sng">
                <a:solidFill>
                  <a:srgbClr val="FF0066"/>
                </a:solidFill>
                <a:prstDash val="solid"/>
                <a:headEnd type="none" w="med" len="med"/>
                <a:tailEnd type="none" w="med" len="med"/>
              </a:ln>
            </p:spPr>
          </p:sp>
          <p:sp>
            <p:nvSpPr>
              <p:cNvPr id="99421" name="Line 127"/>
              <p:cNvSpPr/>
              <p:nvPr/>
            </p:nvSpPr>
            <p:spPr>
              <a:xfrm flipV="1">
                <a:off x="3408" y="1056"/>
                <a:ext cx="0" cy="384"/>
              </a:xfrm>
              <a:prstGeom prst="line">
                <a:avLst/>
              </a:prstGeom>
              <a:ln w="28575" cap="flat" cmpd="sng">
                <a:solidFill>
                  <a:srgbClr val="FF0066"/>
                </a:solidFill>
                <a:prstDash val="solid"/>
                <a:headEnd type="none" w="med" len="med"/>
                <a:tailEnd type="none" w="med" len="med"/>
              </a:ln>
            </p:spPr>
          </p:sp>
        </p:grpSp>
        <p:grpSp>
          <p:nvGrpSpPr>
            <p:cNvPr id="99415" name="Group 128"/>
            <p:cNvGrpSpPr/>
            <p:nvPr/>
          </p:nvGrpSpPr>
          <p:grpSpPr>
            <a:xfrm>
              <a:off x="523" y="2707"/>
              <a:ext cx="113" cy="424"/>
              <a:chOff x="3504" y="1056"/>
              <a:chExt cx="96" cy="384"/>
            </a:xfrm>
          </p:grpSpPr>
          <p:sp>
            <p:nvSpPr>
              <p:cNvPr id="99416" name="Line 129"/>
              <p:cNvSpPr/>
              <p:nvPr/>
            </p:nvSpPr>
            <p:spPr>
              <a:xfrm>
                <a:off x="3600" y="1392"/>
                <a:ext cx="0" cy="48"/>
              </a:xfrm>
              <a:prstGeom prst="line">
                <a:avLst/>
              </a:prstGeom>
              <a:ln w="28575" cap="flat" cmpd="sng">
                <a:solidFill>
                  <a:srgbClr val="FF0066"/>
                </a:solidFill>
                <a:prstDash val="solid"/>
                <a:headEnd type="none" w="med" len="med"/>
                <a:tailEnd type="none" w="med" len="med"/>
              </a:ln>
            </p:spPr>
          </p:sp>
          <p:sp>
            <p:nvSpPr>
              <p:cNvPr id="99417" name="Line 130"/>
              <p:cNvSpPr/>
              <p:nvPr/>
            </p:nvSpPr>
            <p:spPr>
              <a:xfrm flipH="1">
                <a:off x="3504" y="1440"/>
                <a:ext cx="96" cy="0"/>
              </a:xfrm>
              <a:prstGeom prst="line">
                <a:avLst/>
              </a:prstGeom>
              <a:ln w="28575" cap="flat" cmpd="sng">
                <a:solidFill>
                  <a:srgbClr val="FF0066"/>
                </a:solidFill>
                <a:prstDash val="solid"/>
                <a:headEnd type="none" w="med" len="med"/>
                <a:tailEnd type="none" w="med" len="med"/>
              </a:ln>
            </p:spPr>
          </p:sp>
          <p:sp>
            <p:nvSpPr>
              <p:cNvPr id="99418" name="Line 131"/>
              <p:cNvSpPr/>
              <p:nvPr/>
            </p:nvSpPr>
            <p:spPr>
              <a:xfrm flipV="1">
                <a:off x="3504" y="1056"/>
                <a:ext cx="0" cy="384"/>
              </a:xfrm>
              <a:prstGeom prst="line">
                <a:avLst/>
              </a:prstGeom>
              <a:ln w="28575" cap="flat" cmpd="sng">
                <a:solidFill>
                  <a:srgbClr val="FF0066"/>
                </a:solidFill>
                <a:prstDash val="solid"/>
                <a:headEnd type="none" w="med" len="med"/>
                <a:tailEnd type="none" w="med" len="med"/>
              </a:ln>
            </p:spPr>
          </p:sp>
        </p:grpSp>
      </p:grpSp>
      <p:grpSp>
        <p:nvGrpSpPr>
          <p:cNvPr id="5" name="Group 99"/>
          <p:cNvGrpSpPr/>
          <p:nvPr/>
        </p:nvGrpSpPr>
        <p:grpSpPr>
          <a:xfrm>
            <a:off x="6872288" y="2852738"/>
            <a:ext cx="1563687" cy="1958975"/>
            <a:chOff x="3369" y="1797"/>
            <a:chExt cx="985" cy="1234"/>
          </a:xfrm>
        </p:grpSpPr>
        <p:sp>
          <p:nvSpPr>
            <p:cNvPr id="99401" name="Text Box 136"/>
            <p:cNvSpPr txBox="1"/>
            <p:nvPr/>
          </p:nvSpPr>
          <p:spPr>
            <a:xfrm>
              <a:off x="3493" y="2094"/>
              <a:ext cx="320"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sp>
          <p:nvSpPr>
            <p:cNvPr id="99402" name="Text Box 138"/>
            <p:cNvSpPr txBox="1"/>
            <p:nvPr/>
          </p:nvSpPr>
          <p:spPr>
            <a:xfrm>
              <a:off x="3989" y="2115"/>
              <a:ext cx="320"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sp>
          <p:nvSpPr>
            <p:cNvPr id="99403" name="Line 139"/>
            <p:cNvSpPr/>
            <p:nvPr/>
          </p:nvSpPr>
          <p:spPr>
            <a:xfrm>
              <a:off x="4049" y="2147"/>
              <a:ext cx="128" cy="0"/>
            </a:xfrm>
            <a:prstGeom prst="line">
              <a:avLst/>
            </a:prstGeom>
            <a:ln w="9525" cap="flat" cmpd="sng">
              <a:solidFill>
                <a:schemeClr val="tx1"/>
              </a:solidFill>
              <a:prstDash val="solid"/>
              <a:headEnd type="none" w="med" len="med"/>
              <a:tailEnd type="none" w="med" len="med"/>
            </a:ln>
          </p:spPr>
        </p:sp>
        <p:sp>
          <p:nvSpPr>
            <p:cNvPr id="99404" name="Text Box 140"/>
            <p:cNvSpPr txBox="1"/>
            <p:nvPr/>
          </p:nvSpPr>
          <p:spPr>
            <a:xfrm>
              <a:off x="3541" y="2447"/>
              <a:ext cx="246"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J</a:t>
              </a:r>
            </a:p>
          </p:txBody>
        </p:sp>
        <p:sp>
          <p:nvSpPr>
            <p:cNvPr id="99405" name="Text Box 141"/>
            <p:cNvSpPr txBox="1"/>
            <p:nvPr/>
          </p:nvSpPr>
          <p:spPr>
            <a:xfrm>
              <a:off x="4006" y="2447"/>
              <a:ext cx="348"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K</a:t>
              </a:r>
            </a:p>
          </p:txBody>
        </p:sp>
        <p:sp>
          <p:nvSpPr>
            <p:cNvPr id="99406" name="Rectangle 142"/>
            <p:cNvSpPr/>
            <p:nvPr/>
          </p:nvSpPr>
          <p:spPr>
            <a:xfrm>
              <a:off x="3369" y="2121"/>
              <a:ext cx="960" cy="584"/>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407" name="Line 143"/>
            <p:cNvSpPr/>
            <p:nvPr/>
          </p:nvSpPr>
          <p:spPr>
            <a:xfrm flipV="1">
              <a:off x="3625" y="1797"/>
              <a:ext cx="0" cy="324"/>
            </a:xfrm>
            <a:prstGeom prst="line">
              <a:avLst/>
            </a:prstGeom>
            <a:ln w="9525" cap="flat" cmpd="sng">
              <a:solidFill>
                <a:schemeClr val="tx1"/>
              </a:solidFill>
              <a:prstDash val="solid"/>
              <a:headEnd type="none" w="med" len="med"/>
              <a:tailEnd type="none" w="med" len="med"/>
            </a:ln>
          </p:spPr>
        </p:sp>
        <p:sp>
          <p:nvSpPr>
            <p:cNvPr id="99408" name="Oval 144"/>
            <p:cNvSpPr/>
            <p:nvPr/>
          </p:nvSpPr>
          <p:spPr>
            <a:xfrm>
              <a:off x="4073" y="2057"/>
              <a:ext cx="64" cy="64"/>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409" name="Line 145"/>
            <p:cNvSpPr/>
            <p:nvPr/>
          </p:nvSpPr>
          <p:spPr>
            <a:xfrm>
              <a:off x="4101" y="1797"/>
              <a:ext cx="0" cy="260"/>
            </a:xfrm>
            <a:prstGeom prst="line">
              <a:avLst/>
            </a:prstGeom>
            <a:ln w="9525" cap="flat" cmpd="sng">
              <a:solidFill>
                <a:schemeClr val="tx1"/>
              </a:solidFill>
              <a:prstDash val="solid"/>
              <a:headEnd type="none" w="med" len="med"/>
              <a:tailEnd type="none" w="med" len="med"/>
            </a:ln>
          </p:spPr>
        </p:sp>
        <p:sp>
          <p:nvSpPr>
            <p:cNvPr id="99410" name="Line 146"/>
            <p:cNvSpPr/>
            <p:nvPr/>
          </p:nvSpPr>
          <p:spPr>
            <a:xfrm>
              <a:off x="3653" y="2707"/>
              <a:ext cx="0" cy="324"/>
            </a:xfrm>
            <a:prstGeom prst="line">
              <a:avLst/>
            </a:prstGeom>
            <a:ln w="9525" cap="flat" cmpd="sng">
              <a:solidFill>
                <a:schemeClr val="tx1"/>
              </a:solidFill>
              <a:prstDash val="solid"/>
              <a:headEnd type="none" w="med" len="med"/>
              <a:tailEnd type="none" w="med" len="med"/>
            </a:ln>
          </p:spPr>
        </p:sp>
        <p:sp>
          <p:nvSpPr>
            <p:cNvPr id="99411" name="Line 147"/>
            <p:cNvSpPr/>
            <p:nvPr/>
          </p:nvSpPr>
          <p:spPr>
            <a:xfrm>
              <a:off x="4085" y="2707"/>
              <a:ext cx="0" cy="324"/>
            </a:xfrm>
            <a:prstGeom prst="line">
              <a:avLst/>
            </a:prstGeom>
            <a:ln w="9525" cap="flat" cmpd="sng">
              <a:solidFill>
                <a:schemeClr val="tx1"/>
              </a:solidFill>
              <a:prstDash val="solid"/>
              <a:headEnd type="none" w="med" len="med"/>
              <a:tailEnd type="none" w="med" len="med"/>
            </a:ln>
          </p:spPr>
        </p:sp>
        <p:sp>
          <p:nvSpPr>
            <p:cNvPr id="99412" name="Line 148"/>
            <p:cNvSpPr/>
            <p:nvPr/>
          </p:nvSpPr>
          <p:spPr>
            <a:xfrm>
              <a:off x="3869" y="2707"/>
              <a:ext cx="0" cy="324"/>
            </a:xfrm>
            <a:prstGeom prst="line">
              <a:avLst/>
            </a:prstGeom>
            <a:ln w="9525" cap="flat" cmpd="sng">
              <a:solidFill>
                <a:schemeClr val="tx1"/>
              </a:solidFill>
              <a:prstDash val="solid"/>
              <a:headEnd type="none" w="med" len="med"/>
              <a:tailEnd type="none" w="med" len="med"/>
            </a:ln>
          </p:spPr>
        </p:sp>
        <p:sp>
          <p:nvSpPr>
            <p:cNvPr id="99413" name="Text Box 149"/>
            <p:cNvSpPr txBox="1"/>
            <p:nvPr/>
          </p:nvSpPr>
          <p:spPr>
            <a:xfrm>
              <a:off x="3719" y="2447"/>
              <a:ext cx="306"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CP</a:t>
              </a:r>
            </a:p>
          </p:txBody>
        </p:sp>
      </p:grpSp>
      <p:sp>
        <p:nvSpPr>
          <p:cNvPr id="38954" name="Text Box 1"/>
          <p:cNvSpPr txBox="1">
            <a:spLocks noChangeArrowheads="1"/>
          </p:cNvSpPr>
          <p:nvPr/>
        </p:nvSpPr>
        <p:spPr bwMode="auto">
          <a:xfrm>
            <a:off x="5795963" y="5307013"/>
            <a:ext cx="4513263" cy="645160"/>
          </a:xfrm>
          <a:prstGeom prst="rect">
            <a:avLst/>
          </a:prstGeom>
          <a:solidFill>
            <a:srgbClr val="FFCCFF"/>
          </a:solidFill>
          <a:ln w="9525" algn="ctr">
            <a:noFill/>
            <a:miter lim="800000"/>
          </a:ln>
          <a:effectLst>
            <a:outerShdw blurRad="50800" dist="38100" dir="18900000" algn="bl" rotWithShape="0">
              <a:prstClr val="black">
                <a:alpha val="40000"/>
              </a:prstClr>
            </a:outerShdw>
          </a:effectLst>
        </p:spPr>
        <p:txBody>
          <a:bodyPr>
            <a:spAutoFit/>
          </a:bodyPr>
          <a:lstStyle/>
          <a:p>
            <a:pPr marL="266700" marR="0" indent="-266700" defTabSz="914400" eaLnBrk="1" hangingPunct="1">
              <a:spcBef>
                <a:spcPct val="50000"/>
              </a:spcBef>
              <a:buClr>
                <a:srgbClr val="FF0066"/>
              </a:buClr>
              <a:buSzTx/>
              <a:buFont typeface="Wingdings" panose="05000000000000000000" pitchFamily="2" charset="2"/>
              <a:buChar char="v"/>
              <a:defRPr/>
            </a:pPr>
            <a:r>
              <a:rPr kumimoji="0" lang="zh-CN" altLang="en-US" kern="1200" cap="none" spc="0" normalizeH="0" baseline="0" noProof="1">
                <a:solidFill>
                  <a:schemeClr val="tx1"/>
                </a:solidFill>
                <a:latin typeface="Arial" panose="020B0604020202020204" pitchFamily="34" charset="0"/>
                <a:ea typeface="楷体_GB2312" pitchFamily="49" charset="-122"/>
                <a:cs typeface="+mn-cs"/>
              </a:rPr>
              <a:t>把</a:t>
            </a:r>
            <a:r>
              <a:rPr kumimoji="0" lang="en-US" altLang="zh-CN" kern="1200" cap="none" spc="0" normalizeH="0" baseline="0" noProof="1">
                <a:solidFill>
                  <a:schemeClr val="tx1"/>
                </a:solidFill>
                <a:latin typeface="Arial" panose="020B0604020202020204" pitchFamily="34" charset="0"/>
                <a:ea typeface="楷体_GB2312" pitchFamily="49" charset="-122"/>
                <a:cs typeface="+mn-cs"/>
              </a:rPr>
              <a:t>RS</a:t>
            </a:r>
            <a:r>
              <a:rPr kumimoji="0" lang="zh-CN" altLang="en-US" kern="1200" cap="none" spc="0" normalizeH="0" baseline="0" noProof="1">
                <a:solidFill>
                  <a:schemeClr val="tx1"/>
                </a:solidFill>
                <a:latin typeface="Arial" panose="020B0604020202020204" pitchFamily="34" charset="0"/>
                <a:ea typeface="楷体_GB2312" pitchFamily="49" charset="-122"/>
                <a:cs typeface="+mn-cs"/>
              </a:rPr>
              <a:t>＝</a:t>
            </a:r>
            <a:r>
              <a:rPr kumimoji="0" lang="en-US" altLang="zh-CN" kern="1200" cap="none" spc="0" normalizeH="0" baseline="0" noProof="1">
                <a:solidFill>
                  <a:schemeClr val="tx1"/>
                </a:solidFill>
                <a:latin typeface="Arial" panose="020B0604020202020204" pitchFamily="34" charset="0"/>
                <a:ea typeface="楷体_GB2312" pitchFamily="49" charset="-122"/>
                <a:cs typeface="+mn-cs"/>
              </a:rPr>
              <a:t>11</a:t>
            </a:r>
            <a:r>
              <a:rPr kumimoji="0" lang="zh-CN" altLang="en-US" kern="1200" cap="none" spc="0" normalizeH="0" baseline="0" noProof="1">
                <a:solidFill>
                  <a:schemeClr val="tx1"/>
                </a:solidFill>
                <a:latin typeface="Arial" panose="020B0604020202020204" pitchFamily="34" charset="0"/>
                <a:ea typeface="楷体_GB2312" pitchFamily="49" charset="-122"/>
                <a:cs typeface="+mn-cs"/>
              </a:rPr>
              <a:t>的无效状态变为</a:t>
            </a:r>
            <a:r>
              <a:rPr kumimoji="0" lang="en-US" altLang="zh-CN" kern="1200" cap="none" spc="0" normalizeH="0" baseline="0" noProof="1">
                <a:solidFill>
                  <a:schemeClr val="tx1"/>
                </a:solidFill>
                <a:latin typeface="Arial" panose="020B0604020202020204" pitchFamily="34" charset="0"/>
                <a:ea typeface="楷体_GB2312" pitchFamily="49" charset="-122"/>
                <a:cs typeface="+mn-cs"/>
              </a:rPr>
              <a:t>JK</a:t>
            </a:r>
            <a:r>
              <a:rPr kumimoji="0" lang="zh-CN" altLang="en-US" kern="1200" cap="none" spc="0" normalizeH="0" baseline="0" noProof="1">
                <a:solidFill>
                  <a:schemeClr val="tx1"/>
                </a:solidFill>
                <a:latin typeface="Arial" panose="020B0604020202020204" pitchFamily="34" charset="0"/>
                <a:ea typeface="楷体_GB2312" pitchFamily="49" charset="-122"/>
                <a:cs typeface="+mn-cs"/>
              </a:rPr>
              <a:t>触发器的</a:t>
            </a:r>
            <a:r>
              <a:rPr kumimoji="0" lang="zh-CN" altLang="en-US" kern="1200" cap="none" spc="0" normalizeH="0" baseline="0" noProof="1">
                <a:solidFill>
                  <a:srgbClr val="CC0066"/>
                </a:solidFill>
                <a:latin typeface="Arial" panose="020B0604020202020204" pitchFamily="34" charset="0"/>
                <a:ea typeface="楷体_GB2312" pitchFamily="49" charset="-122"/>
                <a:cs typeface="+mn-cs"/>
              </a:rPr>
              <a:t>翻转（计数）</a:t>
            </a:r>
            <a:r>
              <a:rPr kumimoji="0" lang="zh-CN" altLang="en-US" kern="1200" cap="none" spc="0" normalizeH="0" baseline="0" noProof="1">
                <a:solidFill>
                  <a:schemeClr val="tx1"/>
                </a:solidFill>
                <a:latin typeface="Arial" panose="020B0604020202020204" pitchFamily="34" charset="0"/>
                <a:ea typeface="楷体_GB2312" pitchFamily="49" charset="-122"/>
                <a:cs typeface="+mn-cs"/>
              </a:rPr>
              <a:t>功能</a:t>
            </a:r>
          </a:p>
        </p:txBody>
      </p:sp>
      <p:sp>
        <p:nvSpPr>
          <p:cNvPr id="39002" name="Rectangle 90"/>
          <p:cNvSpPr/>
          <p:nvPr/>
        </p:nvSpPr>
        <p:spPr>
          <a:xfrm>
            <a:off x="2057400" y="5949950"/>
            <a:ext cx="3738563" cy="398780"/>
          </a:xfrm>
          <a:prstGeom prst="rect">
            <a:avLst/>
          </a:prstGeom>
          <a:noFill/>
          <a:ln w="9525">
            <a:noFill/>
          </a:ln>
          <a:effectLst>
            <a:prstShdw prst="shdw13" dist="53882" dir="13499999">
              <a:srgbClr val="166A6A">
                <a:alpha val="50000"/>
              </a:srgbClr>
            </a:prstShdw>
          </a:effectLst>
        </p:spPr>
        <p:txBody>
          <a:bodyPr>
            <a:spAutoFit/>
          </a:bodyPr>
          <a:lstStyle/>
          <a:p>
            <a:pPr algn="ctr" eaLnBrk="1" hangingPunct="1"/>
            <a:r>
              <a:rPr lang="zh-CN" altLang="en-US" sz="2000" dirty="0">
                <a:solidFill>
                  <a:srgbClr val="C00000"/>
                </a:solidFill>
                <a:latin typeface="Arial" panose="020B0604020202020204" pitchFamily="34" charset="0"/>
                <a:ea typeface="楷体_GB2312" pitchFamily="49" charset="-122"/>
              </a:rPr>
              <a:t>钟控</a:t>
            </a:r>
            <a:r>
              <a:rPr lang="en-US" altLang="zh-CN" sz="2000" dirty="0">
                <a:solidFill>
                  <a:srgbClr val="C00000"/>
                </a:solidFill>
                <a:latin typeface="Arial" panose="020B0604020202020204" pitchFamily="34" charset="0"/>
                <a:ea typeface="楷体_GB2312" pitchFamily="49" charset="-122"/>
              </a:rPr>
              <a:t>JK</a:t>
            </a:r>
            <a:r>
              <a:rPr lang="zh-CN" altLang="en-US" sz="2000" dirty="0">
                <a:solidFill>
                  <a:srgbClr val="C00000"/>
                </a:solidFill>
                <a:latin typeface="Arial" panose="020B0604020202020204" pitchFamily="34" charset="0"/>
                <a:ea typeface="楷体_GB2312" pitchFamily="49" charset="-122"/>
              </a:rPr>
              <a:t>触发器的电路结构</a:t>
            </a:r>
          </a:p>
        </p:txBody>
      </p:sp>
      <p:grpSp>
        <p:nvGrpSpPr>
          <p:cNvPr id="6" name="Group 97"/>
          <p:cNvGrpSpPr/>
          <p:nvPr/>
        </p:nvGrpSpPr>
        <p:grpSpPr>
          <a:xfrm>
            <a:off x="2590800" y="2814638"/>
            <a:ext cx="2709863" cy="3214688"/>
            <a:chOff x="672" y="1773"/>
            <a:chExt cx="1707" cy="2025"/>
          </a:xfrm>
        </p:grpSpPr>
        <p:grpSp>
          <p:nvGrpSpPr>
            <p:cNvPr id="99338" name="Group 69"/>
            <p:cNvGrpSpPr/>
            <p:nvPr/>
          </p:nvGrpSpPr>
          <p:grpSpPr>
            <a:xfrm>
              <a:off x="966" y="2304"/>
              <a:ext cx="454" cy="265"/>
              <a:chOff x="3504" y="1584"/>
              <a:chExt cx="384" cy="240"/>
            </a:xfrm>
          </p:grpSpPr>
          <p:grpSp>
            <p:nvGrpSpPr>
              <p:cNvPr id="99397" name="Group 70"/>
              <p:cNvGrpSpPr/>
              <p:nvPr/>
            </p:nvGrpSpPr>
            <p:grpSpPr>
              <a:xfrm>
                <a:off x="3504" y="1584"/>
                <a:ext cx="384" cy="240"/>
                <a:chOff x="3504" y="1584"/>
                <a:chExt cx="384" cy="240"/>
              </a:xfrm>
            </p:grpSpPr>
            <p:sp>
              <p:nvSpPr>
                <p:cNvPr id="99399" name="Rectangle 71"/>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400" name="Oval 72"/>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99398" name="Text Box 73"/>
              <p:cNvSpPr txBox="1"/>
              <p:nvPr/>
            </p:nvSpPr>
            <p:spPr>
              <a:xfrm>
                <a:off x="3561" y="1632"/>
                <a:ext cx="288" cy="192"/>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grpSp>
          <p:nvGrpSpPr>
            <p:cNvPr id="99339" name="Group 74"/>
            <p:cNvGrpSpPr/>
            <p:nvPr/>
          </p:nvGrpSpPr>
          <p:grpSpPr>
            <a:xfrm>
              <a:off x="1647" y="2304"/>
              <a:ext cx="455" cy="265"/>
              <a:chOff x="3504" y="1584"/>
              <a:chExt cx="384" cy="240"/>
            </a:xfrm>
          </p:grpSpPr>
          <p:grpSp>
            <p:nvGrpSpPr>
              <p:cNvPr id="99393" name="Group 75"/>
              <p:cNvGrpSpPr/>
              <p:nvPr/>
            </p:nvGrpSpPr>
            <p:grpSpPr>
              <a:xfrm>
                <a:off x="3504" y="1584"/>
                <a:ext cx="384" cy="240"/>
                <a:chOff x="3504" y="1584"/>
                <a:chExt cx="384" cy="240"/>
              </a:xfrm>
            </p:grpSpPr>
            <p:sp>
              <p:nvSpPr>
                <p:cNvPr id="99395" name="Rectangle 76"/>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96" name="Oval 77"/>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99394" name="Text Box 78"/>
              <p:cNvSpPr txBox="1"/>
              <p:nvPr/>
            </p:nvSpPr>
            <p:spPr>
              <a:xfrm>
                <a:off x="3561" y="1632"/>
                <a:ext cx="288" cy="192"/>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sp>
          <p:nvSpPr>
            <p:cNvPr id="99340" name="Line 79"/>
            <p:cNvSpPr/>
            <p:nvPr/>
          </p:nvSpPr>
          <p:spPr>
            <a:xfrm>
              <a:off x="1193" y="2038"/>
              <a:ext cx="0" cy="266"/>
            </a:xfrm>
            <a:prstGeom prst="line">
              <a:avLst/>
            </a:prstGeom>
            <a:ln w="9525" cap="flat" cmpd="sng">
              <a:solidFill>
                <a:schemeClr val="tx1"/>
              </a:solidFill>
              <a:prstDash val="solid"/>
              <a:headEnd type="none" w="med" len="med"/>
              <a:tailEnd type="none" w="med" len="med"/>
            </a:ln>
          </p:spPr>
        </p:sp>
        <p:sp>
          <p:nvSpPr>
            <p:cNvPr id="99341" name="Line 80"/>
            <p:cNvSpPr/>
            <p:nvPr/>
          </p:nvSpPr>
          <p:spPr>
            <a:xfrm>
              <a:off x="1874" y="2038"/>
              <a:ext cx="0" cy="266"/>
            </a:xfrm>
            <a:prstGeom prst="line">
              <a:avLst/>
            </a:prstGeom>
            <a:ln w="9525" cap="flat" cmpd="sng">
              <a:solidFill>
                <a:schemeClr val="tx1"/>
              </a:solidFill>
              <a:prstDash val="solid"/>
              <a:headEnd type="none" w="med" len="med"/>
              <a:tailEnd type="none" w="med" len="med"/>
            </a:ln>
          </p:spPr>
        </p:sp>
        <p:sp>
          <p:nvSpPr>
            <p:cNvPr id="99342" name="Line 81"/>
            <p:cNvSpPr/>
            <p:nvPr/>
          </p:nvSpPr>
          <p:spPr>
            <a:xfrm>
              <a:off x="1193" y="2198"/>
              <a:ext cx="284" cy="0"/>
            </a:xfrm>
            <a:prstGeom prst="line">
              <a:avLst/>
            </a:prstGeom>
            <a:ln w="9525" cap="flat" cmpd="sng">
              <a:solidFill>
                <a:schemeClr val="tx1"/>
              </a:solidFill>
              <a:prstDash val="solid"/>
              <a:headEnd type="none" w="med" len="med"/>
              <a:tailEnd type="none" w="med" len="med"/>
            </a:ln>
          </p:spPr>
        </p:sp>
        <p:sp>
          <p:nvSpPr>
            <p:cNvPr id="99343" name="Line 82"/>
            <p:cNvSpPr/>
            <p:nvPr/>
          </p:nvSpPr>
          <p:spPr>
            <a:xfrm>
              <a:off x="1477" y="2198"/>
              <a:ext cx="114" cy="531"/>
            </a:xfrm>
            <a:prstGeom prst="line">
              <a:avLst/>
            </a:prstGeom>
            <a:ln w="9525" cap="flat" cmpd="sng">
              <a:solidFill>
                <a:schemeClr val="tx1"/>
              </a:solidFill>
              <a:prstDash val="solid"/>
              <a:headEnd type="none" w="med" len="med"/>
              <a:tailEnd type="none" w="med" len="med"/>
            </a:ln>
          </p:spPr>
        </p:sp>
        <p:sp>
          <p:nvSpPr>
            <p:cNvPr id="99344" name="Line 83"/>
            <p:cNvSpPr/>
            <p:nvPr/>
          </p:nvSpPr>
          <p:spPr>
            <a:xfrm>
              <a:off x="1591" y="2729"/>
              <a:ext cx="170" cy="0"/>
            </a:xfrm>
            <a:prstGeom prst="line">
              <a:avLst/>
            </a:prstGeom>
            <a:ln w="9525" cap="flat" cmpd="sng">
              <a:solidFill>
                <a:schemeClr val="tx1"/>
              </a:solidFill>
              <a:prstDash val="solid"/>
              <a:headEnd type="none" w="med" len="med"/>
              <a:tailEnd type="none" w="med" len="med"/>
            </a:ln>
          </p:spPr>
        </p:sp>
        <p:sp>
          <p:nvSpPr>
            <p:cNvPr id="99345" name="Line 84"/>
            <p:cNvSpPr/>
            <p:nvPr/>
          </p:nvSpPr>
          <p:spPr>
            <a:xfrm flipV="1">
              <a:off x="1761" y="2569"/>
              <a:ext cx="0" cy="160"/>
            </a:xfrm>
            <a:prstGeom prst="line">
              <a:avLst/>
            </a:prstGeom>
            <a:ln w="9525" cap="flat" cmpd="sng">
              <a:solidFill>
                <a:schemeClr val="tx1"/>
              </a:solidFill>
              <a:prstDash val="solid"/>
              <a:headEnd type="none" w="med" len="med"/>
              <a:tailEnd type="none" w="med" len="med"/>
            </a:ln>
          </p:spPr>
        </p:sp>
        <p:sp>
          <p:nvSpPr>
            <p:cNvPr id="99346" name="Line 85"/>
            <p:cNvSpPr/>
            <p:nvPr/>
          </p:nvSpPr>
          <p:spPr>
            <a:xfrm flipH="1">
              <a:off x="1591" y="2198"/>
              <a:ext cx="283" cy="0"/>
            </a:xfrm>
            <a:prstGeom prst="line">
              <a:avLst/>
            </a:prstGeom>
            <a:ln w="9525" cap="flat" cmpd="sng">
              <a:solidFill>
                <a:schemeClr val="tx1"/>
              </a:solidFill>
              <a:prstDash val="solid"/>
              <a:headEnd type="none" w="med" len="med"/>
              <a:tailEnd type="none" w="med" len="med"/>
            </a:ln>
          </p:spPr>
        </p:sp>
        <p:sp>
          <p:nvSpPr>
            <p:cNvPr id="99347" name="Line 86"/>
            <p:cNvSpPr/>
            <p:nvPr/>
          </p:nvSpPr>
          <p:spPr>
            <a:xfrm flipH="1">
              <a:off x="1477" y="2198"/>
              <a:ext cx="114" cy="531"/>
            </a:xfrm>
            <a:prstGeom prst="line">
              <a:avLst/>
            </a:prstGeom>
            <a:ln w="9525" cap="flat" cmpd="sng">
              <a:solidFill>
                <a:schemeClr val="tx1"/>
              </a:solidFill>
              <a:prstDash val="solid"/>
              <a:headEnd type="none" w="med" len="med"/>
              <a:tailEnd type="none" w="med" len="med"/>
            </a:ln>
          </p:spPr>
        </p:sp>
        <p:sp>
          <p:nvSpPr>
            <p:cNvPr id="99348" name="Line 87"/>
            <p:cNvSpPr/>
            <p:nvPr/>
          </p:nvSpPr>
          <p:spPr>
            <a:xfrm flipH="1">
              <a:off x="1307" y="2729"/>
              <a:ext cx="170" cy="0"/>
            </a:xfrm>
            <a:prstGeom prst="line">
              <a:avLst/>
            </a:prstGeom>
            <a:ln w="9525" cap="flat" cmpd="sng">
              <a:solidFill>
                <a:schemeClr val="tx1"/>
              </a:solidFill>
              <a:prstDash val="solid"/>
              <a:headEnd type="none" w="med" len="med"/>
              <a:tailEnd type="none" w="med" len="med"/>
            </a:ln>
          </p:spPr>
        </p:sp>
        <p:sp>
          <p:nvSpPr>
            <p:cNvPr id="99349" name="Line 88"/>
            <p:cNvSpPr/>
            <p:nvPr/>
          </p:nvSpPr>
          <p:spPr>
            <a:xfrm flipV="1">
              <a:off x="1307" y="2569"/>
              <a:ext cx="0" cy="160"/>
            </a:xfrm>
            <a:prstGeom prst="line">
              <a:avLst/>
            </a:prstGeom>
            <a:ln w="9525" cap="flat" cmpd="sng">
              <a:solidFill>
                <a:schemeClr val="tx1"/>
              </a:solidFill>
              <a:prstDash val="solid"/>
              <a:headEnd type="none" w="med" len="med"/>
              <a:tailEnd type="none" w="med" len="med"/>
            </a:ln>
          </p:spPr>
        </p:sp>
        <p:sp>
          <p:nvSpPr>
            <p:cNvPr id="99350" name="Oval 89"/>
            <p:cNvSpPr/>
            <p:nvPr/>
          </p:nvSpPr>
          <p:spPr>
            <a:xfrm>
              <a:off x="1161" y="2165"/>
              <a:ext cx="57" cy="53"/>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51" name="Oval 90"/>
            <p:cNvSpPr/>
            <p:nvPr/>
          </p:nvSpPr>
          <p:spPr>
            <a:xfrm>
              <a:off x="1839" y="2174"/>
              <a:ext cx="57" cy="54"/>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52" name="Text Box 91"/>
            <p:cNvSpPr txBox="1"/>
            <p:nvPr/>
          </p:nvSpPr>
          <p:spPr>
            <a:xfrm>
              <a:off x="1079" y="1773"/>
              <a:ext cx="284"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grpSp>
          <p:nvGrpSpPr>
            <p:cNvPr id="99353" name="Group 92"/>
            <p:cNvGrpSpPr/>
            <p:nvPr/>
          </p:nvGrpSpPr>
          <p:grpSpPr>
            <a:xfrm>
              <a:off x="1761" y="1773"/>
              <a:ext cx="284" cy="212"/>
              <a:chOff x="4176" y="1104"/>
              <a:chExt cx="240" cy="192"/>
            </a:xfrm>
          </p:grpSpPr>
          <p:sp>
            <p:nvSpPr>
              <p:cNvPr id="99391" name="Text Box 93"/>
              <p:cNvSpPr txBox="1"/>
              <p:nvPr/>
            </p:nvSpPr>
            <p:spPr>
              <a:xfrm>
                <a:off x="4176" y="1104"/>
                <a:ext cx="240" cy="19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Q</a:t>
                </a:r>
              </a:p>
            </p:txBody>
          </p:sp>
          <p:sp>
            <p:nvSpPr>
              <p:cNvPr id="99392" name="Line 94"/>
              <p:cNvSpPr/>
              <p:nvPr/>
            </p:nvSpPr>
            <p:spPr>
              <a:xfrm>
                <a:off x="4233" y="1143"/>
                <a:ext cx="96" cy="0"/>
              </a:xfrm>
              <a:prstGeom prst="line">
                <a:avLst/>
              </a:prstGeom>
              <a:ln w="9525" cap="flat" cmpd="sng">
                <a:solidFill>
                  <a:schemeClr val="tx1"/>
                </a:solidFill>
                <a:prstDash val="solid"/>
                <a:headEnd type="none" w="med" len="med"/>
                <a:tailEnd type="none" w="med" len="med"/>
              </a:ln>
            </p:spPr>
          </p:sp>
        </p:grpSp>
        <p:grpSp>
          <p:nvGrpSpPr>
            <p:cNvPr id="99354" name="Group 95"/>
            <p:cNvGrpSpPr/>
            <p:nvPr/>
          </p:nvGrpSpPr>
          <p:grpSpPr>
            <a:xfrm>
              <a:off x="909" y="2569"/>
              <a:ext cx="398" cy="212"/>
              <a:chOff x="3504" y="2160"/>
              <a:chExt cx="336" cy="191"/>
            </a:xfrm>
          </p:grpSpPr>
          <p:sp>
            <p:nvSpPr>
              <p:cNvPr id="99389" name="Text Box 96"/>
              <p:cNvSpPr txBox="1"/>
              <p:nvPr/>
            </p:nvSpPr>
            <p:spPr>
              <a:xfrm>
                <a:off x="3504" y="2160"/>
                <a:ext cx="336" cy="191"/>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S</a:t>
                </a:r>
                <a:r>
                  <a:rPr lang="en-US" altLang="zh-CN" sz="1600" baseline="-25000" dirty="0">
                    <a:solidFill>
                      <a:schemeClr val="tx1"/>
                    </a:solidFill>
                    <a:latin typeface="Times New Roman" panose="02020603050405020304" pitchFamily="18" charset="0"/>
                  </a:rPr>
                  <a:t>D</a:t>
                </a:r>
                <a:endParaRPr lang="en-US" altLang="zh-CN" sz="1600" dirty="0">
                  <a:solidFill>
                    <a:schemeClr val="tx1"/>
                  </a:solidFill>
                  <a:latin typeface="Times New Roman" panose="02020603050405020304" pitchFamily="18" charset="0"/>
                </a:endParaRPr>
              </a:p>
            </p:txBody>
          </p:sp>
          <p:sp>
            <p:nvSpPr>
              <p:cNvPr id="99390" name="Line 97"/>
              <p:cNvSpPr/>
              <p:nvPr/>
            </p:nvSpPr>
            <p:spPr>
              <a:xfrm>
                <a:off x="3561" y="2199"/>
                <a:ext cx="87" cy="0"/>
              </a:xfrm>
              <a:prstGeom prst="line">
                <a:avLst/>
              </a:prstGeom>
              <a:ln w="9525" cap="flat" cmpd="sng">
                <a:solidFill>
                  <a:schemeClr val="tx1"/>
                </a:solidFill>
                <a:prstDash val="solid"/>
                <a:headEnd type="none" w="med" len="med"/>
                <a:tailEnd type="none" w="med" len="med"/>
              </a:ln>
            </p:spPr>
          </p:sp>
        </p:grpSp>
        <p:grpSp>
          <p:nvGrpSpPr>
            <p:cNvPr id="99355" name="Group 98"/>
            <p:cNvGrpSpPr/>
            <p:nvPr/>
          </p:nvGrpSpPr>
          <p:grpSpPr>
            <a:xfrm>
              <a:off x="1874" y="2569"/>
              <a:ext cx="398" cy="212"/>
              <a:chOff x="3504" y="2160"/>
              <a:chExt cx="336" cy="191"/>
            </a:xfrm>
          </p:grpSpPr>
          <p:sp>
            <p:nvSpPr>
              <p:cNvPr id="99387" name="Text Box 99"/>
              <p:cNvSpPr txBox="1"/>
              <p:nvPr/>
            </p:nvSpPr>
            <p:spPr>
              <a:xfrm>
                <a:off x="3504" y="2160"/>
                <a:ext cx="336" cy="191"/>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R</a:t>
                </a:r>
                <a:r>
                  <a:rPr lang="en-US" altLang="zh-CN" sz="1600" baseline="-25000" dirty="0">
                    <a:solidFill>
                      <a:schemeClr val="tx1"/>
                    </a:solidFill>
                    <a:latin typeface="Times New Roman" panose="02020603050405020304" pitchFamily="18" charset="0"/>
                  </a:rPr>
                  <a:t>D</a:t>
                </a:r>
                <a:endParaRPr lang="en-US" altLang="zh-CN" sz="1600" dirty="0">
                  <a:solidFill>
                    <a:schemeClr val="tx1"/>
                  </a:solidFill>
                  <a:latin typeface="Times New Roman" panose="02020603050405020304" pitchFamily="18" charset="0"/>
                </a:endParaRPr>
              </a:p>
            </p:txBody>
          </p:sp>
          <p:sp>
            <p:nvSpPr>
              <p:cNvPr id="99388" name="Line 100"/>
              <p:cNvSpPr/>
              <p:nvPr/>
            </p:nvSpPr>
            <p:spPr>
              <a:xfrm>
                <a:off x="3561" y="2199"/>
                <a:ext cx="87" cy="0"/>
              </a:xfrm>
              <a:prstGeom prst="line">
                <a:avLst/>
              </a:prstGeom>
              <a:ln w="9525" cap="flat" cmpd="sng">
                <a:solidFill>
                  <a:schemeClr val="tx1"/>
                </a:solidFill>
                <a:prstDash val="solid"/>
                <a:headEnd type="none" w="med" len="med"/>
                <a:tailEnd type="none" w="med" len="med"/>
              </a:ln>
            </p:spPr>
          </p:sp>
        </p:grpSp>
        <p:grpSp>
          <p:nvGrpSpPr>
            <p:cNvPr id="99356" name="Group 101"/>
            <p:cNvGrpSpPr/>
            <p:nvPr/>
          </p:nvGrpSpPr>
          <p:grpSpPr>
            <a:xfrm>
              <a:off x="966" y="2813"/>
              <a:ext cx="454" cy="265"/>
              <a:chOff x="3504" y="1584"/>
              <a:chExt cx="384" cy="240"/>
            </a:xfrm>
          </p:grpSpPr>
          <p:grpSp>
            <p:nvGrpSpPr>
              <p:cNvPr id="99383" name="Group 102"/>
              <p:cNvGrpSpPr/>
              <p:nvPr/>
            </p:nvGrpSpPr>
            <p:grpSpPr>
              <a:xfrm>
                <a:off x="3504" y="1584"/>
                <a:ext cx="384" cy="240"/>
                <a:chOff x="3504" y="1584"/>
                <a:chExt cx="384" cy="240"/>
              </a:xfrm>
            </p:grpSpPr>
            <p:sp>
              <p:nvSpPr>
                <p:cNvPr id="99385" name="Rectangle 103"/>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86" name="Oval 104"/>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99384" name="Text Box 105"/>
              <p:cNvSpPr txBox="1"/>
              <p:nvPr/>
            </p:nvSpPr>
            <p:spPr>
              <a:xfrm>
                <a:off x="3561" y="1632"/>
                <a:ext cx="288" cy="192"/>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grpSp>
          <p:nvGrpSpPr>
            <p:cNvPr id="99357" name="Group 106"/>
            <p:cNvGrpSpPr/>
            <p:nvPr/>
          </p:nvGrpSpPr>
          <p:grpSpPr>
            <a:xfrm>
              <a:off x="1647" y="2813"/>
              <a:ext cx="455" cy="265"/>
              <a:chOff x="3504" y="1584"/>
              <a:chExt cx="384" cy="240"/>
            </a:xfrm>
          </p:grpSpPr>
          <p:grpSp>
            <p:nvGrpSpPr>
              <p:cNvPr id="99379" name="Group 107"/>
              <p:cNvGrpSpPr/>
              <p:nvPr/>
            </p:nvGrpSpPr>
            <p:grpSpPr>
              <a:xfrm>
                <a:off x="3504" y="1584"/>
                <a:ext cx="384" cy="240"/>
                <a:chOff x="3504" y="1584"/>
                <a:chExt cx="384" cy="240"/>
              </a:xfrm>
            </p:grpSpPr>
            <p:sp>
              <p:nvSpPr>
                <p:cNvPr id="99381" name="Rectangle 108"/>
                <p:cNvSpPr/>
                <p:nvPr/>
              </p:nvSpPr>
              <p:spPr>
                <a:xfrm>
                  <a:off x="3504" y="1632"/>
                  <a:ext cx="384" cy="192"/>
                </a:xfrm>
                <a:prstGeom prst="rect">
                  <a:avLst/>
                </a:prstGeom>
                <a:noFill/>
                <a:ln w="19050" cap="flat" cmpd="sng">
                  <a:solidFill>
                    <a:schemeClr val="tx1"/>
                  </a:solidFill>
                  <a:prstDash val="solid"/>
                  <a:miter/>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82" name="Oval 109"/>
                <p:cNvSpPr/>
                <p:nvPr/>
              </p:nvSpPr>
              <p:spPr>
                <a:xfrm>
                  <a:off x="3675" y="1584"/>
                  <a:ext cx="48" cy="48"/>
                </a:xfrm>
                <a:prstGeom prst="ellipse">
                  <a:avLst/>
                </a:prstGeom>
                <a:noFill/>
                <a:ln w="19050"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grpSp>
          <p:sp>
            <p:nvSpPr>
              <p:cNvPr id="99380" name="Text Box 110"/>
              <p:cNvSpPr txBox="1"/>
              <p:nvPr/>
            </p:nvSpPr>
            <p:spPr>
              <a:xfrm>
                <a:off x="3561" y="1632"/>
                <a:ext cx="288" cy="192"/>
              </a:xfrm>
              <a:prstGeom prst="rect">
                <a:avLst/>
              </a:prstGeom>
              <a:noFill/>
              <a:ln w="9525">
                <a:noFill/>
              </a:ln>
            </p:spPr>
            <p:txBody>
              <a:bodyPr>
                <a:spAutoFit/>
              </a:bodyPr>
              <a:lstStyle/>
              <a:p>
                <a:pPr algn="ctr">
                  <a:spcBef>
                    <a:spcPct val="50000"/>
                  </a:spcBef>
                </a:pPr>
                <a:r>
                  <a:rPr lang="en-US" altLang="zh-CN" sz="1600" dirty="0">
                    <a:solidFill>
                      <a:schemeClr val="tx1"/>
                    </a:solidFill>
                    <a:latin typeface="Times New Roman" panose="02020603050405020304" pitchFamily="18" charset="0"/>
                  </a:rPr>
                  <a:t>&amp;</a:t>
                </a:r>
              </a:p>
            </p:txBody>
          </p:sp>
        </p:grpSp>
        <p:sp>
          <p:nvSpPr>
            <p:cNvPr id="99358" name="Line 111"/>
            <p:cNvSpPr/>
            <p:nvPr/>
          </p:nvSpPr>
          <p:spPr>
            <a:xfrm flipV="1">
              <a:off x="1193" y="2569"/>
              <a:ext cx="0" cy="266"/>
            </a:xfrm>
            <a:prstGeom prst="line">
              <a:avLst/>
            </a:prstGeom>
            <a:ln w="9525" cap="flat" cmpd="sng">
              <a:solidFill>
                <a:schemeClr val="tx1"/>
              </a:solidFill>
              <a:prstDash val="solid"/>
              <a:headEnd type="none" w="med" len="med"/>
              <a:tailEnd type="none" w="med" len="med"/>
            </a:ln>
          </p:spPr>
        </p:sp>
        <p:sp>
          <p:nvSpPr>
            <p:cNvPr id="99359" name="Line 112"/>
            <p:cNvSpPr/>
            <p:nvPr/>
          </p:nvSpPr>
          <p:spPr>
            <a:xfrm flipV="1">
              <a:off x="1874" y="2569"/>
              <a:ext cx="0" cy="266"/>
            </a:xfrm>
            <a:prstGeom prst="line">
              <a:avLst/>
            </a:prstGeom>
            <a:ln w="9525" cap="flat" cmpd="sng">
              <a:solidFill>
                <a:schemeClr val="tx1"/>
              </a:solidFill>
              <a:prstDash val="solid"/>
              <a:headEnd type="none" w="med" len="med"/>
              <a:tailEnd type="none" w="med" len="med"/>
            </a:ln>
          </p:spPr>
        </p:sp>
        <p:grpSp>
          <p:nvGrpSpPr>
            <p:cNvPr id="99360" name="Group 113"/>
            <p:cNvGrpSpPr/>
            <p:nvPr/>
          </p:nvGrpSpPr>
          <p:grpSpPr>
            <a:xfrm>
              <a:off x="1250" y="3080"/>
              <a:ext cx="568" cy="179"/>
              <a:chOff x="3264" y="1374"/>
              <a:chExt cx="384" cy="96"/>
            </a:xfrm>
          </p:grpSpPr>
          <p:sp>
            <p:nvSpPr>
              <p:cNvPr id="99376" name="Line 114"/>
              <p:cNvSpPr/>
              <p:nvPr/>
            </p:nvSpPr>
            <p:spPr>
              <a:xfrm>
                <a:off x="3264" y="1374"/>
                <a:ext cx="0" cy="96"/>
              </a:xfrm>
              <a:prstGeom prst="line">
                <a:avLst/>
              </a:prstGeom>
              <a:ln w="9525" cap="flat" cmpd="sng">
                <a:solidFill>
                  <a:schemeClr val="tx1"/>
                </a:solidFill>
                <a:prstDash val="solid"/>
                <a:headEnd type="none" w="med" len="med"/>
                <a:tailEnd type="none" w="med" len="med"/>
              </a:ln>
            </p:spPr>
          </p:sp>
          <p:sp>
            <p:nvSpPr>
              <p:cNvPr id="99377" name="Line 115"/>
              <p:cNvSpPr/>
              <p:nvPr/>
            </p:nvSpPr>
            <p:spPr>
              <a:xfrm>
                <a:off x="3264" y="1470"/>
                <a:ext cx="384" cy="0"/>
              </a:xfrm>
              <a:prstGeom prst="line">
                <a:avLst/>
              </a:prstGeom>
              <a:ln w="9525" cap="flat" cmpd="sng">
                <a:solidFill>
                  <a:schemeClr val="tx1"/>
                </a:solidFill>
                <a:prstDash val="solid"/>
                <a:headEnd type="none" w="med" len="med"/>
                <a:tailEnd type="none" w="med" len="med"/>
              </a:ln>
            </p:spPr>
          </p:sp>
          <p:sp>
            <p:nvSpPr>
              <p:cNvPr id="99378" name="Line 116"/>
              <p:cNvSpPr/>
              <p:nvPr/>
            </p:nvSpPr>
            <p:spPr>
              <a:xfrm flipV="1">
                <a:off x="3648" y="1374"/>
                <a:ext cx="0" cy="96"/>
              </a:xfrm>
              <a:prstGeom prst="line">
                <a:avLst/>
              </a:prstGeom>
              <a:ln w="9525" cap="flat" cmpd="sng">
                <a:solidFill>
                  <a:schemeClr val="tx1"/>
                </a:solidFill>
                <a:prstDash val="solid"/>
                <a:headEnd type="none" w="med" len="med"/>
                <a:tailEnd type="none" w="med" len="med"/>
              </a:ln>
            </p:spPr>
          </p:sp>
        </p:grpSp>
        <p:sp>
          <p:nvSpPr>
            <p:cNvPr id="99361" name="Line 117"/>
            <p:cNvSpPr/>
            <p:nvPr/>
          </p:nvSpPr>
          <p:spPr>
            <a:xfrm>
              <a:off x="1534" y="3256"/>
              <a:ext cx="0" cy="163"/>
            </a:xfrm>
            <a:prstGeom prst="line">
              <a:avLst/>
            </a:prstGeom>
            <a:ln w="9525" cap="flat" cmpd="sng">
              <a:solidFill>
                <a:schemeClr val="tx1"/>
              </a:solidFill>
              <a:prstDash val="solid"/>
              <a:headEnd type="none" w="med" len="med"/>
              <a:tailEnd type="none" w="med" len="med"/>
            </a:ln>
          </p:spPr>
        </p:sp>
        <p:sp>
          <p:nvSpPr>
            <p:cNvPr id="99362" name="Line 118"/>
            <p:cNvSpPr/>
            <p:nvPr/>
          </p:nvSpPr>
          <p:spPr>
            <a:xfrm>
              <a:off x="1079" y="3080"/>
              <a:ext cx="0" cy="319"/>
            </a:xfrm>
            <a:prstGeom prst="line">
              <a:avLst/>
            </a:prstGeom>
            <a:ln w="9525" cap="flat" cmpd="sng">
              <a:solidFill>
                <a:schemeClr val="tx1"/>
              </a:solidFill>
              <a:prstDash val="solid"/>
              <a:headEnd type="none" w="med" len="med"/>
              <a:tailEnd type="none" w="med" len="med"/>
            </a:ln>
          </p:spPr>
        </p:sp>
        <p:sp>
          <p:nvSpPr>
            <p:cNvPr id="99363" name="Line 119"/>
            <p:cNvSpPr/>
            <p:nvPr/>
          </p:nvSpPr>
          <p:spPr>
            <a:xfrm>
              <a:off x="1988" y="3080"/>
              <a:ext cx="0" cy="319"/>
            </a:xfrm>
            <a:prstGeom prst="line">
              <a:avLst/>
            </a:prstGeom>
            <a:ln w="9525" cap="flat" cmpd="sng">
              <a:solidFill>
                <a:schemeClr val="tx1"/>
              </a:solidFill>
              <a:prstDash val="solid"/>
              <a:headEnd type="none" w="med" len="med"/>
              <a:tailEnd type="none" w="med" len="med"/>
            </a:ln>
          </p:spPr>
        </p:sp>
        <p:sp>
          <p:nvSpPr>
            <p:cNvPr id="99364" name="Oval 120"/>
            <p:cNvSpPr/>
            <p:nvPr/>
          </p:nvSpPr>
          <p:spPr>
            <a:xfrm>
              <a:off x="1512" y="3230"/>
              <a:ext cx="57" cy="53"/>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65" name="Text Box 121"/>
            <p:cNvSpPr txBox="1"/>
            <p:nvPr/>
          </p:nvSpPr>
          <p:spPr>
            <a:xfrm>
              <a:off x="966" y="3397"/>
              <a:ext cx="284"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J</a:t>
              </a:r>
            </a:p>
          </p:txBody>
        </p:sp>
        <p:sp>
          <p:nvSpPr>
            <p:cNvPr id="99366" name="Text Box 122"/>
            <p:cNvSpPr txBox="1"/>
            <p:nvPr/>
          </p:nvSpPr>
          <p:spPr>
            <a:xfrm>
              <a:off x="1874" y="3397"/>
              <a:ext cx="284"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K</a:t>
              </a:r>
            </a:p>
          </p:txBody>
        </p:sp>
        <p:sp>
          <p:nvSpPr>
            <p:cNvPr id="99367" name="Text Box 123"/>
            <p:cNvSpPr txBox="1"/>
            <p:nvPr/>
          </p:nvSpPr>
          <p:spPr>
            <a:xfrm>
              <a:off x="1363" y="3397"/>
              <a:ext cx="398" cy="212"/>
            </a:xfrm>
            <a:prstGeom prst="rect">
              <a:avLst/>
            </a:prstGeom>
            <a:noFill/>
            <a:ln w="9525">
              <a:noFill/>
            </a:ln>
          </p:spPr>
          <p:txBody>
            <a:bodyPr>
              <a:spAutoFit/>
            </a:bodyPr>
            <a:lstStyle/>
            <a:p>
              <a:pPr algn="just">
                <a:spcBef>
                  <a:spcPct val="50000"/>
                </a:spcBef>
              </a:pPr>
              <a:r>
                <a:rPr lang="en-US" altLang="zh-CN" sz="1600" dirty="0">
                  <a:solidFill>
                    <a:schemeClr val="tx1"/>
                  </a:solidFill>
                  <a:latin typeface="Times New Roman" panose="02020603050405020304" pitchFamily="18" charset="0"/>
                </a:rPr>
                <a:t>CP</a:t>
              </a:r>
            </a:p>
          </p:txBody>
        </p:sp>
        <p:sp>
          <p:nvSpPr>
            <p:cNvPr id="99368" name="Oval 132"/>
            <p:cNvSpPr/>
            <p:nvPr/>
          </p:nvSpPr>
          <p:spPr>
            <a:xfrm>
              <a:off x="1441" y="2699"/>
              <a:ext cx="57" cy="53"/>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69" name="Oval 133"/>
            <p:cNvSpPr/>
            <p:nvPr/>
          </p:nvSpPr>
          <p:spPr>
            <a:xfrm>
              <a:off x="1569" y="2695"/>
              <a:ext cx="57" cy="54"/>
            </a:xfrm>
            <a:prstGeom prst="ellipse">
              <a:avLst/>
            </a:prstGeom>
            <a:solidFill>
              <a:schemeClr val="tx1"/>
            </a:solidFill>
            <a:ln w="9525" cap="flat" cmpd="sng">
              <a:solidFill>
                <a:schemeClr val="tx1"/>
              </a:solidFill>
              <a:prstDash val="solid"/>
              <a:headEnd type="none" w="med" len="med"/>
              <a:tailEnd type="none" w="med" len="med"/>
            </a:ln>
          </p:spPr>
          <p:txBody>
            <a:bodyPr wrap="none" anchor="ctr" anchorCtr="0"/>
            <a:lstStyle/>
            <a:p>
              <a:pPr algn="dist" eaLnBrk="1" hangingPunct="1">
                <a:lnSpc>
                  <a:spcPct val="90000"/>
                </a:lnSpc>
              </a:pPr>
              <a:endParaRPr lang="zh-CN" altLang="en-US" sz="4000" dirty="0">
                <a:solidFill>
                  <a:schemeClr val="hlink"/>
                </a:solidFill>
                <a:latin typeface="Arial" panose="020B0604020202020204" pitchFamily="34" charset="0"/>
                <a:ea typeface="Gulim" panose="020B0600000101010101" pitchFamily="34" charset="-127"/>
              </a:endParaRPr>
            </a:p>
          </p:txBody>
        </p:sp>
        <p:sp>
          <p:nvSpPr>
            <p:cNvPr id="99370" name="Text Box 88"/>
            <p:cNvSpPr txBox="1"/>
            <p:nvPr/>
          </p:nvSpPr>
          <p:spPr>
            <a:xfrm>
              <a:off x="966" y="3566"/>
              <a:ext cx="1192" cy="232"/>
            </a:xfrm>
            <a:prstGeom prst="rect">
              <a:avLst/>
            </a:prstGeom>
            <a:noFill/>
            <a:ln w="12700">
              <a:noFill/>
            </a:ln>
          </p:spPr>
          <p:txBody>
            <a:bodyPr>
              <a:spAutoFit/>
            </a:bodyPr>
            <a:lstStyle/>
            <a:p>
              <a:pPr eaLnBrk="1" hangingPunct="1">
                <a:lnSpc>
                  <a:spcPct val="90000"/>
                </a:lnSpc>
                <a:spcBef>
                  <a:spcPct val="50000"/>
                </a:spcBef>
              </a:pPr>
              <a:r>
                <a:rPr lang="en-US" altLang="zh-CN" sz="2000" b="0" dirty="0">
                  <a:solidFill>
                    <a:srgbClr val="FF0066"/>
                  </a:solidFill>
                  <a:latin typeface="Times New Roman" panose="02020603050405020304" pitchFamily="18" charset="0"/>
                </a:rPr>
                <a:t>(</a:t>
              </a:r>
              <a:r>
                <a:rPr lang="en-US" altLang="zh-CN" sz="2000" dirty="0">
                  <a:solidFill>
                    <a:srgbClr val="FF0066"/>
                  </a:solidFill>
                  <a:latin typeface="Times New Roman" panose="02020603050405020304" pitchFamily="18" charset="0"/>
                </a:rPr>
                <a:t>S</a:t>
              </a:r>
              <a:r>
                <a:rPr lang="en-US" altLang="zh-CN" sz="2000" b="0" dirty="0">
                  <a:solidFill>
                    <a:srgbClr val="FF0066"/>
                  </a:solidFill>
                  <a:latin typeface="Times New Roman" panose="02020603050405020304" pitchFamily="18" charset="0"/>
                </a:rPr>
                <a:t>)                 (</a:t>
              </a:r>
              <a:r>
                <a:rPr lang="en-US" altLang="zh-CN" sz="2000" dirty="0">
                  <a:solidFill>
                    <a:srgbClr val="FF0066"/>
                  </a:solidFill>
                  <a:latin typeface="Times New Roman" panose="02020603050405020304" pitchFamily="18" charset="0"/>
                </a:rPr>
                <a:t>R</a:t>
              </a:r>
              <a:r>
                <a:rPr lang="en-US" altLang="zh-CN" sz="2000" b="0" dirty="0">
                  <a:solidFill>
                    <a:srgbClr val="FF0066"/>
                  </a:solidFill>
                  <a:latin typeface="Times New Roman" panose="02020603050405020304" pitchFamily="18" charset="0"/>
                </a:rPr>
                <a:t>)</a:t>
              </a:r>
            </a:p>
          </p:txBody>
        </p:sp>
        <p:sp>
          <p:nvSpPr>
            <p:cNvPr id="99371" name="Text Box 0"/>
            <p:cNvSpPr txBox="1"/>
            <p:nvPr/>
          </p:nvSpPr>
          <p:spPr>
            <a:xfrm>
              <a:off x="884" y="3521"/>
              <a:ext cx="1388" cy="232"/>
            </a:xfrm>
            <a:prstGeom prst="rect">
              <a:avLst/>
            </a:prstGeom>
            <a:noFill/>
            <a:ln w="9525">
              <a:noFill/>
            </a:ln>
          </p:spPr>
          <p:txBody>
            <a:bodyPr>
              <a:spAutoFit/>
            </a:bodyPr>
            <a:lstStyle/>
            <a:p>
              <a:pPr algn="ctr" eaLnBrk="1" hangingPunct="1">
                <a:spcBef>
                  <a:spcPct val="50000"/>
                </a:spcBef>
              </a:pPr>
              <a:endParaRPr lang="zh-CN" altLang="en-US" dirty="0">
                <a:latin typeface="Arial" panose="020B0604020202020204" pitchFamily="34" charset="0"/>
              </a:endParaRPr>
            </a:p>
          </p:txBody>
        </p:sp>
        <p:sp>
          <p:nvSpPr>
            <p:cNvPr id="39005" name="Rectangle 93"/>
            <p:cNvSpPr>
              <a:spLocks noChangeArrowheads="1"/>
            </p:cNvSpPr>
            <p:nvPr/>
          </p:nvSpPr>
          <p:spPr bwMode="auto">
            <a:xfrm>
              <a:off x="672" y="2357"/>
              <a:ext cx="256"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en-US" altLang="zh-CN" sz="16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1</a:t>
              </a:r>
            </a:p>
          </p:txBody>
        </p:sp>
        <p:sp>
          <p:nvSpPr>
            <p:cNvPr id="39006" name="Rectangle 94"/>
            <p:cNvSpPr>
              <a:spLocks noChangeArrowheads="1"/>
            </p:cNvSpPr>
            <p:nvPr/>
          </p:nvSpPr>
          <p:spPr bwMode="auto">
            <a:xfrm>
              <a:off x="2123" y="2364"/>
              <a:ext cx="256"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en-US" altLang="zh-CN" sz="16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2</a:t>
              </a:r>
            </a:p>
          </p:txBody>
        </p:sp>
        <p:sp>
          <p:nvSpPr>
            <p:cNvPr id="39007" name="Rectangle 95"/>
            <p:cNvSpPr>
              <a:spLocks noChangeArrowheads="1"/>
            </p:cNvSpPr>
            <p:nvPr/>
          </p:nvSpPr>
          <p:spPr bwMode="auto">
            <a:xfrm>
              <a:off x="672" y="2866"/>
              <a:ext cx="256"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en-US" altLang="zh-CN" sz="16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3</a:t>
              </a:r>
            </a:p>
          </p:txBody>
        </p:sp>
        <p:sp>
          <p:nvSpPr>
            <p:cNvPr id="39008" name="Rectangle 96"/>
            <p:cNvSpPr>
              <a:spLocks noChangeArrowheads="1"/>
            </p:cNvSpPr>
            <p:nvPr/>
          </p:nvSpPr>
          <p:spPr bwMode="auto">
            <a:xfrm>
              <a:off x="2104" y="2866"/>
              <a:ext cx="256" cy="212"/>
            </a:xfrm>
            <a:prstGeom prst="rect">
              <a:avLst/>
            </a:prstGeom>
            <a:noFill/>
            <a:ln w="9525" algn="ctr">
              <a:noFill/>
              <a:miter lim="800000"/>
            </a:ln>
            <a:effectLst>
              <a:prstShdw prst="shdw13" dist="53882" dir="13500000">
                <a:schemeClr val="accent1">
                  <a:gamma/>
                  <a:shade val="60000"/>
                  <a:invGamma/>
                  <a:alpha val="50000"/>
                </a:schemeClr>
              </a:prstShdw>
            </a:effectLst>
          </p:spPr>
          <p:txBody>
            <a:bodyPr wrap="none">
              <a:spAutoFit/>
            </a:body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G</a:t>
              </a:r>
              <a:r>
                <a:rPr kumimoji="0" lang="en-US" altLang="zh-CN" sz="1600" b="1"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rPr>
                <a:t>4</a:t>
              </a:r>
            </a:p>
          </p:txBody>
        </p:sp>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anim calcmode="lin" valueType="num">
                                      <p:cBhvr additive="base">
                                        <p:cTn id="7" dur="500" fill="hold"/>
                                        <p:tgtEl>
                                          <p:spTgt spid="3891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891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8916">
                                            <p:txEl>
                                              <p:pRg st="1" end="1"/>
                                            </p:txEl>
                                          </p:spTgt>
                                        </p:tgtEl>
                                        <p:attrNameLst>
                                          <p:attrName>style.visibility</p:attrName>
                                        </p:attrNameLst>
                                      </p:cBhvr>
                                      <p:to>
                                        <p:strVal val="visible"/>
                                      </p:to>
                                    </p:set>
                                    <p:anim calcmode="lin" valueType="num">
                                      <p:cBhvr additive="base">
                                        <p:cTn id="13" dur="500" fill="hold"/>
                                        <p:tgtEl>
                                          <p:spTgt spid="3891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891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39002"/>
                                        </p:tgtEl>
                                        <p:attrNameLst>
                                          <p:attrName>style.visibility</p:attrName>
                                        </p:attrNameLst>
                                      </p:cBhvr>
                                      <p:to>
                                        <p:strVal val="visible"/>
                                      </p:to>
                                    </p:set>
                                    <p:anim calcmode="lin" valueType="num">
                                      <p:cBhvr>
                                        <p:cTn id="19" dur="1000" fill="hold"/>
                                        <p:tgtEl>
                                          <p:spTgt spid="39002"/>
                                        </p:tgtEl>
                                        <p:attrNameLst>
                                          <p:attrName>ppt_w</p:attrName>
                                        </p:attrNameLst>
                                      </p:cBhvr>
                                      <p:tavLst>
                                        <p:tav tm="0">
                                          <p:val>
                                            <p:strVal val="#ppt_w*0.70"/>
                                          </p:val>
                                        </p:tav>
                                        <p:tav tm="100000">
                                          <p:val>
                                            <p:strVal val="#ppt_w"/>
                                          </p:val>
                                        </p:tav>
                                      </p:tavLst>
                                    </p:anim>
                                    <p:anim calcmode="lin" valueType="num">
                                      <p:cBhvr>
                                        <p:cTn id="20" dur="1000" fill="hold"/>
                                        <p:tgtEl>
                                          <p:spTgt spid="39002"/>
                                        </p:tgtEl>
                                        <p:attrNameLst>
                                          <p:attrName>ppt_h</p:attrName>
                                        </p:attrNameLst>
                                      </p:cBhvr>
                                      <p:tavLst>
                                        <p:tav tm="0">
                                          <p:val>
                                            <p:strVal val="#ppt_h"/>
                                          </p:val>
                                        </p:tav>
                                        <p:tav tm="100000">
                                          <p:val>
                                            <p:strVal val="#ppt_h"/>
                                          </p:val>
                                        </p:tav>
                                      </p:tavLst>
                                    </p:anim>
                                    <p:animEffect transition="in" filter="fade">
                                      <p:cBhvr>
                                        <p:cTn id="21" dur="1000"/>
                                        <p:tgtEl>
                                          <p:spTgt spid="39002"/>
                                        </p:tgtEl>
                                      </p:cBhvr>
                                    </p:animEffect>
                                  </p:childTnLst>
                                </p:cTn>
                              </p:par>
                            </p:childTnLst>
                          </p:cTn>
                        </p:par>
                        <p:par>
                          <p:cTn id="22" fill="hold">
                            <p:stCondLst>
                              <p:cond delay="1000"/>
                            </p:stCondLst>
                            <p:childTnLst>
                              <p:par>
                                <p:cTn id="23" presetID="3" presetClass="entr" presetSubtype="10"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p:cTn id="30" dur="500" fill="hold"/>
                                        <p:tgtEl>
                                          <p:spTgt spid="2"/>
                                        </p:tgtEl>
                                        <p:attrNameLst>
                                          <p:attrName>ppt_w</p:attrName>
                                        </p:attrNameLst>
                                      </p:cBhvr>
                                      <p:tavLst>
                                        <p:tav tm="0">
                                          <p:val>
                                            <p:fltVal val="0"/>
                                          </p:val>
                                        </p:tav>
                                        <p:tav tm="100000">
                                          <p:val>
                                            <p:strVal val="#ppt_w"/>
                                          </p:val>
                                        </p:tav>
                                      </p:tavLst>
                                    </p:anim>
                                    <p:anim calcmode="lin" valueType="num">
                                      <p:cBhvr>
                                        <p:cTn id="31"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blinds(horizontal)">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8954"/>
                                        </p:tgtEl>
                                        <p:attrNameLst>
                                          <p:attrName>style.visibility</p:attrName>
                                        </p:attrNameLst>
                                      </p:cBhvr>
                                      <p:to>
                                        <p:strVal val="visible"/>
                                      </p:to>
                                    </p:set>
                                    <p:anim calcmode="lin" valueType="num">
                                      <p:cBhvr additive="base">
                                        <p:cTn id="41" dur="500" fill="hold"/>
                                        <p:tgtEl>
                                          <p:spTgt spid="38954"/>
                                        </p:tgtEl>
                                        <p:attrNameLst>
                                          <p:attrName>ppt_x</p:attrName>
                                        </p:attrNameLst>
                                      </p:cBhvr>
                                      <p:tavLst>
                                        <p:tav tm="0">
                                          <p:val>
                                            <p:strVal val="#ppt_x"/>
                                          </p:val>
                                        </p:tav>
                                        <p:tav tm="100000">
                                          <p:val>
                                            <p:strVal val="#ppt_x"/>
                                          </p:val>
                                        </p:tav>
                                      </p:tavLst>
                                    </p:anim>
                                    <p:anim calcmode="lin" valueType="num">
                                      <p:cBhvr additive="base">
                                        <p:cTn id="42" dur="500" fill="hold"/>
                                        <p:tgtEl>
                                          <p:spTgt spid="389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build="p"/>
      <p:bldP spid="38954" grpId="0" bldLvl="0" animBg="1"/>
      <p:bldP spid="39002"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4"/>
          <p:cNvSpPr>
            <a:spLocks noGrp="1"/>
          </p:cNvSpPr>
          <p:nvPr>
            <p:ph type="title"/>
          </p:nvPr>
        </p:nvSpPr>
        <p:spPr>
          <a:xfrm>
            <a:off x="3287713" y="333375"/>
            <a:ext cx="6858000" cy="609600"/>
          </a:xfrm>
        </p:spPr>
        <p:txBody>
          <a:bodyPr>
            <a:normAutofit fontScale="90000"/>
          </a:bodyPr>
          <a:lstStyle/>
          <a:p>
            <a:r>
              <a:rPr lang="en-US" altLang="zh-CN" dirty="0" smtClean="0">
                <a:solidFill>
                  <a:schemeClr val="tx1"/>
                </a:solidFill>
                <a:latin typeface="Arial" panose="020B0604020202020204" pitchFamily="34" charset="0"/>
                <a:ea typeface="黑体" panose="02010609060101010101" pitchFamily="49" charset="-122"/>
              </a:rPr>
              <a:t>7.2.1 </a:t>
            </a:r>
            <a:r>
              <a:rPr lang="zh-CN" altLang="en-US" dirty="0" smtClean="0">
                <a:solidFill>
                  <a:schemeClr val="tx1"/>
                </a:solidFill>
                <a:latin typeface="Arial" panose="020B0604020202020204" pitchFamily="34" charset="0"/>
                <a:ea typeface="黑体" panose="02010609060101010101" pitchFamily="49" charset="-122"/>
              </a:rPr>
              <a:t> 有限状态机概述</a:t>
            </a:r>
          </a:p>
        </p:txBody>
      </p:sp>
      <p:sp>
        <p:nvSpPr>
          <p:cNvPr id="6" name="内容占位符 5"/>
          <p:cNvSpPr>
            <a:spLocks noGrp="1"/>
          </p:cNvSpPr>
          <p:nvPr>
            <p:ph idx="1"/>
          </p:nvPr>
        </p:nvSpPr>
        <p:spPr>
          <a:xfrm>
            <a:off x="2114550" y="1122363"/>
            <a:ext cx="8020050" cy="2801937"/>
          </a:xfrm>
        </p:spPr>
        <p:txBody>
          <a:bodyPr/>
          <a:lstStyle/>
          <a:p>
            <a:pPr marL="536575" indent="-536575">
              <a:lnSpc>
                <a:spcPts val="3200"/>
              </a:lnSpc>
              <a:spcBef>
                <a:spcPct val="0"/>
              </a:spcBef>
              <a:defRPr/>
            </a:pPr>
            <a:r>
              <a:rPr kumimoji="1" lang="zh-CN" altLang="en-US" sz="2200" dirty="0" smtClean="0">
                <a:solidFill>
                  <a:srgbClr val="FF0000"/>
                </a:solidFill>
                <a:ea typeface="宋体-18030" pitchFamily="49" charset="-122"/>
              </a:rPr>
              <a:t>有限状态机</a:t>
            </a:r>
            <a:r>
              <a:rPr kumimoji="1" lang="zh-CN" altLang="en-US" sz="2200" dirty="0" smtClean="0">
                <a:ea typeface="宋体-18030" pitchFamily="49" charset="-122"/>
              </a:rPr>
              <a:t>（</a:t>
            </a:r>
            <a:r>
              <a:rPr kumimoji="1" lang="en-US" altLang="zh-CN" sz="2200" dirty="0" smtClean="0">
                <a:ea typeface="宋体-18030" pitchFamily="49" charset="-122"/>
              </a:rPr>
              <a:t>Finite State Machine</a:t>
            </a:r>
            <a:r>
              <a:rPr kumimoji="1" lang="zh-CN" altLang="en-US" sz="2200" dirty="0" smtClean="0">
                <a:ea typeface="宋体-18030" pitchFamily="49" charset="-122"/>
              </a:rPr>
              <a:t>，</a:t>
            </a:r>
            <a:r>
              <a:rPr kumimoji="1" lang="en-US" altLang="zh-CN" sz="2200" dirty="0" smtClean="0">
                <a:ea typeface="宋体-18030" pitchFamily="49" charset="-122"/>
              </a:rPr>
              <a:t>FSM</a:t>
            </a:r>
            <a:r>
              <a:rPr kumimoji="1" lang="zh-CN" altLang="en-US" sz="2200" dirty="0" smtClean="0">
                <a:ea typeface="宋体-18030" pitchFamily="49" charset="-122"/>
              </a:rPr>
              <a:t>）是表示有限个状态以及这些状态之间的转移和动作等行为的离散数学模型。</a:t>
            </a:r>
            <a:endParaRPr kumimoji="1" lang="en-US" altLang="zh-CN" sz="2200" dirty="0" smtClean="0">
              <a:ea typeface="宋体-18030" pitchFamily="49" charset="-122"/>
            </a:endParaRPr>
          </a:p>
          <a:p>
            <a:pPr marL="536575" lvl="1" indent="-536575">
              <a:lnSpc>
                <a:spcPts val="3200"/>
              </a:lnSpc>
              <a:spcBef>
                <a:spcPct val="0"/>
              </a:spcBef>
              <a:buClr>
                <a:schemeClr val="bg2"/>
              </a:buClr>
              <a:buFont typeface="Wingdings" panose="05000000000000000000" pitchFamily="2" charset="2"/>
              <a:buChar char="v"/>
              <a:defRPr/>
            </a:pPr>
            <a:r>
              <a:rPr kumimoji="1" lang="zh-CN" altLang="en-US" sz="2200" dirty="0" smtClean="0">
                <a:ea typeface="宋体-18030" pitchFamily="49" charset="-122"/>
              </a:rPr>
              <a:t>有限</a:t>
            </a:r>
            <a:r>
              <a:rPr lang="zh-CN" altLang="en-US" sz="2200" dirty="0" smtClean="0"/>
              <a:t>状态机是</a:t>
            </a:r>
            <a:r>
              <a:rPr lang="zh-CN" altLang="en-US" sz="2200" dirty="0" smtClean="0">
                <a:solidFill>
                  <a:srgbClr val="FF33CC"/>
                </a:solidFill>
              </a:rPr>
              <a:t>组合逻辑</a:t>
            </a:r>
            <a:r>
              <a:rPr lang="zh-CN" altLang="en-US" sz="2200" dirty="0" smtClean="0"/>
              <a:t>和</a:t>
            </a:r>
            <a:r>
              <a:rPr lang="zh-CN" altLang="en-US" sz="2200" dirty="0" smtClean="0">
                <a:solidFill>
                  <a:srgbClr val="FF33CC"/>
                </a:solidFill>
              </a:rPr>
              <a:t>寄存器逻辑</a:t>
            </a:r>
            <a:r>
              <a:rPr lang="zh-CN" altLang="en-US" sz="2200" dirty="0" smtClean="0"/>
              <a:t>的特殊组合。组合逻辑部分包括</a:t>
            </a:r>
            <a:r>
              <a:rPr lang="zh-CN" altLang="en-US" sz="2200" dirty="0" smtClean="0">
                <a:solidFill>
                  <a:srgbClr val="C00000"/>
                </a:solidFill>
              </a:rPr>
              <a:t>次态逻辑</a:t>
            </a:r>
            <a:r>
              <a:rPr lang="zh-CN" altLang="en-US" sz="2200" dirty="0" smtClean="0">
                <a:ea typeface="宋体" panose="02010600030101010101" pitchFamily="2" charset="-122"/>
              </a:rPr>
              <a:t>（根据现态和输入产生次态）</a:t>
            </a:r>
            <a:r>
              <a:rPr lang="zh-CN" altLang="en-US" sz="2200" dirty="0" smtClean="0"/>
              <a:t>和</a:t>
            </a:r>
            <a:r>
              <a:rPr lang="zh-CN" altLang="en-US" sz="2200" dirty="0" smtClean="0">
                <a:solidFill>
                  <a:srgbClr val="C00000"/>
                </a:solidFill>
              </a:rPr>
              <a:t>输出逻辑</a:t>
            </a:r>
            <a:r>
              <a:rPr lang="zh-CN" altLang="en-US" sz="2200" dirty="0" smtClean="0"/>
              <a:t>，分别用于状态译码和产生输出信号；寄存器逻辑部分用于存储状态</a:t>
            </a:r>
            <a:r>
              <a:rPr kumimoji="1" lang="zh-CN" altLang="en-US" sz="2200" dirty="0" smtClean="0">
                <a:ea typeface="宋体-18030" pitchFamily="49" charset="-122"/>
              </a:rPr>
              <a:t>。</a:t>
            </a:r>
            <a:endParaRPr kumimoji="1" lang="en-US" altLang="zh-CN" sz="2200" dirty="0" smtClean="0">
              <a:ea typeface="宋体-18030" pitchFamily="49" charset="-122"/>
            </a:endParaRPr>
          </a:p>
          <a:p>
            <a:pPr>
              <a:defRPr/>
            </a:pPr>
            <a:endParaRPr lang="zh-CN" altLang="en-US" dirty="0"/>
          </a:p>
        </p:txBody>
      </p:sp>
      <p:sp>
        <p:nvSpPr>
          <p:cNvPr id="61444" name="Rectangle 25"/>
          <p:cNvSpPr>
            <a:spLocks noGrp="1" noChangeArrowheads="1"/>
          </p:cNvSpPr>
          <p:nvPr>
            <p:ph type="sldNum" sz="quarter" idx="12"/>
          </p:nvPr>
        </p:nvSpPr>
        <p:spPr>
          <a:noFill/>
        </p:spPr>
        <p:txBody>
          <a:bodyPr/>
          <a:lstStyle/>
          <a:p>
            <a:fld id="{C659E6E2-782A-4FAC-8AFC-BD8AEF14B4CD}" type="slidenum">
              <a:rPr lang="ko-KR" altLang="en-US" smtClean="0"/>
              <a:t>46</a:t>
            </a:fld>
            <a:endParaRPr lang="en-US" altLang="ko-KR" smtClean="0"/>
          </a:p>
        </p:txBody>
      </p:sp>
      <p:grpSp>
        <p:nvGrpSpPr>
          <p:cNvPr id="2" name="Group 5"/>
          <p:cNvGrpSpPr/>
          <p:nvPr/>
        </p:nvGrpSpPr>
        <p:grpSpPr bwMode="auto">
          <a:xfrm>
            <a:off x="2998788" y="4419600"/>
            <a:ext cx="5594350" cy="1874838"/>
            <a:chOff x="1247" y="2296"/>
            <a:chExt cx="3524" cy="1181"/>
          </a:xfrm>
        </p:grpSpPr>
        <p:sp>
          <p:nvSpPr>
            <p:cNvPr id="61451" name="Text Box 6"/>
            <p:cNvSpPr txBox="1">
              <a:spLocks noChangeArrowheads="1"/>
            </p:cNvSpPr>
            <p:nvPr/>
          </p:nvSpPr>
          <p:spPr bwMode="auto">
            <a:xfrm>
              <a:off x="4280" y="2456"/>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输出</a:t>
              </a:r>
            </a:p>
          </p:txBody>
        </p:sp>
        <p:sp>
          <p:nvSpPr>
            <p:cNvPr id="61452" name="Text Box 7"/>
            <p:cNvSpPr txBox="1">
              <a:spLocks noChangeArrowheads="1"/>
            </p:cNvSpPr>
            <p:nvPr/>
          </p:nvSpPr>
          <p:spPr bwMode="auto">
            <a:xfrm>
              <a:off x="3288" y="2432"/>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chemeClr val="hlink"/>
                  </a:solidFill>
                  <a:ea typeface="楷体_GB2312" pitchFamily="49" charset="-122"/>
                </a:rPr>
                <a:t>现态</a:t>
              </a:r>
            </a:p>
          </p:txBody>
        </p:sp>
        <p:sp>
          <p:nvSpPr>
            <p:cNvPr id="61453" name="Text Box 8"/>
            <p:cNvSpPr txBox="1">
              <a:spLocks noChangeArrowheads="1"/>
            </p:cNvSpPr>
            <p:nvPr/>
          </p:nvSpPr>
          <p:spPr bwMode="auto">
            <a:xfrm>
              <a:off x="2216" y="2432"/>
              <a:ext cx="491" cy="267"/>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次态</a:t>
              </a:r>
            </a:p>
          </p:txBody>
        </p:sp>
        <p:sp>
          <p:nvSpPr>
            <p:cNvPr id="61454" name="Text Box 9"/>
            <p:cNvSpPr txBox="1">
              <a:spLocks noChangeArrowheads="1"/>
            </p:cNvSpPr>
            <p:nvPr/>
          </p:nvSpPr>
          <p:spPr bwMode="auto">
            <a:xfrm>
              <a:off x="1247" y="2584"/>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现态</a:t>
              </a:r>
            </a:p>
          </p:txBody>
        </p:sp>
        <p:sp>
          <p:nvSpPr>
            <p:cNvPr id="61455" name="Text Box 10"/>
            <p:cNvSpPr txBox="1">
              <a:spLocks noChangeArrowheads="1"/>
            </p:cNvSpPr>
            <p:nvPr/>
          </p:nvSpPr>
          <p:spPr bwMode="auto">
            <a:xfrm>
              <a:off x="1247" y="2296"/>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输入</a:t>
              </a:r>
            </a:p>
          </p:txBody>
        </p:sp>
        <p:sp>
          <p:nvSpPr>
            <p:cNvPr id="61456" name="Text Box 11"/>
            <p:cNvSpPr txBox="1">
              <a:spLocks noChangeArrowheads="1"/>
            </p:cNvSpPr>
            <p:nvPr/>
          </p:nvSpPr>
          <p:spPr bwMode="auto">
            <a:xfrm>
              <a:off x="1713" y="2435"/>
              <a:ext cx="516" cy="522"/>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次态逻辑</a:t>
              </a:r>
            </a:p>
          </p:txBody>
        </p:sp>
        <p:sp>
          <p:nvSpPr>
            <p:cNvPr id="61457" name="Text Box 12"/>
            <p:cNvSpPr txBox="1">
              <a:spLocks noChangeArrowheads="1"/>
            </p:cNvSpPr>
            <p:nvPr/>
          </p:nvSpPr>
          <p:spPr bwMode="auto">
            <a:xfrm>
              <a:off x="2694" y="2435"/>
              <a:ext cx="605" cy="522"/>
            </a:xfrm>
            <a:prstGeom prst="rect">
              <a:avLst/>
            </a:prstGeom>
            <a:solidFill>
              <a:srgbClr val="FFFFFF"/>
            </a:solidFill>
            <a:ln w="15875">
              <a:solidFill>
                <a:srgbClr val="000000"/>
              </a:solidFill>
              <a:miter lim="800000"/>
            </a:ln>
          </p:spPr>
          <p:txBody>
            <a:bodyPr/>
            <a:lstStyle/>
            <a:p>
              <a:pPr marL="342900" indent="-342900">
                <a:lnSpc>
                  <a:spcPct val="110000"/>
                </a:lnSpc>
                <a:spcBef>
                  <a:spcPct val="20000"/>
                </a:spcBef>
                <a:buClr>
                  <a:schemeClr val="tx2"/>
                </a:buClr>
                <a:buSzPct val="70000"/>
                <a:buFont typeface="Wingdings" panose="05000000000000000000" pitchFamily="2" charset="2"/>
                <a:buNone/>
              </a:pPr>
              <a:r>
                <a:rPr lang="zh-CN" altLang="en-US" sz="1800">
                  <a:solidFill>
                    <a:srgbClr val="2C2C86"/>
                  </a:solidFill>
                  <a:ea typeface="楷体_GB2312" pitchFamily="49" charset="-122"/>
                </a:rPr>
                <a:t>状态</a:t>
              </a:r>
            </a:p>
            <a:p>
              <a:pPr marL="342900" indent="-342900">
                <a:lnSpc>
                  <a:spcPct val="110000"/>
                </a:lnSpc>
                <a:spcBef>
                  <a:spcPct val="20000"/>
                </a:spcBef>
                <a:buClr>
                  <a:schemeClr val="tx2"/>
                </a:buClr>
                <a:buSzPct val="70000"/>
                <a:buFont typeface="Wingdings" panose="05000000000000000000" pitchFamily="2" charset="2"/>
                <a:buNone/>
              </a:pPr>
              <a:r>
                <a:rPr lang="zh-CN" altLang="en-US" sz="1800">
                  <a:solidFill>
                    <a:srgbClr val="2C2C86"/>
                  </a:solidFill>
                  <a:ea typeface="楷体_GB2312" pitchFamily="49" charset="-122"/>
                </a:rPr>
                <a:t>寄存器</a:t>
              </a:r>
            </a:p>
          </p:txBody>
        </p:sp>
        <p:sp>
          <p:nvSpPr>
            <p:cNvPr id="61458" name="Text Box 13"/>
            <p:cNvSpPr txBox="1">
              <a:spLocks noChangeArrowheads="1"/>
            </p:cNvSpPr>
            <p:nvPr/>
          </p:nvSpPr>
          <p:spPr bwMode="auto">
            <a:xfrm>
              <a:off x="3777" y="2424"/>
              <a:ext cx="516" cy="522"/>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输出逻辑</a:t>
              </a:r>
            </a:p>
          </p:txBody>
        </p:sp>
        <p:sp>
          <p:nvSpPr>
            <p:cNvPr id="61459" name="Line 14"/>
            <p:cNvSpPr>
              <a:spLocks noChangeShapeType="1"/>
            </p:cNvSpPr>
            <p:nvPr/>
          </p:nvSpPr>
          <p:spPr bwMode="auto">
            <a:xfrm>
              <a:off x="1322" y="2509"/>
              <a:ext cx="391" cy="0"/>
            </a:xfrm>
            <a:prstGeom prst="line">
              <a:avLst/>
            </a:prstGeom>
            <a:noFill/>
            <a:ln w="9525">
              <a:solidFill>
                <a:srgbClr val="000000"/>
              </a:solidFill>
              <a:round/>
              <a:tailEnd type="triangle" w="med" len="med"/>
            </a:ln>
          </p:spPr>
          <p:txBody>
            <a:bodyPr/>
            <a:lstStyle/>
            <a:p>
              <a:endParaRPr lang="zh-CN" altLang="en-US"/>
            </a:p>
          </p:txBody>
        </p:sp>
        <p:sp>
          <p:nvSpPr>
            <p:cNvPr id="61460" name="Line 15"/>
            <p:cNvSpPr>
              <a:spLocks noChangeShapeType="1"/>
            </p:cNvSpPr>
            <p:nvPr/>
          </p:nvSpPr>
          <p:spPr bwMode="auto">
            <a:xfrm>
              <a:off x="1486" y="2808"/>
              <a:ext cx="227" cy="0"/>
            </a:xfrm>
            <a:prstGeom prst="line">
              <a:avLst/>
            </a:prstGeom>
            <a:noFill/>
            <a:ln w="9525">
              <a:solidFill>
                <a:srgbClr val="000000"/>
              </a:solidFill>
              <a:round/>
              <a:tailEnd type="triangle" w="med" len="med"/>
            </a:ln>
          </p:spPr>
          <p:txBody>
            <a:bodyPr/>
            <a:lstStyle/>
            <a:p>
              <a:endParaRPr lang="zh-CN" altLang="en-US"/>
            </a:p>
          </p:txBody>
        </p:sp>
        <p:sp>
          <p:nvSpPr>
            <p:cNvPr id="61461" name="Line 16"/>
            <p:cNvSpPr>
              <a:spLocks noChangeShapeType="1"/>
            </p:cNvSpPr>
            <p:nvPr/>
          </p:nvSpPr>
          <p:spPr bwMode="auto">
            <a:xfrm>
              <a:off x="2229" y="2690"/>
              <a:ext cx="465" cy="0"/>
            </a:xfrm>
            <a:prstGeom prst="line">
              <a:avLst/>
            </a:prstGeom>
            <a:noFill/>
            <a:ln w="9525">
              <a:solidFill>
                <a:srgbClr val="000000"/>
              </a:solidFill>
              <a:round/>
              <a:tailEnd type="triangle" w="med" len="med"/>
            </a:ln>
          </p:spPr>
          <p:txBody>
            <a:bodyPr/>
            <a:lstStyle/>
            <a:p>
              <a:endParaRPr lang="zh-CN" altLang="en-US"/>
            </a:p>
          </p:txBody>
        </p:sp>
        <p:sp>
          <p:nvSpPr>
            <p:cNvPr id="61462" name="Line 17"/>
            <p:cNvSpPr>
              <a:spLocks noChangeShapeType="1"/>
            </p:cNvSpPr>
            <p:nvPr/>
          </p:nvSpPr>
          <p:spPr bwMode="auto">
            <a:xfrm>
              <a:off x="3311" y="2690"/>
              <a:ext cx="466" cy="0"/>
            </a:xfrm>
            <a:prstGeom prst="line">
              <a:avLst/>
            </a:prstGeom>
            <a:noFill/>
            <a:ln w="9525">
              <a:solidFill>
                <a:schemeClr val="hlink"/>
              </a:solidFill>
              <a:round/>
              <a:tailEnd type="triangle" w="med" len="med"/>
            </a:ln>
          </p:spPr>
          <p:txBody>
            <a:bodyPr/>
            <a:lstStyle/>
            <a:p>
              <a:endParaRPr lang="zh-CN" altLang="en-US"/>
            </a:p>
          </p:txBody>
        </p:sp>
        <p:sp>
          <p:nvSpPr>
            <p:cNvPr id="61463" name="Line 18"/>
            <p:cNvSpPr>
              <a:spLocks noChangeShapeType="1"/>
            </p:cNvSpPr>
            <p:nvPr/>
          </p:nvSpPr>
          <p:spPr bwMode="auto">
            <a:xfrm>
              <a:off x="4293" y="2680"/>
              <a:ext cx="466" cy="0"/>
            </a:xfrm>
            <a:prstGeom prst="line">
              <a:avLst/>
            </a:prstGeom>
            <a:noFill/>
            <a:ln w="9525">
              <a:solidFill>
                <a:srgbClr val="000000"/>
              </a:solidFill>
              <a:round/>
              <a:tailEnd type="triangle" w="med" len="med"/>
            </a:ln>
          </p:spPr>
          <p:txBody>
            <a:bodyPr/>
            <a:lstStyle/>
            <a:p>
              <a:endParaRPr lang="zh-CN" altLang="en-US"/>
            </a:p>
          </p:txBody>
        </p:sp>
        <p:sp>
          <p:nvSpPr>
            <p:cNvPr id="61464" name="Line 19"/>
            <p:cNvSpPr>
              <a:spLocks noChangeShapeType="1"/>
            </p:cNvSpPr>
            <p:nvPr/>
          </p:nvSpPr>
          <p:spPr bwMode="auto">
            <a:xfrm>
              <a:off x="1473" y="2808"/>
              <a:ext cx="0" cy="287"/>
            </a:xfrm>
            <a:prstGeom prst="line">
              <a:avLst/>
            </a:prstGeom>
            <a:noFill/>
            <a:ln w="9525">
              <a:solidFill>
                <a:srgbClr val="000000"/>
              </a:solidFill>
              <a:round/>
            </a:ln>
          </p:spPr>
          <p:txBody>
            <a:bodyPr/>
            <a:lstStyle/>
            <a:p>
              <a:endParaRPr lang="zh-CN" altLang="en-US"/>
            </a:p>
          </p:txBody>
        </p:sp>
        <p:sp>
          <p:nvSpPr>
            <p:cNvPr id="61465" name="Line 20"/>
            <p:cNvSpPr>
              <a:spLocks noChangeShapeType="1"/>
            </p:cNvSpPr>
            <p:nvPr/>
          </p:nvSpPr>
          <p:spPr bwMode="auto">
            <a:xfrm>
              <a:off x="1473" y="3095"/>
              <a:ext cx="2052" cy="0"/>
            </a:xfrm>
            <a:prstGeom prst="line">
              <a:avLst/>
            </a:prstGeom>
            <a:noFill/>
            <a:ln w="9525">
              <a:solidFill>
                <a:srgbClr val="000000"/>
              </a:solidFill>
              <a:round/>
            </a:ln>
          </p:spPr>
          <p:txBody>
            <a:bodyPr/>
            <a:lstStyle/>
            <a:p>
              <a:endParaRPr lang="zh-CN" altLang="en-US"/>
            </a:p>
          </p:txBody>
        </p:sp>
        <p:sp>
          <p:nvSpPr>
            <p:cNvPr id="61466" name="Line 21"/>
            <p:cNvSpPr>
              <a:spLocks noChangeShapeType="1"/>
            </p:cNvSpPr>
            <p:nvPr/>
          </p:nvSpPr>
          <p:spPr bwMode="auto">
            <a:xfrm flipV="1">
              <a:off x="3525" y="2690"/>
              <a:ext cx="0" cy="405"/>
            </a:xfrm>
            <a:prstGeom prst="line">
              <a:avLst/>
            </a:prstGeom>
            <a:noFill/>
            <a:ln w="9525">
              <a:solidFill>
                <a:srgbClr val="000000"/>
              </a:solidFill>
              <a:round/>
            </a:ln>
          </p:spPr>
          <p:txBody>
            <a:bodyPr/>
            <a:lstStyle/>
            <a:p>
              <a:endParaRPr lang="zh-CN" altLang="en-US"/>
            </a:p>
          </p:txBody>
        </p:sp>
        <p:sp>
          <p:nvSpPr>
            <p:cNvPr id="61467" name="Text Box 22"/>
            <p:cNvSpPr txBox="1">
              <a:spLocks noChangeArrowheads="1"/>
            </p:cNvSpPr>
            <p:nvPr/>
          </p:nvSpPr>
          <p:spPr bwMode="auto">
            <a:xfrm>
              <a:off x="2200" y="3242"/>
              <a:ext cx="2080" cy="235"/>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en-US" altLang="zh-CN" sz="1800">
                  <a:solidFill>
                    <a:srgbClr val="990000"/>
                  </a:solidFill>
                  <a:latin typeface="Arial" panose="020B0604020202020204" pitchFamily="34" charset="0"/>
                  <a:ea typeface="楷体_GB2312" pitchFamily="49" charset="-122"/>
                </a:rPr>
                <a:t>Moore</a:t>
              </a:r>
              <a:r>
                <a:rPr lang="zh-CN" altLang="en-US" sz="1800">
                  <a:solidFill>
                    <a:srgbClr val="990000"/>
                  </a:solidFill>
                  <a:latin typeface="Arial" panose="020B0604020202020204" pitchFamily="34" charset="0"/>
                  <a:ea typeface="楷体_GB2312" pitchFamily="49" charset="-122"/>
                </a:rPr>
                <a:t>型状态机典型结构</a:t>
              </a:r>
            </a:p>
          </p:txBody>
        </p:sp>
        <p:sp>
          <p:nvSpPr>
            <p:cNvPr id="61468" name="Text Box 23"/>
            <p:cNvSpPr txBox="1">
              <a:spLocks noChangeArrowheads="1"/>
            </p:cNvSpPr>
            <p:nvPr/>
          </p:nvSpPr>
          <p:spPr bwMode="auto">
            <a:xfrm>
              <a:off x="3367" y="2568"/>
              <a:ext cx="363" cy="249"/>
            </a:xfrm>
            <a:prstGeom prst="rect">
              <a:avLst/>
            </a:prstGeom>
            <a:noFill/>
            <a:ln w="9525">
              <a:noFill/>
              <a:miter lim="800000"/>
            </a:ln>
          </p:spPr>
          <p:txBody>
            <a:bodyPr>
              <a:spAutoFit/>
            </a:bodyPr>
            <a:lstStyle/>
            <a:p>
              <a:pPr marL="342900" indent="-342900">
                <a:lnSpc>
                  <a:spcPct val="110000"/>
                </a:lnSpc>
                <a:buClr>
                  <a:schemeClr val="tx2"/>
                </a:buClr>
                <a:buSzPct val="70000"/>
                <a:buFont typeface="Wingdings" panose="05000000000000000000" pitchFamily="2" charset="2"/>
                <a:buNone/>
              </a:pPr>
              <a:r>
                <a:rPr lang="en-US" altLang="zh-CN" sz="1800">
                  <a:ea typeface="黑体" panose="02010609060101010101" pitchFamily="49" charset="-122"/>
                  <a:cs typeface="Times New Roman" panose="02020603050405020304" pitchFamily="18" charset="0"/>
                </a:rPr>
                <a:t>•</a:t>
              </a:r>
            </a:p>
          </p:txBody>
        </p:sp>
      </p:grpSp>
      <p:sp>
        <p:nvSpPr>
          <p:cNvPr id="25" name="Text Box 22"/>
          <p:cNvSpPr txBox="1">
            <a:spLocks noChangeArrowheads="1"/>
          </p:cNvSpPr>
          <p:nvPr/>
        </p:nvSpPr>
        <p:spPr bwMode="auto">
          <a:xfrm>
            <a:off x="3578225" y="4168775"/>
            <a:ext cx="1279525" cy="365125"/>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800">
                <a:solidFill>
                  <a:srgbClr val="990000"/>
                </a:solidFill>
                <a:latin typeface="Arial" panose="020B0604020202020204" pitchFamily="34" charset="0"/>
                <a:ea typeface="楷体_GB2312" pitchFamily="49" charset="-122"/>
              </a:rPr>
              <a:t>组合逻辑</a:t>
            </a:r>
          </a:p>
        </p:txBody>
      </p:sp>
      <p:sp>
        <p:nvSpPr>
          <p:cNvPr id="26" name="Text Box 22"/>
          <p:cNvSpPr txBox="1">
            <a:spLocks noChangeArrowheads="1"/>
          </p:cNvSpPr>
          <p:nvPr/>
        </p:nvSpPr>
        <p:spPr bwMode="auto">
          <a:xfrm>
            <a:off x="6854825" y="4206875"/>
            <a:ext cx="1279525" cy="365125"/>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800">
                <a:solidFill>
                  <a:srgbClr val="990000"/>
                </a:solidFill>
                <a:latin typeface="Arial" panose="020B0604020202020204" pitchFamily="34" charset="0"/>
                <a:ea typeface="楷体_GB2312" pitchFamily="49" charset="-122"/>
              </a:rPr>
              <a:t>组合逻辑</a:t>
            </a:r>
          </a:p>
        </p:txBody>
      </p:sp>
      <p:sp>
        <p:nvSpPr>
          <p:cNvPr id="27" name="椭圆 26"/>
          <p:cNvSpPr>
            <a:spLocks noChangeArrowheads="1"/>
          </p:cNvSpPr>
          <p:nvPr/>
        </p:nvSpPr>
        <p:spPr bwMode="auto">
          <a:xfrm>
            <a:off x="3600450" y="4591050"/>
            <a:ext cx="1085850" cy="630540"/>
          </a:xfrm>
          <a:prstGeom prst="ellipse">
            <a:avLst/>
          </a:prstGeom>
          <a:noFill/>
          <a:ln w="19050" algn="ctr">
            <a:solidFill>
              <a:srgbClr val="FF0000"/>
            </a:solidFill>
            <a:round/>
          </a:ln>
        </p:spPr>
        <p:txBody>
          <a:bodyPr>
            <a:spAutoFit/>
          </a:bodyPr>
          <a:lstStyle/>
          <a:p>
            <a:pPr algn="r" eaLnBrk="0" hangingPunct="0">
              <a:lnSpc>
                <a:spcPct val="100000"/>
              </a:lnSpc>
              <a:spcBef>
                <a:spcPct val="0"/>
              </a:spcBef>
            </a:pPr>
            <a:endParaRPr lang="zh-CN" altLang="en-US" u="sng">
              <a:solidFill>
                <a:schemeClr val="accent1"/>
              </a:solidFill>
              <a:latin typeface="Lucida Sans Unicode" panose="020B0602030504020204" pitchFamily="34" charset="0"/>
              <a:ea typeface="Gulim" panose="020B0600000101010101" pitchFamily="34" charset="-127"/>
            </a:endParaRPr>
          </a:p>
        </p:txBody>
      </p:sp>
      <p:sp>
        <p:nvSpPr>
          <p:cNvPr id="28" name="椭圆 27"/>
          <p:cNvSpPr>
            <a:spLocks noChangeArrowheads="1"/>
          </p:cNvSpPr>
          <p:nvPr/>
        </p:nvSpPr>
        <p:spPr bwMode="auto">
          <a:xfrm>
            <a:off x="6877050" y="4533900"/>
            <a:ext cx="1085850" cy="630540"/>
          </a:xfrm>
          <a:prstGeom prst="ellipse">
            <a:avLst/>
          </a:prstGeom>
          <a:noFill/>
          <a:ln w="19050" algn="ctr">
            <a:solidFill>
              <a:srgbClr val="FF0000"/>
            </a:solidFill>
            <a:round/>
          </a:ln>
        </p:spPr>
        <p:txBody>
          <a:bodyPr>
            <a:spAutoFit/>
          </a:bodyPr>
          <a:lstStyle/>
          <a:p>
            <a:pPr algn="r" eaLnBrk="0" hangingPunct="0">
              <a:lnSpc>
                <a:spcPct val="100000"/>
              </a:lnSpc>
              <a:spcBef>
                <a:spcPct val="0"/>
              </a:spcBef>
            </a:pPr>
            <a:endParaRPr lang="zh-CN" altLang="en-US" u="sng">
              <a:solidFill>
                <a:schemeClr val="accent1"/>
              </a:solidFill>
              <a:latin typeface="Lucida Sans Unicode" panose="020B0602030504020204" pitchFamily="34" charset="0"/>
              <a:ea typeface="Gulim" panose="020B0600000101010101" pitchFamily="34" charset="-127"/>
            </a:endParaRPr>
          </a:p>
        </p:txBody>
      </p:sp>
      <p:sp>
        <p:nvSpPr>
          <p:cNvPr id="29" name="Text Box 22"/>
          <p:cNvSpPr txBox="1">
            <a:spLocks noChangeArrowheads="1"/>
          </p:cNvSpPr>
          <p:nvPr/>
        </p:nvSpPr>
        <p:spPr bwMode="auto">
          <a:xfrm>
            <a:off x="5083175" y="4057650"/>
            <a:ext cx="1431925" cy="361950"/>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800">
                <a:solidFill>
                  <a:srgbClr val="CC0099"/>
                </a:solidFill>
                <a:latin typeface="Arial" panose="020B0604020202020204" pitchFamily="34" charset="0"/>
                <a:ea typeface="楷体_GB2312" pitchFamily="49" charset="-122"/>
              </a:rPr>
              <a:t>寄存器逻辑</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dissolve">
                                      <p:cBhvr>
                                        <p:cTn id="23" dur="500"/>
                                        <p:tgtEl>
                                          <p:spTgt spid="25"/>
                                        </p:tgtEl>
                                      </p:cBhvr>
                                    </p:animEffect>
                                  </p:childTnLst>
                                </p:cTn>
                              </p:par>
                            </p:childTnLst>
                          </p:cTn>
                        </p:par>
                        <p:par>
                          <p:cTn id="24" fill="hold">
                            <p:stCondLst>
                              <p:cond delay="500"/>
                            </p:stCondLst>
                            <p:childTnLst>
                              <p:par>
                                <p:cTn id="25" presetID="23" presetClass="entr" presetSubtype="16"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 calcmode="lin" valueType="num">
                                      <p:cBhvr>
                                        <p:cTn id="27" dur="500" fill="hold"/>
                                        <p:tgtEl>
                                          <p:spTgt spid="27"/>
                                        </p:tgtEl>
                                        <p:attrNameLst>
                                          <p:attrName>ppt_w</p:attrName>
                                        </p:attrNameLst>
                                      </p:cBhvr>
                                      <p:tavLst>
                                        <p:tav tm="0">
                                          <p:val>
                                            <p:fltVal val="0"/>
                                          </p:val>
                                        </p:tav>
                                        <p:tav tm="100000">
                                          <p:val>
                                            <p:strVal val="#ppt_w"/>
                                          </p:val>
                                        </p:tav>
                                      </p:tavLst>
                                    </p:anim>
                                    <p:anim calcmode="lin" valueType="num">
                                      <p:cBhvr>
                                        <p:cTn id="28" dur="500" fill="hold"/>
                                        <p:tgtEl>
                                          <p:spTgt spid="27"/>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dissolve">
                                      <p:cBhvr>
                                        <p:cTn id="33" dur="500"/>
                                        <p:tgtEl>
                                          <p:spTgt spid="26"/>
                                        </p:tgtEl>
                                      </p:cBhvr>
                                    </p:animEffect>
                                  </p:childTnLst>
                                </p:cTn>
                              </p:par>
                            </p:childTnLst>
                          </p:cTn>
                        </p:par>
                        <p:par>
                          <p:cTn id="34" fill="hold">
                            <p:stCondLst>
                              <p:cond delay="500"/>
                            </p:stCondLst>
                            <p:childTnLst>
                              <p:par>
                                <p:cTn id="35" presetID="9" presetClass="entr" presetSubtype="0" fill="hold" grpId="1"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dissolve">
                                      <p:cBhvr>
                                        <p:cTn id="37" dur="500"/>
                                        <p:tgtEl>
                                          <p:spTgt spid="27"/>
                                        </p:tgtEl>
                                      </p:cBhvr>
                                    </p:animEffect>
                                  </p:childTnLst>
                                </p:cTn>
                              </p:par>
                            </p:childTnLst>
                          </p:cTn>
                        </p:par>
                        <p:par>
                          <p:cTn id="38" fill="hold">
                            <p:stCondLst>
                              <p:cond delay="1000"/>
                            </p:stCondLst>
                            <p:childTnLst>
                              <p:par>
                                <p:cTn id="39" presetID="23" presetClass="entr" presetSubtype="16"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 calcmode="lin" valueType="num">
                                      <p:cBhvr>
                                        <p:cTn id="41" dur="500" fill="hold"/>
                                        <p:tgtEl>
                                          <p:spTgt spid="28"/>
                                        </p:tgtEl>
                                        <p:attrNameLst>
                                          <p:attrName>ppt_w</p:attrName>
                                        </p:attrNameLst>
                                      </p:cBhvr>
                                      <p:tavLst>
                                        <p:tav tm="0">
                                          <p:val>
                                            <p:fltVal val="0"/>
                                          </p:val>
                                        </p:tav>
                                        <p:tav tm="100000">
                                          <p:val>
                                            <p:strVal val="#ppt_w"/>
                                          </p:val>
                                        </p:tav>
                                      </p:tavLst>
                                    </p:anim>
                                    <p:anim calcmode="lin" valueType="num">
                                      <p:cBhvr>
                                        <p:cTn id="42" dur="500" fill="hold"/>
                                        <p:tgtEl>
                                          <p:spTgt spid="28"/>
                                        </p:tgtEl>
                                        <p:attrNameLst>
                                          <p:attrName>ppt_h</p:attrName>
                                        </p:attrNameLst>
                                      </p:cBhvr>
                                      <p:tavLst>
                                        <p:tav tm="0">
                                          <p:val>
                                            <p:fltVal val="0"/>
                                          </p:val>
                                        </p:tav>
                                        <p:tav tm="100000">
                                          <p:val>
                                            <p:strVal val="#ppt_h"/>
                                          </p:val>
                                        </p:tav>
                                      </p:tavLst>
                                    </p:anim>
                                  </p:childTnLst>
                                </p:cTn>
                              </p:par>
                            </p:childTnLst>
                          </p:cTn>
                        </p:par>
                        <p:par>
                          <p:cTn id="43" fill="hold">
                            <p:stCondLst>
                              <p:cond delay="1500"/>
                            </p:stCondLst>
                            <p:childTnLst>
                              <p:par>
                                <p:cTn id="44" presetID="9" presetClass="entr" presetSubtype="0" fill="hold" grpId="1"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dissolve">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dissolve">
                                      <p:cBhvr>
                                        <p:cTn id="5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25" grpId="0" bldLvl="0" animBg="1"/>
      <p:bldP spid="26" grpId="0" bldLvl="0" animBg="1"/>
      <p:bldP spid="27" grpId="0" bldLvl="0" animBg="1"/>
      <p:bldP spid="27" grpId="1" bldLvl="0" animBg="1"/>
      <p:bldP spid="28" grpId="0" bldLvl="0" animBg="1"/>
      <p:bldP spid="28" grpId="1" bldLvl="0" animBg="1"/>
      <p:bldP spid="29" grpId="0" bldLvl="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p:cNvSpPr>
            <a:spLocks noChangeArrowheads="1"/>
          </p:cNvSpPr>
          <p:nvPr/>
        </p:nvSpPr>
        <p:spPr bwMode="auto">
          <a:xfrm>
            <a:off x="1993900" y="1133475"/>
            <a:ext cx="8578850" cy="3374390"/>
          </a:xfrm>
          <a:prstGeom prst="rect">
            <a:avLst/>
          </a:prstGeom>
          <a:solidFill>
            <a:srgbClr val="FFFFFF"/>
          </a:solidFill>
          <a:ln w="76200">
            <a:noFill/>
            <a:miter lim="800000"/>
          </a:ln>
        </p:spPr>
        <p:txBody>
          <a:bodyPr>
            <a:spAutoFit/>
          </a:bodyPr>
          <a:lstStyle/>
          <a:p>
            <a:pPr marL="363855" indent="-363855" algn="l">
              <a:lnSpc>
                <a:spcPts val="3200"/>
              </a:lnSpc>
              <a:spcBef>
                <a:spcPct val="0"/>
              </a:spcBef>
              <a:buClr>
                <a:schemeClr val="bg2"/>
              </a:buClr>
              <a:buFont typeface="Wingdings" panose="05000000000000000000" pitchFamily="2" charset="2"/>
              <a:buChar char="v"/>
            </a:pPr>
            <a:r>
              <a:rPr kumimoji="1" lang="en-US" altLang="zh-CN" sz="2400" dirty="0">
                <a:ea typeface="宋体-18030" pitchFamily="49" charset="-122"/>
              </a:rPr>
              <a:t>FSM</a:t>
            </a:r>
            <a:r>
              <a:rPr kumimoji="1" lang="zh-CN" altLang="en-US" sz="2400" dirty="0">
                <a:ea typeface="宋体-18030" pitchFamily="49" charset="-122"/>
              </a:rPr>
              <a:t>常用于</a:t>
            </a:r>
            <a:r>
              <a:rPr lang="zh-CN" altLang="en-US" sz="2400" dirty="0">
                <a:solidFill>
                  <a:srgbClr val="FF33CC"/>
                </a:solidFill>
              </a:rPr>
              <a:t>时序逻辑电路</a:t>
            </a:r>
            <a:r>
              <a:rPr kumimoji="1" lang="zh-CN" altLang="en-US" sz="2400" dirty="0">
                <a:ea typeface="宋体-18030" pitchFamily="49" charset="-122"/>
              </a:rPr>
              <a:t>设计，尤其适于设计数字系统的控制模块。具有速度快、结构简单、可靠性高、逻辑清晰、复杂问题简单化的优点。</a:t>
            </a:r>
          </a:p>
          <a:p>
            <a:pPr marL="363855" indent="-363855" algn="l">
              <a:lnSpc>
                <a:spcPts val="3200"/>
              </a:lnSpc>
              <a:spcBef>
                <a:spcPct val="0"/>
              </a:spcBef>
              <a:buClr>
                <a:schemeClr val="bg2"/>
              </a:buClr>
              <a:buFont typeface="Wingdings" panose="05000000000000000000" pitchFamily="2" charset="2"/>
              <a:buChar char="v"/>
            </a:pPr>
            <a:endParaRPr kumimoji="1" lang="en-US" altLang="zh-CN" sz="2400" dirty="0">
              <a:solidFill>
                <a:srgbClr val="000000"/>
              </a:solidFill>
              <a:latin typeface="宋体" panose="02010600030101010101" pitchFamily="2" charset="-122"/>
            </a:endParaRPr>
          </a:p>
          <a:p>
            <a:pPr marL="363855" indent="-363855" algn="l">
              <a:lnSpc>
                <a:spcPts val="3200"/>
              </a:lnSpc>
              <a:spcBef>
                <a:spcPct val="0"/>
              </a:spcBef>
              <a:buClr>
                <a:schemeClr val="bg2"/>
              </a:buClr>
              <a:buFont typeface="Wingdings" panose="05000000000000000000" pitchFamily="2" charset="2"/>
              <a:buChar char="v"/>
            </a:pPr>
            <a:r>
              <a:rPr kumimoji="1" lang="zh-CN" altLang="en-US" sz="2400" dirty="0">
                <a:solidFill>
                  <a:srgbClr val="000000"/>
                </a:solidFill>
                <a:latin typeface="宋体" panose="02010600030101010101" pitchFamily="2" charset="-122"/>
              </a:rPr>
              <a:t>根据输出信号产生的机理不同，状态机可以分成两类：</a:t>
            </a:r>
          </a:p>
          <a:p>
            <a:pPr marL="711200" lvl="2" indent="-347980" algn="l">
              <a:lnSpc>
                <a:spcPts val="3200"/>
              </a:lnSpc>
              <a:spcBef>
                <a:spcPct val="0"/>
              </a:spcBef>
              <a:buClr>
                <a:srgbClr val="006666"/>
              </a:buClr>
              <a:buSzPct val="110000"/>
              <a:buFont typeface="Wingdings" panose="05000000000000000000" pitchFamily="2" charset="2"/>
              <a:buChar char="w"/>
            </a:pPr>
            <a:r>
              <a:rPr kumimoji="1" lang="zh-CN" altLang="en-US" sz="2400" dirty="0">
                <a:solidFill>
                  <a:srgbClr val="CC0066"/>
                </a:solidFill>
                <a:ea typeface="楷体_GB2312" pitchFamily="49" charset="-122"/>
              </a:rPr>
              <a:t>摩尔</a:t>
            </a:r>
            <a:r>
              <a:rPr kumimoji="1" lang="en-US" altLang="zh-CN" sz="2400" dirty="0">
                <a:solidFill>
                  <a:srgbClr val="CC0066"/>
                </a:solidFill>
                <a:ea typeface="楷体_GB2312" pitchFamily="49" charset="-122"/>
              </a:rPr>
              <a:t>(Moore)</a:t>
            </a:r>
            <a:r>
              <a:rPr kumimoji="1" lang="zh-CN" altLang="en-US" sz="2400" dirty="0">
                <a:solidFill>
                  <a:srgbClr val="CC0066"/>
                </a:solidFill>
                <a:ea typeface="楷体_GB2312" pitchFamily="49" charset="-122"/>
              </a:rPr>
              <a:t>型状态机</a:t>
            </a:r>
            <a:r>
              <a:rPr kumimoji="1" lang="en-US" altLang="zh-CN" sz="2400" dirty="0">
                <a:solidFill>
                  <a:srgbClr val="000000"/>
                </a:solidFill>
                <a:latin typeface="宋体" panose="02010600030101010101" pitchFamily="2" charset="-122"/>
              </a:rPr>
              <a:t>--</a:t>
            </a:r>
            <a:r>
              <a:rPr kumimoji="1" lang="zh-CN" altLang="en-US" sz="2400" dirty="0">
                <a:solidFill>
                  <a:srgbClr val="000000"/>
                </a:solidFill>
                <a:latin typeface="宋体" panose="02010600030101010101" pitchFamily="2" charset="-122"/>
              </a:rPr>
              <a:t>输出信号仅与当前状态有关</a:t>
            </a:r>
          </a:p>
          <a:p>
            <a:pPr marL="711200" lvl="2" indent="-347980" algn="l">
              <a:lnSpc>
                <a:spcPts val="3200"/>
              </a:lnSpc>
              <a:spcBef>
                <a:spcPct val="0"/>
              </a:spcBef>
              <a:buClr>
                <a:srgbClr val="006666"/>
              </a:buClr>
              <a:buSzPct val="110000"/>
              <a:buFont typeface="Wingdings" panose="05000000000000000000" pitchFamily="2" charset="2"/>
              <a:buChar char="w"/>
            </a:pPr>
            <a:r>
              <a:rPr kumimoji="1" lang="zh-CN" altLang="en-US" sz="2400" dirty="0">
                <a:solidFill>
                  <a:srgbClr val="CC0066"/>
                </a:solidFill>
                <a:ea typeface="楷体_GB2312" pitchFamily="49" charset="-122"/>
              </a:rPr>
              <a:t>米里</a:t>
            </a:r>
            <a:r>
              <a:rPr kumimoji="1" lang="en-US" altLang="zh-CN" sz="2400" dirty="0">
                <a:solidFill>
                  <a:srgbClr val="CC0066"/>
                </a:solidFill>
                <a:ea typeface="楷体_GB2312" pitchFamily="49" charset="-122"/>
              </a:rPr>
              <a:t>(Mealy)</a:t>
            </a:r>
            <a:r>
              <a:rPr kumimoji="1" lang="zh-CN" altLang="en-US" sz="2400" dirty="0">
                <a:solidFill>
                  <a:srgbClr val="CC0066"/>
                </a:solidFill>
                <a:ea typeface="楷体_GB2312" pitchFamily="49" charset="-122"/>
              </a:rPr>
              <a:t>型状态机</a:t>
            </a:r>
            <a:r>
              <a:rPr kumimoji="1" lang="en-US" altLang="zh-CN" sz="2400" dirty="0">
                <a:solidFill>
                  <a:srgbClr val="000000"/>
                </a:solidFill>
                <a:latin typeface="宋体" panose="02010600030101010101" pitchFamily="2" charset="-122"/>
              </a:rPr>
              <a:t>--</a:t>
            </a:r>
            <a:r>
              <a:rPr kumimoji="1" lang="zh-CN" altLang="en-US" sz="2400" dirty="0">
                <a:solidFill>
                  <a:srgbClr val="000000"/>
                </a:solidFill>
                <a:latin typeface="宋体" panose="02010600030101010101" pitchFamily="2" charset="-122"/>
              </a:rPr>
              <a:t>输出信号与当前状态及输入信号有关</a:t>
            </a:r>
            <a:endParaRPr lang="zh-CN" altLang="en-US" dirty="0">
              <a:solidFill>
                <a:srgbClr val="000000"/>
              </a:solidFill>
              <a:ea typeface="黑体" panose="02010609060101010101" pitchFamily="49" charset="-122"/>
            </a:endParaRPr>
          </a:p>
        </p:txBody>
      </p:sp>
      <p:sp>
        <p:nvSpPr>
          <p:cNvPr id="62467" name="标题 5"/>
          <p:cNvSpPr>
            <a:spLocks noGrp="1"/>
          </p:cNvSpPr>
          <p:nvPr>
            <p:ph type="title"/>
          </p:nvPr>
        </p:nvSpPr>
        <p:spPr>
          <a:xfrm>
            <a:off x="757555" y="142875"/>
            <a:ext cx="10515600" cy="1325563"/>
          </a:xfrm>
        </p:spPr>
        <p:txBody>
          <a:bodyPr/>
          <a:lstStyle/>
          <a:p>
            <a:r>
              <a:rPr lang="zh-CN" altLang="en-US" dirty="0" smtClean="0">
                <a:solidFill>
                  <a:schemeClr val="tx1"/>
                </a:solidFill>
                <a:latin typeface="Arial" panose="020B0604020202020204" pitchFamily="34" charset="0"/>
                <a:ea typeface="黑体" panose="02010609060101010101" pitchFamily="49" charset="-122"/>
              </a:rPr>
              <a:t>有限状态机的分类</a:t>
            </a:r>
          </a:p>
        </p:txBody>
      </p:sp>
      <p:sp>
        <p:nvSpPr>
          <p:cNvPr id="62468" name="Rectangle 25"/>
          <p:cNvSpPr>
            <a:spLocks noGrp="1" noChangeArrowheads="1"/>
          </p:cNvSpPr>
          <p:nvPr>
            <p:ph type="sldNum" sz="quarter" idx="12"/>
          </p:nvPr>
        </p:nvSpPr>
        <p:spPr>
          <a:noFill/>
        </p:spPr>
        <p:txBody>
          <a:bodyPr/>
          <a:lstStyle/>
          <a:p>
            <a:fld id="{82A788C4-7459-4147-9793-F6148FCCFEC5}" type="slidenum">
              <a:rPr lang="ko-KR" altLang="en-US" smtClean="0"/>
              <a:t>47</a:t>
            </a:fld>
            <a:endParaRPr lang="en-US" altLang="ko-KR" smtClean="0"/>
          </a:p>
        </p:txBody>
      </p:sp>
      <p:grpSp>
        <p:nvGrpSpPr>
          <p:cNvPr id="62469" name="Group 56"/>
          <p:cNvGrpSpPr/>
          <p:nvPr/>
        </p:nvGrpSpPr>
        <p:grpSpPr bwMode="auto">
          <a:xfrm>
            <a:off x="3438525" y="4503738"/>
            <a:ext cx="5953125" cy="1811337"/>
            <a:chOff x="212" y="833"/>
            <a:chExt cx="3750" cy="1141"/>
          </a:xfrm>
        </p:grpSpPr>
        <p:sp>
          <p:nvSpPr>
            <p:cNvPr id="62470" name="Text Box 5"/>
            <p:cNvSpPr txBox="1">
              <a:spLocks noChangeArrowheads="1"/>
            </p:cNvSpPr>
            <p:nvPr/>
          </p:nvSpPr>
          <p:spPr bwMode="auto">
            <a:xfrm>
              <a:off x="3459" y="1032"/>
              <a:ext cx="503" cy="263"/>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输出</a:t>
              </a:r>
            </a:p>
          </p:txBody>
        </p:sp>
        <p:sp>
          <p:nvSpPr>
            <p:cNvPr id="62471" name="Text Box 6"/>
            <p:cNvSpPr txBox="1">
              <a:spLocks noChangeArrowheads="1"/>
            </p:cNvSpPr>
            <p:nvPr/>
          </p:nvSpPr>
          <p:spPr bwMode="auto">
            <a:xfrm>
              <a:off x="2454" y="1145"/>
              <a:ext cx="503" cy="263"/>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FF0066"/>
                  </a:solidFill>
                  <a:ea typeface="楷体_GB2312" pitchFamily="49" charset="-122"/>
                </a:rPr>
                <a:t>现态</a:t>
              </a:r>
            </a:p>
          </p:txBody>
        </p:sp>
        <p:sp>
          <p:nvSpPr>
            <p:cNvPr id="62472" name="Text Box 7"/>
            <p:cNvSpPr txBox="1">
              <a:spLocks noChangeArrowheads="1"/>
            </p:cNvSpPr>
            <p:nvPr/>
          </p:nvSpPr>
          <p:spPr bwMode="auto">
            <a:xfrm>
              <a:off x="1346" y="1053"/>
              <a:ext cx="503" cy="262"/>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次态</a:t>
              </a:r>
            </a:p>
          </p:txBody>
        </p:sp>
        <p:sp>
          <p:nvSpPr>
            <p:cNvPr id="62473" name="Text Box 8"/>
            <p:cNvSpPr txBox="1">
              <a:spLocks noChangeArrowheads="1"/>
            </p:cNvSpPr>
            <p:nvPr/>
          </p:nvSpPr>
          <p:spPr bwMode="auto">
            <a:xfrm>
              <a:off x="353" y="1158"/>
              <a:ext cx="503" cy="262"/>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现态</a:t>
              </a:r>
            </a:p>
          </p:txBody>
        </p:sp>
        <p:sp>
          <p:nvSpPr>
            <p:cNvPr id="62474" name="Text Box 9"/>
            <p:cNvSpPr txBox="1">
              <a:spLocks noChangeArrowheads="1"/>
            </p:cNvSpPr>
            <p:nvPr/>
          </p:nvSpPr>
          <p:spPr bwMode="auto">
            <a:xfrm>
              <a:off x="212" y="874"/>
              <a:ext cx="503" cy="263"/>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FF0066"/>
                  </a:solidFill>
                  <a:ea typeface="楷体_GB2312" pitchFamily="49" charset="-122"/>
                </a:rPr>
                <a:t>输入</a:t>
              </a:r>
            </a:p>
          </p:txBody>
        </p:sp>
        <p:sp>
          <p:nvSpPr>
            <p:cNvPr id="62475" name="Text Box 10"/>
            <p:cNvSpPr txBox="1">
              <a:spLocks noChangeArrowheads="1"/>
            </p:cNvSpPr>
            <p:nvPr/>
          </p:nvSpPr>
          <p:spPr bwMode="auto">
            <a:xfrm>
              <a:off x="830" y="1011"/>
              <a:ext cx="529" cy="514"/>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次态逻辑</a:t>
              </a:r>
            </a:p>
          </p:txBody>
        </p:sp>
        <p:sp>
          <p:nvSpPr>
            <p:cNvPr id="62476" name="Text Box 11"/>
            <p:cNvSpPr txBox="1">
              <a:spLocks noChangeArrowheads="1"/>
            </p:cNvSpPr>
            <p:nvPr/>
          </p:nvSpPr>
          <p:spPr bwMode="auto">
            <a:xfrm>
              <a:off x="1836" y="1011"/>
              <a:ext cx="618" cy="514"/>
            </a:xfrm>
            <a:prstGeom prst="rect">
              <a:avLst/>
            </a:prstGeom>
            <a:solidFill>
              <a:srgbClr val="FFFFFF"/>
            </a:solidFill>
            <a:ln w="15875">
              <a:solidFill>
                <a:srgbClr val="000000"/>
              </a:solidFill>
              <a:miter lim="800000"/>
            </a:ln>
          </p:spPr>
          <p:txBody>
            <a:bodyPr/>
            <a:lstStyle/>
            <a:p>
              <a:pPr marL="342900" indent="-342900">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状态</a:t>
              </a:r>
            </a:p>
            <a:p>
              <a:pPr marL="342900" indent="-342900">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寄存器</a:t>
              </a:r>
            </a:p>
          </p:txBody>
        </p:sp>
        <p:sp>
          <p:nvSpPr>
            <p:cNvPr id="62477" name="Text Box 12"/>
            <p:cNvSpPr txBox="1">
              <a:spLocks noChangeArrowheads="1"/>
            </p:cNvSpPr>
            <p:nvPr/>
          </p:nvSpPr>
          <p:spPr bwMode="auto">
            <a:xfrm>
              <a:off x="2944" y="1000"/>
              <a:ext cx="529" cy="514"/>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输出逻辑</a:t>
              </a:r>
            </a:p>
          </p:txBody>
        </p:sp>
        <p:sp>
          <p:nvSpPr>
            <p:cNvPr id="62478" name="Line 13"/>
            <p:cNvSpPr>
              <a:spLocks noChangeShapeType="1"/>
            </p:cNvSpPr>
            <p:nvPr/>
          </p:nvSpPr>
          <p:spPr bwMode="auto">
            <a:xfrm>
              <a:off x="276" y="1084"/>
              <a:ext cx="554" cy="0"/>
            </a:xfrm>
            <a:prstGeom prst="line">
              <a:avLst/>
            </a:prstGeom>
            <a:noFill/>
            <a:ln w="9525">
              <a:solidFill>
                <a:srgbClr val="000000"/>
              </a:solidFill>
              <a:round/>
              <a:tailEnd type="triangle" w="med" len="med"/>
            </a:ln>
          </p:spPr>
          <p:txBody>
            <a:bodyPr/>
            <a:lstStyle/>
            <a:p>
              <a:endParaRPr lang="zh-CN" altLang="en-US"/>
            </a:p>
          </p:txBody>
        </p:sp>
        <p:sp>
          <p:nvSpPr>
            <p:cNvPr id="62479" name="Line 14"/>
            <p:cNvSpPr>
              <a:spLocks noChangeShapeType="1"/>
            </p:cNvSpPr>
            <p:nvPr/>
          </p:nvSpPr>
          <p:spPr bwMode="auto">
            <a:xfrm>
              <a:off x="599" y="1378"/>
              <a:ext cx="231" cy="0"/>
            </a:xfrm>
            <a:prstGeom prst="line">
              <a:avLst/>
            </a:prstGeom>
            <a:noFill/>
            <a:ln w="9525">
              <a:solidFill>
                <a:srgbClr val="000000"/>
              </a:solidFill>
              <a:round/>
              <a:tailEnd type="triangle" w="med" len="med"/>
            </a:ln>
          </p:spPr>
          <p:txBody>
            <a:bodyPr/>
            <a:lstStyle/>
            <a:p>
              <a:endParaRPr lang="zh-CN" altLang="en-US"/>
            </a:p>
          </p:txBody>
        </p:sp>
        <p:sp>
          <p:nvSpPr>
            <p:cNvPr id="62480" name="Line 15"/>
            <p:cNvSpPr>
              <a:spLocks noChangeShapeType="1"/>
            </p:cNvSpPr>
            <p:nvPr/>
          </p:nvSpPr>
          <p:spPr bwMode="auto">
            <a:xfrm>
              <a:off x="1359" y="1263"/>
              <a:ext cx="477" cy="0"/>
            </a:xfrm>
            <a:prstGeom prst="line">
              <a:avLst/>
            </a:prstGeom>
            <a:noFill/>
            <a:ln w="9525">
              <a:solidFill>
                <a:srgbClr val="000000"/>
              </a:solidFill>
              <a:round/>
              <a:tailEnd type="triangle" w="med" len="med"/>
            </a:ln>
          </p:spPr>
          <p:txBody>
            <a:bodyPr/>
            <a:lstStyle/>
            <a:p>
              <a:endParaRPr lang="zh-CN" altLang="en-US"/>
            </a:p>
          </p:txBody>
        </p:sp>
        <p:sp>
          <p:nvSpPr>
            <p:cNvPr id="62481" name="Line 16"/>
            <p:cNvSpPr>
              <a:spLocks noChangeShapeType="1"/>
            </p:cNvSpPr>
            <p:nvPr/>
          </p:nvSpPr>
          <p:spPr bwMode="auto">
            <a:xfrm>
              <a:off x="2467" y="1378"/>
              <a:ext cx="477" cy="0"/>
            </a:xfrm>
            <a:prstGeom prst="line">
              <a:avLst/>
            </a:prstGeom>
            <a:noFill/>
            <a:ln w="28575">
              <a:solidFill>
                <a:srgbClr val="FF0066"/>
              </a:solidFill>
              <a:round/>
              <a:tailEnd type="triangle" w="med" len="med"/>
            </a:ln>
          </p:spPr>
          <p:txBody>
            <a:bodyPr/>
            <a:lstStyle/>
            <a:p>
              <a:endParaRPr lang="zh-CN" altLang="en-US"/>
            </a:p>
          </p:txBody>
        </p:sp>
        <p:sp>
          <p:nvSpPr>
            <p:cNvPr id="62482" name="Line 17"/>
            <p:cNvSpPr>
              <a:spLocks noChangeShapeType="1"/>
            </p:cNvSpPr>
            <p:nvPr/>
          </p:nvSpPr>
          <p:spPr bwMode="auto">
            <a:xfrm>
              <a:off x="3473" y="1252"/>
              <a:ext cx="476" cy="0"/>
            </a:xfrm>
            <a:prstGeom prst="line">
              <a:avLst/>
            </a:prstGeom>
            <a:noFill/>
            <a:ln w="9525">
              <a:solidFill>
                <a:srgbClr val="000000"/>
              </a:solidFill>
              <a:round/>
              <a:tailEnd type="triangle" w="med" len="med"/>
            </a:ln>
          </p:spPr>
          <p:txBody>
            <a:bodyPr/>
            <a:lstStyle/>
            <a:p>
              <a:endParaRPr lang="zh-CN" altLang="en-US"/>
            </a:p>
          </p:txBody>
        </p:sp>
        <p:sp>
          <p:nvSpPr>
            <p:cNvPr id="62483" name="Line 18"/>
            <p:cNvSpPr>
              <a:spLocks noChangeShapeType="1"/>
            </p:cNvSpPr>
            <p:nvPr/>
          </p:nvSpPr>
          <p:spPr bwMode="auto">
            <a:xfrm>
              <a:off x="586" y="1378"/>
              <a:ext cx="0" cy="284"/>
            </a:xfrm>
            <a:prstGeom prst="line">
              <a:avLst/>
            </a:prstGeom>
            <a:noFill/>
            <a:ln w="9525">
              <a:solidFill>
                <a:srgbClr val="000000"/>
              </a:solidFill>
              <a:round/>
            </a:ln>
          </p:spPr>
          <p:txBody>
            <a:bodyPr/>
            <a:lstStyle/>
            <a:p>
              <a:endParaRPr lang="zh-CN" altLang="en-US"/>
            </a:p>
          </p:txBody>
        </p:sp>
        <p:sp>
          <p:nvSpPr>
            <p:cNvPr id="62484" name="Line 19"/>
            <p:cNvSpPr>
              <a:spLocks noChangeShapeType="1"/>
            </p:cNvSpPr>
            <p:nvPr/>
          </p:nvSpPr>
          <p:spPr bwMode="auto">
            <a:xfrm>
              <a:off x="599" y="1662"/>
              <a:ext cx="2074" cy="0"/>
            </a:xfrm>
            <a:prstGeom prst="line">
              <a:avLst/>
            </a:prstGeom>
            <a:noFill/>
            <a:ln w="9525">
              <a:solidFill>
                <a:srgbClr val="000000"/>
              </a:solidFill>
              <a:round/>
            </a:ln>
          </p:spPr>
          <p:txBody>
            <a:bodyPr/>
            <a:lstStyle/>
            <a:p>
              <a:endParaRPr lang="zh-CN" altLang="en-US"/>
            </a:p>
          </p:txBody>
        </p:sp>
        <p:sp>
          <p:nvSpPr>
            <p:cNvPr id="62485" name="Line 20"/>
            <p:cNvSpPr>
              <a:spLocks noChangeShapeType="1"/>
            </p:cNvSpPr>
            <p:nvPr/>
          </p:nvSpPr>
          <p:spPr bwMode="auto">
            <a:xfrm flipV="1">
              <a:off x="2673" y="1368"/>
              <a:ext cx="0" cy="294"/>
            </a:xfrm>
            <a:prstGeom prst="line">
              <a:avLst/>
            </a:prstGeom>
            <a:noFill/>
            <a:ln w="9525">
              <a:solidFill>
                <a:srgbClr val="000000"/>
              </a:solidFill>
              <a:round/>
            </a:ln>
          </p:spPr>
          <p:txBody>
            <a:bodyPr/>
            <a:lstStyle/>
            <a:p>
              <a:endParaRPr lang="zh-CN" altLang="en-US"/>
            </a:p>
          </p:txBody>
        </p:sp>
        <p:sp>
          <p:nvSpPr>
            <p:cNvPr id="62486" name="Line 21"/>
            <p:cNvSpPr>
              <a:spLocks noChangeShapeType="1"/>
            </p:cNvSpPr>
            <p:nvPr/>
          </p:nvSpPr>
          <p:spPr bwMode="auto">
            <a:xfrm flipV="1">
              <a:off x="586" y="833"/>
              <a:ext cx="0" cy="251"/>
            </a:xfrm>
            <a:prstGeom prst="line">
              <a:avLst/>
            </a:prstGeom>
            <a:noFill/>
            <a:ln w="28575">
              <a:solidFill>
                <a:srgbClr val="FF0066"/>
              </a:solidFill>
              <a:round/>
            </a:ln>
          </p:spPr>
          <p:txBody>
            <a:bodyPr/>
            <a:lstStyle/>
            <a:p>
              <a:endParaRPr lang="zh-CN" altLang="en-US"/>
            </a:p>
          </p:txBody>
        </p:sp>
        <p:sp>
          <p:nvSpPr>
            <p:cNvPr id="62487" name="Line 22"/>
            <p:cNvSpPr>
              <a:spLocks noChangeShapeType="1"/>
            </p:cNvSpPr>
            <p:nvPr/>
          </p:nvSpPr>
          <p:spPr bwMode="auto">
            <a:xfrm>
              <a:off x="586" y="843"/>
              <a:ext cx="2113" cy="0"/>
            </a:xfrm>
            <a:prstGeom prst="line">
              <a:avLst/>
            </a:prstGeom>
            <a:noFill/>
            <a:ln w="28575">
              <a:solidFill>
                <a:srgbClr val="FF0066"/>
              </a:solidFill>
              <a:round/>
            </a:ln>
          </p:spPr>
          <p:txBody>
            <a:bodyPr/>
            <a:lstStyle/>
            <a:p>
              <a:endParaRPr lang="zh-CN" altLang="en-US"/>
            </a:p>
          </p:txBody>
        </p:sp>
        <p:sp>
          <p:nvSpPr>
            <p:cNvPr id="62488" name="Line 23"/>
            <p:cNvSpPr>
              <a:spLocks noChangeShapeType="1"/>
            </p:cNvSpPr>
            <p:nvPr/>
          </p:nvSpPr>
          <p:spPr bwMode="auto">
            <a:xfrm>
              <a:off x="2699" y="843"/>
              <a:ext cx="0" cy="252"/>
            </a:xfrm>
            <a:prstGeom prst="line">
              <a:avLst/>
            </a:prstGeom>
            <a:noFill/>
            <a:ln w="28575">
              <a:solidFill>
                <a:srgbClr val="FF0066"/>
              </a:solidFill>
              <a:round/>
            </a:ln>
          </p:spPr>
          <p:txBody>
            <a:bodyPr/>
            <a:lstStyle/>
            <a:p>
              <a:endParaRPr lang="zh-CN" altLang="en-US"/>
            </a:p>
          </p:txBody>
        </p:sp>
        <p:sp>
          <p:nvSpPr>
            <p:cNvPr id="62489" name="Line 24"/>
            <p:cNvSpPr>
              <a:spLocks noChangeShapeType="1"/>
            </p:cNvSpPr>
            <p:nvPr/>
          </p:nvSpPr>
          <p:spPr bwMode="auto">
            <a:xfrm>
              <a:off x="2699" y="1095"/>
              <a:ext cx="245" cy="0"/>
            </a:xfrm>
            <a:prstGeom prst="line">
              <a:avLst/>
            </a:prstGeom>
            <a:noFill/>
            <a:ln w="28575">
              <a:solidFill>
                <a:srgbClr val="FF0066"/>
              </a:solidFill>
              <a:round/>
              <a:tailEnd type="triangle" w="med" len="med"/>
            </a:ln>
          </p:spPr>
          <p:txBody>
            <a:bodyPr/>
            <a:lstStyle/>
            <a:p>
              <a:endParaRPr lang="zh-CN" altLang="en-US"/>
            </a:p>
          </p:txBody>
        </p:sp>
        <p:sp>
          <p:nvSpPr>
            <p:cNvPr id="62490" name="Text Box 25"/>
            <p:cNvSpPr txBox="1">
              <a:spLocks noChangeArrowheads="1"/>
            </p:cNvSpPr>
            <p:nvPr/>
          </p:nvSpPr>
          <p:spPr bwMode="auto">
            <a:xfrm>
              <a:off x="1020" y="1744"/>
              <a:ext cx="2103" cy="230"/>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en-US" altLang="zh-CN" sz="1800">
                  <a:solidFill>
                    <a:srgbClr val="990000"/>
                  </a:solidFill>
                  <a:latin typeface="Arial" panose="020B0604020202020204" pitchFamily="34" charset="0"/>
                  <a:ea typeface="楷体_GB2312" pitchFamily="49" charset="-122"/>
                  <a:cs typeface="Arial" panose="020B0604020202020204" pitchFamily="34" charset="0"/>
                </a:rPr>
                <a:t>Mealy</a:t>
              </a:r>
              <a:r>
                <a:rPr lang="zh-CN" altLang="en-US" sz="1800">
                  <a:solidFill>
                    <a:srgbClr val="990000"/>
                  </a:solidFill>
                  <a:latin typeface="Arial" panose="020B0604020202020204" pitchFamily="34" charset="0"/>
                  <a:ea typeface="楷体_GB2312" pitchFamily="49" charset="-122"/>
                  <a:cs typeface="Arial" panose="020B0604020202020204" pitchFamily="34" charset="0"/>
                </a:rPr>
                <a:t>型状态机的典型结构</a:t>
              </a:r>
            </a:p>
          </p:txBody>
        </p:sp>
        <p:sp>
          <p:nvSpPr>
            <p:cNvPr id="62491" name="Text Box 26"/>
            <p:cNvSpPr txBox="1">
              <a:spLocks noChangeArrowheads="1"/>
            </p:cNvSpPr>
            <p:nvPr/>
          </p:nvSpPr>
          <p:spPr bwMode="auto">
            <a:xfrm>
              <a:off x="512" y="959"/>
              <a:ext cx="372" cy="249"/>
            </a:xfrm>
            <a:prstGeom prst="rect">
              <a:avLst/>
            </a:prstGeom>
            <a:noFill/>
            <a:ln w="9525">
              <a:noFill/>
              <a:miter lim="800000"/>
            </a:ln>
          </p:spPr>
          <p:txBody>
            <a:bodyPr>
              <a:spAutoFit/>
            </a:bodyPr>
            <a:lstStyle/>
            <a:p>
              <a:pPr marL="342900" indent="-342900" algn="l">
                <a:lnSpc>
                  <a:spcPct val="110000"/>
                </a:lnSpc>
                <a:buClr>
                  <a:schemeClr val="tx2"/>
                </a:buClr>
                <a:buSzPct val="70000"/>
                <a:buFont typeface="Wingdings" panose="05000000000000000000" pitchFamily="2" charset="2"/>
                <a:buNone/>
              </a:pPr>
              <a:r>
                <a:rPr lang="en-US" altLang="zh-CN" sz="1800" dirty="0">
                  <a:solidFill>
                    <a:srgbClr val="000000"/>
                  </a:solidFill>
                  <a:ea typeface="黑体" panose="02010609060101010101" pitchFamily="49" charset="-122"/>
                  <a:cs typeface="Times New Roman" panose="02020603050405020304" pitchFamily="18" charset="0"/>
                </a:rPr>
                <a:t>•</a:t>
              </a:r>
            </a:p>
          </p:txBody>
        </p:sp>
        <p:sp>
          <p:nvSpPr>
            <p:cNvPr id="62492" name="Text Box 27"/>
            <p:cNvSpPr txBox="1">
              <a:spLocks noChangeArrowheads="1"/>
            </p:cNvSpPr>
            <p:nvPr/>
          </p:nvSpPr>
          <p:spPr bwMode="auto">
            <a:xfrm>
              <a:off x="2597" y="1244"/>
              <a:ext cx="372" cy="249"/>
            </a:xfrm>
            <a:prstGeom prst="rect">
              <a:avLst/>
            </a:prstGeom>
            <a:noFill/>
            <a:ln w="9525">
              <a:noFill/>
              <a:miter lim="800000"/>
            </a:ln>
          </p:spPr>
          <p:txBody>
            <a:bodyPr>
              <a:spAutoFit/>
            </a:bodyPr>
            <a:lstStyle/>
            <a:p>
              <a:pPr marL="342900" indent="-342900" algn="l">
                <a:lnSpc>
                  <a:spcPct val="110000"/>
                </a:lnSpc>
                <a:buClr>
                  <a:schemeClr val="tx2"/>
                </a:buClr>
                <a:buSzPct val="70000"/>
                <a:buFont typeface="Wingdings" panose="05000000000000000000" pitchFamily="2" charset="2"/>
                <a:buNone/>
              </a:pPr>
              <a:r>
                <a:rPr lang="en-US" altLang="zh-CN" sz="1800">
                  <a:solidFill>
                    <a:srgbClr val="000000"/>
                  </a:solidFill>
                  <a:ea typeface="黑体" panose="02010609060101010101" pitchFamily="49" charset="-122"/>
                  <a:cs typeface="Times New Roman" panose="02020603050405020304" pitchFamily="18" charset="0"/>
                </a:rPr>
                <a:t>•</a:t>
              </a:r>
            </a:p>
          </p:txBody>
        </p:sp>
      </p:gr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97635">
                                            <p:txEl>
                                              <p:pRg st="2" end="2"/>
                                            </p:txEl>
                                          </p:spTgt>
                                        </p:tgtEl>
                                        <p:attrNameLst>
                                          <p:attrName>style.visibility</p:attrName>
                                        </p:attrNameLst>
                                      </p:cBhvr>
                                      <p:to>
                                        <p:strVal val="visible"/>
                                      </p:to>
                                    </p:set>
                                    <p:anim calcmode="lin" valueType="num">
                                      <p:cBhvr additive="base">
                                        <p:cTn id="7" dur="500" fill="hold"/>
                                        <p:tgtEl>
                                          <p:spTgt spid="197635">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76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97635">
                                            <p:txEl>
                                              <p:pRg st="3" end="3"/>
                                            </p:txEl>
                                          </p:spTgt>
                                        </p:tgtEl>
                                        <p:attrNameLst>
                                          <p:attrName>style.visibility</p:attrName>
                                        </p:attrNameLst>
                                      </p:cBhvr>
                                      <p:to>
                                        <p:strVal val="visible"/>
                                      </p:to>
                                    </p:set>
                                    <p:anim calcmode="lin" valueType="num">
                                      <p:cBhvr additive="base">
                                        <p:cTn id="13" dur="500" fill="hold"/>
                                        <p:tgtEl>
                                          <p:spTgt spid="197635">
                                            <p:txEl>
                                              <p:pRg st="3" end="3"/>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76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97635">
                                            <p:txEl>
                                              <p:pRg st="4" end="4"/>
                                            </p:txEl>
                                          </p:spTgt>
                                        </p:tgtEl>
                                        <p:attrNameLst>
                                          <p:attrName>style.visibility</p:attrName>
                                        </p:attrNameLst>
                                      </p:cBhvr>
                                      <p:to>
                                        <p:strVal val="visible"/>
                                      </p:to>
                                    </p:set>
                                    <p:anim calcmode="lin" valueType="num">
                                      <p:cBhvr additive="base">
                                        <p:cTn id="19" dur="500" fill="hold"/>
                                        <p:tgtEl>
                                          <p:spTgt spid="197635">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76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62469"/>
                                        </p:tgtEl>
                                        <p:attrNameLst>
                                          <p:attrName>style.visibility</p:attrName>
                                        </p:attrNameLst>
                                      </p:cBhvr>
                                      <p:to>
                                        <p:strVal val="visible"/>
                                      </p:to>
                                    </p:set>
                                    <p:animEffect transition="in" filter="blinds(horizontal)">
                                      <p:cBhvr>
                                        <p:cTn id="25" dur="500"/>
                                        <p:tgtEl>
                                          <p:spTgt spid="62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5"/>
          <p:cNvSpPr>
            <a:spLocks noGrp="1"/>
          </p:cNvSpPr>
          <p:nvPr>
            <p:ph type="title"/>
          </p:nvPr>
        </p:nvSpPr>
        <p:spPr>
          <a:xfrm>
            <a:off x="727075" y="153035"/>
            <a:ext cx="10515600" cy="1325563"/>
          </a:xfrm>
        </p:spPr>
        <p:txBody>
          <a:bodyPr/>
          <a:lstStyle/>
          <a:p>
            <a:r>
              <a:rPr lang="zh-CN" altLang="en-US" b="1" dirty="0" smtClean="0">
                <a:solidFill>
                  <a:schemeClr val="tx1"/>
                </a:solidFill>
                <a:latin typeface="Arial" panose="020B0604020202020204" pitchFamily="34" charset="0"/>
                <a:ea typeface="黑体" panose="02010609060101010101" pitchFamily="49" charset="-122"/>
              </a:rPr>
              <a:t>有限状态机的表示方法</a:t>
            </a:r>
          </a:p>
        </p:txBody>
      </p:sp>
      <p:sp>
        <p:nvSpPr>
          <p:cNvPr id="2052" name="Rectangle 25"/>
          <p:cNvSpPr>
            <a:spLocks noGrp="1" noChangeArrowheads="1"/>
          </p:cNvSpPr>
          <p:nvPr>
            <p:ph type="sldNum" sz="quarter" idx="12"/>
          </p:nvPr>
        </p:nvSpPr>
        <p:spPr>
          <a:noFill/>
        </p:spPr>
        <p:txBody>
          <a:bodyPr/>
          <a:lstStyle/>
          <a:p>
            <a:fld id="{B469A0AE-8101-43F3-B8D9-4FC753662450}" type="slidenum">
              <a:rPr lang="ko-KR" altLang="en-US" smtClean="0"/>
              <a:t>48</a:t>
            </a:fld>
            <a:endParaRPr lang="en-US" altLang="ko-KR" smtClean="0"/>
          </a:p>
        </p:txBody>
      </p:sp>
      <p:sp>
        <p:nvSpPr>
          <p:cNvPr id="2053" name="Rectangle 5"/>
          <p:cNvSpPr>
            <a:spLocks noChangeArrowheads="1"/>
          </p:cNvSpPr>
          <p:nvPr/>
        </p:nvSpPr>
        <p:spPr bwMode="auto">
          <a:xfrm>
            <a:off x="2578100" y="1300163"/>
            <a:ext cx="7308850" cy="1711325"/>
          </a:xfrm>
          <a:prstGeom prst="rect">
            <a:avLst/>
          </a:prstGeom>
          <a:noFill/>
          <a:ln w="9525">
            <a:noFill/>
            <a:miter lim="800000"/>
          </a:ln>
        </p:spPr>
        <p:txBody>
          <a:bodyPr/>
          <a:lstStyle/>
          <a:p>
            <a:pPr marL="363855" indent="-363855" algn="l">
              <a:lnSpc>
                <a:spcPts val="3200"/>
              </a:lnSpc>
              <a:spcBef>
                <a:spcPct val="0"/>
              </a:spcBef>
              <a:buClr>
                <a:schemeClr val="bg2"/>
              </a:buClr>
              <a:buSzPct val="80000"/>
              <a:buFont typeface="Wingdings" panose="05000000000000000000" pitchFamily="2" charset="2"/>
              <a:buChar char="v"/>
            </a:pPr>
            <a:r>
              <a:rPr kumimoji="1" lang="zh-CN" altLang="en-US" sz="2600">
                <a:solidFill>
                  <a:srgbClr val="000000"/>
                </a:solidFill>
                <a:latin typeface="宋体" panose="02010600030101010101" pitchFamily="2" charset="-122"/>
              </a:rPr>
              <a:t>状态机有</a:t>
            </a:r>
            <a:r>
              <a:rPr kumimoji="1" lang="en-US" altLang="zh-CN" sz="2600">
                <a:solidFill>
                  <a:srgbClr val="C00000"/>
                </a:solidFill>
                <a:latin typeface="Arial" panose="020B0604020202020204" pitchFamily="34" charset="0"/>
                <a:cs typeface="Arial" panose="020B0604020202020204" pitchFamily="34" charset="0"/>
              </a:rPr>
              <a:t>3</a:t>
            </a:r>
            <a:r>
              <a:rPr kumimoji="1" lang="zh-CN" altLang="en-US" sz="2600">
                <a:solidFill>
                  <a:srgbClr val="000000"/>
                </a:solidFill>
                <a:latin typeface="宋体" panose="02010600030101010101" pitchFamily="2" charset="-122"/>
              </a:rPr>
              <a:t>种表示方法</a:t>
            </a:r>
          </a:p>
          <a:p>
            <a:pPr marL="711200" lvl="2" indent="-347980" algn="l">
              <a:lnSpc>
                <a:spcPts val="3200"/>
              </a:lnSpc>
              <a:spcBef>
                <a:spcPct val="0"/>
              </a:spcBef>
              <a:buClr>
                <a:srgbClr val="006666"/>
              </a:buClr>
              <a:buSzPct val="110000"/>
              <a:buFont typeface="Wingdings" panose="05000000000000000000" pitchFamily="2" charset="2"/>
              <a:buChar char="w"/>
            </a:pPr>
            <a:r>
              <a:rPr kumimoji="1" lang="zh-CN" altLang="en-US" sz="2400">
                <a:solidFill>
                  <a:srgbClr val="000000"/>
                </a:solidFill>
                <a:latin typeface="宋体" panose="02010600030101010101" pitchFamily="2" charset="-122"/>
              </a:rPr>
              <a:t>状态图</a:t>
            </a:r>
            <a:r>
              <a:rPr kumimoji="1" lang="zh-CN" altLang="en-US" sz="2400">
                <a:solidFill>
                  <a:srgbClr val="000000"/>
                </a:solidFill>
                <a:latin typeface="Arial" panose="020B0604020202020204" pitchFamily="34" charset="0"/>
                <a:cs typeface="Arial" panose="020B0604020202020204" pitchFamily="34" charset="0"/>
              </a:rPr>
              <a:t>（</a:t>
            </a:r>
            <a:r>
              <a:rPr kumimoji="1" lang="en-US" altLang="zh-CN" sz="2400">
                <a:solidFill>
                  <a:srgbClr val="000000"/>
                </a:solidFill>
                <a:latin typeface="Arial" panose="020B0604020202020204" pitchFamily="34" charset="0"/>
                <a:cs typeface="Arial" panose="020B0604020202020204" pitchFamily="34" charset="0"/>
              </a:rPr>
              <a:t>State Diagram</a:t>
            </a:r>
            <a:r>
              <a:rPr kumimoji="1" lang="zh-CN" altLang="en-US" sz="2400">
                <a:solidFill>
                  <a:srgbClr val="000000"/>
                </a:solidFill>
                <a:latin typeface="Arial" panose="020B0604020202020204" pitchFamily="34" charset="0"/>
                <a:cs typeface="Arial" panose="020B0604020202020204" pitchFamily="34" charset="0"/>
              </a:rPr>
              <a:t>）</a:t>
            </a:r>
            <a:r>
              <a:rPr kumimoji="1" lang="zh-CN" altLang="en-US" sz="2400">
                <a:solidFill>
                  <a:srgbClr val="000000"/>
                </a:solidFill>
                <a:latin typeface="宋体" panose="02010600030101010101" pitchFamily="2" charset="-122"/>
              </a:rPr>
              <a:t>、状态表</a:t>
            </a:r>
            <a:r>
              <a:rPr kumimoji="1" lang="zh-CN" altLang="en-US" sz="2400">
                <a:solidFill>
                  <a:srgbClr val="000000"/>
                </a:solidFill>
                <a:latin typeface="Arial" panose="020B0604020202020204" pitchFamily="34" charset="0"/>
                <a:cs typeface="Arial" panose="020B0604020202020204" pitchFamily="34" charset="0"/>
              </a:rPr>
              <a:t>（</a:t>
            </a:r>
            <a:r>
              <a:rPr kumimoji="1" lang="en-US" altLang="zh-CN" sz="2400">
                <a:solidFill>
                  <a:srgbClr val="000000"/>
                </a:solidFill>
                <a:latin typeface="Arial" panose="020B0604020202020204" pitchFamily="34" charset="0"/>
                <a:cs typeface="Arial" panose="020B0604020202020204" pitchFamily="34" charset="0"/>
              </a:rPr>
              <a:t>State Table</a:t>
            </a:r>
            <a:r>
              <a:rPr kumimoji="1" lang="zh-CN" altLang="en-US" sz="2400">
                <a:solidFill>
                  <a:srgbClr val="000000"/>
                </a:solidFill>
                <a:latin typeface="Arial" panose="020B0604020202020204" pitchFamily="34" charset="0"/>
                <a:cs typeface="Arial" panose="020B0604020202020204" pitchFamily="34" charset="0"/>
              </a:rPr>
              <a:t>）</a:t>
            </a:r>
            <a:r>
              <a:rPr kumimoji="1" lang="zh-CN" altLang="en-US" sz="2400">
                <a:solidFill>
                  <a:srgbClr val="000000"/>
                </a:solidFill>
                <a:latin typeface="宋体" panose="02010600030101010101" pitchFamily="2" charset="-122"/>
              </a:rPr>
              <a:t>和流程图</a:t>
            </a:r>
            <a:endParaRPr kumimoji="1" lang="en-US" altLang="zh-CN" sz="2400">
              <a:solidFill>
                <a:srgbClr val="000000"/>
              </a:solidFill>
              <a:latin typeface="宋体" panose="02010600030101010101" pitchFamily="2" charset="-122"/>
            </a:endParaRPr>
          </a:p>
          <a:p>
            <a:pPr marL="711200" lvl="2" indent="-347980" algn="l">
              <a:lnSpc>
                <a:spcPts val="3200"/>
              </a:lnSpc>
              <a:spcBef>
                <a:spcPct val="0"/>
              </a:spcBef>
              <a:buClr>
                <a:srgbClr val="006666"/>
              </a:buClr>
              <a:buSzPct val="110000"/>
              <a:buFont typeface="Wingdings" panose="05000000000000000000" pitchFamily="2" charset="2"/>
              <a:buChar char="w"/>
            </a:pPr>
            <a:r>
              <a:rPr kumimoji="1" lang="zh-CN" altLang="en-US" sz="2400">
                <a:solidFill>
                  <a:srgbClr val="000000"/>
                </a:solidFill>
                <a:latin typeface="宋体" panose="02010600030101010101" pitchFamily="2" charset="-122"/>
              </a:rPr>
              <a:t>三者等价，可以相互转换 </a:t>
            </a:r>
          </a:p>
        </p:txBody>
      </p:sp>
      <p:grpSp>
        <p:nvGrpSpPr>
          <p:cNvPr id="2" name="Group 493"/>
          <p:cNvGrpSpPr/>
          <p:nvPr/>
        </p:nvGrpSpPr>
        <p:grpSpPr bwMode="auto">
          <a:xfrm>
            <a:off x="2606675" y="3336925"/>
            <a:ext cx="2517775" cy="1787426"/>
            <a:chOff x="2696" y="2130"/>
            <a:chExt cx="1586" cy="1131"/>
          </a:xfrm>
        </p:grpSpPr>
        <p:grpSp>
          <p:nvGrpSpPr>
            <p:cNvPr id="2087" name="Group 400"/>
            <p:cNvGrpSpPr/>
            <p:nvPr/>
          </p:nvGrpSpPr>
          <p:grpSpPr bwMode="auto">
            <a:xfrm>
              <a:off x="2698" y="2476"/>
              <a:ext cx="614" cy="216"/>
              <a:chOff x="3274" y="2736"/>
              <a:chExt cx="614" cy="216"/>
            </a:xfrm>
          </p:grpSpPr>
          <p:grpSp>
            <p:nvGrpSpPr>
              <p:cNvPr id="2106" name="Group 401"/>
              <p:cNvGrpSpPr/>
              <p:nvPr/>
            </p:nvGrpSpPr>
            <p:grpSpPr bwMode="auto">
              <a:xfrm>
                <a:off x="3274" y="2736"/>
                <a:ext cx="482" cy="216"/>
                <a:chOff x="3274" y="2736"/>
                <a:chExt cx="482" cy="216"/>
              </a:xfrm>
            </p:grpSpPr>
            <p:sp>
              <p:nvSpPr>
                <p:cNvPr id="2108" name="Oval 402"/>
                <p:cNvSpPr>
                  <a:spLocks noChangeArrowheads="1"/>
                </p:cNvSpPr>
                <p:nvPr/>
              </p:nvSpPr>
              <p:spPr bwMode="auto">
                <a:xfrm>
                  <a:off x="3312" y="2736"/>
                  <a:ext cx="384" cy="192"/>
                </a:xfrm>
                <a:prstGeom prst="ellipse">
                  <a:avLst/>
                </a:prstGeom>
                <a:noFill/>
                <a:ln w="19050">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2109" name="Text Box 403"/>
                <p:cNvSpPr txBox="1">
                  <a:spLocks noChangeArrowheads="1"/>
                </p:cNvSpPr>
                <p:nvPr/>
              </p:nvSpPr>
              <p:spPr bwMode="auto">
                <a:xfrm>
                  <a:off x="3274" y="2739"/>
                  <a:ext cx="482"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000/0</a:t>
                  </a:r>
                </a:p>
              </p:txBody>
            </p:sp>
          </p:grpSp>
          <p:sp>
            <p:nvSpPr>
              <p:cNvPr id="2107" name="Line 404"/>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2088" name="Group 405"/>
            <p:cNvGrpSpPr/>
            <p:nvPr/>
          </p:nvGrpSpPr>
          <p:grpSpPr bwMode="auto">
            <a:xfrm>
              <a:off x="3279" y="2485"/>
              <a:ext cx="600" cy="228"/>
              <a:chOff x="3288" y="2736"/>
              <a:chExt cx="600" cy="228"/>
            </a:xfrm>
          </p:grpSpPr>
          <p:grpSp>
            <p:nvGrpSpPr>
              <p:cNvPr id="2102" name="Group 406"/>
              <p:cNvGrpSpPr/>
              <p:nvPr/>
            </p:nvGrpSpPr>
            <p:grpSpPr bwMode="auto">
              <a:xfrm>
                <a:off x="3288" y="2736"/>
                <a:ext cx="439" cy="228"/>
                <a:chOff x="3288" y="2736"/>
                <a:chExt cx="439" cy="228"/>
              </a:xfrm>
            </p:grpSpPr>
            <p:sp>
              <p:nvSpPr>
                <p:cNvPr id="2104" name="Oval 407"/>
                <p:cNvSpPr>
                  <a:spLocks noChangeArrowheads="1"/>
                </p:cNvSpPr>
                <p:nvPr/>
              </p:nvSpPr>
              <p:spPr bwMode="auto">
                <a:xfrm>
                  <a:off x="3312" y="2736"/>
                  <a:ext cx="384" cy="192"/>
                </a:xfrm>
                <a:prstGeom prst="ellipse">
                  <a:avLst/>
                </a:prstGeom>
                <a:noFill/>
                <a:ln w="19050">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2105" name="Text Box 408"/>
                <p:cNvSpPr txBox="1">
                  <a:spLocks noChangeArrowheads="1"/>
                </p:cNvSpPr>
                <p:nvPr/>
              </p:nvSpPr>
              <p:spPr bwMode="auto">
                <a:xfrm>
                  <a:off x="3288" y="2751"/>
                  <a:ext cx="439"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001/0</a:t>
                  </a:r>
                </a:p>
              </p:txBody>
            </p:sp>
          </p:grpSp>
          <p:sp>
            <p:nvSpPr>
              <p:cNvPr id="2103" name="Line 409"/>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2089" name="Group 411"/>
            <p:cNvGrpSpPr/>
            <p:nvPr/>
          </p:nvGrpSpPr>
          <p:grpSpPr bwMode="auto">
            <a:xfrm>
              <a:off x="3864" y="2485"/>
              <a:ext cx="418" cy="384"/>
              <a:chOff x="3300" y="2736"/>
              <a:chExt cx="418" cy="384"/>
            </a:xfrm>
          </p:grpSpPr>
          <p:sp>
            <p:nvSpPr>
              <p:cNvPr id="2100" name="Oval 412"/>
              <p:cNvSpPr>
                <a:spLocks noChangeArrowheads="1"/>
              </p:cNvSpPr>
              <p:nvPr/>
            </p:nvSpPr>
            <p:spPr bwMode="auto">
              <a:xfrm>
                <a:off x="3312" y="2736"/>
                <a:ext cx="384" cy="192"/>
              </a:xfrm>
              <a:prstGeom prst="ellipse">
                <a:avLst/>
              </a:prstGeom>
              <a:noFill/>
              <a:ln w="19050">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2101" name="Text Box 413"/>
              <p:cNvSpPr txBox="1">
                <a:spLocks noChangeArrowheads="1"/>
              </p:cNvSpPr>
              <p:nvPr/>
            </p:nvSpPr>
            <p:spPr bwMode="auto">
              <a:xfrm>
                <a:off x="3300" y="2751"/>
                <a:ext cx="418" cy="369"/>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010/0</a:t>
                </a:r>
              </a:p>
            </p:txBody>
          </p:sp>
        </p:grpSp>
        <p:sp>
          <p:nvSpPr>
            <p:cNvPr id="2090" name="Line 423"/>
            <p:cNvSpPr>
              <a:spLocks noChangeShapeType="1"/>
            </p:cNvSpPr>
            <p:nvPr/>
          </p:nvSpPr>
          <p:spPr bwMode="auto">
            <a:xfrm flipH="1">
              <a:off x="3670" y="2676"/>
              <a:ext cx="386" cy="392"/>
            </a:xfrm>
            <a:prstGeom prst="line">
              <a:avLst/>
            </a:prstGeom>
            <a:noFill/>
            <a:ln w="9525">
              <a:solidFill>
                <a:schemeClr val="tx1"/>
              </a:solidFill>
              <a:round/>
              <a:tailEnd type="triangle" w="med" len="med"/>
            </a:ln>
          </p:spPr>
          <p:txBody>
            <a:bodyPr/>
            <a:lstStyle/>
            <a:p>
              <a:endParaRPr lang="zh-CN" altLang="en-US"/>
            </a:p>
          </p:txBody>
        </p:sp>
        <p:grpSp>
          <p:nvGrpSpPr>
            <p:cNvPr id="2091" name="Group 439"/>
            <p:cNvGrpSpPr/>
            <p:nvPr/>
          </p:nvGrpSpPr>
          <p:grpSpPr bwMode="auto">
            <a:xfrm>
              <a:off x="3108" y="3033"/>
              <a:ext cx="640" cy="228"/>
              <a:chOff x="4848" y="3033"/>
              <a:chExt cx="640" cy="228"/>
            </a:xfrm>
          </p:grpSpPr>
          <p:grpSp>
            <p:nvGrpSpPr>
              <p:cNvPr id="2096" name="Group 440"/>
              <p:cNvGrpSpPr/>
              <p:nvPr/>
            </p:nvGrpSpPr>
            <p:grpSpPr bwMode="auto">
              <a:xfrm>
                <a:off x="5028" y="3033"/>
                <a:ext cx="460" cy="228"/>
                <a:chOff x="3300" y="2736"/>
                <a:chExt cx="460" cy="228"/>
              </a:xfrm>
            </p:grpSpPr>
            <p:sp>
              <p:nvSpPr>
                <p:cNvPr id="2098" name="Oval 441"/>
                <p:cNvSpPr>
                  <a:spLocks noChangeArrowheads="1"/>
                </p:cNvSpPr>
                <p:nvPr/>
              </p:nvSpPr>
              <p:spPr bwMode="auto">
                <a:xfrm>
                  <a:off x="3312" y="2736"/>
                  <a:ext cx="384" cy="192"/>
                </a:xfrm>
                <a:prstGeom prst="ellipse">
                  <a:avLst/>
                </a:prstGeom>
                <a:noFill/>
                <a:ln w="19050">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2099" name="Text Box 442"/>
                <p:cNvSpPr txBox="1">
                  <a:spLocks noChangeArrowheads="1"/>
                </p:cNvSpPr>
                <p:nvPr/>
              </p:nvSpPr>
              <p:spPr bwMode="auto">
                <a:xfrm>
                  <a:off x="3300" y="2751"/>
                  <a:ext cx="460"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011/0</a:t>
                  </a:r>
                </a:p>
              </p:txBody>
            </p:sp>
          </p:grpSp>
          <p:sp>
            <p:nvSpPr>
              <p:cNvPr id="2097" name="Line 443"/>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2092" name="Group 444"/>
            <p:cNvGrpSpPr/>
            <p:nvPr/>
          </p:nvGrpSpPr>
          <p:grpSpPr bwMode="auto">
            <a:xfrm>
              <a:off x="2696" y="3033"/>
              <a:ext cx="440" cy="214"/>
              <a:chOff x="3284" y="2736"/>
              <a:chExt cx="440" cy="214"/>
            </a:xfrm>
          </p:grpSpPr>
          <p:sp>
            <p:nvSpPr>
              <p:cNvPr id="2094" name="Oval 445"/>
              <p:cNvSpPr>
                <a:spLocks noChangeArrowheads="1"/>
              </p:cNvSpPr>
              <p:nvPr/>
            </p:nvSpPr>
            <p:spPr bwMode="auto">
              <a:xfrm>
                <a:off x="3312" y="2736"/>
                <a:ext cx="384" cy="192"/>
              </a:xfrm>
              <a:prstGeom prst="ellipse">
                <a:avLst/>
              </a:prstGeom>
              <a:noFill/>
              <a:ln w="19050">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2095" name="Text Box 446"/>
              <p:cNvSpPr txBox="1">
                <a:spLocks noChangeArrowheads="1"/>
              </p:cNvSpPr>
              <p:nvPr/>
            </p:nvSpPr>
            <p:spPr bwMode="auto">
              <a:xfrm>
                <a:off x="3284" y="2737"/>
                <a:ext cx="440"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100/1</a:t>
                </a:r>
              </a:p>
            </p:txBody>
          </p:sp>
        </p:grpSp>
        <p:sp>
          <p:nvSpPr>
            <p:cNvPr id="2093" name="Line 447"/>
            <p:cNvSpPr>
              <a:spLocks noChangeShapeType="1"/>
            </p:cNvSpPr>
            <p:nvPr/>
          </p:nvSpPr>
          <p:spPr bwMode="auto">
            <a:xfrm flipV="1">
              <a:off x="2928" y="2664"/>
              <a:ext cx="0" cy="360"/>
            </a:xfrm>
            <a:prstGeom prst="line">
              <a:avLst/>
            </a:prstGeom>
            <a:noFill/>
            <a:ln w="9525">
              <a:solidFill>
                <a:schemeClr val="tx1"/>
              </a:solidFill>
              <a:round/>
              <a:tailEnd type="triangle" w="med" len="med"/>
            </a:ln>
          </p:spPr>
          <p:txBody>
            <a:bodyPr/>
            <a:lstStyle/>
            <a:p>
              <a:endParaRPr lang="zh-CN" altLang="en-US"/>
            </a:p>
          </p:txBody>
        </p:sp>
        <p:graphicFrame>
          <p:nvGraphicFramePr>
            <p:cNvPr id="2050" name="Object 88"/>
            <p:cNvGraphicFramePr>
              <a:graphicFrameLocks noChangeAspect="1"/>
            </p:cNvGraphicFramePr>
            <p:nvPr/>
          </p:nvGraphicFramePr>
          <p:xfrm>
            <a:off x="2877" y="2130"/>
            <a:ext cx="782" cy="256"/>
          </p:xfrm>
          <a:graphic>
            <a:graphicData uri="http://schemas.openxmlformats.org/presentationml/2006/ole">
              <mc:AlternateContent xmlns:mc="http://schemas.openxmlformats.org/markup-compatibility/2006">
                <mc:Choice xmlns:v="urn:schemas-microsoft-com:vml" Requires="v">
                  <p:oleObj spid="_x0000_s26626" name="公式" r:id="rId4" imgW="736600" imgH="241300" progId="Equation.3">
                    <p:embed/>
                  </p:oleObj>
                </mc:Choice>
                <mc:Fallback>
                  <p:oleObj name="公式" r:id="rId4" imgW="736600" imgH="241300" progId="Equation.3">
                    <p:embed/>
                    <p:pic>
                      <p:nvPicPr>
                        <p:cNvPr id="0" name="Object 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7" y="2130"/>
                          <a:ext cx="782" cy="256"/>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
        <p:nvSpPr>
          <p:cNvPr id="30" name="Text Box 31"/>
          <p:cNvSpPr txBox="1">
            <a:spLocks noChangeArrowheads="1"/>
          </p:cNvSpPr>
          <p:nvPr/>
        </p:nvSpPr>
        <p:spPr bwMode="auto">
          <a:xfrm>
            <a:off x="2886075" y="5207000"/>
            <a:ext cx="2043113" cy="368300"/>
          </a:xfrm>
          <a:prstGeom prst="rect">
            <a:avLst/>
          </a:prstGeom>
          <a:noFill/>
          <a:ln w="38100">
            <a:noFill/>
            <a:miter lim="800000"/>
          </a:ln>
        </p:spPr>
        <p:txBody>
          <a:bodyPr>
            <a:spAutoFit/>
          </a:bodyPr>
          <a:lstStyle/>
          <a:p>
            <a:pPr>
              <a:lnSpc>
                <a:spcPct val="100000"/>
              </a:lnSpc>
            </a:pPr>
            <a:r>
              <a:rPr lang="zh-CN" altLang="en-US">
                <a:solidFill>
                  <a:srgbClr val="C00000"/>
                </a:solidFill>
                <a:ea typeface="楷体_GB2312" pitchFamily="49" charset="-122"/>
              </a:rPr>
              <a:t>状态（转换）图</a:t>
            </a:r>
          </a:p>
        </p:txBody>
      </p:sp>
      <p:graphicFrame>
        <p:nvGraphicFramePr>
          <p:cNvPr id="31" name="Group 75"/>
          <p:cNvGraphicFramePr>
            <a:graphicFrameLocks noGrp="1"/>
          </p:cNvGraphicFramePr>
          <p:nvPr/>
        </p:nvGraphicFramePr>
        <p:xfrm>
          <a:off x="5710238" y="3556000"/>
          <a:ext cx="4074795" cy="2426970"/>
        </p:xfrm>
        <a:graphic>
          <a:graphicData uri="http://schemas.openxmlformats.org/drawingml/2006/table">
            <a:tbl>
              <a:tblPr/>
              <a:tblGrid>
                <a:gridCol w="1442085">
                  <a:extLst>
                    <a:ext uri="{9D8B030D-6E8A-4147-A177-3AD203B41FA5}">
                      <a16:colId xmlns:a16="http://schemas.microsoft.com/office/drawing/2014/main" val="20000"/>
                    </a:ext>
                  </a:extLst>
                </a:gridCol>
                <a:gridCol w="2128520">
                  <a:extLst>
                    <a:ext uri="{9D8B030D-6E8A-4147-A177-3AD203B41FA5}">
                      <a16:colId xmlns:a16="http://schemas.microsoft.com/office/drawing/2014/main" val="20001"/>
                    </a:ext>
                  </a:extLst>
                </a:gridCol>
                <a:gridCol w="504190">
                  <a:extLst>
                    <a:ext uri="{9D8B030D-6E8A-4147-A177-3AD203B41FA5}">
                      <a16:colId xmlns:a16="http://schemas.microsoft.com/office/drawing/2014/main" val="20002"/>
                    </a:ext>
                  </a:extLst>
                </a:gridCol>
              </a:tblGrid>
              <a:tr h="405130">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Q</a:t>
                      </a:r>
                      <a:r>
                        <a:rPr kumimoji="0" lang="en-US" altLang="zh-CN" sz="2000" b="1" i="0" u="none" strike="noStrike" cap="none" normalizeH="0" baseline="-25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2</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n</a:t>
                      </a:r>
                      <a:r>
                        <a:rPr kumimoji="0" lang="en-US" altLang="zh-CN"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Q</a:t>
                      </a:r>
                      <a:r>
                        <a:rPr kumimoji="0" lang="en-US" altLang="zh-CN" sz="2000" b="1" i="0" u="none" strike="noStrike" cap="none" normalizeH="0" baseline="-25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1</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n</a:t>
                      </a:r>
                      <a:r>
                        <a:rPr kumimoji="0" lang="en-US" altLang="zh-CN"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Q</a:t>
                      </a:r>
                      <a:r>
                        <a:rPr kumimoji="0" lang="en-US" altLang="zh-CN" sz="2000" b="1" i="0" u="none" strike="noStrike" cap="none" normalizeH="0" baseline="-25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n</a:t>
                      </a:r>
                    </a:p>
                  </a:txBody>
                  <a:tcPr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Q</a:t>
                      </a:r>
                      <a:r>
                        <a:rPr kumimoji="0" lang="en-US" altLang="zh-CN" sz="2000" b="1" i="0" u="none" strike="noStrike" cap="none" normalizeH="0" baseline="-25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2</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n+1</a:t>
                      </a:r>
                      <a:r>
                        <a:rPr kumimoji="0" lang="en-US" altLang="zh-CN"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Q</a:t>
                      </a:r>
                      <a:r>
                        <a:rPr kumimoji="0" lang="en-US" altLang="zh-CN" sz="2000" b="1" i="0" u="none" strike="noStrike" cap="none" normalizeH="0" baseline="-25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1</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n+1</a:t>
                      </a:r>
                      <a:r>
                        <a:rPr kumimoji="0" lang="en-US" altLang="zh-CN"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Q</a:t>
                      </a:r>
                      <a:r>
                        <a:rPr kumimoji="0" lang="en-US" altLang="zh-CN" sz="2000" b="1" i="0" u="none" strike="noStrike" cap="none" normalizeH="0" baseline="-25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n+1</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381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C</a:t>
                      </a:r>
                    </a:p>
                  </a:txBody>
                  <a:tcPr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381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3225">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0   0   0</a:t>
                      </a:r>
                    </a:p>
                  </a:txBody>
                  <a:tcPr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0       0       1</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4495">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0   0   1</a:t>
                      </a:r>
                    </a:p>
                  </a:txBody>
                  <a:tcPr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0       1       </a:t>
                      </a: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4495">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0   1   </a:t>
                      </a:r>
                      <a:r>
                        <a:rPr kumimoji="0" lang="en-US" altLang="zh-CN"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endParaRPr kumimoji="0" lang="zh-CN" altLang="en-US"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       </a:t>
                      </a: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1</a:t>
                      </a: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       </a:t>
                      </a: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1</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4495">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0   1   1</a:t>
                      </a:r>
                    </a:p>
                  </a:txBody>
                  <a:tcPr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1       </a:t>
                      </a: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       </a:t>
                      </a: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5130">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1   0   0</a:t>
                      </a:r>
                    </a:p>
                  </a:txBody>
                  <a:tcPr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0       0       0</a:t>
                      </a:r>
                    </a:p>
                  </a:txBody>
                  <a:tcPr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0"/>
                        </a:spcBef>
                        <a:spcAft>
                          <a:spcPct val="0"/>
                        </a:spcAft>
                        <a:buClrTx/>
                        <a:buSzTx/>
                        <a:buFontTx/>
                        <a:buNone/>
                      </a:pPr>
                      <a:r>
                        <a:rPr kumimoji="0" lang="en-US" altLang="zh-CN"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rPr>
                        <a:t>1</a:t>
                      </a:r>
                      <a:endParaRPr kumimoji="0" lang="zh-CN" altLang="en-US" sz="2000" b="1" i="0" u="none" strike="noStrike" kern="1200" cap="none" normalizeH="0" baseline="0" dirty="0" smtClean="0">
                        <a:ln>
                          <a:noFill/>
                        </a:ln>
                        <a:solidFill>
                          <a:schemeClr val="tx1"/>
                        </a:solidFill>
                        <a:effectLst/>
                        <a:latin typeface="Arial" panose="020B0604020202020204" pitchFamily="34" charset="0"/>
                        <a:ea typeface="Gulim" panose="020B0600000101010101" pitchFamily="34" charset="-127"/>
                        <a:cs typeface="Arial" panose="020B0604020202020204" pitchFamily="34" charset="0"/>
                      </a:endParaRPr>
                    </a:p>
                  </a:txBody>
                  <a:tcPr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2" name="Text Box 31"/>
          <p:cNvSpPr txBox="1">
            <a:spLocks noChangeArrowheads="1"/>
          </p:cNvSpPr>
          <p:nvPr/>
        </p:nvSpPr>
        <p:spPr bwMode="auto">
          <a:xfrm>
            <a:off x="6696075" y="3041650"/>
            <a:ext cx="2079625" cy="368300"/>
          </a:xfrm>
          <a:prstGeom prst="rect">
            <a:avLst/>
          </a:prstGeom>
          <a:noFill/>
          <a:ln w="38100">
            <a:noFill/>
            <a:miter lim="800000"/>
          </a:ln>
        </p:spPr>
        <p:txBody>
          <a:bodyPr>
            <a:spAutoFit/>
          </a:bodyPr>
          <a:lstStyle/>
          <a:p>
            <a:pPr>
              <a:lnSpc>
                <a:spcPct val="100000"/>
              </a:lnSpc>
            </a:pPr>
            <a:r>
              <a:rPr lang="zh-CN" altLang="en-US" dirty="0">
                <a:solidFill>
                  <a:srgbClr val="C00000"/>
                </a:solidFill>
                <a:ea typeface="楷体_GB2312" pitchFamily="49" charset="-122"/>
              </a:rPr>
              <a:t>状态（转换）表</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1000" fill="hold"/>
                                        <p:tgtEl>
                                          <p:spTgt spid="30"/>
                                        </p:tgtEl>
                                        <p:attrNameLst>
                                          <p:attrName>ppt_w</p:attrName>
                                        </p:attrNameLst>
                                      </p:cBhvr>
                                      <p:tavLst>
                                        <p:tav tm="0">
                                          <p:val>
                                            <p:strVal val="#ppt_w*0.70"/>
                                          </p:val>
                                        </p:tav>
                                        <p:tav tm="100000">
                                          <p:val>
                                            <p:strVal val="#ppt_w"/>
                                          </p:val>
                                        </p:tav>
                                      </p:tavLst>
                                    </p:anim>
                                    <p:anim calcmode="lin" valueType="num">
                                      <p:cBhvr>
                                        <p:cTn id="8" dur="1000" fill="hold"/>
                                        <p:tgtEl>
                                          <p:spTgt spid="30"/>
                                        </p:tgtEl>
                                        <p:attrNameLst>
                                          <p:attrName>ppt_h</p:attrName>
                                        </p:attrNameLst>
                                      </p:cBhvr>
                                      <p:tavLst>
                                        <p:tav tm="0">
                                          <p:val>
                                            <p:strVal val="#ppt_h"/>
                                          </p:val>
                                        </p:tav>
                                        <p:tav tm="100000">
                                          <p:val>
                                            <p:strVal val="#ppt_h"/>
                                          </p:val>
                                        </p:tav>
                                      </p:tavLst>
                                    </p:anim>
                                    <p:animEffect transition="in" filter="fade">
                                      <p:cBhvr>
                                        <p:cTn id="9" dur="1000"/>
                                        <p:tgtEl>
                                          <p:spTgt spid="30"/>
                                        </p:tgtEl>
                                      </p:cBhvr>
                                    </p:animEffect>
                                  </p:childTnLst>
                                </p:cTn>
                              </p:par>
                            </p:childTnLst>
                          </p:cTn>
                        </p:par>
                        <p:par>
                          <p:cTn id="10" fill="hold">
                            <p:stCondLst>
                              <p:cond delay="1000"/>
                            </p:stCondLst>
                            <p:childTnLst>
                              <p:par>
                                <p:cTn id="11" presetID="2" presetClass="entr" presetSubtype="8"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p:cTn id="19" dur="1000" fill="hold"/>
                                        <p:tgtEl>
                                          <p:spTgt spid="32"/>
                                        </p:tgtEl>
                                        <p:attrNameLst>
                                          <p:attrName>ppt_w</p:attrName>
                                        </p:attrNameLst>
                                      </p:cBhvr>
                                      <p:tavLst>
                                        <p:tav tm="0">
                                          <p:val>
                                            <p:strVal val="#ppt_w*0.70"/>
                                          </p:val>
                                        </p:tav>
                                        <p:tav tm="100000">
                                          <p:val>
                                            <p:strVal val="#ppt_w"/>
                                          </p:val>
                                        </p:tav>
                                      </p:tavLst>
                                    </p:anim>
                                    <p:anim calcmode="lin" valueType="num">
                                      <p:cBhvr>
                                        <p:cTn id="20" dur="1000" fill="hold"/>
                                        <p:tgtEl>
                                          <p:spTgt spid="32"/>
                                        </p:tgtEl>
                                        <p:attrNameLst>
                                          <p:attrName>ppt_h</p:attrName>
                                        </p:attrNameLst>
                                      </p:cBhvr>
                                      <p:tavLst>
                                        <p:tav tm="0">
                                          <p:val>
                                            <p:strVal val="#ppt_h"/>
                                          </p:val>
                                        </p:tav>
                                        <p:tav tm="100000">
                                          <p:val>
                                            <p:strVal val="#ppt_h"/>
                                          </p:val>
                                        </p:tav>
                                      </p:tavLst>
                                    </p:anim>
                                    <p:animEffect transition="in" filter="fade">
                                      <p:cBhvr>
                                        <p:cTn id="21" dur="1000"/>
                                        <p:tgtEl>
                                          <p:spTgt spid="32"/>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dissolve">
                                      <p:cBhvr>
                                        <p:cTn id="2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2"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7" name="Rectangle 2"/>
          <p:cNvSpPr>
            <a:spLocks noGrp="1" noChangeArrowheads="1"/>
          </p:cNvSpPr>
          <p:nvPr>
            <p:ph type="title" idx="4294967295"/>
          </p:nvPr>
        </p:nvSpPr>
        <p:spPr>
          <a:xfrm>
            <a:off x="2360613" y="298450"/>
            <a:ext cx="5719762" cy="609600"/>
          </a:xfrm>
        </p:spPr>
        <p:txBody>
          <a:bodyPr>
            <a:normAutofit fontScale="90000"/>
          </a:bodyPr>
          <a:lstStyle/>
          <a:p>
            <a:pPr eaLnBrk="1" hangingPunct="1">
              <a:defRPr/>
            </a:pPr>
            <a:r>
              <a:rPr lang="zh-CN" altLang="en-US" kern="1200" dirty="0" smtClean="0">
                <a:solidFill>
                  <a:schemeClr val="tx1"/>
                </a:solidFill>
                <a:latin typeface="Arial" panose="020B0604020202020204" pitchFamily="34" charset="0"/>
                <a:ea typeface="黑体" panose="02010609060101010101" pitchFamily="49" charset="-122"/>
                <a:cs typeface="+mn-cs"/>
              </a:rPr>
              <a:t>有限状态机的设计方法</a:t>
            </a:r>
          </a:p>
        </p:txBody>
      </p:sp>
      <p:sp>
        <p:nvSpPr>
          <p:cNvPr id="2270211" name="AutoShape 3"/>
          <p:cNvSpPr>
            <a:spLocks noGrp="1" noChangeArrowheads="1"/>
          </p:cNvSpPr>
          <p:nvPr>
            <p:ph type="body" idx="4294967295"/>
          </p:nvPr>
        </p:nvSpPr>
        <p:spPr>
          <a:xfrm>
            <a:off x="1524000" y="609600"/>
            <a:ext cx="8877300" cy="6248400"/>
          </a:xfrm>
          <a:prstGeom prst="horizontalScroll">
            <a:avLst>
              <a:gd name="adj" fmla="val 12500"/>
            </a:avLst>
          </a:prstGeom>
          <a:solidFill>
            <a:srgbClr val="FCFEE6"/>
          </a:solidFill>
          <a:ln>
            <a:solidFill>
              <a:schemeClr val="tx1"/>
            </a:solidFill>
            <a:round/>
          </a:ln>
        </p:spPr>
        <p:txBody>
          <a:bodyPr>
            <a:normAutofit lnSpcReduction="10000"/>
          </a:bodyPr>
          <a:lstStyle/>
          <a:p>
            <a:pPr eaLnBrk="1" hangingPunct="1">
              <a:lnSpc>
                <a:spcPct val="110000"/>
              </a:lnSpc>
              <a:spcBef>
                <a:spcPct val="25000"/>
              </a:spcBef>
              <a:buClr>
                <a:srgbClr val="FF0066"/>
              </a:buClr>
            </a:pPr>
            <a:r>
              <a:rPr lang="zh-CN" altLang="en-US" sz="2400" dirty="0" smtClean="0"/>
              <a:t>实用的状态机一般都设计为</a:t>
            </a:r>
            <a:r>
              <a:rPr lang="zh-CN" altLang="en-US" sz="2400" dirty="0" smtClean="0">
                <a:solidFill>
                  <a:srgbClr val="FF33CC"/>
                </a:solidFill>
              </a:rPr>
              <a:t>同步</a:t>
            </a:r>
            <a:r>
              <a:rPr lang="zh-CN" altLang="en-US" sz="2400" dirty="0" smtClean="0"/>
              <a:t>时序逻辑电路，它在同一个时钟信号的触发下，完成各状态之间的转移。</a:t>
            </a:r>
            <a:r>
              <a:rPr lang="zh-CN" altLang="en-US" sz="2400" dirty="0" smtClean="0">
                <a:solidFill>
                  <a:srgbClr val="FF0000"/>
                </a:solidFill>
              </a:rPr>
              <a:t> </a:t>
            </a:r>
            <a:endParaRPr lang="en-US" altLang="zh-CN" sz="2400" dirty="0" smtClean="0">
              <a:solidFill>
                <a:srgbClr val="FF0000"/>
              </a:solidFill>
            </a:endParaRPr>
          </a:p>
          <a:p>
            <a:pPr eaLnBrk="1" hangingPunct="1">
              <a:lnSpc>
                <a:spcPct val="110000"/>
              </a:lnSpc>
              <a:spcBef>
                <a:spcPct val="25000"/>
              </a:spcBef>
              <a:buClr>
                <a:srgbClr val="FF0066"/>
              </a:buClr>
            </a:pPr>
            <a:r>
              <a:rPr lang="zh-CN" altLang="en-US" sz="2400" dirty="0" smtClean="0"/>
              <a:t>状态机设计步骤：</a:t>
            </a:r>
            <a:br>
              <a:rPr lang="zh-CN" altLang="en-US" sz="2400" dirty="0" smtClean="0"/>
            </a:br>
            <a:r>
              <a:rPr lang="zh-CN" altLang="en-US" sz="2400" dirty="0" smtClean="0"/>
              <a:t> </a:t>
            </a:r>
            <a:r>
              <a:rPr lang="en-US" altLang="zh-CN" sz="2400" dirty="0" smtClean="0"/>
              <a:t>1. </a:t>
            </a:r>
            <a:r>
              <a:rPr lang="zh-CN" altLang="en-US" sz="2400" dirty="0" smtClean="0"/>
              <a:t>分析设计要求，列出全部可能状态；</a:t>
            </a:r>
            <a:br>
              <a:rPr lang="zh-CN" altLang="en-US" sz="2400" dirty="0" smtClean="0"/>
            </a:br>
            <a:r>
              <a:rPr lang="zh-CN" altLang="en-US" sz="2400" dirty="0" smtClean="0"/>
              <a:t> </a:t>
            </a:r>
            <a:r>
              <a:rPr lang="en-US" altLang="zh-CN" sz="2400" dirty="0" smtClean="0"/>
              <a:t>2. </a:t>
            </a:r>
            <a:r>
              <a:rPr lang="zh-CN" altLang="en-US" sz="2400" dirty="0" smtClean="0"/>
              <a:t>画出状态转移图；</a:t>
            </a:r>
            <a:br>
              <a:rPr lang="zh-CN" altLang="en-US" sz="2400" dirty="0" smtClean="0"/>
            </a:br>
            <a:r>
              <a:rPr lang="zh-CN" altLang="en-US" sz="2400" dirty="0" smtClean="0"/>
              <a:t> </a:t>
            </a:r>
            <a:r>
              <a:rPr lang="en-US" altLang="zh-CN" sz="2400" dirty="0" smtClean="0"/>
              <a:t>3. </a:t>
            </a:r>
            <a:r>
              <a:rPr lang="zh-CN" altLang="en-US" sz="2400" dirty="0" smtClean="0"/>
              <a:t>用</a:t>
            </a:r>
            <a:r>
              <a:rPr lang="en-US" altLang="zh-CN" sz="2400" dirty="0" err="1" smtClean="0"/>
              <a:t>Verilog</a:t>
            </a:r>
            <a:r>
              <a:rPr lang="zh-CN" altLang="en-US" sz="2400" dirty="0" smtClean="0"/>
              <a:t> </a:t>
            </a:r>
            <a:r>
              <a:rPr lang="en-US" altLang="zh-CN" sz="2400" dirty="0" smtClean="0"/>
              <a:t>HDL</a:t>
            </a:r>
            <a:r>
              <a:rPr lang="zh-CN" altLang="en-US" sz="2400" dirty="0" smtClean="0"/>
              <a:t>语言描述状态机，</a:t>
            </a:r>
            <a:r>
              <a:rPr lang="zh-CN" altLang="en-US" sz="2400" dirty="0" smtClean="0">
                <a:solidFill>
                  <a:srgbClr val="FF0000"/>
                </a:solidFill>
              </a:rPr>
              <a:t>主要采用</a:t>
            </a:r>
            <a:r>
              <a:rPr lang="en-US" altLang="zh-CN" sz="2400" dirty="0" smtClean="0">
                <a:solidFill>
                  <a:srgbClr val="FF0000"/>
                </a:solidFill>
              </a:rPr>
              <a:t>always</a:t>
            </a:r>
            <a:r>
              <a:rPr lang="zh-CN" altLang="en-US" sz="2400" dirty="0" smtClean="0">
                <a:solidFill>
                  <a:srgbClr val="FF0000"/>
                </a:solidFill>
              </a:rPr>
              <a:t>块语句，完成</a:t>
            </a:r>
            <a:r>
              <a:rPr lang="en-US" altLang="zh-CN" sz="2400" dirty="0" smtClean="0">
                <a:solidFill>
                  <a:srgbClr val="FF0000"/>
                </a:solidFill>
              </a:rPr>
              <a:t>3</a:t>
            </a:r>
            <a:r>
              <a:rPr lang="zh-CN" altLang="en-US" sz="2400" dirty="0" smtClean="0">
                <a:solidFill>
                  <a:srgbClr val="FF0000"/>
                </a:solidFill>
              </a:rPr>
              <a:t>项任务：</a:t>
            </a:r>
          </a:p>
          <a:p>
            <a:pPr eaLnBrk="1" hangingPunct="1">
              <a:lnSpc>
                <a:spcPct val="110000"/>
              </a:lnSpc>
              <a:spcBef>
                <a:spcPct val="0"/>
              </a:spcBef>
              <a:buClr>
                <a:schemeClr val="tx2"/>
              </a:buClr>
              <a:buFont typeface="Wingdings" panose="05000000000000000000" pitchFamily="2" charset="2"/>
              <a:buNone/>
            </a:pPr>
            <a:r>
              <a:rPr lang="zh-CN" altLang="en-US" dirty="0" smtClean="0"/>
              <a:t>  </a:t>
            </a:r>
            <a:r>
              <a:rPr lang="zh-CN" altLang="en-US" sz="2000" dirty="0" smtClean="0"/>
              <a:t>（</a:t>
            </a:r>
            <a:r>
              <a:rPr lang="en-US" altLang="zh-CN" sz="2000" dirty="0" smtClean="0"/>
              <a:t>1</a:t>
            </a:r>
            <a:r>
              <a:rPr lang="zh-CN" altLang="en-US" sz="2000" dirty="0" smtClean="0"/>
              <a:t>）</a:t>
            </a:r>
            <a:r>
              <a:rPr kumimoji="1" lang="zh-CN" altLang="en-US" sz="2000" dirty="0" smtClean="0">
                <a:solidFill>
                  <a:srgbClr val="000000"/>
                </a:solidFill>
              </a:rPr>
              <a:t>定义起始状态（敏感信号为</a:t>
            </a:r>
            <a:r>
              <a:rPr lang="zh-CN" altLang="en-US" sz="2000" dirty="0" smtClean="0">
                <a:solidFill>
                  <a:srgbClr val="CC3300"/>
                </a:solidFill>
                <a:latin typeface="Tahoma" panose="020B0604030504040204" pitchFamily="34" charset="0"/>
              </a:rPr>
              <a:t>时钟</a:t>
            </a:r>
            <a:r>
              <a:rPr kumimoji="1" lang="zh-CN" altLang="en-US" sz="2000" dirty="0" smtClean="0">
                <a:solidFill>
                  <a:srgbClr val="000000"/>
                </a:solidFill>
              </a:rPr>
              <a:t>和</a:t>
            </a:r>
            <a:r>
              <a:rPr lang="zh-CN" altLang="en-US" sz="2000" dirty="0" smtClean="0">
                <a:solidFill>
                  <a:srgbClr val="CC3300"/>
                </a:solidFill>
                <a:latin typeface="Tahoma" panose="020B0604030504040204" pitchFamily="34" charset="0"/>
              </a:rPr>
              <a:t>复位</a:t>
            </a:r>
            <a:r>
              <a:rPr kumimoji="1" lang="zh-CN" altLang="en-US" sz="2000" dirty="0" smtClean="0">
                <a:solidFill>
                  <a:srgbClr val="000000"/>
                </a:solidFill>
              </a:rPr>
              <a:t>信号）；</a:t>
            </a:r>
            <a:endParaRPr lang="zh-CN" altLang="en-US" sz="2000" dirty="0" smtClean="0"/>
          </a:p>
          <a:p>
            <a:pPr eaLnBrk="1" hangingPunct="1">
              <a:lnSpc>
                <a:spcPct val="110000"/>
              </a:lnSpc>
              <a:spcBef>
                <a:spcPct val="0"/>
              </a:spcBef>
              <a:buClr>
                <a:schemeClr val="tx2"/>
              </a:buClr>
              <a:buFont typeface="Wingdings" panose="05000000000000000000" pitchFamily="2" charset="2"/>
              <a:buNone/>
            </a:pPr>
            <a:r>
              <a:rPr lang="zh-CN" altLang="en-US" sz="2000" dirty="0" smtClean="0"/>
              <a:t>   （</a:t>
            </a:r>
            <a:r>
              <a:rPr lang="en-US" altLang="zh-CN" sz="2000" dirty="0" smtClean="0"/>
              <a:t>2</a:t>
            </a:r>
            <a:r>
              <a:rPr lang="zh-CN" altLang="en-US" sz="2000" dirty="0" smtClean="0"/>
              <a:t>）用</a:t>
            </a:r>
            <a:r>
              <a:rPr lang="en-US" altLang="zh-CN" sz="2000" dirty="0" smtClean="0"/>
              <a:t>case</a:t>
            </a:r>
            <a:r>
              <a:rPr lang="zh-CN" altLang="en-US" sz="2000" dirty="0" smtClean="0"/>
              <a:t>或</a:t>
            </a:r>
            <a:r>
              <a:rPr lang="en-US" altLang="zh-CN" sz="2000" dirty="0" smtClean="0"/>
              <a:t>if-else</a:t>
            </a:r>
            <a:r>
              <a:rPr lang="zh-CN" altLang="en-US" sz="2000" dirty="0" smtClean="0"/>
              <a:t>语句描述出状态的转移（根据现态和输入产生次态）；</a:t>
            </a:r>
          </a:p>
          <a:p>
            <a:pPr eaLnBrk="1" hangingPunct="1">
              <a:lnSpc>
                <a:spcPct val="110000"/>
              </a:lnSpc>
              <a:spcBef>
                <a:spcPct val="0"/>
              </a:spcBef>
              <a:buClr>
                <a:schemeClr val="tx2"/>
              </a:buClr>
              <a:buFont typeface="Wingdings" panose="05000000000000000000" pitchFamily="2" charset="2"/>
              <a:buNone/>
            </a:pPr>
            <a:r>
              <a:rPr lang="zh-CN" altLang="en-US" sz="2000" dirty="0" smtClean="0"/>
              <a:t>   （</a:t>
            </a:r>
            <a:r>
              <a:rPr lang="en-US" altLang="zh-CN" sz="2000" dirty="0" smtClean="0"/>
              <a:t>3</a:t>
            </a:r>
            <a:r>
              <a:rPr lang="zh-CN" altLang="en-US" sz="2000" dirty="0" smtClean="0"/>
              <a:t>）用</a:t>
            </a:r>
            <a:r>
              <a:rPr lang="en-US" altLang="zh-CN" sz="2000" dirty="0" smtClean="0"/>
              <a:t>case</a:t>
            </a:r>
            <a:r>
              <a:rPr lang="zh-CN" altLang="en-US" sz="2000" dirty="0" smtClean="0"/>
              <a:t>或</a:t>
            </a:r>
            <a:r>
              <a:rPr lang="en-US" altLang="zh-CN" sz="2000" dirty="0" smtClean="0"/>
              <a:t>if-else</a:t>
            </a:r>
            <a:r>
              <a:rPr lang="zh-CN" altLang="en-US" sz="2000" dirty="0" smtClean="0"/>
              <a:t>语句描述状态机的输出信号（敏感信号为</a:t>
            </a:r>
            <a:r>
              <a:rPr lang="zh-CN" altLang="en-US" sz="2000" dirty="0" smtClean="0">
                <a:solidFill>
                  <a:srgbClr val="CC3300"/>
                </a:solidFill>
              </a:rPr>
              <a:t>现态</a:t>
            </a:r>
            <a:r>
              <a:rPr lang="zh-CN" altLang="en-US" sz="2000" dirty="0" smtClean="0"/>
              <a:t>）</a:t>
            </a:r>
            <a:r>
              <a:rPr lang="zh-CN" altLang="en-US" sz="2000" dirty="0" smtClean="0">
                <a:solidFill>
                  <a:srgbClr val="CC3300"/>
                </a:solidFill>
              </a:rPr>
              <a:t> </a:t>
            </a:r>
            <a:r>
              <a:rPr lang="zh-CN" altLang="en-US" sz="2000" dirty="0" smtClean="0"/>
              <a:t>。 </a:t>
            </a:r>
          </a:p>
        </p:txBody>
      </p:sp>
      <p:sp>
        <p:nvSpPr>
          <p:cNvPr id="63492" name="Rectangle 25"/>
          <p:cNvSpPr txBox="1">
            <a:spLocks noGrp="1" noChangeArrowheads="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15305237-76F4-4718-B8BB-1016FA6AC6EB}" type="slidenum">
              <a:rPr lang="ko-KR" altLang="en-US" sz="1600">
                <a:solidFill>
                  <a:schemeClr val="accent2"/>
                </a:solidFill>
                <a:latin typeface="Verdana" panose="020B0604030504040204" pitchFamily="34" charset="0"/>
                <a:ea typeface="Gulim" panose="020B0600000101010101" pitchFamily="34" charset="-127"/>
              </a:rPr>
              <a:t>49</a:t>
            </a:fld>
            <a:endParaRPr lang="en-US" altLang="ko-KR" sz="1600">
              <a:solidFill>
                <a:schemeClr val="accent2"/>
              </a:solidFill>
              <a:latin typeface="Verdana" panose="020B0604030504040204" pitchFamily="34" charset="0"/>
              <a:ea typeface="Gulim" panose="020B0600000101010101" pitchFamily="34" charset="-127"/>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70211"/>
                                        </p:tgtEl>
                                        <p:attrNameLst>
                                          <p:attrName>style.visibility</p:attrName>
                                        </p:attrNameLst>
                                      </p:cBhvr>
                                      <p:to>
                                        <p:strVal val="visible"/>
                                      </p:to>
                                    </p:set>
                                    <p:anim calcmode="lin" valueType="num">
                                      <p:cBhvr>
                                        <p:cTn id="7" dur="500" fill="hold"/>
                                        <p:tgtEl>
                                          <p:spTgt spid="2270211"/>
                                        </p:tgtEl>
                                        <p:attrNameLst>
                                          <p:attrName>ppt_w</p:attrName>
                                        </p:attrNameLst>
                                      </p:cBhvr>
                                      <p:tavLst>
                                        <p:tav tm="0">
                                          <p:val>
                                            <p:fltVal val="0"/>
                                          </p:val>
                                        </p:tav>
                                        <p:tav tm="100000">
                                          <p:val>
                                            <p:strVal val="#ppt_w"/>
                                          </p:val>
                                        </p:tav>
                                      </p:tavLst>
                                    </p:anim>
                                    <p:anim calcmode="lin" valueType="num">
                                      <p:cBhvr>
                                        <p:cTn id="8" dur="500" fill="hold"/>
                                        <p:tgtEl>
                                          <p:spTgt spid="227021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0211" grpId="0" bldLvl="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idx="4294967295"/>
          </p:nvPr>
        </p:nvSpPr>
        <p:spPr>
          <a:xfrm>
            <a:off x="4992688" y="334963"/>
            <a:ext cx="5675312" cy="609600"/>
          </a:xfrm>
        </p:spPr>
        <p:txBody>
          <a:bodyPr>
            <a:normAutofit fontScale="90000"/>
          </a:bodyPr>
          <a:lstStyle/>
          <a:p>
            <a:pPr eaLnBrk="1" hangingPunct="1">
              <a:defRPr/>
            </a:pPr>
            <a:r>
              <a:rPr lang="zh-CN" altLang="en-US" kern="1200" dirty="0" smtClean="0">
                <a:solidFill>
                  <a:schemeClr val="tx1"/>
                </a:solidFill>
                <a:latin typeface="Arial" panose="020B0604020202020204" pitchFamily="34" charset="0"/>
                <a:ea typeface="黑体" panose="02010609060101010101" pitchFamily="49" charset="-122"/>
                <a:cs typeface="+mn-cs"/>
              </a:rPr>
              <a:t>状态机的设计要点</a:t>
            </a:r>
          </a:p>
        </p:txBody>
      </p:sp>
      <p:sp>
        <p:nvSpPr>
          <p:cNvPr id="48132" name="Rectangle 3"/>
          <p:cNvSpPr>
            <a:spLocks noGrp="1" noChangeArrowheads="1"/>
          </p:cNvSpPr>
          <p:nvPr>
            <p:ph type="body" idx="4294967295"/>
          </p:nvPr>
        </p:nvSpPr>
        <p:spPr>
          <a:xfrm>
            <a:off x="1524000" y="1157288"/>
            <a:ext cx="8478838" cy="1770062"/>
          </a:xfrm>
        </p:spPr>
        <p:txBody>
          <a:bodyPr/>
          <a:lstStyle/>
          <a:p>
            <a:pPr marL="363855" indent="-363855" eaLnBrk="1" hangingPunct="1">
              <a:lnSpc>
                <a:spcPts val="3200"/>
              </a:lnSpc>
              <a:spcBef>
                <a:spcPct val="0"/>
              </a:spcBef>
              <a:buSzPct val="100000"/>
              <a:defRPr/>
            </a:pPr>
            <a:r>
              <a:rPr kumimoji="1" lang="zh-CN" altLang="en-US" sz="2400" kern="1200" dirty="0" smtClean="0">
                <a:solidFill>
                  <a:srgbClr val="000000"/>
                </a:solidFill>
                <a:latin typeface="宋体" panose="02010600030101010101" pitchFamily="2" charset="-122"/>
              </a:rPr>
              <a:t>起始状态的选择 </a:t>
            </a:r>
          </a:p>
          <a:p>
            <a:pPr eaLnBrk="1" hangingPunct="1">
              <a:lnSpc>
                <a:spcPct val="110000"/>
              </a:lnSpc>
              <a:spcBef>
                <a:spcPct val="0"/>
              </a:spcBef>
              <a:buFont typeface="Wingdings" panose="05000000000000000000" pitchFamily="2" charset="2"/>
              <a:buNone/>
              <a:defRPr/>
            </a:pPr>
            <a:r>
              <a:rPr lang="zh-CN" altLang="en-US" sz="2200" dirty="0" smtClean="0">
                <a:cs typeface="Arial" panose="020B0604020202020204" pitchFamily="34" charset="0"/>
              </a:rPr>
              <a:t>	 </a:t>
            </a:r>
            <a:r>
              <a:rPr lang="zh-CN" altLang="en-US" sz="2200" dirty="0" smtClean="0">
                <a:solidFill>
                  <a:srgbClr val="FF0000"/>
                </a:solidFill>
                <a:cs typeface="Arial" panose="020B0604020202020204" pitchFamily="34" charset="0"/>
              </a:rPr>
              <a:t>起始状态</a:t>
            </a:r>
            <a:r>
              <a:rPr lang="zh-CN" altLang="en-US" sz="2200" dirty="0" smtClean="0">
                <a:cs typeface="Arial" panose="020B0604020202020204" pitchFamily="34" charset="0"/>
              </a:rPr>
              <a:t>指电路复位后所处的状态，选择一个合理的起始状态将使整个系统简捷高效。有限状态机必须有</a:t>
            </a:r>
            <a:r>
              <a:rPr lang="zh-CN" altLang="en-US" sz="2200" dirty="0" smtClean="0">
                <a:solidFill>
                  <a:srgbClr val="FF33CC"/>
                </a:solidFill>
                <a:cs typeface="Arial" panose="020B0604020202020204" pitchFamily="34" charset="0"/>
              </a:rPr>
              <a:t>时钟</a:t>
            </a:r>
            <a:r>
              <a:rPr lang="zh-CN" altLang="en-US" sz="2200" dirty="0" smtClean="0">
                <a:cs typeface="Arial" panose="020B0604020202020204" pitchFamily="34" charset="0"/>
              </a:rPr>
              <a:t>信号和</a:t>
            </a:r>
            <a:r>
              <a:rPr lang="zh-CN" altLang="en-US" sz="2200" dirty="0" smtClean="0">
                <a:solidFill>
                  <a:srgbClr val="FF33CC"/>
                </a:solidFill>
                <a:cs typeface="Arial" panose="020B0604020202020204" pitchFamily="34" charset="0"/>
              </a:rPr>
              <a:t>复位</a:t>
            </a:r>
            <a:r>
              <a:rPr lang="zh-CN" altLang="en-US" sz="2200" dirty="0" smtClean="0">
                <a:cs typeface="Arial" panose="020B0604020202020204" pitchFamily="34" charset="0"/>
              </a:rPr>
              <a:t>信号（建议采用</a:t>
            </a:r>
            <a:r>
              <a:rPr lang="zh-CN" altLang="en-US" sz="2200" dirty="0" smtClean="0">
                <a:solidFill>
                  <a:srgbClr val="FF33CC"/>
                </a:solidFill>
                <a:cs typeface="Arial" panose="020B0604020202020204" pitchFamily="34" charset="0"/>
              </a:rPr>
              <a:t>异步</a:t>
            </a:r>
            <a:r>
              <a:rPr lang="zh-CN" altLang="en-US" sz="2200" dirty="0" smtClean="0">
                <a:cs typeface="Arial" panose="020B0604020202020204" pitchFamily="34" charset="0"/>
              </a:rPr>
              <a:t>复位）！</a:t>
            </a:r>
          </a:p>
        </p:txBody>
      </p:sp>
      <p:sp>
        <p:nvSpPr>
          <p:cNvPr id="48135" name="Rectangle 3"/>
          <p:cNvSpPr>
            <a:spLocks noChangeArrowheads="1"/>
          </p:cNvSpPr>
          <p:nvPr/>
        </p:nvSpPr>
        <p:spPr bwMode="auto">
          <a:xfrm>
            <a:off x="1789113" y="2816225"/>
            <a:ext cx="8726487" cy="3565525"/>
          </a:xfrm>
          <a:prstGeom prst="rect">
            <a:avLst/>
          </a:prstGeom>
          <a:noFill/>
          <a:ln w="9525">
            <a:noFill/>
            <a:miter lim="800000"/>
          </a:ln>
        </p:spPr>
        <p:txBody>
          <a:bodyPr/>
          <a:lstStyle/>
          <a:p>
            <a:pPr marL="363855" indent="-363855" algn="l">
              <a:lnSpc>
                <a:spcPts val="3200"/>
              </a:lnSpc>
              <a:spcBef>
                <a:spcPct val="0"/>
              </a:spcBef>
              <a:buClr>
                <a:schemeClr val="bg2"/>
              </a:buClr>
              <a:buSzPct val="100000"/>
              <a:buFont typeface="Wingdings" panose="05000000000000000000" pitchFamily="2" charset="2"/>
              <a:buChar char="v"/>
            </a:pPr>
            <a:r>
              <a:rPr kumimoji="1" lang="zh-CN" altLang="en-US" sz="2400" dirty="0">
                <a:solidFill>
                  <a:srgbClr val="000000"/>
                </a:solidFill>
                <a:latin typeface="宋体" panose="02010600030101010101" pitchFamily="2" charset="-122"/>
              </a:rPr>
              <a:t>状态编码方式</a:t>
            </a:r>
          </a:p>
          <a:p>
            <a:pPr marL="742950" lvl="1" indent="-285750" algn="l">
              <a:lnSpc>
                <a:spcPct val="110000"/>
              </a:lnSpc>
              <a:spcBef>
                <a:spcPts val="600"/>
              </a:spcBef>
              <a:buClr>
                <a:srgbClr val="006666"/>
              </a:buClr>
              <a:buSzPct val="85000"/>
              <a:buFont typeface="Wingdings" panose="05000000000000000000" pitchFamily="2" charset="2"/>
              <a:buChar char="u"/>
            </a:pPr>
            <a:r>
              <a:rPr kumimoji="1" lang="zh-CN" altLang="en-US" dirty="0" smtClean="0">
                <a:solidFill>
                  <a:srgbClr val="CC3300"/>
                </a:solidFill>
                <a:latin typeface="Arial" panose="020B0604020202020204" pitchFamily="34" charset="0"/>
                <a:cs typeface="Arial" panose="020B0604020202020204" pitchFamily="34" charset="0"/>
              </a:rPr>
              <a:t>二进制编码（顺序编码） </a:t>
            </a:r>
            <a:r>
              <a:rPr kumimoji="1" lang="zh-CN" altLang="en-US" dirty="0" smtClean="0">
                <a:latin typeface="Arial" panose="020B0604020202020204" pitchFamily="34" charset="0"/>
                <a:cs typeface="Arial" panose="020B0604020202020204" pitchFamily="34" charset="0"/>
              </a:rPr>
              <a:t>：采用顺序的二进制数编码每个状态，</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个状态用</a:t>
            </a:r>
            <a:r>
              <a:rPr kumimoji="1" lang="en-US" altLang="zh-CN" dirty="0" smtClean="0">
                <a:latin typeface="Arial" panose="020B0604020202020204" pitchFamily="34" charset="0"/>
                <a:cs typeface="Arial" panose="020B0604020202020204" pitchFamily="34" charset="0"/>
              </a:rPr>
              <a:t>log</a:t>
            </a:r>
            <a:r>
              <a:rPr kumimoji="1" lang="en-US" altLang="zh-CN" baseline="-25000" dirty="0" smtClean="0">
                <a:latin typeface="Arial" panose="020B0604020202020204" pitchFamily="34" charset="0"/>
                <a:cs typeface="Arial" panose="020B0604020202020204" pitchFamily="34" charset="0"/>
              </a:rPr>
              <a:t>2</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个触发器来表示</a:t>
            </a:r>
            <a:r>
              <a:rPr kumimoji="1" lang="en-US" altLang="zh-CN" dirty="0" smtClean="0">
                <a:latin typeface="Arial" panose="020B0604020202020204" pitchFamily="34" charset="0"/>
                <a:cs typeface="Arial" panose="020B0604020202020204" pitchFamily="34" charset="0"/>
              </a:rPr>
              <a:t>——</a:t>
            </a:r>
            <a:r>
              <a:rPr kumimoji="1" lang="zh-CN" altLang="en-US" dirty="0">
                <a:latin typeface="Arial" panose="020B0604020202020204" pitchFamily="34" charset="0"/>
                <a:cs typeface="Arial" panose="020B0604020202020204" pitchFamily="34" charset="0"/>
              </a:rPr>
              <a:t>节省逻辑资源，但可能产生毛刺</a:t>
            </a:r>
          </a:p>
          <a:p>
            <a:pPr marL="742950" lvl="1" indent="-285750" algn="l">
              <a:lnSpc>
                <a:spcPct val="110000"/>
              </a:lnSpc>
              <a:spcBef>
                <a:spcPts val="600"/>
              </a:spcBef>
              <a:buClr>
                <a:srgbClr val="006666"/>
              </a:buClr>
              <a:buSzPct val="85000"/>
              <a:buFont typeface="Wingdings" panose="05000000000000000000" pitchFamily="2" charset="2"/>
              <a:buChar char="u"/>
            </a:pPr>
            <a:r>
              <a:rPr kumimoji="1" lang="zh-CN" altLang="en-US" dirty="0">
                <a:solidFill>
                  <a:srgbClr val="CC3300"/>
                </a:solidFill>
                <a:latin typeface="Arial" panose="020B0604020202020204" pitchFamily="34" charset="0"/>
                <a:cs typeface="Arial" panose="020B0604020202020204" pitchFamily="34" charset="0"/>
              </a:rPr>
              <a:t>格雷</a:t>
            </a:r>
            <a:r>
              <a:rPr kumimoji="1" lang="zh-CN" altLang="en-US" dirty="0" smtClean="0">
                <a:solidFill>
                  <a:srgbClr val="CC3300"/>
                </a:solidFill>
                <a:latin typeface="Arial" panose="020B0604020202020204" pitchFamily="34" charset="0"/>
                <a:cs typeface="Arial" panose="020B0604020202020204" pitchFamily="34" charset="0"/>
              </a:rPr>
              <a:t>编码</a:t>
            </a:r>
            <a:r>
              <a:rPr kumimoji="1" lang="zh-CN" altLang="en-US" dirty="0" smtClean="0">
                <a:latin typeface="Arial" panose="020B0604020202020204" pitchFamily="34" charset="0"/>
                <a:cs typeface="Arial" panose="020B0604020202020204" pitchFamily="34" charset="0"/>
              </a:rPr>
              <a:t>（</a:t>
            </a:r>
            <a:r>
              <a:rPr kumimoji="1" lang="en-US" altLang="zh-CN" dirty="0" smtClean="0">
                <a:latin typeface="Arial" panose="020B0604020202020204" pitchFamily="34" charset="0"/>
                <a:cs typeface="Arial" panose="020B0604020202020204" pitchFamily="34" charset="0"/>
              </a:rPr>
              <a:t>Gray Code</a:t>
            </a:r>
            <a:r>
              <a:rPr kumimoji="1" lang="zh-CN" altLang="en-US" dirty="0" smtClean="0">
                <a:latin typeface="Arial" panose="020B0604020202020204" pitchFamily="34" charset="0"/>
                <a:cs typeface="Arial" panose="020B0604020202020204" pitchFamily="34" charset="0"/>
              </a:rPr>
              <a:t>）：</a:t>
            </a:r>
            <a:r>
              <a:rPr kumimoji="1" lang="en-US" altLang="zh-CN" dirty="0" smtClean="0">
                <a:latin typeface="Arial" panose="020B0604020202020204" pitchFamily="34" charset="0"/>
                <a:cs typeface="Arial" panose="020B0604020202020204" pitchFamily="34" charset="0"/>
              </a:rPr>
              <a:t> N</a:t>
            </a:r>
            <a:r>
              <a:rPr kumimoji="1" lang="zh-CN" altLang="en-US" dirty="0" smtClean="0">
                <a:latin typeface="Arial" panose="020B0604020202020204" pitchFamily="34" charset="0"/>
                <a:cs typeface="Arial" panose="020B0604020202020204" pitchFamily="34" charset="0"/>
              </a:rPr>
              <a:t>个状态用</a:t>
            </a:r>
            <a:r>
              <a:rPr kumimoji="1" lang="en-US" altLang="zh-CN" dirty="0" smtClean="0">
                <a:latin typeface="Arial" panose="020B0604020202020204" pitchFamily="34" charset="0"/>
                <a:cs typeface="Arial" panose="020B0604020202020204" pitchFamily="34" charset="0"/>
              </a:rPr>
              <a:t>log</a:t>
            </a:r>
            <a:r>
              <a:rPr kumimoji="1" lang="en-US" altLang="zh-CN" baseline="-25000" dirty="0" smtClean="0">
                <a:latin typeface="Arial" panose="020B0604020202020204" pitchFamily="34" charset="0"/>
                <a:cs typeface="Arial" panose="020B0604020202020204" pitchFamily="34" charset="0"/>
              </a:rPr>
              <a:t>2</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个触发器来表示，在状态的顺序转换中，相邻状态每次只有一个比特位产生变化</a:t>
            </a:r>
            <a:r>
              <a:rPr kumimoji="1" lang="en-US" altLang="zh-CN" dirty="0" smtClean="0">
                <a:latin typeface="Arial" panose="020B0604020202020204" pitchFamily="34" charset="0"/>
                <a:cs typeface="Arial" panose="020B0604020202020204" pitchFamily="34" charset="0"/>
              </a:rPr>
              <a:t>——</a:t>
            </a:r>
            <a:r>
              <a:rPr kumimoji="1" lang="zh-CN" altLang="en-US" dirty="0" smtClean="0">
                <a:latin typeface="Arial" panose="020B0604020202020204" pitchFamily="34" charset="0"/>
                <a:cs typeface="Arial" panose="020B0604020202020204" pitchFamily="34" charset="0"/>
              </a:rPr>
              <a:t>节省</a:t>
            </a:r>
            <a:r>
              <a:rPr kumimoji="1" lang="zh-CN" altLang="en-US" dirty="0">
                <a:latin typeface="Arial" panose="020B0604020202020204" pitchFamily="34" charset="0"/>
                <a:cs typeface="Arial" panose="020B0604020202020204" pitchFamily="34" charset="0"/>
              </a:rPr>
              <a:t>逻辑资源；又避免产生</a:t>
            </a:r>
            <a:r>
              <a:rPr kumimoji="1" lang="zh-CN" altLang="en-US" dirty="0" smtClean="0">
                <a:latin typeface="Arial" panose="020B0604020202020204" pitchFamily="34" charset="0"/>
                <a:cs typeface="Arial" panose="020B0604020202020204" pitchFamily="34" charset="0"/>
              </a:rPr>
              <a:t>毛刺</a:t>
            </a:r>
            <a:endParaRPr kumimoji="1" lang="zh-CN" altLang="en-US" dirty="0">
              <a:latin typeface="Arial" panose="020B0604020202020204" pitchFamily="34" charset="0"/>
              <a:cs typeface="Arial" panose="020B0604020202020204" pitchFamily="34" charset="0"/>
            </a:endParaRPr>
          </a:p>
          <a:p>
            <a:pPr marL="742950" lvl="1" indent="-285750" algn="l">
              <a:lnSpc>
                <a:spcPct val="110000"/>
              </a:lnSpc>
              <a:spcBef>
                <a:spcPts val="600"/>
              </a:spcBef>
              <a:buClr>
                <a:srgbClr val="006666"/>
              </a:buClr>
              <a:buSzPct val="85000"/>
              <a:buFont typeface="Wingdings" panose="05000000000000000000" pitchFamily="2" charset="2"/>
              <a:buChar char="u"/>
            </a:pPr>
            <a:r>
              <a:rPr kumimoji="1" lang="zh-CN" altLang="en-US" dirty="0">
                <a:solidFill>
                  <a:srgbClr val="FF0000"/>
                </a:solidFill>
                <a:latin typeface="Arial" panose="020B0604020202020204" pitchFamily="34" charset="0"/>
                <a:cs typeface="Arial" panose="020B0604020202020204" pitchFamily="34" charset="0"/>
              </a:rPr>
              <a:t>一位热</a:t>
            </a:r>
            <a:r>
              <a:rPr kumimoji="1" lang="zh-CN" altLang="en-US" dirty="0" smtClean="0">
                <a:solidFill>
                  <a:srgbClr val="FF0000"/>
                </a:solidFill>
                <a:latin typeface="Arial" panose="020B0604020202020204" pitchFamily="34" charset="0"/>
                <a:cs typeface="Arial" panose="020B0604020202020204" pitchFamily="34" charset="0"/>
              </a:rPr>
              <a:t>码编码</a:t>
            </a:r>
            <a:r>
              <a:rPr kumimoji="1" lang="zh-CN" altLang="en-US" dirty="0">
                <a:latin typeface="Arial" panose="020B0604020202020204" pitchFamily="34" charset="0"/>
                <a:cs typeface="Arial" panose="020B0604020202020204" pitchFamily="34" charset="0"/>
              </a:rPr>
              <a:t>（</a:t>
            </a:r>
            <a:r>
              <a:rPr kumimoji="1" lang="en-US" altLang="zh-CN" dirty="0">
                <a:latin typeface="Arial" panose="020B0604020202020204" pitchFamily="34" charset="0"/>
                <a:cs typeface="Arial" panose="020B0604020202020204" pitchFamily="34" charset="0"/>
              </a:rPr>
              <a:t>One-Hot </a:t>
            </a:r>
            <a:r>
              <a:rPr kumimoji="1" lang="en-US" altLang="zh-CN" dirty="0" smtClean="0">
                <a:latin typeface="Arial" panose="020B0604020202020204" pitchFamily="34" charset="0"/>
                <a:cs typeface="Arial" panose="020B0604020202020204" pitchFamily="34" charset="0"/>
              </a:rPr>
              <a:t>Encoding</a:t>
            </a:r>
            <a:r>
              <a:rPr kumimoji="1" lang="zh-CN" altLang="en-US" dirty="0">
                <a:latin typeface="Arial" panose="020B0604020202020204" pitchFamily="34" charset="0"/>
                <a:cs typeface="Arial" panose="020B0604020202020204" pitchFamily="34" charset="0"/>
              </a:rPr>
              <a:t>）</a:t>
            </a:r>
            <a:r>
              <a:rPr kumimoji="1" lang="zh-CN" altLang="en-US" dirty="0" smtClean="0">
                <a:latin typeface="Arial" panose="020B0604020202020204" pitchFamily="34" charset="0"/>
                <a:cs typeface="Arial" panose="020B0604020202020204" pitchFamily="34" charset="0"/>
              </a:rPr>
              <a:t>：采用</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位二进制数（</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个触发器）编码</a:t>
            </a:r>
            <a:r>
              <a:rPr kumimoji="1" lang="en-US" altLang="zh-CN" dirty="0" smtClean="0">
                <a:latin typeface="Arial" panose="020B0604020202020204" pitchFamily="34" charset="0"/>
                <a:cs typeface="Arial" panose="020B0604020202020204" pitchFamily="34" charset="0"/>
              </a:rPr>
              <a:t>N</a:t>
            </a:r>
            <a:r>
              <a:rPr kumimoji="1" lang="zh-CN" altLang="en-US" dirty="0" smtClean="0">
                <a:latin typeface="Arial" panose="020B0604020202020204" pitchFamily="34" charset="0"/>
                <a:cs typeface="Arial" panose="020B0604020202020204" pitchFamily="34" charset="0"/>
              </a:rPr>
              <a:t>个状态，每个状态下只有</a:t>
            </a:r>
            <a:r>
              <a:rPr kumimoji="1" lang="en-US" altLang="zh-CN" dirty="0" smtClean="0">
                <a:latin typeface="Arial" panose="020B0604020202020204" pitchFamily="34" charset="0"/>
                <a:cs typeface="Arial" panose="020B0604020202020204" pitchFamily="34" charset="0"/>
              </a:rPr>
              <a:t>1</a:t>
            </a:r>
            <a:r>
              <a:rPr kumimoji="1" lang="zh-CN" altLang="en-US" dirty="0" smtClean="0">
                <a:latin typeface="Arial" panose="020B0604020202020204" pitchFamily="34" charset="0"/>
                <a:cs typeface="Arial" panose="020B0604020202020204" pitchFamily="34" charset="0"/>
              </a:rPr>
              <a:t>位为“</a:t>
            </a:r>
            <a:r>
              <a:rPr kumimoji="1" lang="en-US" altLang="zh-CN" dirty="0" smtClean="0">
                <a:latin typeface="Arial" panose="020B0604020202020204" pitchFamily="34" charset="0"/>
                <a:cs typeface="Arial" panose="020B0604020202020204" pitchFamily="34" charset="0"/>
              </a:rPr>
              <a:t>1</a:t>
            </a:r>
            <a:r>
              <a:rPr kumimoji="1" lang="zh-CN" altLang="en-US" dirty="0" smtClean="0">
                <a:latin typeface="Arial" panose="020B0604020202020204" pitchFamily="34" charset="0"/>
                <a:cs typeface="Arial" panose="020B0604020202020204" pitchFamily="34" charset="0"/>
              </a:rPr>
              <a:t>”，其余位为“</a:t>
            </a:r>
            <a:r>
              <a:rPr kumimoji="1" lang="en-US" altLang="zh-CN" dirty="0" smtClean="0">
                <a:latin typeface="Arial" panose="020B0604020202020204" pitchFamily="34" charset="0"/>
                <a:cs typeface="Arial" panose="020B0604020202020204" pitchFamily="34" charset="0"/>
              </a:rPr>
              <a:t>0</a:t>
            </a:r>
            <a:r>
              <a:rPr kumimoji="1" lang="zh-CN" altLang="en-US" dirty="0" smtClean="0">
                <a:latin typeface="Arial" panose="020B0604020202020204" pitchFamily="34" charset="0"/>
                <a:cs typeface="Arial" panose="020B0604020202020204" pitchFamily="34" charset="0"/>
              </a:rPr>
              <a:t>”。相邻状态每次只有一个比特位产生变化</a:t>
            </a:r>
            <a:r>
              <a:rPr kumimoji="1" lang="en-US" altLang="zh-CN" dirty="0" smtClean="0">
                <a:latin typeface="Arial" panose="020B0604020202020204" pitchFamily="34" charset="0"/>
                <a:cs typeface="Arial" panose="020B0604020202020204" pitchFamily="34" charset="0"/>
              </a:rPr>
              <a:t>——</a:t>
            </a:r>
            <a:r>
              <a:rPr kumimoji="1" lang="zh-CN" altLang="en-US" dirty="0" smtClean="0">
                <a:latin typeface="Arial" panose="020B0604020202020204" pitchFamily="34" charset="0"/>
                <a:cs typeface="Arial" panose="020B0604020202020204" pitchFamily="34" charset="0"/>
              </a:rPr>
              <a:t>避免产生毛刺；但耗用逻辑资源多</a:t>
            </a:r>
            <a:endParaRPr kumimoji="1" lang="zh-CN" altLang="en-US" dirty="0">
              <a:latin typeface="Arial" panose="020B0604020202020204" pitchFamily="34" charset="0"/>
              <a:cs typeface="Arial" panose="020B0604020202020204" pitchFamily="34" charset="0"/>
            </a:endParaRPr>
          </a:p>
        </p:txBody>
      </p:sp>
      <p:sp>
        <p:nvSpPr>
          <p:cNvPr id="64517" name="Rectangle 25"/>
          <p:cNvSpPr txBox="1">
            <a:spLocks noGrp="1" noChangeArrowheads="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4AD766CD-8314-4178-8ABE-E0067803870C}" type="slidenum">
              <a:rPr lang="ko-KR" altLang="en-US" sz="1600">
                <a:solidFill>
                  <a:schemeClr val="accent2"/>
                </a:solidFill>
                <a:latin typeface="Verdana" panose="020B0604030504040204" pitchFamily="34" charset="0"/>
                <a:ea typeface="Gulim" panose="020B0600000101010101" pitchFamily="34" charset="-127"/>
              </a:rPr>
              <a:t>50</a:t>
            </a:fld>
            <a:endParaRPr lang="en-US" altLang="ko-KR" sz="1600">
              <a:solidFill>
                <a:schemeClr val="accent2"/>
              </a:solidFill>
              <a:latin typeface="Verdana" panose="020B0604030504040204" pitchFamily="34" charset="0"/>
              <a:ea typeface="Gulim" panose="020B0600000101010101" pitchFamily="34" charset="-127"/>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5"/>
                                        </p:tgtEl>
                                        <p:attrNameLst>
                                          <p:attrName>style.visibility</p:attrName>
                                        </p:attrNameLst>
                                      </p:cBhvr>
                                      <p:to>
                                        <p:strVal val="visible"/>
                                      </p:to>
                                    </p:set>
                                    <p:anim calcmode="lin" valueType="num">
                                      <p:cBhvr additive="base">
                                        <p:cTn id="7" dur="500" fill="hold"/>
                                        <p:tgtEl>
                                          <p:spTgt spid="48135"/>
                                        </p:tgtEl>
                                        <p:attrNameLst>
                                          <p:attrName>ppt_x</p:attrName>
                                        </p:attrNameLst>
                                      </p:cBhvr>
                                      <p:tavLst>
                                        <p:tav tm="0">
                                          <p:val>
                                            <p:strVal val="#ppt_x"/>
                                          </p:val>
                                        </p:tav>
                                        <p:tav tm="100000">
                                          <p:val>
                                            <p:strVal val="#ppt_x"/>
                                          </p:val>
                                        </p:tav>
                                      </p:tavLst>
                                    </p:anim>
                                    <p:anim calcmode="lin" valueType="num">
                                      <p:cBhvr additive="base">
                                        <p:cTn id="8" dur="500" fill="hold"/>
                                        <p:tgtEl>
                                          <p:spTgt spid="481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idx="4294967295"/>
          </p:nvPr>
        </p:nvSpPr>
        <p:spPr>
          <a:xfrm>
            <a:off x="1583690" y="511175"/>
            <a:ext cx="7573010" cy="609600"/>
          </a:xfrm>
        </p:spPr>
        <p:txBody>
          <a:bodyPr>
            <a:normAutofit fontScale="90000"/>
          </a:bodyPr>
          <a:lstStyle/>
          <a:p>
            <a:pPr eaLnBrk="1" hangingPunct="1">
              <a:defRPr/>
            </a:pPr>
            <a:r>
              <a:rPr lang="zh-CN" altLang="en-US" kern="1200" dirty="0" smtClean="0">
                <a:solidFill>
                  <a:schemeClr val="tx1"/>
                </a:solidFill>
                <a:latin typeface="Arial" panose="020B0604020202020204" pitchFamily="34" charset="0"/>
                <a:ea typeface="黑体" panose="02010609060101010101" pitchFamily="49" charset="-122"/>
                <a:cs typeface="+mn-cs"/>
              </a:rPr>
              <a:t>对</a:t>
            </a:r>
            <a:r>
              <a:rPr lang="en-US" altLang="zh-CN" kern="1200" dirty="0" smtClean="0">
                <a:solidFill>
                  <a:schemeClr val="tx1"/>
                </a:solidFill>
                <a:latin typeface="Arial" panose="020B0604020202020204" pitchFamily="34" charset="0"/>
                <a:ea typeface="黑体" panose="02010609060101010101" pitchFamily="49" charset="-122"/>
                <a:cs typeface="+mn-cs"/>
              </a:rPr>
              <a:t>8</a:t>
            </a:r>
            <a:r>
              <a:rPr lang="zh-CN" altLang="en-US" kern="1200" dirty="0" smtClean="0">
                <a:solidFill>
                  <a:schemeClr val="tx1"/>
                </a:solidFill>
                <a:latin typeface="Arial" panose="020B0604020202020204" pitchFamily="34" charset="0"/>
                <a:ea typeface="黑体" panose="02010609060101010101" pitchFamily="49" charset="-122"/>
                <a:cs typeface="+mn-cs"/>
              </a:rPr>
              <a:t>个状态三种编码方式的对比</a:t>
            </a:r>
          </a:p>
        </p:txBody>
      </p:sp>
      <p:graphicFrame>
        <p:nvGraphicFramePr>
          <p:cNvPr id="316473" name="Group 57"/>
          <p:cNvGraphicFramePr>
            <a:graphicFrameLocks noGrp="1"/>
          </p:cNvGraphicFramePr>
          <p:nvPr/>
        </p:nvGraphicFramePr>
        <p:xfrm>
          <a:off x="3055938" y="1036638"/>
          <a:ext cx="6286500" cy="3445510"/>
        </p:xfrm>
        <a:graphic>
          <a:graphicData uri="http://schemas.openxmlformats.org/drawingml/2006/table">
            <a:tbl>
              <a:tblPr/>
              <a:tblGrid>
                <a:gridCol w="1331595">
                  <a:extLst>
                    <a:ext uri="{9D8B030D-6E8A-4147-A177-3AD203B41FA5}">
                      <a16:colId xmlns:a16="http://schemas.microsoft.com/office/drawing/2014/main" val="20000"/>
                    </a:ext>
                  </a:extLst>
                </a:gridCol>
                <a:gridCol w="1541780">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gridCol w="1965325">
                  <a:extLst>
                    <a:ext uri="{9D8B030D-6E8A-4147-A177-3AD203B41FA5}">
                      <a16:colId xmlns:a16="http://schemas.microsoft.com/office/drawing/2014/main" val="20003"/>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状态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二进制编码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格雷编码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一位热码编码</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0"/>
                  </a:ext>
                </a:extLst>
              </a:tr>
              <a:tr h="3810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00000001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1"/>
                  </a:ext>
                </a:extLst>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00000010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2"/>
                  </a:ext>
                </a:extLst>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state2</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010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011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00000100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3"/>
                  </a:ext>
                </a:extLst>
              </a:tr>
              <a:tr h="39814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state3</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011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010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00001000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4"/>
                  </a:ext>
                </a:extLst>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state4</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110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00010000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5"/>
                  </a:ext>
                </a:extLst>
              </a:tr>
              <a:tr h="3968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state5</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101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111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00100000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6"/>
                  </a:ext>
                </a:extLst>
              </a:tr>
              <a:tr h="39497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state6</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110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101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01000000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7"/>
                  </a:ext>
                </a:extLst>
              </a:tr>
              <a:tr h="41148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 state7</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111</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rPr>
                        <a:t>10000000</a:t>
                      </a:r>
                      <a:endParaRPr kumimoji="0" lang="zh-CN" altLang="en-US" sz="1800" b="1" i="0" u="none" strike="noStrike" cap="none" normalizeH="0" baseline="0" smtClean="0">
                        <a:ln>
                          <a:noFill/>
                        </a:ln>
                        <a:solidFill>
                          <a:schemeClr val="tx1"/>
                        </a:solidFill>
                        <a:effectLst/>
                        <a:latin typeface="Arial" panose="020B0604020202020204" pitchFamily="34" charset="0"/>
                        <a:ea typeface="楷体_GB2312" pitchFamily="49" charset="-122"/>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5CC"/>
                    </a:solidFill>
                  </a:tcPr>
                </a:tc>
                <a:extLst>
                  <a:ext uri="{0D108BD9-81ED-4DB2-BD59-A6C34878D82A}">
                    <a16:rowId xmlns:a16="http://schemas.microsoft.com/office/drawing/2014/main" val="10008"/>
                  </a:ext>
                </a:extLst>
              </a:tr>
            </a:tbl>
          </a:graphicData>
        </a:graphic>
      </p:graphicFrame>
      <p:sp>
        <p:nvSpPr>
          <p:cNvPr id="2274307" name="Rectangle 3"/>
          <p:cNvSpPr>
            <a:spLocks noChangeArrowheads="1"/>
          </p:cNvSpPr>
          <p:nvPr/>
        </p:nvSpPr>
        <p:spPr bwMode="auto">
          <a:xfrm>
            <a:off x="2376488" y="4705350"/>
            <a:ext cx="7467600" cy="1671638"/>
          </a:xfrm>
          <a:prstGeom prst="rect">
            <a:avLst/>
          </a:prstGeom>
          <a:solidFill>
            <a:srgbClr val="ECEA8E"/>
          </a:solidFill>
          <a:ln w="9525">
            <a:noFill/>
            <a:miter lim="800000"/>
          </a:ln>
          <a:effectLst>
            <a:prstShdw prst="shdw13" dist="53882" dir="13500000">
              <a:schemeClr val="bg2"/>
            </a:prstShdw>
          </a:effectLst>
        </p:spPr>
        <p:txBody>
          <a:bodyPr anchor="ctr"/>
          <a:lstStyle/>
          <a:p>
            <a:pPr marL="352425" indent="-352425" algn="l">
              <a:lnSpc>
                <a:spcPct val="110000"/>
              </a:lnSpc>
              <a:spcBef>
                <a:spcPct val="0"/>
              </a:spcBef>
              <a:buClr>
                <a:srgbClr val="FF0000"/>
              </a:buClr>
              <a:buFont typeface="Wingdings" panose="05000000000000000000" pitchFamily="2" charset="2"/>
              <a:buChar char="v"/>
            </a:pPr>
            <a:r>
              <a:rPr kumimoji="1" lang="zh-CN" altLang="en-US">
                <a:latin typeface="Arial" panose="020B0604020202020204" pitchFamily="34" charset="0"/>
                <a:ea typeface="楷体_GB2312" pitchFamily="49" charset="-122"/>
              </a:rPr>
              <a:t>采用一位热码编码，虽然使用触发器较多，但可以有效节省和简化组合逻辑电路。</a:t>
            </a:r>
          </a:p>
          <a:p>
            <a:pPr marL="352425" indent="-352425" algn="l">
              <a:lnSpc>
                <a:spcPct val="110000"/>
              </a:lnSpc>
              <a:spcBef>
                <a:spcPct val="0"/>
              </a:spcBef>
              <a:buClr>
                <a:srgbClr val="FF0000"/>
              </a:buClr>
              <a:buFont typeface="Wingdings" panose="05000000000000000000" pitchFamily="2" charset="2"/>
              <a:buChar char="v"/>
            </a:pPr>
            <a:r>
              <a:rPr kumimoji="1" lang="en-US" altLang="zh-CN">
                <a:latin typeface="Arial" panose="020B0604020202020204" pitchFamily="34" charset="0"/>
                <a:ea typeface="楷体_GB2312" pitchFamily="49" charset="-122"/>
              </a:rPr>
              <a:t>FPGA</a:t>
            </a:r>
            <a:r>
              <a:rPr kumimoji="1" lang="zh-CN" altLang="en-US">
                <a:latin typeface="Arial" panose="020B0604020202020204" pitchFamily="34" charset="0"/>
                <a:ea typeface="楷体_GB2312" pitchFamily="49" charset="-122"/>
              </a:rPr>
              <a:t>有丰富的寄存器资源，门逻辑相对缺乏，采用一位热码编码可以有效提高电路的速度和可靠性，也有利于提高器件资源的利用率。</a:t>
            </a:r>
          </a:p>
        </p:txBody>
      </p:sp>
      <p:sp>
        <p:nvSpPr>
          <p:cNvPr id="65592" name="Rectangle 25"/>
          <p:cNvSpPr txBox="1">
            <a:spLocks noGrp="1" noChangeArrowheads="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7C3FED46-7DFC-4C0C-98BC-7062B13B390D}" type="slidenum">
              <a:rPr lang="ko-KR" altLang="en-US" sz="1600">
                <a:solidFill>
                  <a:schemeClr val="accent2"/>
                </a:solidFill>
                <a:latin typeface="Verdana" panose="020B0604030504040204" pitchFamily="34" charset="0"/>
                <a:ea typeface="Gulim" panose="020B0600000101010101" pitchFamily="34" charset="-127"/>
              </a:rPr>
              <a:t>51</a:t>
            </a:fld>
            <a:endParaRPr lang="en-US" altLang="ko-KR" sz="1600">
              <a:solidFill>
                <a:schemeClr val="accent2"/>
              </a:solidFill>
              <a:latin typeface="Verdana" panose="020B0604030504040204" pitchFamily="34" charset="0"/>
              <a:ea typeface="Gulim" panose="020B0600000101010101" pitchFamily="34" charset="-127"/>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274307"/>
                                        </p:tgtEl>
                                        <p:attrNameLst>
                                          <p:attrName>style.visibility</p:attrName>
                                        </p:attrNameLst>
                                      </p:cBhvr>
                                      <p:to>
                                        <p:strVal val="visible"/>
                                      </p:to>
                                    </p:set>
                                    <p:anim calcmode="lin" valueType="num">
                                      <p:cBhvr>
                                        <p:cTn id="7" dur="1000" fill="hold"/>
                                        <p:tgtEl>
                                          <p:spTgt spid="2274307"/>
                                        </p:tgtEl>
                                        <p:attrNameLst>
                                          <p:attrName>ppt_w</p:attrName>
                                        </p:attrNameLst>
                                      </p:cBhvr>
                                      <p:tavLst>
                                        <p:tav tm="0">
                                          <p:val>
                                            <p:strVal val="#ppt_w*0.70"/>
                                          </p:val>
                                        </p:tav>
                                        <p:tav tm="100000">
                                          <p:val>
                                            <p:strVal val="#ppt_w"/>
                                          </p:val>
                                        </p:tav>
                                      </p:tavLst>
                                    </p:anim>
                                    <p:anim calcmode="lin" valueType="num">
                                      <p:cBhvr>
                                        <p:cTn id="8" dur="1000" fill="hold"/>
                                        <p:tgtEl>
                                          <p:spTgt spid="2274307"/>
                                        </p:tgtEl>
                                        <p:attrNameLst>
                                          <p:attrName>ppt_h</p:attrName>
                                        </p:attrNameLst>
                                      </p:cBhvr>
                                      <p:tavLst>
                                        <p:tav tm="0">
                                          <p:val>
                                            <p:strVal val="#ppt_h"/>
                                          </p:val>
                                        </p:tav>
                                        <p:tav tm="100000">
                                          <p:val>
                                            <p:strVal val="#ppt_h"/>
                                          </p:val>
                                        </p:tav>
                                      </p:tavLst>
                                    </p:anim>
                                    <p:animEffect transition="in" filter="fade">
                                      <p:cBhvr>
                                        <p:cTn id="9" dur="1000"/>
                                        <p:tgtEl>
                                          <p:spTgt spid="2274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4307"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idx="4294967295"/>
          </p:nvPr>
        </p:nvSpPr>
        <p:spPr>
          <a:xfrm>
            <a:off x="3739198" y="469583"/>
            <a:ext cx="5675312" cy="609600"/>
          </a:xfrm>
        </p:spPr>
        <p:txBody>
          <a:bodyPr>
            <a:normAutofit fontScale="90000"/>
          </a:bodyPr>
          <a:lstStyle/>
          <a:p>
            <a:pPr eaLnBrk="1" hangingPunct="1">
              <a:defRPr/>
            </a:pPr>
            <a:r>
              <a:rPr lang="zh-CN" altLang="en-US" kern="1200" dirty="0" smtClean="0">
                <a:solidFill>
                  <a:schemeClr val="tx1"/>
                </a:solidFill>
                <a:latin typeface="Arial" panose="020B0604020202020204" pitchFamily="34" charset="0"/>
                <a:ea typeface="黑体" panose="02010609060101010101" pitchFamily="49" charset="-122"/>
                <a:cs typeface="+mn-cs"/>
              </a:rPr>
              <a:t>状态编码的</a:t>
            </a:r>
            <a:r>
              <a:rPr lang="en-US" altLang="zh-CN" kern="1200" dirty="0" smtClean="0">
                <a:solidFill>
                  <a:schemeClr val="tx1"/>
                </a:solidFill>
                <a:latin typeface="Arial" panose="020B0604020202020204" pitchFamily="34" charset="0"/>
                <a:ea typeface="黑体" panose="02010609060101010101" pitchFamily="49" charset="-122"/>
                <a:cs typeface="+mn-cs"/>
              </a:rPr>
              <a:t>HDL</a:t>
            </a:r>
            <a:r>
              <a:rPr lang="zh-CN" altLang="en-US" kern="1200" dirty="0" smtClean="0">
                <a:solidFill>
                  <a:schemeClr val="tx1"/>
                </a:solidFill>
                <a:latin typeface="Arial" panose="020B0604020202020204" pitchFamily="34" charset="0"/>
                <a:ea typeface="黑体" panose="02010609060101010101" pitchFamily="49" charset="-122"/>
                <a:cs typeface="+mn-cs"/>
              </a:rPr>
              <a:t>定义</a:t>
            </a:r>
          </a:p>
        </p:txBody>
      </p:sp>
      <p:sp>
        <p:nvSpPr>
          <p:cNvPr id="66563" name="Rectangle 3"/>
          <p:cNvSpPr>
            <a:spLocks noGrp="1" noChangeArrowheads="1"/>
          </p:cNvSpPr>
          <p:nvPr>
            <p:ph type="body" idx="4294967295"/>
          </p:nvPr>
        </p:nvSpPr>
        <p:spPr>
          <a:xfrm>
            <a:off x="2486025" y="1079500"/>
            <a:ext cx="8181975" cy="627063"/>
          </a:xfrm>
        </p:spPr>
        <p:txBody>
          <a:bodyPr/>
          <a:lstStyle/>
          <a:p>
            <a:pPr eaLnBrk="1" hangingPunct="1">
              <a:lnSpc>
                <a:spcPct val="110000"/>
              </a:lnSpc>
              <a:spcBef>
                <a:spcPct val="0"/>
              </a:spcBef>
            </a:pPr>
            <a:r>
              <a:rPr lang="zh-CN" altLang="en-US" sz="2400" smtClean="0"/>
              <a:t>状态编码的定义</a:t>
            </a:r>
            <a:r>
              <a:rPr lang="zh-CN" altLang="en-US" sz="2400" smtClean="0">
                <a:cs typeface="Arial" panose="020B0604020202020204" pitchFamily="34" charset="0"/>
              </a:rPr>
              <a:t>有两种方式：</a:t>
            </a:r>
            <a:r>
              <a:rPr lang="en-US" altLang="zh-CN" sz="2400" smtClean="0">
                <a:cs typeface="Arial" panose="020B0604020202020204" pitchFamily="34" charset="0"/>
              </a:rPr>
              <a:t>parameter</a:t>
            </a:r>
            <a:r>
              <a:rPr lang="zh-CN" altLang="en-US" sz="2400" smtClean="0">
                <a:cs typeface="Arial" panose="020B0604020202020204" pitchFamily="34" charset="0"/>
              </a:rPr>
              <a:t>和</a:t>
            </a:r>
            <a:r>
              <a:rPr lang="en-US" altLang="zh-CN" sz="2400" smtClean="0">
                <a:cs typeface="Arial" panose="020B0604020202020204" pitchFamily="34" charset="0"/>
              </a:rPr>
              <a:t>‵define</a:t>
            </a:r>
            <a:r>
              <a:rPr lang="zh-CN" altLang="en-US" sz="2400" smtClean="0">
                <a:cs typeface="Arial" panose="020B0604020202020204" pitchFamily="34" charset="0"/>
              </a:rPr>
              <a:t>语句</a:t>
            </a:r>
            <a:endParaRPr lang="en-US" altLang="zh-CN" sz="2400" smtClean="0"/>
          </a:p>
        </p:txBody>
      </p:sp>
      <p:sp>
        <p:nvSpPr>
          <p:cNvPr id="5" name="矩形 4"/>
          <p:cNvSpPr>
            <a:spLocks noChangeArrowheads="1"/>
          </p:cNvSpPr>
          <p:nvPr/>
        </p:nvSpPr>
        <p:spPr bwMode="auto">
          <a:xfrm>
            <a:off x="3095625" y="1592263"/>
            <a:ext cx="6169025" cy="820737"/>
          </a:xfrm>
          <a:prstGeom prst="rect">
            <a:avLst/>
          </a:prstGeom>
          <a:solidFill>
            <a:srgbClr val="FFCC99"/>
          </a:solidFill>
          <a:ln w="9525" algn="ctr">
            <a:noFill/>
            <a:round/>
          </a:ln>
          <a:effectLst>
            <a:prstShdw prst="shdw13" dist="53882" dir="13500000">
              <a:srgbClr val="808080">
                <a:alpha val="50000"/>
              </a:srgbClr>
            </a:prstShdw>
          </a:effectLst>
        </p:spPr>
        <p:txBody>
          <a:bodyPr anchor="b"/>
          <a:lstStyle/>
          <a:p>
            <a:pPr>
              <a:lnSpc>
                <a:spcPct val="100000"/>
              </a:lnSpc>
              <a:spcBef>
                <a:spcPts val="600"/>
              </a:spcBef>
            </a:pPr>
            <a:r>
              <a:rPr lang="en-US" altLang="zh-CN" sz="2200">
                <a:solidFill>
                  <a:srgbClr val="FF0066"/>
                </a:solidFill>
                <a:latin typeface="Arial" panose="020B0604020202020204" pitchFamily="34" charset="0"/>
              </a:rPr>
              <a:t>【</a:t>
            </a:r>
            <a:r>
              <a:rPr lang="zh-CN" altLang="en-US" sz="2200">
                <a:solidFill>
                  <a:srgbClr val="FF0066"/>
                </a:solidFill>
                <a:latin typeface="Arial" panose="020B0604020202020204" pitchFamily="34" charset="0"/>
              </a:rPr>
              <a:t>例</a:t>
            </a:r>
            <a:r>
              <a:rPr lang="en-US" altLang="zh-CN" sz="2200">
                <a:solidFill>
                  <a:srgbClr val="FF0066"/>
                </a:solidFill>
                <a:latin typeface="Arial" panose="020B0604020202020204" pitchFamily="34" charset="0"/>
              </a:rPr>
              <a:t>】</a:t>
            </a:r>
            <a:r>
              <a:rPr lang="zh-CN" altLang="en-US" sz="2200">
                <a:latin typeface="Arial" panose="020B0604020202020204" pitchFamily="34" charset="0"/>
                <a:ea typeface="华文楷体" panose="02010600040101010101" pitchFamily="2" charset="-122"/>
              </a:rPr>
              <a:t>为</a:t>
            </a:r>
            <a:r>
              <a:rPr lang="en-US" altLang="zh-CN" sz="2200">
                <a:latin typeface="Arial" panose="020B0604020202020204" pitchFamily="34" charset="0"/>
                <a:ea typeface="华文楷体" panose="02010600040101010101" pitchFamily="2" charset="-122"/>
              </a:rPr>
              <a:t>state0, state1 ,state2 ,state3</a:t>
            </a:r>
            <a:r>
              <a:rPr lang="zh-CN" altLang="en-US" sz="2200">
                <a:latin typeface="Arial" panose="020B0604020202020204" pitchFamily="34" charset="0"/>
                <a:ea typeface="华文楷体" panose="02010600040101010101" pitchFamily="2" charset="-122"/>
              </a:rPr>
              <a:t>四个状态定义码字为：</a:t>
            </a:r>
            <a:r>
              <a:rPr lang="en-US" altLang="zh-CN" sz="2200">
                <a:latin typeface="Arial" panose="020B0604020202020204" pitchFamily="34" charset="0"/>
                <a:ea typeface="华文楷体" panose="02010600040101010101" pitchFamily="2" charset="-122"/>
              </a:rPr>
              <a:t>00</a:t>
            </a:r>
            <a:r>
              <a:rPr lang="zh-CN" altLang="en-US" sz="2200">
                <a:latin typeface="Arial" panose="020B0604020202020204" pitchFamily="34" charset="0"/>
                <a:ea typeface="华文楷体" panose="02010600040101010101" pitchFamily="2" charset="-122"/>
              </a:rPr>
              <a:t>，</a:t>
            </a:r>
            <a:r>
              <a:rPr lang="en-US" altLang="zh-CN" sz="2200">
                <a:latin typeface="Arial" panose="020B0604020202020204" pitchFamily="34" charset="0"/>
                <a:ea typeface="华文楷体" panose="02010600040101010101" pitchFamily="2" charset="-122"/>
              </a:rPr>
              <a:t>01 </a:t>
            </a:r>
            <a:r>
              <a:rPr lang="zh-CN" altLang="en-US" sz="2200">
                <a:latin typeface="Arial" panose="020B0604020202020204" pitchFamily="34" charset="0"/>
                <a:ea typeface="华文楷体" panose="02010600040101010101" pitchFamily="2" charset="-122"/>
              </a:rPr>
              <a:t>，</a:t>
            </a:r>
            <a:r>
              <a:rPr lang="en-US" altLang="zh-CN" sz="2200">
                <a:latin typeface="Arial" panose="020B0604020202020204" pitchFamily="34" charset="0"/>
                <a:ea typeface="华文楷体" panose="02010600040101010101" pitchFamily="2" charset="-122"/>
              </a:rPr>
              <a:t>11</a:t>
            </a:r>
            <a:r>
              <a:rPr lang="zh-CN" altLang="en-US" sz="2200">
                <a:latin typeface="Arial" panose="020B0604020202020204" pitchFamily="34" charset="0"/>
                <a:ea typeface="华文楷体" panose="02010600040101010101" pitchFamily="2" charset="-122"/>
              </a:rPr>
              <a:t>，</a:t>
            </a:r>
            <a:r>
              <a:rPr lang="en-US" altLang="zh-CN" sz="2200">
                <a:latin typeface="Arial" panose="020B0604020202020204" pitchFamily="34" charset="0"/>
                <a:ea typeface="华文楷体" panose="02010600040101010101" pitchFamily="2" charset="-122"/>
              </a:rPr>
              <a:t>10</a:t>
            </a:r>
            <a:endParaRPr lang="zh-CN" altLang="en-US" sz="2200">
              <a:latin typeface="Arial" panose="020B0604020202020204" pitchFamily="34" charset="0"/>
              <a:ea typeface="华文楷体" panose="02010600040101010101" pitchFamily="2" charset="-122"/>
            </a:endParaRPr>
          </a:p>
        </p:txBody>
      </p:sp>
      <p:sp>
        <p:nvSpPr>
          <p:cNvPr id="50182" name="矩形 5"/>
          <p:cNvSpPr>
            <a:spLocks noChangeArrowheads="1"/>
          </p:cNvSpPr>
          <p:nvPr/>
        </p:nvSpPr>
        <p:spPr bwMode="auto">
          <a:xfrm>
            <a:off x="1785938" y="3405188"/>
            <a:ext cx="3521075" cy="2905125"/>
          </a:xfrm>
          <a:prstGeom prst="rect">
            <a:avLst/>
          </a:prstGeom>
          <a:solidFill>
            <a:srgbClr val="99CCFF"/>
          </a:solidFill>
          <a:ln w="9525" algn="ctr">
            <a:noFill/>
            <a:round/>
          </a:ln>
          <a:effectLst>
            <a:prstShdw prst="shdw13" dist="53882" dir="13500000">
              <a:srgbClr val="808080">
                <a:alpha val="50000"/>
              </a:srgbClr>
            </a:prstShdw>
          </a:effectLst>
        </p:spPr>
        <p:txBody>
          <a:bodyPr anchor="b"/>
          <a:lstStyle/>
          <a:p>
            <a:pPr>
              <a:lnSpc>
                <a:spcPct val="100000"/>
              </a:lnSpc>
              <a:spcBef>
                <a:spcPct val="0"/>
              </a:spcBef>
            </a:pPr>
            <a:r>
              <a:rPr lang="en-US" altLang="zh-CN">
                <a:solidFill>
                  <a:srgbClr val="FF3399"/>
                </a:solidFill>
                <a:cs typeface="Times New Roman" panose="02020603050405020304" pitchFamily="18" charset="0"/>
              </a:rPr>
              <a:t>parameter </a:t>
            </a:r>
            <a:r>
              <a:rPr lang="en-US" altLang="zh-CN">
                <a:cs typeface="Times New Roman" panose="02020603050405020304" pitchFamily="18" charset="0"/>
              </a:rPr>
              <a:t>  state0=2‵b00 ,</a:t>
            </a:r>
          </a:p>
          <a:p>
            <a:pPr>
              <a:lnSpc>
                <a:spcPct val="100000"/>
              </a:lnSpc>
              <a:spcBef>
                <a:spcPct val="0"/>
              </a:spcBef>
            </a:pPr>
            <a:r>
              <a:rPr lang="en-US" altLang="zh-CN">
                <a:cs typeface="Times New Roman" panose="02020603050405020304" pitchFamily="18" charset="0"/>
              </a:rPr>
              <a:t>                    state1=2‵b01, </a:t>
            </a:r>
          </a:p>
          <a:p>
            <a:pPr>
              <a:lnSpc>
                <a:spcPct val="100000"/>
              </a:lnSpc>
              <a:spcBef>
                <a:spcPct val="0"/>
              </a:spcBef>
            </a:pPr>
            <a:r>
              <a:rPr lang="en-US" altLang="zh-CN">
                <a:cs typeface="Times New Roman" panose="02020603050405020304" pitchFamily="18" charset="0"/>
              </a:rPr>
              <a:t>                    state2=2‵b11,</a:t>
            </a:r>
          </a:p>
          <a:p>
            <a:pPr>
              <a:lnSpc>
                <a:spcPct val="100000"/>
              </a:lnSpc>
              <a:spcBef>
                <a:spcPct val="0"/>
              </a:spcBef>
            </a:pPr>
            <a:r>
              <a:rPr lang="en-US" altLang="zh-CN">
                <a:cs typeface="Times New Roman" panose="02020603050405020304" pitchFamily="18" charset="0"/>
              </a:rPr>
              <a:t>                    state3=2‵b10;</a:t>
            </a:r>
          </a:p>
          <a:p>
            <a:pPr>
              <a:lnSpc>
                <a:spcPct val="100000"/>
              </a:lnSpc>
              <a:spcBef>
                <a:spcPct val="0"/>
              </a:spcBef>
            </a:pPr>
            <a:r>
              <a:rPr lang="en-US" altLang="zh-CN">
                <a:cs typeface="Times New Roman" panose="02020603050405020304" pitchFamily="18" charset="0"/>
              </a:rPr>
              <a:t>……</a:t>
            </a:r>
          </a:p>
          <a:p>
            <a:pPr algn="l">
              <a:lnSpc>
                <a:spcPct val="100000"/>
              </a:lnSpc>
              <a:spcBef>
                <a:spcPct val="0"/>
              </a:spcBef>
            </a:pPr>
            <a:r>
              <a:rPr lang="zh-CN" altLang="en-US">
                <a:cs typeface="Times New Roman" panose="02020603050405020304" pitchFamily="18" charset="0"/>
              </a:rPr>
              <a:t>     </a:t>
            </a:r>
            <a:r>
              <a:rPr lang="en-US" altLang="zh-CN">
                <a:cs typeface="Times New Roman" panose="02020603050405020304" pitchFamily="18" charset="0"/>
              </a:rPr>
              <a:t>case (state)</a:t>
            </a:r>
          </a:p>
          <a:p>
            <a:pPr algn="l">
              <a:lnSpc>
                <a:spcPct val="100000"/>
              </a:lnSpc>
              <a:spcBef>
                <a:spcPct val="0"/>
              </a:spcBef>
            </a:pPr>
            <a:r>
              <a:rPr lang="en-US" altLang="zh-CN">
                <a:cs typeface="Times New Roman" panose="02020603050405020304" pitchFamily="18" charset="0"/>
              </a:rPr>
              <a:t>        state0:……;  </a:t>
            </a:r>
          </a:p>
          <a:p>
            <a:pPr algn="l">
              <a:lnSpc>
                <a:spcPct val="100000"/>
              </a:lnSpc>
              <a:spcBef>
                <a:spcPct val="0"/>
              </a:spcBef>
            </a:pPr>
            <a:r>
              <a:rPr lang="en-US" altLang="zh-CN">
                <a:cs typeface="Times New Roman" panose="02020603050405020304" pitchFamily="18" charset="0"/>
              </a:rPr>
              <a:t>        state1:……;</a:t>
            </a:r>
          </a:p>
          <a:p>
            <a:pPr algn="l">
              <a:lnSpc>
                <a:spcPct val="100000"/>
              </a:lnSpc>
              <a:spcBef>
                <a:spcPct val="0"/>
              </a:spcBef>
            </a:pPr>
            <a:r>
              <a:rPr lang="en-US" altLang="zh-CN">
                <a:cs typeface="Times New Roman" panose="02020603050405020304" pitchFamily="18" charset="0"/>
              </a:rPr>
              <a:t>        ……</a:t>
            </a:r>
          </a:p>
        </p:txBody>
      </p:sp>
      <p:sp>
        <p:nvSpPr>
          <p:cNvPr id="50183" name="矩形 6"/>
          <p:cNvSpPr>
            <a:spLocks noChangeArrowheads="1"/>
          </p:cNvSpPr>
          <p:nvPr/>
        </p:nvSpPr>
        <p:spPr bwMode="auto">
          <a:xfrm>
            <a:off x="5870575" y="3594100"/>
            <a:ext cx="4465638" cy="2570163"/>
          </a:xfrm>
          <a:prstGeom prst="rect">
            <a:avLst/>
          </a:prstGeom>
          <a:solidFill>
            <a:srgbClr val="99CCFF"/>
          </a:solidFill>
          <a:ln w="9525" algn="ctr">
            <a:noFill/>
            <a:round/>
          </a:ln>
          <a:effectLst>
            <a:prstShdw prst="shdw13" dist="53882" dir="13500000">
              <a:srgbClr val="808080">
                <a:alpha val="50000"/>
              </a:srgbClr>
            </a:prstShdw>
          </a:effectLst>
        </p:spPr>
        <p:txBody>
          <a:bodyPr anchor="b"/>
          <a:lstStyle/>
          <a:p>
            <a:pPr algn="l">
              <a:lnSpc>
                <a:spcPct val="100000"/>
              </a:lnSpc>
              <a:spcBef>
                <a:spcPct val="0"/>
              </a:spcBef>
            </a:pPr>
            <a:r>
              <a:rPr lang="en-US" altLang="zh-CN" dirty="0">
                <a:solidFill>
                  <a:schemeClr val="hlink"/>
                </a:solidFill>
                <a:cs typeface="Times New Roman" panose="02020603050405020304" pitchFamily="18" charset="0"/>
              </a:rPr>
              <a:t> </a:t>
            </a:r>
            <a:r>
              <a:rPr lang="en-US" altLang="zh-CN" dirty="0">
                <a:solidFill>
                  <a:srgbClr val="FF3399"/>
                </a:solidFill>
                <a:cs typeface="Times New Roman" panose="02020603050405020304" pitchFamily="18" charset="0"/>
              </a:rPr>
              <a:t>‵define  </a:t>
            </a:r>
            <a:r>
              <a:rPr lang="en-US" altLang="zh-CN" dirty="0">
                <a:cs typeface="Times New Roman" panose="02020603050405020304" pitchFamily="18" charset="0"/>
              </a:rPr>
              <a:t>state0=2‵b00 //</a:t>
            </a:r>
            <a:r>
              <a:rPr lang="zh-CN" altLang="en-US" dirty="0">
                <a:solidFill>
                  <a:srgbClr val="FF0000"/>
                </a:solidFill>
                <a:cs typeface="Times New Roman" panose="02020603050405020304" pitchFamily="18" charset="0"/>
              </a:rPr>
              <a:t>不要加分号</a:t>
            </a:r>
            <a:endParaRPr lang="en-US" altLang="zh-CN" dirty="0">
              <a:solidFill>
                <a:srgbClr val="FF0000"/>
              </a:solidFill>
              <a:cs typeface="Times New Roman" panose="02020603050405020304" pitchFamily="18" charset="0"/>
            </a:endParaRPr>
          </a:p>
          <a:p>
            <a:pPr algn="l">
              <a:lnSpc>
                <a:spcPct val="100000"/>
              </a:lnSpc>
              <a:spcBef>
                <a:spcPct val="0"/>
              </a:spcBef>
            </a:pPr>
            <a:r>
              <a:rPr lang="en-US" altLang="zh-CN" dirty="0">
                <a:cs typeface="Times New Roman" panose="02020603050405020304" pitchFamily="18" charset="0"/>
              </a:rPr>
              <a:t> </a:t>
            </a:r>
            <a:r>
              <a:rPr lang="en-US" altLang="zh-CN" dirty="0">
                <a:solidFill>
                  <a:srgbClr val="FF3399"/>
                </a:solidFill>
                <a:cs typeface="Times New Roman" panose="02020603050405020304" pitchFamily="18" charset="0"/>
              </a:rPr>
              <a:t>‵define  </a:t>
            </a:r>
            <a:r>
              <a:rPr lang="en-US" altLang="zh-CN" dirty="0">
                <a:cs typeface="Times New Roman" panose="02020603050405020304" pitchFamily="18" charset="0"/>
              </a:rPr>
              <a:t>state1=2‵b01</a:t>
            </a:r>
          </a:p>
          <a:p>
            <a:pPr algn="l">
              <a:lnSpc>
                <a:spcPct val="100000"/>
              </a:lnSpc>
              <a:spcBef>
                <a:spcPct val="0"/>
              </a:spcBef>
            </a:pPr>
            <a:r>
              <a:rPr lang="en-US" altLang="zh-CN" dirty="0">
                <a:cs typeface="Times New Roman" panose="02020603050405020304" pitchFamily="18" charset="0"/>
              </a:rPr>
              <a:t> </a:t>
            </a:r>
            <a:r>
              <a:rPr lang="en-US" altLang="zh-CN" dirty="0">
                <a:solidFill>
                  <a:srgbClr val="FF3399"/>
                </a:solidFill>
                <a:cs typeface="Times New Roman" panose="02020603050405020304" pitchFamily="18" charset="0"/>
              </a:rPr>
              <a:t>‵define  </a:t>
            </a:r>
            <a:r>
              <a:rPr lang="en-US" altLang="zh-CN" dirty="0">
                <a:cs typeface="Times New Roman" panose="02020603050405020304" pitchFamily="18" charset="0"/>
              </a:rPr>
              <a:t>state2=2‵b11</a:t>
            </a:r>
          </a:p>
          <a:p>
            <a:pPr algn="l">
              <a:lnSpc>
                <a:spcPct val="100000"/>
              </a:lnSpc>
              <a:spcBef>
                <a:spcPct val="0"/>
              </a:spcBef>
            </a:pPr>
            <a:r>
              <a:rPr lang="en-US" altLang="zh-CN" dirty="0">
                <a:cs typeface="Times New Roman" panose="02020603050405020304" pitchFamily="18" charset="0"/>
              </a:rPr>
              <a:t> </a:t>
            </a:r>
            <a:r>
              <a:rPr lang="en-US" altLang="zh-CN" dirty="0">
                <a:solidFill>
                  <a:srgbClr val="FF3399"/>
                </a:solidFill>
                <a:cs typeface="Times New Roman" panose="02020603050405020304" pitchFamily="18" charset="0"/>
              </a:rPr>
              <a:t>‵define  </a:t>
            </a:r>
            <a:r>
              <a:rPr lang="en-US" altLang="zh-CN" dirty="0">
                <a:cs typeface="Times New Roman" panose="02020603050405020304" pitchFamily="18" charset="0"/>
              </a:rPr>
              <a:t>state3=2‵b10</a:t>
            </a:r>
          </a:p>
          <a:p>
            <a:pPr algn="l">
              <a:lnSpc>
                <a:spcPct val="100000"/>
              </a:lnSpc>
              <a:spcBef>
                <a:spcPct val="0"/>
              </a:spcBef>
            </a:pPr>
            <a:r>
              <a:rPr lang="en-US" altLang="zh-CN" dirty="0">
                <a:cs typeface="Times New Roman" panose="02020603050405020304" pitchFamily="18" charset="0"/>
              </a:rPr>
              <a:t>case (state)</a:t>
            </a:r>
          </a:p>
          <a:p>
            <a:pPr algn="l">
              <a:lnSpc>
                <a:spcPct val="100000"/>
              </a:lnSpc>
              <a:spcBef>
                <a:spcPct val="0"/>
              </a:spcBef>
            </a:pPr>
            <a:r>
              <a:rPr lang="en-US" altLang="zh-CN" dirty="0">
                <a:cs typeface="Times New Roman" panose="02020603050405020304" pitchFamily="18" charset="0"/>
              </a:rPr>
              <a:t> </a:t>
            </a:r>
            <a:r>
              <a:rPr lang="en-US" altLang="zh-CN" dirty="0" smtClean="0">
                <a:solidFill>
                  <a:srgbClr val="FF3399"/>
                </a:solidFill>
                <a:cs typeface="Times New Roman" panose="02020603050405020304" pitchFamily="18" charset="0"/>
              </a:rPr>
              <a:t>‵state0</a:t>
            </a:r>
            <a:r>
              <a:rPr lang="en-US" altLang="zh-CN" dirty="0">
                <a:cs typeface="Times New Roman" panose="02020603050405020304" pitchFamily="18" charset="0"/>
              </a:rPr>
              <a:t>:……;  </a:t>
            </a:r>
          </a:p>
          <a:p>
            <a:pPr algn="l">
              <a:lnSpc>
                <a:spcPct val="100000"/>
              </a:lnSpc>
              <a:spcBef>
                <a:spcPct val="0"/>
              </a:spcBef>
            </a:pPr>
            <a:r>
              <a:rPr lang="en-US" altLang="zh-CN" dirty="0">
                <a:cs typeface="Times New Roman" panose="02020603050405020304" pitchFamily="18" charset="0"/>
              </a:rPr>
              <a:t> </a:t>
            </a:r>
            <a:r>
              <a:rPr lang="en-US" altLang="zh-CN" dirty="0" smtClean="0">
                <a:cs typeface="Times New Roman" panose="02020603050405020304" pitchFamily="18" charset="0"/>
              </a:rPr>
              <a:t>‵state1</a:t>
            </a:r>
            <a:r>
              <a:rPr lang="en-US" altLang="zh-CN" dirty="0">
                <a:cs typeface="Times New Roman" panose="02020603050405020304" pitchFamily="18" charset="0"/>
              </a:rPr>
              <a:t>:……;</a:t>
            </a:r>
          </a:p>
          <a:p>
            <a:pPr algn="l">
              <a:lnSpc>
                <a:spcPct val="100000"/>
              </a:lnSpc>
              <a:spcBef>
                <a:spcPct val="0"/>
              </a:spcBef>
            </a:pPr>
            <a:r>
              <a:rPr lang="en-US" altLang="zh-CN" dirty="0">
                <a:cs typeface="Times New Roman" panose="02020603050405020304" pitchFamily="18" charset="0"/>
              </a:rPr>
              <a:t>     ……</a:t>
            </a:r>
          </a:p>
        </p:txBody>
      </p:sp>
      <p:sp>
        <p:nvSpPr>
          <p:cNvPr id="50186" name="Rectangle 10"/>
          <p:cNvSpPr>
            <a:spLocks noChangeArrowheads="1"/>
          </p:cNvSpPr>
          <p:nvPr/>
        </p:nvSpPr>
        <p:spPr bwMode="auto">
          <a:xfrm>
            <a:off x="1739900" y="2563495"/>
            <a:ext cx="3506470" cy="700405"/>
          </a:xfrm>
          <a:prstGeom prst="rect">
            <a:avLst/>
          </a:prstGeom>
          <a:noFill/>
          <a:ln w="9525">
            <a:noFill/>
            <a:miter lim="800000"/>
          </a:ln>
          <a:effectLst>
            <a:prstShdw prst="shdw13" dist="53882" dir="13500000">
              <a:schemeClr val="accent1">
                <a:gamma/>
                <a:shade val="60000"/>
                <a:invGamma/>
                <a:alpha val="50000"/>
              </a:schemeClr>
            </a:prstShdw>
          </a:effectLst>
        </p:spPr>
        <p:txBody>
          <a:bodyPr wrap="none" anchor="b">
            <a:spAutoFit/>
          </a:bodyPr>
          <a:lstStyle/>
          <a:p>
            <a:pPr>
              <a:lnSpc>
                <a:spcPct val="110000"/>
              </a:lnSpc>
              <a:spcBef>
                <a:spcPts val="0"/>
              </a:spcBef>
              <a:buClr>
                <a:srgbClr val="FF0000"/>
              </a:buClr>
              <a:buFont typeface="Wingdings" panose="05000000000000000000" pitchFamily="2" charset="2"/>
              <a:buChar char="ü"/>
              <a:defRPr/>
            </a:pPr>
            <a:r>
              <a:rPr lang="zh-CN" altLang="en-US" dirty="0">
                <a:solidFill>
                  <a:srgbClr val="00B050"/>
                </a:solidFill>
                <a:latin typeface="Arial" panose="020B0604020202020204" pitchFamily="34" charset="0"/>
              </a:rPr>
              <a:t>方式一：用</a:t>
            </a:r>
            <a:r>
              <a:rPr lang="en-US" altLang="zh-CN" dirty="0">
                <a:solidFill>
                  <a:srgbClr val="00B050"/>
                </a:solidFill>
                <a:latin typeface="Arial" panose="020B0604020202020204" pitchFamily="34" charset="0"/>
              </a:rPr>
              <a:t>parameter</a:t>
            </a:r>
            <a:r>
              <a:rPr lang="zh-CN" altLang="en-US" dirty="0">
                <a:solidFill>
                  <a:srgbClr val="00B050"/>
                </a:solidFill>
                <a:latin typeface="Arial" panose="020B0604020202020204" pitchFamily="34" charset="0"/>
              </a:rPr>
              <a:t>参数定义</a:t>
            </a:r>
            <a:endParaRPr lang="en-US" altLang="zh-CN" dirty="0">
              <a:solidFill>
                <a:srgbClr val="00B050"/>
              </a:solidFill>
              <a:latin typeface="Arial" panose="020B0604020202020204" pitchFamily="34" charset="0"/>
            </a:endParaRPr>
          </a:p>
          <a:p>
            <a:pPr>
              <a:lnSpc>
                <a:spcPct val="110000"/>
              </a:lnSpc>
              <a:spcBef>
                <a:spcPts val="0"/>
              </a:spcBef>
              <a:buClr>
                <a:srgbClr val="FF0000"/>
              </a:buClr>
              <a:defRPr/>
            </a:pPr>
            <a:r>
              <a:rPr lang="zh-CN" altLang="en-US" dirty="0">
                <a:ea typeface="宋体" panose="02010600030101010101" pitchFamily="2" charset="-122"/>
              </a:rPr>
              <a:t>用</a:t>
            </a:r>
            <a:r>
              <a:rPr lang="en-US" altLang="zh-CN" dirty="0">
                <a:ea typeface="宋体" panose="02010600030101010101" pitchFamily="2" charset="-122"/>
              </a:rPr>
              <a:t>n</a:t>
            </a:r>
            <a:r>
              <a:rPr lang="zh-CN" altLang="en-US" dirty="0">
                <a:ea typeface="宋体" panose="02010600030101010101" pitchFamily="2" charset="-122"/>
              </a:rPr>
              <a:t>个</a:t>
            </a:r>
            <a:r>
              <a:rPr lang="en-US" altLang="zh-CN" dirty="0">
                <a:ea typeface="宋体" panose="02010600030101010101" pitchFamily="2" charset="-122"/>
              </a:rPr>
              <a:t>parameter</a:t>
            </a:r>
            <a:r>
              <a:rPr lang="zh-CN" altLang="en-US" dirty="0">
                <a:ea typeface="宋体" panose="02010600030101010101" pitchFamily="2" charset="-122"/>
              </a:rPr>
              <a:t>常量表示</a:t>
            </a:r>
            <a:r>
              <a:rPr lang="en-US" altLang="zh-CN" dirty="0">
                <a:ea typeface="宋体" panose="02010600030101010101" pitchFamily="2" charset="-122"/>
              </a:rPr>
              <a:t>n</a:t>
            </a:r>
            <a:r>
              <a:rPr lang="zh-CN" altLang="en-US" dirty="0">
                <a:ea typeface="宋体" panose="02010600030101010101" pitchFamily="2" charset="-122"/>
              </a:rPr>
              <a:t>个状态</a:t>
            </a:r>
            <a:endParaRPr lang="zh-CN" altLang="en-US" dirty="0">
              <a:solidFill>
                <a:srgbClr val="00B050"/>
              </a:solidFill>
              <a:latin typeface="Arial" panose="020B0604020202020204" pitchFamily="34" charset="0"/>
            </a:endParaRPr>
          </a:p>
        </p:txBody>
      </p:sp>
      <p:sp>
        <p:nvSpPr>
          <p:cNvPr id="50187" name="Rectangle 11"/>
          <p:cNvSpPr>
            <a:spLocks noChangeArrowheads="1"/>
          </p:cNvSpPr>
          <p:nvPr/>
        </p:nvSpPr>
        <p:spPr bwMode="auto">
          <a:xfrm>
            <a:off x="6216650" y="2774315"/>
            <a:ext cx="3091180" cy="645160"/>
          </a:xfrm>
          <a:prstGeom prst="rect">
            <a:avLst/>
          </a:prstGeom>
          <a:noFill/>
          <a:ln w="9525">
            <a:noFill/>
            <a:miter lim="800000"/>
          </a:ln>
          <a:effectLst>
            <a:prstShdw prst="shdw13" dist="53882" dir="13500000">
              <a:schemeClr val="accent1">
                <a:gamma/>
                <a:shade val="60000"/>
                <a:invGamma/>
                <a:alpha val="50000"/>
              </a:schemeClr>
            </a:prstShdw>
          </a:effectLst>
        </p:spPr>
        <p:txBody>
          <a:bodyPr wrap="none" anchor="b">
            <a:spAutoFit/>
          </a:bodyPr>
          <a:lstStyle/>
          <a:p>
            <a:pPr>
              <a:defRPr/>
            </a:pPr>
            <a:r>
              <a:rPr lang="zh-CN" altLang="en-US" dirty="0">
                <a:solidFill>
                  <a:srgbClr val="00B050"/>
                </a:solidFill>
                <a:latin typeface="Arial" panose="020B0604020202020204" pitchFamily="34" charset="0"/>
              </a:rPr>
              <a:t>方式二：用</a:t>
            </a:r>
            <a:r>
              <a:rPr lang="en-US" altLang="zh-CN" dirty="0">
                <a:solidFill>
                  <a:srgbClr val="00B050"/>
                </a:solidFill>
                <a:latin typeface="Arial" panose="020B0604020202020204" pitchFamily="34" charset="0"/>
              </a:rPr>
              <a:t>‵define</a:t>
            </a:r>
            <a:r>
              <a:rPr lang="zh-CN" altLang="en-US" dirty="0">
                <a:solidFill>
                  <a:srgbClr val="00B050"/>
                </a:solidFill>
                <a:latin typeface="Arial" panose="020B0604020202020204" pitchFamily="34" charset="0"/>
              </a:rPr>
              <a:t>语句定义</a:t>
            </a:r>
            <a:endParaRPr lang="en-US" altLang="zh-CN" dirty="0">
              <a:solidFill>
                <a:srgbClr val="00B050"/>
              </a:solidFill>
              <a:latin typeface="Arial" panose="020B0604020202020204" pitchFamily="34" charset="0"/>
            </a:endParaRPr>
          </a:p>
          <a:p>
            <a:pPr>
              <a:defRPr/>
            </a:pPr>
            <a:r>
              <a:rPr lang="zh-CN" altLang="en-US" dirty="0">
                <a:ea typeface="宋体" panose="02010600030101010101" pitchFamily="2" charset="-122"/>
              </a:rPr>
              <a:t>用</a:t>
            </a:r>
            <a:r>
              <a:rPr lang="en-US" altLang="zh-CN" dirty="0">
                <a:ea typeface="宋体" panose="02010600030101010101" pitchFamily="2" charset="-122"/>
              </a:rPr>
              <a:t>n</a:t>
            </a:r>
            <a:r>
              <a:rPr lang="zh-CN" altLang="en-US" dirty="0">
                <a:ea typeface="宋体" panose="02010600030101010101" pitchFamily="2" charset="-122"/>
              </a:rPr>
              <a:t>个宏名表示</a:t>
            </a:r>
            <a:r>
              <a:rPr lang="en-US" altLang="zh-CN" dirty="0">
                <a:ea typeface="宋体" panose="02010600030101010101" pitchFamily="2" charset="-122"/>
              </a:rPr>
              <a:t>n</a:t>
            </a:r>
            <a:r>
              <a:rPr lang="zh-CN" altLang="en-US" dirty="0">
                <a:ea typeface="宋体" panose="02010600030101010101" pitchFamily="2" charset="-122"/>
              </a:rPr>
              <a:t>个状态</a:t>
            </a:r>
            <a:endParaRPr lang="en-US" altLang="zh-CN" dirty="0">
              <a:solidFill>
                <a:srgbClr val="00B050"/>
              </a:solidFill>
              <a:latin typeface="Arial" panose="020B0604020202020204" pitchFamily="34" charset="0"/>
            </a:endParaRPr>
          </a:p>
        </p:txBody>
      </p:sp>
      <p:sp>
        <p:nvSpPr>
          <p:cNvPr id="66569" name="Rectangle 25"/>
          <p:cNvSpPr txBox="1">
            <a:spLocks noGrp="1" noChangeArrowheads="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D0847501-86BC-41E3-BE8E-0769BCC1B0E1}" type="slidenum">
              <a:rPr lang="ko-KR" altLang="en-US" sz="1600">
                <a:solidFill>
                  <a:schemeClr val="accent2"/>
                </a:solidFill>
                <a:latin typeface="Verdana" panose="020B0604030504040204" pitchFamily="34" charset="0"/>
                <a:ea typeface="Gulim" panose="020B0600000101010101" pitchFamily="34" charset="-127"/>
              </a:rPr>
              <a:t>52</a:t>
            </a:fld>
            <a:endParaRPr lang="en-US" altLang="ko-KR" sz="1600">
              <a:solidFill>
                <a:schemeClr val="accent2"/>
              </a:solidFill>
              <a:latin typeface="Verdana" panose="020B0604030504040204" pitchFamily="34" charset="0"/>
              <a:ea typeface="Gulim" panose="020B0600000101010101" pitchFamily="34" charset="-127"/>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50186"/>
                                        </p:tgtEl>
                                        <p:attrNameLst>
                                          <p:attrName>style.visibility</p:attrName>
                                        </p:attrNameLst>
                                      </p:cBhvr>
                                      <p:to>
                                        <p:strVal val="visible"/>
                                      </p:to>
                                    </p:set>
                                    <p:anim calcmode="lin" valueType="num">
                                      <p:cBhvr>
                                        <p:cTn id="13" dur="500" fill="hold"/>
                                        <p:tgtEl>
                                          <p:spTgt spid="50186"/>
                                        </p:tgtEl>
                                        <p:attrNameLst>
                                          <p:attrName>ppt_w</p:attrName>
                                        </p:attrNameLst>
                                      </p:cBhvr>
                                      <p:tavLst>
                                        <p:tav tm="0">
                                          <p:val>
                                            <p:fltVal val="0"/>
                                          </p:val>
                                        </p:tav>
                                        <p:tav tm="100000">
                                          <p:val>
                                            <p:strVal val="#ppt_w"/>
                                          </p:val>
                                        </p:tav>
                                      </p:tavLst>
                                    </p:anim>
                                    <p:anim calcmode="lin" valueType="num">
                                      <p:cBhvr>
                                        <p:cTn id="14" dur="500" fill="hold"/>
                                        <p:tgtEl>
                                          <p:spTgt spid="5018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9" presetClass="entr" presetSubtype="0" fill="hold" grpId="0" nodeType="afterEffect">
                                  <p:stCondLst>
                                    <p:cond delay="0"/>
                                  </p:stCondLst>
                                  <p:childTnLst>
                                    <p:set>
                                      <p:cBhvr>
                                        <p:cTn id="17" dur="1" fill="hold">
                                          <p:stCondLst>
                                            <p:cond delay="0"/>
                                          </p:stCondLst>
                                        </p:cTn>
                                        <p:tgtEl>
                                          <p:spTgt spid="50182"/>
                                        </p:tgtEl>
                                        <p:attrNameLst>
                                          <p:attrName>style.visibility</p:attrName>
                                        </p:attrNameLst>
                                      </p:cBhvr>
                                      <p:to>
                                        <p:strVal val="visible"/>
                                      </p:to>
                                    </p:set>
                                    <p:animEffect transition="in" filter="dissolve">
                                      <p:cBhvr>
                                        <p:cTn id="18" dur="500"/>
                                        <p:tgtEl>
                                          <p:spTgt spid="50182"/>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50187"/>
                                        </p:tgtEl>
                                        <p:attrNameLst>
                                          <p:attrName>style.visibility</p:attrName>
                                        </p:attrNameLst>
                                      </p:cBhvr>
                                      <p:to>
                                        <p:strVal val="visible"/>
                                      </p:to>
                                    </p:set>
                                    <p:anim calcmode="lin" valueType="num">
                                      <p:cBhvr>
                                        <p:cTn id="23" dur="500" fill="hold"/>
                                        <p:tgtEl>
                                          <p:spTgt spid="50187"/>
                                        </p:tgtEl>
                                        <p:attrNameLst>
                                          <p:attrName>ppt_w</p:attrName>
                                        </p:attrNameLst>
                                      </p:cBhvr>
                                      <p:tavLst>
                                        <p:tav tm="0">
                                          <p:val>
                                            <p:fltVal val="0"/>
                                          </p:val>
                                        </p:tav>
                                        <p:tav tm="100000">
                                          <p:val>
                                            <p:strVal val="#ppt_w"/>
                                          </p:val>
                                        </p:tav>
                                      </p:tavLst>
                                    </p:anim>
                                    <p:anim calcmode="lin" valueType="num">
                                      <p:cBhvr>
                                        <p:cTn id="24" dur="500" fill="hold"/>
                                        <p:tgtEl>
                                          <p:spTgt spid="50187"/>
                                        </p:tgtEl>
                                        <p:attrNameLst>
                                          <p:attrName>ppt_h</p:attrName>
                                        </p:attrNameLst>
                                      </p:cBhvr>
                                      <p:tavLst>
                                        <p:tav tm="0">
                                          <p:val>
                                            <p:fltVal val="0"/>
                                          </p:val>
                                        </p:tav>
                                        <p:tav tm="100000">
                                          <p:val>
                                            <p:strVal val="#ppt_h"/>
                                          </p:val>
                                        </p:tav>
                                      </p:tavLst>
                                    </p:anim>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50183"/>
                                        </p:tgtEl>
                                        <p:attrNameLst>
                                          <p:attrName>style.visibility</p:attrName>
                                        </p:attrNameLst>
                                      </p:cBhvr>
                                      <p:to>
                                        <p:strVal val="visible"/>
                                      </p:to>
                                    </p:set>
                                    <p:animEffect transition="in" filter="dissolve">
                                      <p:cBhvr>
                                        <p:cTn id="28" dur="5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0182" grpId="0" bldLvl="0" animBg="1"/>
      <p:bldP spid="50183" grpId="0" bldLvl="0" animBg="1"/>
      <p:bldP spid="50186" grpId="0" bldLvl="0" animBg="1"/>
      <p:bldP spid="50187"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idx="4294967295"/>
          </p:nvPr>
        </p:nvSpPr>
        <p:spPr>
          <a:xfrm>
            <a:off x="4992688" y="334963"/>
            <a:ext cx="5675312" cy="609600"/>
          </a:xfrm>
        </p:spPr>
        <p:txBody>
          <a:bodyPr>
            <a:normAutofit fontScale="90000"/>
          </a:bodyPr>
          <a:lstStyle/>
          <a:p>
            <a:pPr eaLnBrk="1" hangingPunct="1">
              <a:defRPr/>
            </a:pPr>
            <a:r>
              <a:rPr lang="zh-CN" altLang="en-US" kern="1200" dirty="0" smtClean="0">
                <a:solidFill>
                  <a:schemeClr val="tx1"/>
                </a:solidFill>
                <a:latin typeface="Arial" panose="020B0604020202020204" pitchFamily="34" charset="0"/>
                <a:ea typeface="黑体" panose="02010609060101010101" pitchFamily="49" charset="-122"/>
                <a:cs typeface="+mn-cs"/>
              </a:rPr>
              <a:t>状态转换的描述</a:t>
            </a:r>
          </a:p>
        </p:txBody>
      </p:sp>
      <p:sp>
        <p:nvSpPr>
          <p:cNvPr id="67587" name="Rectangle 3"/>
          <p:cNvSpPr>
            <a:spLocks noGrp="1" noChangeArrowheads="1"/>
          </p:cNvSpPr>
          <p:nvPr>
            <p:ph type="body" idx="4294967295"/>
          </p:nvPr>
        </p:nvSpPr>
        <p:spPr>
          <a:xfrm>
            <a:off x="1524000" y="1308100"/>
            <a:ext cx="7639050" cy="1949450"/>
          </a:xfrm>
        </p:spPr>
        <p:txBody>
          <a:bodyPr>
            <a:normAutofit lnSpcReduction="10000"/>
          </a:bodyPr>
          <a:lstStyle/>
          <a:p>
            <a:pPr eaLnBrk="1" hangingPunct="1">
              <a:lnSpc>
                <a:spcPct val="130000"/>
              </a:lnSpc>
              <a:spcBef>
                <a:spcPct val="0"/>
              </a:spcBef>
            </a:pPr>
            <a:r>
              <a:rPr lang="zh-CN" altLang="en-US" sz="2400" dirty="0" smtClean="0">
                <a:cs typeface="Arial" panose="020B0604020202020204" pitchFamily="34" charset="0"/>
              </a:rPr>
              <a:t>一般用</a:t>
            </a:r>
            <a:r>
              <a:rPr lang="en-US" altLang="zh-CN" sz="2400" dirty="0" smtClean="0">
                <a:solidFill>
                  <a:srgbClr val="FF33CC"/>
                </a:solidFill>
                <a:cs typeface="Arial" panose="020B0604020202020204" pitchFamily="34" charset="0"/>
              </a:rPr>
              <a:t>case</a:t>
            </a:r>
            <a:r>
              <a:rPr lang="zh-CN" altLang="en-US" sz="2400" dirty="0" smtClean="0">
                <a:solidFill>
                  <a:srgbClr val="FF33CC"/>
                </a:solidFill>
                <a:cs typeface="Arial" panose="020B0604020202020204" pitchFamily="34" charset="0"/>
              </a:rPr>
              <a:t>、</a:t>
            </a:r>
            <a:r>
              <a:rPr lang="en-US" altLang="zh-CN" sz="2400" dirty="0" err="1" smtClean="0">
                <a:solidFill>
                  <a:srgbClr val="FF33CC"/>
                </a:solidFill>
                <a:cs typeface="Arial" panose="020B0604020202020204" pitchFamily="34" charset="0"/>
              </a:rPr>
              <a:t>casez</a:t>
            </a:r>
            <a:r>
              <a:rPr lang="zh-CN" altLang="en-US" sz="2400" dirty="0" smtClean="0">
                <a:solidFill>
                  <a:srgbClr val="FF33CC"/>
                </a:solidFill>
                <a:cs typeface="Arial" panose="020B0604020202020204" pitchFamily="34" charset="0"/>
              </a:rPr>
              <a:t>或</a:t>
            </a:r>
            <a:r>
              <a:rPr lang="en-US" altLang="zh-CN" sz="2400" dirty="0" err="1" smtClean="0">
                <a:solidFill>
                  <a:srgbClr val="FF33CC"/>
                </a:solidFill>
                <a:cs typeface="Arial" panose="020B0604020202020204" pitchFamily="34" charset="0"/>
              </a:rPr>
              <a:t>casex</a:t>
            </a:r>
            <a:r>
              <a:rPr lang="zh-CN" altLang="en-US" sz="2400" dirty="0" smtClean="0">
                <a:cs typeface="Arial" panose="020B0604020202020204" pitchFamily="34" charset="0"/>
              </a:rPr>
              <a:t>语句，比用</a:t>
            </a:r>
            <a:r>
              <a:rPr lang="en-US" altLang="zh-CN" sz="2400" dirty="0" smtClean="0">
                <a:cs typeface="Arial" panose="020B0604020202020204" pitchFamily="34" charset="0"/>
              </a:rPr>
              <a:t>if-else</a:t>
            </a:r>
            <a:r>
              <a:rPr lang="zh-CN" altLang="en-US" sz="2400" dirty="0" smtClean="0">
                <a:cs typeface="Arial" panose="020B0604020202020204" pitchFamily="34" charset="0"/>
              </a:rPr>
              <a:t>语句更清晰明了！</a:t>
            </a:r>
          </a:p>
          <a:p>
            <a:pPr eaLnBrk="1" hangingPunct="1">
              <a:lnSpc>
                <a:spcPct val="130000"/>
              </a:lnSpc>
              <a:spcBef>
                <a:spcPct val="0"/>
              </a:spcBef>
            </a:pPr>
            <a:r>
              <a:rPr lang="zh-CN" altLang="en-US" sz="2400" dirty="0" smtClean="0">
                <a:cs typeface="Arial" panose="020B0604020202020204" pitchFamily="34" charset="0"/>
              </a:rPr>
              <a:t>实用的状态机都应设计为由唯一的</a:t>
            </a:r>
            <a:r>
              <a:rPr lang="zh-CN" altLang="en-US" sz="2400" dirty="0" smtClean="0">
                <a:solidFill>
                  <a:srgbClr val="FF33CC"/>
                </a:solidFill>
                <a:cs typeface="Arial" panose="020B0604020202020204" pitchFamily="34" charset="0"/>
              </a:rPr>
              <a:t>时钟边沿</a:t>
            </a:r>
            <a:r>
              <a:rPr lang="zh-CN" altLang="en-US" sz="2400" dirty="0" smtClean="0">
                <a:cs typeface="Arial" panose="020B0604020202020204" pitchFamily="34" charset="0"/>
              </a:rPr>
              <a:t>触发的</a:t>
            </a:r>
            <a:r>
              <a:rPr lang="zh-CN" altLang="en-US" sz="2400" dirty="0" smtClean="0">
                <a:solidFill>
                  <a:srgbClr val="FF33CC"/>
                </a:solidFill>
                <a:cs typeface="Arial" panose="020B0604020202020204" pitchFamily="34" charset="0"/>
              </a:rPr>
              <a:t>同步</a:t>
            </a:r>
            <a:r>
              <a:rPr lang="zh-CN" altLang="en-US" sz="2400" dirty="0" smtClean="0">
                <a:cs typeface="Arial" panose="020B0604020202020204" pitchFamily="34" charset="0"/>
              </a:rPr>
              <a:t>运行方式</a:t>
            </a:r>
            <a:endParaRPr lang="en-US" altLang="zh-CN" sz="2400" dirty="0" smtClean="0">
              <a:cs typeface="Arial" panose="020B0604020202020204" pitchFamily="34" charset="0"/>
            </a:endParaRPr>
          </a:p>
          <a:p>
            <a:pPr lvl="1" eaLnBrk="1" hangingPunct="1">
              <a:lnSpc>
                <a:spcPct val="110000"/>
              </a:lnSpc>
              <a:spcBef>
                <a:spcPct val="0"/>
              </a:spcBef>
            </a:pPr>
            <a:endParaRPr lang="en-US" altLang="zh-CN" dirty="0" smtClean="0"/>
          </a:p>
        </p:txBody>
      </p:sp>
      <p:sp>
        <p:nvSpPr>
          <p:cNvPr id="67588" name="Rectangle 25"/>
          <p:cNvSpPr txBox="1">
            <a:spLocks noGrp="1" noChangeArrowheads="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EA06D98E-EACA-4038-8362-71C3D3F9FCFA}" type="slidenum">
              <a:rPr lang="ko-KR" altLang="en-US" sz="1600">
                <a:solidFill>
                  <a:schemeClr val="accent2"/>
                </a:solidFill>
                <a:latin typeface="Verdana" panose="020B0604030504040204" pitchFamily="34" charset="0"/>
                <a:ea typeface="Gulim" panose="020B0600000101010101" pitchFamily="34" charset="-127"/>
              </a:rPr>
              <a:t>53</a:t>
            </a:fld>
            <a:endParaRPr lang="en-US" altLang="ko-KR" sz="1600">
              <a:solidFill>
                <a:schemeClr val="accent2"/>
              </a:solidFill>
              <a:latin typeface="Verdana" panose="020B0604030504040204" pitchFamily="34" charset="0"/>
              <a:ea typeface="Gulim" panose="020B0600000101010101" pitchFamily="34" charset="-127"/>
            </a:endParaRPr>
          </a:p>
        </p:txBody>
      </p:sp>
      <p:sp>
        <p:nvSpPr>
          <p:cNvPr id="6" name="Rectangle 3"/>
          <p:cNvSpPr>
            <a:spLocks noChangeArrowheads="1"/>
          </p:cNvSpPr>
          <p:nvPr/>
        </p:nvSpPr>
        <p:spPr bwMode="auto">
          <a:xfrm>
            <a:off x="2074863" y="3794124"/>
            <a:ext cx="7827962" cy="2187576"/>
          </a:xfrm>
          <a:prstGeom prst="rect">
            <a:avLst/>
          </a:prstGeom>
          <a:solidFill>
            <a:srgbClr val="ECEA8E"/>
          </a:solidFill>
          <a:ln w="9525">
            <a:noFill/>
            <a:miter lim="800000"/>
          </a:ln>
          <a:effectLst>
            <a:prstShdw prst="shdw13" dist="53882" dir="13500000">
              <a:srgbClr val="1C1C1C"/>
            </a:prstShdw>
          </a:effectLst>
        </p:spPr>
        <p:txBody>
          <a:bodyPr anchor="ctr"/>
          <a:lstStyle/>
          <a:p>
            <a:pPr marL="342900" marR="0" lvl="0" indent="-342900" algn="l" defTabSz="914400" latinLnBrk="0">
              <a:lnSpc>
                <a:spcPct val="130000"/>
              </a:lnSpc>
              <a:spcBef>
                <a:spcPct val="0"/>
              </a:spcBef>
              <a:buClr>
                <a:schemeClr val="bg2"/>
              </a:buClr>
              <a:buSzPct val="80000"/>
              <a:buFont typeface="Wingdings" panose="05000000000000000000" pitchFamily="2" charset="2"/>
              <a:buChar char="v"/>
              <a:defRPr/>
            </a:pPr>
            <a:r>
              <a:rPr lang="zh-CN" altLang="en-US" sz="2400" dirty="0">
                <a:solidFill>
                  <a:srgbClr val="FF0000"/>
                </a:solidFill>
                <a:latin typeface="Arial" panose="020B0604020202020204" pitchFamily="34" charset="0"/>
                <a:cs typeface="Arial" panose="020B0604020202020204" pitchFamily="34" charset="0"/>
              </a:rPr>
              <a:t>多余</a:t>
            </a:r>
            <a:r>
              <a:rPr lang="zh-CN" altLang="en-US" sz="2400" dirty="0" smtClean="0">
                <a:solidFill>
                  <a:srgbClr val="FF0000"/>
                </a:solidFill>
                <a:latin typeface="Arial" panose="020B0604020202020204" pitchFamily="34" charset="0"/>
                <a:cs typeface="Arial" panose="020B0604020202020204" pitchFamily="34" charset="0"/>
              </a:rPr>
              <a:t>状态</a:t>
            </a:r>
            <a:r>
              <a:rPr lang="zh-CN" altLang="zh-CN" sz="2400" dirty="0" smtClean="0">
                <a:latin typeface="Arial" panose="020B0604020202020204" pitchFamily="34" charset="0"/>
              </a:rPr>
              <a:t>（有效状态之外的状态</a:t>
            </a:r>
            <a:r>
              <a:rPr lang="zh-CN" altLang="en-US" sz="2400" dirty="0" smtClean="0">
                <a:latin typeface="Arial" panose="020B0604020202020204" pitchFamily="34" charset="0"/>
              </a:rPr>
              <a:t>）</a:t>
            </a:r>
            <a:r>
              <a:rPr lang="zh-CN" altLang="en-US" sz="2400" dirty="0" smtClean="0">
                <a:latin typeface="Arial" panose="020B0604020202020204" pitchFamily="34" charset="0"/>
                <a:cs typeface="Arial" panose="020B0604020202020204" pitchFamily="34" charset="0"/>
              </a:rPr>
              <a:t>的</a:t>
            </a:r>
            <a:r>
              <a:rPr lang="zh-CN" altLang="en-US" sz="2400" dirty="0">
                <a:latin typeface="Arial" panose="020B0604020202020204" pitchFamily="34" charset="0"/>
                <a:cs typeface="Arial" panose="020B0604020202020204" pitchFamily="34" charset="0"/>
              </a:rPr>
              <a:t>处理</a:t>
            </a:r>
            <a:endParaRPr lang="en-US" altLang="zh-CN" sz="2400" dirty="0">
              <a:latin typeface="Arial" panose="020B0604020202020204" pitchFamily="34" charset="0"/>
              <a:cs typeface="Arial" panose="020B0604020202020204" pitchFamily="34" charset="0"/>
            </a:endParaRPr>
          </a:p>
          <a:p>
            <a:pPr marL="742950" marR="0" lvl="1" indent="-285750" algn="l" defTabSz="914400" eaLnBrk="1" latinLnBrk="0" hangingPunct="1">
              <a:lnSpc>
                <a:spcPct val="110000"/>
              </a:lnSpc>
              <a:spcBef>
                <a:spcPts val="600"/>
              </a:spcBef>
              <a:buClr>
                <a:srgbClr val="006666"/>
              </a:buClr>
              <a:buSzPct val="85000"/>
              <a:buFont typeface="Wingdings" panose="05000000000000000000" pitchFamily="2" charset="2"/>
              <a:buChar char="u"/>
              <a:defRPr/>
            </a:pPr>
            <a:r>
              <a:rPr kumimoji="1" lang="zh-CN" altLang="en-US" sz="2200" dirty="0">
                <a:latin typeface="Arial" panose="020B0604020202020204" pitchFamily="34" charset="0"/>
                <a:cs typeface="Arial" panose="020B0604020202020204" pitchFamily="34" charset="0"/>
              </a:rPr>
              <a:t>在</a:t>
            </a:r>
            <a:r>
              <a:rPr kumimoji="1" lang="en-US" altLang="zh-CN" sz="2200" dirty="0">
                <a:latin typeface="Arial" panose="020B0604020202020204" pitchFamily="34" charset="0"/>
                <a:cs typeface="Arial" panose="020B0604020202020204" pitchFamily="34" charset="0"/>
              </a:rPr>
              <a:t>case</a:t>
            </a:r>
            <a:r>
              <a:rPr kumimoji="1" lang="zh-CN" altLang="en-US" sz="2200" dirty="0">
                <a:latin typeface="Arial" panose="020B0604020202020204" pitchFamily="34" charset="0"/>
                <a:cs typeface="Arial" panose="020B0604020202020204" pitchFamily="34" charset="0"/>
              </a:rPr>
              <a:t>语句中用</a:t>
            </a:r>
            <a:r>
              <a:rPr kumimoji="1" lang="en-US" altLang="zh-CN" sz="2200" dirty="0">
                <a:latin typeface="Arial" panose="020B0604020202020204" pitchFamily="34" charset="0"/>
                <a:cs typeface="Arial" panose="020B0604020202020204" pitchFamily="34" charset="0"/>
              </a:rPr>
              <a:t>default</a:t>
            </a:r>
            <a:r>
              <a:rPr kumimoji="1" lang="zh-CN" altLang="en-US" sz="2200" dirty="0">
                <a:latin typeface="Arial" panose="020B0604020202020204" pitchFamily="34" charset="0"/>
                <a:cs typeface="Arial" panose="020B0604020202020204" pitchFamily="34" charset="0"/>
              </a:rPr>
              <a:t>分支语句决定如果进入无效状态应采取的措施（如返回到起始状态）；</a:t>
            </a:r>
          </a:p>
          <a:p>
            <a:pPr marL="742950" marR="0" lvl="1" indent="-285750" algn="l" defTabSz="914400" eaLnBrk="1" latinLnBrk="0" hangingPunct="1">
              <a:lnSpc>
                <a:spcPct val="110000"/>
              </a:lnSpc>
              <a:spcBef>
                <a:spcPts val="600"/>
              </a:spcBef>
              <a:buClr>
                <a:srgbClr val="006666"/>
              </a:buClr>
              <a:buSzPct val="85000"/>
              <a:buFont typeface="Wingdings" panose="05000000000000000000" pitchFamily="2" charset="2"/>
              <a:buChar char="u"/>
              <a:defRPr/>
            </a:pPr>
            <a:r>
              <a:rPr kumimoji="1" lang="zh-CN" altLang="en-US" sz="2200" dirty="0">
                <a:latin typeface="Arial" panose="020B0604020202020204" pitchFamily="34" charset="0"/>
                <a:cs typeface="Arial" panose="020B0604020202020204" pitchFamily="34" charset="0"/>
              </a:rPr>
              <a:t>编写必要的</a:t>
            </a:r>
            <a:r>
              <a:rPr kumimoji="1" lang="en-US" altLang="zh-CN" sz="2200" dirty="0" err="1">
                <a:latin typeface="Arial" panose="020B0604020202020204" pitchFamily="34" charset="0"/>
                <a:cs typeface="Arial" panose="020B0604020202020204" pitchFamily="34" charset="0"/>
              </a:rPr>
              <a:t>Verilog</a:t>
            </a:r>
            <a:r>
              <a:rPr kumimoji="1" lang="zh-CN" altLang="en-US" sz="2200" dirty="0">
                <a:latin typeface="Arial" panose="020B0604020202020204" pitchFamily="34" charset="0"/>
                <a:cs typeface="Arial" panose="020B0604020202020204" pitchFamily="34" charset="0"/>
              </a:rPr>
              <a:t>代码明确指定进入无效状态所采取的行为。</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4"/>
          <p:cNvSpPr>
            <a:spLocks noGrp="1"/>
          </p:cNvSpPr>
          <p:nvPr>
            <p:ph type="sldNum" sz="quarter" idx="12"/>
          </p:nvPr>
        </p:nvSpPr>
        <p:spPr>
          <a:noFill/>
        </p:spPr>
        <p:txBody>
          <a:bodyPr/>
          <a:lstStyle/>
          <a:p>
            <a:fld id="{01CD26BF-10A4-47DC-831D-6BB1BCEEAA93}" type="slidenum">
              <a:rPr lang="ko-KR" altLang="en-US" smtClean="0"/>
              <a:t>54</a:t>
            </a:fld>
            <a:endParaRPr lang="en-US" altLang="ko-KR" smtClean="0"/>
          </a:p>
        </p:txBody>
      </p:sp>
      <p:sp>
        <p:nvSpPr>
          <p:cNvPr id="74755" name="Rectangle 6"/>
          <p:cNvSpPr>
            <a:spLocks noGrp="1" noChangeArrowheads="1"/>
          </p:cNvSpPr>
          <p:nvPr>
            <p:ph type="title" idx="4294967295"/>
          </p:nvPr>
        </p:nvSpPr>
        <p:spPr>
          <a:xfrm>
            <a:off x="1752600" y="469900"/>
            <a:ext cx="6858000" cy="609600"/>
          </a:xfrm>
        </p:spPr>
        <p:txBody>
          <a:bodyPr>
            <a:normAutofit fontScale="90000"/>
          </a:bodyPr>
          <a:lstStyle/>
          <a:p>
            <a:r>
              <a:rPr lang="zh-CN" altLang="en-US" dirty="0" smtClean="0">
                <a:solidFill>
                  <a:schemeClr val="tx1"/>
                </a:solidFill>
                <a:latin typeface="Arial" panose="020B0604020202020204" pitchFamily="34" charset="0"/>
                <a:ea typeface="黑体" panose="02010609060101010101" pitchFamily="49" charset="-122"/>
              </a:rPr>
              <a:t>有限状态机的描述风格（</a:t>
            </a:r>
            <a:r>
              <a:rPr lang="en-US" altLang="zh-CN" dirty="0" smtClean="0">
                <a:solidFill>
                  <a:schemeClr val="tx1"/>
                </a:solidFill>
                <a:latin typeface="Arial" panose="020B0604020202020204" pitchFamily="34" charset="0"/>
                <a:ea typeface="黑体" panose="02010609060101010101" pitchFamily="49" charset="-122"/>
              </a:rPr>
              <a:t>1/3</a:t>
            </a:r>
            <a:r>
              <a:rPr lang="zh-CN" altLang="en-US" dirty="0" smtClean="0">
                <a:solidFill>
                  <a:schemeClr val="tx1"/>
                </a:solidFill>
                <a:latin typeface="Arial" panose="020B0604020202020204" pitchFamily="34" charset="0"/>
                <a:ea typeface="黑体" panose="02010609060101010101" pitchFamily="49" charset="-122"/>
              </a:rPr>
              <a:t>）</a:t>
            </a:r>
          </a:p>
        </p:txBody>
      </p:sp>
      <p:graphicFrame>
        <p:nvGraphicFramePr>
          <p:cNvPr id="6" name="Object 4"/>
          <p:cNvGraphicFramePr>
            <a:graphicFrameLocks noChangeAspect="1"/>
          </p:cNvGraphicFramePr>
          <p:nvPr/>
        </p:nvGraphicFramePr>
        <p:xfrm>
          <a:off x="2609850" y="2571750"/>
          <a:ext cx="7343775" cy="4014788"/>
        </p:xfrm>
        <a:graphic>
          <a:graphicData uri="http://schemas.openxmlformats.org/presentationml/2006/ole">
            <mc:AlternateContent xmlns:mc="http://schemas.openxmlformats.org/markup-compatibility/2006">
              <mc:Choice xmlns:v="urn:schemas-microsoft-com:vml" Requires="v">
                <p:oleObj spid="_x0000_s336911" name="Document" r:id="rId4" imgW="5352415" imgH="3082290" progId="Word.Document.8">
                  <p:embed/>
                </p:oleObj>
              </mc:Choice>
              <mc:Fallback>
                <p:oleObj name="Document" r:id="rId4" imgW="5352415" imgH="3082290" progId="Word.Documen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9850" y="2571750"/>
                        <a:ext cx="7343775" cy="4014788"/>
                      </a:xfrm>
                      <a:prstGeom prst="rect">
                        <a:avLst/>
                      </a:prstGeom>
                      <a:solidFill>
                        <a:srgbClr val="FFFFCC"/>
                      </a:solidFill>
                    </p:spPr>
                  </p:pic>
                </p:oleObj>
              </mc:Fallback>
            </mc:AlternateContent>
          </a:graphicData>
        </a:graphic>
      </p:graphicFrame>
      <p:sp>
        <p:nvSpPr>
          <p:cNvPr id="7" name="Rectangle 3"/>
          <p:cNvSpPr txBox="1">
            <a:spLocks noChangeArrowheads="1"/>
          </p:cNvSpPr>
          <p:nvPr/>
        </p:nvSpPr>
        <p:spPr bwMode="auto">
          <a:xfrm>
            <a:off x="2581275" y="1079500"/>
            <a:ext cx="8086725" cy="1820863"/>
          </a:xfrm>
          <a:prstGeom prst="rect">
            <a:avLst/>
          </a:prstGeom>
          <a:noFill/>
          <a:ln w="9525">
            <a:noFill/>
            <a:miter lim="800000"/>
          </a:ln>
        </p:spPr>
        <p:txBody>
          <a:bodyPr/>
          <a:lstStyle/>
          <a:p>
            <a:pPr marL="342900" indent="-342900" algn="l">
              <a:lnSpc>
                <a:spcPct val="130000"/>
              </a:lnSpc>
              <a:spcBef>
                <a:spcPct val="0"/>
              </a:spcBef>
              <a:buClr>
                <a:schemeClr val="bg2"/>
              </a:buClr>
              <a:buSzPct val="100000"/>
              <a:buFont typeface="Wingdings" panose="05000000000000000000" pitchFamily="2" charset="2"/>
              <a:buChar char="v"/>
              <a:defRPr/>
            </a:pPr>
            <a:r>
              <a:rPr lang="zh-CN" altLang="en-US" sz="2400" dirty="0">
                <a:latin typeface="Arial" panose="020B0604020202020204" pitchFamily="34" charset="0"/>
                <a:cs typeface="Arial" panose="020B0604020202020204" pitchFamily="34" charset="0"/>
              </a:rPr>
              <a:t>状态机设计中主要包含</a:t>
            </a:r>
            <a:r>
              <a:rPr lang="en-US" altLang="zh-CN" sz="2400" dirty="0">
                <a:latin typeface="Arial" panose="020B0604020202020204" pitchFamily="34" charset="0"/>
                <a:cs typeface="Arial" panose="020B0604020202020204" pitchFamily="34" charset="0"/>
              </a:rPr>
              <a:t>3</a:t>
            </a:r>
            <a:r>
              <a:rPr lang="zh-CN" altLang="en-US" sz="2400" dirty="0">
                <a:latin typeface="Arial" panose="020B0604020202020204" pitchFamily="34" charset="0"/>
                <a:cs typeface="Arial" panose="020B0604020202020204" pitchFamily="34" charset="0"/>
              </a:rPr>
              <a:t>个</a:t>
            </a:r>
            <a:r>
              <a:rPr lang="zh-CN" altLang="en-US" sz="2400" dirty="0" smtClean="0">
                <a:latin typeface="Arial" panose="020B0604020202020204" pitchFamily="34" charset="0"/>
                <a:cs typeface="Arial" panose="020B0604020202020204" pitchFamily="34" charset="0"/>
              </a:rPr>
              <a:t>对象</a:t>
            </a:r>
            <a:endParaRPr lang="en-US" altLang="zh-CN" sz="2400" dirty="0">
              <a:latin typeface="Arial" panose="020B0604020202020204" pitchFamily="34" charset="0"/>
              <a:cs typeface="Arial" panose="020B0604020202020204" pitchFamily="34" charset="0"/>
            </a:endParaRPr>
          </a:p>
          <a:p>
            <a:pPr marL="742950" lvl="1" indent="-285750" algn="l">
              <a:lnSpc>
                <a:spcPct val="110000"/>
              </a:lnSpc>
              <a:spcBef>
                <a:spcPts val="0"/>
              </a:spcBef>
              <a:buClr>
                <a:srgbClr val="006666"/>
              </a:buClr>
              <a:buSzPct val="85000"/>
              <a:buFont typeface="Wingdings" panose="05000000000000000000" pitchFamily="2" charset="2"/>
              <a:buChar char="u"/>
              <a:defRPr/>
            </a:pPr>
            <a:r>
              <a:rPr kumimoji="1" lang="zh-CN" altLang="en-US" dirty="0">
                <a:latin typeface="Arial" panose="020B0604020202020204" pitchFamily="34" charset="0"/>
                <a:cs typeface="Arial" panose="020B0604020202020204" pitchFamily="34" charset="0"/>
              </a:rPr>
              <a:t>当前状态，现态（</a:t>
            </a:r>
            <a:r>
              <a:rPr kumimoji="1" lang="en-US" altLang="zh-CN" dirty="0">
                <a:latin typeface="Arial" panose="020B0604020202020204" pitchFamily="34" charset="0"/>
                <a:cs typeface="Arial" panose="020B0604020202020204" pitchFamily="34" charset="0"/>
              </a:rPr>
              <a:t>Current State</a:t>
            </a:r>
            <a:r>
              <a:rPr kumimoji="1" lang="zh-CN" altLang="en-US" dirty="0">
                <a:latin typeface="Arial" panose="020B0604020202020204" pitchFamily="34" charset="0"/>
                <a:cs typeface="Arial" panose="020B0604020202020204" pitchFamily="34" charset="0"/>
              </a:rPr>
              <a:t>）；</a:t>
            </a:r>
            <a:endParaRPr kumimoji="1" lang="en-US" altLang="zh-CN" dirty="0">
              <a:latin typeface="Arial" panose="020B0604020202020204" pitchFamily="34" charset="0"/>
              <a:cs typeface="Arial" panose="020B0604020202020204" pitchFamily="34" charset="0"/>
            </a:endParaRPr>
          </a:p>
          <a:p>
            <a:pPr marL="742950" lvl="1" indent="-285750" algn="l">
              <a:lnSpc>
                <a:spcPct val="110000"/>
              </a:lnSpc>
              <a:spcBef>
                <a:spcPts val="0"/>
              </a:spcBef>
              <a:buClr>
                <a:srgbClr val="006666"/>
              </a:buClr>
              <a:buSzPct val="85000"/>
              <a:buFont typeface="Wingdings" panose="05000000000000000000" pitchFamily="2" charset="2"/>
              <a:buChar char="u"/>
              <a:defRPr/>
            </a:pPr>
            <a:r>
              <a:rPr kumimoji="1" lang="zh-CN" altLang="en-US" dirty="0">
                <a:latin typeface="Arial" panose="020B0604020202020204" pitchFamily="34" charset="0"/>
                <a:cs typeface="Arial" panose="020B0604020202020204" pitchFamily="34" charset="0"/>
              </a:rPr>
              <a:t>下一个状态，次态（</a:t>
            </a:r>
            <a:r>
              <a:rPr kumimoji="1" lang="en-US" altLang="zh-CN" dirty="0">
                <a:latin typeface="Arial" panose="020B0604020202020204" pitchFamily="34" charset="0"/>
                <a:cs typeface="Arial" panose="020B0604020202020204" pitchFamily="34" charset="0"/>
              </a:rPr>
              <a:t> Next State</a:t>
            </a:r>
            <a:r>
              <a:rPr kumimoji="1" lang="zh-CN" altLang="en-US" dirty="0">
                <a:latin typeface="Arial" panose="020B0604020202020204" pitchFamily="34" charset="0"/>
                <a:cs typeface="Arial" panose="020B0604020202020204" pitchFamily="34" charset="0"/>
              </a:rPr>
              <a:t>） ；</a:t>
            </a:r>
            <a:endParaRPr kumimoji="1" lang="en-US" altLang="zh-CN" dirty="0">
              <a:latin typeface="Arial" panose="020B0604020202020204" pitchFamily="34" charset="0"/>
              <a:cs typeface="Arial" panose="020B0604020202020204" pitchFamily="34" charset="0"/>
            </a:endParaRPr>
          </a:p>
          <a:p>
            <a:pPr marL="742950" lvl="1" indent="-285750" algn="l">
              <a:lnSpc>
                <a:spcPct val="110000"/>
              </a:lnSpc>
              <a:spcBef>
                <a:spcPts val="0"/>
              </a:spcBef>
              <a:buClr>
                <a:srgbClr val="006666"/>
              </a:buClr>
              <a:buSzPct val="85000"/>
              <a:buFont typeface="Wingdings" panose="05000000000000000000" pitchFamily="2" charset="2"/>
              <a:buChar char="u"/>
              <a:defRPr/>
            </a:pPr>
            <a:r>
              <a:rPr kumimoji="1" lang="zh-CN" altLang="en-US" dirty="0">
                <a:latin typeface="Arial" panose="020B0604020202020204" pitchFamily="34" charset="0"/>
                <a:cs typeface="Arial" panose="020B0604020202020204" pitchFamily="34" charset="0"/>
              </a:rPr>
              <a:t>输出</a:t>
            </a:r>
            <a:r>
              <a:rPr kumimoji="1" lang="zh-CN" altLang="en-US" dirty="0" smtClean="0">
                <a:latin typeface="Arial" panose="020B0604020202020204" pitchFamily="34" charset="0"/>
                <a:cs typeface="Arial" panose="020B0604020202020204" pitchFamily="34" charset="0"/>
              </a:rPr>
              <a:t>逻辑。</a:t>
            </a:r>
            <a:endParaRPr kumimoji="1" lang="zh-CN" altLang="en-US" dirty="0">
              <a:latin typeface="Arial" panose="020B0604020202020204" pitchFamily="34" charset="0"/>
              <a:cs typeface="Arial" panose="020B0604020202020204" pitchFamily="34" charset="0"/>
            </a:endParaRPr>
          </a:p>
        </p:txBody>
      </p:sp>
      <p:sp>
        <p:nvSpPr>
          <p:cNvPr id="8" name="AutoShape 14"/>
          <p:cNvSpPr>
            <a:spLocks noChangeArrowheads="1"/>
          </p:cNvSpPr>
          <p:nvPr/>
        </p:nvSpPr>
        <p:spPr bwMode="auto">
          <a:xfrm>
            <a:off x="1714500" y="4610100"/>
            <a:ext cx="1008063" cy="400050"/>
          </a:xfrm>
          <a:prstGeom prst="wedgeRoundRectCallout">
            <a:avLst>
              <a:gd name="adj1" fmla="val 72838"/>
              <a:gd name="adj2" fmla="val -65736"/>
              <a:gd name="adj3" fmla="val 16667"/>
            </a:avLst>
          </a:prstGeom>
          <a:solidFill>
            <a:srgbClr val="FFCCFF"/>
          </a:solidFill>
          <a:ln w="9525">
            <a:solidFill>
              <a:srgbClr val="FF6600"/>
            </a:solidFill>
            <a:miter lim="800000"/>
          </a:ln>
          <a:effectLst>
            <a:prstShdw prst="shdw17" dist="17961" dir="2700000">
              <a:srgbClr val="997A5C"/>
            </a:prstShdw>
          </a:effectLst>
        </p:spPr>
        <p:txBody>
          <a:bodyPr anchor="b"/>
          <a:lstStyle/>
          <a:p>
            <a:r>
              <a:rPr kumimoji="1" lang="zh-CN" altLang="en-US" sz="1800">
                <a:solidFill>
                  <a:schemeClr val="tx1"/>
                </a:solidFill>
                <a:latin typeface="Arial" panose="020B0604020202020204" pitchFamily="34" charset="0"/>
                <a:ea typeface="楷体_GB2312" pitchFamily="49" charset="-122"/>
              </a:rPr>
              <a:t>最常用</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4"/>
          <p:cNvSpPr>
            <a:spLocks noGrp="1"/>
          </p:cNvSpPr>
          <p:nvPr>
            <p:ph type="sldNum" sz="quarter" idx="12"/>
          </p:nvPr>
        </p:nvSpPr>
        <p:spPr>
          <a:noFill/>
        </p:spPr>
        <p:txBody>
          <a:bodyPr/>
          <a:lstStyle/>
          <a:p>
            <a:fld id="{01CD26BF-10A4-47DC-831D-6BB1BCEEAA93}" type="slidenum">
              <a:rPr lang="ko-KR" altLang="en-US" smtClean="0"/>
              <a:t>55</a:t>
            </a:fld>
            <a:endParaRPr lang="en-US" altLang="ko-KR" smtClean="0"/>
          </a:p>
        </p:txBody>
      </p:sp>
      <p:sp>
        <p:nvSpPr>
          <p:cNvPr id="74755" name="Rectangle 6"/>
          <p:cNvSpPr>
            <a:spLocks noGrp="1" noChangeArrowheads="1"/>
          </p:cNvSpPr>
          <p:nvPr>
            <p:ph type="title" idx="4294967295"/>
          </p:nvPr>
        </p:nvSpPr>
        <p:spPr>
          <a:xfrm>
            <a:off x="3810000" y="304800"/>
            <a:ext cx="6858000" cy="609600"/>
          </a:xfrm>
        </p:spPr>
        <p:txBody>
          <a:bodyPr>
            <a:normAutofit fontScale="90000"/>
          </a:bodyPr>
          <a:lstStyle/>
          <a:p>
            <a:r>
              <a:rPr lang="zh-CN" altLang="en-US" dirty="0" smtClean="0">
                <a:solidFill>
                  <a:schemeClr val="tx1"/>
                </a:solidFill>
                <a:latin typeface="Arial" panose="020B0604020202020204" pitchFamily="34" charset="0"/>
                <a:ea typeface="黑体" panose="02010609060101010101" pitchFamily="49" charset="-122"/>
              </a:rPr>
              <a:t>有限状态机的描述风格（</a:t>
            </a:r>
            <a:r>
              <a:rPr lang="en-US" altLang="zh-CN" dirty="0" smtClean="0">
                <a:solidFill>
                  <a:schemeClr val="tx1"/>
                </a:solidFill>
                <a:latin typeface="Arial" panose="020B0604020202020204" pitchFamily="34" charset="0"/>
                <a:ea typeface="黑体" panose="02010609060101010101" pitchFamily="49" charset="-122"/>
              </a:rPr>
              <a:t>2/3</a:t>
            </a:r>
            <a:r>
              <a:rPr lang="zh-CN" altLang="en-US" dirty="0" smtClean="0">
                <a:solidFill>
                  <a:schemeClr val="tx1"/>
                </a:solidFill>
                <a:latin typeface="Arial" panose="020B0604020202020204" pitchFamily="34" charset="0"/>
                <a:ea typeface="黑体" panose="02010609060101010101" pitchFamily="49" charset="-122"/>
              </a:rPr>
              <a:t>）</a:t>
            </a:r>
          </a:p>
        </p:txBody>
      </p:sp>
      <p:sp>
        <p:nvSpPr>
          <p:cNvPr id="10" name="Rectangle 4"/>
          <p:cNvSpPr>
            <a:spLocks noChangeArrowheads="1"/>
          </p:cNvSpPr>
          <p:nvPr/>
        </p:nvSpPr>
        <p:spPr bwMode="auto">
          <a:xfrm>
            <a:off x="2495550" y="3124200"/>
            <a:ext cx="7334250" cy="3638550"/>
          </a:xfrm>
          <a:prstGeom prst="rect">
            <a:avLst/>
          </a:prstGeom>
          <a:solidFill>
            <a:srgbClr val="FFFFBD"/>
          </a:solidFill>
          <a:ln w="9525">
            <a:noFill/>
            <a:miter lim="800000"/>
          </a:ln>
          <a:effectLst>
            <a:prstShdw prst="shdw13" dist="53882" dir="13500000">
              <a:srgbClr val="1C1C1C"/>
            </a:prstShdw>
          </a:effectLst>
        </p:spPr>
        <p:txBody>
          <a:bodyPr anchor="ctr"/>
          <a:lstStyle/>
          <a:p>
            <a:pPr marL="352425" indent="-352425" algn="l" fontAlgn="auto">
              <a:lnSpc>
                <a:spcPts val="3000"/>
              </a:lnSpc>
              <a:spcBef>
                <a:spcPts val="0"/>
              </a:spcBef>
              <a:spcAft>
                <a:spcPts val="0"/>
              </a:spcAft>
              <a:buClr>
                <a:srgbClr val="FF0000"/>
              </a:buClr>
              <a:buSzPct val="100000"/>
              <a:buFont typeface="Wingdings" panose="05000000000000000000" pitchFamily="2" charset="2"/>
              <a:buChar char="v"/>
              <a:defRPr/>
            </a:pPr>
            <a:r>
              <a:rPr lang="zh-CN" altLang="en-US" sz="2200" kern="0" dirty="0">
                <a:solidFill>
                  <a:srgbClr val="000000"/>
                </a:solidFill>
                <a:latin typeface="Arial" panose="020B0604020202020204" pitchFamily="34" charset="0"/>
                <a:ea typeface="楷体" panose="02010609060101010101" pitchFamily="49" charset="-122"/>
                <a:cs typeface="Arial" panose="020B0604020202020204" pitchFamily="34" charset="0"/>
              </a:rPr>
              <a:t>状态机</a:t>
            </a:r>
            <a:r>
              <a:rPr lang="zh-CN" altLang="en-US" sz="2200" dirty="0">
                <a:latin typeface="Arial" panose="020B0604020202020204" pitchFamily="34" charset="0"/>
                <a:ea typeface="楷体" panose="02010609060101010101" pitchFamily="49" charset="-122"/>
                <a:cs typeface="Arial" panose="020B0604020202020204" pitchFamily="34" charset="0"/>
              </a:rPr>
              <a:t>的</a:t>
            </a:r>
            <a:r>
              <a:rPr lang="en-US" altLang="zh-CN" sz="2200" dirty="0" err="1">
                <a:latin typeface="Arial" panose="020B0604020202020204" pitchFamily="34" charset="0"/>
                <a:ea typeface="楷体" panose="02010609060101010101" pitchFamily="49" charset="-122"/>
                <a:cs typeface="Arial" panose="020B0604020202020204" pitchFamily="34" charset="0"/>
              </a:rPr>
              <a:t>Verilog</a:t>
            </a:r>
            <a:r>
              <a:rPr lang="zh-CN" altLang="en-US" sz="2200" dirty="0" smtClean="0">
                <a:latin typeface="Arial" panose="020B0604020202020204" pitchFamily="34" charset="0"/>
                <a:ea typeface="楷体" panose="02010609060101010101" pitchFamily="49" charset="-122"/>
                <a:cs typeface="Arial" panose="020B0604020202020204" pitchFamily="34" charset="0"/>
              </a:rPr>
              <a:t>描述建议采用</a:t>
            </a:r>
            <a:r>
              <a:rPr lang="zh-CN" altLang="en-US" sz="2200" dirty="0" smtClean="0">
                <a:solidFill>
                  <a:srgbClr val="CC0099"/>
                </a:solidFill>
                <a:latin typeface="Arial" panose="020B0604020202020204" pitchFamily="34" charset="0"/>
                <a:ea typeface="楷体" panose="02010609060101010101" pitchFamily="49" charset="-122"/>
                <a:cs typeface="Arial" panose="020B0604020202020204" pitchFamily="34" charset="0"/>
              </a:rPr>
              <a:t>风格</a:t>
            </a:r>
            <a:r>
              <a:rPr lang="en-US" altLang="zh-CN" sz="2200" dirty="0" smtClean="0">
                <a:solidFill>
                  <a:srgbClr val="CC0099"/>
                </a:solidFill>
                <a:latin typeface="Arial" panose="020B0604020202020204" pitchFamily="34" charset="0"/>
                <a:ea typeface="楷体" panose="02010609060101010101" pitchFamily="49" charset="-122"/>
                <a:cs typeface="Arial" panose="020B0604020202020204" pitchFamily="34" charset="0"/>
              </a:rPr>
              <a:t>C</a:t>
            </a:r>
            <a:r>
              <a:rPr lang="zh-CN" altLang="en-US" sz="2200" dirty="0" smtClean="0">
                <a:solidFill>
                  <a:srgbClr val="CC0099"/>
                </a:solidFill>
                <a:latin typeface="Arial" panose="020B0604020202020204" pitchFamily="34" charset="0"/>
                <a:ea typeface="楷体" panose="02010609060101010101" pitchFamily="49" charset="-122"/>
                <a:cs typeface="Arial" panose="020B0604020202020204" pitchFamily="34" charset="0"/>
              </a:rPr>
              <a:t>（双过程）</a:t>
            </a:r>
            <a:r>
              <a:rPr lang="zh-CN" altLang="en-US" sz="2200" dirty="0" smtClean="0">
                <a:latin typeface="Arial" panose="020B0604020202020204" pitchFamily="34" charset="0"/>
                <a:ea typeface="楷体" panose="02010609060101010101" pitchFamily="49" charset="-122"/>
                <a:cs typeface="Arial" panose="020B0604020202020204" pitchFamily="34" charset="0"/>
              </a:rPr>
              <a:t>描述</a:t>
            </a:r>
            <a:r>
              <a:rPr lang="zh-CN" altLang="en-US" sz="2200" dirty="0">
                <a:latin typeface="Arial" panose="020B0604020202020204" pitchFamily="34" charset="0"/>
                <a:ea typeface="楷体" panose="02010609060101010101" pitchFamily="49" charset="-122"/>
                <a:cs typeface="Arial" panose="020B0604020202020204" pitchFamily="34" charset="0"/>
              </a:rPr>
              <a:t>：一个过程描述现态和次态</a:t>
            </a:r>
            <a:r>
              <a:rPr lang="zh-CN" altLang="en-US" sz="2200" dirty="0">
                <a:solidFill>
                  <a:srgbClr val="CC0099"/>
                </a:solidFill>
                <a:latin typeface="Arial" panose="020B0604020202020204" pitchFamily="34" charset="0"/>
                <a:ea typeface="楷体" panose="02010609060101010101" pitchFamily="49" charset="-122"/>
                <a:cs typeface="Arial" panose="020B0604020202020204" pitchFamily="34" charset="0"/>
              </a:rPr>
              <a:t>时序</a:t>
            </a:r>
            <a:r>
              <a:rPr lang="zh-CN" altLang="en-US" sz="2200" dirty="0">
                <a:latin typeface="Arial" panose="020B0604020202020204" pitchFamily="34" charset="0"/>
                <a:ea typeface="楷体" panose="02010609060101010101" pitchFamily="49" charset="-122"/>
                <a:cs typeface="Arial" panose="020B0604020202020204" pitchFamily="34" charset="0"/>
              </a:rPr>
              <a:t>逻辑；另一个过程描述输出逻辑（</a:t>
            </a:r>
            <a:r>
              <a:rPr lang="zh-CN" altLang="en-US" sz="2200" dirty="0">
                <a:solidFill>
                  <a:srgbClr val="CC0099"/>
                </a:solidFill>
                <a:latin typeface="Arial" panose="020B0604020202020204" pitchFamily="34" charset="0"/>
                <a:ea typeface="楷体" panose="02010609060101010101" pitchFamily="49" charset="-122"/>
                <a:cs typeface="Arial" panose="020B0604020202020204" pitchFamily="34" charset="0"/>
              </a:rPr>
              <a:t>组合</a:t>
            </a:r>
            <a:r>
              <a:rPr lang="zh-CN" altLang="en-US" sz="2200" dirty="0">
                <a:latin typeface="Arial" panose="020B0604020202020204" pitchFamily="34" charset="0"/>
                <a:ea typeface="楷体" panose="02010609060101010101" pitchFamily="49" charset="-122"/>
                <a:cs typeface="Arial" panose="020B0604020202020204" pitchFamily="34" charset="0"/>
              </a:rPr>
              <a:t>逻辑）。这样写结构清晰；将时序逻辑和组合逻辑分开描述，便于修改</a:t>
            </a:r>
            <a:r>
              <a:rPr lang="zh-CN" altLang="en-US" sz="2200" dirty="0" smtClean="0">
                <a:latin typeface="Arial" panose="020B0604020202020204" pitchFamily="34" charset="0"/>
                <a:ea typeface="楷体" panose="02010609060101010101" pitchFamily="49" charset="-122"/>
                <a:cs typeface="Arial" panose="020B0604020202020204" pitchFamily="34" charset="0"/>
              </a:rPr>
              <a:t>。</a:t>
            </a:r>
            <a:endParaRPr lang="en-US" altLang="zh-CN" sz="2200" dirty="0" smtClean="0">
              <a:latin typeface="Arial" panose="020B0604020202020204" pitchFamily="34" charset="0"/>
              <a:ea typeface="楷体" panose="02010609060101010101"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buFont typeface="Wingdings" panose="05000000000000000000" pitchFamily="2" charset="2"/>
              <a:buChar char="v"/>
              <a:defRPr/>
            </a:pPr>
            <a:r>
              <a:rPr lang="zh-CN" altLang="en-US" sz="2200" dirty="0" smtClean="0">
                <a:latin typeface="Arial" panose="020B0604020202020204" pitchFamily="34" charset="0"/>
                <a:ea typeface="楷体" panose="02010609060101010101" pitchFamily="49" charset="-122"/>
                <a:cs typeface="Arial" panose="020B0604020202020204" pitchFamily="34" charset="0"/>
              </a:rPr>
              <a:t>描述包括</a:t>
            </a:r>
            <a:r>
              <a:rPr lang="en-US" altLang="zh-CN" sz="2200" dirty="0" smtClean="0">
                <a:latin typeface="Arial" panose="020B0604020202020204" pitchFamily="34" charset="0"/>
                <a:ea typeface="楷体" panose="02010609060101010101" pitchFamily="49" charset="-122"/>
                <a:cs typeface="Arial" panose="020B0604020202020204" pitchFamily="34" charset="0"/>
              </a:rPr>
              <a:t>2</a:t>
            </a:r>
            <a:r>
              <a:rPr lang="zh-CN" altLang="en-US" sz="2200" dirty="0" smtClean="0">
                <a:latin typeface="Arial" panose="020B0604020202020204" pitchFamily="34" charset="0"/>
                <a:ea typeface="楷体" panose="02010609060101010101" pitchFamily="49" charset="-122"/>
                <a:cs typeface="Arial" panose="020B0604020202020204" pitchFamily="34" charset="0"/>
              </a:rPr>
              <a:t>个</a:t>
            </a:r>
            <a:r>
              <a:rPr lang="en-US" altLang="zh-CN" sz="2200" dirty="0" smtClean="0">
                <a:latin typeface="Arial" panose="020B0604020202020204" pitchFamily="34" charset="0"/>
                <a:ea typeface="楷体" panose="02010609060101010101" pitchFamily="49" charset="-122"/>
                <a:cs typeface="Arial" panose="020B0604020202020204" pitchFamily="34" charset="0"/>
              </a:rPr>
              <a:t>always</a:t>
            </a:r>
            <a:r>
              <a:rPr lang="zh-CN" altLang="en-US" sz="2200" dirty="0" smtClean="0">
                <a:latin typeface="Arial" panose="020B0604020202020204" pitchFamily="34" charset="0"/>
                <a:ea typeface="楷体" panose="02010609060101010101" pitchFamily="49" charset="-122"/>
                <a:cs typeface="Arial" panose="020B0604020202020204" pitchFamily="34" charset="0"/>
              </a:rPr>
              <a:t>块：</a:t>
            </a:r>
            <a:endParaRPr lang="en-US" altLang="zh-CN" sz="2200" dirty="0" smtClean="0">
              <a:latin typeface="Arial" panose="020B0604020202020204" pitchFamily="34" charset="0"/>
              <a:ea typeface="楷体" panose="02010609060101010101"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defRPr/>
            </a:pPr>
            <a:r>
              <a:rPr lang="zh-CN" altLang="en-US" sz="2200" kern="0" dirty="0" smtClean="0">
                <a:solidFill>
                  <a:sysClr val="windowText" lastClr="000000"/>
                </a:solidFill>
                <a:latin typeface="Arial" panose="020B0604020202020204" pitchFamily="34" charset="0"/>
                <a:ea typeface="楷体_GB2312" pitchFamily="49" charset="-122"/>
                <a:cs typeface="Arial" panose="020B0604020202020204" pitchFamily="34" charset="0"/>
              </a:rPr>
              <a:t>   </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r>
              <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rPr>
              <a:t>1</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always@(</a:t>
            </a:r>
            <a:r>
              <a:rPr lang="en-US" altLang="zh-CN" kern="0" dirty="0" err="1" smtClean="0">
                <a:solidFill>
                  <a:srgbClr val="FF0066"/>
                </a:solidFill>
                <a:latin typeface="Arial" panose="020B0604020202020204" pitchFamily="34" charset="0"/>
                <a:ea typeface="宋体" panose="02010600030101010101" pitchFamily="2" charset="-122"/>
                <a:cs typeface="Arial" panose="020B0604020202020204" pitchFamily="34" charset="0"/>
              </a:rPr>
              <a:t>posedge</a:t>
            </a: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a:t>
            </a:r>
            <a:r>
              <a:rPr lang="en-US" altLang="zh-CN" kern="0" dirty="0" err="1" smtClean="0">
                <a:solidFill>
                  <a:srgbClr val="FF0066"/>
                </a:solidFill>
                <a:latin typeface="Arial" panose="020B0604020202020204" pitchFamily="34" charset="0"/>
                <a:ea typeface="宋体" panose="02010600030101010101" pitchFamily="2" charset="-122"/>
                <a:cs typeface="Arial" panose="020B0604020202020204" pitchFamily="34" charset="0"/>
              </a:rPr>
              <a:t>clk</a:t>
            </a: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or </a:t>
            </a:r>
            <a:r>
              <a:rPr lang="en-US" altLang="zh-CN" kern="0" dirty="0" err="1" smtClean="0">
                <a:solidFill>
                  <a:srgbClr val="FF0066"/>
                </a:solidFill>
                <a:latin typeface="Arial" panose="020B0604020202020204" pitchFamily="34" charset="0"/>
                <a:ea typeface="宋体" panose="02010600030101010101" pitchFamily="2" charset="-122"/>
                <a:cs typeface="Arial" panose="020B0604020202020204" pitchFamily="34" charset="0"/>
              </a:rPr>
              <a:t>posedge</a:t>
            </a: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reset)  </a:t>
            </a:r>
          </a:p>
          <a:p>
            <a:pPr marL="352425" lvl="0" indent="-352425" algn="l" fontAlgn="auto">
              <a:lnSpc>
                <a:spcPts val="3000"/>
              </a:lnSpc>
              <a:spcBef>
                <a:spcPts val="0"/>
              </a:spcBef>
              <a:spcAft>
                <a:spcPts val="0"/>
              </a:spcAft>
              <a:buClr>
                <a:srgbClr val="FF0000"/>
              </a:buClr>
              <a:buSzPct val="100000"/>
              <a:defRPr/>
            </a:pPr>
            <a:r>
              <a:rPr lang="en-US" altLang="zh-CN" kern="0" dirty="0" smtClean="0">
                <a:solidFill>
                  <a:srgbClr val="FF0066"/>
                </a:solidFill>
                <a:latin typeface="Arial" panose="020B0604020202020204" pitchFamily="34" charset="0"/>
                <a:ea typeface="楷体_GB2312" pitchFamily="49" charset="-122"/>
                <a:cs typeface="Arial" panose="020B0604020202020204" pitchFamily="34" charset="0"/>
              </a:rPr>
              <a:t>                </a:t>
            </a:r>
            <a:r>
              <a:rPr lang="en-US" altLang="zh-CN" kern="0" dirty="0" smtClean="0">
                <a:solidFill>
                  <a:srgbClr val="000000"/>
                </a:solidFill>
                <a:latin typeface="Arial" panose="020B0604020202020204" pitchFamily="34" charset="0"/>
                <a:ea typeface="宋体" panose="02010600030101010101" pitchFamily="2" charset="-122"/>
                <a:cs typeface="Arial" panose="020B0604020202020204" pitchFamily="34" charset="0"/>
              </a:rPr>
              <a:t> if(reset) state=…;//</a:t>
            </a:r>
            <a:r>
              <a:rPr lang="zh-CN" altLang="en-US" sz="2200" dirty="0" smtClean="0">
                <a:latin typeface="Arial" panose="020B0604020202020204" pitchFamily="34" charset="0"/>
                <a:ea typeface="楷体" panose="02010609060101010101" pitchFamily="49" charset="-122"/>
                <a:cs typeface="Arial" panose="020B0604020202020204" pitchFamily="34" charset="0"/>
              </a:rPr>
              <a:t>复位时回到初始状态</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endPar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defRPr/>
            </a:pP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                 </a:t>
            </a:r>
            <a:r>
              <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rPr>
              <a:t>else ……            </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 </a:t>
            </a:r>
            <a:r>
              <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r>
              <a:rPr lang="zh-CN" altLang="en-US" sz="2200" dirty="0" smtClean="0">
                <a:latin typeface="Arial" panose="020B0604020202020204" pitchFamily="34" charset="0"/>
                <a:ea typeface="楷体" panose="02010609060101010101" pitchFamily="49" charset="-122"/>
                <a:cs typeface="Arial" panose="020B0604020202020204" pitchFamily="34" charset="0"/>
              </a:rPr>
              <a:t>状态的转移</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endPar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defRPr/>
            </a:pP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   （</a:t>
            </a:r>
            <a:r>
              <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rPr>
              <a:t>2</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r>
              <a:rPr lang="zh-CN" altLang="en-US" kern="0" dirty="0" smtClean="0">
                <a:solidFill>
                  <a:srgbClr val="000000"/>
                </a:solidFill>
                <a:latin typeface="Arial" panose="020B0604020202020204" pitchFamily="34" charset="0"/>
                <a:ea typeface="宋体" panose="02010600030101010101" pitchFamily="2" charset="-122"/>
                <a:cs typeface="Arial" panose="020B0604020202020204" pitchFamily="34" charset="0"/>
              </a:rPr>
              <a:t>  </a:t>
            </a:r>
            <a:r>
              <a:rPr lang="en-US" altLang="zh-CN" kern="0" dirty="0" smtClean="0">
                <a:solidFill>
                  <a:srgbClr val="000000"/>
                </a:solidFill>
                <a:latin typeface="Arial" panose="020B0604020202020204" pitchFamily="34" charset="0"/>
                <a:ea typeface="宋体" panose="02010600030101010101" pitchFamily="2" charset="-122"/>
                <a:cs typeface="Arial" panose="020B0604020202020204" pitchFamily="34" charset="0"/>
              </a:rPr>
              <a:t>always@(state)     //</a:t>
            </a:r>
            <a:r>
              <a:rPr lang="zh-CN" altLang="en-US" sz="2200" dirty="0" smtClean="0">
                <a:latin typeface="Arial" panose="020B0604020202020204" pitchFamily="34" charset="0"/>
                <a:ea typeface="楷体" panose="02010609060101010101" pitchFamily="49" charset="-122"/>
                <a:cs typeface="Arial" panose="020B0604020202020204" pitchFamily="34" charset="0"/>
              </a:rPr>
              <a:t>状态机的输出</a:t>
            </a:r>
            <a:endParaRPr lang="zh-CN" altLang="en-US" sz="2200" dirty="0">
              <a:latin typeface="Arial" panose="020B0604020202020204" pitchFamily="34" charset="0"/>
              <a:ea typeface="楷体" panose="02010609060101010101" pitchFamily="49" charset="-122"/>
              <a:cs typeface="Arial" panose="020B0604020202020204" pitchFamily="34" charset="0"/>
            </a:endParaRPr>
          </a:p>
        </p:txBody>
      </p:sp>
      <p:sp>
        <p:nvSpPr>
          <p:cNvPr id="8" name="Rectangle 3"/>
          <p:cNvSpPr txBox="1">
            <a:spLocks noChangeArrowheads="1"/>
          </p:cNvSpPr>
          <p:nvPr/>
        </p:nvSpPr>
        <p:spPr bwMode="auto">
          <a:xfrm>
            <a:off x="1876425" y="1231900"/>
            <a:ext cx="8086725" cy="1820863"/>
          </a:xfrm>
          <a:prstGeom prst="rect">
            <a:avLst/>
          </a:prstGeom>
          <a:noFill/>
          <a:ln w="9525">
            <a:noFill/>
            <a:miter lim="800000"/>
          </a:ln>
        </p:spPr>
        <p:txBody>
          <a:bodyPr/>
          <a:lstStyle/>
          <a:p>
            <a:pPr marL="742950" lvl="1" indent="-285750" algn="l">
              <a:lnSpc>
                <a:spcPct val="110000"/>
              </a:lnSpc>
              <a:spcBef>
                <a:spcPts val="0"/>
              </a:spcBef>
              <a:buClr>
                <a:srgbClr val="006666"/>
              </a:buClr>
              <a:buSzPct val="85000"/>
              <a:buFont typeface="Wingdings" panose="05000000000000000000" pitchFamily="2" charset="2"/>
              <a:buChar char="u"/>
              <a:defRPr/>
            </a:pPr>
            <a:r>
              <a:rPr lang="zh-CN" altLang="en-US" dirty="0" smtClean="0">
                <a:solidFill>
                  <a:srgbClr val="FF0000"/>
                </a:solidFill>
                <a:ea typeface="宋体" panose="02010600030101010101" pitchFamily="2" charset="-122"/>
              </a:rPr>
              <a:t>次态逻辑</a:t>
            </a:r>
            <a:r>
              <a:rPr lang="zh-CN" altLang="en-US" dirty="0" smtClean="0">
                <a:ea typeface="宋体" panose="02010600030101010101" pitchFamily="2" charset="-122"/>
              </a:rPr>
              <a:t>指实现状态的转换（根据现态和输入产生次态）；</a:t>
            </a:r>
            <a:endParaRPr lang="en-US" altLang="zh-CN" dirty="0" smtClean="0">
              <a:ea typeface="宋体" panose="02010600030101010101" pitchFamily="2" charset="-122"/>
            </a:endParaRPr>
          </a:p>
          <a:p>
            <a:pPr marL="742950" lvl="1" indent="-285750" algn="l">
              <a:lnSpc>
                <a:spcPct val="110000"/>
              </a:lnSpc>
              <a:spcBef>
                <a:spcPts val="0"/>
              </a:spcBef>
              <a:buClr>
                <a:srgbClr val="006666"/>
              </a:buClr>
              <a:buSzPct val="85000"/>
              <a:buFont typeface="Wingdings" panose="05000000000000000000" pitchFamily="2" charset="2"/>
              <a:buChar char="u"/>
              <a:defRPr/>
            </a:pPr>
            <a:r>
              <a:rPr lang="zh-CN" altLang="en-US" dirty="0" smtClean="0">
                <a:solidFill>
                  <a:srgbClr val="FF0000"/>
                </a:solidFill>
                <a:ea typeface="宋体" panose="02010600030101010101" pitchFamily="2" charset="-122"/>
              </a:rPr>
              <a:t>状态寄存器</a:t>
            </a:r>
            <a:r>
              <a:rPr lang="zh-CN" altLang="en-US" dirty="0" smtClean="0">
                <a:ea typeface="宋体" panose="02010600030101010101" pitchFamily="2" charset="-122"/>
              </a:rPr>
              <a:t>指根据复位信号定义起始状态以及在时钟上升沿时将次态赋给现态（</a:t>
            </a:r>
            <a:r>
              <a:rPr lang="en-US" altLang="zh-CN" dirty="0" smtClean="0">
                <a:ea typeface="宋体" panose="02010600030101010101" pitchFamily="2" charset="-122"/>
              </a:rPr>
              <a:t>present&lt;=next;</a:t>
            </a:r>
            <a:r>
              <a:rPr lang="zh-CN" altLang="en-US" dirty="0" smtClean="0">
                <a:ea typeface="宋体" panose="02010600030101010101" pitchFamily="2" charset="-122"/>
              </a:rPr>
              <a:t>）；</a:t>
            </a:r>
            <a:endParaRPr lang="en-US" altLang="zh-CN" dirty="0" smtClean="0">
              <a:ea typeface="宋体" panose="02010600030101010101" pitchFamily="2" charset="-122"/>
            </a:endParaRPr>
          </a:p>
          <a:p>
            <a:pPr marL="742950" lvl="1" indent="-285750" algn="l">
              <a:lnSpc>
                <a:spcPct val="110000"/>
              </a:lnSpc>
              <a:spcBef>
                <a:spcPts val="0"/>
              </a:spcBef>
              <a:buClr>
                <a:srgbClr val="006666"/>
              </a:buClr>
              <a:buSzPct val="85000"/>
              <a:buFont typeface="Wingdings" panose="05000000000000000000" pitchFamily="2" charset="2"/>
              <a:buChar char="u"/>
              <a:defRPr/>
            </a:pPr>
            <a:r>
              <a:rPr lang="zh-CN" altLang="en-US" dirty="0" smtClean="0">
                <a:solidFill>
                  <a:srgbClr val="FF0000"/>
                </a:solidFill>
                <a:ea typeface="宋体" panose="02010600030101010101" pitchFamily="2" charset="-122"/>
              </a:rPr>
              <a:t>输出逻辑</a:t>
            </a:r>
            <a:r>
              <a:rPr lang="zh-CN" altLang="en-US" dirty="0" smtClean="0">
                <a:ea typeface="宋体" panose="02010600030101010101" pitchFamily="2" charset="-122"/>
              </a:rPr>
              <a:t>指</a:t>
            </a:r>
            <a:r>
              <a:rPr lang="en-US" altLang="zh-CN" dirty="0" smtClean="0">
                <a:ea typeface="宋体" panose="02010600030101010101" pitchFamily="2" charset="-122"/>
              </a:rPr>
              <a:t>Moore</a:t>
            </a:r>
            <a:r>
              <a:rPr lang="zh-CN" altLang="en-US" dirty="0" smtClean="0">
                <a:ea typeface="宋体" panose="02010600030101010101" pitchFamily="2" charset="-122"/>
              </a:rPr>
              <a:t>型状态机根据现态产生输出信号，或者</a:t>
            </a:r>
            <a:r>
              <a:rPr lang="en-US" altLang="zh-CN" dirty="0" smtClean="0">
                <a:ea typeface="宋体" panose="02010600030101010101" pitchFamily="2" charset="-122"/>
              </a:rPr>
              <a:t>Mealy</a:t>
            </a:r>
            <a:r>
              <a:rPr lang="zh-CN" altLang="en-US" dirty="0" smtClean="0">
                <a:ea typeface="宋体" panose="02010600030101010101" pitchFamily="2" charset="-122"/>
              </a:rPr>
              <a:t>型状态机根据现态和输入产生输出信号。</a:t>
            </a:r>
            <a:endParaRPr kumimoji="1" lang="zh-CN" altLang="en-US" dirty="0">
              <a:latin typeface="Arial" panose="020B0604020202020204" pitchFamily="34" charset="0"/>
              <a:cs typeface="Arial" panose="020B0604020202020204" pitchFamily="34"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strVal val="#ppt_w*0.70"/>
                                          </p:val>
                                        </p:tav>
                                        <p:tav tm="100000">
                                          <p:val>
                                            <p:strVal val="#ppt_w"/>
                                          </p:val>
                                        </p:tav>
                                      </p:tavLst>
                                    </p:anim>
                                    <p:anim calcmode="lin" valueType="num">
                                      <p:cBhvr>
                                        <p:cTn id="8" dur="1000" fill="hold"/>
                                        <p:tgtEl>
                                          <p:spTgt spid="10"/>
                                        </p:tgtEl>
                                        <p:attrNameLst>
                                          <p:attrName>ppt_h</p:attrName>
                                        </p:attrNameLst>
                                      </p:cBhvr>
                                      <p:tavLst>
                                        <p:tav tm="0">
                                          <p:val>
                                            <p:strVal val="#ppt_h"/>
                                          </p:val>
                                        </p:tav>
                                        <p:tav tm="100000">
                                          <p:val>
                                            <p:strVal val="#ppt_h"/>
                                          </p:val>
                                        </p:tav>
                                      </p:tavLst>
                                    </p:anim>
                                    <p:animEffect transition="in" filter="fade">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4"/>
          <p:cNvSpPr>
            <a:spLocks noGrp="1"/>
          </p:cNvSpPr>
          <p:nvPr>
            <p:ph type="sldNum" sz="quarter" idx="12"/>
          </p:nvPr>
        </p:nvSpPr>
        <p:spPr>
          <a:noFill/>
        </p:spPr>
        <p:txBody>
          <a:bodyPr/>
          <a:lstStyle/>
          <a:p>
            <a:fld id="{01CD26BF-10A4-47DC-831D-6BB1BCEEAA93}" type="slidenum">
              <a:rPr lang="ko-KR" altLang="en-US" smtClean="0"/>
              <a:t>56</a:t>
            </a:fld>
            <a:endParaRPr lang="en-US" altLang="ko-KR" smtClean="0"/>
          </a:p>
        </p:txBody>
      </p:sp>
      <p:sp>
        <p:nvSpPr>
          <p:cNvPr id="74755" name="Rectangle 6"/>
          <p:cNvSpPr>
            <a:spLocks noGrp="1" noChangeArrowheads="1"/>
          </p:cNvSpPr>
          <p:nvPr>
            <p:ph type="title" idx="4294967295"/>
          </p:nvPr>
        </p:nvSpPr>
        <p:spPr>
          <a:xfrm>
            <a:off x="3810000" y="304800"/>
            <a:ext cx="6858000" cy="609600"/>
          </a:xfrm>
        </p:spPr>
        <p:txBody>
          <a:bodyPr>
            <a:normAutofit fontScale="90000"/>
          </a:bodyPr>
          <a:lstStyle/>
          <a:p>
            <a:r>
              <a:rPr lang="zh-CN" altLang="en-US" dirty="0" smtClean="0">
                <a:solidFill>
                  <a:schemeClr val="tx1"/>
                </a:solidFill>
                <a:latin typeface="Arial" panose="020B0604020202020204" pitchFamily="34" charset="0"/>
                <a:ea typeface="黑体" panose="02010609060101010101" pitchFamily="49" charset="-122"/>
              </a:rPr>
              <a:t>有限状态机的描述风格（</a:t>
            </a:r>
            <a:r>
              <a:rPr lang="en-US" altLang="zh-CN" dirty="0" smtClean="0">
                <a:solidFill>
                  <a:schemeClr val="tx1"/>
                </a:solidFill>
                <a:latin typeface="Arial" panose="020B0604020202020204" pitchFamily="34" charset="0"/>
                <a:ea typeface="黑体" panose="02010609060101010101" pitchFamily="49" charset="-122"/>
              </a:rPr>
              <a:t>3/3</a:t>
            </a:r>
            <a:r>
              <a:rPr lang="zh-CN" altLang="en-US" dirty="0" smtClean="0">
                <a:solidFill>
                  <a:schemeClr val="tx1"/>
                </a:solidFill>
                <a:latin typeface="Arial" panose="020B0604020202020204" pitchFamily="34" charset="0"/>
                <a:ea typeface="黑体" panose="02010609060101010101" pitchFamily="49" charset="-122"/>
              </a:rPr>
              <a:t>）</a:t>
            </a:r>
          </a:p>
        </p:txBody>
      </p:sp>
      <p:sp>
        <p:nvSpPr>
          <p:cNvPr id="10" name="Rectangle 4"/>
          <p:cNvSpPr>
            <a:spLocks noChangeArrowheads="1"/>
          </p:cNvSpPr>
          <p:nvPr/>
        </p:nvSpPr>
        <p:spPr bwMode="auto">
          <a:xfrm>
            <a:off x="1981200" y="1333500"/>
            <a:ext cx="8439150" cy="5124450"/>
          </a:xfrm>
          <a:prstGeom prst="rect">
            <a:avLst/>
          </a:prstGeom>
          <a:solidFill>
            <a:srgbClr val="FFDDFF"/>
          </a:solidFill>
          <a:ln w="9525">
            <a:noFill/>
            <a:miter lim="800000"/>
          </a:ln>
          <a:effectLst>
            <a:prstShdw prst="shdw13" dist="53882" dir="13500000">
              <a:srgbClr val="1C1C1C"/>
            </a:prstShdw>
          </a:effectLst>
        </p:spPr>
        <p:txBody>
          <a:bodyPr anchor="ctr"/>
          <a:lstStyle/>
          <a:p>
            <a:pPr marL="352425" indent="-352425" algn="l" fontAlgn="auto">
              <a:lnSpc>
                <a:spcPts val="3000"/>
              </a:lnSpc>
              <a:spcBef>
                <a:spcPts val="0"/>
              </a:spcBef>
              <a:spcAft>
                <a:spcPts val="0"/>
              </a:spcAft>
              <a:buClr>
                <a:srgbClr val="FF0000"/>
              </a:buClr>
              <a:buSzPct val="100000"/>
              <a:buFont typeface="Wingdings" panose="05000000000000000000" pitchFamily="2" charset="2"/>
              <a:buChar char="v"/>
              <a:defRPr/>
            </a:pPr>
            <a:r>
              <a:rPr lang="zh-CN"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rPr>
              <a:t>有时也采用</a:t>
            </a:r>
            <a:r>
              <a:rPr lang="zh-CN" altLang="zh-CN" sz="2200" kern="0" dirty="0" smtClean="0">
                <a:solidFill>
                  <a:srgbClr val="CC0099"/>
                </a:solidFill>
                <a:latin typeface="Arial" panose="020B0604020202020204" pitchFamily="34" charset="0"/>
                <a:ea typeface="楷体" panose="02010609060101010101" pitchFamily="49" charset="-122"/>
                <a:cs typeface="Arial" panose="020B0604020202020204" pitchFamily="34" charset="0"/>
              </a:rPr>
              <a:t>风格</a:t>
            </a:r>
            <a:r>
              <a:rPr lang="en-US" altLang="zh-CN" sz="2200" kern="0" dirty="0" smtClean="0">
                <a:solidFill>
                  <a:srgbClr val="CC0099"/>
                </a:solidFill>
                <a:latin typeface="Arial" panose="020B0604020202020204" pitchFamily="34" charset="0"/>
                <a:ea typeface="楷体" panose="02010609060101010101" pitchFamily="49" charset="-122"/>
                <a:cs typeface="Arial" panose="020B0604020202020204" pitchFamily="34" charset="0"/>
              </a:rPr>
              <a:t>B</a:t>
            </a:r>
            <a:r>
              <a:rPr lang="zh-CN" altLang="zh-CN" sz="2200" kern="0" dirty="0" smtClean="0">
                <a:solidFill>
                  <a:srgbClr val="CC0099"/>
                </a:solidFill>
                <a:latin typeface="Arial" panose="020B0604020202020204" pitchFamily="34" charset="0"/>
                <a:ea typeface="楷体" panose="02010609060101010101" pitchFamily="49" charset="-122"/>
                <a:cs typeface="Arial" panose="020B0604020202020204" pitchFamily="34" charset="0"/>
              </a:rPr>
              <a:t>（单过程）</a:t>
            </a:r>
            <a:r>
              <a:rPr lang="zh-CN"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rPr>
              <a:t>描述方式，即将状态机的现态、次态和输出逻辑放在一个</a:t>
            </a:r>
            <a:r>
              <a:rPr lang="en-US"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rPr>
              <a:t>always</a:t>
            </a:r>
            <a:r>
              <a:rPr lang="zh-CN"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rPr>
              <a:t>块中进行描述。</a:t>
            </a:r>
            <a:endParaRPr lang="en-US"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endParaRPr>
          </a:p>
          <a:p>
            <a:pPr marL="352425" indent="-352425" algn="l" fontAlgn="auto">
              <a:lnSpc>
                <a:spcPts val="3000"/>
              </a:lnSpc>
              <a:spcBef>
                <a:spcPts val="0"/>
              </a:spcBef>
              <a:spcAft>
                <a:spcPts val="0"/>
              </a:spcAft>
              <a:buClr>
                <a:srgbClr val="FF0000"/>
              </a:buClr>
              <a:buSzPct val="100000"/>
              <a:buFont typeface="Wingdings" panose="05000000000000000000" pitchFamily="2" charset="2"/>
              <a:buChar char="v"/>
              <a:defRPr/>
            </a:pPr>
            <a:r>
              <a:rPr lang="zh-CN"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rPr>
              <a:t>其优点是采用时钟信号来同步输出信号，可以克服输出信号出现毛刺的问题，适于输出信号作为控制逻辑的场合使用，有效避免了因输出信号带有毛刺而产生错误的控制逻辑</a:t>
            </a:r>
            <a:r>
              <a:rPr lang="en-US"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rPr>
              <a:t>.</a:t>
            </a:r>
          </a:p>
          <a:p>
            <a:pPr marL="352425" indent="-352425" algn="l" fontAlgn="auto">
              <a:lnSpc>
                <a:spcPts val="3000"/>
              </a:lnSpc>
              <a:spcBef>
                <a:spcPts val="0"/>
              </a:spcBef>
              <a:spcAft>
                <a:spcPts val="0"/>
              </a:spcAft>
              <a:buClr>
                <a:srgbClr val="FF0000"/>
              </a:buClr>
              <a:buSzPct val="100000"/>
              <a:buFont typeface="Wingdings" panose="05000000000000000000" pitchFamily="2" charset="2"/>
              <a:buChar char="v"/>
              <a:defRPr/>
            </a:pPr>
            <a:r>
              <a:rPr lang="zh-CN" altLang="zh-CN" sz="2200" kern="0" dirty="0" smtClean="0">
                <a:solidFill>
                  <a:srgbClr val="000000"/>
                </a:solidFill>
                <a:latin typeface="Arial" panose="020B0604020202020204" pitchFamily="34" charset="0"/>
                <a:ea typeface="楷体" panose="02010609060101010101" pitchFamily="49" charset="-122"/>
                <a:cs typeface="Arial" panose="020B0604020202020204" pitchFamily="34" charset="0"/>
              </a:rPr>
              <a:t>不足是输出信号会比双过程描述方式中的输出信号延迟一个时钟周期的时间。</a:t>
            </a:r>
            <a:endParaRPr lang="en-US" altLang="zh-CN" sz="2200" dirty="0" smtClean="0">
              <a:latin typeface="Arial" panose="020B0604020202020204" pitchFamily="34" charset="0"/>
              <a:ea typeface="楷体" panose="02010609060101010101"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buFont typeface="Wingdings" panose="05000000000000000000" pitchFamily="2" charset="2"/>
              <a:buChar char="v"/>
              <a:defRPr/>
            </a:pPr>
            <a:r>
              <a:rPr lang="zh-CN" altLang="en-US" sz="2200" dirty="0" smtClean="0">
                <a:latin typeface="Arial" panose="020B0604020202020204" pitchFamily="34" charset="0"/>
                <a:ea typeface="楷体" panose="02010609060101010101" pitchFamily="49" charset="-122"/>
                <a:cs typeface="Arial" panose="020B0604020202020204" pitchFamily="34" charset="0"/>
              </a:rPr>
              <a:t>描述只有</a:t>
            </a:r>
            <a:r>
              <a:rPr lang="en-US" altLang="zh-CN" sz="2200" dirty="0" smtClean="0">
                <a:latin typeface="Arial" panose="020B0604020202020204" pitchFamily="34" charset="0"/>
                <a:ea typeface="楷体" panose="02010609060101010101" pitchFamily="49" charset="-122"/>
                <a:cs typeface="Arial" panose="020B0604020202020204" pitchFamily="34" charset="0"/>
              </a:rPr>
              <a:t>1</a:t>
            </a:r>
            <a:r>
              <a:rPr lang="zh-CN" altLang="en-US" sz="2200" dirty="0" smtClean="0">
                <a:latin typeface="Arial" panose="020B0604020202020204" pitchFamily="34" charset="0"/>
                <a:ea typeface="楷体" panose="02010609060101010101" pitchFamily="49" charset="-122"/>
                <a:cs typeface="Arial" panose="020B0604020202020204" pitchFamily="34" charset="0"/>
              </a:rPr>
              <a:t>个</a:t>
            </a:r>
            <a:r>
              <a:rPr lang="en-US" altLang="zh-CN" sz="2200" dirty="0" smtClean="0">
                <a:latin typeface="Arial" panose="020B0604020202020204" pitchFamily="34" charset="0"/>
                <a:ea typeface="楷体" panose="02010609060101010101" pitchFamily="49" charset="-122"/>
                <a:cs typeface="Arial" panose="020B0604020202020204" pitchFamily="34" charset="0"/>
              </a:rPr>
              <a:t>always</a:t>
            </a:r>
            <a:r>
              <a:rPr lang="zh-CN" altLang="en-US" sz="2200" dirty="0" smtClean="0">
                <a:latin typeface="Arial" panose="020B0604020202020204" pitchFamily="34" charset="0"/>
                <a:ea typeface="楷体" panose="02010609060101010101" pitchFamily="49" charset="-122"/>
                <a:cs typeface="Arial" panose="020B0604020202020204" pitchFamily="34" charset="0"/>
              </a:rPr>
              <a:t>块：</a:t>
            </a:r>
            <a:endParaRPr lang="en-US" altLang="zh-CN" sz="2200" dirty="0" smtClean="0">
              <a:latin typeface="Arial" panose="020B0604020202020204" pitchFamily="34" charset="0"/>
              <a:ea typeface="楷体" panose="02010609060101010101"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defRPr/>
            </a:pP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always@(</a:t>
            </a:r>
            <a:r>
              <a:rPr lang="en-US" altLang="zh-CN" kern="0" dirty="0" err="1" smtClean="0">
                <a:solidFill>
                  <a:srgbClr val="FF0066"/>
                </a:solidFill>
                <a:latin typeface="Arial" panose="020B0604020202020204" pitchFamily="34" charset="0"/>
                <a:ea typeface="宋体" panose="02010600030101010101" pitchFamily="2" charset="-122"/>
                <a:cs typeface="Arial" panose="020B0604020202020204" pitchFamily="34" charset="0"/>
              </a:rPr>
              <a:t>posedge</a:t>
            </a: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a:t>
            </a:r>
            <a:r>
              <a:rPr lang="en-US" altLang="zh-CN" kern="0" dirty="0" err="1" smtClean="0">
                <a:solidFill>
                  <a:srgbClr val="FF0066"/>
                </a:solidFill>
                <a:latin typeface="Arial" panose="020B0604020202020204" pitchFamily="34" charset="0"/>
                <a:ea typeface="宋体" panose="02010600030101010101" pitchFamily="2" charset="-122"/>
                <a:cs typeface="Arial" panose="020B0604020202020204" pitchFamily="34" charset="0"/>
              </a:rPr>
              <a:t>clk</a:t>
            </a: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or </a:t>
            </a:r>
            <a:r>
              <a:rPr lang="en-US" altLang="zh-CN" kern="0" dirty="0" err="1" smtClean="0">
                <a:solidFill>
                  <a:srgbClr val="FF0066"/>
                </a:solidFill>
                <a:latin typeface="Arial" panose="020B0604020202020204" pitchFamily="34" charset="0"/>
                <a:ea typeface="宋体" panose="02010600030101010101" pitchFamily="2" charset="-122"/>
                <a:cs typeface="Arial" panose="020B0604020202020204" pitchFamily="34" charset="0"/>
              </a:rPr>
              <a:t>posedge</a:t>
            </a:r>
            <a:r>
              <a:rPr lang="en-US" altLang="zh-CN" kern="0" dirty="0" smtClean="0">
                <a:solidFill>
                  <a:srgbClr val="FF0066"/>
                </a:solidFill>
                <a:latin typeface="Arial" panose="020B0604020202020204" pitchFamily="34" charset="0"/>
                <a:ea typeface="宋体" panose="02010600030101010101" pitchFamily="2" charset="-122"/>
                <a:cs typeface="Arial" panose="020B0604020202020204" pitchFamily="34" charset="0"/>
              </a:rPr>
              <a:t> reset)  </a:t>
            </a:r>
          </a:p>
          <a:p>
            <a:pPr marL="352425" lvl="0" indent="-352425" algn="l" fontAlgn="auto">
              <a:lnSpc>
                <a:spcPts val="3000"/>
              </a:lnSpc>
              <a:spcBef>
                <a:spcPts val="0"/>
              </a:spcBef>
              <a:spcAft>
                <a:spcPts val="0"/>
              </a:spcAft>
              <a:buClr>
                <a:srgbClr val="FF0000"/>
              </a:buClr>
              <a:buSzPct val="100000"/>
              <a:defRPr/>
            </a:pPr>
            <a:r>
              <a:rPr lang="en-US" altLang="zh-CN" kern="0" dirty="0" smtClean="0">
                <a:solidFill>
                  <a:srgbClr val="FF0066"/>
                </a:solidFill>
                <a:latin typeface="Arial" panose="020B0604020202020204" pitchFamily="34" charset="0"/>
                <a:ea typeface="楷体_GB2312" pitchFamily="49" charset="-122"/>
                <a:cs typeface="Arial" panose="020B0604020202020204" pitchFamily="34" charset="0"/>
              </a:rPr>
              <a:t>                </a:t>
            </a:r>
            <a:r>
              <a:rPr lang="en-US" altLang="zh-CN" kern="0" dirty="0" smtClean="0">
                <a:solidFill>
                  <a:srgbClr val="000000"/>
                </a:solidFill>
                <a:latin typeface="Arial" panose="020B0604020202020204" pitchFamily="34" charset="0"/>
                <a:ea typeface="宋体" panose="02010600030101010101" pitchFamily="2" charset="-122"/>
                <a:cs typeface="Arial" panose="020B0604020202020204" pitchFamily="34" charset="0"/>
              </a:rPr>
              <a:t> if(reset) state=…;//</a:t>
            </a:r>
            <a:r>
              <a:rPr lang="zh-CN" altLang="en-US" sz="2200" dirty="0" smtClean="0">
                <a:latin typeface="Arial" panose="020B0604020202020204" pitchFamily="34" charset="0"/>
                <a:ea typeface="楷体" panose="02010609060101010101" pitchFamily="49" charset="-122"/>
                <a:cs typeface="Arial" panose="020B0604020202020204" pitchFamily="34" charset="0"/>
              </a:rPr>
              <a:t>复位时回到初始状态</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endPar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defRPr/>
            </a:pP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                 </a:t>
            </a:r>
            <a:r>
              <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rPr>
              <a:t>else                     </a:t>
            </a:r>
            <a:r>
              <a:rPr lang="zh-CN" altLang="en-US" kern="0" dirty="0" smtClean="0">
                <a:solidFill>
                  <a:sysClr val="windowText" lastClr="000000"/>
                </a:solidFill>
                <a:latin typeface="Arial" panose="020B0604020202020204" pitchFamily="34" charset="0"/>
                <a:ea typeface="楷体_GB2312" pitchFamily="49" charset="-122"/>
                <a:cs typeface="Arial" panose="020B0604020202020204" pitchFamily="34" charset="0"/>
              </a:rPr>
              <a:t> </a:t>
            </a:r>
            <a:r>
              <a:rPr lang="en-US" altLang="zh-CN" kern="0" dirty="0" smtClean="0">
                <a:solidFill>
                  <a:sysClr val="windowText" lastClr="000000"/>
                </a:solidFill>
                <a:latin typeface="Arial" panose="020B0604020202020204" pitchFamily="34" charset="0"/>
                <a:ea typeface="楷体_GB2312" pitchFamily="49" charset="-122"/>
                <a:cs typeface="Arial" panose="020B0604020202020204" pitchFamily="34" charset="0"/>
              </a:rPr>
              <a:t>//</a:t>
            </a:r>
            <a:r>
              <a:rPr lang="zh-CN" altLang="en-US" sz="2200" dirty="0" smtClean="0">
                <a:latin typeface="Arial" panose="020B0604020202020204" pitchFamily="34" charset="0"/>
                <a:ea typeface="楷体" panose="02010609060101010101" pitchFamily="49" charset="-122"/>
                <a:cs typeface="Arial" panose="020B0604020202020204" pitchFamily="34" charset="0"/>
              </a:rPr>
              <a:t>状态的转移和状态机的输出</a:t>
            </a:r>
            <a:endParaRPr lang="en-US" altLang="zh-CN" sz="2200" dirty="0" smtClean="0">
              <a:latin typeface="Arial" panose="020B0604020202020204" pitchFamily="34" charset="0"/>
              <a:ea typeface="楷体" panose="02010609060101010101" pitchFamily="49" charset="-122"/>
              <a:cs typeface="Arial" panose="020B0604020202020204" pitchFamily="34" charset="0"/>
            </a:endParaRPr>
          </a:p>
          <a:p>
            <a:pPr marL="352425" lvl="0" indent="-352425" algn="l" fontAlgn="auto">
              <a:lnSpc>
                <a:spcPts val="3000"/>
              </a:lnSpc>
              <a:spcBef>
                <a:spcPts val="0"/>
              </a:spcBef>
              <a:spcAft>
                <a:spcPts val="0"/>
              </a:spcAft>
              <a:buClr>
                <a:srgbClr val="FF0000"/>
              </a:buClr>
              <a:buSzPct val="100000"/>
              <a:defRPr/>
            </a:pPr>
            <a:r>
              <a:rPr lang="en-US" altLang="zh-CN" kern="0" dirty="0" smtClean="0">
                <a:solidFill>
                  <a:srgbClr val="000000"/>
                </a:solidFill>
                <a:latin typeface="Arial" panose="020B0604020202020204" pitchFamily="34" charset="0"/>
                <a:ea typeface="宋体" panose="02010600030101010101" pitchFamily="2" charset="-122"/>
                <a:cs typeface="Arial" panose="020B0604020202020204" pitchFamily="34" charset="0"/>
              </a:rPr>
              <a:t>                    case(state)</a:t>
            </a:r>
          </a:p>
          <a:p>
            <a:pPr marL="352425" lvl="0" indent="-352425" algn="l" fontAlgn="auto">
              <a:lnSpc>
                <a:spcPts val="3000"/>
              </a:lnSpc>
              <a:spcBef>
                <a:spcPts val="0"/>
              </a:spcBef>
              <a:spcAft>
                <a:spcPts val="0"/>
              </a:spcAft>
              <a:buClr>
                <a:srgbClr val="FF0000"/>
              </a:buClr>
              <a:buSzPct val="100000"/>
              <a:defRPr/>
            </a:pPr>
            <a:r>
              <a:rPr lang="en-US" altLang="zh-CN" kern="0" dirty="0" smtClean="0">
                <a:solidFill>
                  <a:srgbClr val="000000"/>
                </a:solidFill>
                <a:latin typeface="Arial" panose="020B0604020202020204" pitchFamily="34" charset="0"/>
                <a:ea typeface="宋体" panose="02010600030101010101" pitchFamily="2" charset="-122"/>
                <a:cs typeface="Arial" panose="020B0604020202020204" pitchFamily="34" charset="0"/>
              </a:rPr>
              <a:t>                         ……   </a:t>
            </a:r>
            <a:endParaRPr lang="zh-CN" altLang="en-US" sz="2200"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strVal val="#ppt_w*0.70"/>
                                          </p:val>
                                        </p:tav>
                                        <p:tav tm="100000">
                                          <p:val>
                                            <p:strVal val="#ppt_w"/>
                                          </p:val>
                                        </p:tav>
                                      </p:tavLst>
                                    </p:anim>
                                    <p:anim calcmode="lin" valueType="num">
                                      <p:cBhvr>
                                        <p:cTn id="8" dur="1000" fill="hold"/>
                                        <p:tgtEl>
                                          <p:spTgt spid="10"/>
                                        </p:tgtEl>
                                        <p:attrNameLst>
                                          <p:attrName>ppt_h</p:attrName>
                                        </p:attrNameLst>
                                      </p:cBhvr>
                                      <p:tavLst>
                                        <p:tav tm="0">
                                          <p:val>
                                            <p:strVal val="#ppt_h"/>
                                          </p:val>
                                        </p:tav>
                                        <p:tav tm="100000">
                                          <p:val>
                                            <p:strVal val="#ppt_h"/>
                                          </p:val>
                                        </p:tav>
                                      </p:tavLst>
                                    </p:anim>
                                    <p:animEffect transition="in" filter="fade">
                                      <p:cBhvr>
                                        <p:cTn id="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34"/>
          <p:cNvSpPr>
            <a:spLocks noGrp="1"/>
          </p:cNvSpPr>
          <p:nvPr>
            <p:ph type="title"/>
          </p:nvPr>
        </p:nvSpPr>
        <p:spPr/>
        <p:txBody>
          <a:bodyPr/>
          <a:lstStyle/>
          <a:p>
            <a:r>
              <a:rPr lang="en-US" altLang="zh-CN" dirty="0" smtClean="0">
                <a:solidFill>
                  <a:srgbClr val="FFCC00"/>
                </a:solidFill>
                <a:latin typeface="Arial" panose="020B0604020202020204" pitchFamily="34" charset="0"/>
                <a:ea typeface="黑体" panose="02010609060101010101" pitchFamily="49" charset="-122"/>
              </a:rPr>
              <a:t>7.2.2</a:t>
            </a:r>
            <a:r>
              <a:rPr lang="zh-CN" altLang="en-US" dirty="0" smtClean="0">
                <a:solidFill>
                  <a:srgbClr val="FFCC00"/>
                </a:solidFill>
                <a:latin typeface="Arial" panose="020B0604020202020204" pitchFamily="34" charset="0"/>
                <a:ea typeface="黑体" panose="02010609060101010101" pitchFamily="49" charset="-122"/>
              </a:rPr>
              <a:t>  </a:t>
            </a:r>
            <a:r>
              <a:rPr lang="en-US" altLang="zh-CN" dirty="0" smtClean="0">
                <a:solidFill>
                  <a:srgbClr val="FFCC00"/>
                </a:solidFill>
                <a:latin typeface="Arial" panose="020B0604020202020204" pitchFamily="34" charset="0"/>
                <a:ea typeface="黑体" panose="02010609060101010101" pitchFamily="49" charset="-122"/>
              </a:rPr>
              <a:t>Moore</a:t>
            </a:r>
            <a:r>
              <a:rPr lang="zh-CN" altLang="en-US" dirty="0" smtClean="0">
                <a:solidFill>
                  <a:srgbClr val="FFCC00"/>
                </a:solidFill>
                <a:latin typeface="Arial" panose="020B0604020202020204" pitchFamily="34" charset="0"/>
                <a:ea typeface="黑体" panose="02010609060101010101" pitchFamily="49" charset="-122"/>
              </a:rPr>
              <a:t>型有限状态机</a:t>
            </a:r>
            <a:endParaRPr lang="zh-CN" altLang="en-US" dirty="0" smtClean="0">
              <a:ea typeface="宋体" panose="02010600030101010101" pitchFamily="2" charset="-122"/>
            </a:endParaRPr>
          </a:p>
        </p:txBody>
      </p:sp>
      <p:sp>
        <p:nvSpPr>
          <p:cNvPr id="68611" name="Rectangle 25"/>
          <p:cNvSpPr>
            <a:spLocks noGrp="1" noChangeArrowheads="1"/>
          </p:cNvSpPr>
          <p:nvPr>
            <p:ph type="sldNum" sz="quarter" idx="12"/>
          </p:nvPr>
        </p:nvSpPr>
        <p:spPr>
          <a:noFill/>
        </p:spPr>
        <p:txBody>
          <a:bodyPr/>
          <a:lstStyle/>
          <a:p>
            <a:fld id="{E4368FCF-2E81-4285-9B04-F9C26FB4D067}" type="slidenum">
              <a:rPr lang="ko-KR" altLang="en-US" smtClean="0"/>
              <a:t>57</a:t>
            </a:fld>
            <a:endParaRPr lang="en-US" altLang="ko-KR" smtClean="0"/>
          </a:p>
        </p:txBody>
      </p:sp>
      <p:grpSp>
        <p:nvGrpSpPr>
          <p:cNvPr id="68612" name="Group 5"/>
          <p:cNvGrpSpPr/>
          <p:nvPr/>
        </p:nvGrpSpPr>
        <p:grpSpPr bwMode="auto">
          <a:xfrm>
            <a:off x="1703388" y="1866900"/>
            <a:ext cx="5594350" cy="1741488"/>
            <a:chOff x="1247" y="2296"/>
            <a:chExt cx="3524" cy="1097"/>
          </a:xfrm>
        </p:grpSpPr>
        <p:sp>
          <p:nvSpPr>
            <p:cNvPr id="68622" name="Text Box 6"/>
            <p:cNvSpPr txBox="1">
              <a:spLocks noChangeArrowheads="1"/>
            </p:cNvSpPr>
            <p:nvPr/>
          </p:nvSpPr>
          <p:spPr bwMode="auto">
            <a:xfrm>
              <a:off x="4280" y="2456"/>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输出</a:t>
              </a:r>
            </a:p>
          </p:txBody>
        </p:sp>
        <p:sp>
          <p:nvSpPr>
            <p:cNvPr id="68623" name="Text Box 7"/>
            <p:cNvSpPr txBox="1">
              <a:spLocks noChangeArrowheads="1"/>
            </p:cNvSpPr>
            <p:nvPr/>
          </p:nvSpPr>
          <p:spPr bwMode="auto">
            <a:xfrm>
              <a:off x="3288" y="2432"/>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chemeClr val="hlink"/>
                  </a:solidFill>
                  <a:ea typeface="楷体_GB2312" pitchFamily="49" charset="-122"/>
                </a:rPr>
                <a:t>现态</a:t>
              </a:r>
            </a:p>
          </p:txBody>
        </p:sp>
        <p:sp>
          <p:nvSpPr>
            <p:cNvPr id="68624" name="Text Box 8"/>
            <p:cNvSpPr txBox="1">
              <a:spLocks noChangeArrowheads="1"/>
            </p:cNvSpPr>
            <p:nvPr/>
          </p:nvSpPr>
          <p:spPr bwMode="auto">
            <a:xfrm>
              <a:off x="2216" y="2432"/>
              <a:ext cx="491" cy="267"/>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次态</a:t>
              </a:r>
            </a:p>
          </p:txBody>
        </p:sp>
        <p:sp>
          <p:nvSpPr>
            <p:cNvPr id="68625" name="Text Box 9"/>
            <p:cNvSpPr txBox="1">
              <a:spLocks noChangeArrowheads="1"/>
            </p:cNvSpPr>
            <p:nvPr/>
          </p:nvSpPr>
          <p:spPr bwMode="auto">
            <a:xfrm>
              <a:off x="1247" y="2584"/>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现态</a:t>
              </a:r>
            </a:p>
          </p:txBody>
        </p:sp>
        <p:sp>
          <p:nvSpPr>
            <p:cNvPr id="68626" name="Text Box 10"/>
            <p:cNvSpPr txBox="1">
              <a:spLocks noChangeArrowheads="1"/>
            </p:cNvSpPr>
            <p:nvPr/>
          </p:nvSpPr>
          <p:spPr bwMode="auto">
            <a:xfrm>
              <a:off x="1247" y="2296"/>
              <a:ext cx="491" cy="266"/>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输入</a:t>
              </a:r>
            </a:p>
          </p:txBody>
        </p:sp>
        <p:sp>
          <p:nvSpPr>
            <p:cNvPr id="68627" name="Text Box 11"/>
            <p:cNvSpPr txBox="1">
              <a:spLocks noChangeArrowheads="1"/>
            </p:cNvSpPr>
            <p:nvPr/>
          </p:nvSpPr>
          <p:spPr bwMode="auto">
            <a:xfrm>
              <a:off x="1713" y="2435"/>
              <a:ext cx="516" cy="522"/>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次态逻辑</a:t>
              </a:r>
            </a:p>
          </p:txBody>
        </p:sp>
        <p:sp>
          <p:nvSpPr>
            <p:cNvPr id="68628" name="Text Box 12"/>
            <p:cNvSpPr txBox="1">
              <a:spLocks noChangeArrowheads="1"/>
            </p:cNvSpPr>
            <p:nvPr/>
          </p:nvSpPr>
          <p:spPr bwMode="auto">
            <a:xfrm>
              <a:off x="2694" y="2435"/>
              <a:ext cx="605" cy="522"/>
            </a:xfrm>
            <a:prstGeom prst="rect">
              <a:avLst/>
            </a:prstGeom>
            <a:solidFill>
              <a:srgbClr val="FFFFFF"/>
            </a:solidFill>
            <a:ln w="15875">
              <a:solidFill>
                <a:srgbClr val="000000"/>
              </a:solidFill>
              <a:miter lim="800000"/>
            </a:ln>
          </p:spPr>
          <p:txBody>
            <a:bodyPr/>
            <a:lstStyle/>
            <a:p>
              <a:pPr marL="342900" indent="-342900">
                <a:lnSpc>
                  <a:spcPct val="110000"/>
                </a:lnSpc>
                <a:spcBef>
                  <a:spcPct val="20000"/>
                </a:spcBef>
                <a:buClr>
                  <a:schemeClr val="tx2"/>
                </a:buClr>
                <a:buSzPct val="70000"/>
                <a:buFont typeface="Wingdings" panose="05000000000000000000" pitchFamily="2" charset="2"/>
                <a:buNone/>
              </a:pPr>
              <a:r>
                <a:rPr lang="zh-CN" altLang="en-US" sz="1800">
                  <a:solidFill>
                    <a:srgbClr val="2C2C86"/>
                  </a:solidFill>
                  <a:ea typeface="楷体_GB2312" pitchFamily="49" charset="-122"/>
                </a:rPr>
                <a:t>状态</a:t>
              </a:r>
            </a:p>
            <a:p>
              <a:pPr marL="342900" indent="-342900">
                <a:lnSpc>
                  <a:spcPct val="110000"/>
                </a:lnSpc>
                <a:spcBef>
                  <a:spcPct val="20000"/>
                </a:spcBef>
                <a:buClr>
                  <a:schemeClr val="tx2"/>
                </a:buClr>
                <a:buSzPct val="70000"/>
                <a:buFont typeface="Wingdings" panose="05000000000000000000" pitchFamily="2" charset="2"/>
                <a:buNone/>
              </a:pPr>
              <a:r>
                <a:rPr lang="zh-CN" altLang="en-US" sz="1800">
                  <a:solidFill>
                    <a:srgbClr val="2C2C86"/>
                  </a:solidFill>
                  <a:ea typeface="楷体_GB2312" pitchFamily="49" charset="-122"/>
                </a:rPr>
                <a:t>寄存器</a:t>
              </a:r>
            </a:p>
          </p:txBody>
        </p:sp>
        <p:sp>
          <p:nvSpPr>
            <p:cNvPr id="68629" name="Text Box 13"/>
            <p:cNvSpPr txBox="1">
              <a:spLocks noChangeArrowheads="1"/>
            </p:cNvSpPr>
            <p:nvPr/>
          </p:nvSpPr>
          <p:spPr bwMode="auto">
            <a:xfrm>
              <a:off x="3777" y="2424"/>
              <a:ext cx="516" cy="522"/>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a:solidFill>
                    <a:srgbClr val="2C2C86"/>
                  </a:solidFill>
                  <a:ea typeface="楷体_GB2312" pitchFamily="49" charset="-122"/>
                </a:rPr>
                <a:t>输出逻辑</a:t>
              </a:r>
            </a:p>
          </p:txBody>
        </p:sp>
        <p:sp>
          <p:nvSpPr>
            <p:cNvPr id="68630" name="Line 14"/>
            <p:cNvSpPr>
              <a:spLocks noChangeShapeType="1"/>
            </p:cNvSpPr>
            <p:nvPr/>
          </p:nvSpPr>
          <p:spPr bwMode="auto">
            <a:xfrm>
              <a:off x="1322" y="2509"/>
              <a:ext cx="391" cy="0"/>
            </a:xfrm>
            <a:prstGeom prst="line">
              <a:avLst/>
            </a:prstGeom>
            <a:noFill/>
            <a:ln w="9525">
              <a:solidFill>
                <a:srgbClr val="000000"/>
              </a:solidFill>
              <a:round/>
              <a:tailEnd type="triangle" w="med" len="med"/>
            </a:ln>
          </p:spPr>
          <p:txBody>
            <a:bodyPr/>
            <a:lstStyle/>
            <a:p>
              <a:endParaRPr lang="zh-CN" altLang="en-US"/>
            </a:p>
          </p:txBody>
        </p:sp>
        <p:sp>
          <p:nvSpPr>
            <p:cNvPr id="68631" name="Line 15"/>
            <p:cNvSpPr>
              <a:spLocks noChangeShapeType="1"/>
            </p:cNvSpPr>
            <p:nvPr/>
          </p:nvSpPr>
          <p:spPr bwMode="auto">
            <a:xfrm>
              <a:off x="1486" y="2808"/>
              <a:ext cx="227" cy="0"/>
            </a:xfrm>
            <a:prstGeom prst="line">
              <a:avLst/>
            </a:prstGeom>
            <a:noFill/>
            <a:ln w="9525">
              <a:solidFill>
                <a:srgbClr val="000000"/>
              </a:solidFill>
              <a:round/>
              <a:tailEnd type="triangle" w="med" len="med"/>
            </a:ln>
          </p:spPr>
          <p:txBody>
            <a:bodyPr/>
            <a:lstStyle/>
            <a:p>
              <a:endParaRPr lang="zh-CN" altLang="en-US"/>
            </a:p>
          </p:txBody>
        </p:sp>
        <p:sp>
          <p:nvSpPr>
            <p:cNvPr id="68632" name="Line 16"/>
            <p:cNvSpPr>
              <a:spLocks noChangeShapeType="1"/>
            </p:cNvSpPr>
            <p:nvPr/>
          </p:nvSpPr>
          <p:spPr bwMode="auto">
            <a:xfrm>
              <a:off x="2229" y="2690"/>
              <a:ext cx="465" cy="0"/>
            </a:xfrm>
            <a:prstGeom prst="line">
              <a:avLst/>
            </a:prstGeom>
            <a:noFill/>
            <a:ln w="9525">
              <a:solidFill>
                <a:srgbClr val="000000"/>
              </a:solidFill>
              <a:round/>
              <a:tailEnd type="triangle" w="med" len="med"/>
            </a:ln>
          </p:spPr>
          <p:txBody>
            <a:bodyPr/>
            <a:lstStyle/>
            <a:p>
              <a:endParaRPr lang="zh-CN" altLang="en-US"/>
            </a:p>
          </p:txBody>
        </p:sp>
        <p:sp>
          <p:nvSpPr>
            <p:cNvPr id="68633" name="Line 17"/>
            <p:cNvSpPr>
              <a:spLocks noChangeShapeType="1"/>
            </p:cNvSpPr>
            <p:nvPr/>
          </p:nvSpPr>
          <p:spPr bwMode="auto">
            <a:xfrm>
              <a:off x="3311" y="2690"/>
              <a:ext cx="466" cy="0"/>
            </a:xfrm>
            <a:prstGeom prst="line">
              <a:avLst/>
            </a:prstGeom>
            <a:noFill/>
            <a:ln w="9525">
              <a:solidFill>
                <a:schemeClr val="hlink"/>
              </a:solidFill>
              <a:round/>
              <a:tailEnd type="triangle" w="med" len="med"/>
            </a:ln>
          </p:spPr>
          <p:txBody>
            <a:bodyPr/>
            <a:lstStyle/>
            <a:p>
              <a:endParaRPr lang="zh-CN" altLang="en-US"/>
            </a:p>
          </p:txBody>
        </p:sp>
        <p:sp>
          <p:nvSpPr>
            <p:cNvPr id="68634" name="Line 18"/>
            <p:cNvSpPr>
              <a:spLocks noChangeShapeType="1"/>
            </p:cNvSpPr>
            <p:nvPr/>
          </p:nvSpPr>
          <p:spPr bwMode="auto">
            <a:xfrm>
              <a:off x="4293" y="2680"/>
              <a:ext cx="466" cy="0"/>
            </a:xfrm>
            <a:prstGeom prst="line">
              <a:avLst/>
            </a:prstGeom>
            <a:noFill/>
            <a:ln w="9525">
              <a:solidFill>
                <a:srgbClr val="000000"/>
              </a:solidFill>
              <a:round/>
              <a:tailEnd type="triangle" w="med" len="med"/>
            </a:ln>
          </p:spPr>
          <p:txBody>
            <a:bodyPr/>
            <a:lstStyle/>
            <a:p>
              <a:endParaRPr lang="zh-CN" altLang="en-US"/>
            </a:p>
          </p:txBody>
        </p:sp>
        <p:sp>
          <p:nvSpPr>
            <p:cNvPr id="68635" name="Line 19"/>
            <p:cNvSpPr>
              <a:spLocks noChangeShapeType="1"/>
            </p:cNvSpPr>
            <p:nvPr/>
          </p:nvSpPr>
          <p:spPr bwMode="auto">
            <a:xfrm>
              <a:off x="1473" y="2808"/>
              <a:ext cx="0" cy="287"/>
            </a:xfrm>
            <a:prstGeom prst="line">
              <a:avLst/>
            </a:prstGeom>
            <a:noFill/>
            <a:ln w="9525">
              <a:solidFill>
                <a:srgbClr val="000000"/>
              </a:solidFill>
              <a:round/>
            </a:ln>
          </p:spPr>
          <p:txBody>
            <a:bodyPr/>
            <a:lstStyle/>
            <a:p>
              <a:endParaRPr lang="zh-CN" altLang="en-US"/>
            </a:p>
          </p:txBody>
        </p:sp>
        <p:sp>
          <p:nvSpPr>
            <p:cNvPr id="68636" name="Line 20"/>
            <p:cNvSpPr>
              <a:spLocks noChangeShapeType="1"/>
            </p:cNvSpPr>
            <p:nvPr/>
          </p:nvSpPr>
          <p:spPr bwMode="auto">
            <a:xfrm>
              <a:off x="1473" y="3095"/>
              <a:ext cx="2052" cy="0"/>
            </a:xfrm>
            <a:prstGeom prst="line">
              <a:avLst/>
            </a:prstGeom>
            <a:noFill/>
            <a:ln w="9525">
              <a:solidFill>
                <a:srgbClr val="000000"/>
              </a:solidFill>
              <a:round/>
            </a:ln>
          </p:spPr>
          <p:txBody>
            <a:bodyPr/>
            <a:lstStyle/>
            <a:p>
              <a:endParaRPr lang="zh-CN" altLang="en-US"/>
            </a:p>
          </p:txBody>
        </p:sp>
        <p:sp>
          <p:nvSpPr>
            <p:cNvPr id="68637" name="Line 21"/>
            <p:cNvSpPr>
              <a:spLocks noChangeShapeType="1"/>
            </p:cNvSpPr>
            <p:nvPr/>
          </p:nvSpPr>
          <p:spPr bwMode="auto">
            <a:xfrm flipV="1">
              <a:off x="3525" y="2690"/>
              <a:ext cx="0" cy="405"/>
            </a:xfrm>
            <a:prstGeom prst="line">
              <a:avLst/>
            </a:prstGeom>
            <a:noFill/>
            <a:ln w="9525">
              <a:solidFill>
                <a:srgbClr val="000000"/>
              </a:solidFill>
              <a:round/>
            </a:ln>
          </p:spPr>
          <p:txBody>
            <a:bodyPr/>
            <a:lstStyle/>
            <a:p>
              <a:endParaRPr lang="zh-CN" altLang="en-US"/>
            </a:p>
          </p:txBody>
        </p:sp>
        <p:sp>
          <p:nvSpPr>
            <p:cNvPr id="68638" name="Text Box 22"/>
            <p:cNvSpPr txBox="1">
              <a:spLocks noChangeArrowheads="1"/>
            </p:cNvSpPr>
            <p:nvPr/>
          </p:nvSpPr>
          <p:spPr bwMode="auto">
            <a:xfrm>
              <a:off x="2200" y="3158"/>
              <a:ext cx="2080" cy="235"/>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en-US" altLang="zh-CN" sz="1800">
                  <a:solidFill>
                    <a:srgbClr val="990000"/>
                  </a:solidFill>
                  <a:latin typeface="Arial" panose="020B0604020202020204" pitchFamily="34" charset="0"/>
                  <a:ea typeface="楷体_GB2312" pitchFamily="49" charset="-122"/>
                </a:rPr>
                <a:t>Moore</a:t>
              </a:r>
              <a:r>
                <a:rPr lang="zh-CN" altLang="en-US" sz="1800">
                  <a:solidFill>
                    <a:srgbClr val="990000"/>
                  </a:solidFill>
                  <a:latin typeface="Arial" panose="020B0604020202020204" pitchFamily="34" charset="0"/>
                  <a:ea typeface="楷体_GB2312" pitchFamily="49" charset="-122"/>
                </a:rPr>
                <a:t>型状态机典型结构</a:t>
              </a:r>
            </a:p>
          </p:txBody>
        </p:sp>
        <p:sp>
          <p:nvSpPr>
            <p:cNvPr id="68639" name="Text Box 23"/>
            <p:cNvSpPr txBox="1">
              <a:spLocks noChangeArrowheads="1"/>
            </p:cNvSpPr>
            <p:nvPr/>
          </p:nvSpPr>
          <p:spPr bwMode="auto">
            <a:xfrm>
              <a:off x="3343" y="2568"/>
              <a:ext cx="363" cy="249"/>
            </a:xfrm>
            <a:prstGeom prst="rect">
              <a:avLst/>
            </a:prstGeom>
            <a:noFill/>
            <a:ln w="9525">
              <a:noFill/>
              <a:miter lim="800000"/>
            </a:ln>
          </p:spPr>
          <p:txBody>
            <a:bodyPr>
              <a:spAutoFit/>
            </a:bodyPr>
            <a:lstStyle/>
            <a:p>
              <a:pPr marL="342900" indent="-342900">
                <a:lnSpc>
                  <a:spcPct val="110000"/>
                </a:lnSpc>
                <a:buClr>
                  <a:schemeClr val="tx2"/>
                </a:buClr>
                <a:buSzPct val="70000"/>
                <a:buFont typeface="Wingdings" panose="05000000000000000000" pitchFamily="2" charset="2"/>
                <a:buNone/>
              </a:pPr>
              <a:r>
                <a:rPr lang="en-US" altLang="zh-CN" sz="1800" dirty="0">
                  <a:ea typeface="黑体" panose="02010609060101010101" pitchFamily="49" charset="-122"/>
                  <a:cs typeface="Times New Roman" panose="02020603050405020304" pitchFamily="18" charset="0"/>
                </a:rPr>
                <a:t>•</a:t>
              </a:r>
            </a:p>
          </p:txBody>
        </p:sp>
      </p:grpSp>
      <p:grpSp>
        <p:nvGrpSpPr>
          <p:cNvPr id="3" name="Group 31"/>
          <p:cNvGrpSpPr/>
          <p:nvPr/>
        </p:nvGrpSpPr>
        <p:grpSpPr bwMode="auto">
          <a:xfrm>
            <a:off x="7669213" y="1663700"/>
            <a:ext cx="2514600" cy="1146175"/>
            <a:chOff x="3883" y="1761"/>
            <a:chExt cx="1584" cy="722"/>
          </a:xfrm>
        </p:grpSpPr>
        <p:sp>
          <p:nvSpPr>
            <p:cNvPr id="68616" name="Text Box 24"/>
            <p:cNvSpPr txBox="1">
              <a:spLocks noChangeArrowheads="1"/>
            </p:cNvSpPr>
            <p:nvPr/>
          </p:nvSpPr>
          <p:spPr bwMode="auto">
            <a:xfrm>
              <a:off x="4555" y="1761"/>
              <a:ext cx="384" cy="182"/>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输入</a:t>
              </a:r>
            </a:p>
          </p:txBody>
        </p:sp>
        <p:sp>
          <p:nvSpPr>
            <p:cNvPr id="68617" name="Oval 25"/>
            <p:cNvSpPr>
              <a:spLocks noChangeArrowheads="1"/>
            </p:cNvSpPr>
            <p:nvPr/>
          </p:nvSpPr>
          <p:spPr bwMode="auto">
            <a:xfrm>
              <a:off x="3883" y="2049"/>
              <a:ext cx="576" cy="432"/>
            </a:xfrm>
            <a:prstGeom prst="ellipse">
              <a:avLst/>
            </a:prstGeom>
            <a:solidFill>
              <a:srgbClr val="FFFFFF"/>
            </a:solidFill>
            <a:ln w="19050">
              <a:solidFill>
                <a:srgbClr val="000000"/>
              </a:solidFill>
              <a:round/>
            </a:ln>
          </p:spPr>
          <p:txBody>
            <a:bodyPr/>
            <a:lstStyle/>
            <a:p>
              <a:pPr marL="342900" indent="-342900">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现态</a:t>
              </a:r>
            </a:p>
            <a:p>
              <a:pPr marL="342900" indent="-342900">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输出</a:t>
              </a:r>
            </a:p>
          </p:txBody>
        </p:sp>
        <p:sp>
          <p:nvSpPr>
            <p:cNvPr id="68618" name="Arc 26"/>
            <p:cNvSpPr/>
            <p:nvPr/>
          </p:nvSpPr>
          <p:spPr bwMode="auto">
            <a:xfrm rot="14026503" flipV="1">
              <a:off x="4490" y="1820"/>
              <a:ext cx="409" cy="582"/>
            </a:xfrm>
            <a:custGeom>
              <a:avLst/>
              <a:gdLst>
                <a:gd name="T0" fmla="*/ 0 w 21597"/>
                <a:gd name="T1" fmla="*/ 0 h 21600"/>
                <a:gd name="T2" fmla="*/ 0 w 21597"/>
                <a:gd name="T3" fmla="*/ 0 h 21600"/>
                <a:gd name="T4" fmla="*/ 0 w 21597"/>
                <a:gd name="T5" fmla="*/ 0 h 21600"/>
                <a:gd name="T6" fmla="*/ 0 60000 65536"/>
                <a:gd name="T7" fmla="*/ 0 60000 65536"/>
                <a:gd name="T8" fmla="*/ 0 60000 65536"/>
                <a:gd name="T9" fmla="*/ 0 w 21597"/>
                <a:gd name="T10" fmla="*/ 0 h 21600"/>
                <a:gd name="T11" fmla="*/ 21597 w 21597"/>
                <a:gd name="T12" fmla="*/ 21600 h 21600"/>
              </a:gdLst>
              <a:ahLst/>
              <a:cxnLst>
                <a:cxn ang="T6">
                  <a:pos x="T0" y="T1"/>
                </a:cxn>
                <a:cxn ang="T7">
                  <a:pos x="T2" y="T3"/>
                </a:cxn>
                <a:cxn ang="T8">
                  <a:pos x="T4" y="T5"/>
                </a:cxn>
              </a:cxnLst>
              <a:rect l="T9" t="T10" r="T11" b="T12"/>
              <a:pathLst>
                <a:path w="21597" h="21600" fill="none" extrusionOk="0">
                  <a:moveTo>
                    <a:pt x="-1" y="0"/>
                  </a:moveTo>
                  <a:cubicBezTo>
                    <a:pt x="11778" y="0"/>
                    <a:pt x="21386" y="9437"/>
                    <a:pt x="21596" y="21214"/>
                  </a:cubicBezTo>
                </a:path>
                <a:path w="21597" h="21600" stroke="0" extrusionOk="0">
                  <a:moveTo>
                    <a:pt x="-1" y="0"/>
                  </a:moveTo>
                  <a:cubicBezTo>
                    <a:pt x="11778" y="0"/>
                    <a:pt x="21386" y="9437"/>
                    <a:pt x="21596" y="21214"/>
                  </a:cubicBezTo>
                  <a:lnTo>
                    <a:pt x="0" y="21600"/>
                  </a:lnTo>
                  <a:close/>
                </a:path>
              </a:pathLst>
            </a:custGeom>
            <a:noFill/>
            <a:ln w="15875">
              <a:solidFill>
                <a:srgbClr val="000000"/>
              </a:solidFill>
              <a:round/>
              <a:headEnd type="triangle" w="med" len="med"/>
            </a:ln>
          </p:spPr>
          <p:txBody>
            <a:bodyPr/>
            <a:lstStyle/>
            <a:p>
              <a:endParaRPr lang="zh-CN" altLang="en-US"/>
            </a:p>
          </p:txBody>
        </p:sp>
        <p:sp>
          <p:nvSpPr>
            <p:cNvPr id="68619" name="Line 27"/>
            <p:cNvSpPr>
              <a:spLocks noChangeShapeType="1"/>
            </p:cNvSpPr>
            <p:nvPr/>
          </p:nvSpPr>
          <p:spPr bwMode="auto">
            <a:xfrm>
              <a:off x="4033" y="2311"/>
              <a:ext cx="250" cy="0"/>
            </a:xfrm>
            <a:prstGeom prst="line">
              <a:avLst/>
            </a:prstGeom>
            <a:noFill/>
            <a:ln w="9525">
              <a:solidFill>
                <a:srgbClr val="000000"/>
              </a:solidFill>
              <a:round/>
            </a:ln>
          </p:spPr>
          <p:txBody>
            <a:bodyPr/>
            <a:lstStyle/>
            <a:p>
              <a:endParaRPr lang="zh-CN" altLang="en-US"/>
            </a:p>
          </p:txBody>
        </p:sp>
        <p:sp>
          <p:nvSpPr>
            <p:cNvPr id="68620" name="Oval 28"/>
            <p:cNvSpPr>
              <a:spLocks noChangeArrowheads="1"/>
            </p:cNvSpPr>
            <p:nvPr/>
          </p:nvSpPr>
          <p:spPr bwMode="auto">
            <a:xfrm>
              <a:off x="4891" y="2049"/>
              <a:ext cx="576" cy="434"/>
            </a:xfrm>
            <a:prstGeom prst="ellipse">
              <a:avLst/>
            </a:prstGeom>
            <a:solidFill>
              <a:srgbClr val="FFFFFF"/>
            </a:solidFill>
            <a:ln w="19050">
              <a:solidFill>
                <a:srgbClr val="000000"/>
              </a:solidFill>
              <a:round/>
            </a:ln>
          </p:spPr>
          <p:txBody>
            <a:bodyPr/>
            <a:lstStyle/>
            <a:p>
              <a:pPr marL="342900" indent="-342900">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次态</a:t>
              </a:r>
            </a:p>
            <a:p>
              <a:pPr marL="342900" indent="-342900">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输出</a:t>
              </a:r>
            </a:p>
          </p:txBody>
        </p:sp>
        <p:sp>
          <p:nvSpPr>
            <p:cNvPr id="68621" name="Line 29"/>
            <p:cNvSpPr>
              <a:spLocks noChangeShapeType="1"/>
            </p:cNvSpPr>
            <p:nvPr/>
          </p:nvSpPr>
          <p:spPr bwMode="auto">
            <a:xfrm>
              <a:off x="5040" y="2311"/>
              <a:ext cx="250" cy="0"/>
            </a:xfrm>
            <a:prstGeom prst="line">
              <a:avLst/>
            </a:prstGeom>
            <a:noFill/>
            <a:ln w="9525">
              <a:solidFill>
                <a:srgbClr val="000000"/>
              </a:solidFill>
              <a:round/>
            </a:ln>
          </p:spPr>
          <p:txBody>
            <a:bodyPr/>
            <a:lstStyle/>
            <a:p>
              <a:endParaRPr lang="zh-CN" altLang="en-US"/>
            </a:p>
          </p:txBody>
        </p:sp>
      </p:grpSp>
      <p:sp>
        <p:nvSpPr>
          <p:cNvPr id="32" name="Text Box 30"/>
          <p:cNvSpPr txBox="1">
            <a:spLocks noChangeArrowheads="1"/>
          </p:cNvSpPr>
          <p:nvPr/>
        </p:nvSpPr>
        <p:spPr bwMode="auto">
          <a:xfrm>
            <a:off x="7681913" y="3111500"/>
            <a:ext cx="2808287" cy="565150"/>
          </a:xfrm>
          <a:prstGeom prst="rect">
            <a:avLst/>
          </a:prstGeom>
          <a:noFill/>
          <a:ln w="9525">
            <a:noFill/>
            <a:miter lim="800000"/>
          </a:ln>
        </p:spPr>
        <p:txBody>
          <a:bodyPr>
            <a:spAutoFit/>
          </a:bodyPr>
          <a:lstStyle/>
          <a:p>
            <a:pPr marL="342900" indent="-342900">
              <a:lnSpc>
                <a:spcPct val="110000"/>
              </a:lnSpc>
              <a:buClr>
                <a:schemeClr val="tx2"/>
              </a:buClr>
              <a:buSzPct val="70000"/>
              <a:buFont typeface="Wingdings" panose="05000000000000000000" pitchFamily="2" charset="2"/>
              <a:buNone/>
            </a:pPr>
            <a:r>
              <a:rPr lang="en-US" altLang="zh-CN">
                <a:solidFill>
                  <a:srgbClr val="990000"/>
                </a:solidFill>
                <a:latin typeface="Arial" panose="020B0604020202020204" pitchFamily="34" charset="0"/>
                <a:ea typeface="楷体_GB2312" pitchFamily="49" charset="-122"/>
              </a:rPr>
              <a:t>Moore</a:t>
            </a:r>
            <a:r>
              <a:rPr lang="zh-CN" altLang="en-US">
                <a:solidFill>
                  <a:srgbClr val="990000"/>
                </a:solidFill>
                <a:latin typeface="Arial" panose="020B0604020202020204" pitchFamily="34" charset="0"/>
                <a:ea typeface="楷体_GB2312" pitchFamily="49" charset="-122"/>
              </a:rPr>
              <a:t>型状态图的表示</a:t>
            </a:r>
            <a:r>
              <a:rPr lang="zh-CN" altLang="en-US" sz="2800">
                <a:solidFill>
                  <a:srgbClr val="2C2C86"/>
                </a:solidFill>
                <a:ea typeface="黑体" panose="02010609060101010101" pitchFamily="49" charset="-122"/>
              </a:rPr>
              <a:t> </a:t>
            </a:r>
          </a:p>
        </p:txBody>
      </p:sp>
      <p:sp>
        <p:nvSpPr>
          <p:cNvPr id="34" name="Rectangle 4"/>
          <p:cNvSpPr>
            <a:spLocks noChangeArrowheads="1"/>
          </p:cNvSpPr>
          <p:nvPr/>
        </p:nvSpPr>
        <p:spPr bwMode="auto">
          <a:xfrm>
            <a:off x="2424113" y="4292600"/>
            <a:ext cx="7235825" cy="1368425"/>
          </a:xfrm>
          <a:prstGeom prst="rect">
            <a:avLst/>
          </a:prstGeom>
          <a:solidFill>
            <a:srgbClr val="ECEA8E"/>
          </a:solidFill>
          <a:ln w="9525">
            <a:noFill/>
            <a:miter lim="800000"/>
          </a:ln>
          <a:effectLst>
            <a:prstShdw prst="shdw13" dist="53882" dir="13500000">
              <a:srgbClr val="1C1C1C"/>
            </a:prstShdw>
          </a:effectLst>
        </p:spPr>
        <p:txBody>
          <a:bodyPr anchor="ctr"/>
          <a:lstStyle/>
          <a:p>
            <a:pPr marL="352425" indent="-352425" algn="l" fontAlgn="auto">
              <a:lnSpc>
                <a:spcPct val="110000"/>
              </a:lnSpc>
              <a:spcBef>
                <a:spcPts val="0"/>
              </a:spcBef>
              <a:spcAft>
                <a:spcPts val="0"/>
              </a:spcAft>
              <a:buClr>
                <a:srgbClr val="FF0000"/>
              </a:buClr>
              <a:buSzPct val="100000"/>
              <a:buFont typeface="Wingdings" panose="05000000000000000000" pitchFamily="2" charset="2"/>
              <a:buChar char="v"/>
              <a:defRPr/>
            </a:pPr>
            <a:r>
              <a:rPr lang="en-US" altLang="zh-CN" sz="2400" kern="0" dirty="0">
                <a:solidFill>
                  <a:srgbClr val="000000"/>
                </a:solidFill>
                <a:latin typeface="Arial" panose="020B0604020202020204" pitchFamily="34" charset="0"/>
                <a:ea typeface="楷体_GB2312" pitchFamily="49" charset="-122"/>
              </a:rPr>
              <a:t>Moore</a:t>
            </a:r>
            <a:r>
              <a:rPr lang="zh-CN" altLang="en-US" sz="2400" kern="0" dirty="0">
                <a:solidFill>
                  <a:srgbClr val="000000"/>
                </a:solidFill>
                <a:latin typeface="Arial" panose="020B0604020202020204" pitchFamily="34" charset="0"/>
                <a:ea typeface="楷体_GB2312" pitchFamily="49" charset="-122"/>
              </a:rPr>
              <a:t>型状态机，其输出只为状态机</a:t>
            </a:r>
            <a:r>
              <a:rPr lang="zh-CN" altLang="en-US" sz="2400" kern="0" dirty="0">
                <a:solidFill>
                  <a:srgbClr val="CC3300"/>
                </a:solidFill>
                <a:latin typeface="Arial" panose="020B0604020202020204" pitchFamily="34" charset="0"/>
                <a:ea typeface="楷体_GB2312" pitchFamily="49" charset="-122"/>
              </a:rPr>
              <a:t>当前状态</a:t>
            </a:r>
            <a:r>
              <a:rPr lang="zh-CN" altLang="en-US" sz="2400" kern="0" dirty="0">
                <a:solidFill>
                  <a:srgbClr val="000000"/>
                </a:solidFill>
                <a:latin typeface="Arial" panose="020B0604020202020204" pitchFamily="34" charset="0"/>
                <a:ea typeface="楷体_GB2312" pitchFamily="49" charset="-122"/>
              </a:rPr>
              <a:t>的函数，而与外部输入无关。</a:t>
            </a:r>
            <a:endParaRPr lang="en-US" altLang="zh-CN" sz="2400" kern="0" dirty="0">
              <a:solidFill>
                <a:srgbClr val="000000"/>
              </a:solidFill>
              <a:latin typeface="Arial" panose="020B0604020202020204" pitchFamily="34" charset="0"/>
              <a:ea typeface="楷体_GB2312" pitchFamily="49" charset="-122"/>
            </a:endParaRPr>
          </a:p>
          <a:p>
            <a:pPr marL="352425" indent="-352425" algn="l" fontAlgn="auto">
              <a:lnSpc>
                <a:spcPct val="110000"/>
              </a:lnSpc>
              <a:spcBef>
                <a:spcPts val="0"/>
              </a:spcBef>
              <a:spcAft>
                <a:spcPts val="0"/>
              </a:spcAft>
              <a:buClr>
                <a:srgbClr val="FF0000"/>
              </a:buClr>
              <a:buSzPct val="100000"/>
              <a:buFont typeface="Wingdings" panose="05000000000000000000" pitchFamily="2" charset="2"/>
              <a:buChar char="v"/>
              <a:defRPr/>
            </a:pPr>
            <a:r>
              <a:rPr lang="zh-CN" altLang="en-US" sz="2400" dirty="0">
                <a:solidFill>
                  <a:srgbClr val="800000"/>
                </a:solidFill>
                <a:latin typeface="Verdana" panose="020B0604030504040204" pitchFamily="34" charset="0"/>
                <a:ea typeface="黑体" panose="02010609060101010101" pitchFamily="49" charset="-122"/>
              </a:rPr>
              <a:t>外部输出是内部状态的函数。</a:t>
            </a:r>
            <a:endParaRPr lang="zh-CN" altLang="en-US" sz="2200" kern="0" dirty="0">
              <a:solidFill>
                <a:srgbClr val="000000"/>
              </a:solidFill>
              <a:latin typeface="Arial" panose="020B0604020202020204" pitchFamily="34" charset="0"/>
              <a:ea typeface="楷体_GB2312"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dissolve">
                                      <p:cBhvr>
                                        <p:cTn id="11" dur="500"/>
                                        <p:tgtEl>
                                          <p:spTgt spid="32"/>
                                        </p:tgtEl>
                                      </p:cBhvr>
                                    </p:animEffec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grpId="0" nodeType="clickEffect">
                                  <p:stCondLst>
                                    <p:cond delay="0"/>
                                  </p:stCondLst>
                                  <p:childTnLst>
                                    <p:set>
                                      <p:cBhvr>
                                        <p:cTn id="15" dur="1" fill="hold">
                                          <p:stCondLst>
                                            <p:cond delay="0"/>
                                          </p:stCondLst>
                                        </p:cTn>
                                        <p:tgtEl>
                                          <p:spTgt spid="34"/>
                                        </p:tgtEl>
                                        <p:attrNameLst>
                                          <p:attrName>style.visibility</p:attrName>
                                        </p:attrNameLst>
                                      </p:cBhvr>
                                      <p:to>
                                        <p:strVal val="visible"/>
                                      </p:to>
                                    </p:set>
                                    <p:anim calcmode="lin" valueType="num">
                                      <p:cBhvr>
                                        <p:cTn id="16" dur="1000" fill="hold"/>
                                        <p:tgtEl>
                                          <p:spTgt spid="34"/>
                                        </p:tgtEl>
                                        <p:attrNameLst>
                                          <p:attrName>ppt_w</p:attrName>
                                        </p:attrNameLst>
                                      </p:cBhvr>
                                      <p:tavLst>
                                        <p:tav tm="0">
                                          <p:val>
                                            <p:strVal val="#ppt_w*0.70"/>
                                          </p:val>
                                        </p:tav>
                                        <p:tav tm="100000">
                                          <p:val>
                                            <p:strVal val="#ppt_w"/>
                                          </p:val>
                                        </p:tav>
                                      </p:tavLst>
                                    </p:anim>
                                    <p:anim calcmode="lin" valueType="num">
                                      <p:cBhvr>
                                        <p:cTn id="17" dur="1000" fill="hold"/>
                                        <p:tgtEl>
                                          <p:spTgt spid="34"/>
                                        </p:tgtEl>
                                        <p:attrNameLst>
                                          <p:attrName>ppt_h</p:attrName>
                                        </p:attrNameLst>
                                      </p:cBhvr>
                                      <p:tavLst>
                                        <p:tav tm="0">
                                          <p:val>
                                            <p:strVal val="#ppt_h"/>
                                          </p:val>
                                        </p:tav>
                                        <p:tav tm="100000">
                                          <p:val>
                                            <p:strVal val="#ppt_h"/>
                                          </p:val>
                                        </p:tav>
                                      </p:tavLst>
                                    </p:anim>
                                    <p:animEffect transition="in" filter="fade">
                                      <p:cBhvr>
                                        <p:cTn id="18"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ChangeArrowheads="1"/>
          </p:cNvSpPr>
          <p:nvPr/>
        </p:nvSpPr>
        <p:spPr bwMode="white">
          <a:xfrm>
            <a:off x="3287713" y="298450"/>
            <a:ext cx="6408737" cy="609600"/>
          </a:xfrm>
          <a:prstGeom prst="rect">
            <a:avLst/>
          </a:prstGeom>
          <a:noFill/>
          <a:ln w="9525">
            <a:noFill/>
            <a:miter lim="800000"/>
          </a:ln>
        </p:spPr>
        <p:txBody>
          <a:bodyPr anchor="ctr"/>
          <a:lstStyle/>
          <a:p>
            <a:pPr algn="l" eaLnBrk="0" hangingPunct="0">
              <a:lnSpc>
                <a:spcPct val="100000"/>
              </a:lnSpc>
              <a:spcBef>
                <a:spcPct val="0"/>
              </a:spcBef>
            </a:pPr>
            <a:endParaRPr lang="zh-CN" altLang="en-US" sz="2800">
              <a:solidFill>
                <a:srgbClr val="FFCC00"/>
              </a:solidFill>
              <a:latin typeface="Arial" panose="020B0604020202020204" pitchFamily="34" charset="0"/>
              <a:ea typeface="黑体" panose="02010609060101010101" pitchFamily="49" charset="-122"/>
            </a:endParaRPr>
          </a:p>
        </p:txBody>
      </p:sp>
      <p:sp>
        <p:nvSpPr>
          <p:cNvPr id="69635" name="Rectangle 25"/>
          <p:cNvSpPr>
            <a:spLocks noGrp="1" noChangeArrowheads="1"/>
          </p:cNvSpPr>
          <p:nvPr>
            <p:ph type="sldNum" sz="quarter" idx="12"/>
          </p:nvPr>
        </p:nvSpPr>
        <p:spPr>
          <a:noFill/>
        </p:spPr>
        <p:txBody>
          <a:bodyPr/>
          <a:lstStyle/>
          <a:p>
            <a:fld id="{B6168D25-C2AA-43AE-8700-2716C42A66E0}" type="slidenum">
              <a:rPr lang="ko-KR" altLang="en-US" smtClean="0"/>
              <a:t>58</a:t>
            </a:fld>
            <a:endParaRPr lang="en-US" altLang="ko-KR" smtClean="0"/>
          </a:p>
        </p:txBody>
      </p:sp>
      <p:sp>
        <p:nvSpPr>
          <p:cNvPr id="69638" name="Rectangle 8"/>
          <p:cNvSpPr>
            <a:spLocks noGrp="1" noChangeArrowheads="1"/>
          </p:cNvSpPr>
          <p:nvPr>
            <p:ph type="title" idx="4294967295"/>
          </p:nvPr>
        </p:nvSpPr>
        <p:spPr>
          <a:xfrm>
            <a:off x="1446530" y="298450"/>
            <a:ext cx="9221470" cy="609600"/>
          </a:xfrm>
        </p:spPr>
        <p:txBody>
          <a:bodyPr>
            <a:normAutofit fontScale="90000"/>
          </a:bodyPr>
          <a:lstStyle/>
          <a:p>
            <a:r>
              <a:rPr lang="en-US" altLang="zh-CN" dirty="0" smtClean="0">
                <a:solidFill>
                  <a:schemeClr val="tx1"/>
                </a:solidFill>
                <a:latin typeface="Arial" panose="020B0604020202020204" pitchFamily="34" charset="0"/>
                <a:ea typeface="黑体" panose="02010609060101010101" pitchFamily="49" charset="-122"/>
              </a:rPr>
              <a:t>Moore</a:t>
            </a:r>
            <a:r>
              <a:rPr lang="zh-CN" altLang="en-US" dirty="0" smtClean="0">
                <a:solidFill>
                  <a:schemeClr val="tx1"/>
                </a:solidFill>
                <a:latin typeface="Arial" panose="020B0604020202020204" pitchFamily="34" charset="0"/>
                <a:ea typeface="黑体" panose="02010609060101010101" pitchFamily="49" charset="-122"/>
              </a:rPr>
              <a:t>型有限状态机设计举例</a:t>
            </a:r>
            <a:r>
              <a:rPr lang="en-US" altLang="zh-CN" dirty="0" smtClean="0">
                <a:solidFill>
                  <a:schemeClr val="tx1"/>
                </a:solidFill>
                <a:latin typeface="Arial" panose="020B0604020202020204" pitchFamily="34" charset="0"/>
                <a:ea typeface="黑体" panose="02010609060101010101" pitchFamily="49" charset="-122"/>
              </a:rPr>
              <a:t>1</a:t>
            </a:r>
          </a:p>
        </p:txBody>
      </p:sp>
      <p:sp>
        <p:nvSpPr>
          <p:cNvPr id="69639" name="Rectangle 9"/>
          <p:cNvSpPr>
            <a:spLocks noGrp="1" noChangeArrowheads="1"/>
          </p:cNvSpPr>
          <p:nvPr>
            <p:ph type="body" idx="4294967295"/>
          </p:nvPr>
        </p:nvSpPr>
        <p:spPr>
          <a:xfrm>
            <a:off x="2506663" y="1222375"/>
            <a:ext cx="8161337" cy="1054100"/>
          </a:xfrm>
        </p:spPr>
        <p:txBody>
          <a:bodyPr/>
          <a:lstStyle/>
          <a:p>
            <a:pPr eaLnBrk="1" hangingPunct="1">
              <a:lnSpc>
                <a:spcPct val="110000"/>
              </a:lnSpc>
              <a:spcBef>
                <a:spcPct val="0"/>
              </a:spcBef>
              <a:buClrTx/>
              <a:buFontTx/>
              <a:buNone/>
            </a:pPr>
            <a:r>
              <a:rPr lang="en-US" altLang="zh-CN" sz="2400" dirty="0" smtClean="0">
                <a:solidFill>
                  <a:srgbClr val="FF3399"/>
                </a:solidFill>
                <a:cs typeface="Arial" panose="020B0604020202020204" pitchFamily="34" charset="0"/>
              </a:rPr>
              <a:t>【</a:t>
            </a:r>
            <a:r>
              <a:rPr lang="zh-CN" altLang="en-US" sz="2400" dirty="0" smtClean="0">
                <a:solidFill>
                  <a:srgbClr val="FF3399"/>
                </a:solidFill>
                <a:cs typeface="Arial" panose="020B0604020202020204" pitchFamily="34" charset="0"/>
              </a:rPr>
              <a:t>例</a:t>
            </a:r>
            <a:r>
              <a:rPr lang="en-US" altLang="zh-CN" sz="2400" dirty="0" smtClean="0">
                <a:solidFill>
                  <a:srgbClr val="FF3399"/>
                </a:solidFill>
                <a:cs typeface="Arial" panose="020B0604020202020204" pitchFamily="34" charset="0"/>
              </a:rPr>
              <a:t>7.3】</a:t>
            </a:r>
            <a:r>
              <a:rPr kumimoji="1" lang="zh-CN" altLang="en-US" sz="2400" dirty="0" smtClean="0">
                <a:cs typeface="Arial" panose="020B0604020202020204" pitchFamily="34" charset="0"/>
              </a:rPr>
              <a:t>设计一个序列检测器。要求检测器连续收到串行码</a:t>
            </a:r>
            <a:r>
              <a:rPr kumimoji="1" lang="en-US" altLang="zh-CN" sz="2400" dirty="0" smtClean="0">
                <a:cs typeface="Arial" panose="020B0604020202020204" pitchFamily="34" charset="0"/>
              </a:rPr>
              <a:t>{</a:t>
            </a:r>
            <a:r>
              <a:rPr kumimoji="1" lang="en-US" altLang="zh-CN" sz="2400" dirty="0" smtClean="0">
                <a:solidFill>
                  <a:srgbClr val="CC0066"/>
                </a:solidFill>
                <a:cs typeface="Arial" panose="020B0604020202020204" pitchFamily="34" charset="0"/>
              </a:rPr>
              <a:t>1101</a:t>
            </a:r>
            <a:r>
              <a:rPr kumimoji="1" lang="en-US" altLang="zh-CN" sz="2400" dirty="0" smtClean="0">
                <a:cs typeface="Arial" panose="020B0604020202020204" pitchFamily="34" charset="0"/>
              </a:rPr>
              <a:t>}</a:t>
            </a:r>
            <a:r>
              <a:rPr kumimoji="1" lang="zh-CN" altLang="en-US" sz="2400" dirty="0" smtClean="0">
                <a:cs typeface="Arial" panose="020B0604020202020204" pitchFamily="34" charset="0"/>
              </a:rPr>
              <a:t>后，输出检测标志为</a:t>
            </a:r>
            <a:r>
              <a:rPr kumimoji="1" lang="en-US" altLang="zh-CN" sz="2400" dirty="0" smtClean="0">
                <a:cs typeface="Arial" panose="020B0604020202020204" pitchFamily="34" charset="0"/>
              </a:rPr>
              <a:t>1</a:t>
            </a:r>
            <a:r>
              <a:rPr kumimoji="1" lang="zh-CN" altLang="en-US" sz="2400" dirty="0" smtClean="0">
                <a:cs typeface="Arial" panose="020B0604020202020204" pitchFamily="34" charset="0"/>
              </a:rPr>
              <a:t>，否则输出检测标志为</a:t>
            </a:r>
            <a:r>
              <a:rPr kumimoji="1" lang="en-US" altLang="zh-CN" sz="2400" dirty="0" smtClean="0">
                <a:cs typeface="Arial" panose="020B0604020202020204" pitchFamily="34" charset="0"/>
              </a:rPr>
              <a:t>0</a:t>
            </a:r>
            <a:r>
              <a:rPr kumimoji="1" lang="zh-CN" altLang="en-US" sz="2400" dirty="0" smtClean="0">
                <a:cs typeface="Arial" panose="020B0604020202020204" pitchFamily="34" charset="0"/>
              </a:rPr>
              <a:t>。</a:t>
            </a:r>
          </a:p>
        </p:txBody>
      </p:sp>
      <p:sp>
        <p:nvSpPr>
          <p:cNvPr id="6" name="Rectangle 2"/>
          <p:cNvSpPr txBox="1">
            <a:spLocks noChangeArrowheads="1"/>
          </p:cNvSpPr>
          <p:nvPr/>
        </p:nvSpPr>
        <p:spPr bwMode="auto">
          <a:xfrm>
            <a:off x="2387600" y="2276475"/>
            <a:ext cx="7188200" cy="2912110"/>
          </a:xfrm>
          <a:prstGeom prst="rect">
            <a:avLst/>
          </a:prstGeom>
          <a:solidFill>
            <a:srgbClr val="FFFFFF"/>
          </a:solidFill>
          <a:ln w="9525">
            <a:noFill/>
            <a:miter lim="800000"/>
          </a:ln>
        </p:spPr>
        <p:txBody>
          <a:bodyPr>
            <a:spAutoFit/>
          </a:bodyPr>
          <a:lstStyle/>
          <a:p>
            <a:pPr marL="363855" indent="-363855" algn="l" eaLnBrk="0" hangingPunct="0">
              <a:lnSpc>
                <a:spcPct val="100000"/>
              </a:lnSpc>
              <a:spcBef>
                <a:spcPct val="30000"/>
              </a:spcBef>
              <a:spcAft>
                <a:spcPct val="30000"/>
              </a:spcAft>
              <a:buClr>
                <a:schemeClr val="bg2"/>
              </a:buClr>
              <a:buFont typeface="Wingdings" panose="05000000000000000000" pitchFamily="2" charset="2"/>
              <a:buNone/>
            </a:pPr>
            <a:r>
              <a:rPr lang="zh-CN" altLang="en-US" sz="2400">
                <a:latin typeface="宋体" panose="02010600030101010101" pitchFamily="2" charset="-122"/>
              </a:rPr>
              <a:t>第</a:t>
            </a:r>
            <a:r>
              <a:rPr lang="en-US" altLang="zh-CN" sz="2400">
                <a:latin typeface="宋体" panose="02010600030101010101" pitchFamily="2" charset="-122"/>
              </a:rPr>
              <a:t>1</a:t>
            </a:r>
            <a:r>
              <a:rPr lang="zh-CN" altLang="en-US" sz="2400">
                <a:latin typeface="宋体" panose="02010600030101010101" pitchFamily="2" charset="-122"/>
              </a:rPr>
              <a:t>步：分析设计要求，列出全部可能状态</a:t>
            </a:r>
            <a:r>
              <a:rPr lang="en-US" altLang="zh-CN" sz="2400">
                <a:latin typeface="宋体" panose="02010600030101010101" pitchFamily="2" charset="-122"/>
              </a:rPr>
              <a:t>:</a:t>
            </a:r>
          </a:p>
          <a:p>
            <a:pPr marL="363855" indent="-363855" algn="l" eaLnBrk="0" hangingPunct="0">
              <a:lnSpc>
                <a:spcPct val="100000"/>
              </a:lnSpc>
              <a:spcBef>
                <a:spcPct val="30000"/>
              </a:spcBef>
              <a:spcAft>
                <a:spcPct val="30000"/>
              </a:spcAft>
              <a:buClr>
                <a:schemeClr val="bg2"/>
              </a:buClr>
            </a:pPr>
            <a:r>
              <a:rPr lang="zh-CN" altLang="en-US" sz="2400">
                <a:latin typeface="宋体" panose="02010600030101010101" pitchFamily="2" charset="-122"/>
              </a:rPr>
              <a:t>  </a:t>
            </a:r>
            <a:r>
              <a:rPr lang="zh-CN" altLang="en-US" sz="2400">
                <a:latin typeface="Arial" panose="020B0604020202020204" pitchFamily="34" charset="0"/>
                <a:cs typeface="Arial" panose="020B0604020202020204" pitchFamily="34" charset="0"/>
              </a:rPr>
              <a:t>未收到一个有效位（</a:t>
            </a:r>
            <a:r>
              <a:rPr lang="en-US" altLang="zh-CN" sz="2400">
                <a:latin typeface="Arial" panose="020B0604020202020204" pitchFamily="34" charset="0"/>
                <a:cs typeface="Arial" panose="020B0604020202020204" pitchFamily="34" charset="0"/>
              </a:rPr>
              <a:t>0</a:t>
            </a:r>
            <a:r>
              <a:rPr lang="zh-CN" altLang="en-US" sz="2400">
                <a:latin typeface="Arial" panose="020B0604020202020204" pitchFamily="34" charset="0"/>
                <a:cs typeface="Arial" panose="020B0604020202020204" pitchFamily="34" charset="0"/>
              </a:rPr>
              <a:t>）　	：</a:t>
            </a:r>
            <a:r>
              <a:rPr lang="en-US" altLang="zh-CN" sz="2400">
                <a:latin typeface="Arial" panose="020B0604020202020204" pitchFamily="34" charset="0"/>
                <a:cs typeface="Arial" panose="020B0604020202020204" pitchFamily="34" charset="0"/>
              </a:rPr>
              <a:t>S0</a:t>
            </a:r>
            <a:br>
              <a:rPr lang="en-US" altLang="zh-CN" sz="2400">
                <a:latin typeface="Arial" panose="020B0604020202020204" pitchFamily="34" charset="0"/>
                <a:cs typeface="Arial" panose="020B0604020202020204" pitchFamily="34" charset="0"/>
              </a:rPr>
            </a:br>
            <a:r>
              <a:rPr lang="zh-CN" altLang="en-US" sz="2400">
                <a:latin typeface="Arial" panose="020B0604020202020204" pitchFamily="34" charset="0"/>
                <a:cs typeface="Arial" panose="020B0604020202020204" pitchFamily="34" charset="0"/>
              </a:rPr>
              <a:t>收到一个有效位（</a:t>
            </a:r>
            <a:r>
              <a:rPr lang="en-US" altLang="zh-CN" sz="2400">
                <a:latin typeface="Arial" panose="020B0604020202020204" pitchFamily="34" charset="0"/>
                <a:cs typeface="Arial" panose="020B0604020202020204" pitchFamily="34" charset="0"/>
              </a:rPr>
              <a:t>1</a:t>
            </a:r>
            <a:r>
              <a:rPr lang="zh-CN" altLang="en-US" sz="2400">
                <a:latin typeface="Arial" panose="020B0604020202020204" pitchFamily="34" charset="0"/>
                <a:cs typeface="Arial" panose="020B0604020202020204" pitchFamily="34" charset="0"/>
              </a:rPr>
              <a:t>）		：</a:t>
            </a:r>
            <a:r>
              <a:rPr lang="en-US" altLang="zh-CN" sz="2400">
                <a:latin typeface="Arial" panose="020B0604020202020204" pitchFamily="34" charset="0"/>
                <a:cs typeface="Arial" panose="020B0604020202020204" pitchFamily="34" charset="0"/>
              </a:rPr>
              <a:t>S1</a:t>
            </a:r>
            <a:br>
              <a:rPr lang="en-US" altLang="zh-CN" sz="2400">
                <a:latin typeface="Arial" panose="020B0604020202020204" pitchFamily="34" charset="0"/>
                <a:cs typeface="Arial" panose="020B0604020202020204" pitchFamily="34" charset="0"/>
              </a:rPr>
            </a:br>
            <a:r>
              <a:rPr lang="zh-CN" altLang="en-US" sz="2400">
                <a:latin typeface="Arial" panose="020B0604020202020204" pitchFamily="34" charset="0"/>
                <a:cs typeface="Arial" panose="020B0604020202020204" pitchFamily="34" charset="0"/>
              </a:rPr>
              <a:t>连续收到两个有效位（</a:t>
            </a:r>
            <a:r>
              <a:rPr lang="en-US" altLang="zh-CN" sz="2400">
                <a:latin typeface="Arial" panose="020B0604020202020204" pitchFamily="34" charset="0"/>
                <a:cs typeface="Arial" panose="020B0604020202020204" pitchFamily="34" charset="0"/>
              </a:rPr>
              <a:t>11</a:t>
            </a:r>
            <a:r>
              <a:rPr lang="zh-CN" altLang="en-US" sz="2400">
                <a:latin typeface="Arial" panose="020B0604020202020204" pitchFamily="34" charset="0"/>
                <a:cs typeface="Arial" panose="020B0604020202020204" pitchFamily="34" charset="0"/>
              </a:rPr>
              <a:t>）	：</a:t>
            </a:r>
            <a:r>
              <a:rPr lang="en-US" altLang="zh-CN" sz="2400">
                <a:latin typeface="Arial" panose="020B0604020202020204" pitchFamily="34" charset="0"/>
                <a:cs typeface="Arial" panose="020B0604020202020204" pitchFamily="34" charset="0"/>
              </a:rPr>
              <a:t>S2</a:t>
            </a:r>
            <a:br>
              <a:rPr lang="en-US" altLang="zh-CN" sz="2400">
                <a:latin typeface="Arial" panose="020B0604020202020204" pitchFamily="34" charset="0"/>
                <a:cs typeface="Arial" panose="020B0604020202020204" pitchFamily="34" charset="0"/>
              </a:rPr>
            </a:br>
            <a:r>
              <a:rPr lang="zh-CN" altLang="en-US" sz="2400">
                <a:latin typeface="Arial" panose="020B0604020202020204" pitchFamily="34" charset="0"/>
                <a:cs typeface="Arial" panose="020B0604020202020204" pitchFamily="34" charset="0"/>
              </a:rPr>
              <a:t>连续收到三个有效位（</a:t>
            </a:r>
            <a:r>
              <a:rPr lang="en-US" altLang="zh-CN" sz="2400">
                <a:latin typeface="Arial" panose="020B0604020202020204" pitchFamily="34" charset="0"/>
                <a:cs typeface="Arial" panose="020B0604020202020204" pitchFamily="34" charset="0"/>
              </a:rPr>
              <a:t>110</a:t>
            </a:r>
            <a:r>
              <a:rPr lang="zh-CN" altLang="en-US" sz="2400">
                <a:latin typeface="Arial" panose="020B0604020202020204" pitchFamily="34" charset="0"/>
                <a:cs typeface="Arial" panose="020B0604020202020204" pitchFamily="34" charset="0"/>
              </a:rPr>
              <a:t>）	：</a:t>
            </a:r>
            <a:r>
              <a:rPr lang="en-US" altLang="zh-CN" sz="2400">
                <a:latin typeface="Arial" panose="020B0604020202020204" pitchFamily="34" charset="0"/>
                <a:cs typeface="Arial" panose="020B0604020202020204" pitchFamily="34" charset="0"/>
              </a:rPr>
              <a:t>S3 </a:t>
            </a:r>
            <a:br>
              <a:rPr lang="en-US" altLang="zh-CN" sz="2400">
                <a:latin typeface="Arial" panose="020B0604020202020204" pitchFamily="34" charset="0"/>
                <a:cs typeface="Arial" panose="020B0604020202020204" pitchFamily="34" charset="0"/>
              </a:rPr>
            </a:br>
            <a:r>
              <a:rPr lang="zh-CN" altLang="en-US" sz="2400">
                <a:latin typeface="Arial" panose="020B0604020202020204" pitchFamily="34" charset="0"/>
                <a:cs typeface="Arial" panose="020B0604020202020204" pitchFamily="34" charset="0"/>
              </a:rPr>
              <a:t>连续收到四个有效位（</a:t>
            </a:r>
            <a:r>
              <a:rPr lang="en-US" altLang="zh-CN" sz="2400">
                <a:latin typeface="Arial" panose="020B0604020202020204" pitchFamily="34" charset="0"/>
                <a:cs typeface="Arial" panose="020B0604020202020204" pitchFamily="34" charset="0"/>
              </a:rPr>
              <a:t>1101</a:t>
            </a:r>
            <a:r>
              <a:rPr lang="zh-CN" altLang="en-US" sz="2400">
                <a:latin typeface="Arial" panose="020B0604020202020204" pitchFamily="34" charset="0"/>
                <a:cs typeface="Arial" panose="020B0604020202020204" pitchFamily="34" charset="0"/>
              </a:rPr>
              <a:t>）	：</a:t>
            </a:r>
            <a:r>
              <a:rPr lang="en-US" altLang="zh-CN" sz="2400">
                <a:latin typeface="Arial" panose="020B0604020202020204" pitchFamily="34" charset="0"/>
                <a:cs typeface="Arial" panose="020B0604020202020204" pitchFamily="34" charset="0"/>
              </a:rPr>
              <a:t>S4</a:t>
            </a:r>
            <a:br>
              <a:rPr lang="en-US" altLang="zh-CN" sz="2400">
                <a:latin typeface="Arial" panose="020B0604020202020204" pitchFamily="34" charset="0"/>
                <a:cs typeface="Arial" panose="020B0604020202020204" pitchFamily="34" charset="0"/>
              </a:rPr>
            </a:br>
            <a:endParaRPr lang="en-US" altLang="zh-CN" sz="2400">
              <a:latin typeface="Arial" panose="020B0604020202020204" pitchFamily="34" charset="0"/>
              <a:cs typeface="Arial" panose="020B0604020202020204" pitchFamily="34" charset="0"/>
            </a:endParaRPr>
          </a:p>
        </p:txBody>
      </p:sp>
      <p:sp>
        <p:nvSpPr>
          <p:cNvPr id="7" name="矩形 6"/>
          <p:cNvSpPr/>
          <p:nvPr/>
        </p:nvSpPr>
        <p:spPr>
          <a:xfrm>
            <a:off x="2351088" y="5121275"/>
            <a:ext cx="7094537" cy="902970"/>
          </a:xfrm>
          <a:prstGeom prst="rect">
            <a:avLst/>
          </a:prstGeom>
        </p:spPr>
        <p:txBody>
          <a:bodyPr>
            <a:spAutoFit/>
          </a:bodyPr>
          <a:lstStyle/>
          <a:p>
            <a:pPr marL="352425" indent="-352425" algn="l" fontAlgn="auto">
              <a:lnSpc>
                <a:spcPct val="110000"/>
              </a:lnSpc>
              <a:spcBef>
                <a:spcPts val="0"/>
              </a:spcBef>
              <a:spcAft>
                <a:spcPts val="0"/>
              </a:spcAft>
              <a:buClr>
                <a:schemeClr val="bg2"/>
              </a:buClr>
              <a:buSzPct val="100000"/>
              <a:buFont typeface="Wingdings" panose="05000000000000000000" pitchFamily="2" charset="2"/>
              <a:buChar char="v"/>
              <a:defRPr/>
            </a:pPr>
            <a:r>
              <a:rPr lang="zh-CN" altLang="en-US" sz="2400" kern="0" dirty="0">
                <a:solidFill>
                  <a:srgbClr val="000000"/>
                </a:solidFill>
                <a:latin typeface="Arial" panose="020B0604020202020204" pitchFamily="34" charset="0"/>
                <a:ea typeface="楷体_GB2312" pitchFamily="49" charset="-122"/>
              </a:rPr>
              <a:t>由于序列检测器的输出只为状态机当前状态的函数，而与外部输入无关，所以为</a:t>
            </a:r>
            <a:r>
              <a:rPr lang="en-US" altLang="zh-CN" sz="2400" kern="0" dirty="0">
                <a:solidFill>
                  <a:srgbClr val="000000"/>
                </a:solidFill>
                <a:latin typeface="Arial" panose="020B0604020202020204" pitchFamily="34" charset="0"/>
                <a:ea typeface="楷体_GB2312" pitchFamily="49" charset="-122"/>
              </a:rPr>
              <a:t>Moore</a:t>
            </a:r>
            <a:r>
              <a:rPr lang="zh-CN" altLang="en-US" sz="2400" kern="0" dirty="0">
                <a:solidFill>
                  <a:srgbClr val="000000"/>
                </a:solidFill>
                <a:latin typeface="Arial" panose="020B0604020202020204" pitchFamily="34" charset="0"/>
                <a:ea typeface="楷体_GB2312" pitchFamily="49" charset="-122"/>
              </a:rPr>
              <a:t>型状态机</a:t>
            </a:r>
            <a:endParaRPr lang="en-US" altLang="zh-CN" sz="2400" kern="0" dirty="0">
              <a:solidFill>
                <a:srgbClr val="000000"/>
              </a:solidFill>
              <a:latin typeface="Arial" panose="020B0604020202020204" pitchFamily="34" charset="0"/>
              <a:ea typeface="楷体_GB2312" pitchFamily="49" charset="-122"/>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Text Box 3"/>
          <p:cNvSpPr txBox="1">
            <a:spLocks noChangeArrowheads="1"/>
          </p:cNvSpPr>
          <p:nvPr/>
        </p:nvSpPr>
        <p:spPr bwMode="auto">
          <a:xfrm>
            <a:off x="8364538" y="1341438"/>
            <a:ext cx="1798320" cy="521970"/>
          </a:xfrm>
          <a:prstGeom prst="rect">
            <a:avLst/>
          </a:prstGeom>
          <a:noFill/>
          <a:ln w="9525">
            <a:noFill/>
            <a:miter lim="800000"/>
          </a:ln>
        </p:spPr>
        <p:txBody>
          <a:bodyPr wrap="none">
            <a:spAutoFit/>
          </a:bodyPr>
          <a:lstStyle/>
          <a:p>
            <a:pPr algn="l">
              <a:lnSpc>
                <a:spcPct val="100000"/>
              </a:lnSpc>
              <a:spcBef>
                <a:spcPct val="0"/>
              </a:spcBef>
            </a:pPr>
            <a:r>
              <a:rPr lang="zh-CN" altLang="en-US" sz="2800">
                <a:solidFill>
                  <a:srgbClr val="FF66CC"/>
                </a:solidFill>
                <a:latin typeface="Verdana" panose="020B0604030504040204" pitchFamily="34" charset="0"/>
              </a:rPr>
              <a:t>序列</a:t>
            </a:r>
            <a:r>
              <a:rPr lang="en-US" altLang="zh-CN" sz="2800">
                <a:solidFill>
                  <a:srgbClr val="FF66CC"/>
                </a:solidFill>
                <a:latin typeface="Verdana" panose="020B0604030504040204" pitchFamily="34" charset="0"/>
              </a:rPr>
              <a:t>1101</a:t>
            </a:r>
            <a:endParaRPr lang="en-US" altLang="zh-CN" sz="2800">
              <a:solidFill>
                <a:srgbClr val="FF0000"/>
              </a:solidFill>
              <a:latin typeface="Verdana" panose="020B0604030504040204" pitchFamily="34" charset="0"/>
            </a:endParaRPr>
          </a:p>
        </p:txBody>
      </p:sp>
      <p:sp>
        <p:nvSpPr>
          <p:cNvPr id="202756" name="Oval 4"/>
          <p:cNvSpPr>
            <a:spLocks noChangeArrowheads="1"/>
          </p:cNvSpPr>
          <p:nvPr/>
        </p:nvSpPr>
        <p:spPr bwMode="auto">
          <a:xfrm>
            <a:off x="6238875" y="1808163"/>
            <a:ext cx="1152525" cy="1081087"/>
          </a:xfrm>
          <a:prstGeom prst="ellipse">
            <a:avLst/>
          </a:prstGeom>
          <a:solidFill>
            <a:schemeClr val="accent1"/>
          </a:solidFill>
          <a:ln w="9525">
            <a:solidFill>
              <a:srgbClr val="008000"/>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0/0</a:t>
            </a:r>
          </a:p>
        </p:txBody>
      </p:sp>
      <p:sp>
        <p:nvSpPr>
          <p:cNvPr id="202757" name="Oval 5"/>
          <p:cNvSpPr>
            <a:spLocks noChangeArrowheads="1"/>
          </p:cNvSpPr>
          <p:nvPr/>
        </p:nvSpPr>
        <p:spPr bwMode="auto">
          <a:xfrm>
            <a:off x="8328025" y="3176588"/>
            <a:ext cx="1152525" cy="1081087"/>
          </a:xfrm>
          <a:prstGeom prst="ellipse">
            <a:avLst/>
          </a:prstGeom>
          <a:solidFill>
            <a:schemeClr val="accent1"/>
          </a:solidFill>
          <a:ln w="9525">
            <a:solidFill>
              <a:srgbClr val="008000"/>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1/0</a:t>
            </a:r>
          </a:p>
        </p:txBody>
      </p:sp>
      <p:sp>
        <p:nvSpPr>
          <p:cNvPr id="202758" name="Oval 6"/>
          <p:cNvSpPr>
            <a:spLocks noChangeArrowheads="1"/>
          </p:cNvSpPr>
          <p:nvPr/>
        </p:nvSpPr>
        <p:spPr bwMode="auto">
          <a:xfrm>
            <a:off x="7714933" y="5048250"/>
            <a:ext cx="1152525" cy="1081088"/>
          </a:xfrm>
          <a:prstGeom prst="ellipse">
            <a:avLst/>
          </a:prstGeom>
          <a:solidFill>
            <a:schemeClr val="accent1"/>
          </a:solidFill>
          <a:ln w="9525">
            <a:solidFill>
              <a:srgbClr val="008000"/>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2/0</a:t>
            </a:r>
          </a:p>
        </p:txBody>
      </p:sp>
      <p:sp>
        <p:nvSpPr>
          <p:cNvPr id="202759" name="Oval 7"/>
          <p:cNvSpPr>
            <a:spLocks noChangeArrowheads="1"/>
          </p:cNvSpPr>
          <p:nvPr/>
        </p:nvSpPr>
        <p:spPr bwMode="auto">
          <a:xfrm>
            <a:off x="4222750" y="3248025"/>
            <a:ext cx="1152525" cy="1081088"/>
          </a:xfrm>
          <a:prstGeom prst="ellipse">
            <a:avLst/>
          </a:prstGeom>
          <a:solidFill>
            <a:schemeClr val="accent1"/>
          </a:solidFill>
          <a:ln w="9525">
            <a:solidFill>
              <a:srgbClr val="008000"/>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4/</a:t>
            </a:r>
            <a:r>
              <a:rPr lang="en-US" altLang="zh-CN" sz="2400">
                <a:solidFill>
                  <a:srgbClr val="006600"/>
                </a:solidFill>
                <a:latin typeface="Verdana" panose="020B0604030504040204" pitchFamily="34" charset="0"/>
              </a:rPr>
              <a:t>1</a:t>
            </a:r>
          </a:p>
        </p:txBody>
      </p:sp>
      <p:sp>
        <p:nvSpPr>
          <p:cNvPr id="202760" name="Oval 8"/>
          <p:cNvSpPr>
            <a:spLocks noChangeArrowheads="1"/>
          </p:cNvSpPr>
          <p:nvPr/>
        </p:nvSpPr>
        <p:spPr bwMode="auto">
          <a:xfrm>
            <a:off x="5230813" y="5048250"/>
            <a:ext cx="1152525" cy="1081088"/>
          </a:xfrm>
          <a:prstGeom prst="ellipse">
            <a:avLst/>
          </a:prstGeom>
          <a:solidFill>
            <a:schemeClr val="accent1"/>
          </a:solidFill>
          <a:ln w="9525">
            <a:solidFill>
              <a:srgbClr val="008000"/>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3/0</a:t>
            </a:r>
          </a:p>
        </p:txBody>
      </p:sp>
      <p:sp>
        <p:nvSpPr>
          <p:cNvPr id="202761" name="Line 9"/>
          <p:cNvSpPr>
            <a:spLocks noChangeShapeType="1"/>
          </p:cNvSpPr>
          <p:nvPr/>
        </p:nvSpPr>
        <p:spPr bwMode="auto">
          <a:xfrm>
            <a:off x="7319963" y="2384425"/>
            <a:ext cx="1439862" cy="865188"/>
          </a:xfrm>
          <a:prstGeom prst="line">
            <a:avLst/>
          </a:prstGeom>
          <a:noFill/>
          <a:ln w="38100">
            <a:solidFill>
              <a:srgbClr val="0000FF"/>
            </a:solidFill>
            <a:round/>
            <a:tailEnd type="triangle" w="med" len="med"/>
          </a:ln>
        </p:spPr>
        <p:txBody>
          <a:bodyPr/>
          <a:lstStyle/>
          <a:p>
            <a:endParaRPr lang="zh-CN" altLang="en-US"/>
          </a:p>
        </p:txBody>
      </p:sp>
      <p:sp>
        <p:nvSpPr>
          <p:cNvPr id="202762" name="Text Box 10"/>
          <p:cNvSpPr txBox="1">
            <a:spLocks noChangeArrowheads="1"/>
          </p:cNvSpPr>
          <p:nvPr/>
        </p:nvSpPr>
        <p:spPr bwMode="auto">
          <a:xfrm>
            <a:off x="7751763" y="2312988"/>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0000"/>
                </a:solidFill>
                <a:latin typeface="Verdana" panose="020B0604030504040204" pitchFamily="34" charset="0"/>
              </a:rPr>
              <a:t>1</a:t>
            </a:r>
          </a:p>
        </p:txBody>
      </p:sp>
      <p:sp>
        <p:nvSpPr>
          <p:cNvPr id="202763" name="Line 11"/>
          <p:cNvSpPr>
            <a:spLocks noChangeShapeType="1"/>
          </p:cNvSpPr>
          <p:nvPr/>
        </p:nvSpPr>
        <p:spPr bwMode="auto">
          <a:xfrm flipH="1">
            <a:off x="8615363" y="4256088"/>
            <a:ext cx="288925" cy="865187"/>
          </a:xfrm>
          <a:prstGeom prst="line">
            <a:avLst/>
          </a:prstGeom>
          <a:noFill/>
          <a:ln w="38100">
            <a:solidFill>
              <a:srgbClr val="0000FF"/>
            </a:solidFill>
            <a:round/>
            <a:tailEnd type="triangle" w="med" len="med"/>
          </a:ln>
        </p:spPr>
        <p:txBody>
          <a:bodyPr/>
          <a:lstStyle/>
          <a:p>
            <a:endParaRPr lang="zh-CN" altLang="en-US"/>
          </a:p>
        </p:txBody>
      </p:sp>
      <p:sp>
        <p:nvSpPr>
          <p:cNvPr id="202764" name="Text Box 12"/>
          <p:cNvSpPr txBox="1">
            <a:spLocks noChangeArrowheads="1"/>
          </p:cNvSpPr>
          <p:nvPr/>
        </p:nvSpPr>
        <p:spPr bwMode="auto">
          <a:xfrm>
            <a:off x="8904288" y="4545013"/>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0000"/>
                </a:solidFill>
                <a:latin typeface="Verdana" panose="020B0604030504040204" pitchFamily="34" charset="0"/>
              </a:rPr>
              <a:t>1</a:t>
            </a:r>
          </a:p>
        </p:txBody>
      </p:sp>
      <p:sp>
        <p:nvSpPr>
          <p:cNvPr id="202765" name="Line 13"/>
          <p:cNvSpPr>
            <a:spLocks noChangeShapeType="1"/>
          </p:cNvSpPr>
          <p:nvPr/>
        </p:nvSpPr>
        <p:spPr bwMode="auto">
          <a:xfrm flipH="1">
            <a:off x="6383338" y="5697538"/>
            <a:ext cx="1368425" cy="0"/>
          </a:xfrm>
          <a:prstGeom prst="line">
            <a:avLst/>
          </a:prstGeom>
          <a:noFill/>
          <a:ln w="38100">
            <a:solidFill>
              <a:srgbClr val="0000FF"/>
            </a:solidFill>
            <a:round/>
            <a:tailEnd type="triangle" w="med" len="med"/>
          </a:ln>
        </p:spPr>
        <p:txBody>
          <a:bodyPr/>
          <a:lstStyle/>
          <a:p>
            <a:endParaRPr lang="zh-CN" altLang="en-US"/>
          </a:p>
        </p:txBody>
      </p:sp>
      <p:sp>
        <p:nvSpPr>
          <p:cNvPr id="202766" name="Text Box 14"/>
          <p:cNvSpPr txBox="1">
            <a:spLocks noChangeArrowheads="1"/>
          </p:cNvSpPr>
          <p:nvPr/>
        </p:nvSpPr>
        <p:spPr bwMode="auto">
          <a:xfrm>
            <a:off x="6848475" y="5254625"/>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0000"/>
                </a:solidFill>
                <a:latin typeface="Verdana" panose="020B0604030504040204" pitchFamily="34" charset="0"/>
              </a:rPr>
              <a:t>0</a:t>
            </a:r>
          </a:p>
        </p:txBody>
      </p:sp>
      <p:sp>
        <p:nvSpPr>
          <p:cNvPr id="202767" name="Line 15"/>
          <p:cNvSpPr>
            <a:spLocks noChangeShapeType="1"/>
          </p:cNvSpPr>
          <p:nvPr/>
        </p:nvSpPr>
        <p:spPr bwMode="auto">
          <a:xfrm flipH="1" flipV="1">
            <a:off x="4799013" y="4329113"/>
            <a:ext cx="576262" cy="1008062"/>
          </a:xfrm>
          <a:prstGeom prst="line">
            <a:avLst/>
          </a:prstGeom>
          <a:noFill/>
          <a:ln w="38100">
            <a:solidFill>
              <a:srgbClr val="0000FF"/>
            </a:solidFill>
            <a:round/>
            <a:tailEnd type="triangle" w="med" len="med"/>
          </a:ln>
        </p:spPr>
        <p:txBody>
          <a:bodyPr/>
          <a:lstStyle/>
          <a:p>
            <a:endParaRPr lang="zh-CN" altLang="en-US"/>
          </a:p>
        </p:txBody>
      </p:sp>
      <p:sp>
        <p:nvSpPr>
          <p:cNvPr id="202768" name="Text Box 16"/>
          <p:cNvSpPr txBox="1">
            <a:spLocks noChangeArrowheads="1"/>
          </p:cNvSpPr>
          <p:nvPr/>
        </p:nvSpPr>
        <p:spPr bwMode="auto">
          <a:xfrm>
            <a:off x="4735513" y="4784725"/>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0000"/>
                </a:solidFill>
                <a:latin typeface="Verdana" panose="020B0604030504040204" pitchFamily="34" charset="0"/>
              </a:rPr>
              <a:t>1</a:t>
            </a:r>
          </a:p>
        </p:txBody>
      </p:sp>
      <p:sp>
        <p:nvSpPr>
          <p:cNvPr id="202769" name="Line 17"/>
          <p:cNvSpPr>
            <a:spLocks noChangeShapeType="1"/>
          </p:cNvSpPr>
          <p:nvPr/>
        </p:nvSpPr>
        <p:spPr bwMode="auto">
          <a:xfrm flipV="1">
            <a:off x="5230813" y="2528888"/>
            <a:ext cx="1081087" cy="863600"/>
          </a:xfrm>
          <a:prstGeom prst="line">
            <a:avLst/>
          </a:prstGeom>
          <a:noFill/>
          <a:ln w="38100">
            <a:solidFill>
              <a:srgbClr val="0000FF"/>
            </a:solidFill>
            <a:round/>
            <a:tailEnd type="triangle" w="med" len="med"/>
          </a:ln>
        </p:spPr>
        <p:txBody>
          <a:bodyPr/>
          <a:lstStyle/>
          <a:p>
            <a:endParaRPr lang="zh-CN" altLang="en-US"/>
          </a:p>
        </p:txBody>
      </p:sp>
      <p:sp>
        <p:nvSpPr>
          <p:cNvPr id="202770" name="Text Box 18"/>
          <p:cNvSpPr txBox="1">
            <a:spLocks noChangeArrowheads="1"/>
          </p:cNvSpPr>
          <p:nvPr/>
        </p:nvSpPr>
        <p:spPr bwMode="auto">
          <a:xfrm>
            <a:off x="5303838" y="2528888"/>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a:t>
            </a:r>
          </a:p>
        </p:txBody>
      </p:sp>
      <p:sp>
        <p:nvSpPr>
          <p:cNvPr id="202771" name="Line 19"/>
          <p:cNvSpPr>
            <a:spLocks noChangeShapeType="1"/>
          </p:cNvSpPr>
          <p:nvPr/>
        </p:nvSpPr>
        <p:spPr bwMode="auto">
          <a:xfrm>
            <a:off x="5410200" y="3810000"/>
            <a:ext cx="2916000" cy="0"/>
          </a:xfrm>
          <a:prstGeom prst="line">
            <a:avLst/>
          </a:prstGeom>
          <a:noFill/>
          <a:ln w="38100">
            <a:solidFill>
              <a:srgbClr val="0000FF"/>
            </a:solidFill>
            <a:round/>
            <a:tailEnd type="triangle" w="med" len="med"/>
          </a:ln>
        </p:spPr>
        <p:txBody>
          <a:bodyPr/>
          <a:lstStyle/>
          <a:p>
            <a:endParaRPr lang="zh-CN" altLang="en-US"/>
          </a:p>
        </p:txBody>
      </p:sp>
      <p:sp>
        <p:nvSpPr>
          <p:cNvPr id="202772" name="Text Box 20"/>
          <p:cNvSpPr txBox="1">
            <a:spLocks noChangeArrowheads="1"/>
          </p:cNvSpPr>
          <p:nvPr/>
        </p:nvSpPr>
        <p:spPr bwMode="auto">
          <a:xfrm>
            <a:off x="6708775" y="3359150"/>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dirty="0">
                <a:solidFill>
                  <a:srgbClr val="FF6600"/>
                </a:solidFill>
                <a:latin typeface="Verdana" panose="020B0604030504040204" pitchFamily="34" charset="0"/>
              </a:rPr>
              <a:t>1</a:t>
            </a:r>
          </a:p>
        </p:txBody>
      </p:sp>
      <p:sp>
        <p:nvSpPr>
          <p:cNvPr id="202773" name="Line 21"/>
          <p:cNvSpPr>
            <a:spLocks noChangeShapeType="1"/>
          </p:cNvSpPr>
          <p:nvPr/>
        </p:nvSpPr>
        <p:spPr bwMode="auto">
          <a:xfrm flipH="1" flipV="1">
            <a:off x="7175500" y="2600325"/>
            <a:ext cx="1368425" cy="792163"/>
          </a:xfrm>
          <a:prstGeom prst="line">
            <a:avLst/>
          </a:prstGeom>
          <a:noFill/>
          <a:ln w="38100">
            <a:solidFill>
              <a:srgbClr val="0000FF"/>
            </a:solidFill>
            <a:round/>
            <a:tailEnd type="triangle" w="med" len="med"/>
          </a:ln>
        </p:spPr>
        <p:txBody>
          <a:bodyPr/>
          <a:lstStyle/>
          <a:p>
            <a:endParaRPr lang="zh-CN" altLang="en-US"/>
          </a:p>
        </p:txBody>
      </p:sp>
      <p:sp>
        <p:nvSpPr>
          <p:cNvPr id="202774" name="Text Box 22"/>
          <p:cNvSpPr txBox="1">
            <a:spLocks noChangeArrowheads="1"/>
          </p:cNvSpPr>
          <p:nvPr/>
        </p:nvSpPr>
        <p:spPr bwMode="auto">
          <a:xfrm>
            <a:off x="7464425" y="2889250"/>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a:t>
            </a:r>
          </a:p>
        </p:txBody>
      </p:sp>
      <p:sp>
        <p:nvSpPr>
          <p:cNvPr id="202775" name="Freeform 23"/>
          <p:cNvSpPr/>
          <p:nvPr/>
        </p:nvSpPr>
        <p:spPr bwMode="auto">
          <a:xfrm>
            <a:off x="7507288" y="4448175"/>
            <a:ext cx="828675" cy="863600"/>
          </a:xfrm>
          <a:custGeom>
            <a:avLst/>
            <a:gdLst>
              <a:gd name="T0" fmla="*/ 2147483647 w 522"/>
              <a:gd name="T1" fmla="*/ 2147483647 h 544"/>
              <a:gd name="T2" fmla="*/ 2147483647 w 522"/>
              <a:gd name="T3" fmla="*/ 2147483647 h 544"/>
              <a:gd name="T4" fmla="*/ 2147483647 w 522"/>
              <a:gd name="T5" fmla="*/ 2147483647 h 544"/>
              <a:gd name="T6" fmla="*/ 2147483647 w 522"/>
              <a:gd name="T7" fmla="*/ 2147483647 h 544"/>
              <a:gd name="T8" fmla="*/ 2147483647 w 522"/>
              <a:gd name="T9" fmla="*/ 2147483647 h 544"/>
              <a:gd name="T10" fmla="*/ 0 60000 65536"/>
              <a:gd name="T11" fmla="*/ 0 60000 65536"/>
              <a:gd name="T12" fmla="*/ 0 60000 65536"/>
              <a:gd name="T13" fmla="*/ 0 60000 65536"/>
              <a:gd name="T14" fmla="*/ 0 60000 65536"/>
              <a:gd name="T15" fmla="*/ 0 w 522"/>
              <a:gd name="T16" fmla="*/ 0 h 544"/>
              <a:gd name="T17" fmla="*/ 522 w 522"/>
              <a:gd name="T18" fmla="*/ 544 h 544"/>
            </a:gdLst>
            <a:ahLst/>
            <a:cxnLst>
              <a:cxn ang="T10">
                <a:pos x="T0" y="T1"/>
              </a:cxn>
              <a:cxn ang="T11">
                <a:pos x="T2" y="T3"/>
              </a:cxn>
              <a:cxn ang="T12">
                <a:pos x="T4" y="T5"/>
              </a:cxn>
              <a:cxn ang="T13">
                <a:pos x="T6" y="T7"/>
              </a:cxn>
              <a:cxn ang="T14">
                <a:pos x="T8" y="T9"/>
              </a:cxn>
            </a:cxnLst>
            <a:rect l="T15" t="T16" r="T17" b="T18"/>
            <a:pathLst>
              <a:path w="522" h="544">
                <a:moveTo>
                  <a:pt x="522" y="363"/>
                </a:moveTo>
                <a:cubicBezTo>
                  <a:pt x="468" y="253"/>
                  <a:pt x="415" y="144"/>
                  <a:pt x="340" y="91"/>
                </a:cubicBezTo>
                <a:cubicBezTo>
                  <a:pt x="265" y="38"/>
                  <a:pt x="121" y="0"/>
                  <a:pt x="68" y="45"/>
                </a:cubicBezTo>
                <a:cubicBezTo>
                  <a:pt x="15" y="90"/>
                  <a:pt x="0" y="280"/>
                  <a:pt x="23" y="363"/>
                </a:cubicBezTo>
                <a:cubicBezTo>
                  <a:pt x="46" y="446"/>
                  <a:pt x="174" y="514"/>
                  <a:pt x="204" y="544"/>
                </a:cubicBezTo>
              </a:path>
            </a:pathLst>
          </a:custGeom>
          <a:noFill/>
          <a:ln w="38100">
            <a:solidFill>
              <a:srgbClr val="0000FF"/>
            </a:solidFill>
            <a:round/>
            <a:tailEnd type="triangle" w="med" len="med"/>
          </a:ln>
        </p:spPr>
        <p:txBody>
          <a:bodyPr/>
          <a:lstStyle/>
          <a:p>
            <a:endParaRPr lang="zh-CN" altLang="en-US"/>
          </a:p>
        </p:txBody>
      </p:sp>
      <p:sp>
        <p:nvSpPr>
          <p:cNvPr id="202776" name="Text Box 24"/>
          <p:cNvSpPr txBox="1">
            <a:spLocks noChangeArrowheads="1"/>
          </p:cNvSpPr>
          <p:nvPr/>
        </p:nvSpPr>
        <p:spPr bwMode="auto">
          <a:xfrm>
            <a:off x="7104063" y="4256088"/>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1</a:t>
            </a:r>
          </a:p>
        </p:txBody>
      </p:sp>
      <p:sp>
        <p:nvSpPr>
          <p:cNvPr id="202777" name="Line 25"/>
          <p:cNvSpPr>
            <a:spLocks noChangeShapeType="1"/>
          </p:cNvSpPr>
          <p:nvPr/>
        </p:nvSpPr>
        <p:spPr bwMode="auto">
          <a:xfrm flipV="1">
            <a:off x="5735638" y="2816225"/>
            <a:ext cx="792162" cy="2232025"/>
          </a:xfrm>
          <a:prstGeom prst="line">
            <a:avLst/>
          </a:prstGeom>
          <a:noFill/>
          <a:ln w="38100">
            <a:solidFill>
              <a:srgbClr val="0000FF"/>
            </a:solidFill>
            <a:round/>
            <a:tailEnd type="triangle" w="med" len="med"/>
          </a:ln>
        </p:spPr>
        <p:txBody>
          <a:bodyPr/>
          <a:lstStyle/>
          <a:p>
            <a:endParaRPr lang="zh-CN" altLang="en-US"/>
          </a:p>
        </p:txBody>
      </p:sp>
      <p:sp>
        <p:nvSpPr>
          <p:cNvPr id="202778" name="Text Box 26"/>
          <p:cNvSpPr txBox="1">
            <a:spLocks noChangeArrowheads="1"/>
          </p:cNvSpPr>
          <p:nvPr/>
        </p:nvSpPr>
        <p:spPr bwMode="auto">
          <a:xfrm>
            <a:off x="5559425" y="4184650"/>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a:t>
            </a:r>
          </a:p>
        </p:txBody>
      </p:sp>
      <p:sp>
        <p:nvSpPr>
          <p:cNvPr id="202779" name="Freeform 27"/>
          <p:cNvSpPr/>
          <p:nvPr/>
        </p:nvSpPr>
        <p:spPr bwMode="auto">
          <a:xfrm>
            <a:off x="6515100" y="1360488"/>
            <a:ext cx="600075" cy="479425"/>
          </a:xfrm>
          <a:custGeom>
            <a:avLst/>
            <a:gdLst>
              <a:gd name="T0" fmla="*/ 2147483647 w 378"/>
              <a:gd name="T1" fmla="*/ 2147483647 h 302"/>
              <a:gd name="T2" fmla="*/ 2147483647 w 378"/>
              <a:gd name="T3" fmla="*/ 2147483647 h 302"/>
              <a:gd name="T4" fmla="*/ 2147483647 w 378"/>
              <a:gd name="T5" fmla="*/ 2147483647 h 302"/>
              <a:gd name="T6" fmla="*/ 2147483647 w 378"/>
              <a:gd name="T7" fmla="*/ 2147483647 h 302"/>
              <a:gd name="T8" fmla="*/ 2147483647 w 378"/>
              <a:gd name="T9" fmla="*/ 2147483647 h 302"/>
              <a:gd name="T10" fmla="*/ 2147483647 w 378"/>
              <a:gd name="T11" fmla="*/ 2147483647 h 302"/>
              <a:gd name="T12" fmla="*/ 0 60000 65536"/>
              <a:gd name="T13" fmla="*/ 0 60000 65536"/>
              <a:gd name="T14" fmla="*/ 0 60000 65536"/>
              <a:gd name="T15" fmla="*/ 0 60000 65536"/>
              <a:gd name="T16" fmla="*/ 0 60000 65536"/>
              <a:gd name="T17" fmla="*/ 0 60000 65536"/>
              <a:gd name="T18" fmla="*/ 0 w 378"/>
              <a:gd name="T19" fmla="*/ 0 h 302"/>
              <a:gd name="T20" fmla="*/ 378 w 378"/>
              <a:gd name="T21" fmla="*/ 302 h 302"/>
            </a:gdLst>
            <a:ahLst/>
            <a:cxnLst>
              <a:cxn ang="T12">
                <a:pos x="T0" y="T1"/>
              </a:cxn>
              <a:cxn ang="T13">
                <a:pos x="T2" y="T3"/>
              </a:cxn>
              <a:cxn ang="T14">
                <a:pos x="T4" y="T5"/>
              </a:cxn>
              <a:cxn ang="T15">
                <a:pos x="T6" y="T7"/>
              </a:cxn>
              <a:cxn ang="T16">
                <a:pos x="T8" y="T9"/>
              </a:cxn>
              <a:cxn ang="T17">
                <a:pos x="T10" y="T11"/>
              </a:cxn>
            </a:cxnLst>
            <a:rect l="T18" t="T19" r="T20" b="T21"/>
            <a:pathLst>
              <a:path w="378" h="302">
                <a:moveTo>
                  <a:pt x="325" y="302"/>
                </a:moveTo>
                <a:cubicBezTo>
                  <a:pt x="351" y="279"/>
                  <a:pt x="378" y="256"/>
                  <a:pt x="371" y="211"/>
                </a:cubicBezTo>
                <a:cubicBezTo>
                  <a:pt x="364" y="166"/>
                  <a:pt x="325" y="60"/>
                  <a:pt x="280" y="30"/>
                </a:cubicBezTo>
                <a:cubicBezTo>
                  <a:pt x="235" y="0"/>
                  <a:pt x="144" y="15"/>
                  <a:pt x="99" y="30"/>
                </a:cubicBezTo>
                <a:cubicBezTo>
                  <a:pt x="54" y="45"/>
                  <a:pt x="16" y="76"/>
                  <a:pt x="8" y="121"/>
                </a:cubicBezTo>
                <a:cubicBezTo>
                  <a:pt x="0" y="166"/>
                  <a:pt x="26" y="234"/>
                  <a:pt x="53" y="302"/>
                </a:cubicBezTo>
              </a:path>
            </a:pathLst>
          </a:custGeom>
          <a:noFill/>
          <a:ln w="38100">
            <a:solidFill>
              <a:srgbClr val="0000FF"/>
            </a:solidFill>
            <a:round/>
            <a:tailEnd type="triangle" w="med" len="med"/>
          </a:ln>
        </p:spPr>
        <p:txBody>
          <a:bodyPr/>
          <a:lstStyle/>
          <a:p>
            <a:endParaRPr lang="zh-CN" altLang="en-US"/>
          </a:p>
        </p:txBody>
      </p:sp>
      <p:sp>
        <p:nvSpPr>
          <p:cNvPr id="202780" name="Text Box 28"/>
          <p:cNvSpPr txBox="1">
            <a:spLocks noChangeArrowheads="1"/>
          </p:cNvSpPr>
          <p:nvPr/>
        </p:nvSpPr>
        <p:spPr bwMode="auto">
          <a:xfrm>
            <a:off x="7248525" y="1160463"/>
            <a:ext cx="376555" cy="460375"/>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a:t>
            </a:r>
          </a:p>
        </p:txBody>
      </p:sp>
      <p:grpSp>
        <p:nvGrpSpPr>
          <p:cNvPr id="70684" name="Group 29"/>
          <p:cNvGrpSpPr/>
          <p:nvPr/>
        </p:nvGrpSpPr>
        <p:grpSpPr bwMode="auto">
          <a:xfrm>
            <a:off x="2063750" y="1531938"/>
            <a:ext cx="3475038" cy="996950"/>
            <a:chOff x="340" y="965"/>
            <a:chExt cx="2189" cy="628"/>
          </a:xfrm>
        </p:grpSpPr>
        <p:grpSp>
          <p:nvGrpSpPr>
            <p:cNvPr id="70688" name="Group 30"/>
            <p:cNvGrpSpPr/>
            <p:nvPr/>
          </p:nvGrpSpPr>
          <p:grpSpPr bwMode="auto">
            <a:xfrm>
              <a:off x="340" y="965"/>
              <a:ext cx="1926" cy="628"/>
              <a:chOff x="340" y="965"/>
              <a:chExt cx="1926" cy="628"/>
            </a:xfrm>
          </p:grpSpPr>
          <p:sp>
            <p:nvSpPr>
              <p:cNvPr id="70690" name="Oval 31"/>
              <p:cNvSpPr>
                <a:spLocks noChangeArrowheads="1"/>
              </p:cNvSpPr>
              <p:nvPr/>
            </p:nvSpPr>
            <p:spPr bwMode="auto">
              <a:xfrm>
                <a:off x="340" y="965"/>
                <a:ext cx="944" cy="628"/>
              </a:xfrm>
              <a:prstGeom prst="ellipse">
                <a:avLst/>
              </a:prstGeom>
              <a:solidFill>
                <a:schemeClr val="accent1">
                  <a:alpha val="52940"/>
                </a:schemeClr>
              </a:solidFill>
              <a:ln w="28575">
                <a:solidFill>
                  <a:schemeClr val="tx2"/>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800" baseline="-25000">
                    <a:solidFill>
                      <a:srgbClr val="FF66CC"/>
                    </a:solidFill>
                    <a:latin typeface="Verdana" panose="020B0604030504040204" pitchFamily="34" charset="0"/>
                  </a:rPr>
                  <a:t>i</a:t>
                </a:r>
                <a:r>
                  <a:rPr lang="en-US" altLang="zh-CN" sz="2800">
                    <a:solidFill>
                      <a:srgbClr val="FF66CC"/>
                    </a:solidFill>
                    <a:latin typeface="Verdana" panose="020B0604030504040204" pitchFamily="34" charset="0"/>
                  </a:rPr>
                  <a:t>/Z</a:t>
                </a:r>
                <a:r>
                  <a:rPr lang="en-US" altLang="zh-CN" sz="2800" baseline="-25000">
                    <a:solidFill>
                      <a:srgbClr val="FF66CC"/>
                    </a:solidFill>
                    <a:latin typeface="Verdana" panose="020B0604030504040204" pitchFamily="34" charset="0"/>
                  </a:rPr>
                  <a:t>Oi</a:t>
                </a:r>
              </a:p>
            </p:txBody>
          </p:sp>
          <p:sp>
            <p:nvSpPr>
              <p:cNvPr id="70691" name="Line 32"/>
              <p:cNvSpPr>
                <a:spLocks noChangeShapeType="1"/>
              </p:cNvSpPr>
              <p:nvPr/>
            </p:nvSpPr>
            <p:spPr bwMode="auto">
              <a:xfrm flipV="1">
                <a:off x="1284" y="1317"/>
                <a:ext cx="982" cy="12"/>
              </a:xfrm>
              <a:prstGeom prst="line">
                <a:avLst/>
              </a:prstGeom>
              <a:noFill/>
              <a:ln w="38100">
                <a:solidFill>
                  <a:srgbClr val="0000FF"/>
                </a:solidFill>
                <a:round/>
                <a:tailEnd type="triangle" w="med" len="med"/>
              </a:ln>
            </p:spPr>
            <p:txBody>
              <a:bodyPr/>
              <a:lstStyle/>
              <a:p>
                <a:endParaRPr lang="zh-CN" altLang="en-US"/>
              </a:p>
            </p:txBody>
          </p:sp>
        </p:grpSp>
        <p:sp>
          <p:nvSpPr>
            <p:cNvPr id="70689" name="Text Box 33"/>
            <p:cNvSpPr txBox="1">
              <a:spLocks noChangeArrowheads="1"/>
            </p:cNvSpPr>
            <p:nvPr/>
          </p:nvSpPr>
          <p:spPr bwMode="auto">
            <a:xfrm>
              <a:off x="1313" y="1011"/>
              <a:ext cx="1216" cy="232"/>
            </a:xfrm>
            <a:prstGeom prst="rect">
              <a:avLst/>
            </a:prstGeom>
            <a:noFill/>
            <a:ln w="9525">
              <a:noFill/>
              <a:miter lim="800000"/>
            </a:ln>
          </p:spPr>
          <p:txBody>
            <a:bodyPr>
              <a:spAutoFit/>
            </a:bodyPr>
            <a:lstStyle/>
            <a:p>
              <a:pPr algn="l">
                <a:lnSpc>
                  <a:spcPct val="100000"/>
                </a:lnSpc>
                <a:spcBef>
                  <a:spcPct val="0"/>
                </a:spcBef>
              </a:pPr>
              <a:r>
                <a:rPr lang="en-US" altLang="zh-CN" sz="1800">
                  <a:solidFill>
                    <a:srgbClr val="FF6600"/>
                  </a:solidFill>
                  <a:latin typeface="Verdana" panose="020B0604030504040204" pitchFamily="34" charset="0"/>
                </a:rPr>
                <a:t>Data_IN</a:t>
              </a:r>
              <a:r>
                <a:rPr lang="en-US" altLang="zh-CN" sz="1800" baseline="-25000">
                  <a:solidFill>
                    <a:srgbClr val="FF6600"/>
                  </a:solidFill>
                  <a:latin typeface="Verdana" panose="020B0604030504040204" pitchFamily="34" charset="0"/>
                </a:rPr>
                <a:t>i</a:t>
              </a:r>
            </a:p>
          </p:txBody>
        </p:sp>
      </p:grpSp>
      <p:sp>
        <p:nvSpPr>
          <p:cNvPr id="70686" name="Rectangle 36"/>
          <p:cNvSpPr>
            <a:spLocks noGrp="1" noChangeArrowheads="1"/>
          </p:cNvSpPr>
          <p:nvPr>
            <p:ph type="title"/>
          </p:nvPr>
        </p:nvSpPr>
        <p:spPr/>
        <p:txBody>
          <a:bodyPr/>
          <a:lstStyle/>
          <a:p>
            <a:r>
              <a:rPr lang="zh-CN" altLang="en-US" dirty="0" smtClean="0">
                <a:solidFill>
                  <a:schemeClr val="accent2"/>
                </a:solidFill>
                <a:latin typeface="Arial" panose="020B0604020202020204" pitchFamily="34" charset="0"/>
                <a:ea typeface="黑体" panose="02010609060101010101" pitchFamily="49" charset="-122"/>
              </a:rPr>
              <a:t>第</a:t>
            </a:r>
            <a:r>
              <a:rPr lang="en-US" altLang="zh-CN" dirty="0" smtClean="0">
                <a:solidFill>
                  <a:schemeClr val="accent2"/>
                </a:solidFill>
                <a:latin typeface="Arial" panose="020B0604020202020204" pitchFamily="34" charset="0"/>
                <a:ea typeface="黑体" panose="02010609060101010101" pitchFamily="49" charset="-122"/>
              </a:rPr>
              <a:t>2</a:t>
            </a:r>
            <a:r>
              <a:rPr lang="zh-CN" altLang="en-US" dirty="0" smtClean="0">
                <a:solidFill>
                  <a:schemeClr val="accent2"/>
                </a:solidFill>
                <a:latin typeface="Arial" panose="020B0604020202020204" pitchFamily="34" charset="0"/>
                <a:ea typeface="黑体" panose="02010609060101010101" pitchFamily="49" charset="-122"/>
              </a:rPr>
              <a:t>步：画出状态图</a:t>
            </a:r>
          </a:p>
        </p:txBody>
      </p:sp>
      <p:sp>
        <p:nvSpPr>
          <p:cNvPr id="70685" name="Rectangle 25"/>
          <p:cNvSpPr>
            <a:spLocks noGrp="1" noChangeArrowheads="1"/>
          </p:cNvSpPr>
          <p:nvPr>
            <p:ph type="sldNum" sz="quarter" idx="12"/>
          </p:nvPr>
        </p:nvSpPr>
        <p:spPr>
          <a:noFill/>
        </p:spPr>
        <p:txBody>
          <a:bodyPr/>
          <a:lstStyle/>
          <a:p>
            <a:fld id="{D08A1704-35AE-4B7A-BD6D-1A0F0CF7A1C2}" type="slidenum">
              <a:rPr lang="ko-KR" altLang="en-US" smtClean="0"/>
              <a:t>59</a:t>
            </a:fld>
            <a:endParaRPr lang="en-US" altLang="ko-KR" smtClean="0"/>
          </a:p>
        </p:txBody>
      </p:sp>
      <p:sp>
        <p:nvSpPr>
          <p:cNvPr id="2200583" name="AutoShape 7"/>
          <p:cNvSpPr>
            <a:spLocks noChangeArrowheads="1"/>
          </p:cNvSpPr>
          <p:nvPr/>
        </p:nvSpPr>
        <p:spPr bwMode="auto">
          <a:xfrm>
            <a:off x="1524000" y="4152900"/>
            <a:ext cx="2795588" cy="1296988"/>
          </a:xfrm>
          <a:prstGeom prst="wedgeRoundRectCallout">
            <a:avLst>
              <a:gd name="adj1" fmla="val 47389"/>
              <a:gd name="adj2" fmla="val -80477"/>
              <a:gd name="adj3" fmla="val 16667"/>
            </a:avLst>
          </a:prstGeom>
          <a:solidFill>
            <a:srgbClr val="FFFF99"/>
          </a:solidFill>
          <a:ln w="9525">
            <a:solidFill>
              <a:srgbClr val="FF9966"/>
            </a:solidFill>
            <a:miter lim="800000"/>
          </a:ln>
          <a:effectLst>
            <a:prstShdw prst="shdw17" dist="17961" dir="2700000">
              <a:srgbClr val="99995C"/>
            </a:prstShdw>
          </a:effectLst>
        </p:spPr>
        <p:txBody>
          <a:bodyPr anchor="b"/>
          <a:lstStyle/>
          <a:p>
            <a:pPr algn="l">
              <a:lnSpc>
                <a:spcPct val="100000"/>
              </a:lnSpc>
              <a:spcBef>
                <a:spcPct val="0"/>
              </a:spcBef>
            </a:pPr>
            <a:r>
              <a:rPr lang="zh-CN" altLang="en-US">
                <a:latin typeface="Arial" panose="020B0604020202020204" pitchFamily="34" charset="0"/>
                <a:ea typeface="楷体_GB2312" pitchFamily="49" charset="-122"/>
              </a:rPr>
              <a:t>只有在</a:t>
            </a:r>
            <a:r>
              <a:rPr lang="en-US" altLang="zh-CN">
                <a:latin typeface="Arial" panose="020B0604020202020204" pitchFamily="34" charset="0"/>
                <a:ea typeface="楷体_GB2312" pitchFamily="49" charset="-122"/>
              </a:rPr>
              <a:t>S4</a:t>
            </a:r>
            <a:r>
              <a:rPr lang="zh-CN" altLang="en-US">
                <a:latin typeface="Arial" panose="020B0604020202020204" pitchFamily="34" charset="0"/>
                <a:ea typeface="楷体_GB2312" pitchFamily="49" charset="-122"/>
              </a:rPr>
              <a:t>状态下输出</a:t>
            </a:r>
            <a:r>
              <a:rPr lang="en-US" altLang="zh-CN">
                <a:solidFill>
                  <a:srgbClr val="FF0066"/>
                </a:solidFill>
                <a:latin typeface="Arial" panose="020B0604020202020204" pitchFamily="34" charset="0"/>
                <a:ea typeface="楷体_GB2312" pitchFamily="49" charset="-122"/>
              </a:rPr>
              <a:t>zo</a:t>
            </a:r>
            <a:r>
              <a:rPr lang="zh-CN" altLang="en-US">
                <a:solidFill>
                  <a:srgbClr val="FF0066"/>
                </a:solidFill>
                <a:latin typeface="Arial" panose="020B0604020202020204" pitchFamily="34" charset="0"/>
                <a:ea typeface="楷体_GB2312" pitchFamily="49" charset="-122"/>
              </a:rPr>
              <a:t>置</a:t>
            </a:r>
            <a:r>
              <a:rPr lang="en-US" altLang="zh-CN">
                <a:solidFill>
                  <a:srgbClr val="FF0066"/>
                </a:solidFill>
                <a:latin typeface="Arial" panose="020B0604020202020204" pitchFamily="34" charset="0"/>
                <a:ea typeface="楷体_GB2312" pitchFamily="49" charset="-122"/>
              </a:rPr>
              <a:t>1</a:t>
            </a:r>
            <a:r>
              <a:rPr lang="zh-CN" altLang="en-US">
                <a:solidFill>
                  <a:srgbClr val="FF0066"/>
                </a:solidFill>
                <a:latin typeface="Arial" panose="020B0604020202020204" pitchFamily="34" charset="0"/>
                <a:ea typeface="楷体_GB2312" pitchFamily="49" charset="-122"/>
              </a:rPr>
              <a:t>，</a:t>
            </a:r>
            <a:r>
              <a:rPr lang="zh-CN" altLang="en-US">
                <a:latin typeface="Arial" panose="020B0604020202020204" pitchFamily="34" charset="0"/>
                <a:ea typeface="楷体_GB2312" pitchFamily="49" charset="-122"/>
              </a:rPr>
              <a:t>其他状态下</a:t>
            </a:r>
            <a:r>
              <a:rPr lang="en-US" altLang="zh-CN">
                <a:latin typeface="Arial" panose="020B0604020202020204" pitchFamily="34" charset="0"/>
                <a:ea typeface="楷体_GB2312" pitchFamily="49" charset="-122"/>
              </a:rPr>
              <a:t>zo</a:t>
            </a:r>
            <a:r>
              <a:rPr lang="zh-CN" altLang="en-US">
                <a:latin typeface="Arial" panose="020B0604020202020204" pitchFamily="34" charset="0"/>
                <a:ea typeface="楷体_GB2312" pitchFamily="49" charset="-122"/>
              </a:rPr>
              <a:t>为</a:t>
            </a:r>
            <a:r>
              <a:rPr lang="en-US" altLang="zh-CN">
                <a:latin typeface="Arial" panose="020B0604020202020204" pitchFamily="34" charset="0"/>
                <a:ea typeface="楷体_GB2312" pitchFamily="49" charset="-122"/>
              </a:rPr>
              <a:t>0</a:t>
            </a:r>
            <a:r>
              <a:rPr lang="zh-CN" altLang="en-US">
                <a:latin typeface="Arial" panose="020B0604020202020204" pitchFamily="34" charset="0"/>
                <a:ea typeface="楷体_GB2312" pitchFamily="49" charset="-122"/>
              </a:rPr>
              <a:t>，且</a:t>
            </a:r>
            <a:r>
              <a:rPr lang="zh-CN" altLang="en-US">
                <a:solidFill>
                  <a:srgbClr val="FF0066"/>
                </a:solidFill>
                <a:latin typeface="Arial" panose="020B0604020202020204" pitchFamily="34" charset="0"/>
                <a:ea typeface="楷体_GB2312" pitchFamily="49" charset="-122"/>
              </a:rPr>
              <a:t>输出与外部输入无关</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02756"/>
                                        </p:tgtEl>
                                        <p:attrNameLst>
                                          <p:attrName>style.visibility</p:attrName>
                                        </p:attrNameLst>
                                      </p:cBhvr>
                                      <p:to>
                                        <p:strVal val="visible"/>
                                      </p:to>
                                    </p:set>
                                    <p:anim calcmode="lin" valueType="num">
                                      <p:cBhvr>
                                        <p:cTn id="7" dur="500" fill="hold"/>
                                        <p:tgtEl>
                                          <p:spTgt spid="202756"/>
                                        </p:tgtEl>
                                        <p:attrNameLst>
                                          <p:attrName>ppt_w</p:attrName>
                                        </p:attrNameLst>
                                      </p:cBhvr>
                                      <p:tavLst>
                                        <p:tav tm="0">
                                          <p:val>
                                            <p:fltVal val="0"/>
                                          </p:val>
                                        </p:tav>
                                        <p:tav tm="100000">
                                          <p:val>
                                            <p:strVal val="#ppt_w"/>
                                          </p:val>
                                        </p:tav>
                                      </p:tavLst>
                                    </p:anim>
                                    <p:anim calcmode="lin" valueType="num">
                                      <p:cBhvr>
                                        <p:cTn id="8" dur="500" fill="hold"/>
                                        <p:tgtEl>
                                          <p:spTgt spid="202756"/>
                                        </p:tgtEl>
                                        <p:attrNameLst>
                                          <p:attrName>ppt_h</p:attrName>
                                        </p:attrNameLst>
                                      </p:cBhvr>
                                      <p:tavLst>
                                        <p:tav tm="0">
                                          <p:val>
                                            <p:fltVal val="0"/>
                                          </p:val>
                                        </p:tav>
                                        <p:tav tm="100000">
                                          <p:val>
                                            <p:strVal val="#ppt_h"/>
                                          </p:val>
                                        </p:tav>
                                      </p:tavLst>
                                    </p:anim>
                                    <p:animEffect transition="in" filter="fade">
                                      <p:cBhvr>
                                        <p:cTn id="9" dur="500"/>
                                        <p:tgtEl>
                                          <p:spTgt spid="20275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02757"/>
                                        </p:tgtEl>
                                        <p:attrNameLst>
                                          <p:attrName>style.visibility</p:attrName>
                                        </p:attrNameLst>
                                      </p:cBhvr>
                                      <p:to>
                                        <p:strVal val="visible"/>
                                      </p:to>
                                    </p:set>
                                    <p:anim calcmode="lin" valueType="num">
                                      <p:cBhvr>
                                        <p:cTn id="12" dur="500" fill="hold"/>
                                        <p:tgtEl>
                                          <p:spTgt spid="202757"/>
                                        </p:tgtEl>
                                        <p:attrNameLst>
                                          <p:attrName>ppt_w</p:attrName>
                                        </p:attrNameLst>
                                      </p:cBhvr>
                                      <p:tavLst>
                                        <p:tav tm="0">
                                          <p:val>
                                            <p:fltVal val="0"/>
                                          </p:val>
                                        </p:tav>
                                        <p:tav tm="100000">
                                          <p:val>
                                            <p:strVal val="#ppt_w"/>
                                          </p:val>
                                        </p:tav>
                                      </p:tavLst>
                                    </p:anim>
                                    <p:anim calcmode="lin" valueType="num">
                                      <p:cBhvr>
                                        <p:cTn id="13" dur="500" fill="hold"/>
                                        <p:tgtEl>
                                          <p:spTgt spid="202757"/>
                                        </p:tgtEl>
                                        <p:attrNameLst>
                                          <p:attrName>ppt_h</p:attrName>
                                        </p:attrNameLst>
                                      </p:cBhvr>
                                      <p:tavLst>
                                        <p:tav tm="0">
                                          <p:val>
                                            <p:fltVal val="0"/>
                                          </p:val>
                                        </p:tav>
                                        <p:tav tm="100000">
                                          <p:val>
                                            <p:strVal val="#ppt_h"/>
                                          </p:val>
                                        </p:tav>
                                      </p:tavLst>
                                    </p:anim>
                                    <p:animEffect transition="in" filter="fade">
                                      <p:cBhvr>
                                        <p:cTn id="14" dur="500"/>
                                        <p:tgtEl>
                                          <p:spTgt spid="20275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202758"/>
                                        </p:tgtEl>
                                        <p:attrNameLst>
                                          <p:attrName>style.visibility</p:attrName>
                                        </p:attrNameLst>
                                      </p:cBhvr>
                                      <p:to>
                                        <p:strVal val="visible"/>
                                      </p:to>
                                    </p:set>
                                    <p:anim calcmode="lin" valueType="num">
                                      <p:cBhvr>
                                        <p:cTn id="17" dur="500" fill="hold"/>
                                        <p:tgtEl>
                                          <p:spTgt spid="202758"/>
                                        </p:tgtEl>
                                        <p:attrNameLst>
                                          <p:attrName>ppt_w</p:attrName>
                                        </p:attrNameLst>
                                      </p:cBhvr>
                                      <p:tavLst>
                                        <p:tav tm="0">
                                          <p:val>
                                            <p:fltVal val="0"/>
                                          </p:val>
                                        </p:tav>
                                        <p:tav tm="100000">
                                          <p:val>
                                            <p:strVal val="#ppt_w"/>
                                          </p:val>
                                        </p:tav>
                                      </p:tavLst>
                                    </p:anim>
                                    <p:anim calcmode="lin" valueType="num">
                                      <p:cBhvr>
                                        <p:cTn id="18" dur="500" fill="hold"/>
                                        <p:tgtEl>
                                          <p:spTgt spid="202758"/>
                                        </p:tgtEl>
                                        <p:attrNameLst>
                                          <p:attrName>ppt_h</p:attrName>
                                        </p:attrNameLst>
                                      </p:cBhvr>
                                      <p:tavLst>
                                        <p:tav tm="0">
                                          <p:val>
                                            <p:fltVal val="0"/>
                                          </p:val>
                                        </p:tav>
                                        <p:tav tm="100000">
                                          <p:val>
                                            <p:strVal val="#ppt_h"/>
                                          </p:val>
                                        </p:tav>
                                      </p:tavLst>
                                    </p:anim>
                                    <p:animEffect transition="in" filter="fade">
                                      <p:cBhvr>
                                        <p:cTn id="19" dur="500"/>
                                        <p:tgtEl>
                                          <p:spTgt spid="20275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02760"/>
                                        </p:tgtEl>
                                        <p:attrNameLst>
                                          <p:attrName>style.visibility</p:attrName>
                                        </p:attrNameLst>
                                      </p:cBhvr>
                                      <p:to>
                                        <p:strVal val="visible"/>
                                      </p:to>
                                    </p:set>
                                    <p:anim calcmode="lin" valueType="num">
                                      <p:cBhvr>
                                        <p:cTn id="22" dur="500" fill="hold"/>
                                        <p:tgtEl>
                                          <p:spTgt spid="202760"/>
                                        </p:tgtEl>
                                        <p:attrNameLst>
                                          <p:attrName>ppt_w</p:attrName>
                                        </p:attrNameLst>
                                      </p:cBhvr>
                                      <p:tavLst>
                                        <p:tav tm="0">
                                          <p:val>
                                            <p:fltVal val="0"/>
                                          </p:val>
                                        </p:tav>
                                        <p:tav tm="100000">
                                          <p:val>
                                            <p:strVal val="#ppt_w"/>
                                          </p:val>
                                        </p:tav>
                                      </p:tavLst>
                                    </p:anim>
                                    <p:anim calcmode="lin" valueType="num">
                                      <p:cBhvr>
                                        <p:cTn id="23" dur="500" fill="hold"/>
                                        <p:tgtEl>
                                          <p:spTgt spid="202760"/>
                                        </p:tgtEl>
                                        <p:attrNameLst>
                                          <p:attrName>ppt_h</p:attrName>
                                        </p:attrNameLst>
                                      </p:cBhvr>
                                      <p:tavLst>
                                        <p:tav tm="0">
                                          <p:val>
                                            <p:fltVal val="0"/>
                                          </p:val>
                                        </p:tav>
                                        <p:tav tm="100000">
                                          <p:val>
                                            <p:strVal val="#ppt_h"/>
                                          </p:val>
                                        </p:tav>
                                      </p:tavLst>
                                    </p:anim>
                                    <p:animEffect transition="in" filter="fade">
                                      <p:cBhvr>
                                        <p:cTn id="24" dur="500"/>
                                        <p:tgtEl>
                                          <p:spTgt spid="202760"/>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202759"/>
                                        </p:tgtEl>
                                        <p:attrNameLst>
                                          <p:attrName>style.visibility</p:attrName>
                                        </p:attrNameLst>
                                      </p:cBhvr>
                                      <p:to>
                                        <p:strVal val="visible"/>
                                      </p:to>
                                    </p:set>
                                    <p:anim calcmode="lin" valueType="num">
                                      <p:cBhvr>
                                        <p:cTn id="27" dur="500" fill="hold"/>
                                        <p:tgtEl>
                                          <p:spTgt spid="202759"/>
                                        </p:tgtEl>
                                        <p:attrNameLst>
                                          <p:attrName>ppt_w</p:attrName>
                                        </p:attrNameLst>
                                      </p:cBhvr>
                                      <p:tavLst>
                                        <p:tav tm="0">
                                          <p:val>
                                            <p:fltVal val="0"/>
                                          </p:val>
                                        </p:tav>
                                        <p:tav tm="100000">
                                          <p:val>
                                            <p:strVal val="#ppt_w"/>
                                          </p:val>
                                        </p:tav>
                                      </p:tavLst>
                                    </p:anim>
                                    <p:anim calcmode="lin" valueType="num">
                                      <p:cBhvr>
                                        <p:cTn id="28" dur="500" fill="hold"/>
                                        <p:tgtEl>
                                          <p:spTgt spid="202759"/>
                                        </p:tgtEl>
                                        <p:attrNameLst>
                                          <p:attrName>ppt_h</p:attrName>
                                        </p:attrNameLst>
                                      </p:cBhvr>
                                      <p:tavLst>
                                        <p:tav tm="0">
                                          <p:val>
                                            <p:fltVal val="0"/>
                                          </p:val>
                                        </p:tav>
                                        <p:tav tm="100000">
                                          <p:val>
                                            <p:strVal val="#ppt_h"/>
                                          </p:val>
                                        </p:tav>
                                      </p:tavLst>
                                    </p:anim>
                                    <p:animEffect transition="in" filter="fade">
                                      <p:cBhvr>
                                        <p:cTn id="29" dur="500"/>
                                        <p:tgtEl>
                                          <p:spTgt spid="202759"/>
                                        </p:tgtEl>
                                      </p:cBhvr>
                                    </p:animEffect>
                                  </p:childTnLst>
                                </p:cTn>
                              </p:par>
                            </p:childTnLst>
                          </p:cTn>
                        </p:par>
                      </p:childTnLst>
                    </p:cTn>
                  </p:par>
                  <p:par>
                    <p:cTn id="30" fill="hold">
                      <p:stCondLst>
                        <p:cond delay="indefinite"/>
                      </p:stCondLst>
                      <p:childTnLst>
                        <p:par>
                          <p:cTn id="31" fill="hold">
                            <p:stCondLst>
                              <p:cond delay="0"/>
                            </p:stCondLst>
                            <p:childTnLst>
                              <p:par>
                                <p:cTn id="32" presetID="25" presetClass="entr" presetSubtype="0" fill="hold" grpId="0" nodeType="clickEffect">
                                  <p:stCondLst>
                                    <p:cond delay="0"/>
                                  </p:stCondLst>
                                  <p:childTnLst>
                                    <p:set>
                                      <p:cBhvr>
                                        <p:cTn id="33" dur="1" fill="hold">
                                          <p:stCondLst>
                                            <p:cond delay="0"/>
                                          </p:stCondLst>
                                        </p:cTn>
                                        <p:tgtEl>
                                          <p:spTgt spid="202762"/>
                                        </p:tgtEl>
                                        <p:attrNameLst>
                                          <p:attrName>style.visibility</p:attrName>
                                        </p:attrNameLst>
                                      </p:cBhvr>
                                      <p:to>
                                        <p:strVal val="visible"/>
                                      </p:to>
                                    </p:set>
                                    <p:anim calcmode="lin" valueType="num">
                                      <p:cBhvr>
                                        <p:cTn id="34" dur="500" decel="50000" fill="hold">
                                          <p:stCondLst>
                                            <p:cond delay="0"/>
                                          </p:stCondLst>
                                        </p:cTn>
                                        <p:tgtEl>
                                          <p:spTgt spid="202762"/>
                                        </p:tgtEl>
                                        <p:attrNameLst>
                                          <p:attrName>style.rotation</p:attrName>
                                        </p:attrNameLst>
                                      </p:cBhvr>
                                      <p:tavLst>
                                        <p:tav tm="0">
                                          <p:val>
                                            <p:fltVal val="-90"/>
                                          </p:val>
                                        </p:tav>
                                        <p:tav tm="100000">
                                          <p:val>
                                            <p:fltVal val="0"/>
                                          </p:val>
                                        </p:tav>
                                      </p:tavLst>
                                    </p:anim>
                                    <p:anim calcmode="lin" valueType="num">
                                      <p:cBhvr>
                                        <p:cTn id="35" dur="500" decel="50000" fill="hold">
                                          <p:stCondLst>
                                            <p:cond delay="0"/>
                                          </p:stCondLst>
                                        </p:cTn>
                                        <p:tgtEl>
                                          <p:spTgt spid="202762"/>
                                        </p:tgtEl>
                                        <p:attrNameLst>
                                          <p:attrName>ppt_w</p:attrName>
                                        </p:attrNameLst>
                                      </p:cBhvr>
                                      <p:tavLst>
                                        <p:tav tm="0">
                                          <p:val>
                                            <p:strVal val="#ppt_w"/>
                                          </p:val>
                                        </p:tav>
                                        <p:tav tm="100000">
                                          <p:val>
                                            <p:strVal val="#ppt_w*.05"/>
                                          </p:val>
                                        </p:tav>
                                      </p:tavLst>
                                    </p:anim>
                                    <p:anim calcmode="lin" valueType="num">
                                      <p:cBhvr>
                                        <p:cTn id="36" dur="500" accel="50000" fill="hold">
                                          <p:stCondLst>
                                            <p:cond delay="500"/>
                                          </p:stCondLst>
                                        </p:cTn>
                                        <p:tgtEl>
                                          <p:spTgt spid="202762"/>
                                        </p:tgtEl>
                                        <p:attrNameLst>
                                          <p:attrName>ppt_w</p:attrName>
                                        </p:attrNameLst>
                                      </p:cBhvr>
                                      <p:tavLst>
                                        <p:tav tm="0">
                                          <p:val>
                                            <p:strVal val="#ppt_w*.05"/>
                                          </p:val>
                                        </p:tav>
                                        <p:tav tm="100000">
                                          <p:val>
                                            <p:strVal val="#ppt_w"/>
                                          </p:val>
                                        </p:tav>
                                      </p:tavLst>
                                    </p:anim>
                                    <p:anim calcmode="lin" valueType="num">
                                      <p:cBhvr>
                                        <p:cTn id="37" dur="1000" fill="hold"/>
                                        <p:tgtEl>
                                          <p:spTgt spid="202762"/>
                                        </p:tgtEl>
                                        <p:attrNameLst>
                                          <p:attrName>ppt_h</p:attrName>
                                        </p:attrNameLst>
                                      </p:cBhvr>
                                      <p:tavLst>
                                        <p:tav tm="0">
                                          <p:val>
                                            <p:strVal val="#ppt_h"/>
                                          </p:val>
                                        </p:tav>
                                        <p:tav tm="100000">
                                          <p:val>
                                            <p:strVal val="#ppt_h"/>
                                          </p:val>
                                        </p:tav>
                                      </p:tavLst>
                                    </p:anim>
                                    <p:anim calcmode="lin" valueType="num">
                                      <p:cBhvr>
                                        <p:cTn id="38" dur="500" decel="50000" fill="hold">
                                          <p:stCondLst>
                                            <p:cond delay="0"/>
                                          </p:stCondLst>
                                        </p:cTn>
                                        <p:tgtEl>
                                          <p:spTgt spid="202762"/>
                                        </p:tgtEl>
                                        <p:attrNameLst>
                                          <p:attrName>ppt_x</p:attrName>
                                        </p:attrNameLst>
                                      </p:cBhvr>
                                      <p:tavLst>
                                        <p:tav tm="0">
                                          <p:val>
                                            <p:strVal val="#ppt_x+.4"/>
                                          </p:val>
                                        </p:tav>
                                        <p:tav tm="100000">
                                          <p:val>
                                            <p:strVal val="#ppt_x"/>
                                          </p:val>
                                        </p:tav>
                                      </p:tavLst>
                                    </p:anim>
                                    <p:anim calcmode="lin" valueType="num">
                                      <p:cBhvr>
                                        <p:cTn id="39" dur="500" decel="50000" fill="hold">
                                          <p:stCondLst>
                                            <p:cond delay="0"/>
                                          </p:stCondLst>
                                        </p:cTn>
                                        <p:tgtEl>
                                          <p:spTgt spid="202762"/>
                                        </p:tgtEl>
                                        <p:attrNameLst>
                                          <p:attrName>ppt_y</p:attrName>
                                        </p:attrNameLst>
                                      </p:cBhvr>
                                      <p:tavLst>
                                        <p:tav tm="0">
                                          <p:val>
                                            <p:strVal val="#ppt_y-.2"/>
                                          </p:val>
                                        </p:tav>
                                        <p:tav tm="100000">
                                          <p:val>
                                            <p:strVal val="#ppt_y+.1"/>
                                          </p:val>
                                        </p:tav>
                                      </p:tavLst>
                                    </p:anim>
                                    <p:anim calcmode="lin" valueType="num">
                                      <p:cBhvr>
                                        <p:cTn id="40" dur="500" accel="50000" fill="hold">
                                          <p:stCondLst>
                                            <p:cond delay="500"/>
                                          </p:stCondLst>
                                        </p:cTn>
                                        <p:tgtEl>
                                          <p:spTgt spid="202762"/>
                                        </p:tgtEl>
                                        <p:attrNameLst>
                                          <p:attrName>ppt_y</p:attrName>
                                        </p:attrNameLst>
                                      </p:cBhvr>
                                      <p:tavLst>
                                        <p:tav tm="0">
                                          <p:val>
                                            <p:strVal val="#ppt_y+.1"/>
                                          </p:val>
                                        </p:tav>
                                        <p:tav tm="100000">
                                          <p:val>
                                            <p:strVal val="#ppt_y"/>
                                          </p:val>
                                        </p:tav>
                                      </p:tavLst>
                                    </p:anim>
                                    <p:animEffect transition="in" filter="fade">
                                      <p:cBhvr>
                                        <p:cTn id="41" dur="1000" decel="50000">
                                          <p:stCondLst>
                                            <p:cond delay="0"/>
                                          </p:stCondLst>
                                        </p:cTn>
                                        <p:tgtEl>
                                          <p:spTgt spid="202762"/>
                                        </p:tgtEl>
                                      </p:cBhvr>
                                    </p:animEffect>
                                  </p:childTnLst>
                                </p:cTn>
                              </p:par>
                            </p:childTnLst>
                          </p:cTn>
                        </p:par>
                        <p:par>
                          <p:cTn id="42" fill="hold">
                            <p:stCondLst>
                              <p:cond delay="1000"/>
                            </p:stCondLst>
                            <p:childTnLst>
                              <p:par>
                                <p:cTn id="43" presetID="53" presetClass="entr" presetSubtype="16" fill="hold" grpId="0" nodeType="afterEffect">
                                  <p:stCondLst>
                                    <p:cond delay="0"/>
                                  </p:stCondLst>
                                  <p:childTnLst>
                                    <p:set>
                                      <p:cBhvr>
                                        <p:cTn id="44" dur="1" fill="hold">
                                          <p:stCondLst>
                                            <p:cond delay="0"/>
                                          </p:stCondLst>
                                        </p:cTn>
                                        <p:tgtEl>
                                          <p:spTgt spid="202761"/>
                                        </p:tgtEl>
                                        <p:attrNameLst>
                                          <p:attrName>style.visibility</p:attrName>
                                        </p:attrNameLst>
                                      </p:cBhvr>
                                      <p:to>
                                        <p:strVal val="visible"/>
                                      </p:to>
                                    </p:set>
                                    <p:anim calcmode="lin" valueType="num">
                                      <p:cBhvr>
                                        <p:cTn id="45" dur="500" fill="hold"/>
                                        <p:tgtEl>
                                          <p:spTgt spid="202761"/>
                                        </p:tgtEl>
                                        <p:attrNameLst>
                                          <p:attrName>ppt_w</p:attrName>
                                        </p:attrNameLst>
                                      </p:cBhvr>
                                      <p:tavLst>
                                        <p:tav tm="0">
                                          <p:val>
                                            <p:fltVal val="0"/>
                                          </p:val>
                                        </p:tav>
                                        <p:tav tm="100000">
                                          <p:val>
                                            <p:strVal val="#ppt_w"/>
                                          </p:val>
                                        </p:tav>
                                      </p:tavLst>
                                    </p:anim>
                                    <p:anim calcmode="lin" valueType="num">
                                      <p:cBhvr>
                                        <p:cTn id="46" dur="500" fill="hold"/>
                                        <p:tgtEl>
                                          <p:spTgt spid="202761"/>
                                        </p:tgtEl>
                                        <p:attrNameLst>
                                          <p:attrName>ppt_h</p:attrName>
                                        </p:attrNameLst>
                                      </p:cBhvr>
                                      <p:tavLst>
                                        <p:tav tm="0">
                                          <p:val>
                                            <p:fltVal val="0"/>
                                          </p:val>
                                        </p:tav>
                                        <p:tav tm="100000">
                                          <p:val>
                                            <p:strVal val="#ppt_h"/>
                                          </p:val>
                                        </p:tav>
                                      </p:tavLst>
                                    </p:anim>
                                    <p:animEffect transition="in" filter="fade">
                                      <p:cBhvr>
                                        <p:cTn id="47" dur="500"/>
                                        <p:tgtEl>
                                          <p:spTgt spid="202761"/>
                                        </p:tgtEl>
                                      </p:cBhvr>
                                    </p:animEffect>
                                  </p:childTnLst>
                                </p:cTn>
                              </p:par>
                            </p:childTnLst>
                          </p:cTn>
                        </p:par>
                      </p:childTnLst>
                    </p:cTn>
                  </p:par>
                  <p:par>
                    <p:cTn id="48" fill="hold">
                      <p:stCondLst>
                        <p:cond delay="indefinite"/>
                      </p:stCondLst>
                      <p:childTnLst>
                        <p:par>
                          <p:cTn id="49" fill="hold">
                            <p:stCondLst>
                              <p:cond delay="0"/>
                            </p:stCondLst>
                            <p:childTnLst>
                              <p:par>
                                <p:cTn id="50" presetID="25" presetClass="entr" presetSubtype="0" fill="hold" grpId="0" nodeType="clickEffect">
                                  <p:stCondLst>
                                    <p:cond delay="0"/>
                                  </p:stCondLst>
                                  <p:childTnLst>
                                    <p:set>
                                      <p:cBhvr>
                                        <p:cTn id="51" dur="1" fill="hold">
                                          <p:stCondLst>
                                            <p:cond delay="0"/>
                                          </p:stCondLst>
                                        </p:cTn>
                                        <p:tgtEl>
                                          <p:spTgt spid="202764"/>
                                        </p:tgtEl>
                                        <p:attrNameLst>
                                          <p:attrName>style.visibility</p:attrName>
                                        </p:attrNameLst>
                                      </p:cBhvr>
                                      <p:to>
                                        <p:strVal val="visible"/>
                                      </p:to>
                                    </p:set>
                                    <p:anim calcmode="lin" valueType="num">
                                      <p:cBhvr>
                                        <p:cTn id="52" dur="500" decel="50000" fill="hold">
                                          <p:stCondLst>
                                            <p:cond delay="0"/>
                                          </p:stCondLst>
                                        </p:cTn>
                                        <p:tgtEl>
                                          <p:spTgt spid="202764"/>
                                        </p:tgtEl>
                                        <p:attrNameLst>
                                          <p:attrName>style.rotation</p:attrName>
                                        </p:attrNameLst>
                                      </p:cBhvr>
                                      <p:tavLst>
                                        <p:tav tm="0">
                                          <p:val>
                                            <p:fltVal val="-90"/>
                                          </p:val>
                                        </p:tav>
                                        <p:tav tm="100000">
                                          <p:val>
                                            <p:fltVal val="0"/>
                                          </p:val>
                                        </p:tav>
                                      </p:tavLst>
                                    </p:anim>
                                    <p:anim calcmode="lin" valueType="num">
                                      <p:cBhvr>
                                        <p:cTn id="53" dur="500" decel="50000" fill="hold">
                                          <p:stCondLst>
                                            <p:cond delay="0"/>
                                          </p:stCondLst>
                                        </p:cTn>
                                        <p:tgtEl>
                                          <p:spTgt spid="202764"/>
                                        </p:tgtEl>
                                        <p:attrNameLst>
                                          <p:attrName>ppt_w</p:attrName>
                                        </p:attrNameLst>
                                      </p:cBhvr>
                                      <p:tavLst>
                                        <p:tav tm="0">
                                          <p:val>
                                            <p:strVal val="#ppt_w"/>
                                          </p:val>
                                        </p:tav>
                                        <p:tav tm="100000">
                                          <p:val>
                                            <p:strVal val="#ppt_w*.05"/>
                                          </p:val>
                                        </p:tav>
                                      </p:tavLst>
                                    </p:anim>
                                    <p:anim calcmode="lin" valueType="num">
                                      <p:cBhvr>
                                        <p:cTn id="54" dur="500" accel="50000" fill="hold">
                                          <p:stCondLst>
                                            <p:cond delay="500"/>
                                          </p:stCondLst>
                                        </p:cTn>
                                        <p:tgtEl>
                                          <p:spTgt spid="202764"/>
                                        </p:tgtEl>
                                        <p:attrNameLst>
                                          <p:attrName>ppt_w</p:attrName>
                                        </p:attrNameLst>
                                      </p:cBhvr>
                                      <p:tavLst>
                                        <p:tav tm="0">
                                          <p:val>
                                            <p:strVal val="#ppt_w*.05"/>
                                          </p:val>
                                        </p:tav>
                                        <p:tav tm="100000">
                                          <p:val>
                                            <p:strVal val="#ppt_w"/>
                                          </p:val>
                                        </p:tav>
                                      </p:tavLst>
                                    </p:anim>
                                    <p:anim calcmode="lin" valueType="num">
                                      <p:cBhvr>
                                        <p:cTn id="55" dur="1000" fill="hold"/>
                                        <p:tgtEl>
                                          <p:spTgt spid="202764"/>
                                        </p:tgtEl>
                                        <p:attrNameLst>
                                          <p:attrName>ppt_h</p:attrName>
                                        </p:attrNameLst>
                                      </p:cBhvr>
                                      <p:tavLst>
                                        <p:tav tm="0">
                                          <p:val>
                                            <p:strVal val="#ppt_h"/>
                                          </p:val>
                                        </p:tav>
                                        <p:tav tm="100000">
                                          <p:val>
                                            <p:strVal val="#ppt_h"/>
                                          </p:val>
                                        </p:tav>
                                      </p:tavLst>
                                    </p:anim>
                                    <p:anim calcmode="lin" valueType="num">
                                      <p:cBhvr>
                                        <p:cTn id="56" dur="500" decel="50000" fill="hold">
                                          <p:stCondLst>
                                            <p:cond delay="0"/>
                                          </p:stCondLst>
                                        </p:cTn>
                                        <p:tgtEl>
                                          <p:spTgt spid="202764"/>
                                        </p:tgtEl>
                                        <p:attrNameLst>
                                          <p:attrName>ppt_x</p:attrName>
                                        </p:attrNameLst>
                                      </p:cBhvr>
                                      <p:tavLst>
                                        <p:tav tm="0">
                                          <p:val>
                                            <p:strVal val="#ppt_x+.4"/>
                                          </p:val>
                                        </p:tav>
                                        <p:tav tm="100000">
                                          <p:val>
                                            <p:strVal val="#ppt_x"/>
                                          </p:val>
                                        </p:tav>
                                      </p:tavLst>
                                    </p:anim>
                                    <p:anim calcmode="lin" valueType="num">
                                      <p:cBhvr>
                                        <p:cTn id="57" dur="500" decel="50000" fill="hold">
                                          <p:stCondLst>
                                            <p:cond delay="0"/>
                                          </p:stCondLst>
                                        </p:cTn>
                                        <p:tgtEl>
                                          <p:spTgt spid="202764"/>
                                        </p:tgtEl>
                                        <p:attrNameLst>
                                          <p:attrName>ppt_y</p:attrName>
                                        </p:attrNameLst>
                                      </p:cBhvr>
                                      <p:tavLst>
                                        <p:tav tm="0">
                                          <p:val>
                                            <p:strVal val="#ppt_y-.2"/>
                                          </p:val>
                                        </p:tav>
                                        <p:tav tm="100000">
                                          <p:val>
                                            <p:strVal val="#ppt_y+.1"/>
                                          </p:val>
                                        </p:tav>
                                      </p:tavLst>
                                    </p:anim>
                                    <p:anim calcmode="lin" valueType="num">
                                      <p:cBhvr>
                                        <p:cTn id="58" dur="500" accel="50000" fill="hold">
                                          <p:stCondLst>
                                            <p:cond delay="500"/>
                                          </p:stCondLst>
                                        </p:cTn>
                                        <p:tgtEl>
                                          <p:spTgt spid="202764"/>
                                        </p:tgtEl>
                                        <p:attrNameLst>
                                          <p:attrName>ppt_y</p:attrName>
                                        </p:attrNameLst>
                                      </p:cBhvr>
                                      <p:tavLst>
                                        <p:tav tm="0">
                                          <p:val>
                                            <p:strVal val="#ppt_y+.1"/>
                                          </p:val>
                                        </p:tav>
                                        <p:tav tm="100000">
                                          <p:val>
                                            <p:strVal val="#ppt_y"/>
                                          </p:val>
                                        </p:tav>
                                      </p:tavLst>
                                    </p:anim>
                                    <p:animEffect transition="in" filter="fade">
                                      <p:cBhvr>
                                        <p:cTn id="59" dur="1000" decel="50000">
                                          <p:stCondLst>
                                            <p:cond delay="0"/>
                                          </p:stCondLst>
                                        </p:cTn>
                                        <p:tgtEl>
                                          <p:spTgt spid="202764"/>
                                        </p:tgtEl>
                                      </p:cBhvr>
                                    </p:animEffect>
                                  </p:childTnLst>
                                </p:cTn>
                              </p:par>
                            </p:childTnLst>
                          </p:cTn>
                        </p:par>
                        <p:par>
                          <p:cTn id="60" fill="hold">
                            <p:stCondLst>
                              <p:cond delay="1000"/>
                            </p:stCondLst>
                            <p:childTnLst>
                              <p:par>
                                <p:cTn id="61" presetID="53" presetClass="entr" presetSubtype="16" fill="hold" grpId="0" nodeType="afterEffect">
                                  <p:stCondLst>
                                    <p:cond delay="0"/>
                                  </p:stCondLst>
                                  <p:childTnLst>
                                    <p:set>
                                      <p:cBhvr>
                                        <p:cTn id="62" dur="1" fill="hold">
                                          <p:stCondLst>
                                            <p:cond delay="0"/>
                                          </p:stCondLst>
                                        </p:cTn>
                                        <p:tgtEl>
                                          <p:spTgt spid="202763"/>
                                        </p:tgtEl>
                                        <p:attrNameLst>
                                          <p:attrName>style.visibility</p:attrName>
                                        </p:attrNameLst>
                                      </p:cBhvr>
                                      <p:to>
                                        <p:strVal val="visible"/>
                                      </p:to>
                                    </p:set>
                                    <p:anim calcmode="lin" valueType="num">
                                      <p:cBhvr>
                                        <p:cTn id="63" dur="500" fill="hold"/>
                                        <p:tgtEl>
                                          <p:spTgt spid="202763"/>
                                        </p:tgtEl>
                                        <p:attrNameLst>
                                          <p:attrName>ppt_w</p:attrName>
                                        </p:attrNameLst>
                                      </p:cBhvr>
                                      <p:tavLst>
                                        <p:tav tm="0">
                                          <p:val>
                                            <p:fltVal val="0"/>
                                          </p:val>
                                        </p:tav>
                                        <p:tav tm="100000">
                                          <p:val>
                                            <p:strVal val="#ppt_w"/>
                                          </p:val>
                                        </p:tav>
                                      </p:tavLst>
                                    </p:anim>
                                    <p:anim calcmode="lin" valueType="num">
                                      <p:cBhvr>
                                        <p:cTn id="64" dur="500" fill="hold"/>
                                        <p:tgtEl>
                                          <p:spTgt spid="202763"/>
                                        </p:tgtEl>
                                        <p:attrNameLst>
                                          <p:attrName>ppt_h</p:attrName>
                                        </p:attrNameLst>
                                      </p:cBhvr>
                                      <p:tavLst>
                                        <p:tav tm="0">
                                          <p:val>
                                            <p:fltVal val="0"/>
                                          </p:val>
                                        </p:tav>
                                        <p:tav tm="100000">
                                          <p:val>
                                            <p:strVal val="#ppt_h"/>
                                          </p:val>
                                        </p:tav>
                                      </p:tavLst>
                                    </p:anim>
                                    <p:animEffect transition="in" filter="fade">
                                      <p:cBhvr>
                                        <p:cTn id="65" dur="500"/>
                                        <p:tgtEl>
                                          <p:spTgt spid="202763"/>
                                        </p:tgtEl>
                                      </p:cBhvr>
                                    </p:animEffect>
                                  </p:childTnLst>
                                </p:cTn>
                              </p:par>
                            </p:childTnLst>
                          </p:cTn>
                        </p:par>
                      </p:childTnLst>
                    </p:cTn>
                  </p:par>
                  <p:par>
                    <p:cTn id="66" fill="hold">
                      <p:stCondLst>
                        <p:cond delay="indefinite"/>
                      </p:stCondLst>
                      <p:childTnLst>
                        <p:par>
                          <p:cTn id="67" fill="hold">
                            <p:stCondLst>
                              <p:cond delay="0"/>
                            </p:stCondLst>
                            <p:childTnLst>
                              <p:par>
                                <p:cTn id="68" presetID="25" presetClass="entr" presetSubtype="0" fill="hold" grpId="0" nodeType="clickEffect">
                                  <p:stCondLst>
                                    <p:cond delay="0"/>
                                  </p:stCondLst>
                                  <p:childTnLst>
                                    <p:set>
                                      <p:cBhvr>
                                        <p:cTn id="69" dur="1" fill="hold">
                                          <p:stCondLst>
                                            <p:cond delay="0"/>
                                          </p:stCondLst>
                                        </p:cTn>
                                        <p:tgtEl>
                                          <p:spTgt spid="202766"/>
                                        </p:tgtEl>
                                        <p:attrNameLst>
                                          <p:attrName>style.visibility</p:attrName>
                                        </p:attrNameLst>
                                      </p:cBhvr>
                                      <p:to>
                                        <p:strVal val="visible"/>
                                      </p:to>
                                    </p:set>
                                    <p:anim calcmode="lin" valueType="num">
                                      <p:cBhvr>
                                        <p:cTn id="70" dur="500" decel="50000" fill="hold">
                                          <p:stCondLst>
                                            <p:cond delay="0"/>
                                          </p:stCondLst>
                                        </p:cTn>
                                        <p:tgtEl>
                                          <p:spTgt spid="202766"/>
                                        </p:tgtEl>
                                        <p:attrNameLst>
                                          <p:attrName>style.rotation</p:attrName>
                                        </p:attrNameLst>
                                      </p:cBhvr>
                                      <p:tavLst>
                                        <p:tav tm="0">
                                          <p:val>
                                            <p:fltVal val="-90"/>
                                          </p:val>
                                        </p:tav>
                                        <p:tav tm="100000">
                                          <p:val>
                                            <p:fltVal val="0"/>
                                          </p:val>
                                        </p:tav>
                                      </p:tavLst>
                                    </p:anim>
                                    <p:anim calcmode="lin" valueType="num">
                                      <p:cBhvr>
                                        <p:cTn id="71" dur="500" decel="50000" fill="hold">
                                          <p:stCondLst>
                                            <p:cond delay="0"/>
                                          </p:stCondLst>
                                        </p:cTn>
                                        <p:tgtEl>
                                          <p:spTgt spid="202766"/>
                                        </p:tgtEl>
                                        <p:attrNameLst>
                                          <p:attrName>ppt_w</p:attrName>
                                        </p:attrNameLst>
                                      </p:cBhvr>
                                      <p:tavLst>
                                        <p:tav tm="0">
                                          <p:val>
                                            <p:strVal val="#ppt_w"/>
                                          </p:val>
                                        </p:tav>
                                        <p:tav tm="100000">
                                          <p:val>
                                            <p:strVal val="#ppt_w*.05"/>
                                          </p:val>
                                        </p:tav>
                                      </p:tavLst>
                                    </p:anim>
                                    <p:anim calcmode="lin" valueType="num">
                                      <p:cBhvr>
                                        <p:cTn id="72" dur="500" accel="50000" fill="hold">
                                          <p:stCondLst>
                                            <p:cond delay="500"/>
                                          </p:stCondLst>
                                        </p:cTn>
                                        <p:tgtEl>
                                          <p:spTgt spid="202766"/>
                                        </p:tgtEl>
                                        <p:attrNameLst>
                                          <p:attrName>ppt_w</p:attrName>
                                        </p:attrNameLst>
                                      </p:cBhvr>
                                      <p:tavLst>
                                        <p:tav tm="0">
                                          <p:val>
                                            <p:strVal val="#ppt_w*.05"/>
                                          </p:val>
                                        </p:tav>
                                        <p:tav tm="100000">
                                          <p:val>
                                            <p:strVal val="#ppt_w"/>
                                          </p:val>
                                        </p:tav>
                                      </p:tavLst>
                                    </p:anim>
                                    <p:anim calcmode="lin" valueType="num">
                                      <p:cBhvr>
                                        <p:cTn id="73" dur="1000" fill="hold"/>
                                        <p:tgtEl>
                                          <p:spTgt spid="202766"/>
                                        </p:tgtEl>
                                        <p:attrNameLst>
                                          <p:attrName>ppt_h</p:attrName>
                                        </p:attrNameLst>
                                      </p:cBhvr>
                                      <p:tavLst>
                                        <p:tav tm="0">
                                          <p:val>
                                            <p:strVal val="#ppt_h"/>
                                          </p:val>
                                        </p:tav>
                                        <p:tav tm="100000">
                                          <p:val>
                                            <p:strVal val="#ppt_h"/>
                                          </p:val>
                                        </p:tav>
                                      </p:tavLst>
                                    </p:anim>
                                    <p:anim calcmode="lin" valueType="num">
                                      <p:cBhvr>
                                        <p:cTn id="74" dur="500" decel="50000" fill="hold">
                                          <p:stCondLst>
                                            <p:cond delay="0"/>
                                          </p:stCondLst>
                                        </p:cTn>
                                        <p:tgtEl>
                                          <p:spTgt spid="202766"/>
                                        </p:tgtEl>
                                        <p:attrNameLst>
                                          <p:attrName>ppt_x</p:attrName>
                                        </p:attrNameLst>
                                      </p:cBhvr>
                                      <p:tavLst>
                                        <p:tav tm="0">
                                          <p:val>
                                            <p:strVal val="#ppt_x+.4"/>
                                          </p:val>
                                        </p:tav>
                                        <p:tav tm="100000">
                                          <p:val>
                                            <p:strVal val="#ppt_x"/>
                                          </p:val>
                                        </p:tav>
                                      </p:tavLst>
                                    </p:anim>
                                    <p:anim calcmode="lin" valueType="num">
                                      <p:cBhvr>
                                        <p:cTn id="75" dur="500" decel="50000" fill="hold">
                                          <p:stCondLst>
                                            <p:cond delay="0"/>
                                          </p:stCondLst>
                                        </p:cTn>
                                        <p:tgtEl>
                                          <p:spTgt spid="202766"/>
                                        </p:tgtEl>
                                        <p:attrNameLst>
                                          <p:attrName>ppt_y</p:attrName>
                                        </p:attrNameLst>
                                      </p:cBhvr>
                                      <p:tavLst>
                                        <p:tav tm="0">
                                          <p:val>
                                            <p:strVal val="#ppt_y-.2"/>
                                          </p:val>
                                        </p:tav>
                                        <p:tav tm="100000">
                                          <p:val>
                                            <p:strVal val="#ppt_y+.1"/>
                                          </p:val>
                                        </p:tav>
                                      </p:tavLst>
                                    </p:anim>
                                    <p:anim calcmode="lin" valueType="num">
                                      <p:cBhvr>
                                        <p:cTn id="76" dur="500" accel="50000" fill="hold">
                                          <p:stCondLst>
                                            <p:cond delay="500"/>
                                          </p:stCondLst>
                                        </p:cTn>
                                        <p:tgtEl>
                                          <p:spTgt spid="202766"/>
                                        </p:tgtEl>
                                        <p:attrNameLst>
                                          <p:attrName>ppt_y</p:attrName>
                                        </p:attrNameLst>
                                      </p:cBhvr>
                                      <p:tavLst>
                                        <p:tav tm="0">
                                          <p:val>
                                            <p:strVal val="#ppt_y+.1"/>
                                          </p:val>
                                        </p:tav>
                                        <p:tav tm="100000">
                                          <p:val>
                                            <p:strVal val="#ppt_y"/>
                                          </p:val>
                                        </p:tav>
                                      </p:tavLst>
                                    </p:anim>
                                    <p:animEffect transition="in" filter="fade">
                                      <p:cBhvr>
                                        <p:cTn id="77" dur="1000" decel="50000">
                                          <p:stCondLst>
                                            <p:cond delay="0"/>
                                          </p:stCondLst>
                                        </p:cTn>
                                        <p:tgtEl>
                                          <p:spTgt spid="202766"/>
                                        </p:tgtEl>
                                      </p:cBhvr>
                                    </p:animEffect>
                                  </p:childTnLst>
                                </p:cTn>
                              </p:par>
                            </p:childTnLst>
                          </p:cTn>
                        </p:par>
                        <p:par>
                          <p:cTn id="78" fill="hold">
                            <p:stCondLst>
                              <p:cond delay="1000"/>
                            </p:stCondLst>
                            <p:childTnLst>
                              <p:par>
                                <p:cTn id="79" presetID="53" presetClass="entr" presetSubtype="16" fill="hold" grpId="0" nodeType="afterEffect">
                                  <p:stCondLst>
                                    <p:cond delay="0"/>
                                  </p:stCondLst>
                                  <p:childTnLst>
                                    <p:set>
                                      <p:cBhvr>
                                        <p:cTn id="80" dur="1" fill="hold">
                                          <p:stCondLst>
                                            <p:cond delay="0"/>
                                          </p:stCondLst>
                                        </p:cTn>
                                        <p:tgtEl>
                                          <p:spTgt spid="202765"/>
                                        </p:tgtEl>
                                        <p:attrNameLst>
                                          <p:attrName>style.visibility</p:attrName>
                                        </p:attrNameLst>
                                      </p:cBhvr>
                                      <p:to>
                                        <p:strVal val="visible"/>
                                      </p:to>
                                    </p:set>
                                    <p:anim calcmode="lin" valueType="num">
                                      <p:cBhvr>
                                        <p:cTn id="81" dur="500" fill="hold"/>
                                        <p:tgtEl>
                                          <p:spTgt spid="202765"/>
                                        </p:tgtEl>
                                        <p:attrNameLst>
                                          <p:attrName>ppt_w</p:attrName>
                                        </p:attrNameLst>
                                      </p:cBhvr>
                                      <p:tavLst>
                                        <p:tav tm="0">
                                          <p:val>
                                            <p:fltVal val="0"/>
                                          </p:val>
                                        </p:tav>
                                        <p:tav tm="100000">
                                          <p:val>
                                            <p:strVal val="#ppt_w"/>
                                          </p:val>
                                        </p:tav>
                                      </p:tavLst>
                                    </p:anim>
                                    <p:anim calcmode="lin" valueType="num">
                                      <p:cBhvr>
                                        <p:cTn id="82" dur="500" fill="hold"/>
                                        <p:tgtEl>
                                          <p:spTgt spid="202765"/>
                                        </p:tgtEl>
                                        <p:attrNameLst>
                                          <p:attrName>ppt_h</p:attrName>
                                        </p:attrNameLst>
                                      </p:cBhvr>
                                      <p:tavLst>
                                        <p:tav tm="0">
                                          <p:val>
                                            <p:fltVal val="0"/>
                                          </p:val>
                                        </p:tav>
                                        <p:tav tm="100000">
                                          <p:val>
                                            <p:strVal val="#ppt_h"/>
                                          </p:val>
                                        </p:tav>
                                      </p:tavLst>
                                    </p:anim>
                                    <p:animEffect transition="in" filter="fade">
                                      <p:cBhvr>
                                        <p:cTn id="83" dur="500"/>
                                        <p:tgtEl>
                                          <p:spTgt spid="202765"/>
                                        </p:tgtEl>
                                      </p:cBhvr>
                                    </p:animEffect>
                                  </p:childTnLst>
                                </p:cTn>
                              </p:par>
                            </p:childTnLst>
                          </p:cTn>
                        </p:par>
                      </p:childTnLst>
                    </p:cTn>
                  </p:par>
                  <p:par>
                    <p:cTn id="84" fill="hold">
                      <p:stCondLst>
                        <p:cond delay="indefinite"/>
                      </p:stCondLst>
                      <p:childTnLst>
                        <p:par>
                          <p:cTn id="85" fill="hold">
                            <p:stCondLst>
                              <p:cond delay="0"/>
                            </p:stCondLst>
                            <p:childTnLst>
                              <p:par>
                                <p:cTn id="86" presetID="25" presetClass="entr" presetSubtype="0" fill="hold" grpId="0" nodeType="clickEffect">
                                  <p:stCondLst>
                                    <p:cond delay="0"/>
                                  </p:stCondLst>
                                  <p:childTnLst>
                                    <p:set>
                                      <p:cBhvr>
                                        <p:cTn id="87" dur="1" fill="hold">
                                          <p:stCondLst>
                                            <p:cond delay="0"/>
                                          </p:stCondLst>
                                        </p:cTn>
                                        <p:tgtEl>
                                          <p:spTgt spid="202768"/>
                                        </p:tgtEl>
                                        <p:attrNameLst>
                                          <p:attrName>style.visibility</p:attrName>
                                        </p:attrNameLst>
                                      </p:cBhvr>
                                      <p:to>
                                        <p:strVal val="visible"/>
                                      </p:to>
                                    </p:set>
                                    <p:anim calcmode="lin" valueType="num">
                                      <p:cBhvr>
                                        <p:cTn id="88" dur="500" decel="50000" fill="hold">
                                          <p:stCondLst>
                                            <p:cond delay="0"/>
                                          </p:stCondLst>
                                        </p:cTn>
                                        <p:tgtEl>
                                          <p:spTgt spid="202768"/>
                                        </p:tgtEl>
                                        <p:attrNameLst>
                                          <p:attrName>style.rotation</p:attrName>
                                        </p:attrNameLst>
                                      </p:cBhvr>
                                      <p:tavLst>
                                        <p:tav tm="0">
                                          <p:val>
                                            <p:fltVal val="-90"/>
                                          </p:val>
                                        </p:tav>
                                        <p:tav tm="100000">
                                          <p:val>
                                            <p:fltVal val="0"/>
                                          </p:val>
                                        </p:tav>
                                      </p:tavLst>
                                    </p:anim>
                                    <p:anim calcmode="lin" valueType="num">
                                      <p:cBhvr>
                                        <p:cTn id="89" dur="500" decel="50000" fill="hold">
                                          <p:stCondLst>
                                            <p:cond delay="0"/>
                                          </p:stCondLst>
                                        </p:cTn>
                                        <p:tgtEl>
                                          <p:spTgt spid="202768"/>
                                        </p:tgtEl>
                                        <p:attrNameLst>
                                          <p:attrName>ppt_w</p:attrName>
                                        </p:attrNameLst>
                                      </p:cBhvr>
                                      <p:tavLst>
                                        <p:tav tm="0">
                                          <p:val>
                                            <p:strVal val="#ppt_w"/>
                                          </p:val>
                                        </p:tav>
                                        <p:tav tm="100000">
                                          <p:val>
                                            <p:strVal val="#ppt_w*.05"/>
                                          </p:val>
                                        </p:tav>
                                      </p:tavLst>
                                    </p:anim>
                                    <p:anim calcmode="lin" valueType="num">
                                      <p:cBhvr>
                                        <p:cTn id="90" dur="500" accel="50000" fill="hold">
                                          <p:stCondLst>
                                            <p:cond delay="500"/>
                                          </p:stCondLst>
                                        </p:cTn>
                                        <p:tgtEl>
                                          <p:spTgt spid="202768"/>
                                        </p:tgtEl>
                                        <p:attrNameLst>
                                          <p:attrName>ppt_w</p:attrName>
                                        </p:attrNameLst>
                                      </p:cBhvr>
                                      <p:tavLst>
                                        <p:tav tm="0">
                                          <p:val>
                                            <p:strVal val="#ppt_w*.05"/>
                                          </p:val>
                                        </p:tav>
                                        <p:tav tm="100000">
                                          <p:val>
                                            <p:strVal val="#ppt_w"/>
                                          </p:val>
                                        </p:tav>
                                      </p:tavLst>
                                    </p:anim>
                                    <p:anim calcmode="lin" valueType="num">
                                      <p:cBhvr>
                                        <p:cTn id="91" dur="1000" fill="hold"/>
                                        <p:tgtEl>
                                          <p:spTgt spid="202768"/>
                                        </p:tgtEl>
                                        <p:attrNameLst>
                                          <p:attrName>ppt_h</p:attrName>
                                        </p:attrNameLst>
                                      </p:cBhvr>
                                      <p:tavLst>
                                        <p:tav tm="0">
                                          <p:val>
                                            <p:strVal val="#ppt_h"/>
                                          </p:val>
                                        </p:tav>
                                        <p:tav tm="100000">
                                          <p:val>
                                            <p:strVal val="#ppt_h"/>
                                          </p:val>
                                        </p:tav>
                                      </p:tavLst>
                                    </p:anim>
                                    <p:anim calcmode="lin" valueType="num">
                                      <p:cBhvr>
                                        <p:cTn id="92" dur="500" decel="50000" fill="hold">
                                          <p:stCondLst>
                                            <p:cond delay="0"/>
                                          </p:stCondLst>
                                        </p:cTn>
                                        <p:tgtEl>
                                          <p:spTgt spid="202768"/>
                                        </p:tgtEl>
                                        <p:attrNameLst>
                                          <p:attrName>ppt_x</p:attrName>
                                        </p:attrNameLst>
                                      </p:cBhvr>
                                      <p:tavLst>
                                        <p:tav tm="0">
                                          <p:val>
                                            <p:strVal val="#ppt_x+.4"/>
                                          </p:val>
                                        </p:tav>
                                        <p:tav tm="100000">
                                          <p:val>
                                            <p:strVal val="#ppt_x"/>
                                          </p:val>
                                        </p:tav>
                                      </p:tavLst>
                                    </p:anim>
                                    <p:anim calcmode="lin" valueType="num">
                                      <p:cBhvr>
                                        <p:cTn id="93" dur="500" decel="50000" fill="hold">
                                          <p:stCondLst>
                                            <p:cond delay="0"/>
                                          </p:stCondLst>
                                        </p:cTn>
                                        <p:tgtEl>
                                          <p:spTgt spid="202768"/>
                                        </p:tgtEl>
                                        <p:attrNameLst>
                                          <p:attrName>ppt_y</p:attrName>
                                        </p:attrNameLst>
                                      </p:cBhvr>
                                      <p:tavLst>
                                        <p:tav tm="0">
                                          <p:val>
                                            <p:strVal val="#ppt_y-.2"/>
                                          </p:val>
                                        </p:tav>
                                        <p:tav tm="100000">
                                          <p:val>
                                            <p:strVal val="#ppt_y+.1"/>
                                          </p:val>
                                        </p:tav>
                                      </p:tavLst>
                                    </p:anim>
                                    <p:anim calcmode="lin" valueType="num">
                                      <p:cBhvr>
                                        <p:cTn id="94" dur="500" accel="50000" fill="hold">
                                          <p:stCondLst>
                                            <p:cond delay="500"/>
                                          </p:stCondLst>
                                        </p:cTn>
                                        <p:tgtEl>
                                          <p:spTgt spid="202768"/>
                                        </p:tgtEl>
                                        <p:attrNameLst>
                                          <p:attrName>ppt_y</p:attrName>
                                        </p:attrNameLst>
                                      </p:cBhvr>
                                      <p:tavLst>
                                        <p:tav tm="0">
                                          <p:val>
                                            <p:strVal val="#ppt_y+.1"/>
                                          </p:val>
                                        </p:tav>
                                        <p:tav tm="100000">
                                          <p:val>
                                            <p:strVal val="#ppt_y"/>
                                          </p:val>
                                        </p:tav>
                                      </p:tavLst>
                                    </p:anim>
                                    <p:animEffect transition="in" filter="fade">
                                      <p:cBhvr>
                                        <p:cTn id="95" dur="1000" decel="50000">
                                          <p:stCondLst>
                                            <p:cond delay="0"/>
                                          </p:stCondLst>
                                        </p:cTn>
                                        <p:tgtEl>
                                          <p:spTgt spid="202768"/>
                                        </p:tgtEl>
                                      </p:cBhvr>
                                    </p:animEffect>
                                  </p:childTnLst>
                                </p:cTn>
                              </p:par>
                            </p:childTnLst>
                          </p:cTn>
                        </p:par>
                        <p:par>
                          <p:cTn id="96" fill="hold">
                            <p:stCondLst>
                              <p:cond delay="1000"/>
                            </p:stCondLst>
                            <p:childTnLst>
                              <p:par>
                                <p:cTn id="97" presetID="53" presetClass="entr" presetSubtype="16" fill="hold" grpId="0" nodeType="afterEffect">
                                  <p:stCondLst>
                                    <p:cond delay="0"/>
                                  </p:stCondLst>
                                  <p:childTnLst>
                                    <p:set>
                                      <p:cBhvr>
                                        <p:cTn id="98" dur="1" fill="hold">
                                          <p:stCondLst>
                                            <p:cond delay="0"/>
                                          </p:stCondLst>
                                        </p:cTn>
                                        <p:tgtEl>
                                          <p:spTgt spid="202767"/>
                                        </p:tgtEl>
                                        <p:attrNameLst>
                                          <p:attrName>style.visibility</p:attrName>
                                        </p:attrNameLst>
                                      </p:cBhvr>
                                      <p:to>
                                        <p:strVal val="visible"/>
                                      </p:to>
                                    </p:set>
                                    <p:anim calcmode="lin" valueType="num">
                                      <p:cBhvr>
                                        <p:cTn id="99" dur="500" fill="hold"/>
                                        <p:tgtEl>
                                          <p:spTgt spid="202767"/>
                                        </p:tgtEl>
                                        <p:attrNameLst>
                                          <p:attrName>ppt_w</p:attrName>
                                        </p:attrNameLst>
                                      </p:cBhvr>
                                      <p:tavLst>
                                        <p:tav tm="0">
                                          <p:val>
                                            <p:fltVal val="0"/>
                                          </p:val>
                                        </p:tav>
                                        <p:tav tm="100000">
                                          <p:val>
                                            <p:strVal val="#ppt_w"/>
                                          </p:val>
                                        </p:tav>
                                      </p:tavLst>
                                    </p:anim>
                                    <p:anim calcmode="lin" valueType="num">
                                      <p:cBhvr>
                                        <p:cTn id="100" dur="500" fill="hold"/>
                                        <p:tgtEl>
                                          <p:spTgt spid="202767"/>
                                        </p:tgtEl>
                                        <p:attrNameLst>
                                          <p:attrName>ppt_h</p:attrName>
                                        </p:attrNameLst>
                                      </p:cBhvr>
                                      <p:tavLst>
                                        <p:tav tm="0">
                                          <p:val>
                                            <p:fltVal val="0"/>
                                          </p:val>
                                        </p:tav>
                                        <p:tav tm="100000">
                                          <p:val>
                                            <p:strVal val="#ppt_h"/>
                                          </p:val>
                                        </p:tav>
                                      </p:tavLst>
                                    </p:anim>
                                    <p:animEffect transition="in" filter="fade">
                                      <p:cBhvr>
                                        <p:cTn id="101" dur="500"/>
                                        <p:tgtEl>
                                          <p:spTgt spid="202767"/>
                                        </p:tgtEl>
                                      </p:cBhvr>
                                    </p:animEffect>
                                  </p:childTnLst>
                                </p:cTn>
                              </p:par>
                            </p:childTnLst>
                          </p:cTn>
                        </p:par>
                      </p:childTnLst>
                    </p:cTn>
                  </p:par>
                  <p:par>
                    <p:cTn id="102" fill="hold">
                      <p:stCondLst>
                        <p:cond delay="indefinite"/>
                      </p:stCondLst>
                      <p:childTnLst>
                        <p:par>
                          <p:cTn id="103" fill="hold">
                            <p:stCondLst>
                              <p:cond delay="0"/>
                            </p:stCondLst>
                            <p:childTnLst>
                              <p:par>
                                <p:cTn id="104" presetID="45" presetClass="entr" presetSubtype="0" fill="hold" grpId="0" nodeType="clickEffect">
                                  <p:stCondLst>
                                    <p:cond delay="0"/>
                                  </p:stCondLst>
                                  <p:iterate type="lt">
                                    <p:tmPct val="10000"/>
                                  </p:iterate>
                                  <p:childTnLst>
                                    <p:set>
                                      <p:cBhvr>
                                        <p:cTn id="105" dur="1" fill="hold">
                                          <p:stCondLst>
                                            <p:cond delay="0"/>
                                          </p:stCondLst>
                                        </p:cTn>
                                        <p:tgtEl>
                                          <p:spTgt spid="202780"/>
                                        </p:tgtEl>
                                        <p:attrNameLst>
                                          <p:attrName>style.visibility</p:attrName>
                                        </p:attrNameLst>
                                      </p:cBhvr>
                                      <p:to>
                                        <p:strVal val="visible"/>
                                      </p:to>
                                    </p:set>
                                    <p:animEffect transition="in" filter="fade">
                                      <p:cBhvr>
                                        <p:cTn id="106" dur="2000"/>
                                        <p:tgtEl>
                                          <p:spTgt spid="202780"/>
                                        </p:tgtEl>
                                      </p:cBhvr>
                                    </p:animEffect>
                                    <p:anim calcmode="lin" valueType="num">
                                      <p:cBhvr>
                                        <p:cTn id="107" dur="2000" fill="hold"/>
                                        <p:tgtEl>
                                          <p:spTgt spid="202780"/>
                                        </p:tgtEl>
                                        <p:attrNameLst>
                                          <p:attrName>ppt_w</p:attrName>
                                        </p:attrNameLst>
                                      </p:cBhvr>
                                      <p:tavLst>
                                        <p:tav tm="0" fmla="#ppt_w*sin(2.5*pi*$)">
                                          <p:val>
                                            <p:fltVal val="0"/>
                                          </p:val>
                                        </p:tav>
                                        <p:tav tm="100000">
                                          <p:val>
                                            <p:fltVal val="1"/>
                                          </p:val>
                                        </p:tav>
                                      </p:tavLst>
                                    </p:anim>
                                    <p:anim calcmode="lin" valueType="num">
                                      <p:cBhvr>
                                        <p:cTn id="108" dur="2000" fill="hold"/>
                                        <p:tgtEl>
                                          <p:spTgt spid="202780"/>
                                        </p:tgtEl>
                                        <p:attrNameLst>
                                          <p:attrName>ppt_h</p:attrName>
                                        </p:attrNameLst>
                                      </p:cBhvr>
                                      <p:tavLst>
                                        <p:tav tm="0">
                                          <p:val>
                                            <p:strVal val="#ppt_h"/>
                                          </p:val>
                                        </p:tav>
                                        <p:tav tm="100000">
                                          <p:val>
                                            <p:strVal val="#ppt_h"/>
                                          </p:val>
                                        </p:tav>
                                      </p:tavLst>
                                    </p:anim>
                                  </p:childTnLst>
                                </p:cTn>
                              </p:par>
                            </p:childTnLst>
                          </p:cTn>
                        </p:par>
                        <p:par>
                          <p:cTn id="109" fill="hold">
                            <p:stCondLst>
                              <p:cond delay="2000"/>
                            </p:stCondLst>
                            <p:childTnLst>
                              <p:par>
                                <p:cTn id="110" presetID="53" presetClass="entr" presetSubtype="16" fill="hold" grpId="0" nodeType="afterEffect">
                                  <p:stCondLst>
                                    <p:cond delay="0"/>
                                  </p:stCondLst>
                                  <p:childTnLst>
                                    <p:set>
                                      <p:cBhvr>
                                        <p:cTn id="111" dur="1" fill="hold">
                                          <p:stCondLst>
                                            <p:cond delay="0"/>
                                          </p:stCondLst>
                                        </p:cTn>
                                        <p:tgtEl>
                                          <p:spTgt spid="202779"/>
                                        </p:tgtEl>
                                        <p:attrNameLst>
                                          <p:attrName>style.visibility</p:attrName>
                                        </p:attrNameLst>
                                      </p:cBhvr>
                                      <p:to>
                                        <p:strVal val="visible"/>
                                      </p:to>
                                    </p:set>
                                    <p:anim calcmode="lin" valueType="num">
                                      <p:cBhvr>
                                        <p:cTn id="112" dur="500" fill="hold"/>
                                        <p:tgtEl>
                                          <p:spTgt spid="202779"/>
                                        </p:tgtEl>
                                        <p:attrNameLst>
                                          <p:attrName>ppt_w</p:attrName>
                                        </p:attrNameLst>
                                      </p:cBhvr>
                                      <p:tavLst>
                                        <p:tav tm="0">
                                          <p:val>
                                            <p:fltVal val="0"/>
                                          </p:val>
                                        </p:tav>
                                        <p:tav tm="100000">
                                          <p:val>
                                            <p:strVal val="#ppt_w"/>
                                          </p:val>
                                        </p:tav>
                                      </p:tavLst>
                                    </p:anim>
                                    <p:anim calcmode="lin" valueType="num">
                                      <p:cBhvr>
                                        <p:cTn id="113" dur="500" fill="hold"/>
                                        <p:tgtEl>
                                          <p:spTgt spid="202779"/>
                                        </p:tgtEl>
                                        <p:attrNameLst>
                                          <p:attrName>ppt_h</p:attrName>
                                        </p:attrNameLst>
                                      </p:cBhvr>
                                      <p:tavLst>
                                        <p:tav tm="0">
                                          <p:val>
                                            <p:fltVal val="0"/>
                                          </p:val>
                                        </p:tav>
                                        <p:tav tm="100000">
                                          <p:val>
                                            <p:strVal val="#ppt_h"/>
                                          </p:val>
                                        </p:tav>
                                      </p:tavLst>
                                    </p:anim>
                                    <p:animEffect transition="in" filter="fade">
                                      <p:cBhvr>
                                        <p:cTn id="114" dur="500"/>
                                        <p:tgtEl>
                                          <p:spTgt spid="202779"/>
                                        </p:tgtEl>
                                      </p:cBhvr>
                                    </p:animEffect>
                                  </p:childTnLst>
                                </p:cTn>
                              </p:par>
                            </p:childTnLst>
                          </p:cTn>
                        </p:par>
                      </p:childTnLst>
                    </p:cTn>
                  </p:par>
                  <p:par>
                    <p:cTn id="115" fill="hold">
                      <p:stCondLst>
                        <p:cond delay="indefinite"/>
                      </p:stCondLst>
                      <p:childTnLst>
                        <p:par>
                          <p:cTn id="116" fill="hold">
                            <p:stCondLst>
                              <p:cond delay="0"/>
                            </p:stCondLst>
                            <p:childTnLst>
                              <p:par>
                                <p:cTn id="117" presetID="25" presetClass="entr" presetSubtype="0" fill="hold" grpId="0" nodeType="clickEffect">
                                  <p:stCondLst>
                                    <p:cond delay="0"/>
                                  </p:stCondLst>
                                  <p:childTnLst>
                                    <p:set>
                                      <p:cBhvr>
                                        <p:cTn id="118" dur="1" fill="hold">
                                          <p:stCondLst>
                                            <p:cond delay="0"/>
                                          </p:stCondLst>
                                        </p:cTn>
                                        <p:tgtEl>
                                          <p:spTgt spid="202774"/>
                                        </p:tgtEl>
                                        <p:attrNameLst>
                                          <p:attrName>style.visibility</p:attrName>
                                        </p:attrNameLst>
                                      </p:cBhvr>
                                      <p:to>
                                        <p:strVal val="visible"/>
                                      </p:to>
                                    </p:set>
                                    <p:anim calcmode="lin" valueType="num">
                                      <p:cBhvr>
                                        <p:cTn id="119" dur="500" decel="50000" fill="hold">
                                          <p:stCondLst>
                                            <p:cond delay="0"/>
                                          </p:stCondLst>
                                        </p:cTn>
                                        <p:tgtEl>
                                          <p:spTgt spid="202774"/>
                                        </p:tgtEl>
                                        <p:attrNameLst>
                                          <p:attrName>style.rotation</p:attrName>
                                        </p:attrNameLst>
                                      </p:cBhvr>
                                      <p:tavLst>
                                        <p:tav tm="0">
                                          <p:val>
                                            <p:fltVal val="-90"/>
                                          </p:val>
                                        </p:tav>
                                        <p:tav tm="100000">
                                          <p:val>
                                            <p:fltVal val="0"/>
                                          </p:val>
                                        </p:tav>
                                      </p:tavLst>
                                    </p:anim>
                                    <p:anim calcmode="lin" valueType="num">
                                      <p:cBhvr>
                                        <p:cTn id="120" dur="500" decel="50000" fill="hold">
                                          <p:stCondLst>
                                            <p:cond delay="0"/>
                                          </p:stCondLst>
                                        </p:cTn>
                                        <p:tgtEl>
                                          <p:spTgt spid="202774"/>
                                        </p:tgtEl>
                                        <p:attrNameLst>
                                          <p:attrName>ppt_w</p:attrName>
                                        </p:attrNameLst>
                                      </p:cBhvr>
                                      <p:tavLst>
                                        <p:tav tm="0">
                                          <p:val>
                                            <p:strVal val="#ppt_w"/>
                                          </p:val>
                                        </p:tav>
                                        <p:tav tm="100000">
                                          <p:val>
                                            <p:strVal val="#ppt_w*.05"/>
                                          </p:val>
                                        </p:tav>
                                      </p:tavLst>
                                    </p:anim>
                                    <p:anim calcmode="lin" valueType="num">
                                      <p:cBhvr>
                                        <p:cTn id="121" dur="500" accel="50000" fill="hold">
                                          <p:stCondLst>
                                            <p:cond delay="500"/>
                                          </p:stCondLst>
                                        </p:cTn>
                                        <p:tgtEl>
                                          <p:spTgt spid="202774"/>
                                        </p:tgtEl>
                                        <p:attrNameLst>
                                          <p:attrName>ppt_w</p:attrName>
                                        </p:attrNameLst>
                                      </p:cBhvr>
                                      <p:tavLst>
                                        <p:tav tm="0">
                                          <p:val>
                                            <p:strVal val="#ppt_w*.05"/>
                                          </p:val>
                                        </p:tav>
                                        <p:tav tm="100000">
                                          <p:val>
                                            <p:strVal val="#ppt_w"/>
                                          </p:val>
                                        </p:tav>
                                      </p:tavLst>
                                    </p:anim>
                                    <p:anim calcmode="lin" valueType="num">
                                      <p:cBhvr>
                                        <p:cTn id="122" dur="1000" fill="hold"/>
                                        <p:tgtEl>
                                          <p:spTgt spid="202774"/>
                                        </p:tgtEl>
                                        <p:attrNameLst>
                                          <p:attrName>ppt_h</p:attrName>
                                        </p:attrNameLst>
                                      </p:cBhvr>
                                      <p:tavLst>
                                        <p:tav tm="0">
                                          <p:val>
                                            <p:strVal val="#ppt_h"/>
                                          </p:val>
                                        </p:tav>
                                        <p:tav tm="100000">
                                          <p:val>
                                            <p:strVal val="#ppt_h"/>
                                          </p:val>
                                        </p:tav>
                                      </p:tavLst>
                                    </p:anim>
                                    <p:anim calcmode="lin" valueType="num">
                                      <p:cBhvr>
                                        <p:cTn id="123" dur="500" decel="50000" fill="hold">
                                          <p:stCondLst>
                                            <p:cond delay="0"/>
                                          </p:stCondLst>
                                        </p:cTn>
                                        <p:tgtEl>
                                          <p:spTgt spid="202774"/>
                                        </p:tgtEl>
                                        <p:attrNameLst>
                                          <p:attrName>ppt_x</p:attrName>
                                        </p:attrNameLst>
                                      </p:cBhvr>
                                      <p:tavLst>
                                        <p:tav tm="0">
                                          <p:val>
                                            <p:strVal val="#ppt_x+.4"/>
                                          </p:val>
                                        </p:tav>
                                        <p:tav tm="100000">
                                          <p:val>
                                            <p:strVal val="#ppt_x"/>
                                          </p:val>
                                        </p:tav>
                                      </p:tavLst>
                                    </p:anim>
                                    <p:anim calcmode="lin" valueType="num">
                                      <p:cBhvr>
                                        <p:cTn id="124" dur="500" decel="50000" fill="hold">
                                          <p:stCondLst>
                                            <p:cond delay="0"/>
                                          </p:stCondLst>
                                        </p:cTn>
                                        <p:tgtEl>
                                          <p:spTgt spid="202774"/>
                                        </p:tgtEl>
                                        <p:attrNameLst>
                                          <p:attrName>ppt_y</p:attrName>
                                        </p:attrNameLst>
                                      </p:cBhvr>
                                      <p:tavLst>
                                        <p:tav tm="0">
                                          <p:val>
                                            <p:strVal val="#ppt_y-.2"/>
                                          </p:val>
                                        </p:tav>
                                        <p:tav tm="100000">
                                          <p:val>
                                            <p:strVal val="#ppt_y+.1"/>
                                          </p:val>
                                        </p:tav>
                                      </p:tavLst>
                                    </p:anim>
                                    <p:anim calcmode="lin" valueType="num">
                                      <p:cBhvr>
                                        <p:cTn id="125" dur="500" accel="50000" fill="hold">
                                          <p:stCondLst>
                                            <p:cond delay="500"/>
                                          </p:stCondLst>
                                        </p:cTn>
                                        <p:tgtEl>
                                          <p:spTgt spid="202774"/>
                                        </p:tgtEl>
                                        <p:attrNameLst>
                                          <p:attrName>ppt_y</p:attrName>
                                        </p:attrNameLst>
                                      </p:cBhvr>
                                      <p:tavLst>
                                        <p:tav tm="0">
                                          <p:val>
                                            <p:strVal val="#ppt_y+.1"/>
                                          </p:val>
                                        </p:tav>
                                        <p:tav tm="100000">
                                          <p:val>
                                            <p:strVal val="#ppt_y"/>
                                          </p:val>
                                        </p:tav>
                                      </p:tavLst>
                                    </p:anim>
                                    <p:animEffect transition="in" filter="fade">
                                      <p:cBhvr>
                                        <p:cTn id="126" dur="1000" decel="50000">
                                          <p:stCondLst>
                                            <p:cond delay="0"/>
                                          </p:stCondLst>
                                        </p:cTn>
                                        <p:tgtEl>
                                          <p:spTgt spid="202774"/>
                                        </p:tgtEl>
                                      </p:cBhvr>
                                    </p:animEffect>
                                  </p:childTnLst>
                                </p:cTn>
                              </p:par>
                            </p:childTnLst>
                          </p:cTn>
                        </p:par>
                        <p:par>
                          <p:cTn id="127" fill="hold">
                            <p:stCondLst>
                              <p:cond delay="1000"/>
                            </p:stCondLst>
                            <p:childTnLst>
                              <p:par>
                                <p:cTn id="128" presetID="53" presetClass="entr" presetSubtype="16" fill="hold" grpId="0" nodeType="afterEffect">
                                  <p:stCondLst>
                                    <p:cond delay="0"/>
                                  </p:stCondLst>
                                  <p:childTnLst>
                                    <p:set>
                                      <p:cBhvr>
                                        <p:cTn id="129" dur="1" fill="hold">
                                          <p:stCondLst>
                                            <p:cond delay="0"/>
                                          </p:stCondLst>
                                        </p:cTn>
                                        <p:tgtEl>
                                          <p:spTgt spid="202773"/>
                                        </p:tgtEl>
                                        <p:attrNameLst>
                                          <p:attrName>style.visibility</p:attrName>
                                        </p:attrNameLst>
                                      </p:cBhvr>
                                      <p:to>
                                        <p:strVal val="visible"/>
                                      </p:to>
                                    </p:set>
                                    <p:anim calcmode="lin" valueType="num">
                                      <p:cBhvr>
                                        <p:cTn id="130" dur="500" fill="hold"/>
                                        <p:tgtEl>
                                          <p:spTgt spid="202773"/>
                                        </p:tgtEl>
                                        <p:attrNameLst>
                                          <p:attrName>ppt_w</p:attrName>
                                        </p:attrNameLst>
                                      </p:cBhvr>
                                      <p:tavLst>
                                        <p:tav tm="0">
                                          <p:val>
                                            <p:fltVal val="0"/>
                                          </p:val>
                                        </p:tav>
                                        <p:tav tm="100000">
                                          <p:val>
                                            <p:strVal val="#ppt_w"/>
                                          </p:val>
                                        </p:tav>
                                      </p:tavLst>
                                    </p:anim>
                                    <p:anim calcmode="lin" valueType="num">
                                      <p:cBhvr>
                                        <p:cTn id="131" dur="500" fill="hold"/>
                                        <p:tgtEl>
                                          <p:spTgt spid="202773"/>
                                        </p:tgtEl>
                                        <p:attrNameLst>
                                          <p:attrName>ppt_h</p:attrName>
                                        </p:attrNameLst>
                                      </p:cBhvr>
                                      <p:tavLst>
                                        <p:tav tm="0">
                                          <p:val>
                                            <p:fltVal val="0"/>
                                          </p:val>
                                        </p:tav>
                                        <p:tav tm="100000">
                                          <p:val>
                                            <p:strVal val="#ppt_h"/>
                                          </p:val>
                                        </p:tav>
                                      </p:tavLst>
                                    </p:anim>
                                    <p:animEffect transition="in" filter="fade">
                                      <p:cBhvr>
                                        <p:cTn id="132" dur="500"/>
                                        <p:tgtEl>
                                          <p:spTgt spid="202773"/>
                                        </p:tgtEl>
                                      </p:cBhvr>
                                    </p:animEffect>
                                  </p:childTnLst>
                                </p:cTn>
                              </p:par>
                            </p:childTnLst>
                          </p:cTn>
                        </p:par>
                      </p:childTnLst>
                    </p:cTn>
                  </p:par>
                  <p:par>
                    <p:cTn id="133" fill="hold">
                      <p:stCondLst>
                        <p:cond delay="indefinite"/>
                      </p:stCondLst>
                      <p:childTnLst>
                        <p:par>
                          <p:cTn id="134" fill="hold">
                            <p:stCondLst>
                              <p:cond delay="0"/>
                            </p:stCondLst>
                            <p:childTnLst>
                              <p:par>
                                <p:cTn id="135" presetID="25" presetClass="entr" presetSubtype="0" fill="hold" grpId="0" nodeType="clickEffect">
                                  <p:stCondLst>
                                    <p:cond delay="0"/>
                                  </p:stCondLst>
                                  <p:childTnLst>
                                    <p:set>
                                      <p:cBhvr>
                                        <p:cTn id="136" dur="1" fill="hold">
                                          <p:stCondLst>
                                            <p:cond delay="0"/>
                                          </p:stCondLst>
                                        </p:cTn>
                                        <p:tgtEl>
                                          <p:spTgt spid="202776"/>
                                        </p:tgtEl>
                                        <p:attrNameLst>
                                          <p:attrName>style.visibility</p:attrName>
                                        </p:attrNameLst>
                                      </p:cBhvr>
                                      <p:to>
                                        <p:strVal val="visible"/>
                                      </p:to>
                                    </p:set>
                                    <p:anim calcmode="lin" valueType="num">
                                      <p:cBhvr>
                                        <p:cTn id="137" dur="500" decel="50000" fill="hold">
                                          <p:stCondLst>
                                            <p:cond delay="0"/>
                                          </p:stCondLst>
                                        </p:cTn>
                                        <p:tgtEl>
                                          <p:spTgt spid="202776"/>
                                        </p:tgtEl>
                                        <p:attrNameLst>
                                          <p:attrName>style.rotation</p:attrName>
                                        </p:attrNameLst>
                                      </p:cBhvr>
                                      <p:tavLst>
                                        <p:tav tm="0">
                                          <p:val>
                                            <p:fltVal val="-90"/>
                                          </p:val>
                                        </p:tav>
                                        <p:tav tm="100000">
                                          <p:val>
                                            <p:fltVal val="0"/>
                                          </p:val>
                                        </p:tav>
                                      </p:tavLst>
                                    </p:anim>
                                    <p:anim calcmode="lin" valueType="num">
                                      <p:cBhvr>
                                        <p:cTn id="138" dur="500" decel="50000" fill="hold">
                                          <p:stCondLst>
                                            <p:cond delay="0"/>
                                          </p:stCondLst>
                                        </p:cTn>
                                        <p:tgtEl>
                                          <p:spTgt spid="202776"/>
                                        </p:tgtEl>
                                        <p:attrNameLst>
                                          <p:attrName>ppt_w</p:attrName>
                                        </p:attrNameLst>
                                      </p:cBhvr>
                                      <p:tavLst>
                                        <p:tav tm="0">
                                          <p:val>
                                            <p:strVal val="#ppt_w"/>
                                          </p:val>
                                        </p:tav>
                                        <p:tav tm="100000">
                                          <p:val>
                                            <p:strVal val="#ppt_w*.05"/>
                                          </p:val>
                                        </p:tav>
                                      </p:tavLst>
                                    </p:anim>
                                    <p:anim calcmode="lin" valueType="num">
                                      <p:cBhvr>
                                        <p:cTn id="139" dur="500" accel="50000" fill="hold">
                                          <p:stCondLst>
                                            <p:cond delay="500"/>
                                          </p:stCondLst>
                                        </p:cTn>
                                        <p:tgtEl>
                                          <p:spTgt spid="202776"/>
                                        </p:tgtEl>
                                        <p:attrNameLst>
                                          <p:attrName>ppt_w</p:attrName>
                                        </p:attrNameLst>
                                      </p:cBhvr>
                                      <p:tavLst>
                                        <p:tav tm="0">
                                          <p:val>
                                            <p:strVal val="#ppt_w*.05"/>
                                          </p:val>
                                        </p:tav>
                                        <p:tav tm="100000">
                                          <p:val>
                                            <p:strVal val="#ppt_w"/>
                                          </p:val>
                                        </p:tav>
                                      </p:tavLst>
                                    </p:anim>
                                    <p:anim calcmode="lin" valueType="num">
                                      <p:cBhvr>
                                        <p:cTn id="140" dur="1000" fill="hold"/>
                                        <p:tgtEl>
                                          <p:spTgt spid="202776"/>
                                        </p:tgtEl>
                                        <p:attrNameLst>
                                          <p:attrName>ppt_h</p:attrName>
                                        </p:attrNameLst>
                                      </p:cBhvr>
                                      <p:tavLst>
                                        <p:tav tm="0">
                                          <p:val>
                                            <p:strVal val="#ppt_h"/>
                                          </p:val>
                                        </p:tav>
                                        <p:tav tm="100000">
                                          <p:val>
                                            <p:strVal val="#ppt_h"/>
                                          </p:val>
                                        </p:tav>
                                      </p:tavLst>
                                    </p:anim>
                                    <p:anim calcmode="lin" valueType="num">
                                      <p:cBhvr>
                                        <p:cTn id="141" dur="500" decel="50000" fill="hold">
                                          <p:stCondLst>
                                            <p:cond delay="0"/>
                                          </p:stCondLst>
                                        </p:cTn>
                                        <p:tgtEl>
                                          <p:spTgt spid="202776"/>
                                        </p:tgtEl>
                                        <p:attrNameLst>
                                          <p:attrName>ppt_x</p:attrName>
                                        </p:attrNameLst>
                                      </p:cBhvr>
                                      <p:tavLst>
                                        <p:tav tm="0">
                                          <p:val>
                                            <p:strVal val="#ppt_x+.4"/>
                                          </p:val>
                                        </p:tav>
                                        <p:tav tm="100000">
                                          <p:val>
                                            <p:strVal val="#ppt_x"/>
                                          </p:val>
                                        </p:tav>
                                      </p:tavLst>
                                    </p:anim>
                                    <p:anim calcmode="lin" valueType="num">
                                      <p:cBhvr>
                                        <p:cTn id="142" dur="500" decel="50000" fill="hold">
                                          <p:stCondLst>
                                            <p:cond delay="0"/>
                                          </p:stCondLst>
                                        </p:cTn>
                                        <p:tgtEl>
                                          <p:spTgt spid="202776"/>
                                        </p:tgtEl>
                                        <p:attrNameLst>
                                          <p:attrName>ppt_y</p:attrName>
                                        </p:attrNameLst>
                                      </p:cBhvr>
                                      <p:tavLst>
                                        <p:tav tm="0">
                                          <p:val>
                                            <p:strVal val="#ppt_y-.2"/>
                                          </p:val>
                                        </p:tav>
                                        <p:tav tm="100000">
                                          <p:val>
                                            <p:strVal val="#ppt_y+.1"/>
                                          </p:val>
                                        </p:tav>
                                      </p:tavLst>
                                    </p:anim>
                                    <p:anim calcmode="lin" valueType="num">
                                      <p:cBhvr>
                                        <p:cTn id="143" dur="500" accel="50000" fill="hold">
                                          <p:stCondLst>
                                            <p:cond delay="500"/>
                                          </p:stCondLst>
                                        </p:cTn>
                                        <p:tgtEl>
                                          <p:spTgt spid="202776"/>
                                        </p:tgtEl>
                                        <p:attrNameLst>
                                          <p:attrName>ppt_y</p:attrName>
                                        </p:attrNameLst>
                                      </p:cBhvr>
                                      <p:tavLst>
                                        <p:tav tm="0">
                                          <p:val>
                                            <p:strVal val="#ppt_y+.1"/>
                                          </p:val>
                                        </p:tav>
                                        <p:tav tm="100000">
                                          <p:val>
                                            <p:strVal val="#ppt_y"/>
                                          </p:val>
                                        </p:tav>
                                      </p:tavLst>
                                    </p:anim>
                                    <p:animEffect transition="in" filter="fade">
                                      <p:cBhvr>
                                        <p:cTn id="144" dur="1000" decel="50000">
                                          <p:stCondLst>
                                            <p:cond delay="0"/>
                                          </p:stCondLst>
                                        </p:cTn>
                                        <p:tgtEl>
                                          <p:spTgt spid="202776"/>
                                        </p:tgtEl>
                                      </p:cBhvr>
                                    </p:animEffect>
                                  </p:childTnLst>
                                </p:cTn>
                              </p:par>
                            </p:childTnLst>
                          </p:cTn>
                        </p:par>
                        <p:par>
                          <p:cTn id="145" fill="hold">
                            <p:stCondLst>
                              <p:cond delay="1000"/>
                            </p:stCondLst>
                            <p:childTnLst>
                              <p:par>
                                <p:cTn id="146" presetID="53" presetClass="entr" presetSubtype="16" fill="hold" grpId="0" nodeType="afterEffect">
                                  <p:stCondLst>
                                    <p:cond delay="0"/>
                                  </p:stCondLst>
                                  <p:childTnLst>
                                    <p:set>
                                      <p:cBhvr>
                                        <p:cTn id="147" dur="1" fill="hold">
                                          <p:stCondLst>
                                            <p:cond delay="0"/>
                                          </p:stCondLst>
                                        </p:cTn>
                                        <p:tgtEl>
                                          <p:spTgt spid="202775"/>
                                        </p:tgtEl>
                                        <p:attrNameLst>
                                          <p:attrName>style.visibility</p:attrName>
                                        </p:attrNameLst>
                                      </p:cBhvr>
                                      <p:to>
                                        <p:strVal val="visible"/>
                                      </p:to>
                                    </p:set>
                                    <p:anim calcmode="lin" valueType="num">
                                      <p:cBhvr>
                                        <p:cTn id="148" dur="500" fill="hold"/>
                                        <p:tgtEl>
                                          <p:spTgt spid="202775"/>
                                        </p:tgtEl>
                                        <p:attrNameLst>
                                          <p:attrName>ppt_w</p:attrName>
                                        </p:attrNameLst>
                                      </p:cBhvr>
                                      <p:tavLst>
                                        <p:tav tm="0">
                                          <p:val>
                                            <p:fltVal val="0"/>
                                          </p:val>
                                        </p:tav>
                                        <p:tav tm="100000">
                                          <p:val>
                                            <p:strVal val="#ppt_w"/>
                                          </p:val>
                                        </p:tav>
                                      </p:tavLst>
                                    </p:anim>
                                    <p:anim calcmode="lin" valueType="num">
                                      <p:cBhvr>
                                        <p:cTn id="149" dur="500" fill="hold"/>
                                        <p:tgtEl>
                                          <p:spTgt spid="202775"/>
                                        </p:tgtEl>
                                        <p:attrNameLst>
                                          <p:attrName>ppt_h</p:attrName>
                                        </p:attrNameLst>
                                      </p:cBhvr>
                                      <p:tavLst>
                                        <p:tav tm="0">
                                          <p:val>
                                            <p:fltVal val="0"/>
                                          </p:val>
                                        </p:tav>
                                        <p:tav tm="100000">
                                          <p:val>
                                            <p:strVal val="#ppt_h"/>
                                          </p:val>
                                        </p:tav>
                                      </p:tavLst>
                                    </p:anim>
                                    <p:animEffect transition="in" filter="fade">
                                      <p:cBhvr>
                                        <p:cTn id="150" dur="500"/>
                                        <p:tgtEl>
                                          <p:spTgt spid="202775"/>
                                        </p:tgtEl>
                                      </p:cBhvr>
                                    </p:animEffect>
                                  </p:childTnLst>
                                </p:cTn>
                              </p:par>
                            </p:childTnLst>
                          </p:cTn>
                        </p:par>
                      </p:childTnLst>
                    </p:cTn>
                  </p:par>
                  <p:par>
                    <p:cTn id="151" fill="hold">
                      <p:stCondLst>
                        <p:cond delay="indefinite"/>
                      </p:stCondLst>
                      <p:childTnLst>
                        <p:par>
                          <p:cTn id="152" fill="hold">
                            <p:stCondLst>
                              <p:cond delay="0"/>
                            </p:stCondLst>
                            <p:childTnLst>
                              <p:par>
                                <p:cTn id="153" presetID="25" presetClass="entr" presetSubtype="0" fill="hold" grpId="0" nodeType="clickEffect">
                                  <p:stCondLst>
                                    <p:cond delay="0"/>
                                  </p:stCondLst>
                                  <p:childTnLst>
                                    <p:set>
                                      <p:cBhvr>
                                        <p:cTn id="154" dur="1" fill="hold">
                                          <p:stCondLst>
                                            <p:cond delay="0"/>
                                          </p:stCondLst>
                                        </p:cTn>
                                        <p:tgtEl>
                                          <p:spTgt spid="202778"/>
                                        </p:tgtEl>
                                        <p:attrNameLst>
                                          <p:attrName>style.visibility</p:attrName>
                                        </p:attrNameLst>
                                      </p:cBhvr>
                                      <p:to>
                                        <p:strVal val="visible"/>
                                      </p:to>
                                    </p:set>
                                    <p:anim calcmode="lin" valueType="num">
                                      <p:cBhvr>
                                        <p:cTn id="155" dur="500" decel="50000" fill="hold">
                                          <p:stCondLst>
                                            <p:cond delay="0"/>
                                          </p:stCondLst>
                                        </p:cTn>
                                        <p:tgtEl>
                                          <p:spTgt spid="202778"/>
                                        </p:tgtEl>
                                        <p:attrNameLst>
                                          <p:attrName>style.rotation</p:attrName>
                                        </p:attrNameLst>
                                      </p:cBhvr>
                                      <p:tavLst>
                                        <p:tav tm="0">
                                          <p:val>
                                            <p:fltVal val="-90"/>
                                          </p:val>
                                        </p:tav>
                                        <p:tav tm="100000">
                                          <p:val>
                                            <p:fltVal val="0"/>
                                          </p:val>
                                        </p:tav>
                                      </p:tavLst>
                                    </p:anim>
                                    <p:anim calcmode="lin" valueType="num">
                                      <p:cBhvr>
                                        <p:cTn id="156" dur="500" decel="50000" fill="hold">
                                          <p:stCondLst>
                                            <p:cond delay="0"/>
                                          </p:stCondLst>
                                        </p:cTn>
                                        <p:tgtEl>
                                          <p:spTgt spid="202778"/>
                                        </p:tgtEl>
                                        <p:attrNameLst>
                                          <p:attrName>ppt_w</p:attrName>
                                        </p:attrNameLst>
                                      </p:cBhvr>
                                      <p:tavLst>
                                        <p:tav tm="0">
                                          <p:val>
                                            <p:strVal val="#ppt_w"/>
                                          </p:val>
                                        </p:tav>
                                        <p:tav tm="100000">
                                          <p:val>
                                            <p:strVal val="#ppt_w*.05"/>
                                          </p:val>
                                        </p:tav>
                                      </p:tavLst>
                                    </p:anim>
                                    <p:anim calcmode="lin" valueType="num">
                                      <p:cBhvr>
                                        <p:cTn id="157" dur="500" accel="50000" fill="hold">
                                          <p:stCondLst>
                                            <p:cond delay="500"/>
                                          </p:stCondLst>
                                        </p:cTn>
                                        <p:tgtEl>
                                          <p:spTgt spid="202778"/>
                                        </p:tgtEl>
                                        <p:attrNameLst>
                                          <p:attrName>ppt_w</p:attrName>
                                        </p:attrNameLst>
                                      </p:cBhvr>
                                      <p:tavLst>
                                        <p:tav tm="0">
                                          <p:val>
                                            <p:strVal val="#ppt_w*.05"/>
                                          </p:val>
                                        </p:tav>
                                        <p:tav tm="100000">
                                          <p:val>
                                            <p:strVal val="#ppt_w"/>
                                          </p:val>
                                        </p:tav>
                                      </p:tavLst>
                                    </p:anim>
                                    <p:anim calcmode="lin" valueType="num">
                                      <p:cBhvr>
                                        <p:cTn id="158" dur="1000" fill="hold"/>
                                        <p:tgtEl>
                                          <p:spTgt spid="202778"/>
                                        </p:tgtEl>
                                        <p:attrNameLst>
                                          <p:attrName>ppt_h</p:attrName>
                                        </p:attrNameLst>
                                      </p:cBhvr>
                                      <p:tavLst>
                                        <p:tav tm="0">
                                          <p:val>
                                            <p:strVal val="#ppt_h"/>
                                          </p:val>
                                        </p:tav>
                                        <p:tav tm="100000">
                                          <p:val>
                                            <p:strVal val="#ppt_h"/>
                                          </p:val>
                                        </p:tav>
                                      </p:tavLst>
                                    </p:anim>
                                    <p:anim calcmode="lin" valueType="num">
                                      <p:cBhvr>
                                        <p:cTn id="159" dur="500" decel="50000" fill="hold">
                                          <p:stCondLst>
                                            <p:cond delay="0"/>
                                          </p:stCondLst>
                                        </p:cTn>
                                        <p:tgtEl>
                                          <p:spTgt spid="202778"/>
                                        </p:tgtEl>
                                        <p:attrNameLst>
                                          <p:attrName>ppt_x</p:attrName>
                                        </p:attrNameLst>
                                      </p:cBhvr>
                                      <p:tavLst>
                                        <p:tav tm="0">
                                          <p:val>
                                            <p:strVal val="#ppt_x+.4"/>
                                          </p:val>
                                        </p:tav>
                                        <p:tav tm="100000">
                                          <p:val>
                                            <p:strVal val="#ppt_x"/>
                                          </p:val>
                                        </p:tav>
                                      </p:tavLst>
                                    </p:anim>
                                    <p:anim calcmode="lin" valueType="num">
                                      <p:cBhvr>
                                        <p:cTn id="160" dur="500" decel="50000" fill="hold">
                                          <p:stCondLst>
                                            <p:cond delay="0"/>
                                          </p:stCondLst>
                                        </p:cTn>
                                        <p:tgtEl>
                                          <p:spTgt spid="202778"/>
                                        </p:tgtEl>
                                        <p:attrNameLst>
                                          <p:attrName>ppt_y</p:attrName>
                                        </p:attrNameLst>
                                      </p:cBhvr>
                                      <p:tavLst>
                                        <p:tav tm="0">
                                          <p:val>
                                            <p:strVal val="#ppt_y-.2"/>
                                          </p:val>
                                        </p:tav>
                                        <p:tav tm="100000">
                                          <p:val>
                                            <p:strVal val="#ppt_y+.1"/>
                                          </p:val>
                                        </p:tav>
                                      </p:tavLst>
                                    </p:anim>
                                    <p:anim calcmode="lin" valueType="num">
                                      <p:cBhvr>
                                        <p:cTn id="161" dur="500" accel="50000" fill="hold">
                                          <p:stCondLst>
                                            <p:cond delay="500"/>
                                          </p:stCondLst>
                                        </p:cTn>
                                        <p:tgtEl>
                                          <p:spTgt spid="202778"/>
                                        </p:tgtEl>
                                        <p:attrNameLst>
                                          <p:attrName>ppt_y</p:attrName>
                                        </p:attrNameLst>
                                      </p:cBhvr>
                                      <p:tavLst>
                                        <p:tav tm="0">
                                          <p:val>
                                            <p:strVal val="#ppt_y+.1"/>
                                          </p:val>
                                        </p:tav>
                                        <p:tav tm="100000">
                                          <p:val>
                                            <p:strVal val="#ppt_y"/>
                                          </p:val>
                                        </p:tav>
                                      </p:tavLst>
                                    </p:anim>
                                    <p:animEffect transition="in" filter="fade">
                                      <p:cBhvr>
                                        <p:cTn id="162" dur="1000" decel="50000">
                                          <p:stCondLst>
                                            <p:cond delay="0"/>
                                          </p:stCondLst>
                                        </p:cTn>
                                        <p:tgtEl>
                                          <p:spTgt spid="202778"/>
                                        </p:tgtEl>
                                      </p:cBhvr>
                                    </p:animEffect>
                                  </p:childTnLst>
                                </p:cTn>
                              </p:par>
                            </p:childTnLst>
                          </p:cTn>
                        </p:par>
                        <p:par>
                          <p:cTn id="163" fill="hold">
                            <p:stCondLst>
                              <p:cond delay="1000"/>
                            </p:stCondLst>
                            <p:childTnLst>
                              <p:par>
                                <p:cTn id="164" presetID="53" presetClass="entr" presetSubtype="16" fill="hold" grpId="0" nodeType="afterEffect">
                                  <p:stCondLst>
                                    <p:cond delay="0"/>
                                  </p:stCondLst>
                                  <p:childTnLst>
                                    <p:set>
                                      <p:cBhvr>
                                        <p:cTn id="165" dur="1" fill="hold">
                                          <p:stCondLst>
                                            <p:cond delay="0"/>
                                          </p:stCondLst>
                                        </p:cTn>
                                        <p:tgtEl>
                                          <p:spTgt spid="202777"/>
                                        </p:tgtEl>
                                        <p:attrNameLst>
                                          <p:attrName>style.visibility</p:attrName>
                                        </p:attrNameLst>
                                      </p:cBhvr>
                                      <p:to>
                                        <p:strVal val="visible"/>
                                      </p:to>
                                    </p:set>
                                    <p:anim calcmode="lin" valueType="num">
                                      <p:cBhvr>
                                        <p:cTn id="166" dur="500" fill="hold"/>
                                        <p:tgtEl>
                                          <p:spTgt spid="202777"/>
                                        </p:tgtEl>
                                        <p:attrNameLst>
                                          <p:attrName>ppt_w</p:attrName>
                                        </p:attrNameLst>
                                      </p:cBhvr>
                                      <p:tavLst>
                                        <p:tav tm="0">
                                          <p:val>
                                            <p:fltVal val="0"/>
                                          </p:val>
                                        </p:tav>
                                        <p:tav tm="100000">
                                          <p:val>
                                            <p:strVal val="#ppt_w"/>
                                          </p:val>
                                        </p:tav>
                                      </p:tavLst>
                                    </p:anim>
                                    <p:anim calcmode="lin" valueType="num">
                                      <p:cBhvr>
                                        <p:cTn id="167" dur="500" fill="hold"/>
                                        <p:tgtEl>
                                          <p:spTgt spid="202777"/>
                                        </p:tgtEl>
                                        <p:attrNameLst>
                                          <p:attrName>ppt_h</p:attrName>
                                        </p:attrNameLst>
                                      </p:cBhvr>
                                      <p:tavLst>
                                        <p:tav tm="0">
                                          <p:val>
                                            <p:fltVal val="0"/>
                                          </p:val>
                                        </p:tav>
                                        <p:tav tm="100000">
                                          <p:val>
                                            <p:strVal val="#ppt_h"/>
                                          </p:val>
                                        </p:tav>
                                      </p:tavLst>
                                    </p:anim>
                                    <p:animEffect transition="in" filter="fade">
                                      <p:cBhvr>
                                        <p:cTn id="168" dur="500"/>
                                        <p:tgtEl>
                                          <p:spTgt spid="202777"/>
                                        </p:tgtEl>
                                      </p:cBhvr>
                                    </p:animEffect>
                                  </p:childTnLst>
                                </p:cTn>
                              </p:par>
                            </p:childTnLst>
                          </p:cTn>
                        </p:par>
                      </p:childTnLst>
                    </p:cTn>
                  </p:par>
                  <p:par>
                    <p:cTn id="169" fill="hold">
                      <p:stCondLst>
                        <p:cond delay="indefinite"/>
                      </p:stCondLst>
                      <p:childTnLst>
                        <p:par>
                          <p:cTn id="170" fill="hold">
                            <p:stCondLst>
                              <p:cond delay="0"/>
                            </p:stCondLst>
                            <p:childTnLst>
                              <p:par>
                                <p:cTn id="171" presetID="25" presetClass="entr" presetSubtype="0" fill="hold" grpId="0" nodeType="clickEffect">
                                  <p:stCondLst>
                                    <p:cond delay="0"/>
                                  </p:stCondLst>
                                  <p:childTnLst>
                                    <p:set>
                                      <p:cBhvr>
                                        <p:cTn id="172" dur="1" fill="hold">
                                          <p:stCondLst>
                                            <p:cond delay="0"/>
                                          </p:stCondLst>
                                        </p:cTn>
                                        <p:tgtEl>
                                          <p:spTgt spid="202770"/>
                                        </p:tgtEl>
                                        <p:attrNameLst>
                                          <p:attrName>style.visibility</p:attrName>
                                        </p:attrNameLst>
                                      </p:cBhvr>
                                      <p:to>
                                        <p:strVal val="visible"/>
                                      </p:to>
                                    </p:set>
                                    <p:anim calcmode="lin" valueType="num">
                                      <p:cBhvr>
                                        <p:cTn id="173" dur="500" decel="50000" fill="hold">
                                          <p:stCondLst>
                                            <p:cond delay="0"/>
                                          </p:stCondLst>
                                        </p:cTn>
                                        <p:tgtEl>
                                          <p:spTgt spid="202770"/>
                                        </p:tgtEl>
                                        <p:attrNameLst>
                                          <p:attrName>style.rotation</p:attrName>
                                        </p:attrNameLst>
                                      </p:cBhvr>
                                      <p:tavLst>
                                        <p:tav tm="0">
                                          <p:val>
                                            <p:fltVal val="-90"/>
                                          </p:val>
                                        </p:tav>
                                        <p:tav tm="100000">
                                          <p:val>
                                            <p:fltVal val="0"/>
                                          </p:val>
                                        </p:tav>
                                      </p:tavLst>
                                    </p:anim>
                                    <p:anim calcmode="lin" valueType="num">
                                      <p:cBhvr>
                                        <p:cTn id="174" dur="500" decel="50000" fill="hold">
                                          <p:stCondLst>
                                            <p:cond delay="0"/>
                                          </p:stCondLst>
                                        </p:cTn>
                                        <p:tgtEl>
                                          <p:spTgt spid="202770"/>
                                        </p:tgtEl>
                                        <p:attrNameLst>
                                          <p:attrName>ppt_w</p:attrName>
                                        </p:attrNameLst>
                                      </p:cBhvr>
                                      <p:tavLst>
                                        <p:tav tm="0">
                                          <p:val>
                                            <p:strVal val="#ppt_w"/>
                                          </p:val>
                                        </p:tav>
                                        <p:tav tm="100000">
                                          <p:val>
                                            <p:strVal val="#ppt_w*.05"/>
                                          </p:val>
                                        </p:tav>
                                      </p:tavLst>
                                    </p:anim>
                                    <p:anim calcmode="lin" valueType="num">
                                      <p:cBhvr>
                                        <p:cTn id="175" dur="500" accel="50000" fill="hold">
                                          <p:stCondLst>
                                            <p:cond delay="500"/>
                                          </p:stCondLst>
                                        </p:cTn>
                                        <p:tgtEl>
                                          <p:spTgt spid="202770"/>
                                        </p:tgtEl>
                                        <p:attrNameLst>
                                          <p:attrName>ppt_w</p:attrName>
                                        </p:attrNameLst>
                                      </p:cBhvr>
                                      <p:tavLst>
                                        <p:tav tm="0">
                                          <p:val>
                                            <p:strVal val="#ppt_w*.05"/>
                                          </p:val>
                                        </p:tav>
                                        <p:tav tm="100000">
                                          <p:val>
                                            <p:strVal val="#ppt_w"/>
                                          </p:val>
                                        </p:tav>
                                      </p:tavLst>
                                    </p:anim>
                                    <p:anim calcmode="lin" valueType="num">
                                      <p:cBhvr>
                                        <p:cTn id="176" dur="1000" fill="hold"/>
                                        <p:tgtEl>
                                          <p:spTgt spid="202770"/>
                                        </p:tgtEl>
                                        <p:attrNameLst>
                                          <p:attrName>ppt_h</p:attrName>
                                        </p:attrNameLst>
                                      </p:cBhvr>
                                      <p:tavLst>
                                        <p:tav tm="0">
                                          <p:val>
                                            <p:strVal val="#ppt_h"/>
                                          </p:val>
                                        </p:tav>
                                        <p:tav tm="100000">
                                          <p:val>
                                            <p:strVal val="#ppt_h"/>
                                          </p:val>
                                        </p:tav>
                                      </p:tavLst>
                                    </p:anim>
                                    <p:anim calcmode="lin" valueType="num">
                                      <p:cBhvr>
                                        <p:cTn id="177" dur="500" decel="50000" fill="hold">
                                          <p:stCondLst>
                                            <p:cond delay="0"/>
                                          </p:stCondLst>
                                        </p:cTn>
                                        <p:tgtEl>
                                          <p:spTgt spid="202770"/>
                                        </p:tgtEl>
                                        <p:attrNameLst>
                                          <p:attrName>ppt_x</p:attrName>
                                        </p:attrNameLst>
                                      </p:cBhvr>
                                      <p:tavLst>
                                        <p:tav tm="0">
                                          <p:val>
                                            <p:strVal val="#ppt_x+.4"/>
                                          </p:val>
                                        </p:tav>
                                        <p:tav tm="100000">
                                          <p:val>
                                            <p:strVal val="#ppt_x"/>
                                          </p:val>
                                        </p:tav>
                                      </p:tavLst>
                                    </p:anim>
                                    <p:anim calcmode="lin" valueType="num">
                                      <p:cBhvr>
                                        <p:cTn id="178" dur="500" decel="50000" fill="hold">
                                          <p:stCondLst>
                                            <p:cond delay="0"/>
                                          </p:stCondLst>
                                        </p:cTn>
                                        <p:tgtEl>
                                          <p:spTgt spid="202770"/>
                                        </p:tgtEl>
                                        <p:attrNameLst>
                                          <p:attrName>ppt_y</p:attrName>
                                        </p:attrNameLst>
                                      </p:cBhvr>
                                      <p:tavLst>
                                        <p:tav tm="0">
                                          <p:val>
                                            <p:strVal val="#ppt_y-.2"/>
                                          </p:val>
                                        </p:tav>
                                        <p:tav tm="100000">
                                          <p:val>
                                            <p:strVal val="#ppt_y+.1"/>
                                          </p:val>
                                        </p:tav>
                                      </p:tavLst>
                                    </p:anim>
                                    <p:anim calcmode="lin" valueType="num">
                                      <p:cBhvr>
                                        <p:cTn id="179" dur="500" accel="50000" fill="hold">
                                          <p:stCondLst>
                                            <p:cond delay="500"/>
                                          </p:stCondLst>
                                        </p:cTn>
                                        <p:tgtEl>
                                          <p:spTgt spid="202770"/>
                                        </p:tgtEl>
                                        <p:attrNameLst>
                                          <p:attrName>ppt_y</p:attrName>
                                        </p:attrNameLst>
                                      </p:cBhvr>
                                      <p:tavLst>
                                        <p:tav tm="0">
                                          <p:val>
                                            <p:strVal val="#ppt_y+.1"/>
                                          </p:val>
                                        </p:tav>
                                        <p:tav tm="100000">
                                          <p:val>
                                            <p:strVal val="#ppt_y"/>
                                          </p:val>
                                        </p:tav>
                                      </p:tavLst>
                                    </p:anim>
                                    <p:animEffect transition="in" filter="fade">
                                      <p:cBhvr>
                                        <p:cTn id="180" dur="1000" decel="50000">
                                          <p:stCondLst>
                                            <p:cond delay="0"/>
                                          </p:stCondLst>
                                        </p:cTn>
                                        <p:tgtEl>
                                          <p:spTgt spid="202770"/>
                                        </p:tgtEl>
                                      </p:cBhvr>
                                    </p:animEffect>
                                  </p:childTnLst>
                                </p:cTn>
                              </p:par>
                            </p:childTnLst>
                          </p:cTn>
                        </p:par>
                        <p:par>
                          <p:cTn id="181" fill="hold">
                            <p:stCondLst>
                              <p:cond delay="1000"/>
                            </p:stCondLst>
                            <p:childTnLst>
                              <p:par>
                                <p:cTn id="182" presetID="53" presetClass="entr" presetSubtype="16" fill="hold" grpId="0" nodeType="afterEffect">
                                  <p:stCondLst>
                                    <p:cond delay="0"/>
                                  </p:stCondLst>
                                  <p:childTnLst>
                                    <p:set>
                                      <p:cBhvr>
                                        <p:cTn id="183" dur="1" fill="hold">
                                          <p:stCondLst>
                                            <p:cond delay="0"/>
                                          </p:stCondLst>
                                        </p:cTn>
                                        <p:tgtEl>
                                          <p:spTgt spid="202769"/>
                                        </p:tgtEl>
                                        <p:attrNameLst>
                                          <p:attrName>style.visibility</p:attrName>
                                        </p:attrNameLst>
                                      </p:cBhvr>
                                      <p:to>
                                        <p:strVal val="visible"/>
                                      </p:to>
                                    </p:set>
                                    <p:anim calcmode="lin" valueType="num">
                                      <p:cBhvr>
                                        <p:cTn id="184" dur="500" fill="hold"/>
                                        <p:tgtEl>
                                          <p:spTgt spid="202769"/>
                                        </p:tgtEl>
                                        <p:attrNameLst>
                                          <p:attrName>ppt_w</p:attrName>
                                        </p:attrNameLst>
                                      </p:cBhvr>
                                      <p:tavLst>
                                        <p:tav tm="0">
                                          <p:val>
                                            <p:fltVal val="0"/>
                                          </p:val>
                                        </p:tav>
                                        <p:tav tm="100000">
                                          <p:val>
                                            <p:strVal val="#ppt_w"/>
                                          </p:val>
                                        </p:tav>
                                      </p:tavLst>
                                    </p:anim>
                                    <p:anim calcmode="lin" valueType="num">
                                      <p:cBhvr>
                                        <p:cTn id="185" dur="500" fill="hold"/>
                                        <p:tgtEl>
                                          <p:spTgt spid="202769"/>
                                        </p:tgtEl>
                                        <p:attrNameLst>
                                          <p:attrName>ppt_h</p:attrName>
                                        </p:attrNameLst>
                                      </p:cBhvr>
                                      <p:tavLst>
                                        <p:tav tm="0">
                                          <p:val>
                                            <p:fltVal val="0"/>
                                          </p:val>
                                        </p:tav>
                                        <p:tav tm="100000">
                                          <p:val>
                                            <p:strVal val="#ppt_h"/>
                                          </p:val>
                                        </p:tav>
                                      </p:tavLst>
                                    </p:anim>
                                    <p:animEffect transition="in" filter="fade">
                                      <p:cBhvr>
                                        <p:cTn id="186" dur="500"/>
                                        <p:tgtEl>
                                          <p:spTgt spid="202769"/>
                                        </p:tgtEl>
                                      </p:cBhvr>
                                    </p:animEffect>
                                  </p:childTnLst>
                                </p:cTn>
                              </p:par>
                            </p:childTnLst>
                          </p:cTn>
                        </p:par>
                      </p:childTnLst>
                    </p:cTn>
                  </p:par>
                  <p:par>
                    <p:cTn id="187" fill="hold">
                      <p:stCondLst>
                        <p:cond delay="indefinite"/>
                      </p:stCondLst>
                      <p:childTnLst>
                        <p:par>
                          <p:cTn id="188" fill="hold">
                            <p:stCondLst>
                              <p:cond delay="0"/>
                            </p:stCondLst>
                            <p:childTnLst>
                              <p:par>
                                <p:cTn id="189" presetID="25" presetClass="entr" presetSubtype="0" fill="hold" grpId="0" nodeType="clickEffect">
                                  <p:stCondLst>
                                    <p:cond delay="0"/>
                                  </p:stCondLst>
                                  <p:childTnLst>
                                    <p:set>
                                      <p:cBhvr>
                                        <p:cTn id="190" dur="1" fill="hold">
                                          <p:stCondLst>
                                            <p:cond delay="0"/>
                                          </p:stCondLst>
                                        </p:cTn>
                                        <p:tgtEl>
                                          <p:spTgt spid="202772"/>
                                        </p:tgtEl>
                                        <p:attrNameLst>
                                          <p:attrName>style.visibility</p:attrName>
                                        </p:attrNameLst>
                                      </p:cBhvr>
                                      <p:to>
                                        <p:strVal val="visible"/>
                                      </p:to>
                                    </p:set>
                                    <p:anim calcmode="lin" valueType="num">
                                      <p:cBhvr>
                                        <p:cTn id="191" dur="500" decel="50000" fill="hold">
                                          <p:stCondLst>
                                            <p:cond delay="0"/>
                                          </p:stCondLst>
                                        </p:cTn>
                                        <p:tgtEl>
                                          <p:spTgt spid="202772"/>
                                        </p:tgtEl>
                                        <p:attrNameLst>
                                          <p:attrName>style.rotation</p:attrName>
                                        </p:attrNameLst>
                                      </p:cBhvr>
                                      <p:tavLst>
                                        <p:tav tm="0">
                                          <p:val>
                                            <p:fltVal val="-90"/>
                                          </p:val>
                                        </p:tav>
                                        <p:tav tm="100000">
                                          <p:val>
                                            <p:fltVal val="0"/>
                                          </p:val>
                                        </p:tav>
                                      </p:tavLst>
                                    </p:anim>
                                    <p:anim calcmode="lin" valueType="num">
                                      <p:cBhvr>
                                        <p:cTn id="192" dur="500" decel="50000" fill="hold">
                                          <p:stCondLst>
                                            <p:cond delay="0"/>
                                          </p:stCondLst>
                                        </p:cTn>
                                        <p:tgtEl>
                                          <p:spTgt spid="202772"/>
                                        </p:tgtEl>
                                        <p:attrNameLst>
                                          <p:attrName>ppt_w</p:attrName>
                                        </p:attrNameLst>
                                      </p:cBhvr>
                                      <p:tavLst>
                                        <p:tav tm="0">
                                          <p:val>
                                            <p:strVal val="#ppt_w"/>
                                          </p:val>
                                        </p:tav>
                                        <p:tav tm="100000">
                                          <p:val>
                                            <p:strVal val="#ppt_w*.05"/>
                                          </p:val>
                                        </p:tav>
                                      </p:tavLst>
                                    </p:anim>
                                    <p:anim calcmode="lin" valueType="num">
                                      <p:cBhvr>
                                        <p:cTn id="193" dur="500" accel="50000" fill="hold">
                                          <p:stCondLst>
                                            <p:cond delay="500"/>
                                          </p:stCondLst>
                                        </p:cTn>
                                        <p:tgtEl>
                                          <p:spTgt spid="202772"/>
                                        </p:tgtEl>
                                        <p:attrNameLst>
                                          <p:attrName>ppt_w</p:attrName>
                                        </p:attrNameLst>
                                      </p:cBhvr>
                                      <p:tavLst>
                                        <p:tav tm="0">
                                          <p:val>
                                            <p:strVal val="#ppt_w*.05"/>
                                          </p:val>
                                        </p:tav>
                                        <p:tav tm="100000">
                                          <p:val>
                                            <p:strVal val="#ppt_w"/>
                                          </p:val>
                                        </p:tav>
                                      </p:tavLst>
                                    </p:anim>
                                    <p:anim calcmode="lin" valueType="num">
                                      <p:cBhvr>
                                        <p:cTn id="194" dur="1000" fill="hold"/>
                                        <p:tgtEl>
                                          <p:spTgt spid="202772"/>
                                        </p:tgtEl>
                                        <p:attrNameLst>
                                          <p:attrName>ppt_h</p:attrName>
                                        </p:attrNameLst>
                                      </p:cBhvr>
                                      <p:tavLst>
                                        <p:tav tm="0">
                                          <p:val>
                                            <p:strVal val="#ppt_h"/>
                                          </p:val>
                                        </p:tav>
                                        <p:tav tm="100000">
                                          <p:val>
                                            <p:strVal val="#ppt_h"/>
                                          </p:val>
                                        </p:tav>
                                      </p:tavLst>
                                    </p:anim>
                                    <p:anim calcmode="lin" valueType="num">
                                      <p:cBhvr>
                                        <p:cTn id="195" dur="500" decel="50000" fill="hold">
                                          <p:stCondLst>
                                            <p:cond delay="0"/>
                                          </p:stCondLst>
                                        </p:cTn>
                                        <p:tgtEl>
                                          <p:spTgt spid="202772"/>
                                        </p:tgtEl>
                                        <p:attrNameLst>
                                          <p:attrName>ppt_x</p:attrName>
                                        </p:attrNameLst>
                                      </p:cBhvr>
                                      <p:tavLst>
                                        <p:tav tm="0">
                                          <p:val>
                                            <p:strVal val="#ppt_x+.4"/>
                                          </p:val>
                                        </p:tav>
                                        <p:tav tm="100000">
                                          <p:val>
                                            <p:strVal val="#ppt_x"/>
                                          </p:val>
                                        </p:tav>
                                      </p:tavLst>
                                    </p:anim>
                                    <p:anim calcmode="lin" valueType="num">
                                      <p:cBhvr>
                                        <p:cTn id="196" dur="500" decel="50000" fill="hold">
                                          <p:stCondLst>
                                            <p:cond delay="0"/>
                                          </p:stCondLst>
                                        </p:cTn>
                                        <p:tgtEl>
                                          <p:spTgt spid="202772"/>
                                        </p:tgtEl>
                                        <p:attrNameLst>
                                          <p:attrName>ppt_y</p:attrName>
                                        </p:attrNameLst>
                                      </p:cBhvr>
                                      <p:tavLst>
                                        <p:tav tm="0">
                                          <p:val>
                                            <p:strVal val="#ppt_y-.2"/>
                                          </p:val>
                                        </p:tav>
                                        <p:tav tm="100000">
                                          <p:val>
                                            <p:strVal val="#ppt_y+.1"/>
                                          </p:val>
                                        </p:tav>
                                      </p:tavLst>
                                    </p:anim>
                                    <p:anim calcmode="lin" valueType="num">
                                      <p:cBhvr>
                                        <p:cTn id="197" dur="500" accel="50000" fill="hold">
                                          <p:stCondLst>
                                            <p:cond delay="500"/>
                                          </p:stCondLst>
                                        </p:cTn>
                                        <p:tgtEl>
                                          <p:spTgt spid="202772"/>
                                        </p:tgtEl>
                                        <p:attrNameLst>
                                          <p:attrName>ppt_y</p:attrName>
                                        </p:attrNameLst>
                                      </p:cBhvr>
                                      <p:tavLst>
                                        <p:tav tm="0">
                                          <p:val>
                                            <p:strVal val="#ppt_y+.1"/>
                                          </p:val>
                                        </p:tav>
                                        <p:tav tm="100000">
                                          <p:val>
                                            <p:strVal val="#ppt_y"/>
                                          </p:val>
                                        </p:tav>
                                      </p:tavLst>
                                    </p:anim>
                                    <p:animEffect transition="in" filter="fade">
                                      <p:cBhvr>
                                        <p:cTn id="198" dur="1000" decel="50000">
                                          <p:stCondLst>
                                            <p:cond delay="0"/>
                                          </p:stCondLst>
                                        </p:cTn>
                                        <p:tgtEl>
                                          <p:spTgt spid="202772"/>
                                        </p:tgtEl>
                                      </p:cBhvr>
                                    </p:animEffect>
                                  </p:childTnLst>
                                </p:cTn>
                              </p:par>
                            </p:childTnLst>
                          </p:cTn>
                        </p:par>
                        <p:par>
                          <p:cTn id="199" fill="hold">
                            <p:stCondLst>
                              <p:cond delay="1000"/>
                            </p:stCondLst>
                            <p:childTnLst>
                              <p:par>
                                <p:cTn id="200" presetID="53" presetClass="entr" presetSubtype="16" fill="hold" grpId="0" nodeType="afterEffect">
                                  <p:stCondLst>
                                    <p:cond delay="0"/>
                                  </p:stCondLst>
                                  <p:childTnLst>
                                    <p:set>
                                      <p:cBhvr>
                                        <p:cTn id="201" dur="1" fill="hold">
                                          <p:stCondLst>
                                            <p:cond delay="0"/>
                                          </p:stCondLst>
                                        </p:cTn>
                                        <p:tgtEl>
                                          <p:spTgt spid="202771"/>
                                        </p:tgtEl>
                                        <p:attrNameLst>
                                          <p:attrName>style.visibility</p:attrName>
                                        </p:attrNameLst>
                                      </p:cBhvr>
                                      <p:to>
                                        <p:strVal val="visible"/>
                                      </p:to>
                                    </p:set>
                                    <p:anim calcmode="lin" valueType="num">
                                      <p:cBhvr>
                                        <p:cTn id="202" dur="500" fill="hold"/>
                                        <p:tgtEl>
                                          <p:spTgt spid="202771"/>
                                        </p:tgtEl>
                                        <p:attrNameLst>
                                          <p:attrName>ppt_w</p:attrName>
                                        </p:attrNameLst>
                                      </p:cBhvr>
                                      <p:tavLst>
                                        <p:tav tm="0">
                                          <p:val>
                                            <p:fltVal val="0"/>
                                          </p:val>
                                        </p:tav>
                                        <p:tav tm="100000">
                                          <p:val>
                                            <p:strVal val="#ppt_w"/>
                                          </p:val>
                                        </p:tav>
                                      </p:tavLst>
                                    </p:anim>
                                    <p:anim calcmode="lin" valueType="num">
                                      <p:cBhvr>
                                        <p:cTn id="203" dur="500" fill="hold"/>
                                        <p:tgtEl>
                                          <p:spTgt spid="202771"/>
                                        </p:tgtEl>
                                        <p:attrNameLst>
                                          <p:attrName>ppt_h</p:attrName>
                                        </p:attrNameLst>
                                      </p:cBhvr>
                                      <p:tavLst>
                                        <p:tav tm="0">
                                          <p:val>
                                            <p:fltVal val="0"/>
                                          </p:val>
                                        </p:tav>
                                        <p:tav tm="100000">
                                          <p:val>
                                            <p:strVal val="#ppt_h"/>
                                          </p:val>
                                        </p:tav>
                                      </p:tavLst>
                                    </p:anim>
                                    <p:animEffect transition="in" filter="fade">
                                      <p:cBhvr>
                                        <p:cTn id="204" dur="500"/>
                                        <p:tgtEl>
                                          <p:spTgt spid="202771"/>
                                        </p:tgtEl>
                                      </p:cBhvr>
                                    </p:animEffect>
                                  </p:childTnLst>
                                </p:cTn>
                              </p:par>
                            </p:childTnLst>
                          </p:cTn>
                        </p:par>
                      </p:childTnLst>
                    </p:cTn>
                  </p:par>
                  <p:par>
                    <p:cTn id="205" fill="hold">
                      <p:stCondLst>
                        <p:cond delay="indefinite"/>
                      </p:stCondLst>
                      <p:childTnLst>
                        <p:par>
                          <p:cTn id="206" fill="hold">
                            <p:stCondLst>
                              <p:cond delay="0"/>
                            </p:stCondLst>
                            <p:childTnLst>
                              <p:par>
                                <p:cTn id="207" presetID="9" presetClass="entr" presetSubtype="0" fill="hold" grpId="0" nodeType="clickEffect">
                                  <p:stCondLst>
                                    <p:cond delay="0"/>
                                  </p:stCondLst>
                                  <p:childTnLst>
                                    <p:set>
                                      <p:cBhvr>
                                        <p:cTn id="208" dur="1" fill="hold">
                                          <p:stCondLst>
                                            <p:cond delay="0"/>
                                          </p:stCondLst>
                                        </p:cTn>
                                        <p:tgtEl>
                                          <p:spTgt spid="2200583"/>
                                        </p:tgtEl>
                                        <p:attrNameLst>
                                          <p:attrName>style.visibility</p:attrName>
                                        </p:attrNameLst>
                                      </p:cBhvr>
                                      <p:to>
                                        <p:strVal val="visible"/>
                                      </p:to>
                                    </p:set>
                                    <p:animEffect transition="in" filter="dissolve">
                                      <p:cBhvr>
                                        <p:cTn id="209" dur="500"/>
                                        <p:tgtEl>
                                          <p:spTgt spid="2200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6" grpId="0" bldLvl="0" animBg="1"/>
      <p:bldP spid="202757" grpId="0" bldLvl="0" animBg="1"/>
      <p:bldP spid="202758" grpId="0" bldLvl="0" animBg="1"/>
      <p:bldP spid="202759" grpId="0" bldLvl="0" animBg="1"/>
      <p:bldP spid="202760" grpId="0" bldLvl="0" animBg="1"/>
      <p:bldP spid="202761" grpId="0" bldLvl="0" animBg="1"/>
      <p:bldP spid="202762" grpId="0"/>
      <p:bldP spid="202763" grpId="0" bldLvl="0" animBg="1"/>
      <p:bldP spid="202764" grpId="0"/>
      <p:bldP spid="202765" grpId="0" bldLvl="0" animBg="1"/>
      <p:bldP spid="202766" grpId="0"/>
      <p:bldP spid="202767" grpId="0" bldLvl="0" animBg="1"/>
      <p:bldP spid="202768" grpId="0"/>
      <p:bldP spid="202769" grpId="0" bldLvl="0" animBg="1"/>
      <p:bldP spid="202770" grpId="0"/>
      <p:bldP spid="202771" grpId="0" bldLvl="0" animBg="1"/>
      <p:bldP spid="202772" grpId="0"/>
      <p:bldP spid="202773" grpId="0" bldLvl="0" animBg="1"/>
      <p:bldP spid="202774" grpId="0"/>
      <p:bldP spid="202775" grpId="0" bldLvl="0" animBg="1"/>
      <p:bldP spid="202776" grpId="0"/>
      <p:bldP spid="202777" grpId="0" bldLvl="0" animBg="1"/>
      <p:bldP spid="202778" grpId="0"/>
      <p:bldP spid="202779" grpId="0" bldLvl="0" animBg="1"/>
      <p:bldP spid="202780" grpId="0"/>
      <p:bldP spid="2200583" grpId="0" bldLvl="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4"/>
          <p:cNvSpPr>
            <a:spLocks noGrp="1"/>
          </p:cNvSpPr>
          <p:nvPr>
            <p:ph type="sldNum" sz="quarter" idx="12"/>
          </p:nvPr>
        </p:nvSpPr>
        <p:spPr>
          <a:noFill/>
        </p:spPr>
        <p:txBody>
          <a:bodyPr/>
          <a:lstStyle/>
          <a:p>
            <a:fld id="{6935B2D4-8DCE-4A84-BB8E-FB1B67A43D9A}" type="slidenum">
              <a:rPr lang="ko-KR" altLang="en-US" smtClean="0"/>
              <a:t>60</a:t>
            </a:fld>
            <a:endParaRPr lang="en-US" altLang="ko-KR" smtClean="0"/>
          </a:p>
        </p:txBody>
      </p:sp>
      <p:sp>
        <p:nvSpPr>
          <p:cNvPr id="71683" name="Rectangle 7"/>
          <p:cNvSpPr>
            <a:spLocks noGrp="1" noChangeArrowheads="1"/>
          </p:cNvSpPr>
          <p:nvPr>
            <p:ph type="title" idx="4294967295"/>
          </p:nvPr>
        </p:nvSpPr>
        <p:spPr>
          <a:xfrm>
            <a:off x="1113155" y="355600"/>
            <a:ext cx="9231630" cy="609600"/>
          </a:xfrm>
        </p:spPr>
        <p:txBody>
          <a:bodyPr>
            <a:normAutofit fontScale="90000"/>
          </a:bodyPr>
          <a:lstStyle/>
          <a:p>
            <a:r>
              <a:rPr lang="zh-CN" altLang="en-US" dirty="0" smtClean="0">
                <a:solidFill>
                  <a:schemeClr val="accent2"/>
                </a:solidFill>
                <a:latin typeface="Arial" panose="020B0604020202020204" pitchFamily="34" charset="0"/>
                <a:ea typeface="黑体" panose="02010609060101010101" pitchFamily="49" charset="-122"/>
              </a:rPr>
              <a:t>第</a:t>
            </a:r>
            <a:r>
              <a:rPr lang="en-US" altLang="zh-CN" dirty="0" smtClean="0">
                <a:solidFill>
                  <a:schemeClr val="accent2"/>
                </a:solidFill>
                <a:latin typeface="Arial" panose="020B0604020202020204" pitchFamily="34" charset="0"/>
                <a:ea typeface="黑体" panose="02010609060101010101" pitchFamily="49" charset="-122"/>
              </a:rPr>
              <a:t>3</a:t>
            </a:r>
            <a:r>
              <a:rPr lang="zh-CN" altLang="en-US" dirty="0" smtClean="0">
                <a:solidFill>
                  <a:schemeClr val="accent2"/>
                </a:solidFill>
                <a:latin typeface="Arial" panose="020B0604020202020204" pitchFamily="34" charset="0"/>
                <a:ea typeface="黑体" panose="02010609060101010101" pitchFamily="49" charset="-122"/>
              </a:rPr>
              <a:t>步：用</a:t>
            </a:r>
            <a:r>
              <a:rPr lang="en-US" altLang="zh-CN" dirty="0" err="1" smtClean="0">
                <a:solidFill>
                  <a:schemeClr val="accent2"/>
                </a:solidFill>
                <a:latin typeface="Arial" panose="020B0604020202020204" pitchFamily="34" charset="0"/>
                <a:ea typeface="黑体" panose="02010609060101010101" pitchFamily="49" charset="-122"/>
              </a:rPr>
              <a:t>Verilog</a:t>
            </a:r>
            <a:r>
              <a:rPr lang="zh-CN" altLang="en-US" dirty="0" smtClean="0">
                <a:solidFill>
                  <a:schemeClr val="accent2"/>
                </a:solidFill>
                <a:latin typeface="Arial" panose="020B0604020202020204" pitchFamily="34" charset="0"/>
                <a:ea typeface="黑体" panose="02010609060101010101" pitchFamily="49" charset="-122"/>
              </a:rPr>
              <a:t>语言描述状态机</a:t>
            </a:r>
          </a:p>
        </p:txBody>
      </p:sp>
      <p:sp>
        <p:nvSpPr>
          <p:cNvPr id="71684" name="Rectangle 8"/>
          <p:cNvSpPr>
            <a:spLocks noGrp="1" noChangeArrowheads="1"/>
          </p:cNvSpPr>
          <p:nvPr>
            <p:ph type="body" idx="4294967295"/>
          </p:nvPr>
        </p:nvSpPr>
        <p:spPr>
          <a:xfrm>
            <a:off x="2514600" y="1355725"/>
            <a:ext cx="8153400" cy="4941888"/>
          </a:xfrm>
        </p:spPr>
        <p:txBody>
          <a:bodyPr/>
          <a:lstStyle/>
          <a:p>
            <a:pPr>
              <a:lnSpc>
                <a:spcPct val="90000"/>
              </a:lnSpc>
            </a:pPr>
            <a:r>
              <a:rPr kumimoji="1" lang="zh-CN" altLang="en-US" sz="2400" dirty="0" smtClean="0">
                <a:solidFill>
                  <a:srgbClr val="0000FF"/>
                </a:solidFill>
              </a:rPr>
              <a:t>在程序的开头定义状态机状态的编码形式</a:t>
            </a:r>
          </a:p>
          <a:p>
            <a:pPr lvl="1">
              <a:lnSpc>
                <a:spcPct val="90000"/>
              </a:lnSpc>
            </a:pPr>
            <a:r>
              <a:rPr lang="zh-CN" altLang="en-US" dirty="0" smtClean="0"/>
              <a:t>用</a:t>
            </a:r>
            <a:r>
              <a:rPr lang="en-US" altLang="zh-CN" dirty="0" smtClean="0">
                <a:cs typeface="Arial" panose="020B0604020202020204" pitchFamily="34" charset="0"/>
              </a:rPr>
              <a:t>parameter</a:t>
            </a:r>
            <a:r>
              <a:rPr lang="zh-CN" altLang="en-US" dirty="0" smtClean="0">
                <a:cs typeface="Arial" panose="020B0604020202020204" pitchFamily="34" charset="0"/>
              </a:rPr>
              <a:t>或</a:t>
            </a:r>
            <a:r>
              <a:rPr lang="en-US" altLang="zh-CN" dirty="0" smtClean="0">
                <a:cs typeface="Arial" panose="020B0604020202020204" pitchFamily="34" charset="0"/>
              </a:rPr>
              <a:t>‵define</a:t>
            </a:r>
            <a:r>
              <a:rPr lang="zh-CN" altLang="en-US" dirty="0" smtClean="0">
                <a:cs typeface="Arial" panose="020B0604020202020204" pitchFamily="34" charset="0"/>
              </a:rPr>
              <a:t>语句</a:t>
            </a:r>
            <a:endParaRPr kumimoji="1" lang="zh-CN" altLang="en-US" dirty="0" smtClean="0">
              <a:solidFill>
                <a:srgbClr val="0000FF"/>
              </a:solidFill>
            </a:endParaRPr>
          </a:p>
          <a:p>
            <a:pPr>
              <a:lnSpc>
                <a:spcPct val="90000"/>
              </a:lnSpc>
            </a:pPr>
            <a:r>
              <a:rPr kumimoji="1" lang="zh-CN" altLang="en-US" sz="2400" dirty="0" smtClean="0">
                <a:solidFill>
                  <a:srgbClr val="0000FF"/>
                </a:solidFill>
              </a:rPr>
              <a:t>复位时回到起始状态</a:t>
            </a:r>
            <a:endParaRPr lang="zh-CN" altLang="en-US" sz="2400" dirty="0" smtClean="0"/>
          </a:p>
          <a:p>
            <a:pPr lvl="1">
              <a:lnSpc>
                <a:spcPct val="90000"/>
              </a:lnSpc>
            </a:pPr>
            <a:r>
              <a:rPr lang="zh-CN" altLang="en-US" dirty="0" smtClean="0"/>
              <a:t>敏感信号为</a:t>
            </a:r>
            <a:r>
              <a:rPr lang="zh-CN" altLang="en-US" dirty="0" smtClean="0">
                <a:solidFill>
                  <a:srgbClr val="CC3300"/>
                </a:solidFill>
              </a:rPr>
              <a:t>时钟</a:t>
            </a:r>
            <a:r>
              <a:rPr lang="zh-CN" altLang="en-US" dirty="0" smtClean="0"/>
              <a:t>和</a:t>
            </a:r>
            <a:r>
              <a:rPr lang="zh-CN" altLang="en-US" dirty="0" smtClean="0">
                <a:solidFill>
                  <a:srgbClr val="CC3300"/>
                </a:solidFill>
              </a:rPr>
              <a:t>复位</a:t>
            </a:r>
            <a:r>
              <a:rPr lang="zh-CN" altLang="en-US" dirty="0" smtClean="0"/>
              <a:t>信号</a:t>
            </a:r>
          </a:p>
          <a:p>
            <a:pPr>
              <a:lnSpc>
                <a:spcPct val="90000"/>
              </a:lnSpc>
            </a:pPr>
            <a:r>
              <a:rPr kumimoji="1" lang="zh-CN" altLang="en-US" sz="2400" dirty="0" smtClean="0">
                <a:solidFill>
                  <a:srgbClr val="0000FF"/>
                </a:solidFill>
              </a:rPr>
              <a:t>状态转换描述</a:t>
            </a:r>
          </a:p>
          <a:p>
            <a:pPr lvl="1">
              <a:lnSpc>
                <a:spcPct val="90000"/>
              </a:lnSpc>
            </a:pPr>
            <a:r>
              <a:rPr lang="zh-CN" altLang="en-US" dirty="0" smtClean="0"/>
              <a:t>用</a:t>
            </a:r>
            <a:r>
              <a:rPr lang="en-US" altLang="zh-CN" dirty="0" smtClean="0"/>
              <a:t>case</a:t>
            </a:r>
            <a:r>
              <a:rPr lang="zh-CN" altLang="en-US" dirty="0" smtClean="0"/>
              <a:t>或</a:t>
            </a:r>
            <a:r>
              <a:rPr lang="en-US" altLang="zh-CN" dirty="0" smtClean="0"/>
              <a:t>if-else</a:t>
            </a:r>
            <a:r>
              <a:rPr lang="zh-CN" altLang="en-US" dirty="0" smtClean="0"/>
              <a:t>语句描述出状态的转移（根据现态和输入产生次态，可与复位时回到起始状态的语句</a:t>
            </a:r>
            <a:r>
              <a:rPr lang="zh-CN" altLang="en-US" dirty="0" smtClean="0">
                <a:solidFill>
                  <a:srgbClr val="CC0099"/>
                </a:solidFill>
              </a:rPr>
              <a:t>放在同一个</a:t>
            </a:r>
            <a:r>
              <a:rPr lang="en-US" altLang="zh-CN" dirty="0" smtClean="0">
                <a:solidFill>
                  <a:srgbClr val="CC0099"/>
                </a:solidFill>
              </a:rPr>
              <a:t>always</a:t>
            </a:r>
            <a:r>
              <a:rPr lang="zh-CN" altLang="en-US" dirty="0" smtClean="0">
                <a:solidFill>
                  <a:srgbClr val="CC0099"/>
                </a:solidFill>
              </a:rPr>
              <a:t>块中</a:t>
            </a:r>
            <a:r>
              <a:rPr lang="zh-CN" altLang="en-US" dirty="0" smtClean="0"/>
              <a:t>，即敏感信号为</a:t>
            </a:r>
            <a:r>
              <a:rPr lang="zh-CN" altLang="en-US" dirty="0" smtClean="0">
                <a:solidFill>
                  <a:srgbClr val="CC3300"/>
                </a:solidFill>
              </a:rPr>
              <a:t>时钟</a:t>
            </a:r>
            <a:r>
              <a:rPr lang="zh-CN" altLang="en-US" dirty="0" smtClean="0"/>
              <a:t>和</a:t>
            </a:r>
            <a:r>
              <a:rPr lang="zh-CN" altLang="en-US" dirty="0" smtClean="0">
                <a:solidFill>
                  <a:srgbClr val="CC3300"/>
                </a:solidFill>
              </a:rPr>
              <a:t>复位</a:t>
            </a:r>
            <a:r>
              <a:rPr lang="zh-CN" altLang="en-US" dirty="0" smtClean="0"/>
              <a:t>信号）</a:t>
            </a:r>
          </a:p>
          <a:p>
            <a:pPr>
              <a:lnSpc>
                <a:spcPct val="90000"/>
              </a:lnSpc>
            </a:pPr>
            <a:r>
              <a:rPr kumimoji="1" lang="zh-CN" altLang="en-US" sz="2400" dirty="0" smtClean="0">
                <a:solidFill>
                  <a:srgbClr val="0000FF"/>
                </a:solidFill>
              </a:rPr>
              <a:t>输出信号描述</a:t>
            </a:r>
          </a:p>
          <a:p>
            <a:pPr lvl="1">
              <a:lnSpc>
                <a:spcPct val="90000"/>
              </a:lnSpc>
            </a:pPr>
            <a:r>
              <a:rPr lang="zh-CN" altLang="en-US" dirty="0" smtClean="0"/>
              <a:t>用</a:t>
            </a:r>
            <a:r>
              <a:rPr lang="en-US" altLang="zh-CN" dirty="0" smtClean="0"/>
              <a:t>case</a:t>
            </a:r>
            <a:r>
              <a:rPr lang="zh-CN" altLang="en-US" dirty="0" smtClean="0"/>
              <a:t>语句（</a:t>
            </a:r>
            <a:r>
              <a:rPr lang="en-US" altLang="zh-CN" dirty="0" smtClean="0"/>
              <a:t>Mealy</a:t>
            </a:r>
            <a:r>
              <a:rPr lang="zh-CN" altLang="en-US" dirty="0" smtClean="0"/>
              <a:t>型状态机还要用到</a:t>
            </a:r>
            <a:r>
              <a:rPr lang="en-US" altLang="zh-CN" dirty="0" smtClean="0"/>
              <a:t>if-else</a:t>
            </a:r>
            <a:r>
              <a:rPr lang="zh-CN" altLang="en-US" dirty="0" smtClean="0"/>
              <a:t>语句）描述状态机的输出信号（</a:t>
            </a:r>
            <a:r>
              <a:rPr lang="zh-CN" altLang="en-US" dirty="0" smtClean="0">
                <a:solidFill>
                  <a:srgbClr val="CC0099"/>
                </a:solidFill>
              </a:rPr>
              <a:t>单独放在一个</a:t>
            </a:r>
            <a:r>
              <a:rPr lang="en-US" altLang="zh-CN" dirty="0" smtClean="0">
                <a:solidFill>
                  <a:srgbClr val="CC0099"/>
                </a:solidFill>
              </a:rPr>
              <a:t>always</a:t>
            </a:r>
            <a:r>
              <a:rPr lang="zh-CN" altLang="en-US" dirty="0" smtClean="0">
                <a:solidFill>
                  <a:srgbClr val="CC0099"/>
                </a:solidFill>
              </a:rPr>
              <a:t>块中</a:t>
            </a:r>
            <a:r>
              <a:rPr lang="zh-CN" altLang="en-US" dirty="0" smtClean="0"/>
              <a:t>，敏感信号为</a:t>
            </a:r>
            <a:r>
              <a:rPr lang="zh-CN" altLang="en-US" dirty="0" smtClean="0">
                <a:solidFill>
                  <a:srgbClr val="CC3300"/>
                </a:solidFill>
              </a:rPr>
              <a:t>现态</a:t>
            </a:r>
            <a:r>
              <a:rPr lang="zh-CN" altLang="en-US" dirty="0" smtClean="0"/>
              <a:t>） </a:t>
            </a:r>
          </a:p>
        </p:txBody>
      </p:sp>
    </p:spTree>
  </p:cSld>
  <p:clrMapOvr>
    <a:masterClrMapping/>
  </p:clrMapOvr>
  <p:transition>
    <p:blinds dir="vert"/>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ChangeArrowheads="1"/>
          </p:cNvSpPr>
          <p:nvPr/>
        </p:nvSpPr>
        <p:spPr bwMode="auto">
          <a:xfrm>
            <a:off x="3022600" y="908050"/>
            <a:ext cx="6253163" cy="5996940"/>
          </a:xfrm>
          <a:prstGeom prst="rect">
            <a:avLst/>
          </a:prstGeom>
          <a:solidFill>
            <a:srgbClr val="ADD6FF"/>
          </a:solidFill>
          <a:ln w="9525">
            <a:noFill/>
            <a:miter lim="800000"/>
          </a:ln>
          <a:effectLst>
            <a:prstShdw prst="shdw13" dist="53882" dir="13500000">
              <a:srgbClr val="808080">
                <a:alpha val="50000"/>
              </a:srgbClr>
            </a:prstShdw>
          </a:effectLst>
        </p:spPr>
        <p:txBody>
          <a:bodyPr>
            <a:spAutoFit/>
          </a:bodyPr>
          <a:lstStyle/>
          <a:p>
            <a:pPr algn="l">
              <a:lnSpc>
                <a:spcPct val="80000"/>
              </a:lnSpc>
              <a:spcBef>
                <a:spcPct val="0"/>
              </a:spcBef>
            </a:pPr>
            <a:r>
              <a:rPr lang="en-US" altLang="zh-CN" sz="1600" dirty="0"/>
              <a:t>module</a:t>
            </a:r>
            <a:r>
              <a:rPr lang="en-US" altLang="zh-CN" sz="1600" dirty="0">
                <a:solidFill>
                  <a:srgbClr val="FF0000"/>
                </a:solidFill>
              </a:rPr>
              <a:t> monitor</a:t>
            </a:r>
            <a:r>
              <a:rPr lang="en-US" altLang="zh-CN" sz="1600" dirty="0"/>
              <a:t>(</a:t>
            </a:r>
            <a:r>
              <a:rPr lang="en-US" altLang="zh-CN" sz="1600" dirty="0" err="1"/>
              <a:t>clk,clr,data,zo,state</a:t>
            </a:r>
            <a:r>
              <a:rPr lang="en-US" altLang="zh-CN" sz="1600" dirty="0"/>
              <a:t>);</a:t>
            </a:r>
          </a:p>
          <a:p>
            <a:pPr algn="l">
              <a:lnSpc>
                <a:spcPct val="80000"/>
              </a:lnSpc>
              <a:spcBef>
                <a:spcPct val="0"/>
              </a:spcBef>
            </a:pPr>
            <a:r>
              <a:rPr lang="en-US" altLang="zh-CN" sz="1600" dirty="0"/>
              <a:t>    parameter S0=3'b000, S1=3'b001,</a:t>
            </a:r>
          </a:p>
          <a:p>
            <a:pPr algn="l">
              <a:lnSpc>
                <a:spcPct val="80000"/>
              </a:lnSpc>
              <a:spcBef>
                <a:spcPct val="0"/>
              </a:spcBef>
            </a:pPr>
            <a:r>
              <a:rPr lang="en-US" altLang="zh-CN" sz="1600" dirty="0"/>
              <a:t>    S2=3‘b010,S3=3’b011,S4=3‘b100; //</a:t>
            </a:r>
            <a:r>
              <a:rPr lang="zh-CN" altLang="en-US" sz="1600" dirty="0">
                <a:solidFill>
                  <a:srgbClr val="FF0066"/>
                </a:solidFill>
                <a:latin typeface="Arial" panose="020B0604020202020204" pitchFamily="34" charset="0"/>
                <a:ea typeface="楷体_GB2312" pitchFamily="49" charset="-122"/>
              </a:rPr>
              <a:t>状态编码的定义</a:t>
            </a:r>
          </a:p>
          <a:p>
            <a:pPr algn="l">
              <a:lnSpc>
                <a:spcPct val="80000"/>
              </a:lnSpc>
              <a:spcBef>
                <a:spcPct val="0"/>
              </a:spcBef>
            </a:pPr>
            <a:r>
              <a:rPr lang="en-US" altLang="zh-CN" sz="1600" dirty="0"/>
              <a:t>    input </a:t>
            </a:r>
            <a:r>
              <a:rPr lang="en-US" altLang="zh-CN" sz="1600" dirty="0" err="1"/>
              <a:t>clk,clr,data</a:t>
            </a:r>
            <a:r>
              <a:rPr lang="en-US" altLang="zh-CN" sz="1600" dirty="0"/>
              <a:t>;</a:t>
            </a:r>
          </a:p>
          <a:p>
            <a:pPr algn="l">
              <a:lnSpc>
                <a:spcPct val="80000"/>
              </a:lnSpc>
              <a:spcBef>
                <a:spcPct val="0"/>
              </a:spcBef>
            </a:pPr>
            <a:r>
              <a:rPr lang="en-US" altLang="zh-CN" sz="1600" dirty="0"/>
              <a:t>    output </a:t>
            </a:r>
            <a:r>
              <a:rPr lang="en-US" altLang="zh-CN" sz="1600" dirty="0" err="1"/>
              <a:t>zo</a:t>
            </a:r>
            <a:r>
              <a:rPr lang="en-US" altLang="zh-CN" sz="1600" dirty="0"/>
              <a:t>;</a:t>
            </a:r>
          </a:p>
          <a:p>
            <a:pPr algn="l">
              <a:lnSpc>
                <a:spcPct val="80000"/>
              </a:lnSpc>
              <a:spcBef>
                <a:spcPct val="0"/>
              </a:spcBef>
            </a:pPr>
            <a:r>
              <a:rPr lang="en-US" altLang="zh-CN" sz="1600" dirty="0"/>
              <a:t>    output[2:0] state;		</a:t>
            </a:r>
            <a:r>
              <a:rPr lang="zh-CN" altLang="en-US" sz="1600" dirty="0"/>
              <a:t>        </a:t>
            </a:r>
            <a:r>
              <a:rPr lang="en-US" altLang="zh-CN" sz="1600" dirty="0"/>
              <a:t>//</a:t>
            </a:r>
            <a:r>
              <a:rPr lang="zh-CN" altLang="en-US" sz="1600" dirty="0">
                <a:latin typeface="楷体_GB2312" pitchFamily="49" charset="-122"/>
                <a:ea typeface="楷体_GB2312" pitchFamily="49" charset="-122"/>
              </a:rPr>
              <a:t>状态机</a:t>
            </a:r>
            <a:endParaRPr lang="en-US" altLang="zh-CN" sz="1600" dirty="0">
              <a:latin typeface="楷体_GB2312" pitchFamily="49" charset="-122"/>
              <a:ea typeface="楷体_GB2312" pitchFamily="49" charset="-122"/>
            </a:endParaRPr>
          </a:p>
          <a:p>
            <a:pPr algn="l">
              <a:lnSpc>
                <a:spcPct val="80000"/>
              </a:lnSpc>
              <a:spcBef>
                <a:spcPct val="0"/>
              </a:spcBef>
            </a:pPr>
            <a:r>
              <a:rPr lang="en-US" altLang="zh-CN" sz="1600" dirty="0"/>
              <a:t>    </a:t>
            </a:r>
            <a:r>
              <a:rPr lang="en-US" altLang="zh-CN" sz="1600" dirty="0" err="1"/>
              <a:t>reg</a:t>
            </a:r>
            <a:r>
              <a:rPr lang="en-US" altLang="zh-CN" sz="1600" dirty="0"/>
              <a:t> [2:0] state;</a:t>
            </a:r>
          </a:p>
          <a:p>
            <a:pPr algn="l">
              <a:lnSpc>
                <a:spcPct val="80000"/>
              </a:lnSpc>
              <a:spcBef>
                <a:spcPct val="0"/>
              </a:spcBef>
            </a:pPr>
            <a:r>
              <a:rPr lang="en-US" altLang="zh-CN" sz="1600" dirty="0"/>
              <a:t>    </a:t>
            </a:r>
            <a:r>
              <a:rPr lang="en-US" altLang="zh-CN" sz="1600" dirty="0" err="1"/>
              <a:t>reg</a:t>
            </a:r>
            <a:r>
              <a:rPr lang="en-US" altLang="zh-CN" sz="1600" dirty="0"/>
              <a:t> </a:t>
            </a:r>
            <a:r>
              <a:rPr lang="en-US" altLang="zh-CN" sz="1600" dirty="0" err="1"/>
              <a:t>zo</a:t>
            </a:r>
            <a:r>
              <a:rPr lang="en-US" altLang="zh-CN" sz="1600" dirty="0"/>
              <a:t>;</a:t>
            </a:r>
          </a:p>
          <a:p>
            <a:pPr algn="l">
              <a:lnSpc>
                <a:spcPct val="80000"/>
              </a:lnSpc>
              <a:spcBef>
                <a:spcPct val="0"/>
              </a:spcBef>
            </a:pPr>
            <a:r>
              <a:rPr lang="en-US" altLang="zh-CN" sz="1600" dirty="0">
                <a:ea typeface="黑体" panose="02010609060101010101" pitchFamily="49" charset="-122"/>
              </a:rPr>
              <a:t>    always @(</a:t>
            </a:r>
            <a:r>
              <a:rPr lang="en-US" altLang="zh-CN" sz="1600" dirty="0" err="1">
                <a:ea typeface="黑体" panose="02010609060101010101" pitchFamily="49" charset="-122"/>
              </a:rPr>
              <a:t>posedge</a:t>
            </a:r>
            <a:r>
              <a:rPr lang="en-US" altLang="zh-CN" sz="1600" dirty="0">
                <a:ea typeface="黑体" panose="02010609060101010101" pitchFamily="49" charset="-122"/>
              </a:rPr>
              <a:t> </a:t>
            </a:r>
            <a:r>
              <a:rPr lang="en-US" altLang="zh-CN" sz="1600" dirty="0" err="1">
                <a:ea typeface="黑体" panose="02010609060101010101" pitchFamily="49" charset="-122"/>
              </a:rPr>
              <a:t>clk</a:t>
            </a:r>
            <a:r>
              <a:rPr lang="en-US" altLang="zh-CN" sz="1600" dirty="0">
                <a:ea typeface="黑体" panose="02010609060101010101" pitchFamily="49" charset="-122"/>
              </a:rPr>
              <a:t> or </a:t>
            </a:r>
            <a:r>
              <a:rPr lang="en-US" altLang="zh-CN" sz="1600" dirty="0" err="1">
                <a:ea typeface="黑体" panose="02010609060101010101" pitchFamily="49" charset="-122"/>
              </a:rPr>
              <a:t>posedge</a:t>
            </a:r>
            <a:r>
              <a:rPr lang="en-US" altLang="zh-CN" sz="1600" dirty="0">
                <a:ea typeface="黑体" panose="02010609060101010101" pitchFamily="49" charset="-122"/>
              </a:rPr>
              <a:t> </a:t>
            </a:r>
            <a:r>
              <a:rPr lang="en-US" altLang="zh-CN" sz="1600" dirty="0" err="1">
                <a:ea typeface="黑体" panose="02010609060101010101" pitchFamily="49" charset="-122"/>
              </a:rPr>
              <a:t>clr</a:t>
            </a:r>
            <a:r>
              <a:rPr lang="en-US" altLang="zh-CN" sz="1600" dirty="0">
                <a:ea typeface="黑体" panose="02010609060101010101" pitchFamily="49" charset="-122"/>
              </a:rPr>
              <a:t>)</a:t>
            </a:r>
          </a:p>
          <a:p>
            <a:pPr algn="l">
              <a:lnSpc>
                <a:spcPct val="80000"/>
              </a:lnSpc>
              <a:spcBef>
                <a:spcPct val="0"/>
              </a:spcBef>
            </a:pPr>
            <a:r>
              <a:rPr lang="en-US" altLang="zh-CN" sz="1600" dirty="0">
                <a:ea typeface="黑体" panose="02010609060101010101" pitchFamily="49" charset="-122"/>
              </a:rPr>
              <a:t>       begin</a:t>
            </a:r>
          </a:p>
          <a:p>
            <a:pPr algn="l">
              <a:lnSpc>
                <a:spcPct val="80000"/>
              </a:lnSpc>
              <a:spcBef>
                <a:spcPct val="0"/>
              </a:spcBef>
            </a:pPr>
            <a:r>
              <a:rPr lang="en-US" altLang="zh-CN" sz="1600" dirty="0">
                <a:ea typeface="黑体" panose="02010609060101010101" pitchFamily="49" charset="-122"/>
              </a:rPr>
              <a:t>           if (</a:t>
            </a:r>
            <a:r>
              <a:rPr lang="en-US" altLang="zh-CN" sz="1600" dirty="0" err="1">
                <a:ea typeface="黑体" panose="02010609060101010101" pitchFamily="49" charset="-122"/>
              </a:rPr>
              <a:t>clr</a:t>
            </a:r>
            <a:r>
              <a:rPr lang="en-US" altLang="zh-CN" sz="1600" dirty="0">
                <a:ea typeface="黑体" panose="02010609060101010101" pitchFamily="49" charset="-122"/>
              </a:rPr>
              <a:t>) </a:t>
            </a:r>
            <a:r>
              <a:rPr lang="en-US" altLang="zh-CN" sz="1600" dirty="0"/>
              <a:t>state=S0;</a:t>
            </a:r>
            <a:r>
              <a:rPr lang="en-US" altLang="zh-CN" sz="1600" dirty="0">
                <a:ea typeface="黑体" panose="02010609060101010101" pitchFamily="49" charset="-122"/>
              </a:rPr>
              <a:t> //</a:t>
            </a:r>
            <a:r>
              <a:rPr lang="zh-CN" altLang="en-US" sz="1600" dirty="0">
                <a:solidFill>
                  <a:srgbClr val="FF0066"/>
                </a:solidFill>
                <a:latin typeface="Arial" panose="020B0604020202020204" pitchFamily="34" charset="0"/>
                <a:ea typeface="楷体_GB2312" pitchFamily="49" charset="-122"/>
              </a:rPr>
              <a:t>（</a:t>
            </a:r>
            <a:r>
              <a:rPr lang="en-US" altLang="zh-CN" sz="1600" dirty="0">
                <a:solidFill>
                  <a:srgbClr val="FF0066"/>
                </a:solidFill>
                <a:latin typeface="Arial" panose="020B0604020202020204" pitchFamily="34" charset="0"/>
                <a:ea typeface="楷体_GB2312" pitchFamily="49" charset="-122"/>
              </a:rPr>
              <a:t>1</a:t>
            </a:r>
            <a:r>
              <a:rPr lang="zh-CN" altLang="en-US" sz="1600" dirty="0">
                <a:solidFill>
                  <a:srgbClr val="FF0066"/>
                </a:solidFill>
                <a:latin typeface="Arial" panose="020B0604020202020204" pitchFamily="34" charset="0"/>
                <a:ea typeface="楷体_GB2312" pitchFamily="49" charset="-122"/>
              </a:rPr>
              <a:t>）</a:t>
            </a:r>
            <a:r>
              <a:rPr lang="zh-CN" altLang="en-US" sz="1600" dirty="0">
                <a:solidFill>
                  <a:srgbClr val="FF0066"/>
                </a:solidFill>
                <a:latin typeface="楷体_GB2312" pitchFamily="49" charset="-122"/>
                <a:ea typeface="楷体_GB2312" pitchFamily="49" charset="-122"/>
              </a:rPr>
              <a:t>复位时回到初始状态</a:t>
            </a:r>
          </a:p>
          <a:p>
            <a:pPr algn="l">
              <a:lnSpc>
                <a:spcPct val="80000"/>
              </a:lnSpc>
              <a:spcBef>
                <a:spcPct val="0"/>
              </a:spcBef>
            </a:pPr>
            <a:r>
              <a:rPr lang="zh-CN" altLang="en-US" sz="1600" dirty="0">
                <a:ea typeface="黑体" panose="02010609060101010101" pitchFamily="49" charset="-122"/>
              </a:rPr>
              <a:t>           </a:t>
            </a:r>
            <a:r>
              <a:rPr lang="en-US" altLang="zh-CN" sz="1600" dirty="0">
                <a:ea typeface="黑体" panose="02010609060101010101" pitchFamily="49" charset="-122"/>
              </a:rPr>
              <a:t>else</a:t>
            </a:r>
          </a:p>
          <a:p>
            <a:pPr algn="l">
              <a:lnSpc>
                <a:spcPct val="80000"/>
              </a:lnSpc>
              <a:spcBef>
                <a:spcPct val="0"/>
              </a:spcBef>
            </a:pPr>
            <a:r>
              <a:rPr lang="en-US" altLang="zh-CN" sz="1600" dirty="0">
                <a:ea typeface="黑体" panose="02010609060101010101" pitchFamily="49" charset="-122"/>
              </a:rPr>
              <a:t>              begin</a:t>
            </a:r>
          </a:p>
          <a:p>
            <a:pPr algn="l">
              <a:lnSpc>
                <a:spcPct val="80000"/>
              </a:lnSpc>
              <a:spcBef>
                <a:spcPct val="0"/>
              </a:spcBef>
            </a:pPr>
            <a:r>
              <a:rPr lang="en-US" altLang="zh-CN" sz="1600" dirty="0">
                <a:ea typeface="黑体" panose="02010609060101010101" pitchFamily="49" charset="-122"/>
              </a:rPr>
              <a:t>                  </a:t>
            </a:r>
            <a:r>
              <a:rPr lang="en-US" altLang="zh-CN" sz="1600" dirty="0">
                <a:solidFill>
                  <a:srgbClr val="FF0066"/>
                </a:solidFill>
                <a:ea typeface="黑体" panose="02010609060101010101" pitchFamily="49" charset="-122"/>
              </a:rPr>
              <a:t>case (state)// </a:t>
            </a:r>
            <a:r>
              <a:rPr lang="zh-CN" altLang="en-US" sz="1600" dirty="0">
                <a:solidFill>
                  <a:srgbClr val="FF0066"/>
                </a:solidFill>
                <a:latin typeface="Arial" panose="020B0604020202020204" pitchFamily="34" charset="0"/>
                <a:ea typeface="楷体_GB2312" pitchFamily="49" charset="-122"/>
              </a:rPr>
              <a:t>（</a:t>
            </a:r>
            <a:r>
              <a:rPr lang="en-US" altLang="zh-CN" sz="1600" dirty="0">
                <a:solidFill>
                  <a:srgbClr val="FF0066"/>
                </a:solidFill>
                <a:latin typeface="Arial" panose="020B0604020202020204" pitchFamily="34" charset="0"/>
                <a:ea typeface="楷体_GB2312" pitchFamily="49" charset="-122"/>
              </a:rPr>
              <a:t>2</a:t>
            </a:r>
            <a:r>
              <a:rPr lang="zh-CN" altLang="en-US" sz="1600" dirty="0">
                <a:solidFill>
                  <a:srgbClr val="FF0066"/>
                </a:solidFill>
                <a:latin typeface="Arial" panose="020B0604020202020204" pitchFamily="34" charset="0"/>
                <a:ea typeface="楷体_GB2312" pitchFamily="49" charset="-122"/>
              </a:rPr>
              <a:t>）</a:t>
            </a:r>
            <a:r>
              <a:rPr lang="zh-CN" altLang="en-US" sz="1600" dirty="0">
                <a:solidFill>
                  <a:srgbClr val="FF0066"/>
                </a:solidFill>
                <a:latin typeface="楷体_GB2312" pitchFamily="49" charset="-122"/>
                <a:ea typeface="楷体_GB2312" pitchFamily="49" charset="-122"/>
              </a:rPr>
              <a:t>状态的转移</a:t>
            </a:r>
            <a:endParaRPr lang="en-US" altLang="zh-CN" sz="1600" dirty="0">
              <a:solidFill>
                <a:srgbClr val="FF0066"/>
              </a:solidFill>
              <a:latin typeface="楷体_GB2312" pitchFamily="49" charset="-122"/>
              <a:ea typeface="楷体_GB2312" pitchFamily="49" charset="-122"/>
            </a:endParaRPr>
          </a:p>
          <a:p>
            <a:pPr algn="l">
              <a:lnSpc>
                <a:spcPct val="80000"/>
              </a:lnSpc>
              <a:spcBef>
                <a:spcPct val="0"/>
              </a:spcBef>
            </a:pPr>
            <a:r>
              <a:rPr lang="en-US" altLang="zh-CN" sz="1600" dirty="0"/>
              <a:t>	    </a:t>
            </a:r>
            <a:r>
              <a:rPr lang="en-US" altLang="zh-CN" sz="1600" dirty="0">
                <a:solidFill>
                  <a:srgbClr val="FF0066"/>
                </a:solidFill>
              </a:rPr>
              <a:t>S0</a:t>
            </a:r>
            <a:r>
              <a:rPr lang="en-US" altLang="zh-CN" sz="1600" dirty="0"/>
              <a:t>: if (data==1’b1) state=S1;</a:t>
            </a:r>
          </a:p>
          <a:p>
            <a:pPr algn="l">
              <a:lnSpc>
                <a:spcPct val="80000"/>
              </a:lnSpc>
              <a:spcBef>
                <a:spcPct val="0"/>
              </a:spcBef>
            </a:pPr>
            <a:r>
              <a:rPr lang="en-US" altLang="zh-CN" sz="1600" dirty="0"/>
              <a:t>                             else state=S0; </a:t>
            </a:r>
          </a:p>
          <a:p>
            <a:pPr algn="l">
              <a:lnSpc>
                <a:spcPct val="80000"/>
              </a:lnSpc>
              <a:spcBef>
                <a:spcPct val="0"/>
              </a:spcBef>
            </a:pPr>
            <a:r>
              <a:rPr lang="en-US" altLang="zh-CN" sz="1600" dirty="0"/>
              <a:t>                      </a:t>
            </a:r>
            <a:r>
              <a:rPr lang="en-US" altLang="zh-CN" sz="1600" dirty="0">
                <a:solidFill>
                  <a:srgbClr val="FF0066"/>
                </a:solidFill>
              </a:rPr>
              <a:t>S1</a:t>
            </a:r>
            <a:r>
              <a:rPr lang="en-US" altLang="zh-CN" sz="1600" dirty="0"/>
              <a:t>: if (data==1’b1) state=S2;</a:t>
            </a:r>
          </a:p>
          <a:p>
            <a:pPr algn="l">
              <a:lnSpc>
                <a:spcPct val="80000"/>
              </a:lnSpc>
              <a:spcBef>
                <a:spcPct val="0"/>
              </a:spcBef>
            </a:pPr>
            <a:r>
              <a:rPr lang="en-US" altLang="zh-CN" sz="1600" dirty="0"/>
              <a:t>                             else state=S0;</a:t>
            </a:r>
          </a:p>
          <a:p>
            <a:pPr algn="l">
              <a:lnSpc>
                <a:spcPct val="80000"/>
              </a:lnSpc>
              <a:spcBef>
                <a:spcPct val="0"/>
              </a:spcBef>
            </a:pPr>
            <a:r>
              <a:rPr lang="en-US" altLang="zh-CN" sz="1600" dirty="0"/>
              <a:t>	    </a:t>
            </a:r>
            <a:r>
              <a:rPr lang="en-US" altLang="zh-CN" sz="1600" dirty="0">
                <a:solidFill>
                  <a:srgbClr val="FF0066"/>
                </a:solidFill>
              </a:rPr>
              <a:t>S2</a:t>
            </a:r>
            <a:r>
              <a:rPr lang="en-US" altLang="zh-CN" sz="1600" dirty="0"/>
              <a:t>: if (data==1’b0) state=S3;</a:t>
            </a:r>
          </a:p>
          <a:p>
            <a:pPr algn="l">
              <a:lnSpc>
                <a:spcPct val="80000"/>
              </a:lnSpc>
              <a:spcBef>
                <a:spcPct val="0"/>
              </a:spcBef>
            </a:pPr>
            <a:r>
              <a:rPr lang="en-US" altLang="zh-CN" sz="1600" dirty="0"/>
              <a:t>                             else state=S2;</a:t>
            </a:r>
          </a:p>
          <a:p>
            <a:pPr algn="l">
              <a:lnSpc>
                <a:spcPct val="80000"/>
              </a:lnSpc>
              <a:spcBef>
                <a:spcPct val="0"/>
              </a:spcBef>
            </a:pPr>
            <a:r>
              <a:rPr lang="en-US" altLang="zh-CN" sz="1600" dirty="0"/>
              <a:t>                      </a:t>
            </a:r>
            <a:r>
              <a:rPr lang="en-US" altLang="zh-CN" sz="1600" dirty="0">
                <a:solidFill>
                  <a:srgbClr val="FF0066"/>
                </a:solidFill>
              </a:rPr>
              <a:t>S3</a:t>
            </a:r>
            <a:r>
              <a:rPr lang="en-US" altLang="zh-CN" sz="1600" dirty="0"/>
              <a:t>: if (data==1’b1) state=S4; </a:t>
            </a:r>
          </a:p>
          <a:p>
            <a:pPr algn="l">
              <a:lnSpc>
                <a:spcPct val="80000"/>
              </a:lnSpc>
              <a:spcBef>
                <a:spcPct val="0"/>
              </a:spcBef>
            </a:pPr>
            <a:r>
              <a:rPr lang="en-US" altLang="zh-CN" sz="1600" dirty="0"/>
              <a:t>                            else state=S0; </a:t>
            </a:r>
          </a:p>
          <a:p>
            <a:pPr algn="l">
              <a:lnSpc>
                <a:spcPct val="80000"/>
              </a:lnSpc>
              <a:spcBef>
                <a:spcPct val="0"/>
              </a:spcBef>
            </a:pPr>
            <a:r>
              <a:rPr lang="en-US" altLang="zh-CN" sz="1600" dirty="0"/>
              <a:t>	    </a:t>
            </a:r>
            <a:r>
              <a:rPr lang="en-US" altLang="zh-CN" sz="1600" dirty="0">
                <a:solidFill>
                  <a:srgbClr val="FF0066"/>
                </a:solidFill>
              </a:rPr>
              <a:t>S4</a:t>
            </a:r>
            <a:r>
              <a:rPr lang="en-US" altLang="zh-CN" sz="1600" dirty="0"/>
              <a:t>: if (data==1’b1) </a:t>
            </a:r>
            <a:r>
              <a:rPr lang="en-US" altLang="zh-CN" sz="1600" dirty="0" smtClean="0"/>
              <a:t>state=S1; </a:t>
            </a:r>
            <a:endParaRPr lang="en-US" altLang="zh-CN" sz="1600" dirty="0"/>
          </a:p>
          <a:p>
            <a:pPr algn="l">
              <a:lnSpc>
                <a:spcPct val="80000"/>
              </a:lnSpc>
              <a:spcBef>
                <a:spcPct val="0"/>
              </a:spcBef>
            </a:pPr>
            <a:r>
              <a:rPr lang="en-US" altLang="zh-CN" sz="1600" dirty="0"/>
              <a:t>                            else state=S0;</a:t>
            </a:r>
          </a:p>
          <a:p>
            <a:pPr algn="l">
              <a:lnSpc>
                <a:spcPct val="80000"/>
              </a:lnSpc>
              <a:spcBef>
                <a:spcPct val="0"/>
              </a:spcBef>
            </a:pPr>
            <a:r>
              <a:rPr lang="en-US" altLang="zh-CN" sz="1600" dirty="0"/>
              <a:t>                      </a:t>
            </a:r>
            <a:r>
              <a:rPr lang="en-US" altLang="zh-CN" sz="1600" dirty="0">
                <a:solidFill>
                  <a:srgbClr val="FF0066"/>
                </a:solidFill>
              </a:rPr>
              <a:t>default</a:t>
            </a:r>
            <a:r>
              <a:rPr lang="en-US" altLang="zh-CN" sz="1600" dirty="0"/>
              <a:t>: state=S0;</a:t>
            </a:r>
          </a:p>
          <a:p>
            <a:pPr algn="l">
              <a:lnSpc>
                <a:spcPct val="80000"/>
              </a:lnSpc>
              <a:spcBef>
                <a:spcPct val="0"/>
              </a:spcBef>
            </a:pPr>
            <a:r>
              <a:rPr lang="en-US" altLang="zh-CN" sz="1600" dirty="0"/>
              <a:t>                  </a:t>
            </a:r>
            <a:r>
              <a:rPr lang="en-US" altLang="zh-CN" sz="1600" dirty="0" err="1">
                <a:solidFill>
                  <a:srgbClr val="FF0066"/>
                </a:solidFill>
                <a:ea typeface="黑体" panose="02010609060101010101" pitchFamily="49" charset="-122"/>
              </a:rPr>
              <a:t>endcase</a:t>
            </a:r>
            <a:endParaRPr lang="en-US" altLang="zh-CN" sz="1600" dirty="0">
              <a:solidFill>
                <a:srgbClr val="FF0066"/>
              </a:solidFill>
              <a:ea typeface="黑体" panose="02010609060101010101" pitchFamily="49" charset="-122"/>
            </a:endParaRPr>
          </a:p>
          <a:p>
            <a:pPr algn="l">
              <a:lnSpc>
                <a:spcPct val="80000"/>
              </a:lnSpc>
              <a:spcBef>
                <a:spcPct val="0"/>
              </a:spcBef>
            </a:pPr>
            <a:r>
              <a:rPr lang="en-US" altLang="zh-CN" sz="1600" dirty="0"/>
              <a:t>                  </a:t>
            </a:r>
            <a:r>
              <a:rPr lang="en-US" altLang="zh-CN" sz="1600" dirty="0" err="1">
                <a:solidFill>
                  <a:srgbClr val="FF0000"/>
                </a:solidFill>
              </a:rPr>
              <a:t>zo</a:t>
            </a:r>
            <a:r>
              <a:rPr lang="en-US" altLang="zh-CN" sz="1600" dirty="0">
                <a:solidFill>
                  <a:srgbClr val="FF0000"/>
                </a:solidFill>
              </a:rPr>
              <a:t>=(state==S4)?1’b1:1’b0;</a:t>
            </a:r>
            <a:r>
              <a:rPr lang="en-US" altLang="zh-CN" sz="1600" dirty="0"/>
              <a:t>  </a:t>
            </a:r>
            <a:r>
              <a:rPr lang="en-US" altLang="zh-CN" sz="1600" dirty="0">
                <a:solidFill>
                  <a:srgbClr val="FF0066"/>
                </a:solidFill>
                <a:latin typeface="楷体_GB2312" pitchFamily="49" charset="-122"/>
                <a:ea typeface="楷体_GB2312" pitchFamily="49" charset="-122"/>
              </a:rPr>
              <a:t>//</a:t>
            </a:r>
            <a:r>
              <a:rPr lang="zh-CN" altLang="en-US" sz="1600" dirty="0">
                <a:solidFill>
                  <a:srgbClr val="FF0066"/>
                </a:solidFill>
                <a:latin typeface="Arial" panose="020B0604020202020204" pitchFamily="34" charset="0"/>
                <a:ea typeface="楷体_GB2312" pitchFamily="49" charset="-122"/>
              </a:rPr>
              <a:t>（</a:t>
            </a:r>
            <a:r>
              <a:rPr lang="en-US" altLang="zh-CN" sz="1600" dirty="0">
                <a:solidFill>
                  <a:srgbClr val="FF0066"/>
                </a:solidFill>
                <a:latin typeface="Arial" panose="020B0604020202020204" pitchFamily="34" charset="0"/>
                <a:ea typeface="楷体_GB2312" pitchFamily="49" charset="-122"/>
              </a:rPr>
              <a:t>3</a:t>
            </a:r>
            <a:r>
              <a:rPr lang="zh-CN" altLang="en-US" sz="1600" dirty="0">
                <a:solidFill>
                  <a:srgbClr val="FF0066"/>
                </a:solidFill>
                <a:latin typeface="Arial" panose="020B0604020202020204" pitchFamily="34" charset="0"/>
                <a:ea typeface="楷体_GB2312" pitchFamily="49" charset="-122"/>
              </a:rPr>
              <a:t>）</a:t>
            </a:r>
            <a:r>
              <a:rPr lang="zh-CN" altLang="en-US" sz="1600" dirty="0">
                <a:solidFill>
                  <a:srgbClr val="FF0066"/>
                </a:solidFill>
                <a:latin typeface="楷体_GB2312" pitchFamily="49" charset="-122"/>
                <a:ea typeface="楷体_GB2312" pitchFamily="49" charset="-122"/>
              </a:rPr>
              <a:t>状态机的输出信号</a:t>
            </a:r>
          </a:p>
          <a:p>
            <a:pPr algn="l">
              <a:lnSpc>
                <a:spcPct val="80000"/>
              </a:lnSpc>
              <a:spcBef>
                <a:spcPct val="0"/>
              </a:spcBef>
            </a:pPr>
            <a:r>
              <a:rPr lang="en-US" altLang="zh-CN" sz="1600" dirty="0"/>
              <a:t>              end</a:t>
            </a:r>
          </a:p>
          <a:p>
            <a:pPr algn="l">
              <a:lnSpc>
                <a:spcPct val="80000"/>
              </a:lnSpc>
              <a:spcBef>
                <a:spcPct val="0"/>
              </a:spcBef>
            </a:pPr>
            <a:r>
              <a:rPr lang="en-US" altLang="zh-CN" sz="1600" dirty="0"/>
              <a:t>      end</a:t>
            </a:r>
          </a:p>
          <a:p>
            <a:pPr algn="l">
              <a:lnSpc>
                <a:spcPct val="80000"/>
              </a:lnSpc>
              <a:spcBef>
                <a:spcPct val="0"/>
              </a:spcBef>
            </a:pPr>
            <a:r>
              <a:rPr lang="en-US" altLang="zh-CN" sz="1600" dirty="0" err="1"/>
              <a:t>endmodule</a:t>
            </a:r>
            <a:endParaRPr lang="en-US" altLang="zh-CN" sz="1600" dirty="0"/>
          </a:p>
        </p:txBody>
      </p:sp>
      <p:sp>
        <p:nvSpPr>
          <p:cNvPr id="72707" name="灯片编号占位符 2"/>
          <p:cNvSpPr>
            <a:spLocks noGrp="1"/>
          </p:cNvSpPr>
          <p:nvPr>
            <p:ph type="sldNum" sz="quarter" idx="12"/>
          </p:nvPr>
        </p:nvSpPr>
        <p:spPr>
          <a:noFill/>
        </p:spPr>
        <p:txBody>
          <a:bodyPr/>
          <a:lstStyle/>
          <a:p>
            <a:fld id="{5D9C1335-BE82-46EC-9497-A3FA4DB4D4D6}" type="slidenum">
              <a:rPr lang="ko-KR" altLang="en-US" smtClean="0"/>
              <a:t>61</a:t>
            </a:fld>
            <a:endParaRPr lang="en-US" altLang="ko-KR" smtClean="0"/>
          </a:p>
        </p:txBody>
      </p:sp>
      <p:sp>
        <p:nvSpPr>
          <p:cNvPr id="72708" name="Rectangle 5"/>
          <p:cNvSpPr>
            <a:spLocks noGrp="1" noChangeArrowheads="1"/>
          </p:cNvSpPr>
          <p:nvPr>
            <p:ph type="title" idx="4294967295"/>
          </p:nvPr>
        </p:nvSpPr>
        <p:spPr>
          <a:xfrm>
            <a:off x="325755" y="304800"/>
            <a:ext cx="10342245" cy="609600"/>
          </a:xfrm>
        </p:spPr>
        <p:txBody>
          <a:bodyPr>
            <a:normAutofit fontScale="90000"/>
          </a:bodyPr>
          <a:lstStyle/>
          <a:p>
            <a:r>
              <a:rPr lang="zh-CN" altLang="en-US" dirty="0" smtClean="0">
                <a:solidFill>
                  <a:schemeClr val="accent2"/>
                </a:solidFill>
                <a:latin typeface="Arial" panose="020B0604020202020204" pitchFamily="34" charset="0"/>
                <a:ea typeface="黑体" panose="02010609060101010101" pitchFamily="49" charset="-122"/>
              </a:rPr>
              <a:t>序列检测器源程序（ </a:t>
            </a:r>
            <a:r>
              <a:rPr lang="en-US" altLang="zh-CN" dirty="0" smtClean="0">
                <a:solidFill>
                  <a:schemeClr val="accent2"/>
                </a:solidFill>
                <a:latin typeface="Arial" panose="020B0604020202020204" pitchFamily="34" charset="0"/>
                <a:ea typeface="黑体" panose="02010609060101010101" pitchFamily="49" charset="-122"/>
              </a:rPr>
              <a:t>Moore</a:t>
            </a:r>
            <a:r>
              <a:rPr lang="zh-CN" altLang="en-US" dirty="0" smtClean="0">
                <a:solidFill>
                  <a:schemeClr val="accent2"/>
                </a:solidFill>
                <a:latin typeface="Arial" panose="020B0604020202020204" pitchFamily="34" charset="0"/>
                <a:ea typeface="黑体" panose="02010609060101010101" pitchFamily="49" charset="-122"/>
              </a:rPr>
              <a:t>型状态机）</a:t>
            </a:r>
          </a:p>
        </p:txBody>
      </p:sp>
      <p:sp>
        <p:nvSpPr>
          <p:cNvPr id="2200583" name="AutoShape 7"/>
          <p:cNvSpPr>
            <a:spLocks noChangeArrowheads="1"/>
          </p:cNvSpPr>
          <p:nvPr/>
        </p:nvSpPr>
        <p:spPr bwMode="auto">
          <a:xfrm>
            <a:off x="7113588" y="4610100"/>
            <a:ext cx="2227262" cy="1257300"/>
          </a:xfrm>
          <a:prstGeom prst="wedgeRoundRectCallout">
            <a:avLst>
              <a:gd name="adj1" fmla="val -100514"/>
              <a:gd name="adj2" fmla="val 54269"/>
              <a:gd name="adj3" fmla="val 16667"/>
            </a:avLst>
          </a:prstGeom>
          <a:solidFill>
            <a:srgbClr val="FFCC99"/>
          </a:solidFill>
          <a:ln w="9525">
            <a:solidFill>
              <a:srgbClr val="FF9966"/>
            </a:solidFill>
            <a:miter lim="800000"/>
          </a:ln>
          <a:effectLst>
            <a:prstShdw prst="shdw17" dist="17961" dir="2700000">
              <a:srgbClr val="99995C"/>
            </a:prstShdw>
          </a:effectLst>
        </p:spPr>
        <p:txBody>
          <a:bodyPr anchor="b"/>
          <a:lstStyle/>
          <a:p>
            <a:pPr algn="l">
              <a:lnSpc>
                <a:spcPct val="100000"/>
              </a:lnSpc>
              <a:spcBef>
                <a:spcPct val="0"/>
              </a:spcBef>
            </a:pPr>
            <a:r>
              <a:rPr lang="zh-CN" altLang="en-US" sz="1800">
                <a:latin typeface="Arial" panose="020B0604020202020204" pitchFamily="34" charset="0"/>
                <a:ea typeface="楷体_GB2312" pitchFamily="49" charset="-122"/>
              </a:rPr>
              <a:t>在</a:t>
            </a:r>
            <a:r>
              <a:rPr lang="en-US" altLang="zh-CN" sz="1800">
                <a:solidFill>
                  <a:srgbClr val="FF0066"/>
                </a:solidFill>
                <a:latin typeface="Arial" panose="020B0604020202020204" pitchFamily="34" charset="0"/>
                <a:ea typeface="楷体_GB2312" pitchFamily="49" charset="-122"/>
              </a:rPr>
              <a:t>S4</a:t>
            </a:r>
            <a:r>
              <a:rPr lang="zh-CN" altLang="en-US" sz="1800">
                <a:latin typeface="Arial" panose="020B0604020202020204" pitchFamily="34" charset="0"/>
                <a:ea typeface="楷体_GB2312" pitchFamily="49" charset="-122"/>
              </a:rPr>
              <a:t>时给</a:t>
            </a:r>
            <a:r>
              <a:rPr lang="en-US" altLang="zh-CN" sz="1800">
                <a:solidFill>
                  <a:srgbClr val="FF0066"/>
                </a:solidFill>
                <a:latin typeface="Arial" panose="020B0604020202020204" pitchFamily="34" charset="0"/>
                <a:ea typeface="楷体_GB2312" pitchFamily="49" charset="-122"/>
              </a:rPr>
              <a:t>zo</a:t>
            </a:r>
            <a:r>
              <a:rPr lang="zh-CN" altLang="en-US" sz="1800">
                <a:solidFill>
                  <a:srgbClr val="FF0066"/>
                </a:solidFill>
                <a:latin typeface="Arial" panose="020B0604020202020204" pitchFamily="34" charset="0"/>
                <a:ea typeface="楷体_GB2312" pitchFamily="49" charset="-122"/>
              </a:rPr>
              <a:t>置</a:t>
            </a:r>
            <a:r>
              <a:rPr lang="en-US" altLang="zh-CN" sz="1800">
                <a:solidFill>
                  <a:srgbClr val="FF0066"/>
                </a:solidFill>
                <a:latin typeface="Arial" panose="020B0604020202020204" pitchFamily="34" charset="0"/>
                <a:ea typeface="楷体_GB2312" pitchFamily="49" charset="-122"/>
              </a:rPr>
              <a:t>1</a:t>
            </a:r>
            <a:r>
              <a:rPr lang="en-US" altLang="zh-CN" sz="1800">
                <a:latin typeface="Arial" panose="020B0604020202020204" pitchFamily="34" charset="0"/>
                <a:ea typeface="楷体_GB2312" pitchFamily="49" charset="-122"/>
              </a:rPr>
              <a:t>——</a:t>
            </a:r>
            <a:r>
              <a:rPr lang="zh-CN" altLang="en-US" sz="1800">
                <a:latin typeface="Arial" panose="020B0604020202020204" pitchFamily="34" charset="0"/>
                <a:ea typeface="楷体_GB2312" pitchFamily="49" charset="-122"/>
              </a:rPr>
              <a:t>输出只为状态机当前状态的函数，而与外部输入无关</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00583"/>
                                        </p:tgtEl>
                                        <p:attrNameLst>
                                          <p:attrName>style.visibility</p:attrName>
                                        </p:attrNameLst>
                                      </p:cBhvr>
                                      <p:to>
                                        <p:strVal val="visible"/>
                                      </p:to>
                                    </p:set>
                                    <p:animEffect transition="in" filter="dissolve">
                                      <p:cBhvr>
                                        <p:cTn id="7" dur="500"/>
                                        <p:tgtEl>
                                          <p:spTgt spid="2200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0583" grpId="0" bldLvl="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2"/>
          <p:cNvSpPr>
            <a:spLocks noGrp="1"/>
          </p:cNvSpPr>
          <p:nvPr>
            <p:ph type="sldNum" sz="quarter" idx="12"/>
          </p:nvPr>
        </p:nvSpPr>
        <p:spPr>
          <a:noFill/>
        </p:spPr>
        <p:txBody>
          <a:bodyPr/>
          <a:lstStyle/>
          <a:p>
            <a:fld id="{9D24AB31-552A-4F67-902E-A3D29DAB8CE5}" type="slidenum">
              <a:rPr lang="ko-KR" altLang="en-US" smtClean="0"/>
              <a:t>62</a:t>
            </a:fld>
            <a:endParaRPr lang="en-US" altLang="ko-KR" smtClean="0"/>
          </a:p>
        </p:txBody>
      </p:sp>
      <p:sp>
        <p:nvSpPr>
          <p:cNvPr id="73731" name="Rectangle 5"/>
          <p:cNvSpPr>
            <a:spLocks noGrp="1" noChangeArrowheads="1"/>
          </p:cNvSpPr>
          <p:nvPr>
            <p:ph type="title" idx="4294967295"/>
          </p:nvPr>
        </p:nvSpPr>
        <p:spPr>
          <a:xfrm>
            <a:off x="3810000" y="304800"/>
            <a:ext cx="6858000" cy="609600"/>
          </a:xfrm>
        </p:spPr>
        <p:txBody>
          <a:bodyPr>
            <a:normAutofit fontScale="90000"/>
          </a:bodyPr>
          <a:lstStyle/>
          <a:p>
            <a:r>
              <a:rPr lang="zh-CN" altLang="en-US" dirty="0" smtClean="0">
                <a:solidFill>
                  <a:srgbClr val="FFCC00"/>
                </a:solidFill>
                <a:latin typeface="Arial" panose="020B0604020202020204" pitchFamily="34" charset="0"/>
                <a:ea typeface="黑体" panose="02010609060101010101" pitchFamily="49" charset="-122"/>
              </a:rPr>
              <a:t>状态机的输出信号描述 </a:t>
            </a:r>
          </a:p>
        </p:txBody>
      </p:sp>
      <p:sp>
        <p:nvSpPr>
          <p:cNvPr id="34" name="Rectangle 4"/>
          <p:cNvSpPr>
            <a:spLocks noChangeArrowheads="1"/>
          </p:cNvSpPr>
          <p:nvPr/>
        </p:nvSpPr>
        <p:spPr bwMode="auto">
          <a:xfrm>
            <a:off x="2609850" y="1244600"/>
            <a:ext cx="7029450" cy="4965700"/>
          </a:xfrm>
          <a:prstGeom prst="rect">
            <a:avLst/>
          </a:prstGeom>
          <a:solidFill>
            <a:srgbClr val="ECEA8E"/>
          </a:solidFill>
          <a:ln w="9525">
            <a:noFill/>
            <a:miter lim="800000"/>
          </a:ln>
          <a:effectLst>
            <a:prstShdw prst="shdw13" dist="53882" dir="13500000">
              <a:srgbClr val="1C1C1C"/>
            </a:prstShdw>
          </a:effectLst>
        </p:spPr>
        <p:txBody>
          <a:bodyPr anchor="ctr"/>
          <a:lstStyle/>
          <a:p>
            <a:pPr marL="352425" indent="-352425" algn="l">
              <a:lnSpc>
                <a:spcPct val="100000"/>
              </a:lnSpc>
              <a:spcBef>
                <a:spcPct val="0"/>
              </a:spcBef>
              <a:buClr>
                <a:srgbClr val="FF0000"/>
              </a:buClr>
              <a:buSzPct val="100000"/>
              <a:buFont typeface="Wingdings" panose="05000000000000000000" pitchFamily="2" charset="2"/>
              <a:buChar char="v"/>
            </a:pPr>
            <a:r>
              <a:rPr lang="zh-CN" altLang="en-US" dirty="0">
                <a:solidFill>
                  <a:srgbClr val="000000"/>
                </a:solidFill>
                <a:latin typeface="Arial" panose="020B0604020202020204" pitchFamily="34" charset="0"/>
                <a:ea typeface="楷体_GB2312" pitchFamily="49" charset="-122"/>
                <a:cs typeface="Arial" panose="020B0604020202020204" pitchFamily="34" charset="0"/>
              </a:rPr>
              <a:t>如果输出表达式很简单，可以单独用一条赋值语句写出</a:t>
            </a:r>
          </a:p>
          <a:p>
            <a:pPr marL="352425" indent="-352425" algn="l">
              <a:lnSpc>
                <a:spcPct val="100000"/>
              </a:lnSpc>
              <a:spcBef>
                <a:spcPct val="0"/>
              </a:spcBef>
              <a:buClr>
                <a:srgbClr val="FF0000"/>
              </a:buClr>
              <a:buSzPct val="100000"/>
              <a:buFont typeface="Wingdings" panose="05000000000000000000" pitchFamily="2" charset="2"/>
              <a:buChar char="v"/>
            </a:pPr>
            <a:r>
              <a:rPr lang="zh-CN" altLang="en-US" dirty="0">
                <a:solidFill>
                  <a:srgbClr val="CC0099"/>
                </a:solidFill>
                <a:latin typeface="Arial" panose="020B0604020202020204" pitchFamily="34" charset="0"/>
                <a:ea typeface="楷体_GB2312" pitchFamily="49" charset="-122"/>
                <a:cs typeface="Arial" panose="020B0604020202020204" pitchFamily="34" charset="0"/>
              </a:rPr>
              <a:t>最好将状态机的输出语句单独写</a:t>
            </a:r>
            <a:r>
              <a:rPr lang="zh-CN" altLang="en-US" dirty="0" smtClean="0">
                <a:solidFill>
                  <a:srgbClr val="CC0099"/>
                </a:solidFill>
                <a:latin typeface="Arial" panose="020B0604020202020204" pitchFamily="34" charset="0"/>
                <a:ea typeface="楷体_GB2312" pitchFamily="49" charset="-122"/>
                <a:cs typeface="Arial" panose="020B0604020202020204" pitchFamily="34" charset="0"/>
              </a:rPr>
              <a:t>在另一</a:t>
            </a:r>
            <a:r>
              <a:rPr lang="zh-CN" altLang="en-US" dirty="0">
                <a:solidFill>
                  <a:srgbClr val="CC0099"/>
                </a:solidFill>
                <a:latin typeface="Arial" panose="020B0604020202020204" pitchFamily="34" charset="0"/>
                <a:ea typeface="楷体_GB2312" pitchFamily="49" charset="-122"/>
                <a:cs typeface="Arial" panose="020B0604020202020204" pitchFamily="34" charset="0"/>
              </a:rPr>
              <a:t>个</a:t>
            </a:r>
            <a:r>
              <a:rPr lang="en-US" altLang="en-US" dirty="0">
                <a:solidFill>
                  <a:srgbClr val="CC0099"/>
                </a:solidFill>
                <a:latin typeface="Arial" panose="020B0604020202020204" pitchFamily="34" charset="0"/>
                <a:ea typeface="楷体_GB2312" pitchFamily="49" charset="-122"/>
                <a:cs typeface="Arial" panose="020B0604020202020204" pitchFamily="34" charset="0"/>
              </a:rPr>
              <a:t>always</a:t>
            </a:r>
            <a:r>
              <a:rPr lang="zh-CN" altLang="en-US" dirty="0">
                <a:solidFill>
                  <a:srgbClr val="CC0099"/>
                </a:solidFill>
                <a:latin typeface="Arial" panose="020B0604020202020204" pitchFamily="34" charset="0"/>
                <a:ea typeface="楷体_GB2312" pitchFamily="49" charset="-122"/>
                <a:cs typeface="Arial" panose="020B0604020202020204" pitchFamily="34" charset="0"/>
              </a:rPr>
              <a:t>块</a:t>
            </a:r>
            <a:r>
              <a:rPr lang="zh-CN" altLang="en-US" dirty="0" smtClean="0">
                <a:solidFill>
                  <a:srgbClr val="CC0099"/>
                </a:solidFill>
                <a:latin typeface="Arial" panose="020B0604020202020204" pitchFamily="34" charset="0"/>
                <a:ea typeface="楷体_GB2312" pitchFamily="49" charset="-122"/>
                <a:cs typeface="Arial" panose="020B0604020202020204" pitchFamily="34" charset="0"/>
              </a:rPr>
              <a:t>中（纯组合逻辑）</a:t>
            </a:r>
            <a:r>
              <a:rPr lang="zh-CN" altLang="en-US" dirty="0" smtClean="0">
                <a:solidFill>
                  <a:srgbClr val="000000"/>
                </a:solidFill>
                <a:latin typeface="Arial" panose="020B0604020202020204" pitchFamily="34" charset="0"/>
                <a:ea typeface="楷体_GB2312" pitchFamily="49" charset="-122"/>
                <a:cs typeface="Arial" panose="020B0604020202020204" pitchFamily="34" charset="0"/>
              </a:rPr>
              <a:t>，</a:t>
            </a:r>
            <a:r>
              <a:rPr lang="zh-CN" altLang="en-US" dirty="0">
                <a:solidFill>
                  <a:srgbClr val="000000"/>
                </a:solidFill>
                <a:latin typeface="Arial" panose="020B0604020202020204" pitchFamily="34" charset="0"/>
                <a:ea typeface="楷体_GB2312" pitchFamily="49" charset="-122"/>
                <a:cs typeface="Arial" panose="020B0604020202020204" pitchFamily="34" charset="0"/>
              </a:rPr>
              <a:t>这样逻辑清晰，不易出错：</a:t>
            </a:r>
            <a:endParaRPr lang="en-US" altLang="zh-CN" dirty="0">
              <a:solidFill>
                <a:srgbClr val="000000"/>
              </a:solidFill>
              <a:latin typeface="Arial" panose="020B0604020202020204" pitchFamily="34" charset="0"/>
              <a:ea typeface="楷体_GB2312" pitchFamily="49" charset="-122"/>
              <a:cs typeface="Arial" panose="020B0604020202020204" pitchFamily="34" charset="0"/>
            </a:endParaRPr>
          </a:p>
          <a:p>
            <a:pPr marL="352425" indent="-352425" algn="l">
              <a:lnSpc>
                <a:spcPct val="100000"/>
              </a:lnSpc>
              <a:spcBef>
                <a:spcPct val="0"/>
              </a:spcBef>
              <a:buClr>
                <a:srgbClr val="FF0000"/>
              </a:buClr>
              <a:buSzPct val="100000"/>
            </a:pPr>
            <a:r>
              <a:rPr lang="en-US" altLang="zh-CN" dirty="0">
                <a:solidFill>
                  <a:srgbClr val="000000"/>
                </a:solidFill>
                <a:latin typeface="Arial" panose="020B0604020202020204" pitchFamily="34" charset="0"/>
                <a:ea typeface="楷体_GB2312" pitchFamily="49" charset="-122"/>
                <a:cs typeface="Arial" panose="020B0604020202020204" pitchFamily="34" charset="0"/>
              </a:rPr>
              <a:t>      </a:t>
            </a:r>
            <a:r>
              <a:rPr lang="zh-CN" altLang="en-US" dirty="0">
                <a:solidFill>
                  <a:srgbClr val="000000"/>
                </a:solidFill>
                <a:latin typeface="Arial" panose="020B0604020202020204" pitchFamily="34" charset="0"/>
                <a:ea typeface="楷体_GB2312" pitchFamily="49" charset="-122"/>
                <a:cs typeface="Arial" panose="020B0604020202020204" pitchFamily="34" charset="0"/>
              </a:rPr>
              <a:t>语句“</a:t>
            </a:r>
            <a:r>
              <a:rPr lang="en-US" altLang="zh-CN" dirty="0" err="1">
                <a:solidFill>
                  <a:srgbClr val="FF0000"/>
                </a:solidFill>
                <a:latin typeface="Arial" panose="020B0604020202020204" pitchFamily="34" charset="0"/>
                <a:ea typeface="楷体_GB2312" pitchFamily="49" charset="-122"/>
                <a:cs typeface="Arial" panose="020B0604020202020204" pitchFamily="34" charset="0"/>
              </a:rPr>
              <a:t>zo</a:t>
            </a:r>
            <a:r>
              <a:rPr lang="en-US" altLang="zh-CN" dirty="0">
                <a:solidFill>
                  <a:srgbClr val="FF0000"/>
                </a:solidFill>
                <a:latin typeface="Arial" panose="020B0604020202020204" pitchFamily="34" charset="0"/>
                <a:ea typeface="楷体_GB2312" pitchFamily="49" charset="-122"/>
                <a:cs typeface="Arial" panose="020B0604020202020204" pitchFamily="34" charset="0"/>
              </a:rPr>
              <a:t>=(state==S4)?1’b1:1’b0;</a:t>
            </a:r>
            <a:r>
              <a:rPr lang="zh-CN" altLang="en-US" dirty="0">
                <a:solidFill>
                  <a:srgbClr val="000000"/>
                </a:solidFill>
                <a:latin typeface="Arial" panose="020B0604020202020204" pitchFamily="34" charset="0"/>
                <a:ea typeface="楷体_GB2312" pitchFamily="49" charset="-122"/>
                <a:cs typeface="Arial" panose="020B0604020202020204" pitchFamily="34" charset="0"/>
              </a:rPr>
              <a:t>”去掉，换成如下</a:t>
            </a:r>
            <a:r>
              <a:rPr lang="en-US" altLang="zh-CN" dirty="0">
                <a:solidFill>
                  <a:srgbClr val="000000"/>
                </a:solidFill>
                <a:latin typeface="Arial" panose="020B0604020202020204" pitchFamily="34" charset="0"/>
                <a:ea typeface="楷体_GB2312" pitchFamily="49" charset="-122"/>
                <a:cs typeface="Arial" panose="020B0604020202020204" pitchFamily="34" charset="0"/>
              </a:rPr>
              <a:t>always</a:t>
            </a:r>
            <a:r>
              <a:rPr lang="zh-CN" altLang="en-US" dirty="0">
                <a:solidFill>
                  <a:srgbClr val="000000"/>
                </a:solidFill>
                <a:latin typeface="Arial" panose="020B0604020202020204" pitchFamily="34" charset="0"/>
                <a:ea typeface="楷体_GB2312" pitchFamily="49" charset="-122"/>
                <a:cs typeface="Arial" panose="020B0604020202020204" pitchFamily="34" charset="0"/>
              </a:rPr>
              <a:t>块（组合逻辑），</a:t>
            </a:r>
            <a:r>
              <a:rPr lang="en-US" altLang="zh-CN" dirty="0">
                <a:solidFill>
                  <a:srgbClr val="000000"/>
                </a:solidFill>
                <a:latin typeface="Arial" panose="020B0604020202020204" pitchFamily="34" charset="0"/>
                <a:ea typeface="楷体_GB2312" pitchFamily="49" charset="-122"/>
                <a:cs typeface="Arial" panose="020B0604020202020204" pitchFamily="34" charset="0"/>
              </a:rPr>
              <a:t> </a:t>
            </a:r>
            <a:r>
              <a:rPr lang="en-US" altLang="zh-CN" dirty="0" err="1">
                <a:solidFill>
                  <a:srgbClr val="000000"/>
                </a:solidFill>
                <a:latin typeface="Arial" panose="020B0604020202020204" pitchFamily="34" charset="0"/>
                <a:ea typeface="楷体_GB2312" pitchFamily="49" charset="-122"/>
                <a:cs typeface="Arial" panose="020B0604020202020204" pitchFamily="34" charset="0"/>
              </a:rPr>
              <a:t>monitor_good.v</a:t>
            </a:r>
            <a:r>
              <a:rPr lang="en-US" altLang="zh-CN" dirty="0">
                <a:solidFill>
                  <a:srgbClr val="000000"/>
                </a:solidFill>
                <a:latin typeface="Arial" panose="020B0604020202020204" pitchFamily="34" charset="0"/>
                <a:ea typeface="楷体_GB2312" pitchFamily="49" charset="-122"/>
                <a:cs typeface="Arial" panose="020B0604020202020204" pitchFamily="34" charset="0"/>
              </a:rPr>
              <a:t> </a:t>
            </a:r>
            <a:r>
              <a:rPr lang="zh-CN" altLang="en-US" dirty="0">
                <a:solidFill>
                  <a:srgbClr val="000000"/>
                </a:solidFill>
                <a:latin typeface="Arial" panose="020B0604020202020204" pitchFamily="34" charset="0"/>
                <a:ea typeface="楷体_GB2312" pitchFamily="49" charset="-122"/>
                <a:cs typeface="Arial" panose="020B0604020202020204" pitchFamily="34" charset="0"/>
              </a:rPr>
              <a:t>：</a:t>
            </a:r>
            <a:endParaRPr lang="en-US" altLang="zh-CN" dirty="0">
              <a:solidFill>
                <a:srgbClr val="000000"/>
              </a:solidFill>
              <a:latin typeface="Arial" panose="020B0604020202020204" pitchFamily="34" charset="0"/>
              <a:ea typeface="楷体_GB2312" pitchFamily="49" charset="-122"/>
              <a:cs typeface="Arial" panose="020B0604020202020204" pitchFamily="34" charset="0"/>
            </a:endParaRPr>
          </a:p>
          <a:p>
            <a:pPr marL="352425" indent="-352425" algn="l">
              <a:lnSpc>
                <a:spcPct val="100000"/>
              </a:lnSpc>
              <a:spcBef>
                <a:spcPct val="0"/>
              </a:spcBef>
            </a:pPr>
            <a:r>
              <a:rPr lang="en-US" altLang="zh-CN" dirty="0">
                <a:solidFill>
                  <a:srgbClr val="FF0066"/>
                </a:solidFill>
                <a:latin typeface="Arial" panose="020B0604020202020204" pitchFamily="34" charset="0"/>
                <a:ea typeface="楷体_GB2312" pitchFamily="49" charset="-122"/>
                <a:cs typeface="Arial" panose="020B0604020202020204" pitchFamily="34" charset="0"/>
              </a:rPr>
              <a:t>      </a:t>
            </a:r>
            <a:r>
              <a:rPr lang="en-US" altLang="zh-CN" dirty="0">
                <a:latin typeface="Arial" panose="020B0604020202020204" pitchFamily="34" charset="0"/>
                <a:ea typeface="楷体_GB2312" pitchFamily="49" charset="-122"/>
                <a:cs typeface="Arial" panose="020B0604020202020204" pitchFamily="34" charset="0"/>
              </a:rPr>
              <a:t>always @(state)       //</a:t>
            </a:r>
            <a:r>
              <a:rPr lang="zh-CN" altLang="en-US" dirty="0">
                <a:latin typeface="Arial" panose="020B0604020202020204" pitchFamily="34" charset="0"/>
                <a:ea typeface="楷体_GB2312" pitchFamily="49" charset="-122"/>
                <a:cs typeface="Arial" panose="020B0604020202020204" pitchFamily="34" charset="0"/>
              </a:rPr>
              <a:t>（</a:t>
            </a:r>
            <a:r>
              <a:rPr lang="en-US" altLang="zh-CN" dirty="0">
                <a:latin typeface="Arial" panose="020B0604020202020204" pitchFamily="34" charset="0"/>
                <a:ea typeface="楷体_GB2312" pitchFamily="49" charset="-122"/>
                <a:cs typeface="Arial" panose="020B0604020202020204" pitchFamily="34" charset="0"/>
              </a:rPr>
              <a:t>3</a:t>
            </a:r>
            <a:r>
              <a:rPr lang="zh-CN" altLang="en-US" dirty="0">
                <a:latin typeface="Arial" panose="020B0604020202020204" pitchFamily="34" charset="0"/>
                <a:ea typeface="楷体_GB2312" pitchFamily="49" charset="-122"/>
                <a:cs typeface="Arial" panose="020B0604020202020204" pitchFamily="34" charset="0"/>
              </a:rPr>
              <a:t>）状态机的输出信号</a:t>
            </a:r>
          </a:p>
          <a:p>
            <a:pPr marL="352425" indent="-352425" algn="l">
              <a:lnSpc>
                <a:spcPct val="100000"/>
              </a:lnSpc>
              <a:spcBef>
                <a:spcPct val="0"/>
              </a:spcBef>
            </a:pPr>
            <a:r>
              <a:rPr lang="zh-CN" altLang="en-US" dirty="0">
                <a:latin typeface="Arial" panose="020B0604020202020204" pitchFamily="34" charset="0"/>
                <a:ea typeface="楷体_GB2312" pitchFamily="49" charset="-122"/>
                <a:cs typeface="Arial" panose="020B0604020202020204" pitchFamily="34" charset="0"/>
              </a:rPr>
              <a:t>          </a:t>
            </a:r>
            <a:r>
              <a:rPr lang="en-US" altLang="zh-CN" dirty="0">
                <a:latin typeface="Arial" panose="020B0604020202020204" pitchFamily="34" charset="0"/>
                <a:ea typeface="楷体_GB2312" pitchFamily="49" charset="-122"/>
                <a:cs typeface="Arial" panose="020B0604020202020204" pitchFamily="34" charset="0"/>
              </a:rPr>
              <a:t>begin</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case (state)    </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S0:  </a:t>
            </a:r>
            <a:r>
              <a:rPr lang="en-US" altLang="zh-CN" dirty="0" err="1">
                <a:latin typeface="Arial" panose="020B0604020202020204" pitchFamily="34" charset="0"/>
                <a:ea typeface="楷体_GB2312" pitchFamily="49" charset="-122"/>
                <a:cs typeface="Arial" panose="020B0604020202020204" pitchFamily="34" charset="0"/>
              </a:rPr>
              <a:t>zo</a:t>
            </a:r>
            <a:r>
              <a:rPr lang="en-US" altLang="zh-CN" dirty="0">
                <a:latin typeface="Arial" panose="020B0604020202020204" pitchFamily="34" charset="0"/>
                <a:ea typeface="楷体_GB2312" pitchFamily="49" charset="-122"/>
                <a:cs typeface="Arial" panose="020B0604020202020204" pitchFamily="34" charset="0"/>
              </a:rPr>
              <a:t>=1'b0; </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S1:  </a:t>
            </a:r>
            <a:r>
              <a:rPr lang="en-US" altLang="zh-CN" dirty="0" err="1">
                <a:latin typeface="Arial" panose="020B0604020202020204" pitchFamily="34" charset="0"/>
                <a:ea typeface="楷体_GB2312" pitchFamily="49" charset="-122"/>
                <a:cs typeface="Arial" panose="020B0604020202020204" pitchFamily="34" charset="0"/>
              </a:rPr>
              <a:t>zo</a:t>
            </a:r>
            <a:r>
              <a:rPr lang="en-US" altLang="zh-CN" dirty="0">
                <a:latin typeface="Arial" panose="020B0604020202020204" pitchFamily="34" charset="0"/>
                <a:ea typeface="楷体_GB2312" pitchFamily="49" charset="-122"/>
                <a:cs typeface="Arial" panose="020B0604020202020204" pitchFamily="34" charset="0"/>
              </a:rPr>
              <a:t>=1'b0; </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S2:  </a:t>
            </a:r>
            <a:r>
              <a:rPr lang="en-US" altLang="zh-CN" dirty="0" err="1">
                <a:latin typeface="Arial" panose="020B0604020202020204" pitchFamily="34" charset="0"/>
                <a:ea typeface="楷体_GB2312" pitchFamily="49" charset="-122"/>
                <a:cs typeface="Arial" panose="020B0604020202020204" pitchFamily="34" charset="0"/>
              </a:rPr>
              <a:t>zo</a:t>
            </a:r>
            <a:r>
              <a:rPr lang="en-US" altLang="zh-CN" dirty="0">
                <a:latin typeface="Arial" panose="020B0604020202020204" pitchFamily="34" charset="0"/>
                <a:ea typeface="楷体_GB2312" pitchFamily="49" charset="-122"/>
                <a:cs typeface="Arial" panose="020B0604020202020204" pitchFamily="34" charset="0"/>
              </a:rPr>
              <a:t>=1'b0; </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S3:  </a:t>
            </a:r>
            <a:r>
              <a:rPr lang="en-US" altLang="zh-CN" dirty="0" err="1">
                <a:latin typeface="Arial" panose="020B0604020202020204" pitchFamily="34" charset="0"/>
                <a:ea typeface="楷体_GB2312" pitchFamily="49" charset="-122"/>
                <a:cs typeface="Arial" panose="020B0604020202020204" pitchFamily="34" charset="0"/>
              </a:rPr>
              <a:t>zo</a:t>
            </a:r>
            <a:r>
              <a:rPr lang="en-US" altLang="zh-CN" dirty="0">
                <a:latin typeface="Arial" panose="020B0604020202020204" pitchFamily="34" charset="0"/>
                <a:ea typeface="楷体_GB2312" pitchFamily="49" charset="-122"/>
                <a:cs typeface="Arial" panose="020B0604020202020204" pitchFamily="34" charset="0"/>
              </a:rPr>
              <a:t>=1'b0;  </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a:t>
            </a:r>
            <a:r>
              <a:rPr lang="en-US" altLang="zh-CN" dirty="0">
                <a:solidFill>
                  <a:srgbClr val="FF0000"/>
                </a:solidFill>
                <a:latin typeface="Arial" panose="020B0604020202020204" pitchFamily="34" charset="0"/>
                <a:ea typeface="楷体_GB2312" pitchFamily="49" charset="-122"/>
                <a:cs typeface="Arial" panose="020B0604020202020204" pitchFamily="34" charset="0"/>
              </a:rPr>
              <a:t>S4:  </a:t>
            </a:r>
            <a:r>
              <a:rPr lang="en-US" altLang="zh-CN" dirty="0" err="1">
                <a:solidFill>
                  <a:srgbClr val="FF0000"/>
                </a:solidFill>
                <a:latin typeface="Arial" panose="020B0604020202020204" pitchFamily="34" charset="0"/>
                <a:ea typeface="楷体_GB2312" pitchFamily="49" charset="-122"/>
                <a:cs typeface="Arial" panose="020B0604020202020204" pitchFamily="34" charset="0"/>
              </a:rPr>
              <a:t>zo</a:t>
            </a:r>
            <a:r>
              <a:rPr lang="en-US" altLang="zh-CN" dirty="0">
                <a:solidFill>
                  <a:srgbClr val="FF0000"/>
                </a:solidFill>
                <a:latin typeface="Arial" panose="020B0604020202020204" pitchFamily="34" charset="0"/>
                <a:ea typeface="楷体_GB2312" pitchFamily="49" charset="-122"/>
                <a:cs typeface="Arial" panose="020B0604020202020204" pitchFamily="34" charset="0"/>
              </a:rPr>
              <a:t>=1'b1; </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default: </a:t>
            </a:r>
            <a:r>
              <a:rPr lang="en-US" altLang="zh-CN" dirty="0" err="1">
                <a:latin typeface="Arial" panose="020B0604020202020204" pitchFamily="34" charset="0"/>
                <a:ea typeface="楷体_GB2312" pitchFamily="49" charset="-122"/>
                <a:cs typeface="Arial" panose="020B0604020202020204" pitchFamily="34" charset="0"/>
              </a:rPr>
              <a:t>zo</a:t>
            </a:r>
            <a:r>
              <a:rPr lang="en-US" altLang="zh-CN" dirty="0">
                <a:latin typeface="Arial" panose="020B0604020202020204" pitchFamily="34" charset="0"/>
                <a:ea typeface="楷体_GB2312" pitchFamily="49" charset="-122"/>
                <a:cs typeface="Arial" panose="020B0604020202020204" pitchFamily="34" charset="0"/>
              </a:rPr>
              <a:t>=1'b0;</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a:t>
            </a:r>
            <a:r>
              <a:rPr lang="en-US" altLang="zh-CN" dirty="0" err="1">
                <a:latin typeface="Arial" panose="020B0604020202020204" pitchFamily="34" charset="0"/>
                <a:ea typeface="楷体_GB2312" pitchFamily="49" charset="-122"/>
                <a:cs typeface="Arial" panose="020B0604020202020204" pitchFamily="34" charset="0"/>
              </a:rPr>
              <a:t>endcase</a:t>
            </a:r>
            <a:r>
              <a:rPr lang="en-US" altLang="zh-CN" dirty="0">
                <a:latin typeface="Arial" panose="020B0604020202020204" pitchFamily="34" charset="0"/>
                <a:ea typeface="楷体_GB2312" pitchFamily="49" charset="-122"/>
                <a:cs typeface="Arial" panose="020B0604020202020204" pitchFamily="34" charset="0"/>
              </a:rPr>
              <a:t>           </a:t>
            </a:r>
          </a:p>
          <a:p>
            <a:pPr marL="352425" indent="-352425" algn="l">
              <a:lnSpc>
                <a:spcPct val="100000"/>
              </a:lnSpc>
              <a:spcBef>
                <a:spcPct val="0"/>
              </a:spcBef>
            </a:pPr>
            <a:r>
              <a:rPr lang="en-US" altLang="zh-CN" dirty="0">
                <a:latin typeface="Arial" panose="020B0604020202020204" pitchFamily="34" charset="0"/>
                <a:ea typeface="楷体_GB2312" pitchFamily="49" charset="-122"/>
                <a:cs typeface="Arial" panose="020B0604020202020204" pitchFamily="34" charset="0"/>
              </a:rPr>
              <a:t>          end</a:t>
            </a:r>
            <a:endParaRPr lang="zh-CN" altLang="en-US" dirty="0">
              <a:latin typeface="Arial" panose="020B0604020202020204" pitchFamily="34" charset="0"/>
              <a:ea typeface="楷体_GB2312" pitchFamily="49" charset="-122"/>
              <a:cs typeface="Arial" panose="020B0604020202020204" pitchFamily="34" charset="0"/>
            </a:endParaRPr>
          </a:p>
        </p:txBody>
      </p:sp>
      <p:sp>
        <p:nvSpPr>
          <p:cNvPr id="73733" name="Text Box 25"/>
          <p:cNvSpPr txBox="1">
            <a:spLocks noChangeArrowheads="1"/>
          </p:cNvSpPr>
          <p:nvPr/>
        </p:nvSpPr>
        <p:spPr bwMode="auto">
          <a:xfrm>
            <a:off x="9702800" y="5862638"/>
            <a:ext cx="712788" cy="396875"/>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800">
                <a:solidFill>
                  <a:srgbClr val="FF0000"/>
                </a:solidFill>
                <a:latin typeface="Arial" panose="020B0604020202020204" pitchFamily="34" charset="0"/>
                <a:ea typeface="楷体_GB2312" pitchFamily="49" charset="-122"/>
                <a:cs typeface="Arial" panose="020B0604020202020204" pitchFamily="34" charset="0"/>
                <a:hlinkClick r:id="rId3" action="ppaction://hlinksldjump"/>
              </a:rPr>
              <a:t>返回</a:t>
            </a:r>
            <a:endParaRPr lang="zh-CN" altLang="en-US" sz="1800">
              <a:solidFill>
                <a:srgbClr val="FF0000"/>
              </a:solidFill>
              <a:latin typeface="Arial" panose="020B0604020202020204" pitchFamily="34" charset="0"/>
              <a:ea typeface="楷体_GB2312" pitchFamily="49" charset="-122"/>
              <a:cs typeface="Arial" panose="020B0604020202020204" pitchFamily="34"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1000" fill="hold"/>
                                        <p:tgtEl>
                                          <p:spTgt spid="34"/>
                                        </p:tgtEl>
                                        <p:attrNameLst>
                                          <p:attrName>ppt_w</p:attrName>
                                        </p:attrNameLst>
                                      </p:cBhvr>
                                      <p:tavLst>
                                        <p:tav tm="0">
                                          <p:val>
                                            <p:strVal val="#ppt_w*0.70"/>
                                          </p:val>
                                        </p:tav>
                                        <p:tav tm="100000">
                                          <p:val>
                                            <p:strVal val="#ppt_w"/>
                                          </p:val>
                                        </p:tav>
                                      </p:tavLst>
                                    </p:anim>
                                    <p:anim calcmode="lin" valueType="num">
                                      <p:cBhvr>
                                        <p:cTn id="8" dur="1000" fill="hold"/>
                                        <p:tgtEl>
                                          <p:spTgt spid="34"/>
                                        </p:tgtEl>
                                        <p:attrNameLst>
                                          <p:attrName>ppt_h</p:attrName>
                                        </p:attrNameLst>
                                      </p:cBhvr>
                                      <p:tavLst>
                                        <p:tav tm="0">
                                          <p:val>
                                            <p:strVal val="#ppt_h"/>
                                          </p:val>
                                        </p:tav>
                                        <p:tav tm="100000">
                                          <p:val>
                                            <p:strVal val="#ppt_h"/>
                                          </p:val>
                                        </p:tav>
                                      </p:tavLst>
                                    </p:anim>
                                    <p:animEffect transition="in" filter="fade">
                                      <p:cBhvr>
                                        <p:cTn id="9" dur="1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4"/>
          <p:cNvSpPr>
            <a:spLocks noGrp="1"/>
          </p:cNvSpPr>
          <p:nvPr>
            <p:ph type="sldNum" sz="quarter" idx="12"/>
          </p:nvPr>
        </p:nvSpPr>
        <p:spPr>
          <a:noFill/>
        </p:spPr>
        <p:txBody>
          <a:bodyPr/>
          <a:lstStyle/>
          <a:p>
            <a:fld id="{6635F598-5B0C-482E-9229-3A61D89FCBD5}" type="slidenum">
              <a:rPr lang="ko-KR" altLang="en-US" smtClean="0"/>
              <a:t>63</a:t>
            </a:fld>
            <a:endParaRPr lang="en-US" altLang="ko-KR" smtClean="0"/>
          </a:p>
        </p:txBody>
      </p:sp>
      <p:sp>
        <p:nvSpPr>
          <p:cNvPr id="75783" name="Rectangle 64"/>
          <p:cNvSpPr>
            <a:spLocks noGrp="1" noChangeArrowheads="1"/>
          </p:cNvSpPr>
          <p:nvPr>
            <p:ph type="title" idx="4294967295"/>
          </p:nvPr>
        </p:nvSpPr>
        <p:spPr>
          <a:xfrm>
            <a:off x="3810000" y="304800"/>
            <a:ext cx="6858000" cy="609600"/>
          </a:xfrm>
        </p:spPr>
        <p:txBody>
          <a:bodyPr>
            <a:normAutofit fontScale="90000"/>
          </a:bodyPr>
          <a:lstStyle/>
          <a:p>
            <a:r>
              <a:rPr lang="en-US" altLang="zh-CN" dirty="0" smtClean="0">
                <a:solidFill>
                  <a:schemeClr val="accent2"/>
                </a:solidFill>
                <a:latin typeface="Arial" panose="020B0604020202020204" pitchFamily="34" charset="0"/>
                <a:ea typeface="黑体" panose="02010609060101010101" pitchFamily="49" charset="-122"/>
              </a:rPr>
              <a:t>7.2.3  Mealy</a:t>
            </a:r>
            <a:r>
              <a:rPr lang="zh-CN" altLang="en-US" dirty="0" smtClean="0">
                <a:solidFill>
                  <a:schemeClr val="accent2"/>
                </a:solidFill>
                <a:latin typeface="Arial" panose="020B0604020202020204" pitchFamily="34" charset="0"/>
                <a:ea typeface="黑体" panose="02010609060101010101" pitchFamily="49" charset="-122"/>
              </a:rPr>
              <a:t>型有限状态机</a:t>
            </a:r>
          </a:p>
        </p:txBody>
      </p:sp>
      <p:grpSp>
        <p:nvGrpSpPr>
          <p:cNvPr id="75779" name="Group 56"/>
          <p:cNvGrpSpPr/>
          <p:nvPr/>
        </p:nvGrpSpPr>
        <p:grpSpPr bwMode="auto">
          <a:xfrm>
            <a:off x="1860550" y="1322388"/>
            <a:ext cx="5953125" cy="1925637"/>
            <a:chOff x="212" y="833"/>
            <a:chExt cx="3750" cy="1213"/>
          </a:xfrm>
        </p:grpSpPr>
        <p:sp>
          <p:nvSpPr>
            <p:cNvPr id="75789" name="Text Box 5"/>
            <p:cNvSpPr txBox="1">
              <a:spLocks noChangeArrowheads="1"/>
            </p:cNvSpPr>
            <p:nvPr/>
          </p:nvSpPr>
          <p:spPr bwMode="auto">
            <a:xfrm>
              <a:off x="3459" y="1032"/>
              <a:ext cx="503" cy="263"/>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输出</a:t>
              </a:r>
            </a:p>
          </p:txBody>
        </p:sp>
        <p:sp>
          <p:nvSpPr>
            <p:cNvPr id="75790" name="Text Box 6"/>
            <p:cNvSpPr txBox="1">
              <a:spLocks noChangeArrowheads="1"/>
            </p:cNvSpPr>
            <p:nvPr/>
          </p:nvSpPr>
          <p:spPr bwMode="auto">
            <a:xfrm>
              <a:off x="2454" y="1145"/>
              <a:ext cx="503" cy="263"/>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FF0066"/>
                  </a:solidFill>
                  <a:ea typeface="楷体_GB2312" pitchFamily="49" charset="-122"/>
                </a:rPr>
                <a:t>现态</a:t>
              </a:r>
            </a:p>
          </p:txBody>
        </p:sp>
        <p:sp>
          <p:nvSpPr>
            <p:cNvPr id="75791" name="Text Box 7"/>
            <p:cNvSpPr txBox="1">
              <a:spLocks noChangeArrowheads="1"/>
            </p:cNvSpPr>
            <p:nvPr/>
          </p:nvSpPr>
          <p:spPr bwMode="auto">
            <a:xfrm>
              <a:off x="1346" y="1053"/>
              <a:ext cx="503" cy="262"/>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次态</a:t>
              </a:r>
            </a:p>
          </p:txBody>
        </p:sp>
        <p:sp>
          <p:nvSpPr>
            <p:cNvPr id="75792" name="Text Box 8"/>
            <p:cNvSpPr txBox="1">
              <a:spLocks noChangeArrowheads="1"/>
            </p:cNvSpPr>
            <p:nvPr/>
          </p:nvSpPr>
          <p:spPr bwMode="auto">
            <a:xfrm>
              <a:off x="353" y="1158"/>
              <a:ext cx="503" cy="262"/>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现态</a:t>
              </a:r>
            </a:p>
          </p:txBody>
        </p:sp>
        <p:sp>
          <p:nvSpPr>
            <p:cNvPr id="75793" name="Text Box 9"/>
            <p:cNvSpPr txBox="1">
              <a:spLocks noChangeArrowheads="1"/>
            </p:cNvSpPr>
            <p:nvPr/>
          </p:nvSpPr>
          <p:spPr bwMode="auto">
            <a:xfrm>
              <a:off x="212" y="874"/>
              <a:ext cx="503" cy="263"/>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600">
                  <a:solidFill>
                    <a:srgbClr val="FF0066"/>
                  </a:solidFill>
                  <a:ea typeface="楷体_GB2312" pitchFamily="49" charset="-122"/>
                </a:rPr>
                <a:t>输入</a:t>
              </a:r>
            </a:p>
          </p:txBody>
        </p:sp>
        <p:sp>
          <p:nvSpPr>
            <p:cNvPr id="75794" name="Text Box 10"/>
            <p:cNvSpPr txBox="1">
              <a:spLocks noChangeArrowheads="1"/>
            </p:cNvSpPr>
            <p:nvPr/>
          </p:nvSpPr>
          <p:spPr bwMode="auto">
            <a:xfrm>
              <a:off x="830" y="1011"/>
              <a:ext cx="529" cy="514"/>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次态逻辑</a:t>
              </a:r>
            </a:p>
          </p:txBody>
        </p:sp>
        <p:sp>
          <p:nvSpPr>
            <p:cNvPr id="75795" name="Text Box 11"/>
            <p:cNvSpPr txBox="1">
              <a:spLocks noChangeArrowheads="1"/>
            </p:cNvSpPr>
            <p:nvPr/>
          </p:nvSpPr>
          <p:spPr bwMode="auto">
            <a:xfrm>
              <a:off x="1836" y="1011"/>
              <a:ext cx="618" cy="514"/>
            </a:xfrm>
            <a:prstGeom prst="rect">
              <a:avLst/>
            </a:prstGeom>
            <a:solidFill>
              <a:srgbClr val="FFFFFF"/>
            </a:solidFill>
            <a:ln w="15875">
              <a:solidFill>
                <a:srgbClr val="000000"/>
              </a:solidFill>
              <a:miter lim="800000"/>
            </a:ln>
          </p:spPr>
          <p:txBody>
            <a:bodyPr/>
            <a:lstStyle/>
            <a:p>
              <a:pPr marL="342900" indent="-342900">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状态</a:t>
              </a:r>
            </a:p>
            <a:p>
              <a:pPr marL="342900" indent="-342900">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寄存器</a:t>
              </a:r>
            </a:p>
          </p:txBody>
        </p:sp>
        <p:sp>
          <p:nvSpPr>
            <p:cNvPr id="75796" name="Text Box 12"/>
            <p:cNvSpPr txBox="1">
              <a:spLocks noChangeArrowheads="1"/>
            </p:cNvSpPr>
            <p:nvPr/>
          </p:nvSpPr>
          <p:spPr bwMode="auto">
            <a:xfrm>
              <a:off x="2944" y="1000"/>
              <a:ext cx="529" cy="514"/>
            </a:xfrm>
            <a:prstGeom prst="rect">
              <a:avLst/>
            </a:prstGeom>
            <a:solidFill>
              <a:srgbClr val="FFFFFF"/>
            </a:solidFill>
            <a:ln w="15875">
              <a:solidFill>
                <a:srgbClr val="000000"/>
              </a:solidFill>
              <a:miter lim="800000"/>
            </a:ln>
          </p:spPr>
          <p:txBody>
            <a:bodyPr/>
            <a:lstStyle/>
            <a:p>
              <a:pPr>
                <a:lnSpc>
                  <a:spcPct val="110000"/>
                </a:lnSpc>
                <a:spcBef>
                  <a:spcPct val="20000"/>
                </a:spcBef>
                <a:buClr>
                  <a:schemeClr val="tx2"/>
                </a:buClr>
                <a:buSzPct val="70000"/>
                <a:buFont typeface="Wingdings" panose="05000000000000000000" pitchFamily="2" charset="2"/>
                <a:buNone/>
              </a:pPr>
              <a:r>
                <a:rPr lang="zh-CN" altLang="en-US" sz="1600">
                  <a:solidFill>
                    <a:srgbClr val="2C2C86"/>
                  </a:solidFill>
                  <a:ea typeface="楷体_GB2312" pitchFamily="49" charset="-122"/>
                </a:rPr>
                <a:t>输出逻辑</a:t>
              </a:r>
            </a:p>
          </p:txBody>
        </p:sp>
        <p:sp>
          <p:nvSpPr>
            <p:cNvPr id="75797" name="Line 13"/>
            <p:cNvSpPr>
              <a:spLocks noChangeShapeType="1"/>
            </p:cNvSpPr>
            <p:nvPr/>
          </p:nvSpPr>
          <p:spPr bwMode="auto">
            <a:xfrm>
              <a:off x="276" y="1084"/>
              <a:ext cx="554" cy="0"/>
            </a:xfrm>
            <a:prstGeom prst="line">
              <a:avLst/>
            </a:prstGeom>
            <a:noFill/>
            <a:ln w="9525">
              <a:solidFill>
                <a:srgbClr val="000000"/>
              </a:solidFill>
              <a:round/>
              <a:tailEnd type="triangle" w="med" len="med"/>
            </a:ln>
          </p:spPr>
          <p:txBody>
            <a:bodyPr/>
            <a:lstStyle/>
            <a:p>
              <a:endParaRPr lang="zh-CN" altLang="en-US"/>
            </a:p>
          </p:txBody>
        </p:sp>
        <p:sp>
          <p:nvSpPr>
            <p:cNvPr id="75798" name="Line 14"/>
            <p:cNvSpPr>
              <a:spLocks noChangeShapeType="1"/>
            </p:cNvSpPr>
            <p:nvPr/>
          </p:nvSpPr>
          <p:spPr bwMode="auto">
            <a:xfrm>
              <a:off x="599" y="1378"/>
              <a:ext cx="231" cy="0"/>
            </a:xfrm>
            <a:prstGeom prst="line">
              <a:avLst/>
            </a:prstGeom>
            <a:noFill/>
            <a:ln w="9525">
              <a:solidFill>
                <a:srgbClr val="000000"/>
              </a:solidFill>
              <a:round/>
              <a:tailEnd type="triangle" w="med" len="med"/>
            </a:ln>
          </p:spPr>
          <p:txBody>
            <a:bodyPr/>
            <a:lstStyle/>
            <a:p>
              <a:endParaRPr lang="zh-CN" altLang="en-US"/>
            </a:p>
          </p:txBody>
        </p:sp>
        <p:sp>
          <p:nvSpPr>
            <p:cNvPr id="75799" name="Line 15"/>
            <p:cNvSpPr>
              <a:spLocks noChangeShapeType="1"/>
            </p:cNvSpPr>
            <p:nvPr/>
          </p:nvSpPr>
          <p:spPr bwMode="auto">
            <a:xfrm>
              <a:off x="1359" y="1263"/>
              <a:ext cx="477" cy="0"/>
            </a:xfrm>
            <a:prstGeom prst="line">
              <a:avLst/>
            </a:prstGeom>
            <a:noFill/>
            <a:ln w="9525">
              <a:solidFill>
                <a:srgbClr val="000000"/>
              </a:solidFill>
              <a:round/>
              <a:tailEnd type="triangle" w="med" len="med"/>
            </a:ln>
          </p:spPr>
          <p:txBody>
            <a:bodyPr/>
            <a:lstStyle/>
            <a:p>
              <a:endParaRPr lang="zh-CN" altLang="en-US"/>
            </a:p>
          </p:txBody>
        </p:sp>
        <p:sp>
          <p:nvSpPr>
            <p:cNvPr id="75800" name="Line 16"/>
            <p:cNvSpPr>
              <a:spLocks noChangeShapeType="1"/>
            </p:cNvSpPr>
            <p:nvPr/>
          </p:nvSpPr>
          <p:spPr bwMode="auto">
            <a:xfrm>
              <a:off x="2467" y="1342"/>
              <a:ext cx="477" cy="0"/>
            </a:xfrm>
            <a:prstGeom prst="line">
              <a:avLst/>
            </a:prstGeom>
            <a:noFill/>
            <a:ln w="28575">
              <a:solidFill>
                <a:srgbClr val="FF0066"/>
              </a:solidFill>
              <a:round/>
              <a:tailEnd type="triangle" w="med" len="med"/>
            </a:ln>
          </p:spPr>
          <p:txBody>
            <a:bodyPr/>
            <a:lstStyle/>
            <a:p>
              <a:endParaRPr lang="zh-CN" altLang="en-US"/>
            </a:p>
          </p:txBody>
        </p:sp>
        <p:sp>
          <p:nvSpPr>
            <p:cNvPr id="75801" name="Line 17"/>
            <p:cNvSpPr>
              <a:spLocks noChangeShapeType="1"/>
            </p:cNvSpPr>
            <p:nvPr/>
          </p:nvSpPr>
          <p:spPr bwMode="auto">
            <a:xfrm>
              <a:off x="3473" y="1252"/>
              <a:ext cx="476" cy="0"/>
            </a:xfrm>
            <a:prstGeom prst="line">
              <a:avLst/>
            </a:prstGeom>
            <a:noFill/>
            <a:ln w="9525">
              <a:solidFill>
                <a:srgbClr val="000000"/>
              </a:solidFill>
              <a:round/>
              <a:tailEnd type="triangle" w="med" len="med"/>
            </a:ln>
          </p:spPr>
          <p:txBody>
            <a:bodyPr/>
            <a:lstStyle/>
            <a:p>
              <a:endParaRPr lang="zh-CN" altLang="en-US"/>
            </a:p>
          </p:txBody>
        </p:sp>
        <p:sp>
          <p:nvSpPr>
            <p:cNvPr id="75802" name="Line 18"/>
            <p:cNvSpPr>
              <a:spLocks noChangeShapeType="1"/>
            </p:cNvSpPr>
            <p:nvPr/>
          </p:nvSpPr>
          <p:spPr bwMode="auto">
            <a:xfrm>
              <a:off x="586" y="1378"/>
              <a:ext cx="0" cy="284"/>
            </a:xfrm>
            <a:prstGeom prst="line">
              <a:avLst/>
            </a:prstGeom>
            <a:noFill/>
            <a:ln w="9525">
              <a:solidFill>
                <a:srgbClr val="000000"/>
              </a:solidFill>
              <a:round/>
            </a:ln>
          </p:spPr>
          <p:txBody>
            <a:bodyPr/>
            <a:lstStyle/>
            <a:p>
              <a:endParaRPr lang="zh-CN" altLang="en-US"/>
            </a:p>
          </p:txBody>
        </p:sp>
        <p:sp>
          <p:nvSpPr>
            <p:cNvPr id="75803" name="Line 19"/>
            <p:cNvSpPr>
              <a:spLocks noChangeShapeType="1"/>
            </p:cNvSpPr>
            <p:nvPr/>
          </p:nvSpPr>
          <p:spPr bwMode="auto">
            <a:xfrm>
              <a:off x="599" y="1662"/>
              <a:ext cx="2074" cy="0"/>
            </a:xfrm>
            <a:prstGeom prst="line">
              <a:avLst/>
            </a:prstGeom>
            <a:noFill/>
            <a:ln w="9525">
              <a:solidFill>
                <a:srgbClr val="000000"/>
              </a:solidFill>
              <a:round/>
            </a:ln>
          </p:spPr>
          <p:txBody>
            <a:bodyPr/>
            <a:lstStyle/>
            <a:p>
              <a:endParaRPr lang="zh-CN" altLang="en-US"/>
            </a:p>
          </p:txBody>
        </p:sp>
        <p:sp>
          <p:nvSpPr>
            <p:cNvPr id="75804" name="Line 20"/>
            <p:cNvSpPr>
              <a:spLocks noChangeShapeType="1"/>
            </p:cNvSpPr>
            <p:nvPr/>
          </p:nvSpPr>
          <p:spPr bwMode="auto">
            <a:xfrm flipV="1">
              <a:off x="2673" y="1368"/>
              <a:ext cx="0" cy="294"/>
            </a:xfrm>
            <a:prstGeom prst="line">
              <a:avLst/>
            </a:prstGeom>
            <a:noFill/>
            <a:ln w="9525">
              <a:solidFill>
                <a:srgbClr val="000000"/>
              </a:solidFill>
              <a:round/>
            </a:ln>
          </p:spPr>
          <p:txBody>
            <a:bodyPr/>
            <a:lstStyle/>
            <a:p>
              <a:endParaRPr lang="zh-CN" altLang="en-US"/>
            </a:p>
          </p:txBody>
        </p:sp>
        <p:sp>
          <p:nvSpPr>
            <p:cNvPr id="75805" name="Line 21"/>
            <p:cNvSpPr>
              <a:spLocks noChangeShapeType="1"/>
            </p:cNvSpPr>
            <p:nvPr/>
          </p:nvSpPr>
          <p:spPr bwMode="auto">
            <a:xfrm flipV="1">
              <a:off x="586" y="833"/>
              <a:ext cx="0" cy="251"/>
            </a:xfrm>
            <a:prstGeom prst="line">
              <a:avLst/>
            </a:prstGeom>
            <a:noFill/>
            <a:ln w="28575">
              <a:solidFill>
                <a:srgbClr val="FF0066"/>
              </a:solidFill>
              <a:round/>
            </a:ln>
          </p:spPr>
          <p:txBody>
            <a:bodyPr/>
            <a:lstStyle/>
            <a:p>
              <a:endParaRPr lang="zh-CN" altLang="en-US"/>
            </a:p>
          </p:txBody>
        </p:sp>
        <p:sp>
          <p:nvSpPr>
            <p:cNvPr id="75806" name="Line 22"/>
            <p:cNvSpPr>
              <a:spLocks noChangeShapeType="1"/>
            </p:cNvSpPr>
            <p:nvPr/>
          </p:nvSpPr>
          <p:spPr bwMode="auto">
            <a:xfrm>
              <a:off x="586" y="843"/>
              <a:ext cx="2113" cy="0"/>
            </a:xfrm>
            <a:prstGeom prst="line">
              <a:avLst/>
            </a:prstGeom>
            <a:noFill/>
            <a:ln w="28575">
              <a:solidFill>
                <a:srgbClr val="FF0066"/>
              </a:solidFill>
              <a:round/>
            </a:ln>
          </p:spPr>
          <p:txBody>
            <a:bodyPr/>
            <a:lstStyle/>
            <a:p>
              <a:endParaRPr lang="zh-CN" altLang="en-US"/>
            </a:p>
          </p:txBody>
        </p:sp>
        <p:sp>
          <p:nvSpPr>
            <p:cNvPr id="75807" name="Line 23"/>
            <p:cNvSpPr>
              <a:spLocks noChangeShapeType="1"/>
            </p:cNvSpPr>
            <p:nvPr/>
          </p:nvSpPr>
          <p:spPr bwMode="auto">
            <a:xfrm>
              <a:off x="2699" y="843"/>
              <a:ext cx="0" cy="252"/>
            </a:xfrm>
            <a:prstGeom prst="line">
              <a:avLst/>
            </a:prstGeom>
            <a:noFill/>
            <a:ln w="28575">
              <a:solidFill>
                <a:srgbClr val="FF0066"/>
              </a:solidFill>
              <a:round/>
            </a:ln>
          </p:spPr>
          <p:txBody>
            <a:bodyPr/>
            <a:lstStyle/>
            <a:p>
              <a:endParaRPr lang="zh-CN" altLang="en-US"/>
            </a:p>
          </p:txBody>
        </p:sp>
        <p:sp>
          <p:nvSpPr>
            <p:cNvPr id="75808" name="Line 24"/>
            <p:cNvSpPr>
              <a:spLocks noChangeShapeType="1"/>
            </p:cNvSpPr>
            <p:nvPr/>
          </p:nvSpPr>
          <p:spPr bwMode="auto">
            <a:xfrm>
              <a:off x="2699" y="1095"/>
              <a:ext cx="245" cy="0"/>
            </a:xfrm>
            <a:prstGeom prst="line">
              <a:avLst/>
            </a:prstGeom>
            <a:noFill/>
            <a:ln w="28575">
              <a:solidFill>
                <a:srgbClr val="FF0066"/>
              </a:solidFill>
              <a:round/>
              <a:tailEnd type="triangle" w="med" len="med"/>
            </a:ln>
          </p:spPr>
          <p:txBody>
            <a:bodyPr/>
            <a:lstStyle/>
            <a:p>
              <a:endParaRPr lang="zh-CN" altLang="en-US"/>
            </a:p>
          </p:txBody>
        </p:sp>
        <p:sp>
          <p:nvSpPr>
            <p:cNvPr id="75809" name="Text Box 25"/>
            <p:cNvSpPr txBox="1">
              <a:spLocks noChangeArrowheads="1"/>
            </p:cNvSpPr>
            <p:nvPr/>
          </p:nvSpPr>
          <p:spPr bwMode="auto">
            <a:xfrm>
              <a:off x="1140" y="1816"/>
              <a:ext cx="2103" cy="230"/>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en-US" altLang="zh-CN" sz="1800">
                  <a:solidFill>
                    <a:srgbClr val="990000"/>
                  </a:solidFill>
                  <a:latin typeface="Arial" panose="020B0604020202020204" pitchFamily="34" charset="0"/>
                  <a:ea typeface="楷体_GB2312" pitchFamily="49" charset="-122"/>
                  <a:cs typeface="Arial" panose="020B0604020202020204" pitchFamily="34" charset="0"/>
                </a:rPr>
                <a:t>Mealy</a:t>
              </a:r>
              <a:r>
                <a:rPr lang="zh-CN" altLang="en-US" sz="1800">
                  <a:solidFill>
                    <a:srgbClr val="990000"/>
                  </a:solidFill>
                  <a:latin typeface="Arial" panose="020B0604020202020204" pitchFamily="34" charset="0"/>
                  <a:ea typeface="楷体_GB2312" pitchFamily="49" charset="-122"/>
                  <a:cs typeface="Arial" panose="020B0604020202020204" pitchFamily="34" charset="0"/>
                </a:rPr>
                <a:t>型状态机的典型结构</a:t>
              </a:r>
            </a:p>
          </p:txBody>
        </p:sp>
        <p:sp>
          <p:nvSpPr>
            <p:cNvPr id="75810" name="Text Box 26"/>
            <p:cNvSpPr txBox="1">
              <a:spLocks noChangeArrowheads="1"/>
            </p:cNvSpPr>
            <p:nvPr/>
          </p:nvSpPr>
          <p:spPr bwMode="auto">
            <a:xfrm>
              <a:off x="512" y="959"/>
              <a:ext cx="372" cy="249"/>
            </a:xfrm>
            <a:prstGeom prst="rect">
              <a:avLst/>
            </a:prstGeom>
            <a:noFill/>
            <a:ln w="9525">
              <a:noFill/>
              <a:miter lim="800000"/>
            </a:ln>
          </p:spPr>
          <p:txBody>
            <a:bodyPr>
              <a:spAutoFit/>
            </a:bodyPr>
            <a:lstStyle/>
            <a:p>
              <a:pPr marL="342900" indent="-342900" algn="l">
                <a:lnSpc>
                  <a:spcPct val="110000"/>
                </a:lnSpc>
                <a:buClr>
                  <a:schemeClr val="tx2"/>
                </a:buClr>
                <a:buSzPct val="70000"/>
                <a:buFont typeface="Wingdings" panose="05000000000000000000" pitchFamily="2" charset="2"/>
                <a:buNone/>
              </a:pPr>
              <a:r>
                <a:rPr lang="en-US" altLang="zh-CN" sz="1800">
                  <a:solidFill>
                    <a:srgbClr val="000000"/>
                  </a:solidFill>
                  <a:ea typeface="黑体" panose="02010609060101010101" pitchFamily="49" charset="-122"/>
                  <a:cs typeface="Times New Roman" panose="02020603050405020304" pitchFamily="18" charset="0"/>
                </a:rPr>
                <a:t>•</a:t>
              </a:r>
            </a:p>
          </p:txBody>
        </p:sp>
        <p:sp>
          <p:nvSpPr>
            <p:cNvPr id="75811" name="Text Box 27"/>
            <p:cNvSpPr txBox="1">
              <a:spLocks noChangeArrowheads="1"/>
            </p:cNvSpPr>
            <p:nvPr/>
          </p:nvSpPr>
          <p:spPr bwMode="auto">
            <a:xfrm>
              <a:off x="2585" y="1232"/>
              <a:ext cx="372" cy="249"/>
            </a:xfrm>
            <a:prstGeom prst="rect">
              <a:avLst/>
            </a:prstGeom>
            <a:noFill/>
            <a:ln w="9525">
              <a:noFill/>
              <a:miter lim="800000"/>
            </a:ln>
          </p:spPr>
          <p:txBody>
            <a:bodyPr>
              <a:spAutoFit/>
            </a:bodyPr>
            <a:lstStyle/>
            <a:p>
              <a:pPr marL="342900" indent="-342900" algn="l">
                <a:lnSpc>
                  <a:spcPct val="110000"/>
                </a:lnSpc>
                <a:buClr>
                  <a:schemeClr val="tx2"/>
                </a:buClr>
                <a:buSzPct val="70000"/>
                <a:buFont typeface="Wingdings" panose="05000000000000000000" pitchFamily="2" charset="2"/>
                <a:buNone/>
              </a:pPr>
              <a:r>
                <a:rPr lang="en-US" altLang="zh-CN" sz="1800">
                  <a:solidFill>
                    <a:srgbClr val="000000"/>
                  </a:solidFill>
                  <a:ea typeface="黑体" panose="02010609060101010101" pitchFamily="49" charset="-122"/>
                  <a:cs typeface="Times New Roman" panose="02020603050405020304" pitchFamily="18" charset="0"/>
                </a:rPr>
                <a:t>•</a:t>
              </a:r>
            </a:p>
          </p:txBody>
        </p:sp>
      </p:grpSp>
      <p:grpSp>
        <p:nvGrpSpPr>
          <p:cNvPr id="75780" name="Group 28"/>
          <p:cNvGrpSpPr/>
          <p:nvPr/>
        </p:nvGrpSpPr>
        <p:grpSpPr bwMode="auto">
          <a:xfrm>
            <a:off x="8024813" y="1225550"/>
            <a:ext cx="2400300" cy="993775"/>
            <a:chOff x="1187" y="2112"/>
            <a:chExt cx="1512" cy="626"/>
          </a:xfrm>
        </p:grpSpPr>
        <p:sp>
          <p:nvSpPr>
            <p:cNvPr id="75785" name="Text Box 29"/>
            <p:cNvSpPr txBox="1">
              <a:spLocks noChangeArrowheads="1"/>
            </p:cNvSpPr>
            <p:nvPr/>
          </p:nvSpPr>
          <p:spPr bwMode="auto">
            <a:xfrm>
              <a:off x="1632" y="2112"/>
              <a:ext cx="603" cy="224"/>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输入</a:t>
              </a:r>
              <a:r>
                <a:rPr lang="en-US" altLang="zh-CN" sz="1400">
                  <a:solidFill>
                    <a:srgbClr val="2C2C86"/>
                  </a:solidFill>
                </a:rPr>
                <a:t>/</a:t>
              </a:r>
              <a:r>
                <a:rPr lang="zh-CN" altLang="en-US" sz="1400">
                  <a:solidFill>
                    <a:srgbClr val="2C2C86"/>
                  </a:solidFill>
                  <a:ea typeface="楷体_GB2312" pitchFamily="49" charset="-122"/>
                </a:rPr>
                <a:t>输出</a:t>
              </a:r>
            </a:p>
          </p:txBody>
        </p:sp>
        <p:sp>
          <p:nvSpPr>
            <p:cNvPr id="75786" name="Oval 30"/>
            <p:cNvSpPr>
              <a:spLocks noChangeArrowheads="1"/>
            </p:cNvSpPr>
            <p:nvPr/>
          </p:nvSpPr>
          <p:spPr bwMode="auto">
            <a:xfrm>
              <a:off x="1187" y="2466"/>
              <a:ext cx="496" cy="270"/>
            </a:xfrm>
            <a:prstGeom prst="ellipse">
              <a:avLst/>
            </a:prstGeom>
            <a:solidFill>
              <a:srgbClr val="FFFFFF"/>
            </a:solidFill>
            <a:ln w="19050">
              <a:solidFill>
                <a:srgbClr val="000000"/>
              </a:solidFill>
              <a:round/>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现态</a:t>
              </a:r>
            </a:p>
          </p:txBody>
        </p:sp>
        <p:sp>
          <p:nvSpPr>
            <p:cNvPr id="75787" name="Oval 31"/>
            <p:cNvSpPr>
              <a:spLocks noChangeArrowheads="1"/>
            </p:cNvSpPr>
            <p:nvPr/>
          </p:nvSpPr>
          <p:spPr bwMode="auto">
            <a:xfrm>
              <a:off x="2203" y="2482"/>
              <a:ext cx="496" cy="254"/>
            </a:xfrm>
            <a:prstGeom prst="ellipse">
              <a:avLst/>
            </a:prstGeom>
            <a:solidFill>
              <a:srgbClr val="FFFFFF"/>
            </a:solidFill>
            <a:ln w="19050">
              <a:solidFill>
                <a:srgbClr val="000000"/>
              </a:solidFill>
              <a:round/>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400">
                  <a:solidFill>
                    <a:srgbClr val="2C2C86"/>
                  </a:solidFill>
                  <a:ea typeface="楷体_GB2312" pitchFamily="49" charset="-122"/>
                </a:rPr>
                <a:t>次态</a:t>
              </a:r>
            </a:p>
          </p:txBody>
        </p:sp>
        <p:sp>
          <p:nvSpPr>
            <p:cNvPr id="75788" name="Arc 32"/>
            <p:cNvSpPr/>
            <p:nvPr/>
          </p:nvSpPr>
          <p:spPr bwMode="auto">
            <a:xfrm rot="14026503" flipV="1">
              <a:off x="1711" y="2142"/>
              <a:ext cx="504" cy="688"/>
            </a:xfrm>
            <a:custGeom>
              <a:avLst/>
              <a:gdLst>
                <a:gd name="T0" fmla="*/ 0 w 21597"/>
                <a:gd name="T1" fmla="*/ 0 h 21600"/>
                <a:gd name="T2" fmla="*/ 0 w 21597"/>
                <a:gd name="T3" fmla="*/ 0 h 21600"/>
                <a:gd name="T4" fmla="*/ 0 w 21597"/>
                <a:gd name="T5" fmla="*/ 0 h 21600"/>
                <a:gd name="T6" fmla="*/ 0 60000 65536"/>
                <a:gd name="T7" fmla="*/ 0 60000 65536"/>
                <a:gd name="T8" fmla="*/ 0 60000 65536"/>
                <a:gd name="T9" fmla="*/ 0 w 21597"/>
                <a:gd name="T10" fmla="*/ 0 h 21600"/>
                <a:gd name="T11" fmla="*/ 21597 w 21597"/>
                <a:gd name="T12" fmla="*/ 21600 h 21600"/>
              </a:gdLst>
              <a:ahLst/>
              <a:cxnLst>
                <a:cxn ang="T6">
                  <a:pos x="T0" y="T1"/>
                </a:cxn>
                <a:cxn ang="T7">
                  <a:pos x="T2" y="T3"/>
                </a:cxn>
                <a:cxn ang="T8">
                  <a:pos x="T4" y="T5"/>
                </a:cxn>
              </a:cxnLst>
              <a:rect l="T9" t="T10" r="T11" b="T12"/>
              <a:pathLst>
                <a:path w="21597" h="21600" fill="none" extrusionOk="0">
                  <a:moveTo>
                    <a:pt x="-1" y="0"/>
                  </a:moveTo>
                  <a:cubicBezTo>
                    <a:pt x="11778" y="0"/>
                    <a:pt x="21386" y="9437"/>
                    <a:pt x="21596" y="21214"/>
                  </a:cubicBezTo>
                </a:path>
                <a:path w="21597" h="21600" stroke="0" extrusionOk="0">
                  <a:moveTo>
                    <a:pt x="-1" y="0"/>
                  </a:moveTo>
                  <a:cubicBezTo>
                    <a:pt x="11778" y="0"/>
                    <a:pt x="21386" y="9437"/>
                    <a:pt x="21596" y="21214"/>
                  </a:cubicBezTo>
                  <a:lnTo>
                    <a:pt x="0" y="21600"/>
                  </a:lnTo>
                  <a:close/>
                </a:path>
              </a:pathLst>
            </a:custGeom>
            <a:noFill/>
            <a:ln w="15875">
              <a:solidFill>
                <a:srgbClr val="000000"/>
              </a:solidFill>
              <a:round/>
              <a:headEnd type="triangle" w="med" len="med"/>
            </a:ln>
          </p:spPr>
          <p:txBody>
            <a:bodyPr/>
            <a:lstStyle/>
            <a:p>
              <a:endParaRPr lang="zh-CN" altLang="en-US"/>
            </a:p>
          </p:txBody>
        </p:sp>
      </p:grpSp>
      <p:sp>
        <p:nvSpPr>
          <p:cNvPr id="2267139" name="Rectangle 3"/>
          <p:cNvSpPr>
            <a:spLocks noChangeArrowheads="1"/>
          </p:cNvSpPr>
          <p:nvPr/>
        </p:nvSpPr>
        <p:spPr bwMode="auto">
          <a:xfrm>
            <a:off x="2111375" y="3422650"/>
            <a:ext cx="7958138" cy="2154238"/>
          </a:xfrm>
          <a:prstGeom prst="rect">
            <a:avLst/>
          </a:prstGeom>
          <a:solidFill>
            <a:srgbClr val="ECEA8E"/>
          </a:solidFill>
          <a:ln w="9525">
            <a:noFill/>
            <a:miter lim="800000"/>
          </a:ln>
          <a:effectLst>
            <a:prstShdw prst="shdw13" dist="53882" dir="13500000">
              <a:schemeClr val="bg2"/>
            </a:prstShdw>
          </a:effectLst>
        </p:spPr>
        <p:txBody>
          <a:bodyPr anchor="ctr"/>
          <a:lstStyle/>
          <a:p>
            <a:pPr marL="352425" indent="-352425" algn="l">
              <a:lnSpc>
                <a:spcPct val="110000"/>
              </a:lnSpc>
              <a:spcBef>
                <a:spcPct val="0"/>
              </a:spcBef>
              <a:buClr>
                <a:srgbClr val="FF0000"/>
              </a:buClr>
              <a:buFont typeface="Wingdings" panose="05000000000000000000" pitchFamily="2" charset="2"/>
              <a:buChar char="v"/>
            </a:pPr>
            <a:r>
              <a:rPr lang="en-US" altLang="zh-CN" sz="2200">
                <a:latin typeface="Arial" panose="020B0604020202020204" pitchFamily="34" charset="0"/>
                <a:ea typeface="楷体_GB2312" pitchFamily="49" charset="-122"/>
                <a:cs typeface="Arial" panose="020B0604020202020204" pitchFamily="34" charset="0"/>
              </a:rPr>
              <a:t>Mealy</a:t>
            </a:r>
            <a:r>
              <a:rPr lang="zh-CN" altLang="en-US" sz="2200">
                <a:latin typeface="Arial" panose="020B0604020202020204" pitchFamily="34" charset="0"/>
                <a:ea typeface="楷体_GB2312" pitchFamily="49" charset="-122"/>
                <a:cs typeface="Arial" panose="020B0604020202020204" pitchFamily="34" charset="0"/>
              </a:rPr>
              <a:t>型状态机，其输出不仅与状态机</a:t>
            </a:r>
            <a:r>
              <a:rPr lang="zh-CN" altLang="en-US" sz="2200">
                <a:solidFill>
                  <a:srgbClr val="CC3300"/>
                </a:solidFill>
                <a:latin typeface="Arial" panose="020B0604020202020204" pitchFamily="34" charset="0"/>
                <a:ea typeface="楷体_GB2312" pitchFamily="49" charset="-122"/>
                <a:cs typeface="Arial" panose="020B0604020202020204" pitchFamily="34" charset="0"/>
              </a:rPr>
              <a:t>当前状态</a:t>
            </a:r>
            <a:r>
              <a:rPr lang="zh-CN" altLang="en-US" sz="2200">
                <a:latin typeface="Arial" panose="020B0604020202020204" pitchFamily="34" charset="0"/>
                <a:ea typeface="楷体_GB2312" pitchFamily="49" charset="-122"/>
                <a:cs typeface="Arial" panose="020B0604020202020204" pitchFamily="34" charset="0"/>
              </a:rPr>
              <a:t>有关，而且与</a:t>
            </a:r>
            <a:r>
              <a:rPr lang="zh-CN" altLang="en-US" sz="2200">
                <a:solidFill>
                  <a:srgbClr val="CC3300"/>
                </a:solidFill>
                <a:latin typeface="Arial" panose="020B0604020202020204" pitchFamily="34" charset="0"/>
                <a:ea typeface="楷体_GB2312" pitchFamily="49" charset="-122"/>
                <a:cs typeface="Arial" panose="020B0604020202020204" pitchFamily="34" charset="0"/>
              </a:rPr>
              <a:t>输入</a:t>
            </a:r>
            <a:r>
              <a:rPr lang="zh-CN" altLang="en-US" sz="2200">
                <a:latin typeface="Arial" panose="020B0604020202020204" pitchFamily="34" charset="0"/>
                <a:ea typeface="楷体_GB2312" pitchFamily="49" charset="-122"/>
                <a:cs typeface="Arial" panose="020B0604020202020204" pitchFamily="34" charset="0"/>
              </a:rPr>
              <a:t>有关</a:t>
            </a:r>
            <a:r>
              <a:rPr lang="en-US" altLang="zh-CN" sz="2200">
                <a:latin typeface="Arial" panose="020B0604020202020204" pitchFamily="34" charset="0"/>
                <a:ea typeface="楷体_GB2312" pitchFamily="49" charset="-122"/>
                <a:cs typeface="Arial" panose="020B0604020202020204" pitchFamily="34" charset="0"/>
              </a:rPr>
              <a:t>——</a:t>
            </a:r>
            <a:r>
              <a:rPr lang="zh-CN" altLang="en-US" sz="2200">
                <a:solidFill>
                  <a:srgbClr val="800000"/>
                </a:solidFill>
                <a:latin typeface="Verdana" panose="020B0604030504040204" pitchFamily="34" charset="0"/>
                <a:ea typeface="黑体" panose="02010609060101010101" pitchFamily="49" charset="-122"/>
                <a:cs typeface="Arial" panose="020B0604020202020204" pitchFamily="34" charset="0"/>
              </a:rPr>
              <a:t>外部输出是内部状态和外部输入的函数</a:t>
            </a:r>
            <a:r>
              <a:rPr lang="zh-CN" altLang="en-US" sz="2200">
                <a:latin typeface="Arial" panose="020B0604020202020204" pitchFamily="34" charset="0"/>
                <a:ea typeface="楷体_GB2312" pitchFamily="49" charset="-122"/>
                <a:cs typeface="Arial" panose="020B0604020202020204" pitchFamily="34" charset="0"/>
              </a:rPr>
              <a:t>。</a:t>
            </a:r>
          </a:p>
          <a:p>
            <a:pPr marL="352425" indent="-352425" algn="l">
              <a:lnSpc>
                <a:spcPct val="110000"/>
              </a:lnSpc>
              <a:spcBef>
                <a:spcPct val="0"/>
              </a:spcBef>
              <a:buClr>
                <a:srgbClr val="FF0000"/>
              </a:buClr>
              <a:buFont typeface="Wingdings" panose="05000000000000000000" pitchFamily="2" charset="2"/>
              <a:buChar char="v"/>
            </a:pPr>
            <a:r>
              <a:rPr lang="zh-CN" altLang="en-US" sz="2200">
                <a:latin typeface="Arial" panose="020B0604020202020204" pitchFamily="34" charset="0"/>
                <a:ea typeface="楷体_GB2312" pitchFamily="49" charset="-122"/>
                <a:cs typeface="Arial" panose="020B0604020202020204" pitchFamily="34" charset="0"/>
              </a:rPr>
              <a:t>在“</a:t>
            </a:r>
            <a:r>
              <a:rPr lang="en-US" altLang="zh-CN" sz="2200">
                <a:latin typeface="Arial" panose="020B0604020202020204" pitchFamily="34" charset="0"/>
                <a:ea typeface="楷体_GB2312" pitchFamily="49" charset="-122"/>
                <a:cs typeface="Arial" panose="020B0604020202020204" pitchFamily="34" charset="0"/>
              </a:rPr>
              <a:t>Mealy</a:t>
            </a:r>
            <a:r>
              <a:rPr lang="zh-CN" altLang="en-US" sz="2200">
                <a:latin typeface="Arial" panose="020B0604020202020204" pitchFamily="34" charset="0"/>
                <a:ea typeface="楷体_GB2312" pitchFamily="49" charset="-122"/>
                <a:cs typeface="Arial" panose="020B0604020202020204" pitchFamily="34" charset="0"/>
              </a:rPr>
              <a:t>型状态图的表示”中，每个圆圈表示状态机的一个状态，每个箭头表示状态之间的一次转移；引起状态转换的输入信号及产生的输出信号标注在箭头上。  </a:t>
            </a:r>
          </a:p>
        </p:txBody>
      </p:sp>
      <p:sp>
        <p:nvSpPr>
          <p:cNvPr id="75782" name="Text Box 33"/>
          <p:cNvSpPr txBox="1">
            <a:spLocks noChangeArrowheads="1"/>
          </p:cNvSpPr>
          <p:nvPr/>
        </p:nvSpPr>
        <p:spPr bwMode="auto">
          <a:xfrm>
            <a:off x="7796213" y="2520950"/>
            <a:ext cx="2808287" cy="565150"/>
          </a:xfrm>
          <a:prstGeom prst="rect">
            <a:avLst/>
          </a:prstGeom>
          <a:noFill/>
          <a:ln w="9525">
            <a:noFill/>
            <a:miter lim="800000"/>
          </a:ln>
        </p:spPr>
        <p:txBody>
          <a:bodyPr>
            <a:spAutoFit/>
          </a:bodyPr>
          <a:lstStyle/>
          <a:p>
            <a:pPr marL="342900" indent="-342900" algn="l">
              <a:lnSpc>
                <a:spcPct val="110000"/>
              </a:lnSpc>
              <a:buClr>
                <a:schemeClr val="tx2"/>
              </a:buClr>
              <a:buSzPct val="70000"/>
              <a:buFont typeface="Wingdings" panose="05000000000000000000" pitchFamily="2" charset="2"/>
              <a:buNone/>
            </a:pPr>
            <a:r>
              <a:rPr lang="en-US" altLang="zh-CN">
                <a:solidFill>
                  <a:srgbClr val="990000"/>
                </a:solidFill>
                <a:latin typeface="Arial" panose="020B0604020202020204" pitchFamily="34" charset="0"/>
                <a:ea typeface="楷体_GB2312" pitchFamily="49" charset="-122"/>
                <a:cs typeface="Arial" panose="020B0604020202020204" pitchFamily="34" charset="0"/>
              </a:rPr>
              <a:t>Mealy</a:t>
            </a:r>
            <a:r>
              <a:rPr lang="zh-CN" altLang="en-US">
                <a:solidFill>
                  <a:srgbClr val="990000"/>
                </a:solidFill>
                <a:latin typeface="Arial" panose="020B0604020202020204" pitchFamily="34" charset="0"/>
                <a:ea typeface="楷体_GB2312" pitchFamily="49" charset="-122"/>
                <a:cs typeface="Arial" panose="020B0604020202020204" pitchFamily="34" charset="0"/>
              </a:rPr>
              <a:t>型状态图的表示</a:t>
            </a:r>
            <a:r>
              <a:rPr lang="zh-CN" altLang="en-US" sz="2800">
                <a:solidFill>
                  <a:srgbClr val="2C2C86"/>
                </a:solidFill>
                <a:latin typeface="Arial" panose="020B0604020202020204" pitchFamily="34" charset="0"/>
                <a:ea typeface="黑体" panose="02010609060101010101" pitchFamily="49" charset="-122"/>
                <a:cs typeface="Arial" panose="020B0604020202020204" pitchFamily="34" charset="0"/>
              </a:rPr>
              <a:t> </a:t>
            </a:r>
          </a:p>
        </p:txBody>
      </p:sp>
      <p:sp>
        <p:nvSpPr>
          <p:cNvPr id="35" name="Rectangle 9"/>
          <p:cNvSpPr txBox="1">
            <a:spLocks noChangeArrowheads="1"/>
          </p:cNvSpPr>
          <p:nvPr/>
        </p:nvSpPr>
        <p:spPr bwMode="auto">
          <a:xfrm>
            <a:off x="2003425" y="5762625"/>
            <a:ext cx="8161338" cy="606425"/>
          </a:xfrm>
          <a:prstGeom prst="rect">
            <a:avLst/>
          </a:prstGeom>
          <a:noFill/>
          <a:ln w="9525">
            <a:noFill/>
            <a:miter lim="800000"/>
          </a:ln>
        </p:spPr>
        <p:txBody>
          <a:bodyPr/>
          <a:lstStyle/>
          <a:p>
            <a:pPr marL="342900" indent="-342900" algn="l">
              <a:lnSpc>
                <a:spcPct val="110000"/>
              </a:lnSpc>
              <a:spcBef>
                <a:spcPct val="0"/>
              </a:spcBef>
              <a:defRPr/>
            </a:pPr>
            <a:r>
              <a:rPr lang="en-US" altLang="zh-CN" sz="2400" kern="0" dirty="0">
                <a:solidFill>
                  <a:srgbClr val="FF3399"/>
                </a:solidFill>
                <a:latin typeface="Arial" panose="020B0604020202020204" pitchFamily="34" charset="0"/>
                <a:ea typeface="宋体" panose="02010600030101010101" pitchFamily="2" charset="-122"/>
                <a:cs typeface="Arial" panose="020B0604020202020204" pitchFamily="34" charset="0"/>
              </a:rPr>
              <a:t>【</a:t>
            </a:r>
            <a:r>
              <a:rPr lang="zh-CN" altLang="en-US" sz="2400" kern="0" dirty="0">
                <a:solidFill>
                  <a:srgbClr val="FF3399"/>
                </a:solidFill>
                <a:latin typeface="Arial" panose="020B0604020202020204" pitchFamily="34" charset="0"/>
                <a:ea typeface="宋体" panose="02010600030101010101" pitchFamily="2" charset="-122"/>
                <a:cs typeface="Arial" panose="020B0604020202020204" pitchFamily="34" charset="0"/>
              </a:rPr>
              <a:t>例</a:t>
            </a:r>
            <a:r>
              <a:rPr lang="en-US" altLang="zh-CN" sz="2400" kern="0" dirty="0" smtClean="0">
                <a:solidFill>
                  <a:srgbClr val="FF3399"/>
                </a:solidFill>
                <a:latin typeface="Arial" panose="020B0604020202020204" pitchFamily="34" charset="0"/>
                <a:ea typeface="宋体" panose="02010600030101010101" pitchFamily="2" charset="-122"/>
                <a:cs typeface="Arial" panose="020B0604020202020204" pitchFamily="34" charset="0"/>
              </a:rPr>
              <a:t>7.5】</a:t>
            </a:r>
            <a:r>
              <a:rPr kumimoji="1" lang="zh-CN" altLang="en-US" sz="2400" kern="0" dirty="0">
                <a:latin typeface="Arial" panose="020B0604020202020204" pitchFamily="34" charset="0"/>
                <a:ea typeface="宋体" panose="02010600030101010101" pitchFamily="2" charset="-122"/>
                <a:cs typeface="Arial" panose="020B0604020202020204" pitchFamily="34" charset="0"/>
              </a:rPr>
              <a:t>将</a:t>
            </a:r>
            <a:r>
              <a:rPr kumimoji="1" lang="en-US" altLang="zh-CN" sz="2400" kern="0" dirty="0">
                <a:latin typeface="Arial" panose="020B0604020202020204" pitchFamily="34" charset="0"/>
                <a:ea typeface="宋体" panose="02010600030101010101" pitchFamily="2" charset="-122"/>
                <a:cs typeface="Arial" panose="020B0604020202020204" pitchFamily="34" charset="0"/>
              </a:rPr>
              <a:t>【</a:t>
            </a:r>
            <a:r>
              <a:rPr kumimoji="1" lang="zh-CN" altLang="en-US" sz="2400" kern="0" dirty="0">
                <a:latin typeface="Arial" panose="020B0604020202020204" pitchFamily="34" charset="0"/>
                <a:ea typeface="宋体" panose="02010600030101010101" pitchFamily="2" charset="-122"/>
                <a:cs typeface="Arial" panose="020B0604020202020204" pitchFamily="34" charset="0"/>
              </a:rPr>
              <a:t>例</a:t>
            </a:r>
            <a:r>
              <a:rPr kumimoji="1" lang="en-US" altLang="zh-CN" sz="2400" kern="0" dirty="0">
                <a:latin typeface="Arial" panose="020B0604020202020204" pitchFamily="34" charset="0"/>
                <a:ea typeface="宋体" panose="02010600030101010101" pitchFamily="2" charset="-122"/>
                <a:cs typeface="Arial" panose="020B0604020202020204" pitchFamily="34" charset="0"/>
              </a:rPr>
              <a:t>7.3】</a:t>
            </a:r>
            <a:r>
              <a:rPr kumimoji="1" lang="zh-CN" altLang="en-US" sz="2400" kern="0" dirty="0">
                <a:latin typeface="Arial" panose="020B0604020202020204" pitchFamily="34" charset="0"/>
                <a:ea typeface="宋体" panose="02010600030101010101" pitchFamily="2" charset="-122"/>
                <a:cs typeface="Arial" panose="020B0604020202020204" pitchFamily="34" charset="0"/>
              </a:rPr>
              <a:t>采用</a:t>
            </a:r>
            <a:r>
              <a:rPr kumimoji="1" lang="en-US" altLang="zh-CN" sz="2400" kern="0" dirty="0">
                <a:latin typeface="Arial" panose="020B0604020202020204" pitchFamily="34" charset="0"/>
                <a:ea typeface="宋体" panose="02010600030101010101" pitchFamily="2" charset="-122"/>
                <a:cs typeface="Arial" panose="020B0604020202020204" pitchFamily="34" charset="0"/>
              </a:rPr>
              <a:t>Mealy</a:t>
            </a:r>
            <a:r>
              <a:rPr kumimoji="1" lang="zh-CN" altLang="en-US" sz="2400" kern="0" dirty="0">
                <a:latin typeface="Arial" panose="020B0604020202020204" pitchFamily="34" charset="0"/>
                <a:ea typeface="宋体" panose="02010600030101010101" pitchFamily="2" charset="-122"/>
                <a:cs typeface="Arial" panose="020B0604020202020204" pitchFamily="34" charset="0"/>
              </a:rPr>
              <a:t>型状态机实现。</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267139"/>
                                        </p:tgtEl>
                                        <p:attrNameLst>
                                          <p:attrName>style.visibility</p:attrName>
                                        </p:attrNameLst>
                                      </p:cBhvr>
                                      <p:to>
                                        <p:strVal val="visible"/>
                                      </p:to>
                                    </p:set>
                                    <p:anim calcmode="lin" valueType="num">
                                      <p:cBhvr>
                                        <p:cTn id="7" dur="1000" fill="hold"/>
                                        <p:tgtEl>
                                          <p:spTgt spid="2267139"/>
                                        </p:tgtEl>
                                        <p:attrNameLst>
                                          <p:attrName>ppt_w</p:attrName>
                                        </p:attrNameLst>
                                      </p:cBhvr>
                                      <p:tavLst>
                                        <p:tav tm="0">
                                          <p:val>
                                            <p:strVal val="#ppt_w*0.70"/>
                                          </p:val>
                                        </p:tav>
                                        <p:tav tm="100000">
                                          <p:val>
                                            <p:strVal val="#ppt_w"/>
                                          </p:val>
                                        </p:tav>
                                      </p:tavLst>
                                    </p:anim>
                                    <p:anim calcmode="lin" valueType="num">
                                      <p:cBhvr>
                                        <p:cTn id="8" dur="1000" fill="hold"/>
                                        <p:tgtEl>
                                          <p:spTgt spid="2267139"/>
                                        </p:tgtEl>
                                        <p:attrNameLst>
                                          <p:attrName>ppt_h</p:attrName>
                                        </p:attrNameLst>
                                      </p:cBhvr>
                                      <p:tavLst>
                                        <p:tav tm="0">
                                          <p:val>
                                            <p:strVal val="#ppt_h"/>
                                          </p:val>
                                        </p:tav>
                                        <p:tav tm="100000">
                                          <p:val>
                                            <p:strVal val="#ppt_h"/>
                                          </p:val>
                                        </p:tav>
                                      </p:tavLst>
                                    </p:anim>
                                    <p:animEffect transition="in" filter="fade">
                                      <p:cBhvr>
                                        <p:cTn id="9" dur="1000"/>
                                        <p:tgtEl>
                                          <p:spTgt spid="226713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5"/>
                                        </p:tgtEl>
                                        <p:attrNameLst>
                                          <p:attrName>style.visibility</p:attrName>
                                        </p:attrNameLst>
                                      </p:cBhvr>
                                      <p:to>
                                        <p:strVal val="visible"/>
                                      </p:to>
                                    </p:set>
                                    <p:anim calcmode="lin" valueType="num">
                                      <p:cBhvr additive="base">
                                        <p:cTn id="14" dur="500" fill="hold"/>
                                        <p:tgtEl>
                                          <p:spTgt spid="35"/>
                                        </p:tgtEl>
                                        <p:attrNameLst>
                                          <p:attrName>ppt_x</p:attrName>
                                        </p:attrNameLst>
                                      </p:cBhvr>
                                      <p:tavLst>
                                        <p:tav tm="0">
                                          <p:val>
                                            <p:strVal val="#ppt_x"/>
                                          </p:val>
                                        </p:tav>
                                        <p:tav tm="100000">
                                          <p:val>
                                            <p:strVal val="#ppt_x"/>
                                          </p:val>
                                        </p:tav>
                                      </p:tavLst>
                                    </p:anim>
                                    <p:anim calcmode="lin" valueType="num">
                                      <p:cBhvr additive="base">
                                        <p:cTn id="1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7139" grpId="0" bldLvl="0" animBg="1"/>
      <p:bldP spid="35" grpId="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8903" name="Text Box 7"/>
          <p:cNvSpPr txBox="1">
            <a:spLocks noChangeArrowheads="1"/>
          </p:cNvSpPr>
          <p:nvPr/>
        </p:nvSpPr>
        <p:spPr bwMode="auto">
          <a:xfrm>
            <a:off x="8934450" y="1470025"/>
            <a:ext cx="1087120" cy="521970"/>
          </a:xfrm>
          <a:prstGeom prst="rect">
            <a:avLst/>
          </a:prstGeom>
          <a:noFill/>
          <a:ln w="9525">
            <a:noFill/>
            <a:miter lim="800000"/>
          </a:ln>
        </p:spPr>
        <p:txBody>
          <a:bodyPr wrap="none">
            <a:spAutoFit/>
          </a:bodyPr>
          <a:lstStyle/>
          <a:p>
            <a:pPr algn="l">
              <a:lnSpc>
                <a:spcPct val="100000"/>
              </a:lnSpc>
              <a:spcBef>
                <a:spcPct val="0"/>
              </a:spcBef>
            </a:pPr>
            <a:r>
              <a:rPr lang="en-US" altLang="zh-CN" sz="2800" dirty="0">
                <a:solidFill>
                  <a:srgbClr val="FF66CC"/>
                </a:solidFill>
                <a:latin typeface="Verdana" panose="020B0604030504040204" pitchFamily="34" charset="0"/>
              </a:rPr>
              <a:t>1101</a:t>
            </a:r>
          </a:p>
        </p:txBody>
      </p:sp>
      <p:grpSp>
        <p:nvGrpSpPr>
          <p:cNvPr id="2" name="Group 47"/>
          <p:cNvGrpSpPr/>
          <p:nvPr/>
        </p:nvGrpSpPr>
        <p:grpSpPr bwMode="auto">
          <a:xfrm>
            <a:off x="3827463" y="1125538"/>
            <a:ext cx="5532437" cy="5213350"/>
            <a:chOff x="1451" y="709"/>
            <a:chExt cx="3485" cy="3284"/>
          </a:xfrm>
        </p:grpSpPr>
        <p:sp>
          <p:nvSpPr>
            <p:cNvPr id="76811" name="Oval 9"/>
            <p:cNvSpPr>
              <a:spLocks noChangeArrowheads="1"/>
            </p:cNvSpPr>
            <p:nvPr/>
          </p:nvSpPr>
          <p:spPr bwMode="auto">
            <a:xfrm>
              <a:off x="1541" y="2024"/>
              <a:ext cx="726" cy="681"/>
            </a:xfrm>
            <a:prstGeom prst="ellipse">
              <a:avLst/>
            </a:prstGeom>
            <a:solidFill>
              <a:schemeClr val="accent1"/>
            </a:solidFill>
            <a:ln w="9525">
              <a:solidFill>
                <a:schemeClr val="tx1"/>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4</a:t>
              </a:r>
            </a:p>
          </p:txBody>
        </p:sp>
        <p:sp>
          <p:nvSpPr>
            <p:cNvPr id="76812" name="Text Box 10"/>
            <p:cNvSpPr txBox="1">
              <a:spLocks noChangeArrowheads="1"/>
            </p:cNvSpPr>
            <p:nvPr/>
          </p:nvSpPr>
          <p:spPr bwMode="auto">
            <a:xfrm>
              <a:off x="1451" y="2977"/>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dirty="0">
                  <a:solidFill>
                    <a:srgbClr val="FF66CC"/>
                  </a:solidFill>
                  <a:latin typeface="Verdana" panose="020B0604030504040204" pitchFamily="34" charset="0"/>
                </a:rPr>
                <a:t>1</a:t>
              </a:r>
              <a:r>
                <a:rPr lang="en-US" altLang="zh-CN" sz="2400" dirty="0">
                  <a:solidFill>
                    <a:srgbClr val="FF6600"/>
                  </a:solidFill>
                  <a:latin typeface="Verdana" panose="020B0604030504040204" pitchFamily="34" charset="0"/>
                </a:rPr>
                <a:t>/</a:t>
              </a:r>
              <a:r>
                <a:rPr lang="en-US" altLang="zh-CN" sz="2400" dirty="0">
                  <a:solidFill>
                    <a:srgbClr val="006600"/>
                  </a:solidFill>
                  <a:latin typeface="Verdana" panose="020B0604030504040204" pitchFamily="34" charset="0"/>
                </a:rPr>
                <a:t>1</a:t>
              </a:r>
            </a:p>
          </p:txBody>
        </p:sp>
        <p:sp>
          <p:nvSpPr>
            <p:cNvPr id="76813" name="Oval 12"/>
            <p:cNvSpPr>
              <a:spLocks noChangeArrowheads="1"/>
            </p:cNvSpPr>
            <p:nvPr/>
          </p:nvSpPr>
          <p:spPr bwMode="auto">
            <a:xfrm>
              <a:off x="2811" y="1117"/>
              <a:ext cx="726" cy="681"/>
            </a:xfrm>
            <a:prstGeom prst="ellipse">
              <a:avLst/>
            </a:prstGeom>
            <a:solidFill>
              <a:schemeClr val="accent1"/>
            </a:solidFill>
            <a:ln w="9525">
              <a:solidFill>
                <a:schemeClr val="tx1"/>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0</a:t>
              </a:r>
            </a:p>
          </p:txBody>
        </p:sp>
        <p:sp>
          <p:nvSpPr>
            <p:cNvPr id="76814" name="Oval 13"/>
            <p:cNvSpPr>
              <a:spLocks noChangeArrowheads="1"/>
            </p:cNvSpPr>
            <p:nvPr/>
          </p:nvSpPr>
          <p:spPr bwMode="auto">
            <a:xfrm>
              <a:off x="4127" y="1979"/>
              <a:ext cx="726" cy="681"/>
            </a:xfrm>
            <a:prstGeom prst="ellipse">
              <a:avLst/>
            </a:prstGeom>
            <a:solidFill>
              <a:schemeClr val="accent1"/>
            </a:solidFill>
            <a:ln w="9525">
              <a:solidFill>
                <a:schemeClr val="tx1"/>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1</a:t>
              </a:r>
            </a:p>
          </p:txBody>
        </p:sp>
        <p:sp>
          <p:nvSpPr>
            <p:cNvPr id="76815" name="Oval 14"/>
            <p:cNvSpPr>
              <a:spLocks noChangeArrowheads="1"/>
            </p:cNvSpPr>
            <p:nvPr/>
          </p:nvSpPr>
          <p:spPr bwMode="auto">
            <a:xfrm>
              <a:off x="3764" y="3158"/>
              <a:ext cx="726" cy="681"/>
            </a:xfrm>
            <a:prstGeom prst="ellipse">
              <a:avLst/>
            </a:prstGeom>
            <a:solidFill>
              <a:schemeClr val="accent1"/>
            </a:solidFill>
            <a:ln w="9525">
              <a:solidFill>
                <a:schemeClr val="tx1"/>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2</a:t>
              </a:r>
            </a:p>
          </p:txBody>
        </p:sp>
        <p:sp>
          <p:nvSpPr>
            <p:cNvPr id="76816" name="Oval 15"/>
            <p:cNvSpPr>
              <a:spLocks noChangeArrowheads="1"/>
            </p:cNvSpPr>
            <p:nvPr/>
          </p:nvSpPr>
          <p:spPr bwMode="auto">
            <a:xfrm>
              <a:off x="2176" y="3158"/>
              <a:ext cx="726" cy="681"/>
            </a:xfrm>
            <a:prstGeom prst="ellipse">
              <a:avLst/>
            </a:prstGeom>
            <a:solidFill>
              <a:schemeClr val="accent1"/>
            </a:solidFill>
            <a:ln w="9525">
              <a:solidFill>
                <a:schemeClr val="tx1"/>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400">
                  <a:solidFill>
                    <a:srgbClr val="FF66CC"/>
                  </a:solidFill>
                  <a:latin typeface="Verdana" panose="020B0604030504040204" pitchFamily="34" charset="0"/>
                </a:rPr>
                <a:t>3</a:t>
              </a:r>
            </a:p>
          </p:txBody>
        </p:sp>
        <p:sp>
          <p:nvSpPr>
            <p:cNvPr id="76817" name="Line 16"/>
            <p:cNvSpPr>
              <a:spLocks noChangeShapeType="1"/>
            </p:cNvSpPr>
            <p:nvPr/>
          </p:nvSpPr>
          <p:spPr bwMode="auto">
            <a:xfrm>
              <a:off x="3532" y="1520"/>
              <a:ext cx="835" cy="489"/>
            </a:xfrm>
            <a:prstGeom prst="line">
              <a:avLst/>
            </a:prstGeom>
            <a:noFill/>
            <a:ln w="38100">
              <a:solidFill>
                <a:srgbClr val="0000FF"/>
              </a:solidFill>
              <a:round/>
              <a:tailEnd type="triangle" w="med" len="med"/>
            </a:ln>
          </p:spPr>
          <p:txBody>
            <a:bodyPr/>
            <a:lstStyle/>
            <a:p>
              <a:endParaRPr lang="zh-CN" altLang="en-US"/>
            </a:p>
          </p:txBody>
        </p:sp>
        <p:sp>
          <p:nvSpPr>
            <p:cNvPr id="76818" name="Text Box 17"/>
            <p:cNvSpPr txBox="1">
              <a:spLocks noChangeArrowheads="1"/>
            </p:cNvSpPr>
            <p:nvPr/>
          </p:nvSpPr>
          <p:spPr bwMode="auto">
            <a:xfrm>
              <a:off x="3764" y="1435"/>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dirty="0">
                  <a:solidFill>
                    <a:srgbClr val="FF66CC"/>
                  </a:solidFill>
                  <a:latin typeface="Verdana" panose="020B0604030504040204" pitchFamily="34" charset="0"/>
                </a:rPr>
                <a:t>1</a:t>
              </a:r>
              <a:r>
                <a:rPr lang="en-US" altLang="zh-CN" sz="2400" dirty="0">
                  <a:solidFill>
                    <a:srgbClr val="FF6600"/>
                  </a:solidFill>
                  <a:latin typeface="Verdana" panose="020B0604030504040204" pitchFamily="34" charset="0"/>
                </a:rPr>
                <a:t>/0</a:t>
              </a:r>
            </a:p>
          </p:txBody>
        </p:sp>
        <p:sp>
          <p:nvSpPr>
            <p:cNvPr id="76819" name="Line 18"/>
            <p:cNvSpPr>
              <a:spLocks noChangeShapeType="1"/>
            </p:cNvSpPr>
            <p:nvPr/>
          </p:nvSpPr>
          <p:spPr bwMode="auto">
            <a:xfrm flipH="1">
              <a:off x="4308" y="2659"/>
              <a:ext cx="182" cy="545"/>
            </a:xfrm>
            <a:prstGeom prst="line">
              <a:avLst/>
            </a:prstGeom>
            <a:noFill/>
            <a:ln w="38100">
              <a:solidFill>
                <a:srgbClr val="0000FF"/>
              </a:solidFill>
              <a:round/>
              <a:tailEnd type="triangle" w="med" len="med"/>
            </a:ln>
          </p:spPr>
          <p:txBody>
            <a:bodyPr/>
            <a:lstStyle/>
            <a:p>
              <a:endParaRPr lang="zh-CN" altLang="en-US"/>
            </a:p>
          </p:txBody>
        </p:sp>
        <p:sp>
          <p:nvSpPr>
            <p:cNvPr id="76820" name="Text Box 19"/>
            <p:cNvSpPr txBox="1">
              <a:spLocks noChangeArrowheads="1"/>
            </p:cNvSpPr>
            <p:nvPr/>
          </p:nvSpPr>
          <p:spPr bwMode="auto">
            <a:xfrm>
              <a:off x="4490" y="2841"/>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dirty="0">
                  <a:solidFill>
                    <a:srgbClr val="FF66CC"/>
                  </a:solidFill>
                  <a:latin typeface="Verdana" panose="020B0604030504040204" pitchFamily="34" charset="0"/>
                </a:rPr>
                <a:t>1</a:t>
              </a:r>
              <a:r>
                <a:rPr lang="en-US" altLang="zh-CN" sz="2400" dirty="0">
                  <a:solidFill>
                    <a:srgbClr val="FF6600"/>
                  </a:solidFill>
                  <a:latin typeface="Verdana" panose="020B0604030504040204" pitchFamily="34" charset="0"/>
                </a:rPr>
                <a:t>/0</a:t>
              </a:r>
            </a:p>
          </p:txBody>
        </p:sp>
        <p:sp>
          <p:nvSpPr>
            <p:cNvPr id="76821" name="Line 20"/>
            <p:cNvSpPr>
              <a:spLocks noChangeShapeType="1"/>
            </p:cNvSpPr>
            <p:nvPr/>
          </p:nvSpPr>
          <p:spPr bwMode="auto">
            <a:xfrm flipH="1">
              <a:off x="2902" y="3567"/>
              <a:ext cx="862" cy="0"/>
            </a:xfrm>
            <a:prstGeom prst="line">
              <a:avLst/>
            </a:prstGeom>
            <a:noFill/>
            <a:ln w="38100">
              <a:solidFill>
                <a:srgbClr val="0000FF"/>
              </a:solidFill>
              <a:round/>
              <a:tailEnd type="triangle" w="med" len="med"/>
            </a:ln>
          </p:spPr>
          <p:txBody>
            <a:bodyPr/>
            <a:lstStyle/>
            <a:p>
              <a:endParaRPr lang="zh-CN" altLang="en-US"/>
            </a:p>
          </p:txBody>
        </p:sp>
        <p:sp>
          <p:nvSpPr>
            <p:cNvPr id="76822" name="Text Box 21"/>
            <p:cNvSpPr txBox="1">
              <a:spLocks noChangeArrowheads="1"/>
            </p:cNvSpPr>
            <p:nvPr/>
          </p:nvSpPr>
          <p:spPr bwMode="auto">
            <a:xfrm>
              <a:off x="3129" y="3703"/>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dirty="0">
                  <a:solidFill>
                    <a:srgbClr val="FF66CC"/>
                  </a:solidFill>
                  <a:latin typeface="Verdana" panose="020B0604030504040204" pitchFamily="34" charset="0"/>
                </a:rPr>
                <a:t>0</a:t>
              </a:r>
              <a:r>
                <a:rPr lang="en-US" altLang="zh-CN" sz="2400" dirty="0">
                  <a:solidFill>
                    <a:srgbClr val="FF6600"/>
                  </a:solidFill>
                  <a:latin typeface="Verdana" panose="020B0604030504040204" pitchFamily="34" charset="0"/>
                </a:rPr>
                <a:t>/0</a:t>
              </a:r>
            </a:p>
          </p:txBody>
        </p:sp>
        <p:sp>
          <p:nvSpPr>
            <p:cNvPr id="76823" name="Line 22"/>
            <p:cNvSpPr>
              <a:spLocks noChangeShapeType="1"/>
            </p:cNvSpPr>
            <p:nvPr/>
          </p:nvSpPr>
          <p:spPr bwMode="auto">
            <a:xfrm flipH="1" flipV="1">
              <a:off x="1904" y="2705"/>
              <a:ext cx="363" cy="635"/>
            </a:xfrm>
            <a:prstGeom prst="line">
              <a:avLst/>
            </a:prstGeom>
            <a:noFill/>
            <a:ln w="38100">
              <a:solidFill>
                <a:srgbClr val="0000FF"/>
              </a:solidFill>
              <a:round/>
              <a:tailEnd type="triangle" w="med" len="med"/>
            </a:ln>
          </p:spPr>
          <p:txBody>
            <a:bodyPr/>
            <a:lstStyle/>
            <a:p>
              <a:endParaRPr lang="zh-CN" altLang="en-US"/>
            </a:p>
          </p:txBody>
        </p:sp>
        <p:sp>
          <p:nvSpPr>
            <p:cNvPr id="76824" name="Line 23"/>
            <p:cNvSpPr>
              <a:spLocks noChangeShapeType="1"/>
            </p:cNvSpPr>
            <p:nvPr/>
          </p:nvSpPr>
          <p:spPr bwMode="auto">
            <a:xfrm flipV="1">
              <a:off x="2176" y="1571"/>
              <a:ext cx="681" cy="544"/>
            </a:xfrm>
            <a:prstGeom prst="line">
              <a:avLst/>
            </a:prstGeom>
            <a:noFill/>
            <a:ln w="38100">
              <a:solidFill>
                <a:srgbClr val="0000FF"/>
              </a:solidFill>
              <a:round/>
              <a:tailEnd type="triangle" w="med" len="med"/>
            </a:ln>
          </p:spPr>
          <p:txBody>
            <a:bodyPr/>
            <a:lstStyle/>
            <a:p>
              <a:endParaRPr lang="zh-CN" altLang="en-US"/>
            </a:p>
          </p:txBody>
        </p:sp>
        <p:sp>
          <p:nvSpPr>
            <p:cNvPr id="76825" name="Text Box 24"/>
            <p:cNvSpPr txBox="1">
              <a:spLocks noChangeArrowheads="1"/>
            </p:cNvSpPr>
            <p:nvPr/>
          </p:nvSpPr>
          <p:spPr bwMode="auto">
            <a:xfrm>
              <a:off x="1904" y="1480"/>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0/0</a:t>
              </a:r>
            </a:p>
          </p:txBody>
        </p:sp>
        <p:sp>
          <p:nvSpPr>
            <p:cNvPr id="76826" name="Line 25"/>
            <p:cNvSpPr>
              <a:spLocks noChangeShapeType="1"/>
            </p:cNvSpPr>
            <p:nvPr/>
          </p:nvSpPr>
          <p:spPr bwMode="auto">
            <a:xfrm flipV="1">
              <a:off x="2265" y="2342"/>
              <a:ext cx="1862" cy="0"/>
            </a:xfrm>
            <a:prstGeom prst="line">
              <a:avLst/>
            </a:prstGeom>
            <a:noFill/>
            <a:ln w="38100">
              <a:solidFill>
                <a:srgbClr val="0000FF"/>
              </a:solidFill>
              <a:round/>
              <a:tailEnd type="triangle" w="med" len="med"/>
            </a:ln>
          </p:spPr>
          <p:txBody>
            <a:bodyPr/>
            <a:lstStyle/>
            <a:p>
              <a:endParaRPr lang="zh-CN" altLang="en-US"/>
            </a:p>
          </p:txBody>
        </p:sp>
        <p:sp>
          <p:nvSpPr>
            <p:cNvPr id="76827" name="Text Box 26"/>
            <p:cNvSpPr txBox="1">
              <a:spLocks noChangeArrowheads="1"/>
            </p:cNvSpPr>
            <p:nvPr/>
          </p:nvSpPr>
          <p:spPr bwMode="auto">
            <a:xfrm>
              <a:off x="2857" y="2070"/>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1/0</a:t>
              </a:r>
            </a:p>
          </p:txBody>
        </p:sp>
        <p:sp>
          <p:nvSpPr>
            <p:cNvPr id="76828" name="Line 27"/>
            <p:cNvSpPr>
              <a:spLocks noChangeShapeType="1"/>
            </p:cNvSpPr>
            <p:nvPr/>
          </p:nvSpPr>
          <p:spPr bwMode="auto">
            <a:xfrm flipH="1" flipV="1">
              <a:off x="3425" y="1664"/>
              <a:ext cx="782" cy="411"/>
            </a:xfrm>
            <a:prstGeom prst="line">
              <a:avLst/>
            </a:prstGeom>
            <a:noFill/>
            <a:ln w="38100">
              <a:solidFill>
                <a:srgbClr val="0000FF"/>
              </a:solidFill>
              <a:round/>
              <a:tailEnd type="triangle" w="med" len="med"/>
            </a:ln>
          </p:spPr>
          <p:txBody>
            <a:bodyPr/>
            <a:lstStyle/>
            <a:p>
              <a:endParaRPr lang="zh-CN" altLang="en-US"/>
            </a:p>
          </p:txBody>
        </p:sp>
        <p:sp>
          <p:nvSpPr>
            <p:cNvPr id="76829" name="Text Box 28"/>
            <p:cNvSpPr txBox="1">
              <a:spLocks noChangeArrowheads="1"/>
            </p:cNvSpPr>
            <p:nvPr/>
          </p:nvSpPr>
          <p:spPr bwMode="auto">
            <a:xfrm>
              <a:off x="3401" y="1798"/>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0/0</a:t>
              </a:r>
            </a:p>
          </p:txBody>
        </p:sp>
        <p:sp>
          <p:nvSpPr>
            <p:cNvPr id="76830" name="Freeform 29"/>
            <p:cNvSpPr/>
            <p:nvPr/>
          </p:nvSpPr>
          <p:spPr bwMode="auto">
            <a:xfrm rot="-277449">
              <a:off x="3576" y="2814"/>
              <a:ext cx="522" cy="544"/>
            </a:xfrm>
            <a:custGeom>
              <a:avLst/>
              <a:gdLst>
                <a:gd name="T0" fmla="*/ 522 w 522"/>
                <a:gd name="T1" fmla="*/ 363 h 544"/>
                <a:gd name="T2" fmla="*/ 340 w 522"/>
                <a:gd name="T3" fmla="*/ 91 h 544"/>
                <a:gd name="T4" fmla="*/ 68 w 522"/>
                <a:gd name="T5" fmla="*/ 45 h 544"/>
                <a:gd name="T6" fmla="*/ 23 w 522"/>
                <a:gd name="T7" fmla="*/ 363 h 544"/>
                <a:gd name="T8" fmla="*/ 204 w 522"/>
                <a:gd name="T9" fmla="*/ 544 h 544"/>
                <a:gd name="T10" fmla="*/ 0 60000 65536"/>
                <a:gd name="T11" fmla="*/ 0 60000 65536"/>
                <a:gd name="T12" fmla="*/ 0 60000 65536"/>
                <a:gd name="T13" fmla="*/ 0 60000 65536"/>
                <a:gd name="T14" fmla="*/ 0 60000 65536"/>
                <a:gd name="T15" fmla="*/ 0 w 522"/>
                <a:gd name="T16" fmla="*/ 0 h 544"/>
                <a:gd name="T17" fmla="*/ 522 w 522"/>
                <a:gd name="T18" fmla="*/ 544 h 544"/>
              </a:gdLst>
              <a:ahLst/>
              <a:cxnLst>
                <a:cxn ang="T10">
                  <a:pos x="T0" y="T1"/>
                </a:cxn>
                <a:cxn ang="T11">
                  <a:pos x="T2" y="T3"/>
                </a:cxn>
                <a:cxn ang="T12">
                  <a:pos x="T4" y="T5"/>
                </a:cxn>
                <a:cxn ang="T13">
                  <a:pos x="T6" y="T7"/>
                </a:cxn>
                <a:cxn ang="T14">
                  <a:pos x="T8" y="T9"/>
                </a:cxn>
              </a:cxnLst>
              <a:rect l="T15" t="T16" r="T17" b="T18"/>
              <a:pathLst>
                <a:path w="522" h="544">
                  <a:moveTo>
                    <a:pt x="522" y="363"/>
                  </a:moveTo>
                  <a:cubicBezTo>
                    <a:pt x="468" y="253"/>
                    <a:pt x="415" y="144"/>
                    <a:pt x="340" y="91"/>
                  </a:cubicBezTo>
                  <a:cubicBezTo>
                    <a:pt x="265" y="38"/>
                    <a:pt x="121" y="0"/>
                    <a:pt x="68" y="45"/>
                  </a:cubicBezTo>
                  <a:cubicBezTo>
                    <a:pt x="15" y="90"/>
                    <a:pt x="0" y="280"/>
                    <a:pt x="23" y="363"/>
                  </a:cubicBezTo>
                  <a:cubicBezTo>
                    <a:pt x="46" y="446"/>
                    <a:pt x="174" y="514"/>
                    <a:pt x="204" y="544"/>
                  </a:cubicBezTo>
                </a:path>
              </a:pathLst>
            </a:custGeom>
            <a:noFill/>
            <a:ln w="38100">
              <a:solidFill>
                <a:srgbClr val="0000FF"/>
              </a:solidFill>
              <a:round/>
              <a:tailEnd type="triangle" w="med" len="med"/>
            </a:ln>
          </p:spPr>
          <p:txBody>
            <a:bodyPr/>
            <a:lstStyle/>
            <a:p>
              <a:endParaRPr lang="zh-CN" altLang="en-US"/>
            </a:p>
          </p:txBody>
        </p:sp>
        <p:sp>
          <p:nvSpPr>
            <p:cNvPr id="76831" name="Text Box 30"/>
            <p:cNvSpPr txBox="1">
              <a:spLocks noChangeArrowheads="1"/>
            </p:cNvSpPr>
            <p:nvPr/>
          </p:nvSpPr>
          <p:spPr bwMode="auto">
            <a:xfrm>
              <a:off x="3129" y="2659"/>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1/0</a:t>
              </a:r>
            </a:p>
          </p:txBody>
        </p:sp>
        <p:sp>
          <p:nvSpPr>
            <p:cNvPr id="76832" name="Line 31"/>
            <p:cNvSpPr>
              <a:spLocks noChangeShapeType="1"/>
            </p:cNvSpPr>
            <p:nvPr/>
          </p:nvSpPr>
          <p:spPr bwMode="auto">
            <a:xfrm flipV="1">
              <a:off x="2494" y="1752"/>
              <a:ext cx="499" cy="1406"/>
            </a:xfrm>
            <a:prstGeom prst="line">
              <a:avLst/>
            </a:prstGeom>
            <a:noFill/>
            <a:ln w="38100">
              <a:solidFill>
                <a:srgbClr val="0000FF"/>
              </a:solidFill>
              <a:round/>
              <a:tailEnd type="triangle" w="med" len="med"/>
            </a:ln>
          </p:spPr>
          <p:txBody>
            <a:bodyPr/>
            <a:lstStyle/>
            <a:p>
              <a:endParaRPr lang="zh-CN" altLang="en-US"/>
            </a:p>
          </p:txBody>
        </p:sp>
        <p:sp>
          <p:nvSpPr>
            <p:cNvPr id="76833" name="Text Box 32"/>
            <p:cNvSpPr txBox="1">
              <a:spLocks noChangeArrowheads="1"/>
            </p:cNvSpPr>
            <p:nvPr/>
          </p:nvSpPr>
          <p:spPr bwMode="auto">
            <a:xfrm>
              <a:off x="2176" y="2614"/>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0/0</a:t>
              </a:r>
            </a:p>
          </p:txBody>
        </p:sp>
        <p:sp>
          <p:nvSpPr>
            <p:cNvPr id="76834" name="Freeform 33"/>
            <p:cNvSpPr/>
            <p:nvPr/>
          </p:nvSpPr>
          <p:spPr bwMode="auto">
            <a:xfrm>
              <a:off x="2985" y="839"/>
              <a:ext cx="378" cy="302"/>
            </a:xfrm>
            <a:custGeom>
              <a:avLst/>
              <a:gdLst>
                <a:gd name="T0" fmla="*/ 325 w 378"/>
                <a:gd name="T1" fmla="*/ 302 h 302"/>
                <a:gd name="T2" fmla="*/ 371 w 378"/>
                <a:gd name="T3" fmla="*/ 211 h 302"/>
                <a:gd name="T4" fmla="*/ 280 w 378"/>
                <a:gd name="T5" fmla="*/ 30 h 302"/>
                <a:gd name="T6" fmla="*/ 99 w 378"/>
                <a:gd name="T7" fmla="*/ 30 h 302"/>
                <a:gd name="T8" fmla="*/ 8 w 378"/>
                <a:gd name="T9" fmla="*/ 121 h 302"/>
                <a:gd name="T10" fmla="*/ 53 w 378"/>
                <a:gd name="T11" fmla="*/ 302 h 302"/>
                <a:gd name="T12" fmla="*/ 0 60000 65536"/>
                <a:gd name="T13" fmla="*/ 0 60000 65536"/>
                <a:gd name="T14" fmla="*/ 0 60000 65536"/>
                <a:gd name="T15" fmla="*/ 0 60000 65536"/>
                <a:gd name="T16" fmla="*/ 0 60000 65536"/>
                <a:gd name="T17" fmla="*/ 0 60000 65536"/>
                <a:gd name="T18" fmla="*/ 0 w 378"/>
                <a:gd name="T19" fmla="*/ 0 h 302"/>
                <a:gd name="T20" fmla="*/ 378 w 378"/>
                <a:gd name="T21" fmla="*/ 302 h 302"/>
              </a:gdLst>
              <a:ahLst/>
              <a:cxnLst>
                <a:cxn ang="T12">
                  <a:pos x="T0" y="T1"/>
                </a:cxn>
                <a:cxn ang="T13">
                  <a:pos x="T2" y="T3"/>
                </a:cxn>
                <a:cxn ang="T14">
                  <a:pos x="T4" y="T5"/>
                </a:cxn>
                <a:cxn ang="T15">
                  <a:pos x="T6" y="T7"/>
                </a:cxn>
                <a:cxn ang="T16">
                  <a:pos x="T8" y="T9"/>
                </a:cxn>
                <a:cxn ang="T17">
                  <a:pos x="T10" y="T11"/>
                </a:cxn>
              </a:cxnLst>
              <a:rect l="T18" t="T19" r="T20" b="T21"/>
              <a:pathLst>
                <a:path w="378" h="302">
                  <a:moveTo>
                    <a:pt x="325" y="302"/>
                  </a:moveTo>
                  <a:cubicBezTo>
                    <a:pt x="351" y="279"/>
                    <a:pt x="378" y="256"/>
                    <a:pt x="371" y="211"/>
                  </a:cubicBezTo>
                  <a:cubicBezTo>
                    <a:pt x="364" y="166"/>
                    <a:pt x="325" y="60"/>
                    <a:pt x="280" y="30"/>
                  </a:cubicBezTo>
                  <a:cubicBezTo>
                    <a:pt x="235" y="0"/>
                    <a:pt x="144" y="15"/>
                    <a:pt x="99" y="30"/>
                  </a:cubicBezTo>
                  <a:cubicBezTo>
                    <a:pt x="54" y="45"/>
                    <a:pt x="16" y="76"/>
                    <a:pt x="8" y="121"/>
                  </a:cubicBezTo>
                  <a:cubicBezTo>
                    <a:pt x="0" y="166"/>
                    <a:pt x="26" y="234"/>
                    <a:pt x="53" y="302"/>
                  </a:cubicBezTo>
                </a:path>
              </a:pathLst>
            </a:custGeom>
            <a:noFill/>
            <a:ln w="38100">
              <a:solidFill>
                <a:srgbClr val="0000FF"/>
              </a:solidFill>
              <a:round/>
              <a:tailEnd type="triangle" w="med" len="med"/>
            </a:ln>
          </p:spPr>
          <p:txBody>
            <a:bodyPr/>
            <a:lstStyle/>
            <a:p>
              <a:endParaRPr lang="zh-CN" altLang="en-US"/>
            </a:p>
          </p:txBody>
        </p:sp>
        <p:sp>
          <p:nvSpPr>
            <p:cNvPr id="76835" name="Text Box 34"/>
            <p:cNvSpPr txBox="1">
              <a:spLocks noChangeArrowheads="1"/>
            </p:cNvSpPr>
            <p:nvPr/>
          </p:nvSpPr>
          <p:spPr bwMode="auto">
            <a:xfrm>
              <a:off x="3447" y="709"/>
              <a:ext cx="446" cy="290"/>
            </a:xfrm>
            <a:prstGeom prst="rect">
              <a:avLst/>
            </a:prstGeom>
            <a:noFill/>
            <a:ln w="9525">
              <a:noFill/>
              <a:miter lim="800000"/>
            </a:ln>
          </p:spPr>
          <p:txBody>
            <a:bodyPr wrap="none">
              <a:spAutoFit/>
            </a:bodyPr>
            <a:lstStyle/>
            <a:p>
              <a:pPr algn="l">
                <a:lnSpc>
                  <a:spcPct val="100000"/>
                </a:lnSpc>
                <a:spcBef>
                  <a:spcPct val="0"/>
                </a:spcBef>
              </a:pPr>
              <a:r>
                <a:rPr lang="en-US" altLang="zh-CN" sz="2400">
                  <a:solidFill>
                    <a:srgbClr val="FF6600"/>
                  </a:solidFill>
                  <a:latin typeface="Verdana" panose="020B0604030504040204" pitchFamily="34" charset="0"/>
                </a:rPr>
                <a:t>0/0</a:t>
              </a:r>
            </a:p>
          </p:txBody>
        </p:sp>
      </p:grpSp>
      <p:sp>
        <p:nvSpPr>
          <p:cNvPr id="76805" name="Rectangle 37"/>
          <p:cNvSpPr>
            <a:spLocks noGrp="1" noChangeArrowheads="1"/>
          </p:cNvSpPr>
          <p:nvPr>
            <p:ph type="title"/>
          </p:nvPr>
        </p:nvSpPr>
        <p:spPr/>
        <p:txBody>
          <a:bodyPr/>
          <a:lstStyle/>
          <a:p>
            <a:r>
              <a:rPr lang="zh-CN" altLang="en-US" dirty="0" smtClean="0">
                <a:solidFill>
                  <a:srgbClr val="FFCC00"/>
                </a:solidFill>
                <a:latin typeface="Arial" panose="020B0604020202020204" pitchFamily="34" charset="0"/>
                <a:ea typeface="黑体" panose="02010609060101010101" pitchFamily="49" charset="-122"/>
              </a:rPr>
              <a:t>序列检测器的</a:t>
            </a:r>
            <a:r>
              <a:rPr lang="en-US" altLang="zh-CN" dirty="0" smtClean="0">
                <a:solidFill>
                  <a:srgbClr val="FFCC00"/>
                </a:solidFill>
                <a:latin typeface="Arial" panose="020B0604020202020204" pitchFamily="34" charset="0"/>
                <a:ea typeface="黑体" panose="02010609060101010101" pitchFamily="49" charset="-122"/>
              </a:rPr>
              <a:t>Mealy</a:t>
            </a:r>
            <a:r>
              <a:rPr lang="zh-CN" altLang="en-US" dirty="0" smtClean="0">
                <a:solidFill>
                  <a:srgbClr val="FFCC00"/>
                </a:solidFill>
                <a:latin typeface="Arial" panose="020B0604020202020204" pitchFamily="34" charset="0"/>
                <a:ea typeface="黑体" panose="02010609060101010101" pitchFamily="49" charset="-122"/>
              </a:rPr>
              <a:t>型有限状态机状态图</a:t>
            </a:r>
          </a:p>
        </p:txBody>
      </p:sp>
      <p:sp>
        <p:nvSpPr>
          <p:cNvPr id="76804" name="灯片编号占位符 34"/>
          <p:cNvSpPr>
            <a:spLocks noGrp="1"/>
          </p:cNvSpPr>
          <p:nvPr>
            <p:ph type="sldNum" sz="quarter" idx="12"/>
          </p:nvPr>
        </p:nvSpPr>
        <p:spPr>
          <a:noFill/>
        </p:spPr>
        <p:txBody>
          <a:bodyPr/>
          <a:lstStyle/>
          <a:p>
            <a:fld id="{0B1BA270-2931-4BF6-A20A-1A41CF33DC65}" type="slidenum">
              <a:rPr lang="ko-KR" altLang="en-US" smtClean="0"/>
              <a:t>64</a:t>
            </a:fld>
            <a:endParaRPr lang="en-US" altLang="ko-KR" smtClean="0"/>
          </a:p>
        </p:txBody>
      </p:sp>
      <p:grpSp>
        <p:nvGrpSpPr>
          <p:cNvPr id="76806" name="Group 44"/>
          <p:cNvGrpSpPr/>
          <p:nvPr/>
        </p:nvGrpSpPr>
        <p:grpSpPr bwMode="auto">
          <a:xfrm>
            <a:off x="2081213" y="1557338"/>
            <a:ext cx="3208337" cy="996950"/>
            <a:chOff x="351" y="981"/>
            <a:chExt cx="2021" cy="628"/>
          </a:xfrm>
        </p:grpSpPr>
        <p:sp>
          <p:nvSpPr>
            <p:cNvPr id="76808" name="Oval 31"/>
            <p:cNvSpPr>
              <a:spLocks noChangeArrowheads="1"/>
            </p:cNvSpPr>
            <p:nvPr/>
          </p:nvSpPr>
          <p:spPr bwMode="auto">
            <a:xfrm>
              <a:off x="351" y="981"/>
              <a:ext cx="776" cy="628"/>
            </a:xfrm>
            <a:prstGeom prst="ellipse">
              <a:avLst/>
            </a:prstGeom>
            <a:solidFill>
              <a:schemeClr val="accent1">
                <a:alpha val="52940"/>
              </a:schemeClr>
            </a:solidFill>
            <a:ln w="28575">
              <a:solidFill>
                <a:schemeClr val="tx2"/>
              </a:solidFill>
              <a:round/>
            </a:ln>
          </p:spPr>
          <p:txBody>
            <a:bodyPr wrap="none" anchor="ctr"/>
            <a:lstStyle/>
            <a:p>
              <a:pPr>
                <a:lnSpc>
                  <a:spcPct val="100000"/>
                </a:lnSpc>
                <a:spcBef>
                  <a:spcPct val="0"/>
                </a:spcBef>
              </a:pPr>
              <a:r>
                <a:rPr lang="en-US" altLang="zh-CN" sz="2800">
                  <a:solidFill>
                    <a:srgbClr val="FF66CC"/>
                  </a:solidFill>
                  <a:latin typeface="Verdana" panose="020B0604030504040204" pitchFamily="34" charset="0"/>
                </a:rPr>
                <a:t>S</a:t>
              </a:r>
              <a:r>
                <a:rPr lang="en-US" altLang="zh-CN" sz="2800" baseline="-25000">
                  <a:solidFill>
                    <a:srgbClr val="FF66CC"/>
                  </a:solidFill>
                  <a:latin typeface="Verdana" panose="020B0604030504040204" pitchFamily="34" charset="0"/>
                </a:rPr>
                <a:t>i</a:t>
              </a:r>
            </a:p>
          </p:txBody>
        </p:sp>
        <p:sp>
          <p:nvSpPr>
            <p:cNvPr id="76809" name="Line 32"/>
            <p:cNvSpPr>
              <a:spLocks noChangeShapeType="1"/>
            </p:cNvSpPr>
            <p:nvPr/>
          </p:nvSpPr>
          <p:spPr bwMode="auto">
            <a:xfrm>
              <a:off x="1127" y="1345"/>
              <a:ext cx="982" cy="4"/>
            </a:xfrm>
            <a:prstGeom prst="line">
              <a:avLst/>
            </a:prstGeom>
            <a:noFill/>
            <a:ln w="38100">
              <a:solidFill>
                <a:srgbClr val="0000FF"/>
              </a:solidFill>
              <a:round/>
              <a:tailEnd type="triangle" w="med" len="med"/>
            </a:ln>
          </p:spPr>
          <p:txBody>
            <a:bodyPr/>
            <a:lstStyle/>
            <a:p>
              <a:endParaRPr lang="zh-CN" altLang="en-US"/>
            </a:p>
          </p:txBody>
        </p:sp>
        <p:sp>
          <p:nvSpPr>
            <p:cNvPr id="76810" name="Text Box 33"/>
            <p:cNvSpPr txBox="1">
              <a:spLocks noChangeArrowheads="1"/>
            </p:cNvSpPr>
            <p:nvPr/>
          </p:nvSpPr>
          <p:spPr bwMode="auto">
            <a:xfrm>
              <a:off x="1156" y="1027"/>
              <a:ext cx="1216" cy="232"/>
            </a:xfrm>
            <a:prstGeom prst="rect">
              <a:avLst/>
            </a:prstGeom>
            <a:noFill/>
            <a:ln w="9525">
              <a:noFill/>
              <a:miter lim="800000"/>
            </a:ln>
          </p:spPr>
          <p:txBody>
            <a:bodyPr>
              <a:spAutoFit/>
            </a:bodyPr>
            <a:lstStyle/>
            <a:p>
              <a:pPr algn="l">
                <a:lnSpc>
                  <a:spcPct val="100000"/>
                </a:lnSpc>
                <a:spcBef>
                  <a:spcPct val="0"/>
                </a:spcBef>
              </a:pPr>
              <a:r>
                <a:rPr lang="en-US" altLang="zh-CN" sz="1800">
                  <a:solidFill>
                    <a:srgbClr val="FF6600"/>
                  </a:solidFill>
                  <a:latin typeface="Verdana" panose="020B0604030504040204" pitchFamily="34" charset="0"/>
                </a:rPr>
                <a:t>Data_IN</a:t>
              </a:r>
              <a:r>
                <a:rPr lang="en-US" altLang="zh-CN" sz="1800" baseline="-25000">
                  <a:solidFill>
                    <a:srgbClr val="FF6600"/>
                  </a:solidFill>
                  <a:latin typeface="Verdana" panose="020B0604030504040204" pitchFamily="34" charset="0"/>
                </a:rPr>
                <a:t>i</a:t>
              </a:r>
              <a:r>
                <a:rPr lang="en-US" altLang="zh-CN" sz="1800">
                  <a:solidFill>
                    <a:srgbClr val="FF6600"/>
                  </a:solidFill>
                  <a:latin typeface="Verdana" panose="020B0604030504040204" pitchFamily="34" charset="0"/>
                </a:rPr>
                <a:t>/ZO</a:t>
              </a:r>
              <a:r>
                <a:rPr lang="en-US" altLang="zh-CN" sz="1800" baseline="-25000">
                  <a:solidFill>
                    <a:srgbClr val="FF6600"/>
                  </a:solidFill>
                  <a:latin typeface="Verdana" panose="020B0604030504040204" pitchFamily="34" charset="0"/>
                </a:rPr>
                <a:t>i</a:t>
              </a:r>
            </a:p>
          </p:txBody>
        </p:sp>
      </p:grpSp>
      <p:sp>
        <p:nvSpPr>
          <p:cNvPr id="2200583" name="AutoShape 7"/>
          <p:cNvSpPr>
            <a:spLocks noChangeArrowheads="1"/>
          </p:cNvSpPr>
          <p:nvPr/>
        </p:nvSpPr>
        <p:spPr bwMode="auto">
          <a:xfrm>
            <a:off x="1947863" y="5561013"/>
            <a:ext cx="2795587" cy="1011237"/>
          </a:xfrm>
          <a:prstGeom prst="wedgeRoundRectCallout">
            <a:avLst>
              <a:gd name="adj1" fmla="val 38588"/>
              <a:gd name="adj2" fmla="val -87333"/>
              <a:gd name="adj3" fmla="val 16667"/>
            </a:avLst>
          </a:prstGeom>
          <a:solidFill>
            <a:srgbClr val="FFFF99"/>
          </a:solidFill>
          <a:ln w="9525">
            <a:solidFill>
              <a:srgbClr val="FF9966"/>
            </a:solidFill>
            <a:miter lim="800000"/>
          </a:ln>
          <a:effectLst>
            <a:prstShdw prst="shdw17" dist="17961" dir="2700000">
              <a:srgbClr val="99995C"/>
            </a:prstShdw>
          </a:effectLst>
        </p:spPr>
        <p:txBody>
          <a:bodyPr anchor="b"/>
          <a:lstStyle/>
          <a:p>
            <a:pPr algn="l">
              <a:lnSpc>
                <a:spcPct val="100000"/>
              </a:lnSpc>
              <a:spcBef>
                <a:spcPct val="0"/>
              </a:spcBef>
            </a:pPr>
            <a:r>
              <a:rPr lang="zh-CN" altLang="en-US">
                <a:latin typeface="Arial" panose="020B0604020202020204" pitchFamily="34" charset="0"/>
                <a:ea typeface="楷体_GB2312" pitchFamily="49" charset="-122"/>
              </a:rPr>
              <a:t>在</a:t>
            </a:r>
            <a:r>
              <a:rPr lang="en-US" altLang="zh-CN">
                <a:latin typeface="Arial" panose="020B0604020202020204" pitchFamily="34" charset="0"/>
                <a:ea typeface="楷体_GB2312" pitchFamily="49" charset="-122"/>
              </a:rPr>
              <a:t>S3</a:t>
            </a:r>
            <a:r>
              <a:rPr lang="zh-CN" altLang="en-US">
                <a:latin typeface="Arial" panose="020B0604020202020204" pitchFamily="34" charset="0"/>
                <a:ea typeface="楷体_GB2312" pitchFamily="49" charset="-122"/>
              </a:rPr>
              <a:t>时若</a:t>
            </a:r>
            <a:r>
              <a:rPr lang="en-US" altLang="zh-CN">
                <a:latin typeface="Arial" panose="020B0604020202020204" pitchFamily="34" charset="0"/>
                <a:ea typeface="楷体_GB2312" pitchFamily="49" charset="-122"/>
              </a:rPr>
              <a:t>data=1</a:t>
            </a:r>
            <a:r>
              <a:rPr lang="zh-CN" altLang="en-US">
                <a:latin typeface="Arial" panose="020B0604020202020204" pitchFamily="34" charset="0"/>
                <a:ea typeface="楷体_GB2312" pitchFamily="49" charset="-122"/>
              </a:rPr>
              <a:t>，则</a:t>
            </a:r>
            <a:r>
              <a:rPr lang="en-US" altLang="zh-CN">
                <a:solidFill>
                  <a:srgbClr val="FF0066"/>
                </a:solidFill>
                <a:latin typeface="Arial" panose="020B0604020202020204" pitchFamily="34" charset="0"/>
                <a:ea typeface="楷体_GB2312" pitchFamily="49" charset="-122"/>
              </a:rPr>
              <a:t>zo</a:t>
            </a:r>
            <a:r>
              <a:rPr lang="zh-CN" altLang="en-US">
                <a:solidFill>
                  <a:srgbClr val="FF0066"/>
                </a:solidFill>
                <a:latin typeface="Arial" panose="020B0604020202020204" pitchFamily="34" charset="0"/>
                <a:ea typeface="楷体_GB2312" pitchFamily="49" charset="-122"/>
              </a:rPr>
              <a:t>置</a:t>
            </a:r>
            <a:r>
              <a:rPr lang="en-US" altLang="zh-CN">
                <a:solidFill>
                  <a:srgbClr val="FF0066"/>
                </a:solidFill>
                <a:latin typeface="Arial" panose="020B0604020202020204" pitchFamily="34" charset="0"/>
                <a:ea typeface="楷体_GB2312" pitchFamily="49" charset="-122"/>
              </a:rPr>
              <a:t>1</a:t>
            </a:r>
            <a:r>
              <a:rPr lang="zh-CN" altLang="en-US">
                <a:solidFill>
                  <a:srgbClr val="FF0066"/>
                </a:solidFill>
                <a:latin typeface="Arial" panose="020B0604020202020204" pitchFamily="34" charset="0"/>
                <a:ea typeface="楷体_GB2312" pitchFamily="49" charset="-122"/>
              </a:rPr>
              <a:t>：</a:t>
            </a:r>
            <a:r>
              <a:rPr lang="zh-CN" altLang="en-US">
                <a:latin typeface="Arial" panose="020B0604020202020204" pitchFamily="34" charset="0"/>
                <a:ea typeface="楷体_GB2312" pitchFamily="49" charset="-122"/>
              </a:rPr>
              <a:t>输出是内部状态和外部输入的函数</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08903"/>
                                        </p:tgtEl>
                                        <p:attrNameLst>
                                          <p:attrName>style.visibility</p:attrName>
                                        </p:attrNameLst>
                                      </p:cBhvr>
                                      <p:to>
                                        <p:strVal val="visible"/>
                                      </p:to>
                                    </p:set>
                                    <p:anim calcmode="lin" valueType="num">
                                      <p:cBhvr>
                                        <p:cTn id="12" dur="500" fill="hold"/>
                                        <p:tgtEl>
                                          <p:spTgt spid="208903"/>
                                        </p:tgtEl>
                                        <p:attrNameLst>
                                          <p:attrName>ppt_w</p:attrName>
                                        </p:attrNameLst>
                                      </p:cBhvr>
                                      <p:tavLst>
                                        <p:tav tm="0">
                                          <p:val>
                                            <p:fltVal val="0"/>
                                          </p:val>
                                        </p:tav>
                                        <p:tav tm="100000">
                                          <p:val>
                                            <p:strVal val="#ppt_w"/>
                                          </p:val>
                                        </p:tav>
                                      </p:tavLst>
                                    </p:anim>
                                    <p:anim calcmode="lin" valueType="num">
                                      <p:cBhvr>
                                        <p:cTn id="13" dur="500" fill="hold"/>
                                        <p:tgtEl>
                                          <p:spTgt spid="208903"/>
                                        </p:tgtEl>
                                        <p:attrNameLst>
                                          <p:attrName>ppt_h</p:attrName>
                                        </p:attrNameLst>
                                      </p:cBhvr>
                                      <p:tavLst>
                                        <p:tav tm="0">
                                          <p:val>
                                            <p:fltVal val="0"/>
                                          </p:val>
                                        </p:tav>
                                        <p:tav tm="100000">
                                          <p:val>
                                            <p:strVal val="#ppt_h"/>
                                          </p:val>
                                        </p:tav>
                                      </p:tavLst>
                                    </p:anim>
                                    <p:animEffect transition="in" filter="fade">
                                      <p:cBhvr>
                                        <p:cTn id="14" dur="500"/>
                                        <p:tgtEl>
                                          <p:spTgt spid="208903"/>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2200583"/>
                                        </p:tgtEl>
                                        <p:attrNameLst>
                                          <p:attrName>style.visibility</p:attrName>
                                        </p:attrNameLst>
                                      </p:cBhvr>
                                      <p:to>
                                        <p:strVal val="visible"/>
                                      </p:to>
                                    </p:set>
                                    <p:animEffect transition="in" filter="dissolve">
                                      <p:cBhvr>
                                        <p:cTn id="19" dur="500"/>
                                        <p:tgtEl>
                                          <p:spTgt spid="2200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3" grpId="0"/>
      <p:bldP spid="2200583" grpId="0" bldLvl="0" animBg="1"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1657350" y="1201738"/>
            <a:ext cx="5484813" cy="5033010"/>
          </a:xfrm>
          <a:prstGeom prst="rect">
            <a:avLst/>
          </a:prstGeom>
          <a:solidFill>
            <a:srgbClr val="ADD6FF"/>
          </a:solidFill>
          <a:ln w="9525">
            <a:noFill/>
            <a:miter lim="800000"/>
          </a:ln>
          <a:effectLst>
            <a:prstShdw prst="shdw13" dist="53882" dir="13500000">
              <a:srgbClr val="808080">
                <a:alpha val="50000"/>
              </a:srgbClr>
            </a:prstShdw>
          </a:effectLst>
        </p:spPr>
        <p:txBody>
          <a:bodyPr>
            <a:spAutoFit/>
          </a:bodyPr>
          <a:lstStyle/>
          <a:p>
            <a:pPr algn="l">
              <a:lnSpc>
                <a:spcPct val="85000"/>
              </a:lnSpc>
              <a:spcBef>
                <a:spcPct val="0"/>
              </a:spcBef>
            </a:pPr>
            <a:r>
              <a:rPr lang="en-US" altLang="zh-CN" sz="1800"/>
              <a:t>module</a:t>
            </a:r>
            <a:r>
              <a:rPr lang="en-US" altLang="zh-CN" sz="1800">
                <a:solidFill>
                  <a:srgbClr val="FF0000"/>
                </a:solidFill>
              </a:rPr>
              <a:t> monitor2_good</a:t>
            </a:r>
            <a:r>
              <a:rPr lang="en-US" altLang="zh-CN" sz="1800"/>
              <a:t>(clk,clr,data,zo,state);</a:t>
            </a:r>
          </a:p>
          <a:p>
            <a:pPr algn="l">
              <a:lnSpc>
                <a:spcPct val="85000"/>
              </a:lnSpc>
              <a:spcBef>
                <a:spcPct val="0"/>
              </a:spcBef>
            </a:pPr>
            <a:r>
              <a:rPr lang="en-US" altLang="zh-CN" sz="1800"/>
              <a:t>    parameter S0=3’b000, S1=3’b001,</a:t>
            </a:r>
          </a:p>
          <a:p>
            <a:pPr algn="l">
              <a:lnSpc>
                <a:spcPct val="85000"/>
              </a:lnSpc>
              <a:spcBef>
                <a:spcPct val="0"/>
              </a:spcBef>
            </a:pPr>
            <a:r>
              <a:rPr lang="en-US" altLang="zh-CN" sz="1800"/>
              <a:t>    S2=3’b010,S3=3’b011,S4=3’b100;</a:t>
            </a:r>
          </a:p>
          <a:p>
            <a:pPr algn="l">
              <a:lnSpc>
                <a:spcPct val="85000"/>
              </a:lnSpc>
              <a:spcBef>
                <a:spcPct val="0"/>
              </a:spcBef>
            </a:pPr>
            <a:r>
              <a:rPr lang="en-US" altLang="zh-CN" sz="1800"/>
              <a:t>    input clk,clr,data;</a:t>
            </a:r>
          </a:p>
          <a:p>
            <a:pPr algn="l">
              <a:lnSpc>
                <a:spcPct val="85000"/>
              </a:lnSpc>
              <a:spcBef>
                <a:spcPct val="0"/>
              </a:spcBef>
            </a:pPr>
            <a:r>
              <a:rPr lang="en-US" altLang="zh-CN" sz="1800"/>
              <a:t>    output zo;</a:t>
            </a:r>
          </a:p>
          <a:p>
            <a:pPr algn="l">
              <a:lnSpc>
                <a:spcPct val="85000"/>
              </a:lnSpc>
              <a:spcBef>
                <a:spcPct val="0"/>
              </a:spcBef>
            </a:pPr>
            <a:r>
              <a:rPr lang="en-US" altLang="zh-CN" sz="1800"/>
              <a:t>    output[2:0] state;</a:t>
            </a:r>
          </a:p>
          <a:p>
            <a:pPr algn="l">
              <a:lnSpc>
                <a:spcPct val="85000"/>
              </a:lnSpc>
              <a:spcBef>
                <a:spcPct val="0"/>
              </a:spcBef>
            </a:pPr>
            <a:r>
              <a:rPr lang="en-US" altLang="zh-CN" sz="1800"/>
              <a:t>    reg [2:0] state;</a:t>
            </a:r>
          </a:p>
          <a:p>
            <a:pPr algn="l">
              <a:lnSpc>
                <a:spcPct val="85000"/>
              </a:lnSpc>
              <a:spcBef>
                <a:spcPct val="0"/>
              </a:spcBef>
            </a:pPr>
            <a:r>
              <a:rPr lang="en-US" altLang="zh-CN" sz="1800"/>
              <a:t>    reg zo;</a:t>
            </a:r>
          </a:p>
          <a:p>
            <a:pPr algn="l">
              <a:lnSpc>
                <a:spcPct val="85000"/>
              </a:lnSpc>
              <a:spcBef>
                <a:spcPct val="0"/>
              </a:spcBef>
            </a:pPr>
            <a:r>
              <a:rPr lang="en-US" altLang="zh-CN" sz="1800"/>
              <a:t>    always @(posedge clk or posedge clr)</a:t>
            </a:r>
          </a:p>
          <a:p>
            <a:pPr algn="l">
              <a:lnSpc>
                <a:spcPct val="85000"/>
              </a:lnSpc>
              <a:spcBef>
                <a:spcPct val="0"/>
              </a:spcBef>
            </a:pPr>
            <a:r>
              <a:rPr lang="en-US" altLang="zh-CN" sz="1800"/>
              <a:t>       begin</a:t>
            </a:r>
          </a:p>
          <a:p>
            <a:pPr algn="l">
              <a:lnSpc>
                <a:spcPct val="85000"/>
              </a:lnSpc>
              <a:spcBef>
                <a:spcPct val="0"/>
              </a:spcBef>
            </a:pPr>
            <a:r>
              <a:rPr lang="en-US" altLang="zh-CN" sz="1800"/>
              <a:t>           if (clr) state=S0; //</a:t>
            </a:r>
            <a:r>
              <a:rPr lang="zh-CN" altLang="en-US" sz="1800">
                <a:solidFill>
                  <a:srgbClr val="FF0066"/>
                </a:solidFill>
                <a:latin typeface="Arial" panose="020B0604020202020204" pitchFamily="34" charset="0"/>
                <a:ea typeface="楷体_GB2312" pitchFamily="49" charset="-122"/>
              </a:rPr>
              <a:t>（</a:t>
            </a:r>
            <a:r>
              <a:rPr lang="en-US" altLang="zh-CN" sz="1800">
                <a:solidFill>
                  <a:srgbClr val="FF0066"/>
                </a:solidFill>
                <a:latin typeface="Arial" panose="020B0604020202020204" pitchFamily="34" charset="0"/>
                <a:ea typeface="楷体_GB2312" pitchFamily="49" charset="-122"/>
              </a:rPr>
              <a:t>1</a:t>
            </a:r>
            <a:r>
              <a:rPr lang="zh-CN" altLang="en-US" sz="1800">
                <a:solidFill>
                  <a:srgbClr val="FF0066"/>
                </a:solidFill>
                <a:latin typeface="Arial" panose="020B0604020202020204" pitchFamily="34" charset="0"/>
                <a:ea typeface="楷体_GB2312" pitchFamily="49" charset="-122"/>
              </a:rPr>
              <a:t>）复位时回到初始状态</a:t>
            </a:r>
            <a:endParaRPr lang="en-US" altLang="zh-CN" sz="1800">
              <a:solidFill>
                <a:srgbClr val="FF0066"/>
              </a:solidFill>
              <a:latin typeface="Arial" panose="020B0604020202020204" pitchFamily="34" charset="0"/>
              <a:ea typeface="楷体_GB2312" pitchFamily="49" charset="-122"/>
            </a:endParaRPr>
          </a:p>
          <a:p>
            <a:pPr algn="l">
              <a:lnSpc>
                <a:spcPct val="85000"/>
              </a:lnSpc>
              <a:spcBef>
                <a:spcPct val="0"/>
              </a:spcBef>
            </a:pPr>
            <a:r>
              <a:rPr lang="zh-CN" altLang="en-US" sz="1800"/>
              <a:t>           </a:t>
            </a:r>
            <a:r>
              <a:rPr lang="en-US" altLang="zh-CN" sz="1800"/>
              <a:t>else</a:t>
            </a:r>
          </a:p>
          <a:p>
            <a:pPr algn="l">
              <a:lnSpc>
                <a:spcPct val="85000"/>
              </a:lnSpc>
              <a:spcBef>
                <a:spcPct val="0"/>
              </a:spcBef>
            </a:pPr>
            <a:r>
              <a:rPr lang="en-US" altLang="zh-CN" sz="1800"/>
              <a:t>              begin</a:t>
            </a:r>
          </a:p>
          <a:p>
            <a:pPr algn="l">
              <a:lnSpc>
                <a:spcPct val="85000"/>
              </a:lnSpc>
              <a:spcBef>
                <a:spcPct val="0"/>
              </a:spcBef>
            </a:pPr>
            <a:r>
              <a:rPr lang="en-US" altLang="zh-CN" sz="1800"/>
              <a:t>                  </a:t>
            </a:r>
            <a:r>
              <a:rPr lang="en-US" altLang="zh-CN" sz="1800">
                <a:solidFill>
                  <a:srgbClr val="FF0066"/>
                </a:solidFill>
              </a:rPr>
              <a:t>case (state) </a:t>
            </a:r>
            <a:r>
              <a:rPr lang="en-US" altLang="zh-CN"/>
              <a:t>//</a:t>
            </a:r>
            <a:r>
              <a:rPr lang="zh-CN" altLang="en-US" sz="1800">
                <a:solidFill>
                  <a:srgbClr val="FF0066"/>
                </a:solidFill>
                <a:latin typeface="Arial" panose="020B0604020202020204" pitchFamily="34" charset="0"/>
                <a:ea typeface="楷体_GB2312" pitchFamily="49" charset="-122"/>
              </a:rPr>
              <a:t>（</a:t>
            </a:r>
            <a:r>
              <a:rPr lang="en-US" altLang="zh-CN" sz="1800">
                <a:solidFill>
                  <a:srgbClr val="FF0066"/>
                </a:solidFill>
                <a:latin typeface="Arial" panose="020B0604020202020204" pitchFamily="34" charset="0"/>
                <a:ea typeface="楷体_GB2312" pitchFamily="49" charset="-122"/>
              </a:rPr>
              <a:t>2</a:t>
            </a:r>
            <a:r>
              <a:rPr lang="zh-CN" altLang="en-US" sz="1800">
                <a:solidFill>
                  <a:srgbClr val="FF0066"/>
                </a:solidFill>
                <a:latin typeface="Arial" panose="020B0604020202020204" pitchFamily="34" charset="0"/>
                <a:ea typeface="楷体_GB2312" pitchFamily="49" charset="-122"/>
              </a:rPr>
              <a:t>）状态的转移</a:t>
            </a:r>
          </a:p>
          <a:p>
            <a:pPr algn="l">
              <a:lnSpc>
                <a:spcPct val="85000"/>
              </a:lnSpc>
              <a:spcBef>
                <a:spcPct val="0"/>
              </a:spcBef>
            </a:pPr>
            <a:r>
              <a:rPr lang="en-US" altLang="zh-CN" sz="1800"/>
              <a:t>	</a:t>
            </a:r>
            <a:r>
              <a:rPr lang="zh-CN" altLang="en-US" sz="1800"/>
              <a:t>      </a:t>
            </a:r>
            <a:r>
              <a:rPr lang="en-US" altLang="zh-CN" sz="1800">
                <a:solidFill>
                  <a:srgbClr val="FF0066"/>
                </a:solidFill>
              </a:rPr>
              <a:t>S0</a:t>
            </a:r>
            <a:r>
              <a:rPr lang="en-US" altLang="zh-CN" sz="1800"/>
              <a:t>:   if (data==1’b1) state=S1; </a:t>
            </a:r>
          </a:p>
          <a:p>
            <a:pPr algn="l">
              <a:lnSpc>
                <a:spcPct val="85000"/>
              </a:lnSpc>
              <a:spcBef>
                <a:spcPct val="0"/>
              </a:spcBef>
            </a:pPr>
            <a:r>
              <a:rPr lang="en-US" altLang="zh-CN" sz="1800"/>
              <a:t>                         </a:t>
            </a:r>
            <a:r>
              <a:rPr lang="zh-CN" altLang="en-US" sz="1800"/>
              <a:t>     </a:t>
            </a:r>
            <a:r>
              <a:rPr lang="en-US" altLang="zh-CN" sz="1800"/>
              <a:t>else state=S0;                          </a:t>
            </a:r>
            <a:r>
              <a:rPr lang="zh-CN" altLang="en-US" sz="1800"/>
              <a:t>        </a:t>
            </a:r>
            <a:endParaRPr lang="en-US" altLang="zh-CN" sz="1800"/>
          </a:p>
          <a:p>
            <a:pPr algn="l">
              <a:lnSpc>
                <a:spcPct val="85000"/>
              </a:lnSpc>
              <a:spcBef>
                <a:spcPct val="0"/>
              </a:spcBef>
            </a:pPr>
            <a:r>
              <a:rPr lang="en-US" altLang="zh-CN" sz="1800">
                <a:solidFill>
                  <a:srgbClr val="FF0066"/>
                </a:solidFill>
              </a:rPr>
              <a:t>                      S1</a:t>
            </a:r>
            <a:r>
              <a:rPr lang="en-US" altLang="zh-CN" sz="1800"/>
              <a:t>:   if (data==1’b1) state=S2; </a:t>
            </a:r>
          </a:p>
          <a:p>
            <a:pPr algn="l">
              <a:lnSpc>
                <a:spcPct val="85000"/>
              </a:lnSpc>
              <a:spcBef>
                <a:spcPct val="0"/>
              </a:spcBef>
            </a:pPr>
            <a:r>
              <a:rPr lang="en-US" altLang="zh-CN" sz="1800"/>
              <a:t>                          </a:t>
            </a:r>
            <a:r>
              <a:rPr lang="zh-CN" altLang="en-US" sz="1800"/>
              <a:t>    </a:t>
            </a:r>
            <a:r>
              <a:rPr lang="en-US" altLang="zh-CN" sz="1800"/>
              <a:t>else state=S0;</a:t>
            </a:r>
          </a:p>
          <a:p>
            <a:pPr algn="l">
              <a:lnSpc>
                <a:spcPct val="85000"/>
              </a:lnSpc>
              <a:spcBef>
                <a:spcPct val="0"/>
              </a:spcBef>
            </a:pPr>
            <a:r>
              <a:rPr lang="en-US" altLang="zh-CN" sz="1800"/>
              <a:t>                      </a:t>
            </a:r>
            <a:r>
              <a:rPr lang="en-US" altLang="zh-CN" sz="1800">
                <a:solidFill>
                  <a:srgbClr val="FF0066"/>
                </a:solidFill>
              </a:rPr>
              <a:t>S2</a:t>
            </a:r>
            <a:r>
              <a:rPr lang="en-US" altLang="zh-CN" sz="1800"/>
              <a:t>:   if (data==1’b0) state=S3; </a:t>
            </a:r>
          </a:p>
          <a:p>
            <a:pPr algn="l">
              <a:lnSpc>
                <a:spcPct val="85000"/>
              </a:lnSpc>
              <a:spcBef>
                <a:spcPct val="0"/>
              </a:spcBef>
            </a:pPr>
            <a:r>
              <a:rPr lang="en-US" altLang="zh-CN" sz="1800"/>
              <a:t>                              else state=S2;</a:t>
            </a:r>
          </a:p>
          <a:p>
            <a:pPr algn="l">
              <a:lnSpc>
                <a:spcPct val="85000"/>
              </a:lnSpc>
              <a:spcBef>
                <a:spcPct val="0"/>
              </a:spcBef>
            </a:pPr>
            <a:r>
              <a:rPr lang="en-US" altLang="zh-CN" sz="1800"/>
              <a:t>                      	</a:t>
            </a:r>
          </a:p>
        </p:txBody>
      </p:sp>
      <p:sp>
        <p:nvSpPr>
          <p:cNvPr id="77827" name="灯片编号占位符 3"/>
          <p:cNvSpPr>
            <a:spLocks noGrp="1"/>
          </p:cNvSpPr>
          <p:nvPr>
            <p:ph type="sldNum" sz="quarter" idx="12"/>
          </p:nvPr>
        </p:nvSpPr>
        <p:spPr>
          <a:noFill/>
        </p:spPr>
        <p:txBody>
          <a:bodyPr/>
          <a:lstStyle/>
          <a:p>
            <a:fld id="{2BA1F50B-6CB5-4E21-B3A1-82FCD436F763}" type="slidenum">
              <a:rPr lang="ko-KR" altLang="en-US" smtClean="0"/>
              <a:t>65</a:t>
            </a:fld>
            <a:endParaRPr lang="en-US" altLang="ko-KR" smtClean="0"/>
          </a:p>
        </p:txBody>
      </p:sp>
      <p:sp>
        <p:nvSpPr>
          <p:cNvPr id="77828" name="Rectangle 7"/>
          <p:cNvSpPr>
            <a:spLocks noGrp="1" noChangeArrowheads="1"/>
          </p:cNvSpPr>
          <p:nvPr>
            <p:ph type="title" idx="4294967295"/>
          </p:nvPr>
        </p:nvSpPr>
        <p:spPr>
          <a:xfrm>
            <a:off x="770255" y="165100"/>
            <a:ext cx="9897745" cy="609600"/>
          </a:xfrm>
        </p:spPr>
        <p:txBody>
          <a:bodyPr>
            <a:normAutofit fontScale="90000"/>
          </a:bodyPr>
          <a:lstStyle/>
          <a:p>
            <a:r>
              <a:rPr lang="zh-CN" altLang="en-US" dirty="0" smtClean="0">
                <a:solidFill>
                  <a:schemeClr val="accent2"/>
                </a:solidFill>
                <a:latin typeface="Arial" panose="020B0604020202020204" pitchFamily="34" charset="0"/>
                <a:ea typeface="黑体" panose="02010609060101010101" pitchFamily="49" charset="-122"/>
              </a:rPr>
              <a:t>序列检测器源程序（</a:t>
            </a:r>
            <a:r>
              <a:rPr lang="en-US" altLang="zh-CN" dirty="0" smtClean="0">
                <a:solidFill>
                  <a:schemeClr val="accent2"/>
                </a:solidFill>
                <a:latin typeface="Arial" panose="020B0604020202020204" pitchFamily="34" charset="0"/>
                <a:ea typeface="黑体" panose="02010609060101010101" pitchFamily="49" charset="-122"/>
              </a:rPr>
              <a:t>Mealy</a:t>
            </a:r>
            <a:r>
              <a:rPr lang="zh-CN" altLang="en-US" dirty="0" smtClean="0">
                <a:solidFill>
                  <a:schemeClr val="accent2"/>
                </a:solidFill>
                <a:latin typeface="Arial" panose="020B0604020202020204" pitchFamily="34" charset="0"/>
                <a:ea typeface="黑体" panose="02010609060101010101" pitchFamily="49" charset="-122"/>
              </a:rPr>
              <a:t>型状态机）</a:t>
            </a:r>
          </a:p>
        </p:txBody>
      </p:sp>
      <p:sp>
        <p:nvSpPr>
          <p:cNvPr id="77829" name="Rectangle 2"/>
          <p:cNvSpPr>
            <a:spLocks noChangeArrowheads="1"/>
          </p:cNvSpPr>
          <p:nvPr/>
        </p:nvSpPr>
        <p:spPr bwMode="auto">
          <a:xfrm>
            <a:off x="6343650" y="4448175"/>
            <a:ext cx="3962400" cy="1972310"/>
          </a:xfrm>
          <a:prstGeom prst="rect">
            <a:avLst/>
          </a:prstGeom>
          <a:solidFill>
            <a:srgbClr val="ADD6FF"/>
          </a:solidFill>
          <a:ln w="9525">
            <a:noFill/>
            <a:miter lim="800000"/>
          </a:ln>
          <a:effectLst>
            <a:prstShdw prst="shdw13" dist="53882" dir="13500000">
              <a:srgbClr val="808080">
                <a:alpha val="50000"/>
              </a:srgbClr>
            </a:prstShdw>
          </a:effectLst>
        </p:spPr>
        <p:txBody>
          <a:bodyPr>
            <a:spAutoFit/>
          </a:bodyPr>
          <a:lstStyle/>
          <a:p>
            <a:pPr algn="l">
              <a:lnSpc>
                <a:spcPct val="85000"/>
              </a:lnSpc>
              <a:spcBef>
                <a:spcPct val="0"/>
              </a:spcBef>
            </a:pPr>
            <a:r>
              <a:rPr lang="en-US" altLang="zh-CN" sz="1600"/>
              <a:t>	  </a:t>
            </a:r>
            <a:r>
              <a:rPr lang="en-US" altLang="zh-CN" sz="1600">
                <a:solidFill>
                  <a:srgbClr val="FF0066"/>
                </a:solidFill>
              </a:rPr>
              <a:t>S3:</a:t>
            </a:r>
            <a:r>
              <a:rPr lang="en-US" altLang="zh-CN" sz="1600"/>
              <a:t>  if (data==1’b1) state=S4; </a:t>
            </a:r>
          </a:p>
          <a:p>
            <a:pPr algn="l">
              <a:lnSpc>
                <a:spcPct val="85000"/>
              </a:lnSpc>
              <a:spcBef>
                <a:spcPct val="0"/>
              </a:spcBef>
            </a:pPr>
            <a:r>
              <a:rPr lang="en-US" altLang="zh-CN" sz="1600"/>
              <a:t>                            else state=S0; </a:t>
            </a:r>
          </a:p>
          <a:p>
            <a:pPr algn="l">
              <a:lnSpc>
                <a:spcPct val="85000"/>
              </a:lnSpc>
              <a:spcBef>
                <a:spcPct val="0"/>
              </a:spcBef>
            </a:pPr>
            <a:r>
              <a:rPr lang="en-US" altLang="zh-CN" sz="1600"/>
              <a:t>	  </a:t>
            </a:r>
            <a:r>
              <a:rPr lang="en-US" altLang="zh-CN" sz="1600">
                <a:solidFill>
                  <a:srgbClr val="FF0066"/>
                </a:solidFill>
              </a:rPr>
              <a:t>S4</a:t>
            </a:r>
            <a:r>
              <a:rPr lang="en-US" altLang="zh-CN" sz="1600"/>
              <a:t>:  if (data==1’b1) state=S1; </a:t>
            </a:r>
          </a:p>
          <a:p>
            <a:pPr algn="l">
              <a:lnSpc>
                <a:spcPct val="85000"/>
              </a:lnSpc>
              <a:spcBef>
                <a:spcPct val="0"/>
              </a:spcBef>
            </a:pPr>
            <a:r>
              <a:rPr lang="en-US" altLang="zh-CN" sz="1600"/>
              <a:t>                            else state=S0;                        </a:t>
            </a:r>
          </a:p>
          <a:p>
            <a:pPr algn="l">
              <a:lnSpc>
                <a:spcPct val="85000"/>
              </a:lnSpc>
              <a:spcBef>
                <a:spcPct val="0"/>
              </a:spcBef>
            </a:pPr>
            <a:r>
              <a:rPr lang="en-US" altLang="zh-CN" sz="1600"/>
              <a:t>                     </a:t>
            </a:r>
            <a:r>
              <a:rPr lang="en-US" altLang="zh-CN" sz="1600">
                <a:solidFill>
                  <a:srgbClr val="FF0066"/>
                </a:solidFill>
              </a:rPr>
              <a:t>default</a:t>
            </a:r>
            <a:r>
              <a:rPr lang="en-US" altLang="zh-CN" sz="1600"/>
              <a:t>: state=S0;</a:t>
            </a:r>
          </a:p>
          <a:p>
            <a:pPr algn="l">
              <a:lnSpc>
                <a:spcPct val="85000"/>
              </a:lnSpc>
              <a:spcBef>
                <a:spcPct val="0"/>
              </a:spcBef>
            </a:pPr>
            <a:r>
              <a:rPr lang="en-US" altLang="zh-CN" sz="1600"/>
              <a:t>             </a:t>
            </a:r>
            <a:r>
              <a:rPr lang="en-US" altLang="zh-CN" sz="1600">
                <a:solidFill>
                  <a:srgbClr val="FF0066"/>
                </a:solidFill>
              </a:rPr>
              <a:t>endcase</a:t>
            </a:r>
          </a:p>
          <a:p>
            <a:pPr algn="l">
              <a:lnSpc>
                <a:spcPct val="85000"/>
              </a:lnSpc>
              <a:spcBef>
                <a:spcPct val="0"/>
              </a:spcBef>
            </a:pPr>
            <a:r>
              <a:rPr lang="en-US" altLang="zh-CN" sz="1600"/>
              <a:t>         end</a:t>
            </a:r>
          </a:p>
          <a:p>
            <a:pPr algn="l">
              <a:lnSpc>
                <a:spcPct val="85000"/>
              </a:lnSpc>
              <a:spcBef>
                <a:spcPct val="0"/>
              </a:spcBef>
            </a:pPr>
            <a:r>
              <a:rPr lang="en-US" altLang="zh-CN" sz="1600"/>
              <a:t>    end</a:t>
            </a:r>
          </a:p>
          <a:p>
            <a:pPr algn="l">
              <a:lnSpc>
                <a:spcPct val="85000"/>
              </a:lnSpc>
              <a:spcBef>
                <a:spcPct val="0"/>
              </a:spcBef>
            </a:pPr>
            <a:r>
              <a:rPr lang="en-US" altLang="zh-CN" sz="1600"/>
              <a:t>endmodule	</a:t>
            </a:r>
          </a:p>
        </p:txBody>
      </p:sp>
    </p:spTree>
  </p:cSld>
  <p:clrMapOvr>
    <a:masterClrMapping/>
  </p:clrMapOvr>
  <p:transition>
    <p:blinds dir="ver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14" name="Picture 14"/>
          <p:cNvPicPr>
            <a:picLocks noChangeAspect="1" noChangeArrowheads="1"/>
          </p:cNvPicPr>
          <p:nvPr/>
        </p:nvPicPr>
        <p:blipFill>
          <a:blip r:embed="rId3" cstate="print"/>
          <a:srcRect/>
          <a:stretch>
            <a:fillRect/>
          </a:stretch>
        </p:blipFill>
        <p:spPr bwMode="black">
          <a:xfrm>
            <a:off x="3024188" y="4373563"/>
            <a:ext cx="6291262" cy="1603375"/>
          </a:xfrm>
          <a:prstGeom prst="rect">
            <a:avLst/>
          </a:prstGeom>
          <a:noFill/>
          <a:ln w="9525" cap="flat" cmpd="sng" algn="ctr">
            <a:noFill/>
            <a:prstDash val="solid"/>
            <a:miter lim="800000"/>
            <a:headEnd/>
            <a:tailEnd/>
          </a:ln>
          <a:effectLst>
            <a:prstShdw prst="shdw13" dist="53882" dir="13500000">
              <a:schemeClr val="bg1">
                <a:gamma/>
                <a:shade val="60000"/>
                <a:invGamma/>
                <a:alpha val="50000"/>
              </a:schemeClr>
            </a:prstShdw>
          </a:effectLst>
        </p:spPr>
      </p:pic>
      <p:sp>
        <p:nvSpPr>
          <p:cNvPr id="76802" name="Rectangle 2"/>
          <p:cNvSpPr>
            <a:spLocks noChangeArrowheads="1"/>
          </p:cNvSpPr>
          <p:nvPr/>
        </p:nvSpPr>
        <p:spPr bwMode="auto">
          <a:xfrm>
            <a:off x="2601913" y="1076325"/>
            <a:ext cx="5616575" cy="3255010"/>
          </a:xfrm>
          <a:prstGeom prst="rect">
            <a:avLst/>
          </a:prstGeom>
          <a:solidFill>
            <a:srgbClr val="ADD6FF"/>
          </a:solidFill>
          <a:ln w="9525">
            <a:noFill/>
            <a:miter lim="800000"/>
          </a:ln>
          <a:effectLst>
            <a:prstShdw prst="shdw13" dist="53882" dir="13500000">
              <a:srgbClr val="808080">
                <a:alpha val="50000"/>
              </a:srgbClr>
            </a:prstShdw>
          </a:effectLst>
        </p:spPr>
        <p:txBody>
          <a:bodyPr>
            <a:spAutoFit/>
          </a:bodyPr>
          <a:lstStyle/>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always @(state)       //</a:t>
            </a:r>
            <a:r>
              <a:rPr lang="zh-CN" altLang="en-US" sz="1600" dirty="0">
                <a:latin typeface="Arial" panose="020B0604020202020204" pitchFamily="34" charset="0"/>
                <a:ea typeface="宋体" panose="02010600030101010101" pitchFamily="2" charset="-122"/>
                <a:cs typeface="Arial" panose="020B0604020202020204" pitchFamily="34" charset="0"/>
              </a:rPr>
              <a:t>（</a:t>
            </a:r>
            <a:r>
              <a:rPr lang="en-US" altLang="zh-CN" sz="1600" dirty="0">
                <a:latin typeface="Arial" panose="020B0604020202020204" pitchFamily="34" charset="0"/>
                <a:ea typeface="宋体" panose="02010600030101010101" pitchFamily="2" charset="-122"/>
                <a:cs typeface="Arial" panose="020B0604020202020204" pitchFamily="34" charset="0"/>
              </a:rPr>
              <a:t>3</a:t>
            </a:r>
            <a:r>
              <a:rPr lang="zh-CN" altLang="en-US" sz="1600" dirty="0">
                <a:latin typeface="Arial" panose="020B0604020202020204" pitchFamily="34" charset="0"/>
                <a:ea typeface="宋体" panose="02010600030101010101" pitchFamily="2" charset="-122"/>
                <a:cs typeface="Arial" panose="020B0604020202020204" pitchFamily="34" charset="0"/>
              </a:rPr>
              <a:t>）</a:t>
            </a:r>
            <a:r>
              <a:rPr lang="zh-CN" altLang="en-US" sz="1600" dirty="0">
                <a:latin typeface="楷体_GB2312" pitchFamily="49" charset="-122"/>
                <a:ea typeface="楷体_GB2312" pitchFamily="49" charset="-122"/>
                <a:cs typeface="Arial" panose="020B0604020202020204" pitchFamily="34" charset="0"/>
              </a:rPr>
              <a:t>状态机的输出信号</a:t>
            </a:r>
          </a:p>
          <a:p>
            <a:pPr marL="352425" indent="-352425" algn="l">
              <a:lnSpc>
                <a:spcPct val="100000"/>
              </a:lnSpc>
              <a:spcBef>
                <a:spcPct val="0"/>
              </a:spcBef>
              <a:defRPr/>
            </a:pPr>
            <a:r>
              <a:rPr lang="zh-CN" altLang="en-US" sz="1600" dirty="0">
                <a:latin typeface="Arial" panose="020B0604020202020204" pitchFamily="34" charset="0"/>
                <a:ea typeface="宋体" panose="02010600030101010101" pitchFamily="2" charset="-122"/>
                <a:cs typeface="Arial" panose="020B0604020202020204" pitchFamily="34" charset="0"/>
              </a:rPr>
              <a:t>          </a:t>
            </a:r>
            <a:r>
              <a:rPr lang="en-US" altLang="zh-CN" sz="1600" dirty="0">
                <a:latin typeface="Arial" panose="020B0604020202020204" pitchFamily="34" charset="0"/>
                <a:ea typeface="宋体" panose="02010600030101010101" pitchFamily="2" charset="-122"/>
                <a:cs typeface="Arial" panose="020B0604020202020204" pitchFamily="34" charset="0"/>
              </a:rPr>
              <a:t>begin</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case (state)    </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S0:  </a:t>
            </a:r>
            <a:r>
              <a:rPr lang="en-US" altLang="zh-CN" sz="1600" dirty="0" err="1">
                <a:latin typeface="Arial" panose="020B0604020202020204" pitchFamily="34" charset="0"/>
                <a:ea typeface="宋体" panose="02010600030101010101" pitchFamily="2" charset="-122"/>
                <a:cs typeface="Arial" panose="020B0604020202020204" pitchFamily="34" charset="0"/>
              </a:rPr>
              <a:t>zo</a:t>
            </a:r>
            <a:r>
              <a:rPr lang="en-US" altLang="zh-CN" sz="1600" dirty="0">
                <a:latin typeface="Arial" panose="020B0604020202020204" pitchFamily="34" charset="0"/>
                <a:ea typeface="宋体" panose="02010600030101010101" pitchFamily="2" charset="-122"/>
                <a:cs typeface="Arial" panose="020B0604020202020204" pitchFamily="34" charset="0"/>
              </a:rPr>
              <a:t>=1'b0;                            </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S1:  </a:t>
            </a:r>
            <a:r>
              <a:rPr lang="en-US" altLang="zh-CN" sz="1600" dirty="0" err="1">
                <a:latin typeface="Arial" panose="020B0604020202020204" pitchFamily="34" charset="0"/>
                <a:ea typeface="宋体" panose="02010600030101010101" pitchFamily="2" charset="-122"/>
                <a:cs typeface="Arial" panose="020B0604020202020204" pitchFamily="34" charset="0"/>
              </a:rPr>
              <a:t>zo</a:t>
            </a:r>
            <a:r>
              <a:rPr lang="en-US" altLang="zh-CN" sz="1600" dirty="0">
                <a:latin typeface="Arial" panose="020B0604020202020204" pitchFamily="34" charset="0"/>
                <a:ea typeface="宋体" panose="02010600030101010101" pitchFamily="2" charset="-122"/>
                <a:cs typeface="Arial" panose="020B0604020202020204" pitchFamily="34" charset="0"/>
              </a:rPr>
              <a:t>=1'b0;                                </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S2:  </a:t>
            </a:r>
            <a:r>
              <a:rPr lang="en-US" altLang="zh-CN" sz="1600" dirty="0" err="1">
                <a:latin typeface="Arial" panose="020B0604020202020204" pitchFamily="34" charset="0"/>
                <a:ea typeface="宋体" panose="02010600030101010101" pitchFamily="2" charset="-122"/>
                <a:cs typeface="Arial" panose="020B0604020202020204" pitchFamily="34" charset="0"/>
              </a:rPr>
              <a:t>zo</a:t>
            </a:r>
            <a:r>
              <a:rPr lang="en-US" altLang="zh-CN" sz="1600" dirty="0">
                <a:latin typeface="Arial" panose="020B0604020202020204" pitchFamily="34" charset="0"/>
                <a:ea typeface="宋体" panose="02010600030101010101" pitchFamily="2" charset="-122"/>
                <a:cs typeface="Arial" panose="020B0604020202020204" pitchFamily="34" charset="0"/>
              </a:rPr>
              <a:t>=1'b0;                         </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S3:  </a:t>
            </a:r>
            <a:r>
              <a:rPr lang="nl-NL" altLang="zh-CN" sz="1600" dirty="0">
                <a:solidFill>
                  <a:srgbClr val="FF0000"/>
                </a:solidFill>
                <a:latin typeface="Arial" panose="020B0604020202020204" pitchFamily="34" charset="0"/>
                <a:ea typeface="宋体" panose="02010600030101010101" pitchFamily="2" charset="-122"/>
                <a:cs typeface="Arial" panose="020B0604020202020204" pitchFamily="34" charset="0"/>
              </a:rPr>
              <a:t>if(data==1'b1) zo=1'b1;</a:t>
            </a:r>
          </a:p>
          <a:p>
            <a:pPr marL="352425" indent="-352425" algn="l">
              <a:lnSpc>
                <a:spcPct val="100000"/>
              </a:lnSpc>
              <a:spcBef>
                <a:spcPct val="0"/>
              </a:spcBef>
              <a:defRPr/>
            </a:pPr>
            <a:r>
              <a:rPr lang="nl-NL" altLang="zh-CN" sz="1600" dirty="0">
                <a:solidFill>
                  <a:srgbClr val="FF0000"/>
                </a:solidFill>
                <a:latin typeface="Arial" panose="020B0604020202020204" pitchFamily="34" charset="0"/>
                <a:ea typeface="宋体" panose="02010600030101010101" pitchFamily="2" charset="-122"/>
                <a:cs typeface="Arial" panose="020B0604020202020204" pitchFamily="34" charset="0"/>
              </a:rPr>
              <a:t>                          else zo=1'b0; </a:t>
            </a:r>
            <a:endParaRPr lang="en-US" altLang="zh-CN" sz="1600" dirty="0">
              <a:solidFill>
                <a:srgbClr val="FF0000"/>
              </a:solidFill>
              <a:latin typeface="Arial" panose="020B0604020202020204" pitchFamily="34" charset="0"/>
              <a:ea typeface="宋体" panose="02010600030101010101" pitchFamily="2" charset="-122"/>
              <a:cs typeface="Arial" panose="020B0604020202020204" pitchFamily="34" charset="0"/>
            </a:endParaRP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S4:  </a:t>
            </a:r>
            <a:r>
              <a:rPr lang="en-US" altLang="zh-CN" sz="1600" dirty="0" err="1">
                <a:latin typeface="Arial" panose="020B0604020202020204" pitchFamily="34" charset="0"/>
                <a:ea typeface="宋体" panose="02010600030101010101" pitchFamily="2" charset="-122"/>
                <a:cs typeface="Arial" panose="020B0604020202020204" pitchFamily="34" charset="0"/>
              </a:rPr>
              <a:t>zo</a:t>
            </a:r>
            <a:r>
              <a:rPr lang="en-US" altLang="zh-CN" sz="1600" dirty="0">
                <a:latin typeface="Arial" panose="020B0604020202020204" pitchFamily="34" charset="0"/>
                <a:ea typeface="宋体" panose="02010600030101010101" pitchFamily="2" charset="-122"/>
                <a:cs typeface="Arial" panose="020B0604020202020204" pitchFamily="34" charset="0"/>
              </a:rPr>
              <a:t>=1'b0;                               </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default: </a:t>
            </a:r>
            <a:r>
              <a:rPr lang="en-US" altLang="zh-CN" sz="1600" dirty="0" err="1">
                <a:latin typeface="Arial" panose="020B0604020202020204" pitchFamily="34" charset="0"/>
                <a:ea typeface="宋体" panose="02010600030101010101" pitchFamily="2" charset="-122"/>
                <a:cs typeface="Arial" panose="020B0604020202020204" pitchFamily="34" charset="0"/>
              </a:rPr>
              <a:t>zo</a:t>
            </a:r>
            <a:r>
              <a:rPr lang="en-US" altLang="zh-CN" sz="1600" dirty="0">
                <a:latin typeface="Arial" panose="020B0604020202020204" pitchFamily="34" charset="0"/>
                <a:ea typeface="宋体" panose="02010600030101010101" pitchFamily="2" charset="-122"/>
                <a:cs typeface="Arial" panose="020B0604020202020204" pitchFamily="34" charset="0"/>
              </a:rPr>
              <a:t>=1'b0;</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a:t>
            </a:r>
            <a:r>
              <a:rPr lang="en-US" altLang="zh-CN" sz="1600" dirty="0" err="1">
                <a:latin typeface="Arial" panose="020B0604020202020204" pitchFamily="34" charset="0"/>
                <a:ea typeface="宋体" panose="02010600030101010101" pitchFamily="2" charset="-122"/>
                <a:cs typeface="Arial" panose="020B0604020202020204" pitchFamily="34" charset="0"/>
              </a:rPr>
              <a:t>endcase</a:t>
            </a:r>
            <a:r>
              <a:rPr lang="en-US" altLang="zh-CN" sz="1600" dirty="0">
                <a:latin typeface="Arial" panose="020B0604020202020204" pitchFamily="34" charset="0"/>
                <a:ea typeface="宋体" panose="02010600030101010101" pitchFamily="2" charset="-122"/>
                <a:cs typeface="Arial" panose="020B0604020202020204" pitchFamily="34" charset="0"/>
              </a:rPr>
              <a:t>           </a:t>
            </a:r>
          </a:p>
          <a:p>
            <a:pPr marL="352425" indent="-352425" algn="l">
              <a:lnSpc>
                <a:spcPct val="100000"/>
              </a:lnSpc>
              <a:spcBef>
                <a:spcPct val="0"/>
              </a:spcBef>
              <a:defRPr/>
            </a:pPr>
            <a:r>
              <a:rPr lang="en-US" altLang="zh-CN" sz="1600" dirty="0">
                <a:latin typeface="Arial" panose="020B0604020202020204" pitchFamily="34" charset="0"/>
                <a:ea typeface="宋体" panose="02010600030101010101" pitchFamily="2" charset="-122"/>
                <a:cs typeface="Arial" panose="020B0604020202020204" pitchFamily="34" charset="0"/>
              </a:rPr>
              <a:t>          end</a:t>
            </a:r>
            <a:endParaRPr lang="zh-CN" altLang="en-US" sz="1600" dirty="0">
              <a:latin typeface="Arial" panose="020B0604020202020204" pitchFamily="34" charset="0"/>
              <a:ea typeface="宋体" panose="02010600030101010101" pitchFamily="2" charset="-122"/>
              <a:cs typeface="Arial" panose="020B0604020202020204" pitchFamily="34" charset="0"/>
            </a:endParaRPr>
          </a:p>
          <a:p>
            <a:pPr algn="l">
              <a:lnSpc>
                <a:spcPct val="85000"/>
              </a:lnSpc>
              <a:spcBef>
                <a:spcPct val="0"/>
              </a:spcBef>
              <a:defRPr/>
            </a:pPr>
            <a:r>
              <a:rPr lang="en-US" altLang="zh-CN" sz="1600" dirty="0" err="1">
                <a:ea typeface="宋体" panose="02010600030101010101" pitchFamily="2" charset="-122"/>
              </a:rPr>
              <a:t>endmodule</a:t>
            </a:r>
            <a:r>
              <a:rPr lang="en-US" altLang="zh-CN" sz="1600" dirty="0">
                <a:ea typeface="宋体" panose="02010600030101010101" pitchFamily="2" charset="-122"/>
              </a:rPr>
              <a:t>	</a:t>
            </a:r>
          </a:p>
        </p:txBody>
      </p:sp>
      <p:sp>
        <p:nvSpPr>
          <p:cNvPr id="78852" name="灯片编号占位符 3"/>
          <p:cNvSpPr txBox="1">
            <a:spLocks noGrp="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6FDAB598-A3A6-4535-9A28-04592F01F466}" type="slidenum">
              <a:rPr lang="ko-KR" altLang="en-US" sz="1600">
                <a:solidFill>
                  <a:schemeClr val="accent2"/>
                </a:solidFill>
                <a:latin typeface="Verdana" panose="020B0604030504040204" pitchFamily="34" charset="0"/>
                <a:ea typeface="Gulim" panose="020B0600000101010101" pitchFamily="34" charset="-127"/>
              </a:rPr>
              <a:t>66</a:t>
            </a:fld>
            <a:endParaRPr lang="en-US" altLang="ko-KR" sz="1600">
              <a:solidFill>
                <a:schemeClr val="accent2"/>
              </a:solidFill>
              <a:latin typeface="Verdana" panose="020B0604030504040204" pitchFamily="34" charset="0"/>
              <a:ea typeface="Gulim" panose="020B0600000101010101" pitchFamily="34" charset="-127"/>
            </a:endParaRPr>
          </a:p>
        </p:txBody>
      </p:sp>
      <p:sp>
        <p:nvSpPr>
          <p:cNvPr id="78853" name="Rectangle 5"/>
          <p:cNvSpPr>
            <a:spLocks noGrp="1" noChangeArrowheads="1"/>
          </p:cNvSpPr>
          <p:nvPr>
            <p:ph type="title"/>
          </p:nvPr>
        </p:nvSpPr>
        <p:spPr>
          <a:xfrm>
            <a:off x="3365500" y="292100"/>
            <a:ext cx="6858000" cy="609600"/>
          </a:xfrm>
        </p:spPr>
        <p:txBody>
          <a:bodyPr>
            <a:normAutofit fontScale="90000"/>
          </a:bodyPr>
          <a:lstStyle/>
          <a:p>
            <a:r>
              <a:rPr lang="zh-CN" altLang="en-US" dirty="0" smtClean="0">
                <a:solidFill>
                  <a:schemeClr val="accent2"/>
                </a:solidFill>
                <a:latin typeface="Arial" panose="020B0604020202020204" pitchFamily="34" charset="0"/>
                <a:ea typeface="黑体" panose="02010609060101010101" pitchFamily="49" charset="-122"/>
              </a:rPr>
              <a:t>序列检测器源程序及仿真波形</a:t>
            </a:r>
          </a:p>
        </p:txBody>
      </p:sp>
      <p:grpSp>
        <p:nvGrpSpPr>
          <p:cNvPr id="2" name="Group 12"/>
          <p:cNvGrpSpPr/>
          <p:nvPr/>
        </p:nvGrpSpPr>
        <p:grpSpPr bwMode="auto">
          <a:xfrm>
            <a:off x="6105525" y="5314950"/>
            <a:ext cx="1862138" cy="382588"/>
            <a:chOff x="2886" y="3427"/>
            <a:chExt cx="1173" cy="241"/>
          </a:xfrm>
        </p:grpSpPr>
        <p:sp>
          <p:nvSpPr>
            <p:cNvPr id="78859" name="Text Box 8"/>
            <p:cNvSpPr txBox="1">
              <a:spLocks noChangeArrowheads="1"/>
            </p:cNvSpPr>
            <p:nvPr/>
          </p:nvSpPr>
          <p:spPr bwMode="black">
            <a:xfrm>
              <a:off x="2886" y="3430"/>
              <a:ext cx="343"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1</a:t>
              </a:r>
            </a:p>
          </p:txBody>
        </p:sp>
        <p:sp>
          <p:nvSpPr>
            <p:cNvPr id="78860" name="Text Box 9"/>
            <p:cNvSpPr txBox="1">
              <a:spLocks noChangeArrowheads="1"/>
            </p:cNvSpPr>
            <p:nvPr/>
          </p:nvSpPr>
          <p:spPr bwMode="black">
            <a:xfrm>
              <a:off x="3144" y="3432"/>
              <a:ext cx="343"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1</a:t>
              </a:r>
            </a:p>
          </p:txBody>
        </p:sp>
        <p:sp>
          <p:nvSpPr>
            <p:cNvPr id="78861" name="Text Box 10"/>
            <p:cNvSpPr txBox="1">
              <a:spLocks noChangeArrowheads="1"/>
            </p:cNvSpPr>
            <p:nvPr/>
          </p:nvSpPr>
          <p:spPr bwMode="black">
            <a:xfrm>
              <a:off x="3437" y="3427"/>
              <a:ext cx="343"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0</a:t>
              </a:r>
            </a:p>
          </p:txBody>
        </p:sp>
        <p:sp>
          <p:nvSpPr>
            <p:cNvPr id="78862" name="Text Box 11"/>
            <p:cNvSpPr txBox="1">
              <a:spLocks noChangeArrowheads="1"/>
            </p:cNvSpPr>
            <p:nvPr/>
          </p:nvSpPr>
          <p:spPr bwMode="black">
            <a:xfrm>
              <a:off x="3716" y="3436"/>
              <a:ext cx="343"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1</a:t>
              </a:r>
            </a:p>
          </p:txBody>
        </p:sp>
      </p:grpSp>
      <p:sp>
        <p:nvSpPr>
          <p:cNvPr id="2200583" name="AutoShape 7"/>
          <p:cNvSpPr>
            <a:spLocks noChangeArrowheads="1"/>
          </p:cNvSpPr>
          <p:nvPr/>
        </p:nvSpPr>
        <p:spPr bwMode="auto">
          <a:xfrm>
            <a:off x="6024563" y="2838450"/>
            <a:ext cx="2795587" cy="1176338"/>
          </a:xfrm>
          <a:prstGeom prst="wedgeRoundRectCallout">
            <a:avLst>
              <a:gd name="adj1" fmla="val -64537"/>
              <a:gd name="adj2" fmla="val -46019"/>
              <a:gd name="adj3" fmla="val 16667"/>
            </a:avLst>
          </a:prstGeom>
          <a:solidFill>
            <a:srgbClr val="FFFF99"/>
          </a:solidFill>
          <a:ln w="9525">
            <a:solidFill>
              <a:srgbClr val="FF9966"/>
            </a:solidFill>
            <a:miter lim="800000"/>
          </a:ln>
          <a:effectLst>
            <a:prstShdw prst="shdw17" dist="17961" dir="2700000">
              <a:srgbClr val="99995C"/>
            </a:prstShdw>
          </a:effectLst>
        </p:spPr>
        <p:txBody>
          <a:bodyPr anchor="b"/>
          <a:lstStyle/>
          <a:p>
            <a:pPr algn="l">
              <a:lnSpc>
                <a:spcPct val="100000"/>
              </a:lnSpc>
              <a:spcBef>
                <a:spcPct val="0"/>
              </a:spcBef>
            </a:pPr>
            <a:r>
              <a:rPr lang="zh-CN" altLang="en-US">
                <a:latin typeface="Arial" panose="020B0604020202020204" pitchFamily="34" charset="0"/>
                <a:ea typeface="楷体_GB2312" pitchFamily="49" charset="-122"/>
              </a:rPr>
              <a:t>在</a:t>
            </a:r>
            <a:r>
              <a:rPr lang="en-US" altLang="zh-CN">
                <a:solidFill>
                  <a:srgbClr val="FF0066"/>
                </a:solidFill>
                <a:latin typeface="Arial" panose="020B0604020202020204" pitchFamily="34" charset="0"/>
                <a:ea typeface="楷体_GB2312" pitchFamily="49" charset="-122"/>
              </a:rPr>
              <a:t>S3</a:t>
            </a:r>
            <a:r>
              <a:rPr lang="zh-CN" altLang="en-US">
                <a:latin typeface="Arial" panose="020B0604020202020204" pitchFamily="34" charset="0"/>
                <a:ea typeface="楷体_GB2312" pitchFamily="49" charset="-122"/>
              </a:rPr>
              <a:t>时若</a:t>
            </a:r>
            <a:r>
              <a:rPr lang="en-US" altLang="zh-CN">
                <a:solidFill>
                  <a:srgbClr val="FF0066"/>
                </a:solidFill>
                <a:latin typeface="Arial" panose="020B0604020202020204" pitchFamily="34" charset="0"/>
                <a:ea typeface="楷体_GB2312" pitchFamily="49" charset="-122"/>
              </a:rPr>
              <a:t>data=1</a:t>
            </a:r>
            <a:r>
              <a:rPr lang="zh-CN" altLang="en-US">
                <a:latin typeface="Arial" panose="020B0604020202020204" pitchFamily="34" charset="0"/>
                <a:ea typeface="楷体_GB2312" pitchFamily="49" charset="-122"/>
              </a:rPr>
              <a:t>，则</a:t>
            </a:r>
            <a:r>
              <a:rPr lang="en-US" altLang="zh-CN">
                <a:solidFill>
                  <a:srgbClr val="FF0066"/>
                </a:solidFill>
                <a:latin typeface="Arial" panose="020B0604020202020204" pitchFamily="34" charset="0"/>
                <a:ea typeface="楷体_GB2312" pitchFamily="49" charset="-122"/>
              </a:rPr>
              <a:t>zo</a:t>
            </a:r>
            <a:r>
              <a:rPr lang="zh-CN" altLang="en-US">
                <a:solidFill>
                  <a:srgbClr val="FF0066"/>
                </a:solidFill>
                <a:latin typeface="Arial" panose="020B0604020202020204" pitchFamily="34" charset="0"/>
                <a:ea typeface="楷体_GB2312" pitchFamily="49" charset="-122"/>
              </a:rPr>
              <a:t>置</a:t>
            </a:r>
            <a:r>
              <a:rPr lang="en-US" altLang="zh-CN">
                <a:solidFill>
                  <a:srgbClr val="FF0066"/>
                </a:solidFill>
                <a:latin typeface="Arial" panose="020B0604020202020204" pitchFamily="34" charset="0"/>
                <a:ea typeface="楷体_GB2312" pitchFamily="49" charset="-122"/>
              </a:rPr>
              <a:t>1</a:t>
            </a:r>
            <a:r>
              <a:rPr lang="zh-CN" altLang="en-US">
                <a:solidFill>
                  <a:srgbClr val="FF0066"/>
                </a:solidFill>
                <a:latin typeface="Arial" panose="020B0604020202020204" pitchFamily="34" charset="0"/>
                <a:ea typeface="楷体_GB2312" pitchFamily="49" charset="-122"/>
              </a:rPr>
              <a:t>：</a:t>
            </a:r>
            <a:r>
              <a:rPr lang="zh-CN" altLang="en-US">
                <a:latin typeface="Arial" panose="020B0604020202020204" pitchFamily="34" charset="0"/>
                <a:ea typeface="楷体_GB2312" pitchFamily="49" charset="-122"/>
              </a:rPr>
              <a:t>输出是内部状态和外部输入的函数</a:t>
            </a:r>
          </a:p>
        </p:txBody>
      </p:sp>
      <p:sp>
        <p:nvSpPr>
          <p:cNvPr id="12" name="AutoShape 129"/>
          <p:cNvSpPr>
            <a:spLocks noChangeArrowheads="1"/>
          </p:cNvSpPr>
          <p:nvPr/>
        </p:nvSpPr>
        <p:spPr bwMode="auto">
          <a:xfrm>
            <a:off x="3228975" y="5948204"/>
            <a:ext cx="5705475" cy="955991"/>
          </a:xfrm>
          <a:prstGeom prst="horizontalScroll">
            <a:avLst>
              <a:gd name="adj" fmla="val 12500"/>
            </a:avLst>
          </a:prstGeom>
          <a:solidFill>
            <a:srgbClr val="FFCC99"/>
          </a:solidFill>
          <a:ln w="9525">
            <a:solidFill>
              <a:srgbClr val="CC6600"/>
            </a:solidFill>
            <a:round/>
          </a:ln>
        </p:spPr>
        <p:txBody>
          <a:bodyPr anchor="ctr">
            <a:spAutoFit/>
          </a:bodyPr>
          <a:lstStyle/>
          <a:p>
            <a:pPr marL="354330" indent="-354330" algn="just" eaLnBrk="0" hangingPunct="0">
              <a:lnSpc>
                <a:spcPct val="110000"/>
              </a:lnSpc>
              <a:buClr>
                <a:schemeClr val="bg2"/>
              </a:buClr>
              <a:buFont typeface="Wingdings" panose="05000000000000000000" pitchFamily="2" charset="2"/>
              <a:buChar char="v"/>
            </a:pPr>
            <a:r>
              <a:rPr lang="zh-CN" altLang="en-US">
                <a:ea typeface="楷体_GB2312" pitchFamily="49" charset="-122"/>
              </a:rPr>
              <a:t>采用</a:t>
            </a:r>
            <a:r>
              <a:rPr lang="en-US" altLang="zh-CN">
                <a:ea typeface="楷体_GB2312" pitchFamily="49" charset="-122"/>
              </a:rPr>
              <a:t>Mealy</a:t>
            </a:r>
            <a:r>
              <a:rPr lang="zh-CN" altLang="en-US">
                <a:ea typeface="楷体_GB2312" pitchFamily="49" charset="-122"/>
              </a:rPr>
              <a:t>型状态机描述序列检测器与采用</a:t>
            </a:r>
            <a:r>
              <a:rPr lang="en-US" altLang="zh-CN">
                <a:ea typeface="楷体_GB2312" pitchFamily="49" charset="-122"/>
              </a:rPr>
              <a:t>Moore</a:t>
            </a:r>
            <a:r>
              <a:rPr lang="zh-CN" altLang="en-US">
                <a:ea typeface="楷体_GB2312" pitchFamily="49" charset="-122"/>
              </a:rPr>
              <a:t>型状态机的仿真波形稍有区别！ </a:t>
            </a:r>
          </a:p>
        </p:txBody>
      </p:sp>
      <p:sp>
        <p:nvSpPr>
          <p:cNvPr id="78857" name="Text Box 25"/>
          <p:cNvSpPr txBox="1">
            <a:spLocks noChangeArrowheads="1"/>
          </p:cNvSpPr>
          <p:nvPr/>
        </p:nvSpPr>
        <p:spPr bwMode="auto">
          <a:xfrm>
            <a:off x="9296400" y="6067425"/>
            <a:ext cx="1371600" cy="466725"/>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800">
                <a:solidFill>
                  <a:srgbClr val="FF0000"/>
                </a:solidFill>
                <a:latin typeface="Arial" panose="020B0604020202020204" pitchFamily="34" charset="0"/>
                <a:ea typeface="楷体_GB2312" pitchFamily="49" charset="-122"/>
                <a:cs typeface="Arial" panose="020B0604020202020204" pitchFamily="34" charset="0"/>
                <a:hlinkClick r:id="rId4" action="ppaction://hlinksldjump"/>
              </a:rPr>
              <a:t>波形比较</a:t>
            </a:r>
            <a:endParaRPr lang="zh-CN" altLang="en-US" sz="1800">
              <a:solidFill>
                <a:srgbClr val="FF0000"/>
              </a:solidFill>
              <a:latin typeface="Arial" panose="020B0604020202020204" pitchFamily="34" charset="0"/>
              <a:ea typeface="楷体_GB2312" pitchFamily="49" charset="-122"/>
              <a:cs typeface="Arial" panose="020B0604020202020204" pitchFamily="34" charset="0"/>
            </a:endParaRPr>
          </a:p>
        </p:txBody>
      </p:sp>
      <p:sp>
        <p:nvSpPr>
          <p:cNvPr id="78858" name="Text Box 25"/>
          <p:cNvSpPr txBox="1">
            <a:spLocks noChangeArrowheads="1"/>
          </p:cNvSpPr>
          <p:nvPr/>
        </p:nvSpPr>
        <p:spPr bwMode="auto">
          <a:xfrm>
            <a:off x="8667750" y="1495425"/>
            <a:ext cx="2000250" cy="447675"/>
          </a:xfrm>
          <a:prstGeom prst="rect">
            <a:avLst/>
          </a:prstGeom>
          <a:solidFill>
            <a:srgbClr val="FFFFFF"/>
          </a:solidFill>
          <a:ln w="9525">
            <a:noFill/>
            <a:miter lim="800000"/>
          </a:ln>
        </p:spPr>
        <p:txBody>
          <a:bodyPr/>
          <a:lstStyle/>
          <a:p>
            <a:pPr marL="342900" indent="-342900" algn="just">
              <a:lnSpc>
                <a:spcPct val="110000"/>
              </a:lnSpc>
              <a:spcBef>
                <a:spcPct val="20000"/>
              </a:spcBef>
              <a:buClr>
                <a:schemeClr val="tx2"/>
              </a:buClr>
              <a:buSzPct val="70000"/>
              <a:buFont typeface="Wingdings" panose="05000000000000000000" pitchFamily="2" charset="2"/>
              <a:buNone/>
            </a:pPr>
            <a:r>
              <a:rPr lang="zh-CN" altLang="en-US" sz="1800">
                <a:solidFill>
                  <a:srgbClr val="FF0000"/>
                </a:solidFill>
                <a:latin typeface="Arial" panose="020B0604020202020204" pitchFamily="34" charset="0"/>
                <a:ea typeface="楷体_GB2312" pitchFamily="49" charset="-122"/>
                <a:cs typeface="Arial" panose="020B0604020202020204" pitchFamily="34" charset="0"/>
                <a:hlinkClick r:id="rId5" action="ppaction://hlinksldjump"/>
              </a:rPr>
              <a:t>与</a:t>
            </a:r>
            <a:r>
              <a:rPr lang="en-US" altLang="zh-CN" sz="1800">
                <a:solidFill>
                  <a:srgbClr val="FF0000"/>
                </a:solidFill>
                <a:latin typeface="Arial" panose="020B0604020202020204" pitchFamily="34" charset="0"/>
                <a:ea typeface="楷体_GB2312" pitchFamily="49" charset="-122"/>
                <a:cs typeface="Arial" panose="020B0604020202020204" pitchFamily="34" charset="0"/>
                <a:hlinkClick r:id="rId5" action="ppaction://hlinksldjump"/>
              </a:rPr>
              <a:t>Moore</a:t>
            </a:r>
            <a:r>
              <a:rPr lang="zh-CN" altLang="en-US" sz="1800">
                <a:solidFill>
                  <a:srgbClr val="FF0000"/>
                </a:solidFill>
                <a:latin typeface="Arial" panose="020B0604020202020204" pitchFamily="34" charset="0"/>
                <a:ea typeface="楷体_GB2312" pitchFamily="49" charset="-122"/>
                <a:cs typeface="Arial" panose="020B0604020202020204" pitchFamily="34" charset="0"/>
                <a:hlinkClick r:id="rId5" action="ppaction://hlinksldjump"/>
              </a:rPr>
              <a:t>型比较</a:t>
            </a:r>
            <a:endParaRPr lang="zh-CN" altLang="en-US" sz="1800">
              <a:solidFill>
                <a:srgbClr val="FF0000"/>
              </a:solidFill>
              <a:latin typeface="Arial" panose="020B0604020202020204" pitchFamily="34" charset="0"/>
              <a:ea typeface="楷体_GB2312" pitchFamily="49" charset="-122"/>
              <a:cs typeface="Arial" panose="020B0604020202020204" pitchFamily="34" charset="0"/>
            </a:endParaRP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00583"/>
                                        </p:tgtEl>
                                        <p:attrNameLst>
                                          <p:attrName>style.visibility</p:attrName>
                                        </p:attrNameLst>
                                      </p:cBhvr>
                                      <p:to>
                                        <p:strVal val="visible"/>
                                      </p:to>
                                    </p:set>
                                    <p:animEffect transition="in" filter="dissolve">
                                      <p:cBhvr>
                                        <p:cTn id="7" dur="500"/>
                                        <p:tgtEl>
                                          <p:spTgt spid="220058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37"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arn(outVertical)">
                                      <p:cBhvr>
                                        <p:cTn id="1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0583" grpId="0" bldLvl="0" animBg="1" autoUpdateAnimBg="0"/>
      <p:bldP spid="12"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3666" name="灯片编号占位符 4"/>
          <p:cNvSpPr txBox="1">
            <a:spLocks noGrp="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532670CE-5222-4129-A2B0-C0D62D27237C}" type="slidenum">
              <a:rPr lang="ko-KR" altLang="en-US" sz="1600">
                <a:solidFill>
                  <a:schemeClr val="accent2"/>
                </a:solidFill>
                <a:latin typeface="Verdana" panose="020B0604030504040204" pitchFamily="34" charset="0"/>
                <a:ea typeface="Gulim" panose="020B0600000101010101" pitchFamily="34" charset="-127"/>
              </a:rPr>
              <a:t>67</a:t>
            </a:fld>
            <a:endParaRPr lang="en-US" altLang="ko-KR" sz="1600">
              <a:solidFill>
                <a:schemeClr val="accent2"/>
              </a:solidFill>
              <a:latin typeface="Verdana" panose="020B0604030504040204" pitchFamily="34" charset="0"/>
              <a:ea typeface="Gulim" panose="020B0600000101010101" pitchFamily="34" charset="-127"/>
            </a:endParaRPr>
          </a:p>
        </p:txBody>
      </p:sp>
      <p:sp>
        <p:nvSpPr>
          <p:cNvPr id="113681" name="灯片编号占位符 164"/>
          <p:cNvSpPr>
            <a:spLocks noGrp="1"/>
          </p:cNvSpPr>
          <p:nvPr>
            <p:ph type="sldNum" sz="quarter" idx="12"/>
          </p:nvPr>
        </p:nvSpPr>
        <p:spPr>
          <a:noFill/>
        </p:spPr>
        <p:txBody>
          <a:bodyPr/>
          <a:lstStyle/>
          <a:p>
            <a:fld id="{8D428D8F-9BA5-43B6-96F7-F46C22CEA086}" type="slidenum">
              <a:rPr lang="ko-KR" altLang="en-US" smtClean="0"/>
              <a:t>67</a:t>
            </a:fld>
            <a:endParaRPr lang="en-US" altLang="ko-KR"/>
          </a:p>
        </p:txBody>
      </p:sp>
      <p:sp>
        <p:nvSpPr>
          <p:cNvPr id="113667" name="Rectangle 2"/>
          <p:cNvSpPr>
            <a:spLocks noGrp="1" noChangeArrowheads="1"/>
          </p:cNvSpPr>
          <p:nvPr>
            <p:ph type="title" idx="4294967295"/>
          </p:nvPr>
        </p:nvSpPr>
        <p:spPr>
          <a:xfrm>
            <a:off x="3159126" y="525464"/>
            <a:ext cx="6858000" cy="609600"/>
          </a:xfrm>
        </p:spPr>
        <p:txBody>
          <a:bodyPr>
            <a:normAutofit fontScale="90000"/>
          </a:bodyPr>
          <a:lstStyle/>
          <a:p>
            <a:r>
              <a:rPr lang="zh-CN" altLang="en-US" dirty="0">
                <a:latin typeface="Arial" panose="020B0604020202020204" pitchFamily="34" charset="0"/>
                <a:ea typeface="黑体" panose="02010609060101010101" pitchFamily="49" charset="-122"/>
              </a:rPr>
              <a:t>同步计数器的分析方法</a:t>
            </a:r>
          </a:p>
        </p:txBody>
      </p:sp>
      <p:sp>
        <p:nvSpPr>
          <p:cNvPr id="113668" name="Text Box 453"/>
          <p:cNvSpPr txBox="1">
            <a:spLocks noChangeArrowheads="1"/>
          </p:cNvSpPr>
          <p:nvPr/>
        </p:nvSpPr>
        <p:spPr bwMode="auto">
          <a:xfrm>
            <a:off x="1828800" y="1250950"/>
            <a:ext cx="7943850" cy="429895"/>
          </a:xfrm>
          <a:prstGeom prst="rect">
            <a:avLst/>
          </a:prstGeom>
          <a:noFill/>
          <a:ln w="9525">
            <a:noFill/>
            <a:miter lim="800000"/>
          </a:ln>
        </p:spPr>
        <p:txBody>
          <a:bodyPr>
            <a:spAutoFit/>
          </a:bodyPr>
          <a:lstStyle/>
          <a:p>
            <a:pPr algn="just" eaLnBrk="0" hangingPunct="0"/>
            <a:r>
              <a:rPr lang="en-US" altLang="zh-CN" sz="2200" dirty="0">
                <a:solidFill>
                  <a:srgbClr val="FF0066"/>
                </a:solidFill>
                <a:latin typeface="宋体" panose="02010600030101010101" pitchFamily="2" charset="-122"/>
              </a:rPr>
              <a:t>【</a:t>
            </a:r>
            <a:r>
              <a:rPr lang="zh-CN" altLang="en-US" sz="2200" dirty="0">
                <a:solidFill>
                  <a:srgbClr val="FF0066"/>
                </a:solidFill>
                <a:latin typeface="Arial" panose="020B0604020202020204" pitchFamily="34" charset="0"/>
                <a:ea typeface="黑体" panose="02010609060101010101" pitchFamily="49" charset="-122"/>
              </a:rPr>
              <a:t>例</a:t>
            </a:r>
            <a:r>
              <a:rPr lang="en-US" altLang="zh-CN" sz="2200" dirty="0">
                <a:solidFill>
                  <a:srgbClr val="FF0066"/>
                </a:solidFill>
                <a:latin typeface="Arial" panose="020B0604020202020204" pitchFamily="34" charset="0"/>
                <a:ea typeface="黑体" panose="02010609060101010101" pitchFamily="49" charset="-122"/>
              </a:rPr>
              <a:t>8.12</a:t>
            </a:r>
            <a:r>
              <a:rPr lang="en-US" altLang="zh-CN" sz="2200" dirty="0">
                <a:solidFill>
                  <a:srgbClr val="FF0066"/>
                </a:solidFill>
                <a:latin typeface="宋体" panose="02010600030101010101" pitchFamily="2" charset="-122"/>
              </a:rPr>
              <a:t>】</a:t>
            </a:r>
            <a:r>
              <a:rPr lang="zh-CN" altLang="en-US" sz="2200" dirty="0">
                <a:latin typeface="宋体" panose="02010600030101010101" pitchFamily="2" charset="-122"/>
              </a:rPr>
              <a:t>分析下图电路，说明电路的特点。</a:t>
            </a:r>
            <a:endParaRPr lang="zh-CN" altLang="en-US" sz="2200" dirty="0">
              <a:latin typeface="Arial" panose="020B0604020202020204" pitchFamily="34" charset="0"/>
              <a:cs typeface="Arial" panose="020B0604020202020204" pitchFamily="34" charset="0"/>
            </a:endParaRPr>
          </a:p>
        </p:txBody>
      </p:sp>
      <p:sp>
        <p:nvSpPr>
          <p:cNvPr id="91" name="矩形 90"/>
          <p:cNvSpPr>
            <a:spLocks noChangeArrowheads="1"/>
          </p:cNvSpPr>
          <p:nvPr/>
        </p:nvSpPr>
        <p:spPr bwMode="auto">
          <a:xfrm>
            <a:off x="2249488" y="3606800"/>
            <a:ext cx="2324100" cy="368300"/>
          </a:xfrm>
          <a:prstGeom prst="rect">
            <a:avLst/>
          </a:prstGeom>
          <a:noFill/>
          <a:ln w="9525">
            <a:noFill/>
            <a:miter lim="800000"/>
          </a:ln>
        </p:spPr>
        <p:txBody>
          <a:bodyPr>
            <a:spAutoFit/>
          </a:bodyPr>
          <a:lstStyle/>
          <a:p>
            <a:pPr algn="just" eaLnBrk="0" hangingPunct="0"/>
            <a:r>
              <a:rPr lang="zh-CN" altLang="en-US">
                <a:latin typeface="宋体" panose="02010600030101010101" pitchFamily="2" charset="-122"/>
              </a:rPr>
              <a:t>解：</a:t>
            </a:r>
            <a:r>
              <a:rPr lang="en-US" altLang="zh-CN">
                <a:solidFill>
                  <a:srgbClr val="C00000"/>
                </a:solidFill>
                <a:latin typeface="宋体" panose="02010600030101010101" pitchFamily="2" charset="-122"/>
              </a:rPr>
              <a:t>(1)</a:t>
            </a:r>
            <a:r>
              <a:rPr lang="zh-CN" altLang="en-US">
                <a:solidFill>
                  <a:srgbClr val="C00000"/>
                </a:solidFill>
                <a:latin typeface="宋体" panose="02010600030101010101" pitchFamily="2" charset="-122"/>
              </a:rPr>
              <a:t>写方程式</a:t>
            </a:r>
          </a:p>
        </p:txBody>
      </p:sp>
      <p:grpSp>
        <p:nvGrpSpPr>
          <p:cNvPr id="2" name="Group 305"/>
          <p:cNvGrpSpPr/>
          <p:nvPr/>
        </p:nvGrpSpPr>
        <p:grpSpPr bwMode="auto">
          <a:xfrm>
            <a:off x="2443163" y="1649413"/>
            <a:ext cx="7219950" cy="1906587"/>
            <a:chOff x="492" y="1056"/>
            <a:chExt cx="4548" cy="1201"/>
          </a:xfrm>
        </p:grpSpPr>
        <p:grpSp>
          <p:nvGrpSpPr>
            <p:cNvPr id="113682" name="Group 306"/>
            <p:cNvGrpSpPr/>
            <p:nvPr/>
          </p:nvGrpSpPr>
          <p:grpSpPr bwMode="auto">
            <a:xfrm>
              <a:off x="492" y="1056"/>
              <a:ext cx="4548" cy="1099"/>
              <a:chOff x="492" y="1061"/>
              <a:chExt cx="4548" cy="1099"/>
            </a:xfrm>
          </p:grpSpPr>
          <p:sp>
            <p:nvSpPr>
              <p:cNvPr id="113824" name="Text Box 307"/>
              <p:cNvSpPr txBox="1">
                <a:spLocks noChangeArrowheads="1"/>
              </p:cNvSpPr>
              <p:nvPr/>
            </p:nvSpPr>
            <p:spPr bwMode="auto">
              <a:xfrm>
                <a:off x="858" y="1061"/>
                <a:ext cx="150" cy="187"/>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1</a:t>
                </a:r>
              </a:p>
            </p:txBody>
          </p:sp>
          <p:sp>
            <p:nvSpPr>
              <p:cNvPr id="113825" name="Text Box 308"/>
              <p:cNvSpPr txBox="1">
                <a:spLocks noChangeArrowheads="1"/>
              </p:cNvSpPr>
              <p:nvPr/>
            </p:nvSpPr>
            <p:spPr bwMode="auto">
              <a:xfrm>
                <a:off x="492" y="1969"/>
                <a:ext cx="276" cy="191"/>
              </a:xfrm>
              <a:prstGeom prst="rect">
                <a:avLst/>
              </a:prstGeom>
              <a:noFill/>
              <a:ln w="9525">
                <a:noFill/>
                <a:miter lim="800000"/>
              </a:ln>
            </p:spPr>
            <p:txBody>
              <a:bodyPr/>
              <a:lstStyle/>
              <a:p>
                <a:pPr algn="just" eaLnBrk="0" hangingPunct="0">
                  <a:lnSpc>
                    <a:spcPct val="96000"/>
                  </a:lnSpc>
                  <a:spcBef>
                    <a:spcPct val="0"/>
                  </a:spcBef>
                </a:pPr>
                <a:r>
                  <a:rPr lang="en-US" altLang="zh-CN" sz="1400" i="1">
                    <a:solidFill>
                      <a:schemeClr val="hlink"/>
                    </a:solidFill>
                    <a:ea typeface="Gulim" panose="020B0600000101010101" pitchFamily="34" charset="-127"/>
                  </a:rPr>
                  <a:t>CP</a:t>
                </a:r>
              </a:p>
            </p:txBody>
          </p:sp>
          <p:sp>
            <p:nvSpPr>
              <p:cNvPr id="113826" name="Text Box 309"/>
              <p:cNvSpPr txBox="1">
                <a:spLocks noChangeArrowheads="1"/>
              </p:cNvSpPr>
              <p:nvPr/>
            </p:nvSpPr>
            <p:spPr bwMode="auto">
              <a:xfrm>
                <a:off x="4260" y="1152"/>
                <a:ext cx="234" cy="192"/>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&amp;</a:t>
                </a:r>
              </a:p>
            </p:txBody>
          </p:sp>
          <p:sp>
            <p:nvSpPr>
              <p:cNvPr id="113827" name="Text Box 310"/>
              <p:cNvSpPr txBox="1">
                <a:spLocks noChangeArrowheads="1"/>
              </p:cNvSpPr>
              <p:nvPr/>
            </p:nvSpPr>
            <p:spPr bwMode="auto">
              <a:xfrm>
                <a:off x="4574" y="1157"/>
                <a:ext cx="160" cy="187"/>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1</a:t>
                </a:r>
              </a:p>
            </p:txBody>
          </p:sp>
          <p:sp>
            <p:nvSpPr>
              <p:cNvPr id="113828" name="Text Box 311"/>
              <p:cNvSpPr txBox="1">
                <a:spLocks noChangeArrowheads="1"/>
              </p:cNvSpPr>
              <p:nvPr/>
            </p:nvSpPr>
            <p:spPr bwMode="auto">
              <a:xfrm>
                <a:off x="4822" y="1094"/>
                <a:ext cx="218" cy="202"/>
              </a:xfrm>
              <a:prstGeom prst="rect">
                <a:avLst/>
              </a:prstGeom>
              <a:noFill/>
              <a:ln w="9525">
                <a:noFill/>
                <a:miter lim="800000"/>
              </a:ln>
            </p:spPr>
            <p:txBody>
              <a:bodyPr/>
              <a:lstStyle/>
              <a:p>
                <a:pPr algn="just" eaLnBrk="0" hangingPunct="0">
                  <a:lnSpc>
                    <a:spcPct val="96000"/>
                  </a:lnSpc>
                  <a:spcBef>
                    <a:spcPct val="0"/>
                  </a:spcBef>
                </a:pPr>
                <a:r>
                  <a:rPr lang="en-US" altLang="zh-CN" sz="1400" i="1">
                    <a:solidFill>
                      <a:schemeClr val="hlink"/>
                    </a:solidFill>
                    <a:ea typeface="Gulim" panose="020B0600000101010101" pitchFamily="34" charset="-127"/>
                  </a:rPr>
                  <a:t>C</a:t>
                </a:r>
              </a:p>
            </p:txBody>
          </p:sp>
        </p:grpSp>
        <p:sp>
          <p:nvSpPr>
            <p:cNvPr id="113683" name="Line 312"/>
            <p:cNvSpPr>
              <a:spLocks noChangeShapeType="1"/>
            </p:cNvSpPr>
            <p:nvPr/>
          </p:nvSpPr>
          <p:spPr bwMode="auto">
            <a:xfrm>
              <a:off x="4020" y="1980"/>
              <a:ext cx="95" cy="0"/>
            </a:xfrm>
            <a:prstGeom prst="line">
              <a:avLst/>
            </a:prstGeom>
            <a:noFill/>
            <a:ln w="9525">
              <a:solidFill>
                <a:schemeClr val="tx1"/>
              </a:solidFill>
              <a:round/>
            </a:ln>
          </p:spPr>
          <p:txBody>
            <a:bodyPr/>
            <a:lstStyle/>
            <a:p>
              <a:endParaRPr lang="zh-CN" altLang="en-US"/>
            </a:p>
          </p:txBody>
        </p:sp>
        <p:sp>
          <p:nvSpPr>
            <p:cNvPr id="113684" name="Line 313"/>
            <p:cNvSpPr>
              <a:spLocks noChangeShapeType="1"/>
            </p:cNvSpPr>
            <p:nvPr/>
          </p:nvSpPr>
          <p:spPr bwMode="auto">
            <a:xfrm>
              <a:off x="3449" y="1443"/>
              <a:ext cx="106" cy="0"/>
            </a:xfrm>
            <a:prstGeom prst="line">
              <a:avLst/>
            </a:prstGeom>
            <a:noFill/>
            <a:ln w="9525">
              <a:solidFill>
                <a:schemeClr val="tx1"/>
              </a:solidFill>
              <a:round/>
            </a:ln>
          </p:spPr>
          <p:txBody>
            <a:bodyPr/>
            <a:lstStyle/>
            <a:p>
              <a:endParaRPr lang="zh-CN" altLang="en-US"/>
            </a:p>
          </p:txBody>
        </p:sp>
        <p:sp>
          <p:nvSpPr>
            <p:cNvPr id="113685" name="Oval 314"/>
            <p:cNvSpPr>
              <a:spLocks noChangeArrowheads="1"/>
            </p:cNvSpPr>
            <p:nvPr/>
          </p:nvSpPr>
          <p:spPr bwMode="auto">
            <a:xfrm>
              <a:off x="3421" y="1423"/>
              <a:ext cx="33" cy="43"/>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686" name="Oval 315"/>
            <p:cNvSpPr>
              <a:spLocks noChangeArrowheads="1"/>
            </p:cNvSpPr>
            <p:nvPr/>
          </p:nvSpPr>
          <p:spPr bwMode="auto">
            <a:xfrm>
              <a:off x="3415" y="1160"/>
              <a:ext cx="35" cy="44"/>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687" name="Line 316"/>
            <p:cNvSpPr>
              <a:spLocks noChangeShapeType="1"/>
            </p:cNvSpPr>
            <p:nvPr/>
          </p:nvSpPr>
          <p:spPr bwMode="auto">
            <a:xfrm>
              <a:off x="3437" y="1181"/>
              <a:ext cx="0" cy="822"/>
            </a:xfrm>
            <a:prstGeom prst="line">
              <a:avLst/>
            </a:prstGeom>
            <a:noFill/>
            <a:ln w="9525">
              <a:solidFill>
                <a:schemeClr val="tx1"/>
              </a:solidFill>
              <a:round/>
            </a:ln>
          </p:spPr>
          <p:txBody>
            <a:bodyPr/>
            <a:lstStyle/>
            <a:p>
              <a:endParaRPr lang="zh-CN" altLang="en-US"/>
            </a:p>
          </p:txBody>
        </p:sp>
        <p:sp>
          <p:nvSpPr>
            <p:cNvPr id="113688" name="Line 317"/>
            <p:cNvSpPr>
              <a:spLocks noChangeShapeType="1"/>
            </p:cNvSpPr>
            <p:nvPr/>
          </p:nvSpPr>
          <p:spPr bwMode="auto">
            <a:xfrm>
              <a:off x="3437" y="2003"/>
              <a:ext cx="122" cy="0"/>
            </a:xfrm>
            <a:prstGeom prst="line">
              <a:avLst/>
            </a:prstGeom>
            <a:noFill/>
            <a:ln w="9525">
              <a:solidFill>
                <a:schemeClr val="tx1"/>
              </a:solidFill>
              <a:round/>
            </a:ln>
          </p:spPr>
          <p:txBody>
            <a:bodyPr/>
            <a:lstStyle/>
            <a:p>
              <a:endParaRPr lang="zh-CN" altLang="en-US"/>
            </a:p>
          </p:txBody>
        </p:sp>
        <p:sp>
          <p:nvSpPr>
            <p:cNvPr id="113689" name="Oval 318"/>
            <p:cNvSpPr>
              <a:spLocks noChangeArrowheads="1"/>
            </p:cNvSpPr>
            <p:nvPr/>
          </p:nvSpPr>
          <p:spPr bwMode="auto">
            <a:xfrm>
              <a:off x="2580" y="1421"/>
              <a:ext cx="33" cy="43"/>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690" name="Line 319"/>
            <p:cNvSpPr>
              <a:spLocks noChangeShapeType="1"/>
            </p:cNvSpPr>
            <p:nvPr/>
          </p:nvSpPr>
          <p:spPr bwMode="auto">
            <a:xfrm>
              <a:off x="2609" y="1441"/>
              <a:ext cx="105" cy="0"/>
            </a:xfrm>
            <a:prstGeom prst="line">
              <a:avLst/>
            </a:prstGeom>
            <a:noFill/>
            <a:ln w="9525">
              <a:solidFill>
                <a:schemeClr val="tx1"/>
              </a:solidFill>
              <a:round/>
            </a:ln>
          </p:spPr>
          <p:txBody>
            <a:bodyPr/>
            <a:lstStyle/>
            <a:p>
              <a:endParaRPr lang="zh-CN" altLang="en-US"/>
            </a:p>
          </p:txBody>
        </p:sp>
        <p:sp>
          <p:nvSpPr>
            <p:cNvPr id="113691" name="Oval 320"/>
            <p:cNvSpPr>
              <a:spLocks noChangeArrowheads="1"/>
            </p:cNvSpPr>
            <p:nvPr/>
          </p:nvSpPr>
          <p:spPr bwMode="auto">
            <a:xfrm>
              <a:off x="2583" y="1158"/>
              <a:ext cx="35" cy="44"/>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692" name="Line 321"/>
            <p:cNvSpPr>
              <a:spLocks noChangeShapeType="1"/>
            </p:cNvSpPr>
            <p:nvPr/>
          </p:nvSpPr>
          <p:spPr bwMode="auto">
            <a:xfrm>
              <a:off x="2596" y="1179"/>
              <a:ext cx="0" cy="822"/>
            </a:xfrm>
            <a:prstGeom prst="line">
              <a:avLst/>
            </a:prstGeom>
            <a:noFill/>
            <a:ln w="9525">
              <a:solidFill>
                <a:schemeClr val="tx1"/>
              </a:solidFill>
              <a:round/>
            </a:ln>
          </p:spPr>
          <p:txBody>
            <a:bodyPr/>
            <a:lstStyle/>
            <a:p>
              <a:endParaRPr lang="zh-CN" altLang="en-US"/>
            </a:p>
          </p:txBody>
        </p:sp>
        <p:sp>
          <p:nvSpPr>
            <p:cNvPr id="113693" name="Line 322"/>
            <p:cNvSpPr>
              <a:spLocks noChangeShapeType="1"/>
            </p:cNvSpPr>
            <p:nvPr/>
          </p:nvSpPr>
          <p:spPr bwMode="auto">
            <a:xfrm>
              <a:off x="2596" y="2001"/>
              <a:ext cx="122" cy="0"/>
            </a:xfrm>
            <a:prstGeom prst="line">
              <a:avLst/>
            </a:prstGeom>
            <a:noFill/>
            <a:ln w="9525">
              <a:solidFill>
                <a:schemeClr val="tx1"/>
              </a:solidFill>
              <a:round/>
            </a:ln>
          </p:spPr>
          <p:txBody>
            <a:bodyPr/>
            <a:lstStyle/>
            <a:p>
              <a:endParaRPr lang="zh-CN" altLang="en-US"/>
            </a:p>
          </p:txBody>
        </p:sp>
        <p:sp>
          <p:nvSpPr>
            <p:cNvPr id="113694" name="Line 323"/>
            <p:cNvSpPr>
              <a:spLocks noChangeShapeType="1"/>
            </p:cNvSpPr>
            <p:nvPr/>
          </p:nvSpPr>
          <p:spPr bwMode="auto">
            <a:xfrm>
              <a:off x="2517" y="1278"/>
              <a:ext cx="0" cy="805"/>
            </a:xfrm>
            <a:prstGeom prst="line">
              <a:avLst/>
            </a:prstGeom>
            <a:noFill/>
            <a:ln w="9525">
              <a:solidFill>
                <a:schemeClr val="tx1"/>
              </a:solidFill>
              <a:round/>
            </a:ln>
          </p:spPr>
          <p:txBody>
            <a:bodyPr/>
            <a:lstStyle/>
            <a:p>
              <a:endParaRPr lang="zh-CN" altLang="en-US"/>
            </a:p>
          </p:txBody>
        </p:sp>
        <p:sp>
          <p:nvSpPr>
            <p:cNvPr id="113695" name="Line 324"/>
            <p:cNvSpPr>
              <a:spLocks noChangeShapeType="1"/>
            </p:cNvSpPr>
            <p:nvPr/>
          </p:nvSpPr>
          <p:spPr bwMode="auto">
            <a:xfrm>
              <a:off x="2517" y="2083"/>
              <a:ext cx="209" cy="0"/>
            </a:xfrm>
            <a:prstGeom prst="line">
              <a:avLst/>
            </a:prstGeom>
            <a:noFill/>
            <a:ln w="9525">
              <a:solidFill>
                <a:schemeClr val="tx1"/>
              </a:solidFill>
              <a:round/>
            </a:ln>
          </p:spPr>
          <p:txBody>
            <a:bodyPr/>
            <a:lstStyle/>
            <a:p>
              <a:endParaRPr lang="zh-CN" altLang="en-US"/>
            </a:p>
          </p:txBody>
        </p:sp>
        <p:sp>
          <p:nvSpPr>
            <p:cNvPr id="113696" name="Line 325"/>
            <p:cNvSpPr>
              <a:spLocks noChangeShapeType="1"/>
            </p:cNvSpPr>
            <p:nvPr/>
          </p:nvSpPr>
          <p:spPr bwMode="auto">
            <a:xfrm>
              <a:off x="2517" y="1278"/>
              <a:ext cx="837" cy="0"/>
            </a:xfrm>
            <a:prstGeom prst="line">
              <a:avLst/>
            </a:prstGeom>
            <a:noFill/>
            <a:ln w="9525">
              <a:solidFill>
                <a:schemeClr val="tx1"/>
              </a:solidFill>
              <a:round/>
            </a:ln>
          </p:spPr>
          <p:txBody>
            <a:bodyPr/>
            <a:lstStyle/>
            <a:p>
              <a:endParaRPr lang="zh-CN" altLang="en-US"/>
            </a:p>
          </p:txBody>
        </p:sp>
        <p:sp>
          <p:nvSpPr>
            <p:cNvPr id="113697" name="Line 326"/>
            <p:cNvSpPr>
              <a:spLocks noChangeShapeType="1"/>
            </p:cNvSpPr>
            <p:nvPr/>
          </p:nvSpPr>
          <p:spPr bwMode="auto">
            <a:xfrm>
              <a:off x="3345" y="1280"/>
              <a:ext cx="0" cy="217"/>
            </a:xfrm>
            <a:prstGeom prst="line">
              <a:avLst/>
            </a:prstGeom>
            <a:noFill/>
            <a:ln w="9525">
              <a:solidFill>
                <a:schemeClr val="tx1"/>
              </a:solidFill>
              <a:round/>
            </a:ln>
          </p:spPr>
          <p:txBody>
            <a:bodyPr/>
            <a:lstStyle/>
            <a:p>
              <a:endParaRPr lang="zh-CN" altLang="en-US"/>
            </a:p>
          </p:txBody>
        </p:sp>
        <p:sp>
          <p:nvSpPr>
            <p:cNvPr id="113698" name="Line 327"/>
            <p:cNvSpPr>
              <a:spLocks noChangeShapeType="1"/>
            </p:cNvSpPr>
            <p:nvPr/>
          </p:nvSpPr>
          <p:spPr bwMode="auto">
            <a:xfrm>
              <a:off x="3345" y="1494"/>
              <a:ext cx="209" cy="0"/>
            </a:xfrm>
            <a:prstGeom prst="line">
              <a:avLst/>
            </a:prstGeom>
            <a:noFill/>
            <a:ln w="9525">
              <a:solidFill>
                <a:schemeClr val="tx1"/>
              </a:solidFill>
              <a:round/>
            </a:ln>
          </p:spPr>
          <p:txBody>
            <a:bodyPr/>
            <a:lstStyle/>
            <a:p>
              <a:endParaRPr lang="zh-CN" altLang="en-US"/>
            </a:p>
          </p:txBody>
        </p:sp>
        <p:sp>
          <p:nvSpPr>
            <p:cNvPr id="113699" name="Oval 328"/>
            <p:cNvSpPr>
              <a:spLocks noChangeArrowheads="1"/>
            </p:cNvSpPr>
            <p:nvPr/>
          </p:nvSpPr>
          <p:spPr bwMode="auto">
            <a:xfrm>
              <a:off x="2504" y="1511"/>
              <a:ext cx="33" cy="44"/>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00" name="Line 329"/>
            <p:cNvSpPr>
              <a:spLocks noChangeShapeType="1"/>
            </p:cNvSpPr>
            <p:nvPr/>
          </p:nvSpPr>
          <p:spPr bwMode="auto">
            <a:xfrm flipH="1">
              <a:off x="1764" y="1468"/>
              <a:ext cx="102" cy="0"/>
            </a:xfrm>
            <a:prstGeom prst="line">
              <a:avLst/>
            </a:prstGeom>
            <a:noFill/>
            <a:ln w="9525">
              <a:solidFill>
                <a:schemeClr val="tx1"/>
              </a:solidFill>
              <a:round/>
            </a:ln>
          </p:spPr>
          <p:txBody>
            <a:bodyPr/>
            <a:lstStyle/>
            <a:p>
              <a:endParaRPr lang="zh-CN" altLang="en-US"/>
            </a:p>
          </p:txBody>
        </p:sp>
        <p:sp>
          <p:nvSpPr>
            <p:cNvPr id="113701" name="Line 330"/>
            <p:cNvSpPr>
              <a:spLocks noChangeShapeType="1"/>
            </p:cNvSpPr>
            <p:nvPr/>
          </p:nvSpPr>
          <p:spPr bwMode="auto">
            <a:xfrm flipV="1">
              <a:off x="1764" y="1089"/>
              <a:ext cx="0" cy="379"/>
            </a:xfrm>
            <a:prstGeom prst="line">
              <a:avLst/>
            </a:prstGeom>
            <a:noFill/>
            <a:ln w="9525">
              <a:solidFill>
                <a:schemeClr val="tx1"/>
              </a:solidFill>
              <a:round/>
            </a:ln>
          </p:spPr>
          <p:txBody>
            <a:bodyPr/>
            <a:lstStyle/>
            <a:p>
              <a:endParaRPr lang="zh-CN" altLang="en-US"/>
            </a:p>
          </p:txBody>
        </p:sp>
        <p:sp>
          <p:nvSpPr>
            <p:cNvPr id="113702" name="Line 331"/>
            <p:cNvSpPr>
              <a:spLocks noChangeShapeType="1"/>
            </p:cNvSpPr>
            <p:nvPr/>
          </p:nvSpPr>
          <p:spPr bwMode="auto">
            <a:xfrm>
              <a:off x="1764" y="1089"/>
              <a:ext cx="2355" cy="0"/>
            </a:xfrm>
            <a:prstGeom prst="line">
              <a:avLst/>
            </a:prstGeom>
            <a:noFill/>
            <a:ln w="9525">
              <a:solidFill>
                <a:schemeClr val="tx1"/>
              </a:solidFill>
              <a:round/>
            </a:ln>
          </p:spPr>
          <p:txBody>
            <a:bodyPr/>
            <a:lstStyle/>
            <a:p>
              <a:endParaRPr lang="zh-CN" altLang="en-US"/>
            </a:p>
          </p:txBody>
        </p:sp>
        <p:sp>
          <p:nvSpPr>
            <p:cNvPr id="113703" name="Line 332"/>
            <p:cNvSpPr>
              <a:spLocks noChangeShapeType="1"/>
            </p:cNvSpPr>
            <p:nvPr/>
          </p:nvSpPr>
          <p:spPr bwMode="auto">
            <a:xfrm>
              <a:off x="4118" y="1089"/>
              <a:ext cx="0" cy="884"/>
            </a:xfrm>
            <a:prstGeom prst="line">
              <a:avLst/>
            </a:prstGeom>
            <a:noFill/>
            <a:ln w="9525">
              <a:solidFill>
                <a:schemeClr val="tx1"/>
              </a:solidFill>
              <a:round/>
            </a:ln>
          </p:spPr>
          <p:txBody>
            <a:bodyPr/>
            <a:lstStyle/>
            <a:p>
              <a:endParaRPr lang="zh-CN" altLang="en-US"/>
            </a:p>
          </p:txBody>
        </p:sp>
        <p:sp>
          <p:nvSpPr>
            <p:cNvPr id="113704" name="Line 333"/>
            <p:cNvSpPr>
              <a:spLocks noChangeShapeType="1"/>
            </p:cNvSpPr>
            <p:nvPr/>
          </p:nvSpPr>
          <p:spPr bwMode="auto">
            <a:xfrm>
              <a:off x="2289" y="1530"/>
              <a:ext cx="418" cy="0"/>
            </a:xfrm>
            <a:prstGeom prst="line">
              <a:avLst/>
            </a:prstGeom>
            <a:noFill/>
            <a:ln w="9525">
              <a:solidFill>
                <a:schemeClr val="tx1"/>
              </a:solidFill>
              <a:round/>
            </a:ln>
          </p:spPr>
          <p:txBody>
            <a:bodyPr/>
            <a:lstStyle/>
            <a:p>
              <a:endParaRPr lang="zh-CN" altLang="en-US"/>
            </a:p>
          </p:txBody>
        </p:sp>
        <p:sp>
          <p:nvSpPr>
            <p:cNvPr id="113705" name="Line 334"/>
            <p:cNvSpPr>
              <a:spLocks noChangeShapeType="1"/>
            </p:cNvSpPr>
            <p:nvPr/>
          </p:nvSpPr>
          <p:spPr bwMode="auto">
            <a:xfrm>
              <a:off x="2323" y="1983"/>
              <a:ext cx="105" cy="0"/>
            </a:xfrm>
            <a:prstGeom prst="line">
              <a:avLst/>
            </a:prstGeom>
            <a:noFill/>
            <a:ln w="9525">
              <a:solidFill>
                <a:schemeClr val="tx1"/>
              </a:solidFill>
              <a:round/>
            </a:ln>
          </p:spPr>
          <p:txBody>
            <a:bodyPr/>
            <a:lstStyle/>
            <a:p>
              <a:endParaRPr lang="zh-CN" altLang="en-US"/>
            </a:p>
          </p:txBody>
        </p:sp>
        <p:sp>
          <p:nvSpPr>
            <p:cNvPr id="113706" name="Oval 335"/>
            <p:cNvSpPr>
              <a:spLocks noChangeArrowheads="1"/>
            </p:cNvSpPr>
            <p:nvPr/>
          </p:nvSpPr>
          <p:spPr bwMode="auto">
            <a:xfrm>
              <a:off x="910" y="1492"/>
              <a:ext cx="33" cy="44"/>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07" name="Line 336"/>
            <p:cNvSpPr>
              <a:spLocks noChangeShapeType="1"/>
            </p:cNvSpPr>
            <p:nvPr/>
          </p:nvSpPr>
          <p:spPr bwMode="auto">
            <a:xfrm>
              <a:off x="927" y="1515"/>
              <a:ext cx="99" cy="0"/>
            </a:xfrm>
            <a:prstGeom prst="line">
              <a:avLst/>
            </a:prstGeom>
            <a:noFill/>
            <a:ln w="9525">
              <a:solidFill>
                <a:schemeClr val="tx1"/>
              </a:solidFill>
              <a:round/>
            </a:ln>
          </p:spPr>
          <p:txBody>
            <a:bodyPr/>
            <a:lstStyle/>
            <a:p>
              <a:endParaRPr lang="zh-CN" altLang="en-US"/>
            </a:p>
          </p:txBody>
        </p:sp>
        <p:sp>
          <p:nvSpPr>
            <p:cNvPr id="113708" name="Line 337"/>
            <p:cNvSpPr>
              <a:spLocks noChangeShapeType="1"/>
            </p:cNvSpPr>
            <p:nvPr/>
          </p:nvSpPr>
          <p:spPr bwMode="auto">
            <a:xfrm>
              <a:off x="927" y="1969"/>
              <a:ext cx="99" cy="0"/>
            </a:xfrm>
            <a:prstGeom prst="line">
              <a:avLst/>
            </a:prstGeom>
            <a:noFill/>
            <a:ln w="9525">
              <a:solidFill>
                <a:schemeClr val="tx1"/>
              </a:solidFill>
              <a:round/>
            </a:ln>
          </p:spPr>
          <p:txBody>
            <a:bodyPr/>
            <a:lstStyle/>
            <a:p>
              <a:endParaRPr lang="zh-CN" altLang="en-US"/>
            </a:p>
          </p:txBody>
        </p:sp>
        <p:sp>
          <p:nvSpPr>
            <p:cNvPr id="113709" name="Line 338"/>
            <p:cNvSpPr>
              <a:spLocks noChangeShapeType="1"/>
            </p:cNvSpPr>
            <p:nvPr/>
          </p:nvSpPr>
          <p:spPr bwMode="auto">
            <a:xfrm flipV="1">
              <a:off x="927" y="1250"/>
              <a:ext cx="0" cy="719"/>
            </a:xfrm>
            <a:prstGeom prst="line">
              <a:avLst/>
            </a:prstGeom>
            <a:noFill/>
            <a:ln w="9525">
              <a:solidFill>
                <a:schemeClr val="tx1"/>
              </a:solidFill>
              <a:round/>
            </a:ln>
          </p:spPr>
          <p:txBody>
            <a:bodyPr/>
            <a:lstStyle/>
            <a:p>
              <a:endParaRPr lang="zh-CN" altLang="en-US"/>
            </a:p>
          </p:txBody>
        </p:sp>
        <p:sp>
          <p:nvSpPr>
            <p:cNvPr id="113710" name="Line 339"/>
            <p:cNvSpPr>
              <a:spLocks noChangeShapeType="1"/>
            </p:cNvSpPr>
            <p:nvPr/>
          </p:nvSpPr>
          <p:spPr bwMode="auto">
            <a:xfrm>
              <a:off x="1450" y="1524"/>
              <a:ext cx="418" cy="0"/>
            </a:xfrm>
            <a:prstGeom prst="line">
              <a:avLst/>
            </a:prstGeom>
            <a:noFill/>
            <a:ln w="9525">
              <a:solidFill>
                <a:schemeClr val="tx1"/>
              </a:solidFill>
              <a:round/>
            </a:ln>
          </p:spPr>
          <p:txBody>
            <a:bodyPr/>
            <a:lstStyle/>
            <a:p>
              <a:endParaRPr lang="zh-CN" altLang="en-US"/>
            </a:p>
          </p:txBody>
        </p:sp>
        <p:sp>
          <p:nvSpPr>
            <p:cNvPr id="113711" name="Line 340"/>
            <p:cNvSpPr>
              <a:spLocks noChangeShapeType="1"/>
            </p:cNvSpPr>
            <p:nvPr/>
          </p:nvSpPr>
          <p:spPr bwMode="auto">
            <a:xfrm>
              <a:off x="1484" y="1977"/>
              <a:ext cx="105" cy="0"/>
            </a:xfrm>
            <a:prstGeom prst="line">
              <a:avLst/>
            </a:prstGeom>
            <a:noFill/>
            <a:ln w="9525">
              <a:solidFill>
                <a:schemeClr val="tx1"/>
              </a:solidFill>
              <a:round/>
            </a:ln>
          </p:spPr>
          <p:txBody>
            <a:bodyPr/>
            <a:lstStyle/>
            <a:p>
              <a:endParaRPr lang="zh-CN" altLang="en-US"/>
            </a:p>
          </p:txBody>
        </p:sp>
        <p:sp>
          <p:nvSpPr>
            <p:cNvPr id="113712" name="Line 341"/>
            <p:cNvSpPr>
              <a:spLocks noChangeShapeType="1"/>
            </p:cNvSpPr>
            <p:nvPr/>
          </p:nvSpPr>
          <p:spPr bwMode="auto">
            <a:xfrm>
              <a:off x="3141" y="1527"/>
              <a:ext cx="418" cy="0"/>
            </a:xfrm>
            <a:prstGeom prst="line">
              <a:avLst/>
            </a:prstGeom>
            <a:noFill/>
            <a:ln w="9525">
              <a:solidFill>
                <a:schemeClr val="tx1"/>
              </a:solidFill>
              <a:round/>
            </a:ln>
          </p:spPr>
          <p:txBody>
            <a:bodyPr/>
            <a:lstStyle/>
            <a:p>
              <a:endParaRPr lang="zh-CN" altLang="en-US"/>
            </a:p>
          </p:txBody>
        </p:sp>
        <p:sp>
          <p:nvSpPr>
            <p:cNvPr id="113713" name="Line 342"/>
            <p:cNvSpPr>
              <a:spLocks noChangeShapeType="1"/>
            </p:cNvSpPr>
            <p:nvPr/>
          </p:nvSpPr>
          <p:spPr bwMode="auto">
            <a:xfrm>
              <a:off x="3175" y="1980"/>
              <a:ext cx="105" cy="0"/>
            </a:xfrm>
            <a:prstGeom prst="line">
              <a:avLst/>
            </a:prstGeom>
            <a:noFill/>
            <a:ln w="9525">
              <a:solidFill>
                <a:schemeClr val="tx1"/>
              </a:solidFill>
              <a:round/>
            </a:ln>
          </p:spPr>
          <p:txBody>
            <a:bodyPr/>
            <a:lstStyle/>
            <a:p>
              <a:endParaRPr lang="zh-CN" altLang="en-US"/>
            </a:p>
          </p:txBody>
        </p:sp>
        <p:sp>
          <p:nvSpPr>
            <p:cNvPr id="113714" name="Oval 343"/>
            <p:cNvSpPr>
              <a:spLocks noChangeArrowheads="1"/>
            </p:cNvSpPr>
            <p:nvPr/>
          </p:nvSpPr>
          <p:spPr bwMode="auto">
            <a:xfrm>
              <a:off x="2536" y="2206"/>
              <a:ext cx="34" cy="43"/>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15" name="Oval 344"/>
            <p:cNvSpPr>
              <a:spLocks noChangeArrowheads="1"/>
            </p:cNvSpPr>
            <p:nvPr/>
          </p:nvSpPr>
          <p:spPr bwMode="auto">
            <a:xfrm>
              <a:off x="1691" y="2209"/>
              <a:ext cx="33" cy="43"/>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16" name="Oval 345"/>
            <p:cNvSpPr>
              <a:spLocks noChangeArrowheads="1"/>
            </p:cNvSpPr>
            <p:nvPr/>
          </p:nvSpPr>
          <p:spPr bwMode="auto">
            <a:xfrm>
              <a:off x="853" y="2213"/>
              <a:ext cx="33" cy="44"/>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17" name="Line 346"/>
            <p:cNvSpPr>
              <a:spLocks noChangeShapeType="1"/>
            </p:cNvSpPr>
            <p:nvPr/>
          </p:nvSpPr>
          <p:spPr bwMode="auto">
            <a:xfrm flipH="1">
              <a:off x="574" y="2227"/>
              <a:ext cx="2823" cy="0"/>
            </a:xfrm>
            <a:prstGeom prst="line">
              <a:avLst/>
            </a:prstGeom>
            <a:noFill/>
            <a:ln w="9525">
              <a:solidFill>
                <a:schemeClr val="tx1"/>
              </a:solidFill>
              <a:round/>
            </a:ln>
          </p:spPr>
          <p:txBody>
            <a:bodyPr/>
            <a:lstStyle/>
            <a:p>
              <a:endParaRPr lang="zh-CN" altLang="en-US"/>
            </a:p>
          </p:txBody>
        </p:sp>
        <p:sp>
          <p:nvSpPr>
            <p:cNvPr id="113718" name="Line 347"/>
            <p:cNvSpPr>
              <a:spLocks noChangeShapeType="1"/>
            </p:cNvSpPr>
            <p:nvPr/>
          </p:nvSpPr>
          <p:spPr bwMode="auto">
            <a:xfrm>
              <a:off x="1711" y="1759"/>
              <a:ext cx="122" cy="0"/>
            </a:xfrm>
            <a:prstGeom prst="line">
              <a:avLst/>
            </a:prstGeom>
            <a:noFill/>
            <a:ln w="9525">
              <a:solidFill>
                <a:schemeClr val="tx1"/>
              </a:solidFill>
              <a:round/>
            </a:ln>
          </p:spPr>
          <p:txBody>
            <a:bodyPr/>
            <a:lstStyle/>
            <a:p>
              <a:endParaRPr lang="zh-CN" altLang="en-US"/>
            </a:p>
          </p:txBody>
        </p:sp>
        <p:sp>
          <p:nvSpPr>
            <p:cNvPr id="113719" name="Line 348"/>
            <p:cNvSpPr>
              <a:spLocks noChangeShapeType="1"/>
            </p:cNvSpPr>
            <p:nvPr/>
          </p:nvSpPr>
          <p:spPr bwMode="auto">
            <a:xfrm>
              <a:off x="1711" y="1759"/>
              <a:ext cx="0" cy="478"/>
            </a:xfrm>
            <a:prstGeom prst="line">
              <a:avLst/>
            </a:prstGeom>
            <a:noFill/>
            <a:ln w="9525">
              <a:solidFill>
                <a:schemeClr val="tx1"/>
              </a:solidFill>
              <a:round/>
            </a:ln>
          </p:spPr>
          <p:txBody>
            <a:bodyPr/>
            <a:lstStyle/>
            <a:p>
              <a:endParaRPr lang="zh-CN" altLang="en-US"/>
            </a:p>
          </p:txBody>
        </p:sp>
        <p:sp>
          <p:nvSpPr>
            <p:cNvPr id="113720" name="Line 349"/>
            <p:cNvSpPr>
              <a:spLocks noChangeShapeType="1"/>
            </p:cNvSpPr>
            <p:nvPr/>
          </p:nvSpPr>
          <p:spPr bwMode="auto">
            <a:xfrm>
              <a:off x="2557" y="1762"/>
              <a:ext cx="122" cy="0"/>
            </a:xfrm>
            <a:prstGeom prst="line">
              <a:avLst/>
            </a:prstGeom>
            <a:noFill/>
            <a:ln w="9525">
              <a:solidFill>
                <a:schemeClr val="tx1"/>
              </a:solidFill>
              <a:round/>
            </a:ln>
          </p:spPr>
          <p:txBody>
            <a:bodyPr/>
            <a:lstStyle/>
            <a:p>
              <a:endParaRPr lang="zh-CN" altLang="en-US"/>
            </a:p>
          </p:txBody>
        </p:sp>
        <p:sp>
          <p:nvSpPr>
            <p:cNvPr id="113721" name="Line 350"/>
            <p:cNvSpPr>
              <a:spLocks noChangeShapeType="1"/>
            </p:cNvSpPr>
            <p:nvPr/>
          </p:nvSpPr>
          <p:spPr bwMode="auto">
            <a:xfrm>
              <a:off x="2557" y="1762"/>
              <a:ext cx="0" cy="478"/>
            </a:xfrm>
            <a:prstGeom prst="line">
              <a:avLst/>
            </a:prstGeom>
            <a:noFill/>
            <a:ln w="9525">
              <a:solidFill>
                <a:schemeClr val="tx1"/>
              </a:solidFill>
              <a:round/>
            </a:ln>
          </p:spPr>
          <p:txBody>
            <a:bodyPr/>
            <a:lstStyle/>
            <a:p>
              <a:endParaRPr lang="zh-CN" altLang="en-US"/>
            </a:p>
          </p:txBody>
        </p:sp>
        <p:sp>
          <p:nvSpPr>
            <p:cNvPr id="113722" name="Line 351"/>
            <p:cNvSpPr>
              <a:spLocks noChangeShapeType="1"/>
            </p:cNvSpPr>
            <p:nvPr/>
          </p:nvSpPr>
          <p:spPr bwMode="auto">
            <a:xfrm>
              <a:off x="866" y="1762"/>
              <a:ext cx="122" cy="0"/>
            </a:xfrm>
            <a:prstGeom prst="line">
              <a:avLst/>
            </a:prstGeom>
            <a:noFill/>
            <a:ln w="9525">
              <a:solidFill>
                <a:schemeClr val="tx1"/>
              </a:solidFill>
              <a:round/>
            </a:ln>
          </p:spPr>
          <p:txBody>
            <a:bodyPr/>
            <a:lstStyle/>
            <a:p>
              <a:endParaRPr lang="zh-CN" altLang="en-US"/>
            </a:p>
          </p:txBody>
        </p:sp>
        <p:sp>
          <p:nvSpPr>
            <p:cNvPr id="113723" name="Line 352"/>
            <p:cNvSpPr>
              <a:spLocks noChangeShapeType="1"/>
            </p:cNvSpPr>
            <p:nvPr/>
          </p:nvSpPr>
          <p:spPr bwMode="auto">
            <a:xfrm>
              <a:off x="866" y="1762"/>
              <a:ext cx="0" cy="478"/>
            </a:xfrm>
            <a:prstGeom prst="line">
              <a:avLst/>
            </a:prstGeom>
            <a:noFill/>
            <a:ln w="9525">
              <a:solidFill>
                <a:schemeClr val="tx1"/>
              </a:solidFill>
              <a:round/>
            </a:ln>
          </p:spPr>
          <p:txBody>
            <a:bodyPr/>
            <a:lstStyle/>
            <a:p>
              <a:endParaRPr lang="zh-CN" altLang="en-US"/>
            </a:p>
          </p:txBody>
        </p:sp>
        <p:sp>
          <p:nvSpPr>
            <p:cNvPr id="113724" name="Line 353"/>
            <p:cNvSpPr>
              <a:spLocks noChangeShapeType="1"/>
            </p:cNvSpPr>
            <p:nvPr/>
          </p:nvSpPr>
          <p:spPr bwMode="auto">
            <a:xfrm>
              <a:off x="3402" y="1759"/>
              <a:ext cx="122" cy="0"/>
            </a:xfrm>
            <a:prstGeom prst="line">
              <a:avLst/>
            </a:prstGeom>
            <a:noFill/>
            <a:ln w="9525">
              <a:solidFill>
                <a:schemeClr val="tx1"/>
              </a:solidFill>
              <a:round/>
            </a:ln>
          </p:spPr>
          <p:txBody>
            <a:bodyPr/>
            <a:lstStyle/>
            <a:p>
              <a:endParaRPr lang="zh-CN" altLang="en-US"/>
            </a:p>
          </p:txBody>
        </p:sp>
        <p:sp>
          <p:nvSpPr>
            <p:cNvPr id="113725" name="Line 354"/>
            <p:cNvSpPr>
              <a:spLocks noChangeShapeType="1"/>
            </p:cNvSpPr>
            <p:nvPr/>
          </p:nvSpPr>
          <p:spPr bwMode="auto">
            <a:xfrm>
              <a:off x="3402" y="1759"/>
              <a:ext cx="0" cy="478"/>
            </a:xfrm>
            <a:prstGeom prst="line">
              <a:avLst/>
            </a:prstGeom>
            <a:noFill/>
            <a:ln w="9525">
              <a:solidFill>
                <a:schemeClr val="tx1"/>
              </a:solidFill>
              <a:round/>
            </a:ln>
          </p:spPr>
          <p:txBody>
            <a:bodyPr/>
            <a:lstStyle/>
            <a:p>
              <a:endParaRPr lang="zh-CN" altLang="en-US"/>
            </a:p>
          </p:txBody>
        </p:sp>
        <p:sp>
          <p:nvSpPr>
            <p:cNvPr id="113726" name="Line 355"/>
            <p:cNvSpPr>
              <a:spLocks noChangeShapeType="1"/>
            </p:cNvSpPr>
            <p:nvPr/>
          </p:nvSpPr>
          <p:spPr bwMode="auto">
            <a:xfrm>
              <a:off x="4003" y="1543"/>
              <a:ext cx="197" cy="0"/>
            </a:xfrm>
            <a:prstGeom prst="line">
              <a:avLst/>
            </a:prstGeom>
            <a:noFill/>
            <a:ln w="9525">
              <a:solidFill>
                <a:schemeClr val="tx1"/>
              </a:solidFill>
              <a:round/>
            </a:ln>
          </p:spPr>
          <p:txBody>
            <a:bodyPr/>
            <a:lstStyle/>
            <a:p>
              <a:endParaRPr lang="zh-CN" altLang="en-US"/>
            </a:p>
          </p:txBody>
        </p:sp>
        <p:sp>
          <p:nvSpPr>
            <p:cNvPr id="113727" name="Line 356"/>
            <p:cNvSpPr>
              <a:spLocks noChangeShapeType="1"/>
            </p:cNvSpPr>
            <p:nvPr/>
          </p:nvSpPr>
          <p:spPr bwMode="auto">
            <a:xfrm flipV="1">
              <a:off x="4202" y="1301"/>
              <a:ext cx="0" cy="240"/>
            </a:xfrm>
            <a:prstGeom prst="line">
              <a:avLst/>
            </a:prstGeom>
            <a:noFill/>
            <a:ln w="9525">
              <a:solidFill>
                <a:schemeClr val="tx1"/>
              </a:solidFill>
              <a:round/>
            </a:ln>
          </p:spPr>
          <p:txBody>
            <a:bodyPr/>
            <a:lstStyle/>
            <a:p>
              <a:endParaRPr lang="zh-CN" altLang="en-US"/>
            </a:p>
          </p:txBody>
        </p:sp>
        <p:sp>
          <p:nvSpPr>
            <p:cNvPr id="113728" name="Line 357"/>
            <p:cNvSpPr>
              <a:spLocks noChangeShapeType="1"/>
            </p:cNvSpPr>
            <p:nvPr/>
          </p:nvSpPr>
          <p:spPr bwMode="auto">
            <a:xfrm>
              <a:off x="4202" y="1303"/>
              <a:ext cx="63" cy="0"/>
            </a:xfrm>
            <a:prstGeom prst="line">
              <a:avLst/>
            </a:prstGeom>
            <a:noFill/>
            <a:ln w="9525">
              <a:solidFill>
                <a:schemeClr val="tx1"/>
              </a:solidFill>
              <a:round/>
            </a:ln>
          </p:spPr>
          <p:txBody>
            <a:bodyPr/>
            <a:lstStyle/>
            <a:p>
              <a:endParaRPr lang="zh-CN" altLang="en-US"/>
            </a:p>
          </p:txBody>
        </p:sp>
        <p:sp>
          <p:nvSpPr>
            <p:cNvPr id="113729" name="Oval 358"/>
            <p:cNvSpPr>
              <a:spLocks noChangeArrowheads="1"/>
            </p:cNvSpPr>
            <p:nvPr/>
          </p:nvSpPr>
          <p:spPr bwMode="auto">
            <a:xfrm>
              <a:off x="4430" y="1227"/>
              <a:ext cx="34" cy="44"/>
            </a:xfrm>
            <a:prstGeom prst="ellipse">
              <a:avLst/>
            </a:prstGeom>
            <a:no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30" name="Line 359"/>
            <p:cNvSpPr>
              <a:spLocks noChangeShapeType="1"/>
            </p:cNvSpPr>
            <p:nvPr/>
          </p:nvSpPr>
          <p:spPr bwMode="auto">
            <a:xfrm>
              <a:off x="4469" y="1255"/>
              <a:ext cx="99" cy="0"/>
            </a:xfrm>
            <a:prstGeom prst="line">
              <a:avLst/>
            </a:prstGeom>
            <a:noFill/>
            <a:ln w="9525">
              <a:solidFill>
                <a:schemeClr val="tx1"/>
              </a:solidFill>
              <a:round/>
            </a:ln>
          </p:spPr>
          <p:txBody>
            <a:bodyPr/>
            <a:lstStyle/>
            <a:p>
              <a:endParaRPr lang="zh-CN" altLang="en-US"/>
            </a:p>
          </p:txBody>
        </p:sp>
        <p:sp>
          <p:nvSpPr>
            <p:cNvPr id="113731" name="Line 360"/>
            <p:cNvSpPr>
              <a:spLocks noChangeShapeType="1"/>
            </p:cNvSpPr>
            <p:nvPr/>
          </p:nvSpPr>
          <p:spPr bwMode="auto">
            <a:xfrm>
              <a:off x="4774" y="1255"/>
              <a:ext cx="99" cy="0"/>
            </a:xfrm>
            <a:prstGeom prst="line">
              <a:avLst/>
            </a:prstGeom>
            <a:noFill/>
            <a:ln w="9525">
              <a:solidFill>
                <a:schemeClr val="tx1"/>
              </a:solidFill>
              <a:round/>
            </a:ln>
          </p:spPr>
          <p:txBody>
            <a:bodyPr/>
            <a:lstStyle/>
            <a:p>
              <a:endParaRPr lang="zh-CN" altLang="en-US"/>
            </a:p>
          </p:txBody>
        </p:sp>
        <p:sp>
          <p:nvSpPr>
            <p:cNvPr id="113732" name="Rectangle 361"/>
            <p:cNvSpPr>
              <a:spLocks noChangeArrowheads="1"/>
            </p:cNvSpPr>
            <p:nvPr/>
          </p:nvSpPr>
          <p:spPr bwMode="auto">
            <a:xfrm>
              <a:off x="4269" y="1110"/>
              <a:ext cx="164" cy="305"/>
            </a:xfrm>
            <a:prstGeom prst="rect">
              <a:avLst/>
            </a:prstGeom>
            <a:noFill/>
            <a:ln w="15875">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33" name="Rectangle 362"/>
            <p:cNvSpPr>
              <a:spLocks noChangeArrowheads="1"/>
            </p:cNvSpPr>
            <p:nvPr/>
          </p:nvSpPr>
          <p:spPr bwMode="auto">
            <a:xfrm>
              <a:off x="4568" y="1116"/>
              <a:ext cx="164" cy="305"/>
            </a:xfrm>
            <a:prstGeom prst="rect">
              <a:avLst/>
            </a:prstGeom>
            <a:noFill/>
            <a:ln w="15875">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34" name="Oval 363"/>
            <p:cNvSpPr>
              <a:spLocks noChangeArrowheads="1"/>
            </p:cNvSpPr>
            <p:nvPr/>
          </p:nvSpPr>
          <p:spPr bwMode="auto">
            <a:xfrm>
              <a:off x="4734" y="1234"/>
              <a:ext cx="33" cy="43"/>
            </a:xfrm>
            <a:prstGeom prst="ellipse">
              <a:avLst/>
            </a:prstGeom>
            <a:no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35" name="Line 364"/>
            <p:cNvSpPr>
              <a:spLocks noChangeShapeType="1"/>
            </p:cNvSpPr>
            <p:nvPr/>
          </p:nvSpPr>
          <p:spPr bwMode="auto">
            <a:xfrm>
              <a:off x="1654" y="1181"/>
              <a:ext cx="2606" cy="0"/>
            </a:xfrm>
            <a:prstGeom prst="line">
              <a:avLst/>
            </a:prstGeom>
            <a:noFill/>
            <a:ln w="9525">
              <a:solidFill>
                <a:schemeClr val="tx1"/>
              </a:solidFill>
              <a:round/>
            </a:ln>
          </p:spPr>
          <p:txBody>
            <a:bodyPr/>
            <a:lstStyle/>
            <a:p>
              <a:endParaRPr lang="zh-CN" altLang="en-US"/>
            </a:p>
          </p:txBody>
        </p:sp>
        <p:sp>
          <p:nvSpPr>
            <p:cNvPr id="113736" name="Oval 365"/>
            <p:cNvSpPr>
              <a:spLocks noChangeArrowheads="1"/>
            </p:cNvSpPr>
            <p:nvPr/>
          </p:nvSpPr>
          <p:spPr bwMode="auto">
            <a:xfrm>
              <a:off x="1636" y="1508"/>
              <a:ext cx="34" cy="44"/>
            </a:xfrm>
            <a:prstGeom prst="ellipse">
              <a:avLst/>
            </a:prstGeom>
            <a:solidFill>
              <a:schemeClr val="tx1"/>
            </a:solidFill>
            <a:ln w="9525">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37" name="Line 366"/>
            <p:cNvSpPr>
              <a:spLocks noChangeShapeType="1"/>
            </p:cNvSpPr>
            <p:nvPr/>
          </p:nvSpPr>
          <p:spPr bwMode="auto">
            <a:xfrm>
              <a:off x="1650" y="1181"/>
              <a:ext cx="0" cy="823"/>
            </a:xfrm>
            <a:prstGeom prst="line">
              <a:avLst/>
            </a:prstGeom>
            <a:noFill/>
            <a:ln w="9525">
              <a:solidFill>
                <a:schemeClr val="tx1"/>
              </a:solidFill>
              <a:round/>
            </a:ln>
          </p:spPr>
          <p:txBody>
            <a:bodyPr/>
            <a:lstStyle/>
            <a:p>
              <a:endParaRPr lang="zh-CN" altLang="en-US"/>
            </a:p>
          </p:txBody>
        </p:sp>
        <p:sp>
          <p:nvSpPr>
            <p:cNvPr id="113738" name="Line 367"/>
            <p:cNvSpPr>
              <a:spLocks noChangeShapeType="1"/>
            </p:cNvSpPr>
            <p:nvPr/>
          </p:nvSpPr>
          <p:spPr bwMode="auto">
            <a:xfrm>
              <a:off x="1650" y="2004"/>
              <a:ext cx="211" cy="0"/>
            </a:xfrm>
            <a:prstGeom prst="line">
              <a:avLst/>
            </a:prstGeom>
            <a:noFill/>
            <a:ln w="9525">
              <a:solidFill>
                <a:schemeClr val="tx1"/>
              </a:solidFill>
              <a:round/>
            </a:ln>
          </p:spPr>
          <p:txBody>
            <a:bodyPr/>
            <a:lstStyle/>
            <a:p>
              <a:endParaRPr lang="zh-CN" altLang="en-US"/>
            </a:p>
          </p:txBody>
        </p:sp>
        <p:grpSp>
          <p:nvGrpSpPr>
            <p:cNvPr id="113739" name="Group 368"/>
            <p:cNvGrpSpPr/>
            <p:nvPr/>
          </p:nvGrpSpPr>
          <p:grpSpPr bwMode="auto">
            <a:xfrm>
              <a:off x="986" y="1230"/>
              <a:ext cx="3050" cy="948"/>
              <a:chOff x="986" y="1229"/>
              <a:chExt cx="3050" cy="948"/>
            </a:xfrm>
          </p:grpSpPr>
          <p:sp>
            <p:nvSpPr>
              <p:cNvPr id="113740" name="Text Box 369"/>
              <p:cNvSpPr txBox="1">
                <a:spLocks noChangeArrowheads="1"/>
              </p:cNvSpPr>
              <p:nvPr/>
            </p:nvSpPr>
            <p:spPr bwMode="auto">
              <a:xfrm>
                <a:off x="1936" y="1241"/>
                <a:ext cx="368" cy="190"/>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FF</a:t>
                </a:r>
                <a:r>
                  <a:rPr lang="en-US" altLang="zh-CN" sz="1400" baseline="-25000">
                    <a:solidFill>
                      <a:schemeClr val="hlink"/>
                    </a:solidFill>
                    <a:ea typeface="Gulim" panose="020B0600000101010101" pitchFamily="34" charset="-127"/>
                  </a:rPr>
                  <a:t>1</a:t>
                </a:r>
                <a:endParaRPr lang="en-US" altLang="zh-CN" sz="1400">
                  <a:solidFill>
                    <a:schemeClr val="hlink"/>
                  </a:solidFill>
                  <a:ea typeface="Gulim" panose="020B0600000101010101" pitchFamily="34" charset="-127"/>
                </a:endParaRPr>
              </a:p>
            </p:txBody>
          </p:sp>
          <p:sp>
            <p:nvSpPr>
              <p:cNvPr id="113741" name="Text Box 370"/>
              <p:cNvSpPr txBox="1">
                <a:spLocks noChangeArrowheads="1"/>
              </p:cNvSpPr>
              <p:nvPr/>
            </p:nvSpPr>
            <p:spPr bwMode="auto">
              <a:xfrm>
                <a:off x="1075" y="1232"/>
                <a:ext cx="365" cy="202"/>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FF</a:t>
                </a:r>
                <a:r>
                  <a:rPr lang="en-US" altLang="zh-CN" sz="1400" baseline="-25000">
                    <a:solidFill>
                      <a:schemeClr val="hlink"/>
                    </a:solidFill>
                    <a:ea typeface="Gulim" panose="020B0600000101010101" pitchFamily="34" charset="-127"/>
                  </a:rPr>
                  <a:t>0</a:t>
                </a:r>
                <a:endParaRPr lang="en-US" altLang="zh-CN" sz="1400">
                  <a:solidFill>
                    <a:schemeClr val="hlink"/>
                  </a:solidFill>
                  <a:ea typeface="Gulim" panose="020B0600000101010101" pitchFamily="34" charset="-127"/>
                </a:endParaRPr>
              </a:p>
            </p:txBody>
          </p:sp>
          <p:sp>
            <p:nvSpPr>
              <p:cNvPr id="113742" name="Text Box 371"/>
              <p:cNvSpPr txBox="1">
                <a:spLocks noChangeArrowheads="1"/>
              </p:cNvSpPr>
              <p:nvPr/>
            </p:nvSpPr>
            <p:spPr bwMode="auto">
              <a:xfrm>
                <a:off x="2766" y="1276"/>
                <a:ext cx="354" cy="227"/>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FF</a:t>
                </a:r>
                <a:r>
                  <a:rPr lang="en-US" altLang="zh-CN" sz="1400" baseline="-25000">
                    <a:solidFill>
                      <a:schemeClr val="hlink"/>
                    </a:solidFill>
                    <a:ea typeface="Gulim" panose="020B0600000101010101" pitchFamily="34" charset="-127"/>
                  </a:rPr>
                  <a:t>2</a:t>
                </a:r>
                <a:endParaRPr lang="en-US" altLang="zh-CN" sz="1400">
                  <a:solidFill>
                    <a:schemeClr val="hlink"/>
                  </a:solidFill>
                  <a:ea typeface="Gulim" panose="020B0600000101010101" pitchFamily="34" charset="-127"/>
                </a:endParaRPr>
              </a:p>
            </p:txBody>
          </p:sp>
          <p:sp>
            <p:nvSpPr>
              <p:cNvPr id="113743" name="Text Box 372"/>
              <p:cNvSpPr txBox="1">
                <a:spLocks noChangeArrowheads="1"/>
              </p:cNvSpPr>
              <p:nvPr/>
            </p:nvSpPr>
            <p:spPr bwMode="auto">
              <a:xfrm>
                <a:off x="3603" y="1229"/>
                <a:ext cx="399" cy="19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FF</a:t>
                </a:r>
                <a:r>
                  <a:rPr lang="en-US" altLang="zh-CN" sz="1400" baseline="-25000">
                    <a:solidFill>
                      <a:schemeClr val="hlink"/>
                    </a:solidFill>
                    <a:ea typeface="Gulim" panose="020B0600000101010101" pitchFamily="34" charset="-127"/>
                  </a:rPr>
                  <a:t>3</a:t>
                </a:r>
                <a:endParaRPr lang="en-US" altLang="zh-CN" sz="1400">
                  <a:solidFill>
                    <a:schemeClr val="hlink"/>
                  </a:solidFill>
                  <a:ea typeface="Gulim" panose="020B0600000101010101" pitchFamily="34" charset="-127"/>
                </a:endParaRPr>
              </a:p>
            </p:txBody>
          </p:sp>
          <p:grpSp>
            <p:nvGrpSpPr>
              <p:cNvPr id="113744" name="Group 373"/>
              <p:cNvGrpSpPr/>
              <p:nvPr/>
            </p:nvGrpSpPr>
            <p:grpSpPr bwMode="auto">
              <a:xfrm>
                <a:off x="986" y="1405"/>
                <a:ext cx="502" cy="764"/>
                <a:chOff x="1824" y="1408"/>
                <a:chExt cx="502" cy="764"/>
              </a:xfrm>
            </p:grpSpPr>
            <p:grpSp>
              <p:nvGrpSpPr>
                <p:cNvPr id="113805" name="Group 374"/>
                <p:cNvGrpSpPr/>
                <p:nvPr/>
              </p:nvGrpSpPr>
              <p:grpSpPr bwMode="auto">
                <a:xfrm>
                  <a:off x="1830" y="1408"/>
                  <a:ext cx="496" cy="718"/>
                  <a:chOff x="1830" y="1408"/>
                  <a:chExt cx="496" cy="718"/>
                </a:xfrm>
              </p:grpSpPr>
              <p:sp>
                <p:nvSpPr>
                  <p:cNvPr id="113818" name="Rectangle 375"/>
                  <p:cNvSpPr>
                    <a:spLocks noChangeArrowheads="1"/>
                  </p:cNvSpPr>
                  <p:nvPr/>
                </p:nvSpPr>
                <p:spPr bwMode="auto">
                  <a:xfrm>
                    <a:off x="1871" y="1408"/>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19" name="Rectangle 376"/>
                  <p:cNvSpPr>
                    <a:spLocks noChangeArrowheads="1"/>
                  </p:cNvSpPr>
                  <p:nvPr/>
                </p:nvSpPr>
                <p:spPr bwMode="auto">
                  <a:xfrm>
                    <a:off x="1871" y="1887"/>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20" name="Oval 377"/>
                  <p:cNvSpPr>
                    <a:spLocks noChangeArrowheads="1"/>
                  </p:cNvSpPr>
                  <p:nvPr/>
                </p:nvSpPr>
                <p:spPr bwMode="auto">
                  <a:xfrm>
                    <a:off x="1830" y="1742"/>
                    <a:ext cx="33" cy="43"/>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21" name="Rectangle 378"/>
                  <p:cNvSpPr>
                    <a:spLocks noChangeArrowheads="1"/>
                  </p:cNvSpPr>
                  <p:nvPr/>
                </p:nvSpPr>
                <p:spPr bwMode="auto">
                  <a:xfrm>
                    <a:off x="1871" y="1408"/>
                    <a:ext cx="418" cy="718"/>
                  </a:xfrm>
                  <a:prstGeom prst="rect">
                    <a:avLst/>
                  </a:prstGeom>
                  <a:noFill/>
                  <a:ln w="28575">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22" name="AutoShape 379"/>
                  <p:cNvSpPr>
                    <a:spLocks noChangeArrowheads="1"/>
                  </p:cNvSpPr>
                  <p:nvPr/>
                </p:nvSpPr>
                <p:spPr bwMode="auto">
                  <a:xfrm rot="5400000">
                    <a:off x="1848" y="1714"/>
                    <a:ext cx="138" cy="91"/>
                  </a:xfrm>
                  <a:prstGeom prst="triangle">
                    <a:avLst>
                      <a:gd name="adj" fmla="val 50000"/>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23" name="Oval 380"/>
                  <p:cNvSpPr>
                    <a:spLocks noChangeArrowheads="1"/>
                  </p:cNvSpPr>
                  <p:nvPr/>
                </p:nvSpPr>
                <p:spPr bwMode="auto">
                  <a:xfrm>
                    <a:off x="2293" y="1960"/>
                    <a:ext cx="33" cy="34"/>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grpSp>
            <p:grpSp>
              <p:nvGrpSpPr>
                <p:cNvPr id="113806" name="Group 381"/>
                <p:cNvGrpSpPr/>
                <p:nvPr/>
              </p:nvGrpSpPr>
              <p:grpSpPr bwMode="auto">
                <a:xfrm>
                  <a:off x="1824" y="1440"/>
                  <a:ext cx="495" cy="732"/>
                  <a:chOff x="1824" y="1428"/>
                  <a:chExt cx="495" cy="732"/>
                </a:xfrm>
              </p:grpSpPr>
              <p:grpSp>
                <p:nvGrpSpPr>
                  <p:cNvPr id="113807" name="Group 382"/>
                  <p:cNvGrpSpPr/>
                  <p:nvPr/>
                </p:nvGrpSpPr>
                <p:grpSpPr bwMode="auto">
                  <a:xfrm>
                    <a:off x="1824" y="1428"/>
                    <a:ext cx="495" cy="732"/>
                    <a:chOff x="1824" y="1428"/>
                    <a:chExt cx="495" cy="732"/>
                  </a:xfrm>
                </p:grpSpPr>
                <p:grpSp>
                  <p:nvGrpSpPr>
                    <p:cNvPr id="113809" name="Group 383"/>
                    <p:cNvGrpSpPr/>
                    <p:nvPr/>
                  </p:nvGrpSpPr>
                  <p:grpSpPr bwMode="auto">
                    <a:xfrm>
                      <a:off x="1926" y="1435"/>
                      <a:ext cx="282" cy="725"/>
                      <a:chOff x="1926" y="1435"/>
                      <a:chExt cx="282" cy="725"/>
                    </a:xfrm>
                  </p:grpSpPr>
                  <p:sp>
                    <p:nvSpPr>
                      <p:cNvPr id="113815" name="Text Box 384"/>
                      <p:cNvSpPr txBox="1">
                        <a:spLocks noChangeArrowheads="1"/>
                      </p:cNvSpPr>
                      <p:nvPr/>
                    </p:nvSpPr>
                    <p:spPr bwMode="auto">
                      <a:xfrm>
                        <a:off x="1927" y="1653"/>
                        <a:ext cx="272" cy="234"/>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C1</a:t>
                        </a:r>
                      </a:p>
                    </p:txBody>
                  </p:sp>
                  <p:sp>
                    <p:nvSpPr>
                      <p:cNvPr id="113816" name="Text Box 385"/>
                      <p:cNvSpPr txBox="1">
                        <a:spLocks noChangeArrowheads="1"/>
                      </p:cNvSpPr>
                      <p:nvPr/>
                    </p:nvSpPr>
                    <p:spPr bwMode="auto">
                      <a:xfrm>
                        <a:off x="1926" y="1435"/>
                        <a:ext cx="255" cy="179"/>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1J</a:t>
                        </a:r>
                      </a:p>
                    </p:txBody>
                  </p:sp>
                  <p:sp>
                    <p:nvSpPr>
                      <p:cNvPr id="113817" name="Text Box 386"/>
                      <p:cNvSpPr txBox="1">
                        <a:spLocks noChangeArrowheads="1"/>
                      </p:cNvSpPr>
                      <p:nvPr/>
                    </p:nvSpPr>
                    <p:spPr bwMode="auto">
                      <a:xfrm>
                        <a:off x="1945" y="1920"/>
                        <a:ext cx="263" cy="24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1K</a:t>
                        </a:r>
                      </a:p>
                    </p:txBody>
                  </p:sp>
                </p:grpSp>
                <p:grpSp>
                  <p:nvGrpSpPr>
                    <p:cNvPr id="113810" name="Group 387"/>
                    <p:cNvGrpSpPr/>
                    <p:nvPr/>
                  </p:nvGrpSpPr>
                  <p:grpSpPr bwMode="auto">
                    <a:xfrm>
                      <a:off x="1824" y="1428"/>
                      <a:ext cx="495" cy="684"/>
                      <a:chOff x="1824" y="1428"/>
                      <a:chExt cx="495" cy="684"/>
                    </a:xfrm>
                  </p:grpSpPr>
                  <p:sp>
                    <p:nvSpPr>
                      <p:cNvPr id="113811" name="Text Box 388"/>
                      <p:cNvSpPr txBox="1">
                        <a:spLocks noChangeArrowheads="1"/>
                      </p:cNvSpPr>
                      <p:nvPr/>
                    </p:nvSpPr>
                    <p:spPr bwMode="auto">
                      <a:xfrm>
                        <a:off x="1831" y="1428"/>
                        <a:ext cx="224" cy="222"/>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812" name="Text Box 389"/>
                      <p:cNvSpPr txBox="1">
                        <a:spLocks noChangeArrowheads="1"/>
                      </p:cNvSpPr>
                      <p:nvPr/>
                    </p:nvSpPr>
                    <p:spPr bwMode="auto">
                      <a:xfrm>
                        <a:off x="1824" y="1899"/>
                        <a:ext cx="224" cy="21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813" name="Text Box 390"/>
                      <p:cNvSpPr txBox="1">
                        <a:spLocks noChangeArrowheads="1"/>
                      </p:cNvSpPr>
                      <p:nvPr/>
                    </p:nvSpPr>
                    <p:spPr bwMode="auto">
                      <a:xfrm>
                        <a:off x="2097" y="1465"/>
                        <a:ext cx="207" cy="215"/>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sp>
                    <p:nvSpPr>
                      <p:cNvPr id="113814" name="Text Box 391"/>
                      <p:cNvSpPr txBox="1">
                        <a:spLocks noChangeArrowheads="1"/>
                      </p:cNvSpPr>
                      <p:nvPr/>
                    </p:nvSpPr>
                    <p:spPr bwMode="auto">
                      <a:xfrm>
                        <a:off x="2112" y="1909"/>
                        <a:ext cx="207" cy="203"/>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grpSp>
              </p:grpSp>
              <p:sp>
                <p:nvSpPr>
                  <p:cNvPr id="113808" name="Line 392"/>
                  <p:cNvSpPr>
                    <a:spLocks noChangeShapeType="1"/>
                  </p:cNvSpPr>
                  <p:nvPr/>
                </p:nvSpPr>
                <p:spPr bwMode="auto">
                  <a:xfrm>
                    <a:off x="2191" y="1936"/>
                    <a:ext cx="50" cy="0"/>
                  </a:xfrm>
                  <a:prstGeom prst="line">
                    <a:avLst/>
                  </a:prstGeom>
                  <a:noFill/>
                  <a:ln w="9525">
                    <a:solidFill>
                      <a:schemeClr val="tx1"/>
                    </a:solidFill>
                    <a:round/>
                  </a:ln>
                </p:spPr>
                <p:txBody>
                  <a:bodyPr/>
                  <a:lstStyle/>
                  <a:p>
                    <a:endParaRPr lang="zh-CN" altLang="en-US"/>
                  </a:p>
                </p:txBody>
              </p:sp>
            </p:grpSp>
          </p:grpSp>
          <p:grpSp>
            <p:nvGrpSpPr>
              <p:cNvPr id="113745" name="Group 393"/>
              <p:cNvGrpSpPr/>
              <p:nvPr/>
            </p:nvGrpSpPr>
            <p:grpSpPr bwMode="auto">
              <a:xfrm>
                <a:off x="1824" y="1408"/>
                <a:ext cx="502" cy="764"/>
                <a:chOff x="1824" y="1408"/>
                <a:chExt cx="502" cy="764"/>
              </a:xfrm>
            </p:grpSpPr>
            <p:grpSp>
              <p:nvGrpSpPr>
                <p:cNvPr id="113786" name="Group 394"/>
                <p:cNvGrpSpPr/>
                <p:nvPr/>
              </p:nvGrpSpPr>
              <p:grpSpPr bwMode="auto">
                <a:xfrm>
                  <a:off x="1830" y="1408"/>
                  <a:ext cx="496" cy="718"/>
                  <a:chOff x="1830" y="1408"/>
                  <a:chExt cx="496" cy="718"/>
                </a:xfrm>
              </p:grpSpPr>
              <p:sp>
                <p:nvSpPr>
                  <p:cNvPr id="113799" name="Rectangle 395"/>
                  <p:cNvSpPr>
                    <a:spLocks noChangeArrowheads="1"/>
                  </p:cNvSpPr>
                  <p:nvPr/>
                </p:nvSpPr>
                <p:spPr bwMode="auto">
                  <a:xfrm>
                    <a:off x="1871" y="1408"/>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00" name="Rectangle 396"/>
                  <p:cNvSpPr>
                    <a:spLocks noChangeArrowheads="1"/>
                  </p:cNvSpPr>
                  <p:nvPr/>
                </p:nvSpPr>
                <p:spPr bwMode="auto">
                  <a:xfrm>
                    <a:off x="1871" y="1887"/>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01" name="Oval 397"/>
                  <p:cNvSpPr>
                    <a:spLocks noChangeArrowheads="1"/>
                  </p:cNvSpPr>
                  <p:nvPr/>
                </p:nvSpPr>
                <p:spPr bwMode="auto">
                  <a:xfrm>
                    <a:off x="1830" y="1742"/>
                    <a:ext cx="33" cy="43"/>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02" name="Rectangle 398"/>
                  <p:cNvSpPr>
                    <a:spLocks noChangeArrowheads="1"/>
                  </p:cNvSpPr>
                  <p:nvPr/>
                </p:nvSpPr>
                <p:spPr bwMode="auto">
                  <a:xfrm>
                    <a:off x="1871" y="1408"/>
                    <a:ext cx="418" cy="718"/>
                  </a:xfrm>
                  <a:prstGeom prst="rect">
                    <a:avLst/>
                  </a:prstGeom>
                  <a:noFill/>
                  <a:ln w="28575">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03" name="AutoShape 399"/>
                  <p:cNvSpPr>
                    <a:spLocks noChangeArrowheads="1"/>
                  </p:cNvSpPr>
                  <p:nvPr/>
                </p:nvSpPr>
                <p:spPr bwMode="auto">
                  <a:xfrm rot="5400000">
                    <a:off x="1848" y="1714"/>
                    <a:ext cx="138" cy="91"/>
                  </a:xfrm>
                  <a:prstGeom prst="triangle">
                    <a:avLst>
                      <a:gd name="adj" fmla="val 50000"/>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804" name="Oval 400"/>
                  <p:cNvSpPr>
                    <a:spLocks noChangeArrowheads="1"/>
                  </p:cNvSpPr>
                  <p:nvPr/>
                </p:nvSpPr>
                <p:spPr bwMode="auto">
                  <a:xfrm>
                    <a:off x="2293" y="1960"/>
                    <a:ext cx="33" cy="34"/>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grpSp>
            <p:grpSp>
              <p:nvGrpSpPr>
                <p:cNvPr id="113787" name="Group 401"/>
                <p:cNvGrpSpPr/>
                <p:nvPr/>
              </p:nvGrpSpPr>
              <p:grpSpPr bwMode="auto">
                <a:xfrm>
                  <a:off x="1824" y="1440"/>
                  <a:ext cx="495" cy="732"/>
                  <a:chOff x="1824" y="1428"/>
                  <a:chExt cx="495" cy="732"/>
                </a:xfrm>
              </p:grpSpPr>
              <p:grpSp>
                <p:nvGrpSpPr>
                  <p:cNvPr id="113788" name="Group 402"/>
                  <p:cNvGrpSpPr/>
                  <p:nvPr/>
                </p:nvGrpSpPr>
                <p:grpSpPr bwMode="auto">
                  <a:xfrm>
                    <a:off x="1824" y="1428"/>
                    <a:ext cx="495" cy="732"/>
                    <a:chOff x="1824" y="1428"/>
                    <a:chExt cx="495" cy="732"/>
                  </a:xfrm>
                </p:grpSpPr>
                <p:grpSp>
                  <p:nvGrpSpPr>
                    <p:cNvPr id="113790" name="Group 403"/>
                    <p:cNvGrpSpPr/>
                    <p:nvPr/>
                  </p:nvGrpSpPr>
                  <p:grpSpPr bwMode="auto">
                    <a:xfrm>
                      <a:off x="1926" y="1435"/>
                      <a:ext cx="282" cy="725"/>
                      <a:chOff x="1926" y="1435"/>
                      <a:chExt cx="282" cy="725"/>
                    </a:xfrm>
                  </p:grpSpPr>
                  <p:sp>
                    <p:nvSpPr>
                      <p:cNvPr id="113796" name="Text Box 404"/>
                      <p:cNvSpPr txBox="1">
                        <a:spLocks noChangeArrowheads="1"/>
                      </p:cNvSpPr>
                      <p:nvPr/>
                    </p:nvSpPr>
                    <p:spPr bwMode="auto">
                      <a:xfrm>
                        <a:off x="1927" y="1653"/>
                        <a:ext cx="272" cy="234"/>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C1</a:t>
                        </a:r>
                      </a:p>
                    </p:txBody>
                  </p:sp>
                  <p:sp>
                    <p:nvSpPr>
                      <p:cNvPr id="113797" name="Text Box 405"/>
                      <p:cNvSpPr txBox="1">
                        <a:spLocks noChangeArrowheads="1"/>
                      </p:cNvSpPr>
                      <p:nvPr/>
                    </p:nvSpPr>
                    <p:spPr bwMode="auto">
                      <a:xfrm>
                        <a:off x="1926" y="1435"/>
                        <a:ext cx="255" cy="179"/>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1J</a:t>
                        </a:r>
                      </a:p>
                    </p:txBody>
                  </p:sp>
                  <p:sp>
                    <p:nvSpPr>
                      <p:cNvPr id="113798" name="Text Box 406"/>
                      <p:cNvSpPr txBox="1">
                        <a:spLocks noChangeArrowheads="1"/>
                      </p:cNvSpPr>
                      <p:nvPr/>
                    </p:nvSpPr>
                    <p:spPr bwMode="auto">
                      <a:xfrm>
                        <a:off x="1945" y="1920"/>
                        <a:ext cx="263" cy="24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1K</a:t>
                        </a:r>
                      </a:p>
                    </p:txBody>
                  </p:sp>
                </p:grpSp>
                <p:grpSp>
                  <p:nvGrpSpPr>
                    <p:cNvPr id="113791" name="Group 407"/>
                    <p:cNvGrpSpPr/>
                    <p:nvPr/>
                  </p:nvGrpSpPr>
                  <p:grpSpPr bwMode="auto">
                    <a:xfrm>
                      <a:off x="1824" y="1428"/>
                      <a:ext cx="495" cy="684"/>
                      <a:chOff x="1824" y="1428"/>
                      <a:chExt cx="495" cy="684"/>
                    </a:xfrm>
                  </p:grpSpPr>
                  <p:sp>
                    <p:nvSpPr>
                      <p:cNvPr id="113792" name="Text Box 408"/>
                      <p:cNvSpPr txBox="1">
                        <a:spLocks noChangeArrowheads="1"/>
                      </p:cNvSpPr>
                      <p:nvPr/>
                    </p:nvSpPr>
                    <p:spPr bwMode="auto">
                      <a:xfrm>
                        <a:off x="1831" y="1428"/>
                        <a:ext cx="224" cy="222"/>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793" name="Text Box 409"/>
                      <p:cNvSpPr txBox="1">
                        <a:spLocks noChangeArrowheads="1"/>
                      </p:cNvSpPr>
                      <p:nvPr/>
                    </p:nvSpPr>
                    <p:spPr bwMode="auto">
                      <a:xfrm>
                        <a:off x="1824" y="1899"/>
                        <a:ext cx="224" cy="21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794" name="Text Box 410"/>
                      <p:cNvSpPr txBox="1">
                        <a:spLocks noChangeArrowheads="1"/>
                      </p:cNvSpPr>
                      <p:nvPr/>
                    </p:nvSpPr>
                    <p:spPr bwMode="auto">
                      <a:xfrm>
                        <a:off x="2097" y="1465"/>
                        <a:ext cx="207" cy="215"/>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sp>
                    <p:nvSpPr>
                      <p:cNvPr id="113795" name="Text Box 411"/>
                      <p:cNvSpPr txBox="1">
                        <a:spLocks noChangeArrowheads="1"/>
                      </p:cNvSpPr>
                      <p:nvPr/>
                    </p:nvSpPr>
                    <p:spPr bwMode="auto">
                      <a:xfrm>
                        <a:off x="2112" y="1909"/>
                        <a:ext cx="207" cy="203"/>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grpSp>
              </p:grpSp>
              <p:sp>
                <p:nvSpPr>
                  <p:cNvPr id="113789" name="Line 412"/>
                  <p:cNvSpPr>
                    <a:spLocks noChangeShapeType="1"/>
                  </p:cNvSpPr>
                  <p:nvPr/>
                </p:nvSpPr>
                <p:spPr bwMode="auto">
                  <a:xfrm>
                    <a:off x="2191" y="1936"/>
                    <a:ext cx="50" cy="0"/>
                  </a:xfrm>
                  <a:prstGeom prst="line">
                    <a:avLst/>
                  </a:prstGeom>
                  <a:noFill/>
                  <a:ln w="9525">
                    <a:solidFill>
                      <a:schemeClr val="tx1"/>
                    </a:solidFill>
                    <a:round/>
                  </a:ln>
                </p:spPr>
                <p:txBody>
                  <a:bodyPr/>
                  <a:lstStyle/>
                  <a:p>
                    <a:endParaRPr lang="zh-CN" altLang="en-US"/>
                  </a:p>
                </p:txBody>
              </p:sp>
            </p:grpSp>
          </p:grpSp>
          <p:grpSp>
            <p:nvGrpSpPr>
              <p:cNvPr id="113746" name="Group 413"/>
              <p:cNvGrpSpPr/>
              <p:nvPr/>
            </p:nvGrpSpPr>
            <p:grpSpPr bwMode="auto">
              <a:xfrm>
                <a:off x="2688" y="1410"/>
                <a:ext cx="502" cy="764"/>
                <a:chOff x="1824" y="1408"/>
                <a:chExt cx="502" cy="764"/>
              </a:xfrm>
            </p:grpSpPr>
            <p:grpSp>
              <p:nvGrpSpPr>
                <p:cNvPr id="113767" name="Group 414"/>
                <p:cNvGrpSpPr/>
                <p:nvPr/>
              </p:nvGrpSpPr>
              <p:grpSpPr bwMode="auto">
                <a:xfrm>
                  <a:off x="1830" y="1408"/>
                  <a:ext cx="496" cy="718"/>
                  <a:chOff x="1830" y="1408"/>
                  <a:chExt cx="496" cy="718"/>
                </a:xfrm>
              </p:grpSpPr>
              <p:sp>
                <p:nvSpPr>
                  <p:cNvPr id="113780" name="Rectangle 415"/>
                  <p:cNvSpPr>
                    <a:spLocks noChangeArrowheads="1"/>
                  </p:cNvSpPr>
                  <p:nvPr/>
                </p:nvSpPr>
                <p:spPr bwMode="auto">
                  <a:xfrm>
                    <a:off x="1871" y="1408"/>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81" name="Rectangle 416"/>
                  <p:cNvSpPr>
                    <a:spLocks noChangeArrowheads="1"/>
                  </p:cNvSpPr>
                  <p:nvPr/>
                </p:nvSpPr>
                <p:spPr bwMode="auto">
                  <a:xfrm>
                    <a:off x="1871" y="1887"/>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82" name="Oval 417"/>
                  <p:cNvSpPr>
                    <a:spLocks noChangeArrowheads="1"/>
                  </p:cNvSpPr>
                  <p:nvPr/>
                </p:nvSpPr>
                <p:spPr bwMode="auto">
                  <a:xfrm>
                    <a:off x="1830" y="1742"/>
                    <a:ext cx="33" cy="43"/>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83" name="Rectangle 418"/>
                  <p:cNvSpPr>
                    <a:spLocks noChangeArrowheads="1"/>
                  </p:cNvSpPr>
                  <p:nvPr/>
                </p:nvSpPr>
                <p:spPr bwMode="auto">
                  <a:xfrm>
                    <a:off x="1871" y="1408"/>
                    <a:ext cx="418" cy="718"/>
                  </a:xfrm>
                  <a:prstGeom prst="rect">
                    <a:avLst/>
                  </a:prstGeom>
                  <a:noFill/>
                  <a:ln w="28575">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84" name="AutoShape 419"/>
                  <p:cNvSpPr>
                    <a:spLocks noChangeArrowheads="1"/>
                  </p:cNvSpPr>
                  <p:nvPr/>
                </p:nvSpPr>
                <p:spPr bwMode="auto">
                  <a:xfrm rot="5400000">
                    <a:off x="1848" y="1714"/>
                    <a:ext cx="138" cy="91"/>
                  </a:xfrm>
                  <a:prstGeom prst="triangle">
                    <a:avLst>
                      <a:gd name="adj" fmla="val 50000"/>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85" name="Oval 420"/>
                  <p:cNvSpPr>
                    <a:spLocks noChangeArrowheads="1"/>
                  </p:cNvSpPr>
                  <p:nvPr/>
                </p:nvSpPr>
                <p:spPr bwMode="auto">
                  <a:xfrm>
                    <a:off x="2293" y="1960"/>
                    <a:ext cx="33" cy="34"/>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grpSp>
            <p:grpSp>
              <p:nvGrpSpPr>
                <p:cNvPr id="113768" name="Group 421"/>
                <p:cNvGrpSpPr/>
                <p:nvPr/>
              </p:nvGrpSpPr>
              <p:grpSpPr bwMode="auto">
                <a:xfrm>
                  <a:off x="1824" y="1440"/>
                  <a:ext cx="495" cy="732"/>
                  <a:chOff x="1824" y="1428"/>
                  <a:chExt cx="495" cy="732"/>
                </a:xfrm>
              </p:grpSpPr>
              <p:grpSp>
                <p:nvGrpSpPr>
                  <p:cNvPr id="113769" name="Group 422"/>
                  <p:cNvGrpSpPr/>
                  <p:nvPr/>
                </p:nvGrpSpPr>
                <p:grpSpPr bwMode="auto">
                  <a:xfrm>
                    <a:off x="1824" y="1428"/>
                    <a:ext cx="495" cy="732"/>
                    <a:chOff x="1824" y="1428"/>
                    <a:chExt cx="495" cy="732"/>
                  </a:xfrm>
                </p:grpSpPr>
                <p:grpSp>
                  <p:nvGrpSpPr>
                    <p:cNvPr id="113771" name="Group 423"/>
                    <p:cNvGrpSpPr/>
                    <p:nvPr/>
                  </p:nvGrpSpPr>
                  <p:grpSpPr bwMode="auto">
                    <a:xfrm>
                      <a:off x="1926" y="1435"/>
                      <a:ext cx="282" cy="725"/>
                      <a:chOff x="1926" y="1435"/>
                      <a:chExt cx="282" cy="725"/>
                    </a:xfrm>
                  </p:grpSpPr>
                  <p:sp>
                    <p:nvSpPr>
                      <p:cNvPr id="113777" name="Text Box 424"/>
                      <p:cNvSpPr txBox="1">
                        <a:spLocks noChangeArrowheads="1"/>
                      </p:cNvSpPr>
                      <p:nvPr/>
                    </p:nvSpPr>
                    <p:spPr bwMode="auto">
                      <a:xfrm>
                        <a:off x="1927" y="1653"/>
                        <a:ext cx="272" cy="234"/>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C1</a:t>
                        </a:r>
                      </a:p>
                    </p:txBody>
                  </p:sp>
                  <p:sp>
                    <p:nvSpPr>
                      <p:cNvPr id="113778" name="Text Box 425"/>
                      <p:cNvSpPr txBox="1">
                        <a:spLocks noChangeArrowheads="1"/>
                      </p:cNvSpPr>
                      <p:nvPr/>
                    </p:nvSpPr>
                    <p:spPr bwMode="auto">
                      <a:xfrm>
                        <a:off x="1926" y="1435"/>
                        <a:ext cx="255" cy="179"/>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1J</a:t>
                        </a:r>
                      </a:p>
                    </p:txBody>
                  </p:sp>
                  <p:sp>
                    <p:nvSpPr>
                      <p:cNvPr id="113779" name="Text Box 426"/>
                      <p:cNvSpPr txBox="1">
                        <a:spLocks noChangeArrowheads="1"/>
                      </p:cNvSpPr>
                      <p:nvPr/>
                    </p:nvSpPr>
                    <p:spPr bwMode="auto">
                      <a:xfrm>
                        <a:off x="1945" y="1920"/>
                        <a:ext cx="263" cy="24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1K</a:t>
                        </a:r>
                      </a:p>
                    </p:txBody>
                  </p:sp>
                </p:grpSp>
                <p:grpSp>
                  <p:nvGrpSpPr>
                    <p:cNvPr id="113772" name="Group 427"/>
                    <p:cNvGrpSpPr/>
                    <p:nvPr/>
                  </p:nvGrpSpPr>
                  <p:grpSpPr bwMode="auto">
                    <a:xfrm>
                      <a:off x="1824" y="1428"/>
                      <a:ext cx="495" cy="684"/>
                      <a:chOff x="1824" y="1428"/>
                      <a:chExt cx="495" cy="684"/>
                    </a:xfrm>
                  </p:grpSpPr>
                  <p:sp>
                    <p:nvSpPr>
                      <p:cNvPr id="113773" name="Text Box 428"/>
                      <p:cNvSpPr txBox="1">
                        <a:spLocks noChangeArrowheads="1"/>
                      </p:cNvSpPr>
                      <p:nvPr/>
                    </p:nvSpPr>
                    <p:spPr bwMode="auto">
                      <a:xfrm>
                        <a:off x="1831" y="1428"/>
                        <a:ext cx="224" cy="222"/>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774" name="Text Box 429"/>
                      <p:cNvSpPr txBox="1">
                        <a:spLocks noChangeArrowheads="1"/>
                      </p:cNvSpPr>
                      <p:nvPr/>
                    </p:nvSpPr>
                    <p:spPr bwMode="auto">
                      <a:xfrm>
                        <a:off x="1824" y="1899"/>
                        <a:ext cx="224" cy="21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775" name="Text Box 430"/>
                      <p:cNvSpPr txBox="1">
                        <a:spLocks noChangeArrowheads="1"/>
                      </p:cNvSpPr>
                      <p:nvPr/>
                    </p:nvSpPr>
                    <p:spPr bwMode="auto">
                      <a:xfrm>
                        <a:off x="2097" y="1465"/>
                        <a:ext cx="207" cy="215"/>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sp>
                    <p:nvSpPr>
                      <p:cNvPr id="113776" name="Text Box 431"/>
                      <p:cNvSpPr txBox="1">
                        <a:spLocks noChangeArrowheads="1"/>
                      </p:cNvSpPr>
                      <p:nvPr/>
                    </p:nvSpPr>
                    <p:spPr bwMode="auto">
                      <a:xfrm>
                        <a:off x="2112" y="1909"/>
                        <a:ext cx="207" cy="203"/>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grpSp>
              </p:grpSp>
              <p:sp>
                <p:nvSpPr>
                  <p:cNvPr id="113770" name="Line 432"/>
                  <p:cNvSpPr>
                    <a:spLocks noChangeShapeType="1"/>
                  </p:cNvSpPr>
                  <p:nvPr/>
                </p:nvSpPr>
                <p:spPr bwMode="auto">
                  <a:xfrm>
                    <a:off x="2191" y="1936"/>
                    <a:ext cx="50" cy="0"/>
                  </a:xfrm>
                  <a:prstGeom prst="line">
                    <a:avLst/>
                  </a:prstGeom>
                  <a:noFill/>
                  <a:ln w="9525">
                    <a:solidFill>
                      <a:schemeClr val="tx1"/>
                    </a:solidFill>
                    <a:round/>
                  </a:ln>
                </p:spPr>
                <p:txBody>
                  <a:bodyPr/>
                  <a:lstStyle/>
                  <a:p>
                    <a:endParaRPr lang="zh-CN" altLang="en-US"/>
                  </a:p>
                </p:txBody>
              </p:sp>
            </p:grpSp>
          </p:grpSp>
          <p:grpSp>
            <p:nvGrpSpPr>
              <p:cNvPr id="113747" name="Group 433"/>
              <p:cNvGrpSpPr/>
              <p:nvPr/>
            </p:nvGrpSpPr>
            <p:grpSpPr bwMode="auto">
              <a:xfrm>
                <a:off x="3534" y="1413"/>
                <a:ext cx="502" cy="764"/>
                <a:chOff x="1824" y="1408"/>
                <a:chExt cx="502" cy="764"/>
              </a:xfrm>
            </p:grpSpPr>
            <p:grpSp>
              <p:nvGrpSpPr>
                <p:cNvPr id="113748" name="Group 434"/>
                <p:cNvGrpSpPr/>
                <p:nvPr/>
              </p:nvGrpSpPr>
              <p:grpSpPr bwMode="auto">
                <a:xfrm>
                  <a:off x="1830" y="1408"/>
                  <a:ext cx="496" cy="718"/>
                  <a:chOff x="1830" y="1408"/>
                  <a:chExt cx="496" cy="718"/>
                </a:xfrm>
              </p:grpSpPr>
              <p:sp>
                <p:nvSpPr>
                  <p:cNvPr id="113761" name="Rectangle 435"/>
                  <p:cNvSpPr>
                    <a:spLocks noChangeArrowheads="1"/>
                  </p:cNvSpPr>
                  <p:nvPr/>
                </p:nvSpPr>
                <p:spPr bwMode="auto">
                  <a:xfrm>
                    <a:off x="1871" y="1408"/>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62" name="Rectangle 436"/>
                  <p:cNvSpPr>
                    <a:spLocks noChangeArrowheads="1"/>
                  </p:cNvSpPr>
                  <p:nvPr/>
                </p:nvSpPr>
                <p:spPr bwMode="auto">
                  <a:xfrm>
                    <a:off x="1871" y="1887"/>
                    <a:ext cx="104" cy="239"/>
                  </a:xfrm>
                  <a:prstGeom prst="rect">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63" name="Oval 437"/>
                  <p:cNvSpPr>
                    <a:spLocks noChangeArrowheads="1"/>
                  </p:cNvSpPr>
                  <p:nvPr/>
                </p:nvSpPr>
                <p:spPr bwMode="auto">
                  <a:xfrm>
                    <a:off x="1830" y="1742"/>
                    <a:ext cx="33" cy="43"/>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64" name="Rectangle 438"/>
                  <p:cNvSpPr>
                    <a:spLocks noChangeArrowheads="1"/>
                  </p:cNvSpPr>
                  <p:nvPr/>
                </p:nvSpPr>
                <p:spPr bwMode="auto">
                  <a:xfrm>
                    <a:off x="1871" y="1408"/>
                    <a:ext cx="418" cy="718"/>
                  </a:xfrm>
                  <a:prstGeom prst="rect">
                    <a:avLst/>
                  </a:prstGeom>
                  <a:noFill/>
                  <a:ln w="28575">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65" name="AutoShape 439"/>
                  <p:cNvSpPr>
                    <a:spLocks noChangeArrowheads="1"/>
                  </p:cNvSpPr>
                  <p:nvPr/>
                </p:nvSpPr>
                <p:spPr bwMode="auto">
                  <a:xfrm rot="5400000">
                    <a:off x="1848" y="1714"/>
                    <a:ext cx="138" cy="91"/>
                  </a:xfrm>
                  <a:prstGeom prst="triangle">
                    <a:avLst>
                      <a:gd name="adj" fmla="val 50000"/>
                    </a:avLst>
                  </a:prstGeom>
                  <a:noFill/>
                  <a:ln w="19050">
                    <a:solidFill>
                      <a:schemeClr val="tx1"/>
                    </a:solidFill>
                    <a:miter lim="800000"/>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3766" name="Oval 440"/>
                  <p:cNvSpPr>
                    <a:spLocks noChangeArrowheads="1"/>
                  </p:cNvSpPr>
                  <p:nvPr/>
                </p:nvSpPr>
                <p:spPr bwMode="auto">
                  <a:xfrm>
                    <a:off x="2293" y="1960"/>
                    <a:ext cx="33" cy="34"/>
                  </a:xfrm>
                  <a:prstGeom prst="ellipse">
                    <a:avLst/>
                  </a:prstGeom>
                  <a:noFill/>
                  <a:ln w="19050">
                    <a:solidFill>
                      <a:schemeClr val="tx1"/>
                    </a:solidFill>
                    <a:round/>
                  </a:ln>
                </p:spPr>
                <p:txBody>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grpSp>
            <p:grpSp>
              <p:nvGrpSpPr>
                <p:cNvPr id="113749" name="Group 441"/>
                <p:cNvGrpSpPr/>
                <p:nvPr/>
              </p:nvGrpSpPr>
              <p:grpSpPr bwMode="auto">
                <a:xfrm>
                  <a:off x="1824" y="1440"/>
                  <a:ext cx="495" cy="732"/>
                  <a:chOff x="1824" y="1428"/>
                  <a:chExt cx="495" cy="732"/>
                </a:xfrm>
              </p:grpSpPr>
              <p:grpSp>
                <p:nvGrpSpPr>
                  <p:cNvPr id="113750" name="Group 442"/>
                  <p:cNvGrpSpPr/>
                  <p:nvPr/>
                </p:nvGrpSpPr>
                <p:grpSpPr bwMode="auto">
                  <a:xfrm>
                    <a:off x="1824" y="1428"/>
                    <a:ext cx="495" cy="732"/>
                    <a:chOff x="1824" y="1428"/>
                    <a:chExt cx="495" cy="732"/>
                  </a:xfrm>
                </p:grpSpPr>
                <p:grpSp>
                  <p:nvGrpSpPr>
                    <p:cNvPr id="113752" name="Group 443"/>
                    <p:cNvGrpSpPr/>
                    <p:nvPr/>
                  </p:nvGrpSpPr>
                  <p:grpSpPr bwMode="auto">
                    <a:xfrm>
                      <a:off x="1926" y="1435"/>
                      <a:ext cx="282" cy="725"/>
                      <a:chOff x="1926" y="1435"/>
                      <a:chExt cx="282" cy="725"/>
                    </a:xfrm>
                  </p:grpSpPr>
                  <p:sp>
                    <p:nvSpPr>
                      <p:cNvPr id="113758" name="Text Box 444"/>
                      <p:cNvSpPr txBox="1">
                        <a:spLocks noChangeArrowheads="1"/>
                      </p:cNvSpPr>
                      <p:nvPr/>
                    </p:nvSpPr>
                    <p:spPr bwMode="auto">
                      <a:xfrm>
                        <a:off x="1927" y="1653"/>
                        <a:ext cx="272" cy="234"/>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C1</a:t>
                        </a:r>
                      </a:p>
                    </p:txBody>
                  </p:sp>
                  <p:sp>
                    <p:nvSpPr>
                      <p:cNvPr id="113759" name="Text Box 445"/>
                      <p:cNvSpPr txBox="1">
                        <a:spLocks noChangeArrowheads="1"/>
                      </p:cNvSpPr>
                      <p:nvPr/>
                    </p:nvSpPr>
                    <p:spPr bwMode="auto">
                      <a:xfrm>
                        <a:off x="1926" y="1435"/>
                        <a:ext cx="255" cy="179"/>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1J</a:t>
                        </a:r>
                      </a:p>
                    </p:txBody>
                  </p:sp>
                  <p:sp>
                    <p:nvSpPr>
                      <p:cNvPr id="113760" name="Text Box 446"/>
                      <p:cNvSpPr txBox="1">
                        <a:spLocks noChangeArrowheads="1"/>
                      </p:cNvSpPr>
                      <p:nvPr/>
                    </p:nvSpPr>
                    <p:spPr bwMode="auto">
                      <a:xfrm>
                        <a:off x="1945" y="1920"/>
                        <a:ext cx="263" cy="24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1K</a:t>
                        </a:r>
                      </a:p>
                    </p:txBody>
                  </p:sp>
                </p:grpSp>
                <p:grpSp>
                  <p:nvGrpSpPr>
                    <p:cNvPr id="113753" name="Group 447"/>
                    <p:cNvGrpSpPr/>
                    <p:nvPr/>
                  </p:nvGrpSpPr>
                  <p:grpSpPr bwMode="auto">
                    <a:xfrm>
                      <a:off x="1824" y="1428"/>
                      <a:ext cx="495" cy="684"/>
                      <a:chOff x="1824" y="1428"/>
                      <a:chExt cx="495" cy="684"/>
                    </a:xfrm>
                  </p:grpSpPr>
                  <p:sp>
                    <p:nvSpPr>
                      <p:cNvPr id="113754" name="Text Box 448"/>
                      <p:cNvSpPr txBox="1">
                        <a:spLocks noChangeArrowheads="1"/>
                      </p:cNvSpPr>
                      <p:nvPr/>
                    </p:nvSpPr>
                    <p:spPr bwMode="auto">
                      <a:xfrm>
                        <a:off x="1831" y="1428"/>
                        <a:ext cx="224" cy="222"/>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755" name="Text Box 449"/>
                      <p:cNvSpPr txBox="1">
                        <a:spLocks noChangeArrowheads="1"/>
                      </p:cNvSpPr>
                      <p:nvPr/>
                    </p:nvSpPr>
                    <p:spPr bwMode="auto">
                      <a:xfrm>
                        <a:off x="1824" y="1899"/>
                        <a:ext cx="224" cy="210"/>
                      </a:xfrm>
                      <a:prstGeom prst="rect">
                        <a:avLst/>
                      </a:prstGeom>
                      <a:noFill/>
                      <a:ln w="9525">
                        <a:noFill/>
                        <a:miter lim="800000"/>
                      </a:ln>
                    </p:spPr>
                    <p:txBody>
                      <a:bodyPr/>
                      <a:lstStyle/>
                      <a:p>
                        <a:pPr eaLnBrk="0" hangingPunct="0">
                          <a:spcBef>
                            <a:spcPct val="0"/>
                          </a:spcBef>
                        </a:pPr>
                        <a:r>
                          <a:rPr lang="en-US" altLang="zh-CN" sz="1400">
                            <a:solidFill>
                              <a:schemeClr val="hlink"/>
                            </a:solidFill>
                            <a:ea typeface="Gulim" panose="020B0600000101010101" pitchFamily="34" charset="-127"/>
                          </a:rPr>
                          <a:t>&amp;</a:t>
                        </a:r>
                      </a:p>
                    </p:txBody>
                  </p:sp>
                  <p:sp>
                    <p:nvSpPr>
                      <p:cNvPr id="113756" name="Text Box 450"/>
                      <p:cNvSpPr txBox="1">
                        <a:spLocks noChangeArrowheads="1"/>
                      </p:cNvSpPr>
                      <p:nvPr/>
                    </p:nvSpPr>
                    <p:spPr bwMode="auto">
                      <a:xfrm>
                        <a:off x="2097" y="1465"/>
                        <a:ext cx="207" cy="215"/>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sp>
                    <p:nvSpPr>
                      <p:cNvPr id="113757" name="Text Box 451"/>
                      <p:cNvSpPr txBox="1">
                        <a:spLocks noChangeArrowheads="1"/>
                      </p:cNvSpPr>
                      <p:nvPr/>
                    </p:nvSpPr>
                    <p:spPr bwMode="auto">
                      <a:xfrm>
                        <a:off x="2112" y="1909"/>
                        <a:ext cx="207" cy="203"/>
                      </a:xfrm>
                      <a:prstGeom prst="rect">
                        <a:avLst/>
                      </a:prstGeom>
                      <a:noFill/>
                      <a:ln w="9525">
                        <a:noFill/>
                        <a:miter lim="800000"/>
                      </a:ln>
                    </p:spPr>
                    <p:txBody>
                      <a:bodyPr/>
                      <a:lstStyle/>
                      <a:p>
                        <a:pPr algn="just" eaLnBrk="0" hangingPunct="0">
                          <a:lnSpc>
                            <a:spcPct val="96000"/>
                          </a:lnSpc>
                          <a:spcBef>
                            <a:spcPct val="0"/>
                          </a:spcBef>
                        </a:pPr>
                        <a:r>
                          <a:rPr lang="en-US" altLang="zh-CN" sz="1400">
                            <a:solidFill>
                              <a:schemeClr val="hlink"/>
                            </a:solidFill>
                            <a:ea typeface="Gulim" panose="020B0600000101010101" pitchFamily="34" charset="-127"/>
                          </a:rPr>
                          <a:t>Q</a:t>
                        </a:r>
                      </a:p>
                    </p:txBody>
                  </p:sp>
                </p:grpSp>
              </p:grpSp>
              <p:sp>
                <p:nvSpPr>
                  <p:cNvPr id="113751" name="Line 452"/>
                  <p:cNvSpPr>
                    <a:spLocks noChangeShapeType="1"/>
                  </p:cNvSpPr>
                  <p:nvPr/>
                </p:nvSpPr>
                <p:spPr bwMode="auto">
                  <a:xfrm>
                    <a:off x="2191" y="1936"/>
                    <a:ext cx="50" cy="0"/>
                  </a:xfrm>
                  <a:prstGeom prst="line">
                    <a:avLst/>
                  </a:prstGeom>
                  <a:noFill/>
                  <a:ln w="9525">
                    <a:solidFill>
                      <a:schemeClr val="tx1"/>
                    </a:solidFill>
                    <a:round/>
                  </a:ln>
                </p:spPr>
                <p:txBody>
                  <a:bodyPr/>
                  <a:lstStyle/>
                  <a:p>
                    <a:endParaRPr lang="zh-CN" altLang="en-US"/>
                  </a:p>
                </p:txBody>
              </p:sp>
            </p:grpSp>
          </p:grpSp>
        </p:grpSp>
      </p:grpSp>
      <p:pic>
        <p:nvPicPr>
          <p:cNvPr id="19546" name="Picture 90"/>
          <p:cNvPicPr>
            <a:picLocks noChangeAspect="1" noChangeArrowheads="1"/>
          </p:cNvPicPr>
          <p:nvPr/>
        </p:nvPicPr>
        <p:blipFill>
          <a:blip r:embed="rId3" cstate="print"/>
          <a:srcRect/>
          <a:stretch>
            <a:fillRect/>
          </a:stretch>
        </p:blipFill>
        <p:spPr bwMode="auto">
          <a:xfrm>
            <a:off x="2384425" y="4013200"/>
            <a:ext cx="2725738" cy="1757363"/>
          </a:xfrm>
          <a:prstGeom prst="rect">
            <a:avLst/>
          </a:prstGeom>
          <a:solidFill>
            <a:srgbClr val="FFFFBD"/>
          </a:solidFill>
          <a:ln w="9525">
            <a:noFill/>
            <a:miter lim="800000"/>
            <a:headEnd/>
            <a:tailEnd/>
          </a:ln>
          <a:effectLst>
            <a:prstShdw prst="shdw13" dist="53882" dir="13500000">
              <a:srgbClr val="808080">
                <a:alpha val="50000"/>
              </a:srgbClr>
            </a:prstShdw>
          </a:effectLst>
        </p:spPr>
      </p:pic>
      <p:sp>
        <p:nvSpPr>
          <p:cNvPr id="113672" name="Rectangle 92"/>
          <p:cNvSpPr>
            <a:spLocks noChangeArrowheads="1"/>
          </p:cNvSpPr>
          <p:nvPr/>
        </p:nvSpPr>
        <p:spPr bwMode="black">
          <a:xfrm>
            <a:off x="5941060" y="-124777"/>
            <a:ext cx="309880" cy="706755"/>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pic>
        <p:nvPicPr>
          <p:cNvPr id="19547" name="Picture 91"/>
          <p:cNvPicPr>
            <a:picLocks noChangeAspect="1" noChangeArrowheads="1"/>
          </p:cNvPicPr>
          <p:nvPr/>
        </p:nvPicPr>
        <p:blipFill>
          <a:blip r:embed="rId4" cstate="print"/>
          <a:srcRect/>
          <a:stretch>
            <a:fillRect/>
          </a:stretch>
        </p:blipFill>
        <p:spPr bwMode="auto">
          <a:xfrm>
            <a:off x="2371725" y="5802313"/>
            <a:ext cx="2209800" cy="504825"/>
          </a:xfrm>
          <a:prstGeom prst="rect">
            <a:avLst/>
          </a:prstGeom>
          <a:solidFill>
            <a:srgbClr val="FFFFBD"/>
          </a:solidFill>
          <a:ln w="9525">
            <a:noFill/>
            <a:miter lim="800000"/>
            <a:headEnd/>
            <a:tailEnd/>
          </a:ln>
          <a:effectLst>
            <a:prstShdw prst="shdw13" dist="53882" dir="13500000">
              <a:srgbClr val="808080">
                <a:alpha val="50000"/>
              </a:srgbClr>
            </a:prstShdw>
          </a:effectLst>
        </p:spPr>
      </p:pic>
      <p:sp>
        <p:nvSpPr>
          <p:cNvPr id="113674" name="Rectangle 94"/>
          <p:cNvSpPr>
            <a:spLocks noChangeArrowheads="1"/>
          </p:cNvSpPr>
          <p:nvPr/>
        </p:nvSpPr>
        <p:spPr bwMode="black">
          <a:xfrm>
            <a:off x="5941060" y="-124777"/>
            <a:ext cx="309880" cy="706755"/>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pic>
        <p:nvPicPr>
          <p:cNvPr id="19549" name="Picture 93"/>
          <p:cNvPicPr>
            <a:picLocks noChangeAspect="1" noChangeArrowheads="1"/>
          </p:cNvPicPr>
          <p:nvPr/>
        </p:nvPicPr>
        <p:blipFill>
          <a:blip r:embed="rId5" cstate="print"/>
          <a:srcRect/>
          <a:stretch>
            <a:fillRect/>
          </a:stretch>
        </p:blipFill>
        <p:spPr bwMode="auto">
          <a:xfrm>
            <a:off x="5527675" y="3848100"/>
            <a:ext cx="3094038" cy="457200"/>
          </a:xfrm>
          <a:prstGeom prst="rect">
            <a:avLst/>
          </a:prstGeom>
          <a:solidFill>
            <a:srgbClr val="FFFFBD"/>
          </a:solidFill>
          <a:ln w="9525">
            <a:noFill/>
            <a:miter lim="800000"/>
            <a:headEnd/>
            <a:tailEnd/>
          </a:ln>
          <a:effectLst>
            <a:prstShdw prst="shdw13" dist="53882" dir="13500000">
              <a:srgbClr val="808080">
                <a:alpha val="50000"/>
              </a:srgbClr>
            </a:prstShdw>
          </a:effectLst>
        </p:spPr>
      </p:pic>
      <p:sp>
        <p:nvSpPr>
          <p:cNvPr id="113676" name="Rectangle 96"/>
          <p:cNvSpPr>
            <a:spLocks noChangeArrowheads="1"/>
          </p:cNvSpPr>
          <p:nvPr/>
        </p:nvSpPr>
        <p:spPr bwMode="black">
          <a:xfrm>
            <a:off x="5941060" y="-124777"/>
            <a:ext cx="309880" cy="706755"/>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pic>
        <p:nvPicPr>
          <p:cNvPr id="19551" name="Picture 95"/>
          <p:cNvPicPr>
            <a:picLocks noChangeAspect="1" noChangeArrowheads="1"/>
          </p:cNvPicPr>
          <p:nvPr/>
        </p:nvPicPr>
        <p:blipFill>
          <a:blip r:embed="rId6" cstate="print"/>
          <a:srcRect/>
          <a:stretch>
            <a:fillRect/>
          </a:stretch>
        </p:blipFill>
        <p:spPr bwMode="auto">
          <a:xfrm>
            <a:off x="5519738" y="4322763"/>
            <a:ext cx="4665662" cy="457200"/>
          </a:xfrm>
          <a:prstGeom prst="rect">
            <a:avLst/>
          </a:prstGeom>
          <a:solidFill>
            <a:srgbClr val="FFFFBD"/>
          </a:solidFill>
          <a:ln w="9525">
            <a:noFill/>
            <a:miter lim="800000"/>
            <a:headEnd/>
            <a:tailEnd/>
          </a:ln>
          <a:effectLst>
            <a:prstShdw prst="shdw13" dist="53882" dir="13500000">
              <a:srgbClr val="808080">
                <a:alpha val="50000"/>
              </a:srgbClr>
            </a:prstShdw>
          </a:effectLst>
        </p:spPr>
      </p:pic>
      <p:pic>
        <p:nvPicPr>
          <p:cNvPr id="19553" name="Picture 97"/>
          <p:cNvPicPr>
            <a:picLocks noChangeAspect="1" noChangeArrowheads="1"/>
          </p:cNvPicPr>
          <p:nvPr/>
        </p:nvPicPr>
        <p:blipFill>
          <a:blip r:embed="rId7" cstate="print"/>
          <a:srcRect/>
          <a:stretch>
            <a:fillRect/>
          </a:stretch>
        </p:blipFill>
        <p:spPr bwMode="auto">
          <a:xfrm>
            <a:off x="5511800" y="4797425"/>
            <a:ext cx="5059363" cy="457200"/>
          </a:xfrm>
          <a:prstGeom prst="rect">
            <a:avLst/>
          </a:prstGeom>
          <a:solidFill>
            <a:srgbClr val="FFFFBD"/>
          </a:solidFill>
          <a:ln w="9525">
            <a:noFill/>
            <a:miter lim="800000"/>
            <a:headEnd/>
            <a:tailEnd/>
          </a:ln>
          <a:effectLst>
            <a:prstShdw prst="shdw13" dist="53882" dir="13500000">
              <a:srgbClr val="808080">
                <a:alpha val="50000"/>
              </a:srgbClr>
            </a:prstShdw>
          </a:effectLst>
        </p:spPr>
      </p:pic>
      <p:pic>
        <p:nvPicPr>
          <p:cNvPr id="19554" name="Picture 98"/>
          <p:cNvPicPr>
            <a:picLocks noChangeAspect="1" noChangeArrowheads="1"/>
          </p:cNvPicPr>
          <p:nvPr/>
        </p:nvPicPr>
        <p:blipFill>
          <a:blip r:embed="rId8" cstate="print"/>
          <a:srcRect/>
          <a:stretch>
            <a:fillRect/>
          </a:stretch>
        </p:blipFill>
        <p:spPr bwMode="auto">
          <a:xfrm>
            <a:off x="5499100" y="5308600"/>
            <a:ext cx="5033963" cy="457200"/>
          </a:xfrm>
          <a:prstGeom prst="rect">
            <a:avLst/>
          </a:prstGeom>
          <a:solidFill>
            <a:srgbClr val="FFFFBD"/>
          </a:solidFill>
          <a:ln w="9525">
            <a:noFill/>
            <a:miter lim="800000"/>
            <a:headEnd/>
            <a:tailEnd/>
          </a:ln>
          <a:effectLst>
            <a:prstShdw prst="shdw13" dist="53882" dir="13500000">
              <a:srgbClr val="808080">
                <a:alpha val="50000"/>
              </a:srgbClr>
            </a:prstShdw>
          </a:effectLst>
        </p:spPr>
      </p:pic>
      <p:pic>
        <p:nvPicPr>
          <p:cNvPr id="19555" name="Picture 99"/>
          <p:cNvPicPr>
            <a:picLocks noChangeAspect="1" noChangeArrowheads="1"/>
          </p:cNvPicPr>
          <p:nvPr/>
        </p:nvPicPr>
        <p:blipFill>
          <a:blip r:embed="rId9" cstate="print"/>
          <a:srcRect/>
          <a:stretch>
            <a:fillRect/>
          </a:stretch>
        </p:blipFill>
        <p:spPr bwMode="auto">
          <a:xfrm>
            <a:off x="5146675" y="5810250"/>
            <a:ext cx="5549900" cy="393700"/>
          </a:xfrm>
          <a:prstGeom prst="rect">
            <a:avLst/>
          </a:prstGeom>
          <a:solidFill>
            <a:srgbClr val="FFFFBD"/>
          </a:solidFill>
          <a:ln w="9525">
            <a:noFill/>
            <a:miter lim="800000"/>
            <a:headEnd/>
            <a:tailEnd/>
          </a:ln>
          <a:effectLst>
            <a:prstShdw prst="shdw13" dist="53882" dir="13500000">
              <a:srgbClr val="808080">
                <a:alpha val="50000"/>
              </a:srgbClr>
            </a:prstShdw>
          </a:effectLst>
        </p:spPr>
      </p:pic>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91"/>
                                        </p:tgtEl>
                                        <p:attrNameLst>
                                          <p:attrName>style.visibility</p:attrName>
                                        </p:attrNameLst>
                                      </p:cBhvr>
                                      <p:to>
                                        <p:strVal val="visible"/>
                                      </p:to>
                                    </p:set>
                                    <p:animEffect transition="in" filter="blinds(horizontal)">
                                      <p:cBhvr>
                                        <p:cTn id="13" dur="500"/>
                                        <p:tgtEl>
                                          <p:spTgt spid="91"/>
                                        </p:tgtEl>
                                      </p:cBhvr>
                                    </p:animEffect>
                                  </p:childTnLst>
                                </p:cTn>
                              </p:par>
                            </p:childTnLst>
                          </p:cTn>
                        </p:par>
                        <p:par>
                          <p:cTn id="14" fill="hold">
                            <p:stCondLst>
                              <p:cond delay="500"/>
                            </p:stCondLst>
                            <p:childTnLst>
                              <p:par>
                                <p:cTn id="15" presetID="3" presetClass="entr" presetSubtype="10" fill="hold" nodeType="afterEffect">
                                  <p:stCondLst>
                                    <p:cond delay="0"/>
                                  </p:stCondLst>
                                  <p:childTnLst>
                                    <p:set>
                                      <p:cBhvr>
                                        <p:cTn id="16" dur="1" fill="hold">
                                          <p:stCondLst>
                                            <p:cond delay="0"/>
                                          </p:stCondLst>
                                        </p:cTn>
                                        <p:tgtEl>
                                          <p:spTgt spid="19546"/>
                                        </p:tgtEl>
                                        <p:attrNameLst>
                                          <p:attrName>style.visibility</p:attrName>
                                        </p:attrNameLst>
                                      </p:cBhvr>
                                      <p:to>
                                        <p:strVal val="visible"/>
                                      </p:to>
                                    </p:set>
                                    <p:animEffect transition="in" filter="blinds(horizontal)">
                                      <p:cBhvr>
                                        <p:cTn id="17" dur="500"/>
                                        <p:tgtEl>
                                          <p:spTgt spid="1954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547"/>
                                        </p:tgtEl>
                                        <p:attrNameLst>
                                          <p:attrName>style.visibility</p:attrName>
                                        </p:attrNameLst>
                                      </p:cBhvr>
                                      <p:to>
                                        <p:strVal val="visible"/>
                                      </p:to>
                                    </p:set>
                                    <p:animEffect transition="in" filter="blinds(horizontal)">
                                      <p:cBhvr>
                                        <p:cTn id="22" dur="500"/>
                                        <p:tgtEl>
                                          <p:spTgt spid="1954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549"/>
                                        </p:tgtEl>
                                        <p:attrNameLst>
                                          <p:attrName>style.visibility</p:attrName>
                                        </p:attrNameLst>
                                      </p:cBhvr>
                                      <p:to>
                                        <p:strVal val="visible"/>
                                      </p:to>
                                    </p:set>
                                    <p:animEffect transition="in" filter="blinds(horizontal)">
                                      <p:cBhvr>
                                        <p:cTn id="27" dur="500"/>
                                        <p:tgtEl>
                                          <p:spTgt spid="19549"/>
                                        </p:tgtEl>
                                      </p:cBhvr>
                                    </p:animEffect>
                                  </p:childTnLst>
                                </p:cTn>
                              </p:par>
                              <p:par>
                                <p:cTn id="28" presetID="3" presetClass="entr" presetSubtype="10" fill="hold" nodeType="withEffect">
                                  <p:stCondLst>
                                    <p:cond delay="0"/>
                                  </p:stCondLst>
                                  <p:childTnLst>
                                    <p:set>
                                      <p:cBhvr>
                                        <p:cTn id="29" dur="1" fill="hold">
                                          <p:stCondLst>
                                            <p:cond delay="0"/>
                                          </p:stCondLst>
                                        </p:cTn>
                                        <p:tgtEl>
                                          <p:spTgt spid="19551"/>
                                        </p:tgtEl>
                                        <p:attrNameLst>
                                          <p:attrName>style.visibility</p:attrName>
                                        </p:attrNameLst>
                                      </p:cBhvr>
                                      <p:to>
                                        <p:strVal val="visible"/>
                                      </p:to>
                                    </p:set>
                                    <p:animEffect transition="in" filter="blinds(horizontal)">
                                      <p:cBhvr>
                                        <p:cTn id="30" dur="500"/>
                                        <p:tgtEl>
                                          <p:spTgt spid="19551"/>
                                        </p:tgtEl>
                                      </p:cBhvr>
                                    </p:animEffect>
                                  </p:childTnLst>
                                </p:cTn>
                              </p:par>
                              <p:par>
                                <p:cTn id="31" presetID="3" presetClass="entr" presetSubtype="10" fill="hold" nodeType="withEffect">
                                  <p:stCondLst>
                                    <p:cond delay="0"/>
                                  </p:stCondLst>
                                  <p:childTnLst>
                                    <p:set>
                                      <p:cBhvr>
                                        <p:cTn id="32" dur="1" fill="hold">
                                          <p:stCondLst>
                                            <p:cond delay="0"/>
                                          </p:stCondLst>
                                        </p:cTn>
                                        <p:tgtEl>
                                          <p:spTgt spid="19553"/>
                                        </p:tgtEl>
                                        <p:attrNameLst>
                                          <p:attrName>style.visibility</p:attrName>
                                        </p:attrNameLst>
                                      </p:cBhvr>
                                      <p:to>
                                        <p:strVal val="visible"/>
                                      </p:to>
                                    </p:set>
                                    <p:animEffect transition="in" filter="blinds(horizontal)">
                                      <p:cBhvr>
                                        <p:cTn id="33" dur="500"/>
                                        <p:tgtEl>
                                          <p:spTgt spid="19553"/>
                                        </p:tgtEl>
                                      </p:cBhvr>
                                    </p:animEffect>
                                  </p:childTnLst>
                                </p:cTn>
                              </p:par>
                              <p:par>
                                <p:cTn id="34" presetID="3" presetClass="entr" presetSubtype="10" fill="hold" nodeType="withEffect">
                                  <p:stCondLst>
                                    <p:cond delay="0"/>
                                  </p:stCondLst>
                                  <p:childTnLst>
                                    <p:set>
                                      <p:cBhvr>
                                        <p:cTn id="35" dur="1" fill="hold">
                                          <p:stCondLst>
                                            <p:cond delay="0"/>
                                          </p:stCondLst>
                                        </p:cTn>
                                        <p:tgtEl>
                                          <p:spTgt spid="19554"/>
                                        </p:tgtEl>
                                        <p:attrNameLst>
                                          <p:attrName>style.visibility</p:attrName>
                                        </p:attrNameLst>
                                      </p:cBhvr>
                                      <p:to>
                                        <p:strVal val="visible"/>
                                      </p:to>
                                    </p:set>
                                    <p:animEffect transition="in" filter="blinds(horizontal)">
                                      <p:cBhvr>
                                        <p:cTn id="36" dur="500"/>
                                        <p:tgtEl>
                                          <p:spTgt spid="1955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9555"/>
                                        </p:tgtEl>
                                        <p:attrNameLst>
                                          <p:attrName>style.visibility</p:attrName>
                                        </p:attrNameLst>
                                      </p:cBhvr>
                                      <p:to>
                                        <p:strVal val="visible"/>
                                      </p:to>
                                    </p:set>
                                    <p:animEffect transition="in" filter="blinds(horizontal)">
                                      <p:cBhvr>
                                        <p:cTn id="41" dur="500"/>
                                        <p:tgtEl>
                                          <p:spTgt spid="19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9" name="Rectangle 2"/>
          <p:cNvSpPr>
            <a:spLocks noGrp="1" noChangeArrowheads="1"/>
          </p:cNvSpPr>
          <p:nvPr>
            <p:ph type="title"/>
          </p:nvPr>
        </p:nvSpPr>
        <p:spPr>
          <a:xfrm>
            <a:off x="3014663" y="533401"/>
            <a:ext cx="6858000" cy="609600"/>
          </a:xfrm>
        </p:spPr>
        <p:txBody>
          <a:bodyPr>
            <a:normAutofit fontScale="90000"/>
          </a:bodyPr>
          <a:lstStyle/>
          <a:p>
            <a:r>
              <a:rPr lang="zh-CN" altLang="en-US" dirty="0">
                <a:latin typeface="Arial" panose="020B0604020202020204" pitchFamily="34" charset="0"/>
                <a:ea typeface="黑体" panose="02010609060101010101" pitchFamily="49" charset="-122"/>
              </a:rPr>
              <a:t>状态转换表</a:t>
            </a:r>
          </a:p>
        </p:txBody>
      </p:sp>
      <p:sp>
        <p:nvSpPr>
          <p:cNvPr id="78851" name="Rectangle 3"/>
          <p:cNvSpPr>
            <a:spLocks noGrp="1" noChangeArrowheads="1"/>
          </p:cNvSpPr>
          <p:nvPr>
            <p:ph type="body" sz="half" idx="1"/>
          </p:nvPr>
        </p:nvSpPr>
        <p:spPr>
          <a:xfrm>
            <a:off x="2079625" y="1176338"/>
            <a:ext cx="3779838" cy="501650"/>
          </a:xfrm>
        </p:spPr>
        <p:txBody>
          <a:bodyPr/>
          <a:lstStyle/>
          <a:p>
            <a:pPr algn="just">
              <a:spcBef>
                <a:spcPct val="50000"/>
              </a:spcBef>
              <a:buFont typeface="Wingdings" panose="05000000000000000000" pitchFamily="2" charset="2"/>
              <a:buNone/>
              <a:defRPr/>
            </a:pPr>
            <a:r>
              <a:rPr lang="zh-CN" altLang="en-US" sz="2000" dirty="0">
                <a:solidFill>
                  <a:srgbClr val="C00000"/>
                </a:solidFill>
                <a:latin typeface="宋体" panose="02010600030101010101" pitchFamily="2" charset="-122"/>
              </a:rPr>
              <a:t>（</a:t>
            </a:r>
            <a:r>
              <a:rPr lang="en-US" altLang="zh-CN" sz="2000" dirty="0">
                <a:solidFill>
                  <a:srgbClr val="C00000"/>
                </a:solidFill>
                <a:latin typeface="宋体" panose="02010600030101010101" pitchFamily="2" charset="-122"/>
              </a:rPr>
              <a:t>2</a:t>
            </a:r>
            <a:r>
              <a:rPr lang="zh-CN" altLang="en-US" sz="2000" dirty="0">
                <a:solidFill>
                  <a:srgbClr val="C00000"/>
                </a:solidFill>
                <a:latin typeface="宋体" panose="02010600030101010101" pitchFamily="2" charset="-122"/>
              </a:rPr>
              <a:t>）计算并列出状态转换表</a:t>
            </a:r>
          </a:p>
          <a:p>
            <a:pPr marL="365125" indent="-365125">
              <a:lnSpc>
                <a:spcPct val="110000"/>
              </a:lnSpc>
              <a:buFont typeface="Wingdings" panose="05000000000000000000" pitchFamily="2" charset="2"/>
              <a:buNone/>
              <a:defRPr/>
            </a:pPr>
            <a:endParaRPr kumimoji="1" lang="zh-CN" altLang="en-US" sz="2000" dirty="0"/>
          </a:p>
        </p:txBody>
      </p:sp>
      <p:sp>
        <p:nvSpPr>
          <p:cNvPr id="11268" name="灯片编号占位符 4"/>
          <p:cNvSpPr>
            <a:spLocks noGrp="1"/>
          </p:cNvSpPr>
          <p:nvPr>
            <p:ph type="sldNum" sz="quarter" idx="10"/>
          </p:nvPr>
        </p:nvSpPr>
        <p:spPr>
          <a:noFill/>
        </p:spPr>
        <p:txBody>
          <a:bodyPr/>
          <a:lstStyle/>
          <a:p>
            <a:fld id="{BDC7146E-8109-4EEB-86FD-0F4D9384A9A1}" type="slidenum">
              <a:rPr lang="ko-KR" altLang="en-US" smtClean="0"/>
              <a:t>68</a:t>
            </a:fld>
            <a:endParaRPr lang="en-US" altLang="ko-KR"/>
          </a:p>
        </p:txBody>
      </p:sp>
      <p:sp>
        <p:nvSpPr>
          <p:cNvPr id="11271" name="Rectangle 52"/>
          <p:cNvSpPr>
            <a:spLocks noChangeArrowheads="1"/>
          </p:cNvSpPr>
          <p:nvPr/>
        </p:nvSpPr>
        <p:spPr bwMode="black">
          <a:xfrm>
            <a:off x="5941060" y="-353377"/>
            <a:ext cx="309880" cy="706755"/>
          </a:xfrm>
          <a:prstGeom prst="rect">
            <a:avLst/>
          </a:prstGeom>
          <a:noFill/>
          <a:ln w="9525" algn="ctr">
            <a:noFill/>
            <a:miter lim="800000"/>
          </a:ln>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272" name="Rectangle 61"/>
          <p:cNvSpPr>
            <a:spLocks noChangeArrowheads="1"/>
          </p:cNvSpPr>
          <p:nvPr/>
        </p:nvSpPr>
        <p:spPr bwMode="black">
          <a:xfrm>
            <a:off x="5941060" y="-353377"/>
            <a:ext cx="309880" cy="706755"/>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grpSp>
        <p:nvGrpSpPr>
          <p:cNvPr id="2" name="组合 61"/>
          <p:cNvGrpSpPr/>
          <p:nvPr/>
        </p:nvGrpSpPr>
        <p:grpSpPr bwMode="auto">
          <a:xfrm>
            <a:off x="6116638" y="2425700"/>
            <a:ext cx="3192462" cy="2390775"/>
            <a:chOff x="3119418" y="1366838"/>
            <a:chExt cx="3191759" cy="2390779"/>
          </a:xfrm>
        </p:grpSpPr>
        <p:pic>
          <p:nvPicPr>
            <p:cNvPr id="11289" name="Picture 54" descr="图片32"/>
            <p:cNvPicPr>
              <a:picLocks noChangeAspect="1" noChangeArrowheads="1"/>
            </p:cNvPicPr>
            <p:nvPr/>
          </p:nvPicPr>
          <p:blipFill>
            <a:blip r:embed="rId4" cstate="print"/>
            <a:srcRect/>
            <a:stretch>
              <a:fillRect/>
            </a:stretch>
          </p:blipFill>
          <p:spPr bwMode="auto">
            <a:xfrm>
              <a:off x="3147993" y="1366838"/>
              <a:ext cx="1200150" cy="438150"/>
            </a:xfrm>
            <a:prstGeom prst="rect">
              <a:avLst/>
            </a:prstGeom>
            <a:noFill/>
            <a:ln w="9525">
              <a:noFill/>
              <a:miter lim="800000"/>
              <a:headEnd/>
              <a:tailEnd/>
            </a:ln>
            <a:effectLst>
              <a:prstShdw prst="shdw13" dist="53882" dir="13500000">
                <a:srgbClr val="808080">
                  <a:alpha val="50000"/>
                </a:srgbClr>
              </a:prstShdw>
            </a:effectLst>
          </p:spPr>
        </p:pic>
        <p:pic>
          <p:nvPicPr>
            <p:cNvPr id="11290" name="Picture 55"/>
            <p:cNvPicPr>
              <a:picLocks noChangeAspect="1" noChangeArrowheads="1"/>
            </p:cNvPicPr>
            <p:nvPr/>
          </p:nvPicPr>
          <p:blipFill>
            <a:blip r:embed="rId5" cstate="print"/>
            <a:srcRect/>
            <a:stretch>
              <a:fillRect/>
            </a:stretch>
          </p:blipFill>
          <p:spPr bwMode="auto">
            <a:xfrm>
              <a:off x="3135332" y="1858941"/>
              <a:ext cx="2824162" cy="457200"/>
            </a:xfrm>
            <a:prstGeom prst="rect">
              <a:avLst/>
            </a:prstGeom>
            <a:solidFill>
              <a:srgbClr val="FFFFBD"/>
            </a:solidFill>
            <a:ln w="9525">
              <a:noFill/>
              <a:miter lim="800000"/>
              <a:headEnd/>
              <a:tailEnd/>
            </a:ln>
            <a:effectLst>
              <a:prstShdw prst="shdw13" dist="53882" dir="13500000">
                <a:srgbClr val="808080">
                  <a:alpha val="50000"/>
                </a:srgbClr>
              </a:prstShdw>
            </a:effectLst>
          </p:spPr>
        </p:pic>
        <p:pic>
          <p:nvPicPr>
            <p:cNvPr id="11291" name="Picture 56"/>
            <p:cNvPicPr>
              <a:picLocks noChangeAspect="1" noChangeArrowheads="1"/>
            </p:cNvPicPr>
            <p:nvPr/>
          </p:nvPicPr>
          <p:blipFill>
            <a:blip r:embed="rId6" cstate="print"/>
            <a:srcRect/>
            <a:stretch>
              <a:fillRect/>
            </a:stretch>
          </p:blipFill>
          <p:spPr bwMode="auto">
            <a:xfrm>
              <a:off x="3142527" y="2374145"/>
              <a:ext cx="3168650" cy="457200"/>
            </a:xfrm>
            <a:prstGeom prst="rect">
              <a:avLst/>
            </a:prstGeom>
            <a:solidFill>
              <a:srgbClr val="FFFFBD"/>
            </a:solidFill>
            <a:ln w="9525">
              <a:noFill/>
              <a:miter lim="800000"/>
              <a:headEnd/>
              <a:tailEnd/>
            </a:ln>
            <a:effectLst>
              <a:prstShdw prst="shdw13" dist="53882" dir="13500000">
                <a:srgbClr val="808080">
                  <a:alpha val="50000"/>
                </a:srgbClr>
              </a:prstShdw>
            </a:effectLst>
          </p:spPr>
        </p:pic>
        <p:pic>
          <p:nvPicPr>
            <p:cNvPr id="11292" name="Picture 58" descr="图片1"/>
            <p:cNvPicPr>
              <a:picLocks noChangeAspect="1" noChangeArrowheads="1"/>
            </p:cNvPicPr>
            <p:nvPr/>
          </p:nvPicPr>
          <p:blipFill>
            <a:blip r:embed="rId7" cstate="print"/>
            <a:srcRect/>
            <a:stretch>
              <a:fillRect/>
            </a:stretch>
          </p:blipFill>
          <p:spPr bwMode="auto">
            <a:xfrm>
              <a:off x="3133840" y="2844798"/>
              <a:ext cx="2981325" cy="438150"/>
            </a:xfrm>
            <a:prstGeom prst="rect">
              <a:avLst/>
            </a:prstGeom>
            <a:noFill/>
            <a:ln w="9525">
              <a:noFill/>
              <a:miter lim="800000"/>
              <a:headEnd/>
              <a:tailEnd/>
            </a:ln>
            <a:effectLst>
              <a:prstShdw prst="shdw13" dist="53882" dir="13500000">
                <a:srgbClr val="808080">
                  <a:alpha val="50000"/>
                </a:srgbClr>
              </a:prstShdw>
            </a:effectLst>
          </p:spPr>
        </p:pic>
        <p:pic>
          <p:nvPicPr>
            <p:cNvPr id="11293" name="Picture 60"/>
            <p:cNvPicPr>
              <a:picLocks noChangeAspect="1" noChangeArrowheads="1"/>
            </p:cNvPicPr>
            <p:nvPr/>
          </p:nvPicPr>
          <p:blipFill>
            <a:blip r:embed="rId8" cstate="print"/>
            <a:srcRect/>
            <a:stretch>
              <a:fillRect/>
            </a:stretch>
          </p:blipFill>
          <p:spPr bwMode="auto">
            <a:xfrm>
              <a:off x="3119418" y="3295654"/>
              <a:ext cx="1228725" cy="461963"/>
            </a:xfrm>
            <a:prstGeom prst="rect">
              <a:avLst/>
            </a:prstGeom>
            <a:solidFill>
              <a:srgbClr val="FFFFBD"/>
            </a:solidFill>
            <a:ln w="9525">
              <a:noFill/>
              <a:miter lim="800000"/>
              <a:headEnd/>
              <a:tailEnd/>
            </a:ln>
            <a:effectLst>
              <a:prstShdw prst="shdw13" dist="53882" dir="13500000">
                <a:srgbClr val="808080">
                  <a:alpha val="50000"/>
                </a:srgbClr>
              </a:prstShdw>
            </a:effectLst>
          </p:spPr>
        </p:pic>
      </p:grpSp>
      <p:grpSp>
        <p:nvGrpSpPr>
          <p:cNvPr id="3" name="Group 204"/>
          <p:cNvGrpSpPr/>
          <p:nvPr/>
        </p:nvGrpSpPr>
        <p:grpSpPr bwMode="auto">
          <a:xfrm>
            <a:off x="2278063" y="1720850"/>
            <a:ext cx="3449637" cy="4419600"/>
            <a:chOff x="336" y="480"/>
            <a:chExt cx="2173" cy="2784"/>
          </a:xfrm>
        </p:grpSpPr>
        <p:sp>
          <p:nvSpPr>
            <p:cNvPr id="11275" name="Rectangle 92"/>
            <p:cNvSpPr>
              <a:spLocks noChangeArrowheads="1"/>
            </p:cNvSpPr>
            <p:nvPr/>
          </p:nvSpPr>
          <p:spPr bwMode="auto">
            <a:xfrm>
              <a:off x="2208" y="774"/>
              <a:ext cx="301" cy="2490"/>
            </a:xfrm>
            <a:prstGeom prst="rect">
              <a:avLst/>
            </a:prstGeom>
            <a:noFill/>
            <a:ln w="9525">
              <a:noFill/>
              <a:miter lim="800000"/>
            </a:ln>
          </p:spPr>
          <p:txBody>
            <a:bodyPr/>
            <a:lstStyle/>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rgbClr val="FF0000"/>
                  </a:solidFill>
                  <a:latin typeface="Arial" panose="020B0604020202020204" pitchFamily="34" charset="0"/>
                  <a:ea typeface="Gulim" panose="020B0600000101010101" pitchFamily="34" charset="-127"/>
                </a:rPr>
                <a:t>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a:t>
              </a:r>
            </a:p>
          </p:txBody>
        </p:sp>
        <p:sp>
          <p:nvSpPr>
            <p:cNvPr id="11276" name="Rectangle 93"/>
            <p:cNvSpPr>
              <a:spLocks noChangeArrowheads="1"/>
            </p:cNvSpPr>
            <p:nvPr/>
          </p:nvSpPr>
          <p:spPr bwMode="auto">
            <a:xfrm>
              <a:off x="1264" y="774"/>
              <a:ext cx="944" cy="2490"/>
            </a:xfrm>
            <a:prstGeom prst="rect">
              <a:avLst/>
            </a:prstGeom>
            <a:noFill/>
            <a:ln w="9525">
              <a:noFill/>
              <a:miter lim="800000"/>
            </a:ln>
          </p:spPr>
          <p:txBody>
            <a:bodyPr/>
            <a:lstStyle/>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0   0   1   0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0   0   1   1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0   1   1   0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0   1   1   1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1   0   0   0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1   0   0   1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rgbClr val="FF0000"/>
                  </a:solidFill>
                  <a:latin typeface="Arial" panose="020B0604020202020204" pitchFamily="34" charset="0"/>
                  <a:ea typeface="Gulim" panose="020B0600000101010101" pitchFamily="34" charset="-127"/>
                </a:rPr>
                <a:t>0   0   0   0 </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1   0   1   1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1   1   0   1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1   1   1   1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0   0   0   0</a:t>
              </a:r>
            </a:p>
          </p:txBody>
        </p:sp>
        <p:sp>
          <p:nvSpPr>
            <p:cNvPr id="11277" name="Rectangle 94"/>
            <p:cNvSpPr>
              <a:spLocks noChangeArrowheads="1"/>
            </p:cNvSpPr>
            <p:nvPr/>
          </p:nvSpPr>
          <p:spPr bwMode="auto">
            <a:xfrm>
              <a:off x="336" y="774"/>
              <a:ext cx="928" cy="2490"/>
            </a:xfrm>
            <a:prstGeom prst="rect">
              <a:avLst/>
            </a:prstGeom>
            <a:noFill/>
            <a:ln w="9525">
              <a:noFill/>
              <a:miter lim="800000"/>
            </a:ln>
          </p:spPr>
          <p:txBody>
            <a:bodyPr/>
            <a:lstStyle/>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0   0   1   0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0   0   1   1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0   1   1   0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0   1   1   1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1   0   0   0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rgbClr val="FF0000"/>
                  </a:solidFill>
                  <a:latin typeface="Arial" panose="020B0604020202020204" pitchFamily="34" charset="0"/>
                  <a:ea typeface="Gulim" panose="020B0600000101010101" pitchFamily="34" charset="-127"/>
                </a:rPr>
                <a:t>1   0   0   1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1   0   1   0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1   0   1   1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1   1   0   0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1   1   0   1</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1   1   1   0</a:t>
              </a:r>
            </a:p>
            <a:p>
              <a:pPr>
                <a:lnSpc>
                  <a:spcPct val="80000"/>
                </a:lnSpc>
                <a:spcBef>
                  <a:spcPct val="20000"/>
                </a:spcBef>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1   1   1   1</a:t>
              </a:r>
            </a:p>
          </p:txBody>
        </p:sp>
        <p:sp>
          <p:nvSpPr>
            <p:cNvPr id="11278" name="Rectangle 95"/>
            <p:cNvSpPr>
              <a:spLocks noChangeArrowheads="1"/>
            </p:cNvSpPr>
            <p:nvPr/>
          </p:nvSpPr>
          <p:spPr bwMode="auto">
            <a:xfrm>
              <a:off x="2208" y="529"/>
              <a:ext cx="301" cy="287"/>
            </a:xfrm>
            <a:prstGeom prst="rect">
              <a:avLst/>
            </a:prstGeom>
            <a:noFill/>
            <a:ln w="9525">
              <a:noFill/>
              <a:miter lim="800000"/>
            </a:ln>
          </p:spPr>
          <p:txBody>
            <a:bodyPr/>
            <a:lstStyle/>
            <a:p>
              <a:pPr algn="dist">
                <a:lnSpc>
                  <a:spcPct val="120000"/>
                </a:lnSpc>
                <a:buClr>
                  <a:schemeClr val="folHlink"/>
                </a:buClr>
                <a:buSzPct val="85000"/>
                <a:buFont typeface="Wingdings 2" panose="05020102010507070707" pitchFamily="18" charset="2"/>
                <a:buNone/>
              </a:pPr>
              <a:r>
                <a:rPr lang="en-US" altLang="zh-CN" sz="1600">
                  <a:solidFill>
                    <a:schemeClr val="hlink"/>
                  </a:solidFill>
                  <a:latin typeface="Arial" panose="020B0604020202020204" pitchFamily="34" charset="0"/>
                  <a:ea typeface="Gulim" panose="020B0600000101010101" pitchFamily="34" charset="-127"/>
                </a:rPr>
                <a:t> C</a:t>
              </a:r>
            </a:p>
          </p:txBody>
        </p:sp>
        <p:sp>
          <p:nvSpPr>
            <p:cNvPr id="11279" name="Rectangle 96"/>
            <p:cNvSpPr>
              <a:spLocks noChangeArrowheads="1"/>
            </p:cNvSpPr>
            <p:nvPr/>
          </p:nvSpPr>
          <p:spPr bwMode="auto">
            <a:xfrm>
              <a:off x="1264" y="487"/>
              <a:ext cx="1171" cy="287"/>
            </a:xfrm>
            <a:prstGeom prst="rect">
              <a:avLst/>
            </a:prstGeom>
            <a:noFill/>
            <a:ln w="9525">
              <a:noFill/>
              <a:miter lim="800000"/>
            </a:ln>
          </p:spPr>
          <p:txBody>
            <a:bodyPr/>
            <a:lstStyle/>
            <a:p>
              <a:pPr algn="dist">
                <a:spcBef>
                  <a:spcPct val="20000"/>
                </a:spcBef>
                <a:buClr>
                  <a:schemeClr val="folHlink"/>
                </a:buClr>
                <a:buSzPct val="85000"/>
                <a:buFont typeface="Wingdings 2" panose="05020102010507070707" pitchFamily="18" charset="2"/>
                <a:buNone/>
              </a:pPr>
              <a:endParaRPr lang="zh-CN" altLang="zh-CN" sz="2400">
                <a:solidFill>
                  <a:schemeClr val="hlink"/>
                </a:solidFill>
                <a:latin typeface="Arial" panose="020B0604020202020204" pitchFamily="34" charset="0"/>
                <a:ea typeface="Gulim" panose="020B0600000101010101" pitchFamily="34" charset="-127"/>
              </a:endParaRPr>
            </a:p>
          </p:txBody>
        </p:sp>
        <p:sp>
          <p:nvSpPr>
            <p:cNvPr id="11280" name="Rectangle 97"/>
            <p:cNvSpPr>
              <a:spLocks noChangeArrowheads="1"/>
            </p:cNvSpPr>
            <p:nvPr/>
          </p:nvSpPr>
          <p:spPr bwMode="auto">
            <a:xfrm>
              <a:off x="336" y="487"/>
              <a:ext cx="928" cy="287"/>
            </a:xfrm>
            <a:prstGeom prst="rect">
              <a:avLst/>
            </a:prstGeom>
            <a:noFill/>
            <a:ln w="9525">
              <a:noFill/>
              <a:miter lim="800000"/>
            </a:ln>
          </p:spPr>
          <p:txBody>
            <a:bodyPr/>
            <a:lstStyle/>
            <a:p>
              <a:pPr algn="dist">
                <a:spcBef>
                  <a:spcPct val="20000"/>
                </a:spcBef>
                <a:buClr>
                  <a:schemeClr val="folHlink"/>
                </a:buClr>
                <a:buSzPct val="85000"/>
                <a:buFont typeface="Wingdings 2" panose="05020102010507070707" pitchFamily="18" charset="2"/>
                <a:buNone/>
              </a:pPr>
              <a:endParaRPr lang="zh-CN" altLang="zh-CN" sz="2400">
                <a:solidFill>
                  <a:schemeClr val="hlink"/>
                </a:solidFill>
                <a:latin typeface="Arial" panose="020B0604020202020204" pitchFamily="34" charset="0"/>
                <a:ea typeface="Gulim" panose="020B0600000101010101" pitchFamily="34" charset="-127"/>
              </a:endParaRPr>
            </a:p>
          </p:txBody>
        </p:sp>
        <p:grpSp>
          <p:nvGrpSpPr>
            <p:cNvPr id="11281" name="Group 98"/>
            <p:cNvGrpSpPr/>
            <p:nvPr/>
          </p:nvGrpSpPr>
          <p:grpSpPr bwMode="auto">
            <a:xfrm>
              <a:off x="336" y="487"/>
              <a:ext cx="2160" cy="2777"/>
              <a:chOff x="336" y="487"/>
              <a:chExt cx="2400" cy="2777"/>
            </a:xfrm>
          </p:grpSpPr>
          <p:sp>
            <p:nvSpPr>
              <p:cNvPr id="11286" name="Line 99"/>
              <p:cNvSpPr>
                <a:spLocks noChangeShapeType="1"/>
              </p:cNvSpPr>
              <p:nvPr/>
            </p:nvSpPr>
            <p:spPr bwMode="auto">
              <a:xfrm>
                <a:off x="336" y="487"/>
                <a:ext cx="2400" cy="0"/>
              </a:xfrm>
              <a:prstGeom prst="line">
                <a:avLst/>
              </a:prstGeom>
              <a:noFill/>
              <a:ln w="28575" cap="sq">
                <a:solidFill>
                  <a:schemeClr val="tx1"/>
                </a:solidFill>
                <a:round/>
              </a:ln>
            </p:spPr>
            <p:txBody>
              <a:bodyPr/>
              <a:lstStyle/>
              <a:p>
                <a:endParaRPr lang="zh-CN" altLang="en-US"/>
              </a:p>
            </p:txBody>
          </p:sp>
          <p:sp>
            <p:nvSpPr>
              <p:cNvPr id="11287" name="Line 100"/>
              <p:cNvSpPr>
                <a:spLocks noChangeShapeType="1"/>
              </p:cNvSpPr>
              <p:nvPr/>
            </p:nvSpPr>
            <p:spPr bwMode="auto">
              <a:xfrm>
                <a:off x="336" y="774"/>
                <a:ext cx="2400" cy="0"/>
              </a:xfrm>
              <a:prstGeom prst="line">
                <a:avLst/>
              </a:prstGeom>
              <a:noFill/>
              <a:ln w="12700">
                <a:solidFill>
                  <a:schemeClr val="tx1"/>
                </a:solidFill>
                <a:round/>
              </a:ln>
            </p:spPr>
            <p:txBody>
              <a:bodyPr/>
              <a:lstStyle/>
              <a:p>
                <a:endParaRPr lang="zh-CN" altLang="en-US"/>
              </a:p>
            </p:txBody>
          </p:sp>
          <p:sp>
            <p:nvSpPr>
              <p:cNvPr id="11288" name="Line 101"/>
              <p:cNvSpPr>
                <a:spLocks noChangeShapeType="1"/>
              </p:cNvSpPr>
              <p:nvPr/>
            </p:nvSpPr>
            <p:spPr bwMode="auto">
              <a:xfrm>
                <a:off x="336" y="3264"/>
                <a:ext cx="2400" cy="0"/>
              </a:xfrm>
              <a:prstGeom prst="line">
                <a:avLst/>
              </a:prstGeom>
              <a:noFill/>
              <a:ln w="28575" cap="sq">
                <a:solidFill>
                  <a:schemeClr val="tx1"/>
                </a:solidFill>
                <a:round/>
              </a:ln>
            </p:spPr>
            <p:txBody>
              <a:bodyPr/>
              <a:lstStyle/>
              <a:p>
                <a:endParaRPr lang="zh-CN" altLang="en-US"/>
              </a:p>
            </p:txBody>
          </p:sp>
        </p:grpSp>
        <p:sp>
          <p:nvSpPr>
            <p:cNvPr id="11282" name="Line 102"/>
            <p:cNvSpPr>
              <a:spLocks noChangeShapeType="1"/>
            </p:cNvSpPr>
            <p:nvPr/>
          </p:nvSpPr>
          <p:spPr bwMode="auto">
            <a:xfrm>
              <a:off x="336" y="487"/>
              <a:ext cx="0" cy="2777"/>
            </a:xfrm>
            <a:prstGeom prst="line">
              <a:avLst/>
            </a:prstGeom>
            <a:noFill/>
            <a:ln w="28575" cap="sq">
              <a:solidFill>
                <a:schemeClr val="tx1"/>
              </a:solidFill>
              <a:round/>
            </a:ln>
          </p:spPr>
          <p:txBody>
            <a:bodyPr/>
            <a:lstStyle/>
            <a:p>
              <a:endParaRPr lang="zh-CN" altLang="en-US"/>
            </a:p>
          </p:txBody>
        </p:sp>
        <p:sp>
          <p:nvSpPr>
            <p:cNvPr id="11283" name="Line 103"/>
            <p:cNvSpPr>
              <a:spLocks noChangeShapeType="1"/>
            </p:cNvSpPr>
            <p:nvPr/>
          </p:nvSpPr>
          <p:spPr bwMode="auto">
            <a:xfrm>
              <a:off x="1264" y="487"/>
              <a:ext cx="0" cy="2777"/>
            </a:xfrm>
            <a:prstGeom prst="line">
              <a:avLst/>
            </a:prstGeom>
            <a:noFill/>
            <a:ln w="12700">
              <a:solidFill>
                <a:schemeClr val="tx1"/>
              </a:solidFill>
              <a:round/>
            </a:ln>
          </p:spPr>
          <p:txBody>
            <a:bodyPr/>
            <a:lstStyle/>
            <a:p>
              <a:endParaRPr lang="zh-CN" altLang="en-US"/>
            </a:p>
          </p:txBody>
        </p:sp>
        <p:sp>
          <p:nvSpPr>
            <p:cNvPr id="11284" name="Line 104"/>
            <p:cNvSpPr>
              <a:spLocks noChangeShapeType="1"/>
            </p:cNvSpPr>
            <p:nvPr/>
          </p:nvSpPr>
          <p:spPr bwMode="auto">
            <a:xfrm>
              <a:off x="2208" y="480"/>
              <a:ext cx="0" cy="2777"/>
            </a:xfrm>
            <a:prstGeom prst="line">
              <a:avLst/>
            </a:prstGeom>
            <a:noFill/>
            <a:ln w="12700">
              <a:solidFill>
                <a:schemeClr val="tx1"/>
              </a:solidFill>
              <a:round/>
            </a:ln>
          </p:spPr>
          <p:txBody>
            <a:bodyPr/>
            <a:lstStyle/>
            <a:p>
              <a:endParaRPr lang="zh-CN" altLang="en-US"/>
            </a:p>
          </p:txBody>
        </p:sp>
        <p:sp>
          <p:nvSpPr>
            <p:cNvPr id="11285" name="Line 105"/>
            <p:cNvSpPr>
              <a:spLocks noChangeShapeType="1"/>
            </p:cNvSpPr>
            <p:nvPr/>
          </p:nvSpPr>
          <p:spPr bwMode="auto">
            <a:xfrm>
              <a:off x="2496" y="487"/>
              <a:ext cx="0" cy="2777"/>
            </a:xfrm>
            <a:prstGeom prst="line">
              <a:avLst/>
            </a:prstGeom>
            <a:noFill/>
            <a:ln w="28575" cap="sq">
              <a:solidFill>
                <a:schemeClr val="tx1"/>
              </a:solidFill>
              <a:round/>
            </a:ln>
          </p:spPr>
          <p:txBody>
            <a:bodyPr/>
            <a:lstStyle/>
            <a:p>
              <a:endParaRPr lang="zh-CN" altLang="en-US"/>
            </a:p>
          </p:txBody>
        </p:sp>
        <p:graphicFrame>
          <p:nvGraphicFramePr>
            <p:cNvPr id="11266" name="Object 62"/>
            <p:cNvGraphicFramePr>
              <a:graphicFrameLocks noChangeAspect="1"/>
            </p:cNvGraphicFramePr>
            <p:nvPr/>
          </p:nvGraphicFramePr>
          <p:xfrm>
            <a:off x="439" y="509"/>
            <a:ext cx="754" cy="256"/>
          </p:xfrm>
          <a:graphic>
            <a:graphicData uri="http://schemas.openxmlformats.org/presentationml/2006/ole">
              <mc:AlternateContent xmlns:mc="http://schemas.openxmlformats.org/markup-compatibility/2006">
                <mc:Choice xmlns:v="urn:schemas-microsoft-com:vml" Requires="v">
                  <p:oleObj spid="_x0000_s337923" name="Equation" r:id="rId9" imgW="711200" imgH="241300" progId="Equation.3">
                    <p:embed/>
                  </p:oleObj>
                </mc:Choice>
                <mc:Fallback>
                  <p:oleObj name="Equation" r:id="rId9" imgW="711200" imgH="241300" progId="Equation.3">
                    <p:embed/>
                    <p:pic>
                      <p:nvPicPr>
                        <p:cNvPr id="0" name="Object 6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 y="509"/>
                          <a:ext cx="754" cy="256"/>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aphicFrame>
          <p:nvGraphicFramePr>
            <p:cNvPr id="11267" name="Object 63"/>
            <p:cNvGraphicFramePr>
              <a:graphicFrameLocks noChangeAspect="1"/>
            </p:cNvGraphicFramePr>
            <p:nvPr/>
          </p:nvGraphicFramePr>
          <p:xfrm>
            <a:off x="1290" y="537"/>
            <a:ext cx="918" cy="207"/>
          </p:xfrm>
          <a:graphic>
            <a:graphicData uri="http://schemas.openxmlformats.org/presentationml/2006/ole">
              <mc:AlternateContent xmlns:mc="http://schemas.openxmlformats.org/markup-compatibility/2006">
                <mc:Choice xmlns:v="urn:schemas-microsoft-com:vml" Requires="v">
                  <p:oleObj spid="_x0000_s337924" name="Equation" r:id="rId11" imgW="1066165" imgH="241300" progId="Equation.3">
                    <p:embed/>
                  </p:oleObj>
                </mc:Choice>
                <mc:Fallback>
                  <p:oleObj name="Equation" r:id="rId11" imgW="1066165" imgH="241300" progId="Equation.3">
                    <p:embed/>
                    <p:pic>
                      <p:nvPicPr>
                        <p:cNvPr id="0" name="Object 6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0" y="537"/>
                          <a:ext cx="918" cy="207"/>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gr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a:xfrm>
            <a:off x="3158797" y="505773"/>
            <a:ext cx="6858000" cy="609600"/>
          </a:xfrm>
        </p:spPr>
        <p:txBody>
          <a:bodyPr>
            <a:normAutofit fontScale="90000"/>
          </a:bodyPr>
          <a:lstStyle/>
          <a:p>
            <a:r>
              <a:rPr lang="zh-CN" altLang="en-US" dirty="0">
                <a:latin typeface="Arial" panose="020B0604020202020204" pitchFamily="34" charset="0"/>
                <a:ea typeface="黑体" panose="02010609060101010101" pitchFamily="49" charset="-122"/>
              </a:rPr>
              <a:t>状态转换图和时序图</a:t>
            </a:r>
          </a:p>
        </p:txBody>
      </p:sp>
      <p:sp>
        <p:nvSpPr>
          <p:cNvPr id="12291" name="灯片编号占位符 4"/>
          <p:cNvSpPr>
            <a:spLocks noGrp="1"/>
          </p:cNvSpPr>
          <p:nvPr>
            <p:ph type="sldNum" sz="quarter" idx="10"/>
          </p:nvPr>
        </p:nvSpPr>
        <p:spPr>
          <a:noFill/>
        </p:spPr>
        <p:txBody>
          <a:bodyPr/>
          <a:lstStyle/>
          <a:p>
            <a:fld id="{6DAF43FD-A4E4-46BB-B67A-B49B7B6F7331}" type="slidenum">
              <a:rPr lang="ko-KR" altLang="en-US" smtClean="0"/>
              <a:t>69</a:t>
            </a:fld>
            <a:endParaRPr lang="en-US" altLang="ko-KR"/>
          </a:p>
        </p:txBody>
      </p:sp>
      <p:sp>
        <p:nvSpPr>
          <p:cNvPr id="12293" name="Text Box 139"/>
          <p:cNvSpPr txBox="1">
            <a:spLocks noChangeArrowheads="1"/>
          </p:cNvSpPr>
          <p:nvPr/>
        </p:nvSpPr>
        <p:spPr bwMode="auto">
          <a:xfrm>
            <a:off x="1811338" y="1319213"/>
            <a:ext cx="3975100" cy="368300"/>
          </a:xfrm>
          <a:prstGeom prst="rect">
            <a:avLst/>
          </a:prstGeom>
          <a:noFill/>
          <a:ln w="9525">
            <a:noFill/>
            <a:miter lim="800000"/>
          </a:ln>
        </p:spPr>
        <p:txBody>
          <a:bodyPr>
            <a:spAutoFit/>
          </a:bodyPr>
          <a:lstStyle/>
          <a:p>
            <a:pPr algn="just" eaLnBrk="0" hangingPunct="0"/>
            <a:r>
              <a:rPr lang="zh-CN" altLang="en-US">
                <a:solidFill>
                  <a:srgbClr val="C00000"/>
                </a:solidFill>
                <a:latin typeface="宋体" panose="02010600030101010101" pitchFamily="2" charset="-122"/>
              </a:rPr>
              <a:t>（</a:t>
            </a:r>
            <a:r>
              <a:rPr lang="en-US" altLang="zh-CN">
                <a:solidFill>
                  <a:srgbClr val="C00000"/>
                </a:solidFill>
                <a:latin typeface="宋体" panose="02010600030101010101" pitchFamily="2" charset="-122"/>
              </a:rPr>
              <a:t>3</a:t>
            </a:r>
            <a:r>
              <a:rPr lang="zh-CN" altLang="en-US">
                <a:solidFill>
                  <a:srgbClr val="C00000"/>
                </a:solidFill>
                <a:latin typeface="宋体" panose="02010600030101010101" pitchFamily="2" charset="-122"/>
              </a:rPr>
              <a:t>）画状态转换图（或时序图）</a:t>
            </a:r>
          </a:p>
        </p:txBody>
      </p:sp>
      <p:grpSp>
        <p:nvGrpSpPr>
          <p:cNvPr id="2" name="Group 493"/>
          <p:cNvGrpSpPr/>
          <p:nvPr/>
        </p:nvGrpSpPr>
        <p:grpSpPr bwMode="auto">
          <a:xfrm>
            <a:off x="5813425" y="987425"/>
            <a:ext cx="4724400" cy="3131540"/>
            <a:chOff x="2544" y="1776"/>
            <a:chExt cx="2976" cy="1981"/>
          </a:xfrm>
        </p:grpSpPr>
        <p:grpSp>
          <p:nvGrpSpPr>
            <p:cNvPr id="12431" name="Group 400"/>
            <p:cNvGrpSpPr/>
            <p:nvPr/>
          </p:nvGrpSpPr>
          <p:grpSpPr bwMode="auto">
            <a:xfrm>
              <a:off x="2736" y="2467"/>
              <a:ext cx="576" cy="369"/>
              <a:chOff x="3312" y="2727"/>
              <a:chExt cx="576" cy="369"/>
            </a:xfrm>
          </p:grpSpPr>
          <p:grpSp>
            <p:nvGrpSpPr>
              <p:cNvPr id="12519" name="Group 401"/>
              <p:cNvGrpSpPr/>
              <p:nvPr/>
            </p:nvGrpSpPr>
            <p:grpSpPr bwMode="auto">
              <a:xfrm>
                <a:off x="3312" y="2727"/>
                <a:ext cx="396" cy="369"/>
                <a:chOff x="3312" y="2727"/>
                <a:chExt cx="396" cy="369"/>
              </a:xfrm>
            </p:grpSpPr>
            <p:sp>
              <p:nvSpPr>
                <p:cNvPr id="12521" name="Oval 402"/>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522" name="Text Box 403"/>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0000</a:t>
                  </a:r>
                </a:p>
              </p:txBody>
            </p:sp>
          </p:grpSp>
          <p:sp>
            <p:nvSpPr>
              <p:cNvPr id="12520" name="Line 404"/>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32" name="Group 405"/>
            <p:cNvGrpSpPr/>
            <p:nvPr/>
          </p:nvGrpSpPr>
          <p:grpSpPr bwMode="auto">
            <a:xfrm>
              <a:off x="3303" y="2476"/>
              <a:ext cx="576" cy="369"/>
              <a:chOff x="3312" y="2727"/>
              <a:chExt cx="576" cy="369"/>
            </a:xfrm>
          </p:grpSpPr>
          <p:grpSp>
            <p:nvGrpSpPr>
              <p:cNvPr id="12515" name="Group 406"/>
              <p:cNvGrpSpPr/>
              <p:nvPr/>
            </p:nvGrpSpPr>
            <p:grpSpPr bwMode="auto">
              <a:xfrm>
                <a:off x="3312" y="2727"/>
                <a:ext cx="396" cy="369"/>
                <a:chOff x="3312" y="2727"/>
                <a:chExt cx="396" cy="369"/>
              </a:xfrm>
            </p:grpSpPr>
            <p:sp>
              <p:nvSpPr>
                <p:cNvPr id="12517" name="Oval 407"/>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518" name="Text Box 408"/>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0001</a:t>
                  </a:r>
                </a:p>
              </p:txBody>
            </p:sp>
          </p:grpSp>
          <p:sp>
            <p:nvSpPr>
              <p:cNvPr id="12516" name="Line 409"/>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33" name="Group 410"/>
            <p:cNvGrpSpPr/>
            <p:nvPr/>
          </p:nvGrpSpPr>
          <p:grpSpPr bwMode="auto">
            <a:xfrm>
              <a:off x="3876" y="2476"/>
              <a:ext cx="576" cy="369"/>
              <a:chOff x="3312" y="2727"/>
              <a:chExt cx="576" cy="369"/>
            </a:xfrm>
          </p:grpSpPr>
          <p:grpSp>
            <p:nvGrpSpPr>
              <p:cNvPr id="12511" name="Group 411"/>
              <p:cNvGrpSpPr/>
              <p:nvPr/>
            </p:nvGrpSpPr>
            <p:grpSpPr bwMode="auto">
              <a:xfrm>
                <a:off x="3312" y="2727"/>
                <a:ext cx="396" cy="369"/>
                <a:chOff x="3312" y="2727"/>
                <a:chExt cx="396" cy="369"/>
              </a:xfrm>
            </p:grpSpPr>
            <p:sp>
              <p:nvSpPr>
                <p:cNvPr id="12513" name="Oval 412"/>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514" name="Text Box 413"/>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0010</a:t>
                  </a:r>
                </a:p>
              </p:txBody>
            </p:sp>
          </p:grpSp>
          <p:sp>
            <p:nvSpPr>
              <p:cNvPr id="12512" name="Line 414"/>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34" name="Group 415"/>
            <p:cNvGrpSpPr/>
            <p:nvPr/>
          </p:nvGrpSpPr>
          <p:grpSpPr bwMode="auto">
            <a:xfrm>
              <a:off x="4464" y="2476"/>
              <a:ext cx="576" cy="369"/>
              <a:chOff x="3312" y="2727"/>
              <a:chExt cx="576" cy="369"/>
            </a:xfrm>
          </p:grpSpPr>
          <p:grpSp>
            <p:nvGrpSpPr>
              <p:cNvPr id="12507" name="Group 416"/>
              <p:cNvGrpSpPr/>
              <p:nvPr/>
            </p:nvGrpSpPr>
            <p:grpSpPr bwMode="auto">
              <a:xfrm>
                <a:off x="3312" y="2727"/>
                <a:ext cx="396" cy="369"/>
                <a:chOff x="3312" y="2727"/>
                <a:chExt cx="396" cy="369"/>
              </a:xfrm>
            </p:grpSpPr>
            <p:sp>
              <p:nvSpPr>
                <p:cNvPr id="12509" name="Oval 417"/>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510" name="Text Box 418"/>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0011</a:t>
                  </a:r>
                </a:p>
              </p:txBody>
            </p:sp>
          </p:grpSp>
          <p:sp>
            <p:nvSpPr>
              <p:cNvPr id="12508" name="Line 419"/>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35" name="Group 420"/>
            <p:cNvGrpSpPr/>
            <p:nvPr/>
          </p:nvGrpSpPr>
          <p:grpSpPr bwMode="auto">
            <a:xfrm>
              <a:off x="5040" y="2476"/>
              <a:ext cx="396" cy="369"/>
              <a:chOff x="3312" y="2727"/>
              <a:chExt cx="396" cy="369"/>
            </a:xfrm>
          </p:grpSpPr>
          <p:sp>
            <p:nvSpPr>
              <p:cNvPr id="12505" name="Oval 421"/>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506" name="Text Box 422"/>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0100</a:t>
                </a:r>
              </a:p>
            </p:txBody>
          </p:sp>
        </p:grpSp>
        <p:sp>
          <p:nvSpPr>
            <p:cNvPr id="12436" name="Line 423"/>
            <p:cNvSpPr>
              <a:spLocks noChangeShapeType="1"/>
            </p:cNvSpPr>
            <p:nvPr/>
          </p:nvSpPr>
          <p:spPr bwMode="auto">
            <a:xfrm>
              <a:off x="5232" y="2688"/>
              <a:ext cx="0" cy="336"/>
            </a:xfrm>
            <a:prstGeom prst="line">
              <a:avLst/>
            </a:prstGeom>
            <a:noFill/>
            <a:ln w="9525">
              <a:solidFill>
                <a:schemeClr val="tx1"/>
              </a:solidFill>
              <a:round/>
              <a:tailEnd type="triangle" w="med" len="med"/>
            </a:ln>
          </p:spPr>
          <p:txBody>
            <a:bodyPr/>
            <a:lstStyle/>
            <a:p>
              <a:endParaRPr lang="zh-CN" altLang="en-US"/>
            </a:p>
          </p:txBody>
        </p:sp>
        <p:grpSp>
          <p:nvGrpSpPr>
            <p:cNvPr id="12437" name="Group 424"/>
            <p:cNvGrpSpPr/>
            <p:nvPr/>
          </p:nvGrpSpPr>
          <p:grpSpPr bwMode="auto">
            <a:xfrm>
              <a:off x="4848" y="3024"/>
              <a:ext cx="588" cy="369"/>
              <a:chOff x="4848" y="3024"/>
              <a:chExt cx="588" cy="369"/>
            </a:xfrm>
          </p:grpSpPr>
          <p:grpSp>
            <p:nvGrpSpPr>
              <p:cNvPr id="12501" name="Group 425"/>
              <p:cNvGrpSpPr/>
              <p:nvPr/>
            </p:nvGrpSpPr>
            <p:grpSpPr bwMode="auto">
              <a:xfrm>
                <a:off x="5040" y="3024"/>
                <a:ext cx="396" cy="369"/>
                <a:chOff x="3312" y="2727"/>
                <a:chExt cx="396" cy="369"/>
              </a:xfrm>
            </p:grpSpPr>
            <p:sp>
              <p:nvSpPr>
                <p:cNvPr id="12503" name="Oval 426"/>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504" name="Text Box 427"/>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0101</a:t>
                  </a:r>
                </a:p>
              </p:txBody>
            </p:sp>
          </p:grpSp>
          <p:sp>
            <p:nvSpPr>
              <p:cNvPr id="12502" name="Line 428"/>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38" name="Group 429"/>
            <p:cNvGrpSpPr/>
            <p:nvPr/>
          </p:nvGrpSpPr>
          <p:grpSpPr bwMode="auto">
            <a:xfrm>
              <a:off x="4272" y="3024"/>
              <a:ext cx="588" cy="369"/>
              <a:chOff x="4848" y="3024"/>
              <a:chExt cx="588" cy="369"/>
            </a:xfrm>
          </p:grpSpPr>
          <p:grpSp>
            <p:nvGrpSpPr>
              <p:cNvPr id="12497" name="Group 430"/>
              <p:cNvGrpSpPr/>
              <p:nvPr/>
            </p:nvGrpSpPr>
            <p:grpSpPr bwMode="auto">
              <a:xfrm>
                <a:off x="5040" y="3024"/>
                <a:ext cx="396" cy="369"/>
                <a:chOff x="3312" y="2727"/>
                <a:chExt cx="396" cy="369"/>
              </a:xfrm>
            </p:grpSpPr>
            <p:sp>
              <p:nvSpPr>
                <p:cNvPr id="12499" name="Oval 431"/>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500" name="Text Box 432"/>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0110</a:t>
                  </a:r>
                </a:p>
              </p:txBody>
            </p:sp>
          </p:grpSp>
          <p:sp>
            <p:nvSpPr>
              <p:cNvPr id="12498" name="Line 433"/>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39" name="Group 434"/>
            <p:cNvGrpSpPr/>
            <p:nvPr/>
          </p:nvGrpSpPr>
          <p:grpSpPr bwMode="auto">
            <a:xfrm>
              <a:off x="3684" y="3024"/>
              <a:ext cx="588" cy="369"/>
              <a:chOff x="4848" y="3024"/>
              <a:chExt cx="588" cy="369"/>
            </a:xfrm>
          </p:grpSpPr>
          <p:grpSp>
            <p:nvGrpSpPr>
              <p:cNvPr id="12493" name="Group 435"/>
              <p:cNvGrpSpPr/>
              <p:nvPr/>
            </p:nvGrpSpPr>
            <p:grpSpPr bwMode="auto">
              <a:xfrm>
                <a:off x="5040" y="3024"/>
                <a:ext cx="396" cy="369"/>
                <a:chOff x="3312" y="2727"/>
                <a:chExt cx="396" cy="369"/>
              </a:xfrm>
            </p:grpSpPr>
            <p:sp>
              <p:nvSpPr>
                <p:cNvPr id="12495" name="Oval 436"/>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96" name="Text Box 437"/>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0111</a:t>
                  </a:r>
                </a:p>
              </p:txBody>
            </p:sp>
          </p:grpSp>
          <p:sp>
            <p:nvSpPr>
              <p:cNvPr id="12494" name="Line 438"/>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40" name="Group 439"/>
            <p:cNvGrpSpPr/>
            <p:nvPr/>
          </p:nvGrpSpPr>
          <p:grpSpPr bwMode="auto">
            <a:xfrm>
              <a:off x="3108" y="3024"/>
              <a:ext cx="588" cy="369"/>
              <a:chOff x="4848" y="3024"/>
              <a:chExt cx="588" cy="369"/>
            </a:xfrm>
          </p:grpSpPr>
          <p:grpSp>
            <p:nvGrpSpPr>
              <p:cNvPr id="12489" name="Group 440"/>
              <p:cNvGrpSpPr/>
              <p:nvPr/>
            </p:nvGrpSpPr>
            <p:grpSpPr bwMode="auto">
              <a:xfrm>
                <a:off x="5040" y="3024"/>
                <a:ext cx="396" cy="369"/>
                <a:chOff x="3312" y="2727"/>
                <a:chExt cx="396" cy="369"/>
              </a:xfrm>
            </p:grpSpPr>
            <p:sp>
              <p:nvSpPr>
                <p:cNvPr id="12491" name="Oval 441"/>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92" name="Text Box 442"/>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1000</a:t>
                  </a:r>
                </a:p>
              </p:txBody>
            </p:sp>
          </p:grpSp>
          <p:sp>
            <p:nvSpPr>
              <p:cNvPr id="12490" name="Line 443"/>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41" name="Group 444"/>
            <p:cNvGrpSpPr/>
            <p:nvPr/>
          </p:nvGrpSpPr>
          <p:grpSpPr bwMode="auto">
            <a:xfrm>
              <a:off x="2724" y="3024"/>
              <a:ext cx="396" cy="369"/>
              <a:chOff x="3312" y="2727"/>
              <a:chExt cx="396" cy="369"/>
            </a:xfrm>
          </p:grpSpPr>
          <p:sp>
            <p:nvSpPr>
              <p:cNvPr id="12487" name="Oval 445"/>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88" name="Text Box 446"/>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rgbClr val="CC3300"/>
                    </a:solidFill>
                    <a:ea typeface="Gulim" panose="020B0600000101010101" pitchFamily="34" charset="-127"/>
                  </a:rPr>
                  <a:t>1001</a:t>
                </a:r>
              </a:p>
            </p:txBody>
          </p:sp>
        </p:grpSp>
        <p:sp>
          <p:nvSpPr>
            <p:cNvPr id="12442" name="Line 447"/>
            <p:cNvSpPr>
              <a:spLocks noChangeShapeType="1"/>
            </p:cNvSpPr>
            <p:nvPr/>
          </p:nvSpPr>
          <p:spPr bwMode="auto">
            <a:xfrm flipV="1">
              <a:off x="2928" y="2664"/>
              <a:ext cx="0" cy="360"/>
            </a:xfrm>
            <a:prstGeom prst="line">
              <a:avLst/>
            </a:prstGeom>
            <a:noFill/>
            <a:ln w="9525">
              <a:solidFill>
                <a:schemeClr val="tx1"/>
              </a:solidFill>
              <a:round/>
              <a:tailEnd type="triangle" w="med" len="med"/>
            </a:ln>
          </p:spPr>
          <p:txBody>
            <a:bodyPr/>
            <a:lstStyle/>
            <a:p>
              <a:endParaRPr lang="zh-CN" altLang="en-US"/>
            </a:p>
          </p:txBody>
        </p:sp>
        <p:grpSp>
          <p:nvGrpSpPr>
            <p:cNvPr id="12443" name="Group 448"/>
            <p:cNvGrpSpPr/>
            <p:nvPr/>
          </p:nvGrpSpPr>
          <p:grpSpPr bwMode="auto">
            <a:xfrm>
              <a:off x="4464" y="2160"/>
              <a:ext cx="396" cy="369"/>
              <a:chOff x="3312" y="2727"/>
              <a:chExt cx="396" cy="369"/>
            </a:xfrm>
          </p:grpSpPr>
          <p:sp>
            <p:nvSpPr>
              <p:cNvPr id="12485" name="Oval 449"/>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86" name="Text Box 450"/>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1011</a:t>
                </a:r>
              </a:p>
            </p:txBody>
          </p:sp>
        </p:grpSp>
        <p:grpSp>
          <p:nvGrpSpPr>
            <p:cNvPr id="12444" name="Group 451"/>
            <p:cNvGrpSpPr/>
            <p:nvPr/>
          </p:nvGrpSpPr>
          <p:grpSpPr bwMode="auto">
            <a:xfrm>
              <a:off x="5028" y="2140"/>
              <a:ext cx="396" cy="369"/>
              <a:chOff x="3312" y="2727"/>
              <a:chExt cx="396" cy="369"/>
            </a:xfrm>
          </p:grpSpPr>
          <p:sp>
            <p:nvSpPr>
              <p:cNvPr id="12483" name="Oval 452"/>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84" name="Text Box 453"/>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1101</a:t>
                </a:r>
              </a:p>
            </p:txBody>
          </p:sp>
        </p:grpSp>
        <p:grpSp>
          <p:nvGrpSpPr>
            <p:cNvPr id="12445" name="Group 454"/>
            <p:cNvGrpSpPr/>
            <p:nvPr/>
          </p:nvGrpSpPr>
          <p:grpSpPr bwMode="auto">
            <a:xfrm>
              <a:off x="3888" y="2160"/>
              <a:ext cx="576" cy="369"/>
              <a:chOff x="3312" y="2727"/>
              <a:chExt cx="576" cy="369"/>
            </a:xfrm>
          </p:grpSpPr>
          <p:grpSp>
            <p:nvGrpSpPr>
              <p:cNvPr id="12479" name="Group 455"/>
              <p:cNvGrpSpPr/>
              <p:nvPr/>
            </p:nvGrpSpPr>
            <p:grpSpPr bwMode="auto">
              <a:xfrm>
                <a:off x="3312" y="2727"/>
                <a:ext cx="396" cy="369"/>
                <a:chOff x="3312" y="2727"/>
                <a:chExt cx="396" cy="369"/>
              </a:xfrm>
            </p:grpSpPr>
            <p:sp>
              <p:nvSpPr>
                <p:cNvPr id="12481" name="Oval 456"/>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82" name="Text Box 457"/>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1010</a:t>
                  </a:r>
                </a:p>
              </p:txBody>
            </p:sp>
          </p:grpSp>
          <p:sp>
            <p:nvSpPr>
              <p:cNvPr id="12480" name="Line 458"/>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46" name="Group 459"/>
            <p:cNvGrpSpPr/>
            <p:nvPr/>
          </p:nvGrpSpPr>
          <p:grpSpPr bwMode="auto">
            <a:xfrm>
              <a:off x="5040" y="1776"/>
              <a:ext cx="396" cy="369"/>
              <a:chOff x="3312" y="2727"/>
              <a:chExt cx="396" cy="369"/>
            </a:xfrm>
          </p:grpSpPr>
          <p:sp>
            <p:nvSpPr>
              <p:cNvPr id="12477" name="Oval 460"/>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78" name="Text Box 461"/>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1100</a:t>
                </a:r>
              </a:p>
            </p:txBody>
          </p:sp>
        </p:grpSp>
        <p:sp>
          <p:nvSpPr>
            <p:cNvPr id="12447" name="Line 462"/>
            <p:cNvSpPr>
              <a:spLocks noChangeShapeType="1"/>
            </p:cNvSpPr>
            <p:nvPr/>
          </p:nvSpPr>
          <p:spPr bwMode="auto">
            <a:xfrm>
              <a:off x="4848" y="2304"/>
              <a:ext cx="240" cy="192"/>
            </a:xfrm>
            <a:prstGeom prst="line">
              <a:avLst/>
            </a:prstGeom>
            <a:noFill/>
            <a:ln w="9525">
              <a:solidFill>
                <a:schemeClr val="tx1"/>
              </a:solidFill>
              <a:round/>
              <a:tailEnd type="triangle" w="med" len="med"/>
            </a:ln>
          </p:spPr>
          <p:txBody>
            <a:bodyPr/>
            <a:lstStyle/>
            <a:p>
              <a:endParaRPr lang="zh-CN" altLang="en-US"/>
            </a:p>
          </p:txBody>
        </p:sp>
        <p:sp>
          <p:nvSpPr>
            <p:cNvPr id="12448" name="Line 463"/>
            <p:cNvSpPr>
              <a:spLocks noChangeShapeType="1"/>
            </p:cNvSpPr>
            <p:nvPr/>
          </p:nvSpPr>
          <p:spPr bwMode="auto">
            <a:xfrm>
              <a:off x="5232" y="2352"/>
              <a:ext cx="0" cy="118"/>
            </a:xfrm>
            <a:prstGeom prst="line">
              <a:avLst/>
            </a:prstGeom>
            <a:noFill/>
            <a:ln w="9525">
              <a:solidFill>
                <a:schemeClr val="tx1"/>
              </a:solidFill>
              <a:round/>
              <a:tailEnd type="triangle" w="med" len="med"/>
            </a:ln>
          </p:spPr>
          <p:txBody>
            <a:bodyPr/>
            <a:lstStyle/>
            <a:p>
              <a:endParaRPr lang="zh-CN" altLang="en-US"/>
            </a:p>
          </p:txBody>
        </p:sp>
        <p:sp>
          <p:nvSpPr>
            <p:cNvPr id="12449" name="Line 464"/>
            <p:cNvSpPr>
              <a:spLocks noChangeShapeType="1"/>
            </p:cNvSpPr>
            <p:nvPr/>
          </p:nvSpPr>
          <p:spPr bwMode="auto">
            <a:xfrm>
              <a:off x="5232" y="1968"/>
              <a:ext cx="0" cy="192"/>
            </a:xfrm>
            <a:prstGeom prst="line">
              <a:avLst/>
            </a:prstGeom>
            <a:noFill/>
            <a:ln w="9525">
              <a:solidFill>
                <a:schemeClr val="tx1"/>
              </a:solidFill>
              <a:round/>
              <a:tailEnd type="triangle" w="med" len="med"/>
            </a:ln>
          </p:spPr>
          <p:txBody>
            <a:bodyPr/>
            <a:lstStyle/>
            <a:p>
              <a:endParaRPr lang="zh-CN" altLang="en-US"/>
            </a:p>
          </p:txBody>
        </p:sp>
        <p:grpSp>
          <p:nvGrpSpPr>
            <p:cNvPr id="12450" name="Group 465"/>
            <p:cNvGrpSpPr/>
            <p:nvPr/>
          </p:nvGrpSpPr>
          <p:grpSpPr bwMode="auto">
            <a:xfrm>
              <a:off x="3108" y="3388"/>
              <a:ext cx="588" cy="369"/>
              <a:chOff x="4848" y="3024"/>
              <a:chExt cx="588" cy="369"/>
            </a:xfrm>
          </p:grpSpPr>
          <p:grpSp>
            <p:nvGrpSpPr>
              <p:cNvPr id="12473" name="Group 466"/>
              <p:cNvGrpSpPr/>
              <p:nvPr/>
            </p:nvGrpSpPr>
            <p:grpSpPr bwMode="auto">
              <a:xfrm>
                <a:off x="5040" y="3024"/>
                <a:ext cx="396" cy="369"/>
                <a:chOff x="3312" y="2727"/>
                <a:chExt cx="396" cy="369"/>
              </a:xfrm>
            </p:grpSpPr>
            <p:sp>
              <p:nvSpPr>
                <p:cNvPr id="12475" name="Oval 467"/>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76" name="Text Box 468"/>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1110</a:t>
                  </a:r>
                </a:p>
              </p:txBody>
            </p:sp>
          </p:grpSp>
          <p:sp>
            <p:nvSpPr>
              <p:cNvPr id="12474" name="Line 469"/>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2451" name="Group 470"/>
            <p:cNvGrpSpPr/>
            <p:nvPr/>
          </p:nvGrpSpPr>
          <p:grpSpPr bwMode="auto">
            <a:xfrm>
              <a:off x="2712" y="3388"/>
              <a:ext cx="396" cy="369"/>
              <a:chOff x="3312" y="2727"/>
              <a:chExt cx="396" cy="369"/>
            </a:xfrm>
          </p:grpSpPr>
          <p:sp>
            <p:nvSpPr>
              <p:cNvPr id="12471" name="Oval 471"/>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2472" name="Text Box 472"/>
              <p:cNvSpPr txBox="1">
                <a:spLocks noChangeArrowheads="1"/>
              </p:cNvSpPr>
              <p:nvPr/>
            </p:nvSpPr>
            <p:spPr bwMode="auto">
              <a:xfrm>
                <a:off x="3324" y="2727"/>
                <a:ext cx="384" cy="369"/>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1111</a:t>
                </a:r>
              </a:p>
            </p:txBody>
          </p:sp>
        </p:grpSp>
        <p:sp>
          <p:nvSpPr>
            <p:cNvPr id="12452" name="Text Box 473"/>
            <p:cNvSpPr txBox="1">
              <a:spLocks noChangeArrowheads="1"/>
            </p:cNvSpPr>
            <p:nvPr/>
          </p:nvSpPr>
          <p:spPr bwMode="auto">
            <a:xfrm>
              <a:off x="3102" y="238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53" name="Text Box 474"/>
            <p:cNvSpPr txBox="1">
              <a:spLocks noChangeArrowheads="1"/>
            </p:cNvSpPr>
            <p:nvPr/>
          </p:nvSpPr>
          <p:spPr bwMode="auto">
            <a:xfrm>
              <a:off x="3648" y="240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54" name="Text Box 475"/>
            <p:cNvSpPr txBox="1">
              <a:spLocks noChangeArrowheads="1"/>
            </p:cNvSpPr>
            <p:nvPr/>
          </p:nvSpPr>
          <p:spPr bwMode="auto">
            <a:xfrm>
              <a:off x="4224" y="240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55" name="Text Box 476"/>
            <p:cNvSpPr txBox="1">
              <a:spLocks noChangeArrowheads="1"/>
            </p:cNvSpPr>
            <p:nvPr/>
          </p:nvSpPr>
          <p:spPr bwMode="auto">
            <a:xfrm>
              <a:off x="4800" y="240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56" name="Text Box 477"/>
            <p:cNvSpPr txBox="1">
              <a:spLocks noChangeArrowheads="1"/>
            </p:cNvSpPr>
            <p:nvPr/>
          </p:nvSpPr>
          <p:spPr bwMode="auto">
            <a:xfrm>
              <a:off x="5232" y="2736"/>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57" name="Text Box 478"/>
            <p:cNvSpPr txBox="1">
              <a:spLocks noChangeArrowheads="1"/>
            </p:cNvSpPr>
            <p:nvPr/>
          </p:nvSpPr>
          <p:spPr bwMode="auto">
            <a:xfrm>
              <a:off x="4896" y="310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58" name="Text Box 479"/>
            <p:cNvSpPr txBox="1">
              <a:spLocks noChangeArrowheads="1"/>
            </p:cNvSpPr>
            <p:nvPr/>
          </p:nvSpPr>
          <p:spPr bwMode="auto">
            <a:xfrm>
              <a:off x="4272" y="310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59" name="Text Box 480"/>
            <p:cNvSpPr txBox="1">
              <a:spLocks noChangeArrowheads="1"/>
            </p:cNvSpPr>
            <p:nvPr/>
          </p:nvSpPr>
          <p:spPr bwMode="auto">
            <a:xfrm>
              <a:off x="3696" y="310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60" name="Text Box 481"/>
            <p:cNvSpPr txBox="1">
              <a:spLocks noChangeArrowheads="1"/>
            </p:cNvSpPr>
            <p:nvPr/>
          </p:nvSpPr>
          <p:spPr bwMode="auto">
            <a:xfrm>
              <a:off x="3120" y="3100"/>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61" name="Text Box 482"/>
            <p:cNvSpPr txBox="1">
              <a:spLocks noChangeArrowheads="1"/>
            </p:cNvSpPr>
            <p:nvPr/>
          </p:nvSpPr>
          <p:spPr bwMode="auto">
            <a:xfrm>
              <a:off x="3120" y="3456"/>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62" name="Text Box 483"/>
            <p:cNvSpPr txBox="1">
              <a:spLocks noChangeArrowheads="1"/>
            </p:cNvSpPr>
            <p:nvPr/>
          </p:nvSpPr>
          <p:spPr bwMode="auto">
            <a:xfrm>
              <a:off x="4272" y="2064"/>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63" name="Text Box 484"/>
            <p:cNvSpPr txBox="1">
              <a:spLocks noChangeArrowheads="1"/>
            </p:cNvSpPr>
            <p:nvPr/>
          </p:nvSpPr>
          <p:spPr bwMode="auto">
            <a:xfrm>
              <a:off x="5232" y="1948"/>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2464" name="Text Box 485"/>
            <p:cNvSpPr txBox="1">
              <a:spLocks noChangeArrowheads="1"/>
            </p:cNvSpPr>
            <p:nvPr/>
          </p:nvSpPr>
          <p:spPr bwMode="auto">
            <a:xfrm>
              <a:off x="5232" y="2304"/>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a:t>
              </a:r>
            </a:p>
          </p:txBody>
        </p:sp>
        <p:sp>
          <p:nvSpPr>
            <p:cNvPr id="12465" name="Text Box 486"/>
            <p:cNvSpPr txBox="1">
              <a:spLocks noChangeArrowheads="1"/>
            </p:cNvSpPr>
            <p:nvPr/>
          </p:nvSpPr>
          <p:spPr bwMode="auto">
            <a:xfrm>
              <a:off x="4848" y="2208"/>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a:t>
              </a:r>
            </a:p>
          </p:txBody>
        </p:sp>
        <p:sp>
          <p:nvSpPr>
            <p:cNvPr id="12466" name="Text Box 487"/>
            <p:cNvSpPr txBox="1">
              <a:spLocks noChangeArrowheads="1"/>
            </p:cNvSpPr>
            <p:nvPr/>
          </p:nvSpPr>
          <p:spPr bwMode="auto">
            <a:xfrm>
              <a:off x="2736" y="2736"/>
              <a:ext cx="288" cy="213"/>
            </a:xfrm>
            <a:prstGeom prst="rect">
              <a:avLst/>
            </a:prstGeom>
            <a:noFill/>
            <a:ln w="9525">
              <a:noFill/>
              <a:miter lim="800000"/>
            </a:ln>
          </p:spPr>
          <p:txBody>
            <a:bodyPr>
              <a:spAutoFit/>
            </a:bodyPr>
            <a:lstStyle/>
            <a:p>
              <a:pPr algn="just" eaLnBrk="0" hangingPunct="0"/>
              <a:r>
                <a:rPr lang="en-US" altLang="zh-CN" sz="1600">
                  <a:solidFill>
                    <a:srgbClr val="FF0000"/>
                  </a:solidFill>
                  <a:ea typeface="Gulim" panose="020B0600000101010101" pitchFamily="34" charset="-127"/>
                </a:rPr>
                <a:t>/1</a:t>
              </a:r>
            </a:p>
          </p:txBody>
        </p:sp>
        <p:sp>
          <p:nvSpPr>
            <p:cNvPr id="12467" name="Text Box 488"/>
            <p:cNvSpPr txBox="1">
              <a:spLocks noChangeArrowheads="1"/>
            </p:cNvSpPr>
            <p:nvPr/>
          </p:nvSpPr>
          <p:spPr bwMode="auto">
            <a:xfrm>
              <a:off x="2544" y="2592"/>
              <a:ext cx="288" cy="21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a:t>
              </a:r>
            </a:p>
          </p:txBody>
        </p:sp>
        <p:graphicFrame>
          <p:nvGraphicFramePr>
            <p:cNvPr id="12290" name="Object 88"/>
            <p:cNvGraphicFramePr>
              <a:graphicFrameLocks noChangeAspect="1"/>
            </p:cNvGraphicFramePr>
            <p:nvPr/>
          </p:nvGraphicFramePr>
          <p:xfrm>
            <a:off x="2796" y="2070"/>
            <a:ext cx="944" cy="256"/>
          </p:xfrm>
          <a:graphic>
            <a:graphicData uri="http://schemas.openxmlformats.org/presentationml/2006/ole">
              <mc:AlternateContent xmlns:mc="http://schemas.openxmlformats.org/markup-compatibility/2006">
                <mc:Choice xmlns:v="urn:schemas-microsoft-com:vml" Requires="v">
                  <p:oleObj spid="_x0000_s338946" name="Equation" r:id="rId4" imgW="888365" imgH="241300" progId="Equation.3">
                    <p:embed/>
                  </p:oleObj>
                </mc:Choice>
                <mc:Fallback>
                  <p:oleObj name="Equation" r:id="rId4" imgW="888365" imgH="241300" progId="Equation.3">
                    <p:embed/>
                    <p:pic>
                      <p:nvPicPr>
                        <p:cNvPr id="0" name="Object 8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6" y="2070"/>
                          <a:ext cx="944" cy="256"/>
                        </a:xfrm>
                        <a:prstGeom prst="rect">
                          <a:avLst/>
                        </a:prstGeom>
                        <a:noFill/>
                        <a:extLst>
                          <a:ext uri="{909E8E84-426E-40DD-AFC4-6F175D3DCCD1}">
                            <a14:hiddenFill xmlns:a14="http://schemas.microsoft.com/office/drawing/2010/main">
                              <a:solidFill>
                                <a:schemeClr val="bg2"/>
                              </a:solidFill>
                            </a14:hiddenFill>
                          </a:ext>
                        </a:extLst>
                      </p:spPr>
                    </p:pic>
                  </p:oleObj>
                </mc:Fallback>
              </mc:AlternateContent>
            </a:graphicData>
          </a:graphic>
        </p:graphicFrame>
        <p:sp>
          <p:nvSpPr>
            <p:cNvPr id="12468" name="Line 490"/>
            <p:cNvSpPr>
              <a:spLocks noChangeShapeType="1"/>
            </p:cNvSpPr>
            <p:nvPr/>
          </p:nvSpPr>
          <p:spPr bwMode="auto">
            <a:xfrm flipV="1">
              <a:off x="2640" y="2640"/>
              <a:ext cx="192" cy="192"/>
            </a:xfrm>
            <a:prstGeom prst="line">
              <a:avLst/>
            </a:prstGeom>
            <a:noFill/>
            <a:ln w="9525">
              <a:solidFill>
                <a:schemeClr val="tx1"/>
              </a:solidFill>
              <a:round/>
              <a:tailEnd type="triangle" w="med" len="med"/>
            </a:ln>
          </p:spPr>
          <p:txBody>
            <a:bodyPr/>
            <a:lstStyle/>
            <a:p>
              <a:endParaRPr lang="zh-CN" altLang="en-US"/>
            </a:p>
          </p:txBody>
        </p:sp>
        <p:sp>
          <p:nvSpPr>
            <p:cNvPr id="12469" name="Line 491"/>
            <p:cNvSpPr>
              <a:spLocks noChangeShapeType="1"/>
            </p:cNvSpPr>
            <p:nvPr/>
          </p:nvSpPr>
          <p:spPr bwMode="auto">
            <a:xfrm>
              <a:off x="2640" y="2832"/>
              <a:ext cx="0" cy="528"/>
            </a:xfrm>
            <a:prstGeom prst="line">
              <a:avLst/>
            </a:prstGeom>
            <a:noFill/>
            <a:ln w="9525">
              <a:solidFill>
                <a:schemeClr val="tx1"/>
              </a:solidFill>
              <a:round/>
            </a:ln>
          </p:spPr>
          <p:txBody>
            <a:bodyPr/>
            <a:lstStyle/>
            <a:p>
              <a:endParaRPr lang="zh-CN" altLang="en-US"/>
            </a:p>
          </p:txBody>
        </p:sp>
        <p:sp>
          <p:nvSpPr>
            <p:cNvPr id="12470" name="Line 492"/>
            <p:cNvSpPr>
              <a:spLocks noChangeShapeType="1"/>
            </p:cNvSpPr>
            <p:nvPr/>
          </p:nvSpPr>
          <p:spPr bwMode="auto">
            <a:xfrm>
              <a:off x="2640" y="3360"/>
              <a:ext cx="96" cy="48"/>
            </a:xfrm>
            <a:prstGeom prst="line">
              <a:avLst/>
            </a:prstGeom>
            <a:noFill/>
            <a:ln w="9525">
              <a:solidFill>
                <a:schemeClr val="tx1"/>
              </a:solidFill>
              <a:round/>
            </a:ln>
          </p:spPr>
          <p:txBody>
            <a:bodyPr/>
            <a:lstStyle/>
            <a:p>
              <a:endParaRPr lang="zh-CN" altLang="en-US"/>
            </a:p>
          </p:txBody>
        </p:sp>
      </p:grpSp>
      <p:sp>
        <p:nvSpPr>
          <p:cNvPr id="207" name="矩形 206"/>
          <p:cNvSpPr>
            <a:spLocks noChangeArrowheads="1"/>
          </p:cNvSpPr>
          <p:nvPr/>
        </p:nvSpPr>
        <p:spPr bwMode="auto">
          <a:xfrm>
            <a:off x="1909763" y="1827213"/>
            <a:ext cx="3714750" cy="1691005"/>
          </a:xfrm>
          <a:prstGeom prst="rect">
            <a:avLst/>
          </a:prstGeom>
          <a:noFill/>
          <a:ln w="9525">
            <a:noFill/>
            <a:miter lim="800000"/>
          </a:ln>
        </p:spPr>
        <p:txBody>
          <a:bodyPr>
            <a:spAutoFit/>
          </a:bodyPr>
          <a:lstStyle/>
          <a:p>
            <a:pPr marL="268605" indent="-268605" algn="just" eaLnBrk="0" hangingPunct="0">
              <a:lnSpc>
                <a:spcPct val="110000"/>
              </a:lnSpc>
              <a:spcBef>
                <a:spcPts val="600"/>
              </a:spcBef>
              <a:buClr>
                <a:srgbClr val="006666"/>
              </a:buClr>
              <a:buSzPct val="110000"/>
              <a:buFont typeface="Wingdings" panose="05000000000000000000" pitchFamily="2" charset="2"/>
              <a:buChar char="w"/>
            </a:pPr>
            <a:r>
              <a:rPr lang="zh-CN" altLang="en-US">
                <a:latin typeface="宋体" panose="02010600030101010101" pitchFamily="2" charset="-122"/>
                <a:ea typeface="楷体_GB2312" pitchFamily="49" charset="-122"/>
              </a:rPr>
              <a:t>画状态转换图时一定要画出全部状态的变化。</a:t>
            </a:r>
          </a:p>
          <a:p>
            <a:pPr marL="268605" indent="-268605" algn="just" eaLnBrk="0" hangingPunct="0">
              <a:lnSpc>
                <a:spcPct val="110000"/>
              </a:lnSpc>
              <a:spcBef>
                <a:spcPts val="600"/>
              </a:spcBef>
              <a:buClr>
                <a:srgbClr val="006666"/>
              </a:buClr>
              <a:buSzPct val="110000"/>
              <a:buFont typeface="Wingdings" panose="05000000000000000000" pitchFamily="2" charset="2"/>
              <a:buChar char="w"/>
            </a:pPr>
            <a:r>
              <a:rPr lang="zh-CN" altLang="en-US">
                <a:latin typeface="宋体" panose="02010600030101010101" pitchFamily="2" charset="-122"/>
                <a:ea typeface="楷体_GB2312" pitchFamily="49" charset="-122"/>
              </a:rPr>
              <a:t>画时序图时只画出有效状态构成的计数循环的变化；注意触发器的时钟特性！</a:t>
            </a:r>
          </a:p>
        </p:txBody>
      </p:sp>
      <p:grpSp>
        <p:nvGrpSpPr>
          <p:cNvPr id="29" name="Group 135"/>
          <p:cNvGrpSpPr/>
          <p:nvPr/>
        </p:nvGrpSpPr>
        <p:grpSpPr bwMode="auto">
          <a:xfrm>
            <a:off x="2514600" y="3908425"/>
            <a:ext cx="6172200" cy="2543704"/>
            <a:chOff x="624" y="1296"/>
            <a:chExt cx="3888" cy="1748"/>
          </a:xfrm>
        </p:grpSpPr>
        <p:grpSp>
          <p:nvGrpSpPr>
            <p:cNvPr id="12302" name="Group 127"/>
            <p:cNvGrpSpPr/>
            <p:nvPr/>
          </p:nvGrpSpPr>
          <p:grpSpPr bwMode="auto">
            <a:xfrm>
              <a:off x="960" y="1344"/>
              <a:ext cx="3552" cy="1680"/>
              <a:chOff x="960" y="1344"/>
              <a:chExt cx="3552" cy="1680"/>
            </a:xfrm>
          </p:grpSpPr>
          <p:grpSp>
            <p:nvGrpSpPr>
              <p:cNvPr id="12310" name="Group 59"/>
              <p:cNvGrpSpPr/>
              <p:nvPr/>
            </p:nvGrpSpPr>
            <p:grpSpPr bwMode="auto">
              <a:xfrm>
                <a:off x="960" y="1344"/>
                <a:ext cx="3552" cy="144"/>
                <a:chOff x="624" y="1536"/>
                <a:chExt cx="3552" cy="144"/>
              </a:xfrm>
            </p:grpSpPr>
            <p:grpSp>
              <p:nvGrpSpPr>
                <p:cNvPr id="12375" name="Group 13"/>
                <p:cNvGrpSpPr/>
                <p:nvPr/>
              </p:nvGrpSpPr>
              <p:grpSpPr bwMode="auto">
                <a:xfrm>
                  <a:off x="624" y="1536"/>
                  <a:ext cx="672" cy="144"/>
                  <a:chOff x="624" y="1536"/>
                  <a:chExt cx="672" cy="144"/>
                </a:xfrm>
              </p:grpSpPr>
              <p:grpSp>
                <p:nvGrpSpPr>
                  <p:cNvPr id="12421" name="Group 7"/>
                  <p:cNvGrpSpPr/>
                  <p:nvPr/>
                </p:nvGrpSpPr>
                <p:grpSpPr bwMode="auto">
                  <a:xfrm>
                    <a:off x="624" y="1536"/>
                    <a:ext cx="336" cy="144"/>
                    <a:chOff x="624" y="1536"/>
                    <a:chExt cx="336" cy="144"/>
                  </a:xfrm>
                </p:grpSpPr>
                <p:sp>
                  <p:nvSpPr>
                    <p:cNvPr id="12427" name="Line 3"/>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428" name="Line 4"/>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429" name="Line 5"/>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430" name="Line 6"/>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nvGrpSpPr>
                  <p:cNvPr id="12422" name="Group 8"/>
                  <p:cNvGrpSpPr/>
                  <p:nvPr/>
                </p:nvGrpSpPr>
                <p:grpSpPr bwMode="auto">
                  <a:xfrm>
                    <a:off x="960" y="1536"/>
                    <a:ext cx="336" cy="144"/>
                    <a:chOff x="624" y="1536"/>
                    <a:chExt cx="336" cy="144"/>
                  </a:xfrm>
                </p:grpSpPr>
                <p:sp>
                  <p:nvSpPr>
                    <p:cNvPr id="12423" name="Line 9"/>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424" name="Line 10"/>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425" name="Line 11"/>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426" name="Line 12"/>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grpSp>
              <p:nvGrpSpPr>
                <p:cNvPr id="12376" name="Group 14"/>
                <p:cNvGrpSpPr/>
                <p:nvPr/>
              </p:nvGrpSpPr>
              <p:grpSpPr bwMode="auto">
                <a:xfrm>
                  <a:off x="1296" y="1536"/>
                  <a:ext cx="672" cy="144"/>
                  <a:chOff x="624" y="1536"/>
                  <a:chExt cx="672" cy="144"/>
                </a:xfrm>
              </p:grpSpPr>
              <p:grpSp>
                <p:nvGrpSpPr>
                  <p:cNvPr id="12411" name="Group 15"/>
                  <p:cNvGrpSpPr/>
                  <p:nvPr/>
                </p:nvGrpSpPr>
                <p:grpSpPr bwMode="auto">
                  <a:xfrm>
                    <a:off x="624" y="1536"/>
                    <a:ext cx="336" cy="144"/>
                    <a:chOff x="624" y="1536"/>
                    <a:chExt cx="336" cy="144"/>
                  </a:xfrm>
                </p:grpSpPr>
                <p:sp>
                  <p:nvSpPr>
                    <p:cNvPr id="12417" name="Line 16"/>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418" name="Line 17"/>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419" name="Line 18"/>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420" name="Line 19"/>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nvGrpSpPr>
                  <p:cNvPr id="12412" name="Group 20"/>
                  <p:cNvGrpSpPr/>
                  <p:nvPr/>
                </p:nvGrpSpPr>
                <p:grpSpPr bwMode="auto">
                  <a:xfrm>
                    <a:off x="960" y="1536"/>
                    <a:ext cx="336" cy="144"/>
                    <a:chOff x="624" y="1536"/>
                    <a:chExt cx="336" cy="144"/>
                  </a:xfrm>
                </p:grpSpPr>
                <p:sp>
                  <p:nvSpPr>
                    <p:cNvPr id="12413" name="Line 21"/>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414" name="Line 22"/>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415" name="Line 23"/>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416" name="Line 24"/>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grpSp>
              <p:nvGrpSpPr>
                <p:cNvPr id="12377" name="Group 25"/>
                <p:cNvGrpSpPr/>
                <p:nvPr/>
              </p:nvGrpSpPr>
              <p:grpSpPr bwMode="auto">
                <a:xfrm>
                  <a:off x="1968" y="1536"/>
                  <a:ext cx="672" cy="144"/>
                  <a:chOff x="624" y="1536"/>
                  <a:chExt cx="672" cy="144"/>
                </a:xfrm>
              </p:grpSpPr>
              <p:grpSp>
                <p:nvGrpSpPr>
                  <p:cNvPr id="12401" name="Group 26"/>
                  <p:cNvGrpSpPr/>
                  <p:nvPr/>
                </p:nvGrpSpPr>
                <p:grpSpPr bwMode="auto">
                  <a:xfrm>
                    <a:off x="624" y="1536"/>
                    <a:ext cx="336" cy="144"/>
                    <a:chOff x="624" y="1536"/>
                    <a:chExt cx="336" cy="144"/>
                  </a:xfrm>
                </p:grpSpPr>
                <p:sp>
                  <p:nvSpPr>
                    <p:cNvPr id="12407" name="Line 27"/>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408" name="Line 28"/>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409" name="Line 29"/>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410" name="Line 30"/>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nvGrpSpPr>
                  <p:cNvPr id="12402" name="Group 31"/>
                  <p:cNvGrpSpPr/>
                  <p:nvPr/>
                </p:nvGrpSpPr>
                <p:grpSpPr bwMode="auto">
                  <a:xfrm>
                    <a:off x="960" y="1536"/>
                    <a:ext cx="336" cy="144"/>
                    <a:chOff x="624" y="1536"/>
                    <a:chExt cx="336" cy="144"/>
                  </a:xfrm>
                </p:grpSpPr>
                <p:sp>
                  <p:nvSpPr>
                    <p:cNvPr id="12403" name="Line 32"/>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404" name="Line 33"/>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405" name="Line 34"/>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406" name="Line 35"/>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grpSp>
              <p:nvGrpSpPr>
                <p:cNvPr id="12378" name="Group 36"/>
                <p:cNvGrpSpPr/>
                <p:nvPr/>
              </p:nvGrpSpPr>
              <p:grpSpPr bwMode="auto">
                <a:xfrm>
                  <a:off x="2640" y="1536"/>
                  <a:ext cx="672" cy="144"/>
                  <a:chOff x="624" y="1536"/>
                  <a:chExt cx="672" cy="144"/>
                </a:xfrm>
              </p:grpSpPr>
              <p:grpSp>
                <p:nvGrpSpPr>
                  <p:cNvPr id="12391" name="Group 37"/>
                  <p:cNvGrpSpPr/>
                  <p:nvPr/>
                </p:nvGrpSpPr>
                <p:grpSpPr bwMode="auto">
                  <a:xfrm>
                    <a:off x="624" y="1536"/>
                    <a:ext cx="336" cy="144"/>
                    <a:chOff x="624" y="1536"/>
                    <a:chExt cx="336" cy="144"/>
                  </a:xfrm>
                </p:grpSpPr>
                <p:sp>
                  <p:nvSpPr>
                    <p:cNvPr id="12397" name="Line 38"/>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398" name="Line 39"/>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399" name="Line 40"/>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400" name="Line 41"/>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nvGrpSpPr>
                  <p:cNvPr id="12392" name="Group 42"/>
                  <p:cNvGrpSpPr/>
                  <p:nvPr/>
                </p:nvGrpSpPr>
                <p:grpSpPr bwMode="auto">
                  <a:xfrm>
                    <a:off x="960" y="1536"/>
                    <a:ext cx="336" cy="144"/>
                    <a:chOff x="624" y="1536"/>
                    <a:chExt cx="336" cy="144"/>
                  </a:xfrm>
                </p:grpSpPr>
                <p:sp>
                  <p:nvSpPr>
                    <p:cNvPr id="12393" name="Line 43"/>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394" name="Line 44"/>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395" name="Line 45"/>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396" name="Line 46"/>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grpSp>
              <p:nvGrpSpPr>
                <p:cNvPr id="12379" name="Group 47"/>
                <p:cNvGrpSpPr/>
                <p:nvPr/>
              </p:nvGrpSpPr>
              <p:grpSpPr bwMode="auto">
                <a:xfrm>
                  <a:off x="3312" y="1536"/>
                  <a:ext cx="672" cy="144"/>
                  <a:chOff x="624" y="1536"/>
                  <a:chExt cx="672" cy="144"/>
                </a:xfrm>
              </p:grpSpPr>
              <p:grpSp>
                <p:nvGrpSpPr>
                  <p:cNvPr id="12381" name="Group 48"/>
                  <p:cNvGrpSpPr/>
                  <p:nvPr/>
                </p:nvGrpSpPr>
                <p:grpSpPr bwMode="auto">
                  <a:xfrm>
                    <a:off x="624" y="1536"/>
                    <a:ext cx="336" cy="144"/>
                    <a:chOff x="624" y="1536"/>
                    <a:chExt cx="336" cy="144"/>
                  </a:xfrm>
                </p:grpSpPr>
                <p:sp>
                  <p:nvSpPr>
                    <p:cNvPr id="12387" name="Line 49"/>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388" name="Line 50"/>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389" name="Line 51"/>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390" name="Line 52"/>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nvGrpSpPr>
                  <p:cNvPr id="12382" name="Group 53"/>
                  <p:cNvGrpSpPr/>
                  <p:nvPr/>
                </p:nvGrpSpPr>
                <p:grpSpPr bwMode="auto">
                  <a:xfrm>
                    <a:off x="960" y="1536"/>
                    <a:ext cx="336" cy="144"/>
                    <a:chOff x="624" y="1536"/>
                    <a:chExt cx="336" cy="144"/>
                  </a:xfrm>
                </p:grpSpPr>
                <p:sp>
                  <p:nvSpPr>
                    <p:cNvPr id="12383" name="Line 54"/>
                    <p:cNvSpPr>
                      <a:spLocks noChangeShapeType="1"/>
                    </p:cNvSpPr>
                    <p:nvPr/>
                  </p:nvSpPr>
                  <p:spPr bwMode="auto">
                    <a:xfrm>
                      <a:off x="624" y="1680"/>
                      <a:ext cx="192" cy="0"/>
                    </a:xfrm>
                    <a:prstGeom prst="line">
                      <a:avLst/>
                    </a:prstGeom>
                    <a:noFill/>
                    <a:ln w="19050">
                      <a:solidFill>
                        <a:schemeClr val="tx2"/>
                      </a:solidFill>
                      <a:round/>
                    </a:ln>
                  </p:spPr>
                  <p:txBody>
                    <a:bodyPr/>
                    <a:lstStyle/>
                    <a:p>
                      <a:endParaRPr lang="zh-CN" altLang="en-US"/>
                    </a:p>
                  </p:txBody>
                </p:sp>
                <p:sp>
                  <p:nvSpPr>
                    <p:cNvPr id="12384" name="Line 55"/>
                    <p:cNvSpPr>
                      <a:spLocks noChangeShapeType="1"/>
                    </p:cNvSpPr>
                    <p:nvPr/>
                  </p:nvSpPr>
                  <p:spPr bwMode="auto">
                    <a:xfrm flipV="1">
                      <a:off x="816" y="1536"/>
                      <a:ext cx="0" cy="144"/>
                    </a:xfrm>
                    <a:prstGeom prst="line">
                      <a:avLst/>
                    </a:prstGeom>
                    <a:noFill/>
                    <a:ln w="19050">
                      <a:solidFill>
                        <a:schemeClr val="tx2"/>
                      </a:solidFill>
                      <a:round/>
                    </a:ln>
                  </p:spPr>
                  <p:txBody>
                    <a:bodyPr/>
                    <a:lstStyle/>
                    <a:p>
                      <a:endParaRPr lang="zh-CN" altLang="en-US"/>
                    </a:p>
                  </p:txBody>
                </p:sp>
                <p:sp>
                  <p:nvSpPr>
                    <p:cNvPr id="12385" name="Line 56"/>
                    <p:cNvSpPr>
                      <a:spLocks noChangeShapeType="1"/>
                    </p:cNvSpPr>
                    <p:nvPr/>
                  </p:nvSpPr>
                  <p:spPr bwMode="auto">
                    <a:xfrm>
                      <a:off x="816" y="1536"/>
                      <a:ext cx="144" cy="0"/>
                    </a:xfrm>
                    <a:prstGeom prst="line">
                      <a:avLst/>
                    </a:prstGeom>
                    <a:noFill/>
                    <a:ln w="19050">
                      <a:solidFill>
                        <a:schemeClr val="tx2"/>
                      </a:solidFill>
                      <a:round/>
                    </a:ln>
                  </p:spPr>
                  <p:txBody>
                    <a:bodyPr/>
                    <a:lstStyle/>
                    <a:p>
                      <a:endParaRPr lang="zh-CN" altLang="en-US"/>
                    </a:p>
                  </p:txBody>
                </p:sp>
                <p:sp>
                  <p:nvSpPr>
                    <p:cNvPr id="12386" name="Line 57"/>
                    <p:cNvSpPr>
                      <a:spLocks noChangeShapeType="1"/>
                    </p:cNvSpPr>
                    <p:nvPr/>
                  </p:nvSpPr>
                  <p:spPr bwMode="auto">
                    <a:xfrm>
                      <a:off x="960" y="1536"/>
                      <a:ext cx="0" cy="144"/>
                    </a:xfrm>
                    <a:prstGeom prst="line">
                      <a:avLst/>
                    </a:prstGeom>
                    <a:noFill/>
                    <a:ln w="19050">
                      <a:solidFill>
                        <a:srgbClr val="FF0000"/>
                      </a:solidFill>
                      <a:round/>
                    </a:ln>
                  </p:spPr>
                  <p:txBody>
                    <a:bodyPr/>
                    <a:lstStyle/>
                    <a:p>
                      <a:endParaRPr lang="zh-CN" altLang="en-US"/>
                    </a:p>
                  </p:txBody>
                </p:sp>
              </p:grpSp>
            </p:grpSp>
            <p:sp>
              <p:nvSpPr>
                <p:cNvPr id="12380" name="Line 58"/>
                <p:cNvSpPr>
                  <a:spLocks noChangeShapeType="1"/>
                </p:cNvSpPr>
                <p:nvPr/>
              </p:nvSpPr>
              <p:spPr bwMode="auto">
                <a:xfrm>
                  <a:off x="3984" y="1680"/>
                  <a:ext cx="192" cy="0"/>
                </a:xfrm>
                <a:prstGeom prst="line">
                  <a:avLst/>
                </a:prstGeom>
                <a:noFill/>
                <a:ln w="19050">
                  <a:solidFill>
                    <a:schemeClr val="tx2"/>
                  </a:solidFill>
                  <a:round/>
                </a:ln>
              </p:spPr>
              <p:txBody>
                <a:bodyPr/>
                <a:lstStyle/>
                <a:p>
                  <a:endParaRPr lang="zh-CN" altLang="en-US"/>
                </a:p>
              </p:txBody>
            </p:sp>
          </p:grpSp>
          <p:sp>
            <p:nvSpPr>
              <p:cNvPr id="12311" name="Line 60"/>
              <p:cNvSpPr>
                <a:spLocks noChangeShapeType="1"/>
              </p:cNvSpPr>
              <p:nvPr/>
            </p:nvSpPr>
            <p:spPr bwMode="auto">
              <a:xfrm>
                <a:off x="1296" y="1488"/>
                <a:ext cx="0" cy="1536"/>
              </a:xfrm>
              <a:prstGeom prst="line">
                <a:avLst/>
              </a:prstGeom>
              <a:noFill/>
              <a:ln w="9525">
                <a:solidFill>
                  <a:schemeClr val="tx1"/>
                </a:solidFill>
                <a:prstDash val="dash"/>
                <a:round/>
              </a:ln>
            </p:spPr>
            <p:txBody>
              <a:bodyPr/>
              <a:lstStyle/>
              <a:p>
                <a:endParaRPr lang="zh-CN" altLang="en-US"/>
              </a:p>
            </p:txBody>
          </p:sp>
          <p:sp>
            <p:nvSpPr>
              <p:cNvPr id="12312" name="Line 61"/>
              <p:cNvSpPr>
                <a:spLocks noChangeShapeType="1"/>
              </p:cNvSpPr>
              <p:nvPr/>
            </p:nvSpPr>
            <p:spPr bwMode="auto">
              <a:xfrm>
                <a:off x="1632" y="1488"/>
                <a:ext cx="0" cy="1536"/>
              </a:xfrm>
              <a:prstGeom prst="line">
                <a:avLst/>
              </a:prstGeom>
              <a:noFill/>
              <a:ln w="9525">
                <a:solidFill>
                  <a:schemeClr val="tx1"/>
                </a:solidFill>
                <a:prstDash val="dash"/>
                <a:round/>
              </a:ln>
            </p:spPr>
            <p:txBody>
              <a:bodyPr/>
              <a:lstStyle/>
              <a:p>
                <a:endParaRPr lang="zh-CN" altLang="en-US"/>
              </a:p>
            </p:txBody>
          </p:sp>
          <p:sp>
            <p:nvSpPr>
              <p:cNvPr id="12313" name="Line 62"/>
              <p:cNvSpPr>
                <a:spLocks noChangeShapeType="1"/>
              </p:cNvSpPr>
              <p:nvPr/>
            </p:nvSpPr>
            <p:spPr bwMode="auto">
              <a:xfrm>
                <a:off x="1968" y="1488"/>
                <a:ext cx="0" cy="1536"/>
              </a:xfrm>
              <a:prstGeom prst="line">
                <a:avLst/>
              </a:prstGeom>
              <a:noFill/>
              <a:ln w="9525">
                <a:solidFill>
                  <a:schemeClr val="tx1"/>
                </a:solidFill>
                <a:prstDash val="dash"/>
                <a:round/>
              </a:ln>
            </p:spPr>
            <p:txBody>
              <a:bodyPr/>
              <a:lstStyle/>
              <a:p>
                <a:endParaRPr lang="zh-CN" altLang="en-US"/>
              </a:p>
            </p:txBody>
          </p:sp>
          <p:sp>
            <p:nvSpPr>
              <p:cNvPr id="12314" name="Line 63"/>
              <p:cNvSpPr>
                <a:spLocks noChangeShapeType="1"/>
              </p:cNvSpPr>
              <p:nvPr/>
            </p:nvSpPr>
            <p:spPr bwMode="auto">
              <a:xfrm>
                <a:off x="2304" y="1488"/>
                <a:ext cx="0" cy="1536"/>
              </a:xfrm>
              <a:prstGeom prst="line">
                <a:avLst/>
              </a:prstGeom>
              <a:noFill/>
              <a:ln w="9525">
                <a:solidFill>
                  <a:schemeClr val="tx1"/>
                </a:solidFill>
                <a:prstDash val="dash"/>
                <a:round/>
              </a:ln>
            </p:spPr>
            <p:txBody>
              <a:bodyPr/>
              <a:lstStyle/>
              <a:p>
                <a:endParaRPr lang="zh-CN" altLang="en-US"/>
              </a:p>
            </p:txBody>
          </p:sp>
          <p:sp>
            <p:nvSpPr>
              <p:cNvPr id="12315" name="Line 64"/>
              <p:cNvSpPr>
                <a:spLocks noChangeShapeType="1"/>
              </p:cNvSpPr>
              <p:nvPr/>
            </p:nvSpPr>
            <p:spPr bwMode="auto">
              <a:xfrm>
                <a:off x="2640" y="1488"/>
                <a:ext cx="0" cy="1536"/>
              </a:xfrm>
              <a:prstGeom prst="line">
                <a:avLst/>
              </a:prstGeom>
              <a:noFill/>
              <a:ln w="9525">
                <a:solidFill>
                  <a:schemeClr val="tx1"/>
                </a:solidFill>
                <a:prstDash val="dash"/>
                <a:round/>
              </a:ln>
            </p:spPr>
            <p:txBody>
              <a:bodyPr/>
              <a:lstStyle/>
              <a:p>
                <a:endParaRPr lang="zh-CN" altLang="en-US"/>
              </a:p>
            </p:txBody>
          </p:sp>
          <p:sp>
            <p:nvSpPr>
              <p:cNvPr id="12316" name="Line 65"/>
              <p:cNvSpPr>
                <a:spLocks noChangeShapeType="1"/>
              </p:cNvSpPr>
              <p:nvPr/>
            </p:nvSpPr>
            <p:spPr bwMode="auto">
              <a:xfrm>
                <a:off x="2976" y="1488"/>
                <a:ext cx="0" cy="1536"/>
              </a:xfrm>
              <a:prstGeom prst="line">
                <a:avLst/>
              </a:prstGeom>
              <a:noFill/>
              <a:ln w="9525">
                <a:solidFill>
                  <a:schemeClr val="tx1"/>
                </a:solidFill>
                <a:prstDash val="dash"/>
                <a:round/>
              </a:ln>
            </p:spPr>
            <p:txBody>
              <a:bodyPr/>
              <a:lstStyle/>
              <a:p>
                <a:endParaRPr lang="zh-CN" altLang="en-US"/>
              </a:p>
            </p:txBody>
          </p:sp>
          <p:sp>
            <p:nvSpPr>
              <p:cNvPr id="12317" name="Line 66"/>
              <p:cNvSpPr>
                <a:spLocks noChangeShapeType="1"/>
              </p:cNvSpPr>
              <p:nvPr/>
            </p:nvSpPr>
            <p:spPr bwMode="auto">
              <a:xfrm>
                <a:off x="3312" y="1488"/>
                <a:ext cx="0" cy="1536"/>
              </a:xfrm>
              <a:prstGeom prst="line">
                <a:avLst/>
              </a:prstGeom>
              <a:noFill/>
              <a:ln w="9525">
                <a:solidFill>
                  <a:schemeClr val="tx1"/>
                </a:solidFill>
                <a:prstDash val="dash"/>
                <a:round/>
              </a:ln>
            </p:spPr>
            <p:txBody>
              <a:bodyPr/>
              <a:lstStyle/>
              <a:p>
                <a:endParaRPr lang="zh-CN" altLang="en-US"/>
              </a:p>
            </p:txBody>
          </p:sp>
          <p:sp>
            <p:nvSpPr>
              <p:cNvPr id="12318" name="Line 67"/>
              <p:cNvSpPr>
                <a:spLocks noChangeShapeType="1"/>
              </p:cNvSpPr>
              <p:nvPr/>
            </p:nvSpPr>
            <p:spPr bwMode="auto">
              <a:xfrm>
                <a:off x="3648" y="1488"/>
                <a:ext cx="0" cy="1536"/>
              </a:xfrm>
              <a:prstGeom prst="line">
                <a:avLst/>
              </a:prstGeom>
              <a:noFill/>
              <a:ln w="9525">
                <a:solidFill>
                  <a:schemeClr val="tx1"/>
                </a:solidFill>
                <a:prstDash val="dash"/>
                <a:round/>
              </a:ln>
            </p:spPr>
            <p:txBody>
              <a:bodyPr/>
              <a:lstStyle/>
              <a:p>
                <a:endParaRPr lang="zh-CN" altLang="en-US"/>
              </a:p>
            </p:txBody>
          </p:sp>
          <p:sp>
            <p:nvSpPr>
              <p:cNvPr id="12319" name="Line 68"/>
              <p:cNvSpPr>
                <a:spLocks noChangeShapeType="1"/>
              </p:cNvSpPr>
              <p:nvPr/>
            </p:nvSpPr>
            <p:spPr bwMode="auto">
              <a:xfrm>
                <a:off x="3984" y="1488"/>
                <a:ext cx="0" cy="1536"/>
              </a:xfrm>
              <a:prstGeom prst="line">
                <a:avLst/>
              </a:prstGeom>
              <a:noFill/>
              <a:ln w="9525">
                <a:solidFill>
                  <a:schemeClr val="tx1"/>
                </a:solidFill>
                <a:prstDash val="dash"/>
                <a:round/>
              </a:ln>
            </p:spPr>
            <p:txBody>
              <a:bodyPr/>
              <a:lstStyle/>
              <a:p>
                <a:endParaRPr lang="zh-CN" altLang="en-US"/>
              </a:p>
            </p:txBody>
          </p:sp>
          <p:sp>
            <p:nvSpPr>
              <p:cNvPr id="12320" name="Line 69"/>
              <p:cNvSpPr>
                <a:spLocks noChangeShapeType="1"/>
              </p:cNvSpPr>
              <p:nvPr/>
            </p:nvSpPr>
            <p:spPr bwMode="auto">
              <a:xfrm>
                <a:off x="4320" y="1488"/>
                <a:ext cx="0" cy="1536"/>
              </a:xfrm>
              <a:prstGeom prst="line">
                <a:avLst/>
              </a:prstGeom>
              <a:noFill/>
              <a:ln w="9525">
                <a:solidFill>
                  <a:schemeClr val="tx1"/>
                </a:solidFill>
                <a:prstDash val="dash"/>
                <a:round/>
              </a:ln>
            </p:spPr>
            <p:txBody>
              <a:bodyPr/>
              <a:lstStyle/>
              <a:p>
                <a:endParaRPr lang="zh-CN" altLang="en-US"/>
              </a:p>
            </p:txBody>
          </p:sp>
          <p:grpSp>
            <p:nvGrpSpPr>
              <p:cNvPr id="12321" name="Group 96"/>
              <p:cNvGrpSpPr/>
              <p:nvPr/>
            </p:nvGrpSpPr>
            <p:grpSpPr bwMode="auto">
              <a:xfrm>
                <a:off x="960" y="1632"/>
                <a:ext cx="3552" cy="144"/>
                <a:chOff x="960" y="1680"/>
                <a:chExt cx="3552" cy="144"/>
              </a:xfrm>
            </p:grpSpPr>
            <p:sp>
              <p:nvSpPr>
                <p:cNvPr id="12350" name="Line 70"/>
                <p:cNvSpPr>
                  <a:spLocks noChangeShapeType="1"/>
                </p:cNvSpPr>
                <p:nvPr/>
              </p:nvSpPr>
              <p:spPr bwMode="auto">
                <a:xfrm>
                  <a:off x="960" y="1824"/>
                  <a:ext cx="336" cy="0"/>
                </a:xfrm>
                <a:prstGeom prst="line">
                  <a:avLst/>
                </a:prstGeom>
                <a:noFill/>
                <a:ln w="19050">
                  <a:solidFill>
                    <a:schemeClr val="tx2"/>
                  </a:solidFill>
                  <a:round/>
                </a:ln>
              </p:spPr>
              <p:txBody>
                <a:bodyPr/>
                <a:lstStyle/>
                <a:p>
                  <a:endParaRPr lang="zh-CN" altLang="en-US"/>
                </a:p>
              </p:txBody>
            </p:sp>
            <p:grpSp>
              <p:nvGrpSpPr>
                <p:cNvPr id="12351" name="Group 75"/>
                <p:cNvGrpSpPr/>
                <p:nvPr/>
              </p:nvGrpSpPr>
              <p:grpSpPr bwMode="auto">
                <a:xfrm>
                  <a:off x="1296" y="1680"/>
                  <a:ext cx="672" cy="144"/>
                  <a:chOff x="1296" y="1680"/>
                  <a:chExt cx="672" cy="144"/>
                </a:xfrm>
              </p:grpSpPr>
              <p:sp>
                <p:nvSpPr>
                  <p:cNvPr id="12371" name="Line 71"/>
                  <p:cNvSpPr>
                    <a:spLocks noChangeShapeType="1"/>
                  </p:cNvSpPr>
                  <p:nvPr/>
                </p:nvSpPr>
                <p:spPr bwMode="auto">
                  <a:xfrm flipV="1">
                    <a:off x="1296" y="1680"/>
                    <a:ext cx="0" cy="144"/>
                  </a:xfrm>
                  <a:prstGeom prst="line">
                    <a:avLst/>
                  </a:prstGeom>
                  <a:noFill/>
                  <a:ln w="19050">
                    <a:solidFill>
                      <a:schemeClr val="tx2"/>
                    </a:solidFill>
                    <a:round/>
                  </a:ln>
                </p:spPr>
                <p:txBody>
                  <a:bodyPr/>
                  <a:lstStyle/>
                  <a:p>
                    <a:endParaRPr lang="zh-CN" altLang="en-US"/>
                  </a:p>
                </p:txBody>
              </p:sp>
              <p:sp>
                <p:nvSpPr>
                  <p:cNvPr id="12372" name="Line 72"/>
                  <p:cNvSpPr>
                    <a:spLocks noChangeShapeType="1"/>
                  </p:cNvSpPr>
                  <p:nvPr/>
                </p:nvSpPr>
                <p:spPr bwMode="auto">
                  <a:xfrm>
                    <a:off x="1296" y="1680"/>
                    <a:ext cx="336" cy="0"/>
                  </a:xfrm>
                  <a:prstGeom prst="line">
                    <a:avLst/>
                  </a:prstGeom>
                  <a:noFill/>
                  <a:ln w="19050">
                    <a:solidFill>
                      <a:schemeClr val="tx2"/>
                    </a:solidFill>
                    <a:round/>
                  </a:ln>
                </p:spPr>
                <p:txBody>
                  <a:bodyPr/>
                  <a:lstStyle/>
                  <a:p>
                    <a:endParaRPr lang="zh-CN" altLang="en-US"/>
                  </a:p>
                </p:txBody>
              </p:sp>
              <p:sp>
                <p:nvSpPr>
                  <p:cNvPr id="12373" name="Line 73"/>
                  <p:cNvSpPr>
                    <a:spLocks noChangeShapeType="1"/>
                  </p:cNvSpPr>
                  <p:nvPr/>
                </p:nvSpPr>
                <p:spPr bwMode="auto">
                  <a:xfrm>
                    <a:off x="1632" y="1680"/>
                    <a:ext cx="0" cy="144"/>
                  </a:xfrm>
                  <a:prstGeom prst="line">
                    <a:avLst/>
                  </a:prstGeom>
                  <a:noFill/>
                  <a:ln w="19050">
                    <a:solidFill>
                      <a:schemeClr val="tx2"/>
                    </a:solidFill>
                    <a:round/>
                  </a:ln>
                </p:spPr>
                <p:txBody>
                  <a:bodyPr/>
                  <a:lstStyle/>
                  <a:p>
                    <a:endParaRPr lang="zh-CN" altLang="en-US"/>
                  </a:p>
                </p:txBody>
              </p:sp>
              <p:sp>
                <p:nvSpPr>
                  <p:cNvPr id="12374" name="Line 74"/>
                  <p:cNvSpPr>
                    <a:spLocks noChangeShapeType="1"/>
                  </p:cNvSpPr>
                  <p:nvPr/>
                </p:nvSpPr>
                <p:spPr bwMode="auto">
                  <a:xfrm>
                    <a:off x="1632" y="1824"/>
                    <a:ext cx="336" cy="0"/>
                  </a:xfrm>
                  <a:prstGeom prst="line">
                    <a:avLst/>
                  </a:prstGeom>
                  <a:noFill/>
                  <a:ln w="19050">
                    <a:solidFill>
                      <a:schemeClr val="tx2"/>
                    </a:solidFill>
                    <a:round/>
                  </a:ln>
                </p:spPr>
                <p:txBody>
                  <a:bodyPr/>
                  <a:lstStyle/>
                  <a:p>
                    <a:endParaRPr lang="zh-CN" altLang="en-US"/>
                  </a:p>
                </p:txBody>
              </p:sp>
            </p:grpSp>
            <p:grpSp>
              <p:nvGrpSpPr>
                <p:cNvPr id="12352" name="Group 76"/>
                <p:cNvGrpSpPr/>
                <p:nvPr/>
              </p:nvGrpSpPr>
              <p:grpSpPr bwMode="auto">
                <a:xfrm>
                  <a:off x="1968" y="1680"/>
                  <a:ext cx="672" cy="144"/>
                  <a:chOff x="1296" y="1680"/>
                  <a:chExt cx="672" cy="144"/>
                </a:xfrm>
              </p:grpSpPr>
              <p:sp>
                <p:nvSpPr>
                  <p:cNvPr id="12367" name="Line 77"/>
                  <p:cNvSpPr>
                    <a:spLocks noChangeShapeType="1"/>
                  </p:cNvSpPr>
                  <p:nvPr/>
                </p:nvSpPr>
                <p:spPr bwMode="auto">
                  <a:xfrm flipV="1">
                    <a:off x="1296" y="1680"/>
                    <a:ext cx="0" cy="144"/>
                  </a:xfrm>
                  <a:prstGeom prst="line">
                    <a:avLst/>
                  </a:prstGeom>
                  <a:noFill/>
                  <a:ln w="19050">
                    <a:solidFill>
                      <a:schemeClr val="tx2"/>
                    </a:solidFill>
                    <a:round/>
                  </a:ln>
                </p:spPr>
                <p:txBody>
                  <a:bodyPr/>
                  <a:lstStyle/>
                  <a:p>
                    <a:endParaRPr lang="zh-CN" altLang="en-US"/>
                  </a:p>
                </p:txBody>
              </p:sp>
              <p:sp>
                <p:nvSpPr>
                  <p:cNvPr id="12368" name="Line 78"/>
                  <p:cNvSpPr>
                    <a:spLocks noChangeShapeType="1"/>
                  </p:cNvSpPr>
                  <p:nvPr/>
                </p:nvSpPr>
                <p:spPr bwMode="auto">
                  <a:xfrm>
                    <a:off x="1296" y="1680"/>
                    <a:ext cx="336" cy="0"/>
                  </a:xfrm>
                  <a:prstGeom prst="line">
                    <a:avLst/>
                  </a:prstGeom>
                  <a:noFill/>
                  <a:ln w="19050">
                    <a:solidFill>
                      <a:schemeClr val="tx2"/>
                    </a:solidFill>
                    <a:round/>
                  </a:ln>
                </p:spPr>
                <p:txBody>
                  <a:bodyPr/>
                  <a:lstStyle/>
                  <a:p>
                    <a:endParaRPr lang="zh-CN" altLang="en-US"/>
                  </a:p>
                </p:txBody>
              </p:sp>
              <p:sp>
                <p:nvSpPr>
                  <p:cNvPr id="12369" name="Line 79"/>
                  <p:cNvSpPr>
                    <a:spLocks noChangeShapeType="1"/>
                  </p:cNvSpPr>
                  <p:nvPr/>
                </p:nvSpPr>
                <p:spPr bwMode="auto">
                  <a:xfrm>
                    <a:off x="1632" y="1680"/>
                    <a:ext cx="0" cy="144"/>
                  </a:xfrm>
                  <a:prstGeom prst="line">
                    <a:avLst/>
                  </a:prstGeom>
                  <a:noFill/>
                  <a:ln w="19050">
                    <a:solidFill>
                      <a:schemeClr val="tx2"/>
                    </a:solidFill>
                    <a:round/>
                  </a:ln>
                </p:spPr>
                <p:txBody>
                  <a:bodyPr/>
                  <a:lstStyle/>
                  <a:p>
                    <a:endParaRPr lang="zh-CN" altLang="en-US"/>
                  </a:p>
                </p:txBody>
              </p:sp>
              <p:sp>
                <p:nvSpPr>
                  <p:cNvPr id="12370" name="Line 80"/>
                  <p:cNvSpPr>
                    <a:spLocks noChangeShapeType="1"/>
                  </p:cNvSpPr>
                  <p:nvPr/>
                </p:nvSpPr>
                <p:spPr bwMode="auto">
                  <a:xfrm>
                    <a:off x="1632" y="1824"/>
                    <a:ext cx="336" cy="0"/>
                  </a:xfrm>
                  <a:prstGeom prst="line">
                    <a:avLst/>
                  </a:prstGeom>
                  <a:noFill/>
                  <a:ln w="19050">
                    <a:solidFill>
                      <a:schemeClr val="tx2"/>
                    </a:solidFill>
                    <a:round/>
                  </a:ln>
                </p:spPr>
                <p:txBody>
                  <a:bodyPr/>
                  <a:lstStyle/>
                  <a:p>
                    <a:endParaRPr lang="zh-CN" altLang="en-US"/>
                  </a:p>
                </p:txBody>
              </p:sp>
            </p:grpSp>
            <p:grpSp>
              <p:nvGrpSpPr>
                <p:cNvPr id="12353" name="Group 81"/>
                <p:cNvGrpSpPr/>
                <p:nvPr/>
              </p:nvGrpSpPr>
              <p:grpSpPr bwMode="auto">
                <a:xfrm>
                  <a:off x="2640" y="1680"/>
                  <a:ext cx="672" cy="144"/>
                  <a:chOff x="1296" y="1680"/>
                  <a:chExt cx="672" cy="144"/>
                </a:xfrm>
              </p:grpSpPr>
              <p:sp>
                <p:nvSpPr>
                  <p:cNvPr id="12363" name="Line 82"/>
                  <p:cNvSpPr>
                    <a:spLocks noChangeShapeType="1"/>
                  </p:cNvSpPr>
                  <p:nvPr/>
                </p:nvSpPr>
                <p:spPr bwMode="auto">
                  <a:xfrm flipV="1">
                    <a:off x="1296" y="1680"/>
                    <a:ext cx="0" cy="144"/>
                  </a:xfrm>
                  <a:prstGeom prst="line">
                    <a:avLst/>
                  </a:prstGeom>
                  <a:noFill/>
                  <a:ln w="19050">
                    <a:solidFill>
                      <a:schemeClr val="tx2"/>
                    </a:solidFill>
                    <a:round/>
                  </a:ln>
                </p:spPr>
                <p:txBody>
                  <a:bodyPr/>
                  <a:lstStyle/>
                  <a:p>
                    <a:endParaRPr lang="zh-CN" altLang="en-US"/>
                  </a:p>
                </p:txBody>
              </p:sp>
              <p:sp>
                <p:nvSpPr>
                  <p:cNvPr id="12364" name="Line 83"/>
                  <p:cNvSpPr>
                    <a:spLocks noChangeShapeType="1"/>
                  </p:cNvSpPr>
                  <p:nvPr/>
                </p:nvSpPr>
                <p:spPr bwMode="auto">
                  <a:xfrm>
                    <a:off x="1296" y="1680"/>
                    <a:ext cx="336" cy="0"/>
                  </a:xfrm>
                  <a:prstGeom prst="line">
                    <a:avLst/>
                  </a:prstGeom>
                  <a:noFill/>
                  <a:ln w="19050">
                    <a:solidFill>
                      <a:schemeClr val="tx2"/>
                    </a:solidFill>
                    <a:round/>
                  </a:ln>
                </p:spPr>
                <p:txBody>
                  <a:bodyPr/>
                  <a:lstStyle/>
                  <a:p>
                    <a:endParaRPr lang="zh-CN" altLang="en-US"/>
                  </a:p>
                </p:txBody>
              </p:sp>
              <p:sp>
                <p:nvSpPr>
                  <p:cNvPr id="12365" name="Line 84"/>
                  <p:cNvSpPr>
                    <a:spLocks noChangeShapeType="1"/>
                  </p:cNvSpPr>
                  <p:nvPr/>
                </p:nvSpPr>
                <p:spPr bwMode="auto">
                  <a:xfrm>
                    <a:off x="1632" y="1680"/>
                    <a:ext cx="0" cy="144"/>
                  </a:xfrm>
                  <a:prstGeom prst="line">
                    <a:avLst/>
                  </a:prstGeom>
                  <a:noFill/>
                  <a:ln w="19050">
                    <a:solidFill>
                      <a:schemeClr val="tx2"/>
                    </a:solidFill>
                    <a:round/>
                  </a:ln>
                </p:spPr>
                <p:txBody>
                  <a:bodyPr/>
                  <a:lstStyle/>
                  <a:p>
                    <a:endParaRPr lang="zh-CN" altLang="en-US"/>
                  </a:p>
                </p:txBody>
              </p:sp>
              <p:sp>
                <p:nvSpPr>
                  <p:cNvPr id="12366" name="Line 85"/>
                  <p:cNvSpPr>
                    <a:spLocks noChangeShapeType="1"/>
                  </p:cNvSpPr>
                  <p:nvPr/>
                </p:nvSpPr>
                <p:spPr bwMode="auto">
                  <a:xfrm>
                    <a:off x="1632" y="1824"/>
                    <a:ext cx="336" cy="0"/>
                  </a:xfrm>
                  <a:prstGeom prst="line">
                    <a:avLst/>
                  </a:prstGeom>
                  <a:noFill/>
                  <a:ln w="19050">
                    <a:solidFill>
                      <a:schemeClr val="tx2"/>
                    </a:solidFill>
                    <a:round/>
                  </a:ln>
                </p:spPr>
                <p:txBody>
                  <a:bodyPr/>
                  <a:lstStyle/>
                  <a:p>
                    <a:endParaRPr lang="zh-CN" altLang="en-US"/>
                  </a:p>
                </p:txBody>
              </p:sp>
            </p:grpSp>
            <p:grpSp>
              <p:nvGrpSpPr>
                <p:cNvPr id="12354" name="Group 86"/>
                <p:cNvGrpSpPr/>
                <p:nvPr/>
              </p:nvGrpSpPr>
              <p:grpSpPr bwMode="auto">
                <a:xfrm>
                  <a:off x="3312" y="1680"/>
                  <a:ext cx="672" cy="144"/>
                  <a:chOff x="1296" y="1680"/>
                  <a:chExt cx="672" cy="144"/>
                </a:xfrm>
              </p:grpSpPr>
              <p:sp>
                <p:nvSpPr>
                  <p:cNvPr id="12359" name="Line 87"/>
                  <p:cNvSpPr>
                    <a:spLocks noChangeShapeType="1"/>
                  </p:cNvSpPr>
                  <p:nvPr/>
                </p:nvSpPr>
                <p:spPr bwMode="auto">
                  <a:xfrm flipV="1">
                    <a:off x="1296" y="1680"/>
                    <a:ext cx="0" cy="144"/>
                  </a:xfrm>
                  <a:prstGeom prst="line">
                    <a:avLst/>
                  </a:prstGeom>
                  <a:noFill/>
                  <a:ln w="19050">
                    <a:solidFill>
                      <a:schemeClr val="tx2"/>
                    </a:solidFill>
                    <a:round/>
                  </a:ln>
                </p:spPr>
                <p:txBody>
                  <a:bodyPr/>
                  <a:lstStyle/>
                  <a:p>
                    <a:endParaRPr lang="zh-CN" altLang="en-US"/>
                  </a:p>
                </p:txBody>
              </p:sp>
              <p:sp>
                <p:nvSpPr>
                  <p:cNvPr id="12360" name="Line 88"/>
                  <p:cNvSpPr>
                    <a:spLocks noChangeShapeType="1"/>
                  </p:cNvSpPr>
                  <p:nvPr/>
                </p:nvSpPr>
                <p:spPr bwMode="auto">
                  <a:xfrm>
                    <a:off x="1296" y="1680"/>
                    <a:ext cx="336" cy="0"/>
                  </a:xfrm>
                  <a:prstGeom prst="line">
                    <a:avLst/>
                  </a:prstGeom>
                  <a:noFill/>
                  <a:ln w="19050">
                    <a:solidFill>
                      <a:schemeClr val="tx2"/>
                    </a:solidFill>
                    <a:round/>
                  </a:ln>
                </p:spPr>
                <p:txBody>
                  <a:bodyPr/>
                  <a:lstStyle/>
                  <a:p>
                    <a:endParaRPr lang="zh-CN" altLang="en-US"/>
                  </a:p>
                </p:txBody>
              </p:sp>
              <p:sp>
                <p:nvSpPr>
                  <p:cNvPr id="12361" name="Line 89"/>
                  <p:cNvSpPr>
                    <a:spLocks noChangeShapeType="1"/>
                  </p:cNvSpPr>
                  <p:nvPr/>
                </p:nvSpPr>
                <p:spPr bwMode="auto">
                  <a:xfrm>
                    <a:off x="1632" y="1680"/>
                    <a:ext cx="0" cy="144"/>
                  </a:xfrm>
                  <a:prstGeom prst="line">
                    <a:avLst/>
                  </a:prstGeom>
                  <a:noFill/>
                  <a:ln w="19050">
                    <a:solidFill>
                      <a:schemeClr val="tx2"/>
                    </a:solidFill>
                    <a:round/>
                  </a:ln>
                </p:spPr>
                <p:txBody>
                  <a:bodyPr/>
                  <a:lstStyle/>
                  <a:p>
                    <a:endParaRPr lang="zh-CN" altLang="en-US"/>
                  </a:p>
                </p:txBody>
              </p:sp>
              <p:sp>
                <p:nvSpPr>
                  <p:cNvPr id="12362" name="Line 90"/>
                  <p:cNvSpPr>
                    <a:spLocks noChangeShapeType="1"/>
                  </p:cNvSpPr>
                  <p:nvPr/>
                </p:nvSpPr>
                <p:spPr bwMode="auto">
                  <a:xfrm>
                    <a:off x="1632" y="1824"/>
                    <a:ext cx="336" cy="0"/>
                  </a:xfrm>
                  <a:prstGeom prst="line">
                    <a:avLst/>
                  </a:prstGeom>
                  <a:noFill/>
                  <a:ln w="19050">
                    <a:solidFill>
                      <a:schemeClr val="tx2"/>
                    </a:solidFill>
                    <a:round/>
                  </a:ln>
                </p:spPr>
                <p:txBody>
                  <a:bodyPr/>
                  <a:lstStyle/>
                  <a:p>
                    <a:endParaRPr lang="zh-CN" altLang="en-US"/>
                  </a:p>
                </p:txBody>
              </p:sp>
            </p:grpSp>
            <p:sp>
              <p:nvSpPr>
                <p:cNvPr id="12355" name="Line 92"/>
                <p:cNvSpPr>
                  <a:spLocks noChangeShapeType="1"/>
                </p:cNvSpPr>
                <p:nvPr/>
              </p:nvSpPr>
              <p:spPr bwMode="auto">
                <a:xfrm flipV="1">
                  <a:off x="3984" y="1680"/>
                  <a:ext cx="0" cy="144"/>
                </a:xfrm>
                <a:prstGeom prst="line">
                  <a:avLst/>
                </a:prstGeom>
                <a:noFill/>
                <a:ln w="19050">
                  <a:solidFill>
                    <a:schemeClr val="tx2"/>
                  </a:solidFill>
                  <a:round/>
                </a:ln>
              </p:spPr>
              <p:txBody>
                <a:bodyPr/>
                <a:lstStyle/>
                <a:p>
                  <a:endParaRPr lang="zh-CN" altLang="en-US"/>
                </a:p>
              </p:txBody>
            </p:sp>
            <p:sp>
              <p:nvSpPr>
                <p:cNvPr id="12356" name="Line 93"/>
                <p:cNvSpPr>
                  <a:spLocks noChangeShapeType="1"/>
                </p:cNvSpPr>
                <p:nvPr/>
              </p:nvSpPr>
              <p:spPr bwMode="auto">
                <a:xfrm>
                  <a:off x="3984" y="1680"/>
                  <a:ext cx="336" cy="0"/>
                </a:xfrm>
                <a:prstGeom prst="line">
                  <a:avLst/>
                </a:prstGeom>
                <a:noFill/>
                <a:ln w="19050">
                  <a:solidFill>
                    <a:schemeClr val="tx2"/>
                  </a:solidFill>
                  <a:round/>
                </a:ln>
              </p:spPr>
              <p:txBody>
                <a:bodyPr/>
                <a:lstStyle/>
                <a:p>
                  <a:endParaRPr lang="zh-CN" altLang="en-US"/>
                </a:p>
              </p:txBody>
            </p:sp>
            <p:sp>
              <p:nvSpPr>
                <p:cNvPr id="12357" name="Line 94"/>
                <p:cNvSpPr>
                  <a:spLocks noChangeShapeType="1"/>
                </p:cNvSpPr>
                <p:nvPr/>
              </p:nvSpPr>
              <p:spPr bwMode="auto">
                <a:xfrm>
                  <a:off x="4320" y="1680"/>
                  <a:ext cx="0" cy="144"/>
                </a:xfrm>
                <a:prstGeom prst="line">
                  <a:avLst/>
                </a:prstGeom>
                <a:noFill/>
                <a:ln w="19050">
                  <a:solidFill>
                    <a:schemeClr val="tx2"/>
                  </a:solidFill>
                  <a:round/>
                </a:ln>
              </p:spPr>
              <p:txBody>
                <a:bodyPr/>
                <a:lstStyle/>
                <a:p>
                  <a:endParaRPr lang="zh-CN" altLang="en-US"/>
                </a:p>
              </p:txBody>
            </p:sp>
            <p:sp>
              <p:nvSpPr>
                <p:cNvPr id="12358" name="Line 95"/>
                <p:cNvSpPr>
                  <a:spLocks noChangeShapeType="1"/>
                </p:cNvSpPr>
                <p:nvPr/>
              </p:nvSpPr>
              <p:spPr bwMode="auto">
                <a:xfrm>
                  <a:off x="4320" y="1824"/>
                  <a:ext cx="192" cy="0"/>
                </a:xfrm>
                <a:prstGeom prst="line">
                  <a:avLst/>
                </a:prstGeom>
                <a:noFill/>
                <a:ln w="19050">
                  <a:solidFill>
                    <a:schemeClr val="tx2"/>
                  </a:solidFill>
                  <a:round/>
                </a:ln>
              </p:spPr>
              <p:txBody>
                <a:bodyPr/>
                <a:lstStyle/>
                <a:p>
                  <a:endParaRPr lang="zh-CN" altLang="en-US"/>
                </a:p>
              </p:txBody>
            </p:sp>
          </p:grpSp>
          <p:grpSp>
            <p:nvGrpSpPr>
              <p:cNvPr id="12322" name="Group 106"/>
              <p:cNvGrpSpPr/>
              <p:nvPr/>
            </p:nvGrpSpPr>
            <p:grpSpPr bwMode="auto">
              <a:xfrm>
                <a:off x="960" y="1920"/>
                <a:ext cx="3552" cy="144"/>
                <a:chOff x="960" y="2016"/>
                <a:chExt cx="3552" cy="144"/>
              </a:xfrm>
            </p:grpSpPr>
            <p:sp>
              <p:nvSpPr>
                <p:cNvPr id="12341" name="Line 97"/>
                <p:cNvSpPr>
                  <a:spLocks noChangeShapeType="1"/>
                </p:cNvSpPr>
                <p:nvPr/>
              </p:nvSpPr>
              <p:spPr bwMode="auto">
                <a:xfrm>
                  <a:off x="960" y="2160"/>
                  <a:ext cx="672" cy="0"/>
                </a:xfrm>
                <a:prstGeom prst="line">
                  <a:avLst/>
                </a:prstGeom>
                <a:noFill/>
                <a:ln w="19050">
                  <a:solidFill>
                    <a:schemeClr val="tx2"/>
                  </a:solidFill>
                  <a:round/>
                </a:ln>
              </p:spPr>
              <p:txBody>
                <a:bodyPr/>
                <a:lstStyle/>
                <a:p>
                  <a:endParaRPr lang="zh-CN" altLang="en-US"/>
                </a:p>
              </p:txBody>
            </p:sp>
            <p:sp>
              <p:nvSpPr>
                <p:cNvPr id="12342" name="Line 98"/>
                <p:cNvSpPr>
                  <a:spLocks noChangeShapeType="1"/>
                </p:cNvSpPr>
                <p:nvPr/>
              </p:nvSpPr>
              <p:spPr bwMode="auto">
                <a:xfrm flipV="1">
                  <a:off x="1632" y="2016"/>
                  <a:ext cx="0" cy="144"/>
                </a:xfrm>
                <a:prstGeom prst="line">
                  <a:avLst/>
                </a:prstGeom>
                <a:noFill/>
                <a:ln w="19050">
                  <a:solidFill>
                    <a:schemeClr val="tx2"/>
                  </a:solidFill>
                  <a:round/>
                </a:ln>
              </p:spPr>
              <p:txBody>
                <a:bodyPr/>
                <a:lstStyle/>
                <a:p>
                  <a:endParaRPr lang="zh-CN" altLang="en-US"/>
                </a:p>
              </p:txBody>
            </p:sp>
            <p:sp>
              <p:nvSpPr>
                <p:cNvPr id="12343" name="Line 99"/>
                <p:cNvSpPr>
                  <a:spLocks noChangeShapeType="1"/>
                </p:cNvSpPr>
                <p:nvPr/>
              </p:nvSpPr>
              <p:spPr bwMode="auto">
                <a:xfrm>
                  <a:off x="1632" y="2016"/>
                  <a:ext cx="672" cy="0"/>
                </a:xfrm>
                <a:prstGeom prst="line">
                  <a:avLst/>
                </a:prstGeom>
                <a:noFill/>
                <a:ln w="19050">
                  <a:solidFill>
                    <a:schemeClr val="tx2"/>
                  </a:solidFill>
                  <a:round/>
                </a:ln>
              </p:spPr>
              <p:txBody>
                <a:bodyPr/>
                <a:lstStyle/>
                <a:p>
                  <a:endParaRPr lang="zh-CN" altLang="en-US"/>
                </a:p>
              </p:txBody>
            </p:sp>
            <p:sp>
              <p:nvSpPr>
                <p:cNvPr id="12344" name="Line 100"/>
                <p:cNvSpPr>
                  <a:spLocks noChangeShapeType="1"/>
                </p:cNvSpPr>
                <p:nvPr/>
              </p:nvSpPr>
              <p:spPr bwMode="auto">
                <a:xfrm>
                  <a:off x="2304" y="2016"/>
                  <a:ext cx="0" cy="144"/>
                </a:xfrm>
                <a:prstGeom prst="line">
                  <a:avLst/>
                </a:prstGeom>
                <a:noFill/>
                <a:ln w="19050">
                  <a:solidFill>
                    <a:schemeClr val="tx2"/>
                  </a:solidFill>
                  <a:round/>
                </a:ln>
              </p:spPr>
              <p:txBody>
                <a:bodyPr/>
                <a:lstStyle/>
                <a:p>
                  <a:endParaRPr lang="zh-CN" altLang="en-US"/>
                </a:p>
              </p:txBody>
            </p:sp>
            <p:sp>
              <p:nvSpPr>
                <p:cNvPr id="12345" name="Line 101"/>
                <p:cNvSpPr>
                  <a:spLocks noChangeShapeType="1"/>
                </p:cNvSpPr>
                <p:nvPr/>
              </p:nvSpPr>
              <p:spPr bwMode="auto">
                <a:xfrm>
                  <a:off x="2304" y="2160"/>
                  <a:ext cx="672" cy="0"/>
                </a:xfrm>
                <a:prstGeom prst="line">
                  <a:avLst/>
                </a:prstGeom>
                <a:noFill/>
                <a:ln w="19050">
                  <a:solidFill>
                    <a:schemeClr val="tx2"/>
                  </a:solidFill>
                  <a:round/>
                </a:ln>
              </p:spPr>
              <p:txBody>
                <a:bodyPr/>
                <a:lstStyle/>
                <a:p>
                  <a:endParaRPr lang="zh-CN" altLang="en-US"/>
                </a:p>
              </p:txBody>
            </p:sp>
            <p:sp>
              <p:nvSpPr>
                <p:cNvPr id="12346" name="Line 102"/>
                <p:cNvSpPr>
                  <a:spLocks noChangeShapeType="1"/>
                </p:cNvSpPr>
                <p:nvPr/>
              </p:nvSpPr>
              <p:spPr bwMode="auto">
                <a:xfrm flipV="1">
                  <a:off x="2976" y="2016"/>
                  <a:ext cx="0" cy="144"/>
                </a:xfrm>
                <a:prstGeom prst="line">
                  <a:avLst/>
                </a:prstGeom>
                <a:noFill/>
                <a:ln w="19050">
                  <a:solidFill>
                    <a:schemeClr val="tx2"/>
                  </a:solidFill>
                  <a:round/>
                </a:ln>
              </p:spPr>
              <p:txBody>
                <a:bodyPr/>
                <a:lstStyle/>
                <a:p>
                  <a:endParaRPr lang="zh-CN" altLang="en-US"/>
                </a:p>
              </p:txBody>
            </p:sp>
            <p:sp>
              <p:nvSpPr>
                <p:cNvPr id="12347" name="Line 103"/>
                <p:cNvSpPr>
                  <a:spLocks noChangeShapeType="1"/>
                </p:cNvSpPr>
                <p:nvPr/>
              </p:nvSpPr>
              <p:spPr bwMode="auto">
                <a:xfrm>
                  <a:off x="2976" y="2016"/>
                  <a:ext cx="672" cy="0"/>
                </a:xfrm>
                <a:prstGeom prst="line">
                  <a:avLst/>
                </a:prstGeom>
                <a:noFill/>
                <a:ln w="19050">
                  <a:solidFill>
                    <a:schemeClr val="tx2"/>
                  </a:solidFill>
                  <a:round/>
                </a:ln>
              </p:spPr>
              <p:txBody>
                <a:bodyPr/>
                <a:lstStyle/>
                <a:p>
                  <a:endParaRPr lang="zh-CN" altLang="en-US"/>
                </a:p>
              </p:txBody>
            </p:sp>
            <p:sp>
              <p:nvSpPr>
                <p:cNvPr id="12348" name="Line 104"/>
                <p:cNvSpPr>
                  <a:spLocks noChangeShapeType="1"/>
                </p:cNvSpPr>
                <p:nvPr/>
              </p:nvSpPr>
              <p:spPr bwMode="auto">
                <a:xfrm>
                  <a:off x="3648" y="2016"/>
                  <a:ext cx="0" cy="144"/>
                </a:xfrm>
                <a:prstGeom prst="line">
                  <a:avLst/>
                </a:prstGeom>
                <a:noFill/>
                <a:ln w="19050">
                  <a:solidFill>
                    <a:schemeClr val="tx2"/>
                  </a:solidFill>
                  <a:round/>
                </a:ln>
              </p:spPr>
              <p:txBody>
                <a:bodyPr/>
                <a:lstStyle/>
                <a:p>
                  <a:endParaRPr lang="zh-CN" altLang="en-US"/>
                </a:p>
              </p:txBody>
            </p:sp>
            <p:sp>
              <p:nvSpPr>
                <p:cNvPr id="12349" name="Line 105"/>
                <p:cNvSpPr>
                  <a:spLocks noChangeShapeType="1"/>
                </p:cNvSpPr>
                <p:nvPr/>
              </p:nvSpPr>
              <p:spPr bwMode="auto">
                <a:xfrm>
                  <a:off x="3648" y="2160"/>
                  <a:ext cx="864" cy="0"/>
                </a:xfrm>
                <a:prstGeom prst="line">
                  <a:avLst/>
                </a:prstGeom>
                <a:noFill/>
                <a:ln w="19050">
                  <a:solidFill>
                    <a:schemeClr val="tx2"/>
                  </a:solidFill>
                  <a:round/>
                </a:ln>
              </p:spPr>
              <p:txBody>
                <a:bodyPr/>
                <a:lstStyle/>
                <a:p>
                  <a:endParaRPr lang="zh-CN" altLang="en-US"/>
                </a:p>
              </p:txBody>
            </p:sp>
          </p:grpSp>
          <p:grpSp>
            <p:nvGrpSpPr>
              <p:cNvPr id="12323" name="Group 112"/>
              <p:cNvGrpSpPr/>
              <p:nvPr/>
            </p:nvGrpSpPr>
            <p:grpSpPr bwMode="auto">
              <a:xfrm>
                <a:off x="960" y="2208"/>
                <a:ext cx="3552" cy="144"/>
                <a:chOff x="960" y="2208"/>
                <a:chExt cx="3552" cy="144"/>
              </a:xfrm>
            </p:grpSpPr>
            <p:sp>
              <p:nvSpPr>
                <p:cNvPr id="12336" name="Line 107"/>
                <p:cNvSpPr>
                  <a:spLocks noChangeShapeType="1"/>
                </p:cNvSpPr>
                <p:nvPr/>
              </p:nvSpPr>
              <p:spPr bwMode="auto">
                <a:xfrm>
                  <a:off x="960" y="2352"/>
                  <a:ext cx="1344" cy="0"/>
                </a:xfrm>
                <a:prstGeom prst="line">
                  <a:avLst/>
                </a:prstGeom>
                <a:noFill/>
                <a:ln w="19050">
                  <a:solidFill>
                    <a:schemeClr val="tx2"/>
                  </a:solidFill>
                  <a:round/>
                </a:ln>
              </p:spPr>
              <p:txBody>
                <a:bodyPr/>
                <a:lstStyle/>
                <a:p>
                  <a:endParaRPr lang="zh-CN" altLang="en-US"/>
                </a:p>
              </p:txBody>
            </p:sp>
            <p:sp>
              <p:nvSpPr>
                <p:cNvPr id="12337" name="Line 108"/>
                <p:cNvSpPr>
                  <a:spLocks noChangeShapeType="1"/>
                </p:cNvSpPr>
                <p:nvPr/>
              </p:nvSpPr>
              <p:spPr bwMode="auto">
                <a:xfrm flipV="1">
                  <a:off x="2304" y="2208"/>
                  <a:ext cx="0" cy="144"/>
                </a:xfrm>
                <a:prstGeom prst="line">
                  <a:avLst/>
                </a:prstGeom>
                <a:noFill/>
                <a:ln w="19050">
                  <a:solidFill>
                    <a:schemeClr val="tx2"/>
                  </a:solidFill>
                  <a:round/>
                </a:ln>
              </p:spPr>
              <p:txBody>
                <a:bodyPr/>
                <a:lstStyle/>
                <a:p>
                  <a:endParaRPr lang="zh-CN" altLang="en-US"/>
                </a:p>
              </p:txBody>
            </p:sp>
            <p:sp>
              <p:nvSpPr>
                <p:cNvPr id="12338" name="Line 109"/>
                <p:cNvSpPr>
                  <a:spLocks noChangeShapeType="1"/>
                </p:cNvSpPr>
                <p:nvPr/>
              </p:nvSpPr>
              <p:spPr bwMode="auto">
                <a:xfrm>
                  <a:off x="2304" y="2208"/>
                  <a:ext cx="1344" cy="0"/>
                </a:xfrm>
                <a:prstGeom prst="line">
                  <a:avLst/>
                </a:prstGeom>
                <a:noFill/>
                <a:ln w="19050">
                  <a:solidFill>
                    <a:schemeClr val="tx2"/>
                  </a:solidFill>
                  <a:round/>
                </a:ln>
              </p:spPr>
              <p:txBody>
                <a:bodyPr/>
                <a:lstStyle/>
                <a:p>
                  <a:endParaRPr lang="zh-CN" altLang="en-US"/>
                </a:p>
              </p:txBody>
            </p:sp>
            <p:sp>
              <p:nvSpPr>
                <p:cNvPr id="12339" name="Line 110"/>
                <p:cNvSpPr>
                  <a:spLocks noChangeShapeType="1"/>
                </p:cNvSpPr>
                <p:nvPr/>
              </p:nvSpPr>
              <p:spPr bwMode="auto">
                <a:xfrm>
                  <a:off x="3648" y="2208"/>
                  <a:ext cx="0" cy="144"/>
                </a:xfrm>
                <a:prstGeom prst="line">
                  <a:avLst/>
                </a:prstGeom>
                <a:noFill/>
                <a:ln w="19050">
                  <a:solidFill>
                    <a:schemeClr val="tx2"/>
                  </a:solidFill>
                  <a:round/>
                </a:ln>
              </p:spPr>
              <p:txBody>
                <a:bodyPr/>
                <a:lstStyle/>
                <a:p>
                  <a:endParaRPr lang="zh-CN" altLang="en-US"/>
                </a:p>
              </p:txBody>
            </p:sp>
            <p:sp>
              <p:nvSpPr>
                <p:cNvPr id="12340" name="Line 111"/>
                <p:cNvSpPr>
                  <a:spLocks noChangeShapeType="1"/>
                </p:cNvSpPr>
                <p:nvPr/>
              </p:nvSpPr>
              <p:spPr bwMode="auto">
                <a:xfrm>
                  <a:off x="3648" y="2352"/>
                  <a:ext cx="864" cy="0"/>
                </a:xfrm>
                <a:prstGeom prst="line">
                  <a:avLst/>
                </a:prstGeom>
                <a:noFill/>
                <a:ln w="19050">
                  <a:solidFill>
                    <a:schemeClr val="tx2"/>
                  </a:solidFill>
                  <a:round/>
                </a:ln>
              </p:spPr>
              <p:txBody>
                <a:bodyPr/>
                <a:lstStyle/>
                <a:p>
                  <a:endParaRPr lang="zh-CN" altLang="en-US"/>
                </a:p>
              </p:txBody>
            </p:sp>
          </p:grpSp>
          <p:grpSp>
            <p:nvGrpSpPr>
              <p:cNvPr id="12324" name="Group 118"/>
              <p:cNvGrpSpPr/>
              <p:nvPr/>
            </p:nvGrpSpPr>
            <p:grpSpPr bwMode="auto">
              <a:xfrm>
                <a:off x="960" y="2496"/>
                <a:ext cx="3552" cy="144"/>
                <a:chOff x="960" y="2496"/>
                <a:chExt cx="3552" cy="144"/>
              </a:xfrm>
            </p:grpSpPr>
            <p:sp>
              <p:nvSpPr>
                <p:cNvPr id="12331" name="Line 113"/>
                <p:cNvSpPr>
                  <a:spLocks noChangeShapeType="1"/>
                </p:cNvSpPr>
                <p:nvPr/>
              </p:nvSpPr>
              <p:spPr bwMode="auto">
                <a:xfrm>
                  <a:off x="960" y="2640"/>
                  <a:ext cx="2688" cy="0"/>
                </a:xfrm>
                <a:prstGeom prst="line">
                  <a:avLst/>
                </a:prstGeom>
                <a:noFill/>
                <a:ln w="19050">
                  <a:solidFill>
                    <a:schemeClr val="tx2"/>
                  </a:solidFill>
                  <a:round/>
                </a:ln>
              </p:spPr>
              <p:txBody>
                <a:bodyPr/>
                <a:lstStyle/>
                <a:p>
                  <a:endParaRPr lang="zh-CN" altLang="en-US"/>
                </a:p>
              </p:txBody>
            </p:sp>
            <p:sp>
              <p:nvSpPr>
                <p:cNvPr id="12332" name="Line 114"/>
                <p:cNvSpPr>
                  <a:spLocks noChangeShapeType="1"/>
                </p:cNvSpPr>
                <p:nvPr/>
              </p:nvSpPr>
              <p:spPr bwMode="auto">
                <a:xfrm flipV="1">
                  <a:off x="3648" y="2496"/>
                  <a:ext cx="0" cy="144"/>
                </a:xfrm>
                <a:prstGeom prst="line">
                  <a:avLst/>
                </a:prstGeom>
                <a:noFill/>
                <a:ln w="19050">
                  <a:solidFill>
                    <a:schemeClr val="tx2"/>
                  </a:solidFill>
                  <a:round/>
                </a:ln>
              </p:spPr>
              <p:txBody>
                <a:bodyPr/>
                <a:lstStyle/>
                <a:p>
                  <a:endParaRPr lang="zh-CN" altLang="en-US"/>
                </a:p>
              </p:txBody>
            </p:sp>
            <p:sp>
              <p:nvSpPr>
                <p:cNvPr id="12333" name="Line 115"/>
                <p:cNvSpPr>
                  <a:spLocks noChangeShapeType="1"/>
                </p:cNvSpPr>
                <p:nvPr/>
              </p:nvSpPr>
              <p:spPr bwMode="auto">
                <a:xfrm>
                  <a:off x="3648" y="2496"/>
                  <a:ext cx="672" cy="0"/>
                </a:xfrm>
                <a:prstGeom prst="line">
                  <a:avLst/>
                </a:prstGeom>
                <a:noFill/>
                <a:ln w="19050">
                  <a:solidFill>
                    <a:schemeClr val="tx2"/>
                  </a:solidFill>
                  <a:round/>
                </a:ln>
              </p:spPr>
              <p:txBody>
                <a:bodyPr/>
                <a:lstStyle/>
                <a:p>
                  <a:endParaRPr lang="zh-CN" altLang="en-US"/>
                </a:p>
              </p:txBody>
            </p:sp>
            <p:sp>
              <p:nvSpPr>
                <p:cNvPr id="12334" name="Line 116"/>
                <p:cNvSpPr>
                  <a:spLocks noChangeShapeType="1"/>
                </p:cNvSpPr>
                <p:nvPr/>
              </p:nvSpPr>
              <p:spPr bwMode="auto">
                <a:xfrm>
                  <a:off x="4320" y="2496"/>
                  <a:ext cx="0" cy="144"/>
                </a:xfrm>
                <a:prstGeom prst="line">
                  <a:avLst/>
                </a:prstGeom>
                <a:noFill/>
                <a:ln w="19050">
                  <a:solidFill>
                    <a:schemeClr val="tx2"/>
                  </a:solidFill>
                  <a:round/>
                </a:ln>
              </p:spPr>
              <p:txBody>
                <a:bodyPr/>
                <a:lstStyle/>
                <a:p>
                  <a:endParaRPr lang="zh-CN" altLang="en-US"/>
                </a:p>
              </p:txBody>
            </p:sp>
            <p:sp>
              <p:nvSpPr>
                <p:cNvPr id="12335" name="Line 117"/>
                <p:cNvSpPr>
                  <a:spLocks noChangeShapeType="1"/>
                </p:cNvSpPr>
                <p:nvPr/>
              </p:nvSpPr>
              <p:spPr bwMode="auto">
                <a:xfrm>
                  <a:off x="4320" y="2640"/>
                  <a:ext cx="192" cy="0"/>
                </a:xfrm>
                <a:prstGeom prst="line">
                  <a:avLst/>
                </a:prstGeom>
                <a:noFill/>
                <a:ln w="19050">
                  <a:solidFill>
                    <a:schemeClr val="tx2"/>
                  </a:solidFill>
                  <a:round/>
                </a:ln>
              </p:spPr>
              <p:txBody>
                <a:bodyPr/>
                <a:lstStyle/>
                <a:p>
                  <a:endParaRPr lang="zh-CN" altLang="en-US"/>
                </a:p>
              </p:txBody>
            </p:sp>
          </p:grpSp>
          <p:grpSp>
            <p:nvGrpSpPr>
              <p:cNvPr id="12325" name="Group 126"/>
              <p:cNvGrpSpPr/>
              <p:nvPr/>
            </p:nvGrpSpPr>
            <p:grpSpPr bwMode="auto">
              <a:xfrm>
                <a:off x="960" y="2791"/>
                <a:ext cx="3552" cy="150"/>
                <a:chOff x="960" y="2743"/>
                <a:chExt cx="3552" cy="150"/>
              </a:xfrm>
            </p:grpSpPr>
            <p:sp>
              <p:nvSpPr>
                <p:cNvPr id="12326" name="Line 119"/>
                <p:cNvSpPr>
                  <a:spLocks noChangeShapeType="1"/>
                </p:cNvSpPr>
                <p:nvPr/>
              </p:nvSpPr>
              <p:spPr bwMode="auto">
                <a:xfrm>
                  <a:off x="960" y="2893"/>
                  <a:ext cx="3024" cy="0"/>
                </a:xfrm>
                <a:prstGeom prst="line">
                  <a:avLst/>
                </a:prstGeom>
                <a:noFill/>
                <a:ln w="19050">
                  <a:solidFill>
                    <a:schemeClr val="tx2"/>
                  </a:solidFill>
                  <a:round/>
                </a:ln>
              </p:spPr>
              <p:txBody>
                <a:bodyPr/>
                <a:lstStyle/>
                <a:p>
                  <a:endParaRPr lang="zh-CN" altLang="en-US"/>
                </a:p>
              </p:txBody>
            </p:sp>
            <p:sp>
              <p:nvSpPr>
                <p:cNvPr id="12327" name="Line 121"/>
                <p:cNvSpPr>
                  <a:spLocks noChangeShapeType="1"/>
                </p:cNvSpPr>
                <p:nvPr/>
              </p:nvSpPr>
              <p:spPr bwMode="auto">
                <a:xfrm>
                  <a:off x="3984" y="2743"/>
                  <a:ext cx="336" cy="0"/>
                </a:xfrm>
                <a:prstGeom prst="line">
                  <a:avLst/>
                </a:prstGeom>
                <a:noFill/>
                <a:ln w="19050">
                  <a:solidFill>
                    <a:srgbClr val="FF0000"/>
                  </a:solidFill>
                  <a:round/>
                </a:ln>
              </p:spPr>
              <p:txBody>
                <a:bodyPr/>
                <a:lstStyle/>
                <a:p>
                  <a:endParaRPr lang="zh-CN" altLang="en-US"/>
                </a:p>
              </p:txBody>
            </p:sp>
            <p:sp>
              <p:nvSpPr>
                <p:cNvPr id="12328" name="Line 123"/>
                <p:cNvSpPr>
                  <a:spLocks noChangeShapeType="1"/>
                </p:cNvSpPr>
                <p:nvPr/>
              </p:nvSpPr>
              <p:spPr bwMode="auto">
                <a:xfrm flipV="1">
                  <a:off x="3984" y="2743"/>
                  <a:ext cx="0" cy="144"/>
                </a:xfrm>
                <a:prstGeom prst="line">
                  <a:avLst/>
                </a:prstGeom>
                <a:noFill/>
                <a:ln w="19050">
                  <a:solidFill>
                    <a:schemeClr val="tx2"/>
                  </a:solidFill>
                  <a:round/>
                </a:ln>
              </p:spPr>
              <p:txBody>
                <a:bodyPr/>
                <a:lstStyle/>
                <a:p>
                  <a:endParaRPr lang="zh-CN" altLang="en-US"/>
                </a:p>
              </p:txBody>
            </p:sp>
            <p:sp>
              <p:nvSpPr>
                <p:cNvPr id="12329" name="Line 124"/>
                <p:cNvSpPr>
                  <a:spLocks noChangeShapeType="1"/>
                </p:cNvSpPr>
                <p:nvPr/>
              </p:nvSpPr>
              <p:spPr bwMode="auto">
                <a:xfrm flipV="1">
                  <a:off x="4320" y="2743"/>
                  <a:ext cx="0" cy="144"/>
                </a:xfrm>
                <a:prstGeom prst="line">
                  <a:avLst/>
                </a:prstGeom>
                <a:noFill/>
                <a:ln w="19050">
                  <a:solidFill>
                    <a:schemeClr val="tx2"/>
                  </a:solidFill>
                  <a:round/>
                </a:ln>
              </p:spPr>
              <p:txBody>
                <a:bodyPr/>
                <a:lstStyle/>
                <a:p>
                  <a:endParaRPr lang="zh-CN" altLang="en-US"/>
                </a:p>
              </p:txBody>
            </p:sp>
            <p:sp>
              <p:nvSpPr>
                <p:cNvPr id="12330" name="Line 125"/>
                <p:cNvSpPr>
                  <a:spLocks noChangeShapeType="1"/>
                </p:cNvSpPr>
                <p:nvPr/>
              </p:nvSpPr>
              <p:spPr bwMode="auto">
                <a:xfrm>
                  <a:off x="4320" y="2893"/>
                  <a:ext cx="192" cy="0"/>
                </a:xfrm>
                <a:prstGeom prst="line">
                  <a:avLst/>
                </a:prstGeom>
                <a:noFill/>
                <a:ln w="19050">
                  <a:solidFill>
                    <a:schemeClr val="tx2"/>
                  </a:solidFill>
                  <a:round/>
                </a:ln>
              </p:spPr>
              <p:txBody>
                <a:bodyPr/>
                <a:lstStyle/>
                <a:p>
                  <a:endParaRPr lang="zh-CN" altLang="en-US"/>
                </a:p>
              </p:txBody>
            </p:sp>
          </p:grpSp>
        </p:grpSp>
        <p:grpSp>
          <p:nvGrpSpPr>
            <p:cNvPr id="12303" name="Group 134"/>
            <p:cNvGrpSpPr/>
            <p:nvPr/>
          </p:nvGrpSpPr>
          <p:grpSpPr bwMode="auto">
            <a:xfrm>
              <a:off x="624" y="1296"/>
              <a:ext cx="384" cy="1748"/>
              <a:chOff x="624" y="1296"/>
              <a:chExt cx="384" cy="1748"/>
            </a:xfrm>
          </p:grpSpPr>
          <p:sp>
            <p:nvSpPr>
              <p:cNvPr id="12304" name="Text Box 128"/>
              <p:cNvSpPr txBox="1">
                <a:spLocks noChangeArrowheads="1"/>
              </p:cNvSpPr>
              <p:nvPr/>
            </p:nvSpPr>
            <p:spPr bwMode="auto">
              <a:xfrm>
                <a:off x="624" y="1296"/>
                <a:ext cx="384" cy="23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CP</a:t>
                </a:r>
              </a:p>
            </p:txBody>
          </p:sp>
          <p:sp>
            <p:nvSpPr>
              <p:cNvPr id="12305" name="Text Box 129"/>
              <p:cNvSpPr txBox="1">
                <a:spLocks noChangeArrowheads="1"/>
              </p:cNvSpPr>
              <p:nvPr/>
            </p:nvSpPr>
            <p:spPr bwMode="auto">
              <a:xfrm>
                <a:off x="624" y="1612"/>
                <a:ext cx="384" cy="23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Q</a:t>
                </a:r>
                <a:r>
                  <a:rPr lang="en-US" altLang="zh-CN" sz="1600" baseline="-25000">
                    <a:solidFill>
                      <a:schemeClr val="hlink"/>
                    </a:solidFill>
                    <a:ea typeface="Gulim" panose="020B0600000101010101" pitchFamily="34" charset="-127"/>
                  </a:rPr>
                  <a:t>0</a:t>
                </a:r>
                <a:endParaRPr lang="en-US" altLang="zh-CN" sz="1600">
                  <a:solidFill>
                    <a:schemeClr val="hlink"/>
                  </a:solidFill>
                  <a:ea typeface="Gulim" panose="020B0600000101010101" pitchFamily="34" charset="-127"/>
                </a:endParaRPr>
              </a:p>
            </p:txBody>
          </p:sp>
          <p:sp>
            <p:nvSpPr>
              <p:cNvPr id="12306" name="Text Box 130"/>
              <p:cNvSpPr txBox="1">
                <a:spLocks noChangeArrowheads="1"/>
              </p:cNvSpPr>
              <p:nvPr/>
            </p:nvSpPr>
            <p:spPr bwMode="auto">
              <a:xfrm>
                <a:off x="624" y="1872"/>
                <a:ext cx="384" cy="23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Q</a:t>
                </a:r>
                <a:r>
                  <a:rPr lang="en-US" altLang="zh-CN" sz="1600" baseline="-25000">
                    <a:solidFill>
                      <a:schemeClr val="hlink"/>
                    </a:solidFill>
                    <a:ea typeface="Gulim" panose="020B0600000101010101" pitchFamily="34" charset="-127"/>
                  </a:rPr>
                  <a:t>1</a:t>
                </a:r>
                <a:endParaRPr lang="en-US" altLang="zh-CN" sz="1600">
                  <a:solidFill>
                    <a:schemeClr val="hlink"/>
                  </a:solidFill>
                  <a:ea typeface="Gulim" panose="020B0600000101010101" pitchFamily="34" charset="-127"/>
                </a:endParaRPr>
              </a:p>
            </p:txBody>
          </p:sp>
          <p:sp>
            <p:nvSpPr>
              <p:cNvPr id="12307" name="Text Box 131"/>
              <p:cNvSpPr txBox="1">
                <a:spLocks noChangeArrowheads="1"/>
              </p:cNvSpPr>
              <p:nvPr/>
            </p:nvSpPr>
            <p:spPr bwMode="auto">
              <a:xfrm>
                <a:off x="624" y="2140"/>
                <a:ext cx="384" cy="23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Q</a:t>
                </a:r>
                <a:r>
                  <a:rPr lang="en-US" altLang="zh-CN" sz="1600" baseline="-25000">
                    <a:solidFill>
                      <a:schemeClr val="hlink"/>
                    </a:solidFill>
                    <a:ea typeface="Gulim" panose="020B0600000101010101" pitchFamily="34" charset="-127"/>
                  </a:rPr>
                  <a:t>2</a:t>
                </a:r>
                <a:endParaRPr lang="en-US" altLang="zh-CN" sz="1600">
                  <a:solidFill>
                    <a:schemeClr val="hlink"/>
                  </a:solidFill>
                  <a:ea typeface="Gulim" panose="020B0600000101010101" pitchFamily="34" charset="-127"/>
                </a:endParaRPr>
              </a:p>
            </p:txBody>
          </p:sp>
          <p:sp>
            <p:nvSpPr>
              <p:cNvPr id="12308" name="Text Box 132"/>
              <p:cNvSpPr txBox="1">
                <a:spLocks noChangeArrowheads="1"/>
              </p:cNvSpPr>
              <p:nvPr/>
            </p:nvSpPr>
            <p:spPr bwMode="auto">
              <a:xfrm>
                <a:off x="624" y="2428"/>
                <a:ext cx="384" cy="23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Q</a:t>
                </a:r>
                <a:r>
                  <a:rPr lang="en-US" altLang="zh-CN" sz="1600" baseline="-25000">
                    <a:solidFill>
                      <a:schemeClr val="hlink"/>
                    </a:solidFill>
                    <a:ea typeface="Gulim" panose="020B0600000101010101" pitchFamily="34" charset="-127"/>
                  </a:rPr>
                  <a:t>3</a:t>
                </a:r>
                <a:endParaRPr lang="en-US" altLang="zh-CN" sz="1600">
                  <a:solidFill>
                    <a:schemeClr val="hlink"/>
                  </a:solidFill>
                  <a:ea typeface="Gulim" panose="020B0600000101010101" pitchFamily="34" charset="-127"/>
                </a:endParaRPr>
              </a:p>
            </p:txBody>
          </p:sp>
          <p:sp>
            <p:nvSpPr>
              <p:cNvPr id="12309" name="Text Box 133"/>
              <p:cNvSpPr txBox="1">
                <a:spLocks noChangeArrowheads="1"/>
              </p:cNvSpPr>
              <p:nvPr/>
            </p:nvSpPr>
            <p:spPr bwMode="auto">
              <a:xfrm>
                <a:off x="624" y="2812"/>
                <a:ext cx="384" cy="23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C</a:t>
                </a:r>
              </a:p>
            </p:txBody>
          </p:sp>
        </p:grpSp>
      </p:grpSp>
      <p:sp>
        <p:nvSpPr>
          <p:cNvPr id="4327" name="Text Box 231"/>
          <p:cNvSpPr txBox="1">
            <a:spLocks noChangeArrowheads="1"/>
          </p:cNvSpPr>
          <p:nvPr/>
        </p:nvSpPr>
        <p:spPr bwMode="black">
          <a:xfrm>
            <a:off x="8880475" y="4397375"/>
            <a:ext cx="1787525" cy="700405"/>
          </a:xfrm>
          <a:prstGeom prst="rect">
            <a:avLst/>
          </a:prstGeom>
          <a:noFill/>
          <a:ln w="9525" algn="ctr">
            <a:noFill/>
            <a:miter lim="800000"/>
          </a:ln>
        </p:spPr>
        <p:txBody>
          <a:bodyPr>
            <a:spAutoFit/>
          </a:bodyPr>
          <a:lstStyle/>
          <a:p>
            <a:pPr>
              <a:lnSpc>
                <a:spcPct val="110000"/>
              </a:lnSpc>
            </a:pPr>
            <a:r>
              <a:rPr lang="en-US" altLang="zh-CN"/>
              <a:t>CP</a:t>
            </a:r>
            <a:r>
              <a:rPr lang="zh-CN" altLang="en-US"/>
              <a:t>下降沿时触发器翻转！</a:t>
            </a:r>
          </a:p>
        </p:txBody>
      </p:sp>
      <p:sp>
        <p:nvSpPr>
          <p:cNvPr id="231" name="Rectangle 105"/>
          <p:cNvSpPr>
            <a:spLocks noChangeArrowheads="1"/>
          </p:cNvSpPr>
          <p:nvPr/>
        </p:nvSpPr>
        <p:spPr bwMode="black">
          <a:xfrm>
            <a:off x="7818438" y="5637213"/>
            <a:ext cx="581025" cy="368300"/>
          </a:xfrm>
          <a:prstGeom prst="rect">
            <a:avLst/>
          </a:prstGeom>
          <a:noFill/>
          <a:ln w="9525" algn="ctr">
            <a:noFill/>
            <a:miter lim="800000"/>
          </a:ln>
          <a:effectLst>
            <a:prstShdw prst="shdw13" dist="53882" dir="13500000">
              <a:srgbClr val="808080">
                <a:alpha val="50000"/>
              </a:srgbClr>
            </a:prstShdw>
          </a:effectLst>
        </p:spPr>
        <p:txBody>
          <a:bodyPr>
            <a:spAutoFit/>
          </a:bodyPr>
          <a:lstStyle/>
          <a:p>
            <a:r>
              <a:rPr kumimoji="1" lang="en-US" altLang="zh-CN">
                <a:solidFill>
                  <a:srgbClr val="FF0000"/>
                </a:solidFill>
                <a:latin typeface="Arial" panose="020B0604020202020204" pitchFamily="34" charset="0"/>
              </a:rPr>
              <a:t>1</a:t>
            </a:r>
          </a:p>
        </p:txBody>
      </p:sp>
      <p:sp>
        <p:nvSpPr>
          <p:cNvPr id="232" name="Rectangle 105"/>
          <p:cNvSpPr>
            <a:spLocks noChangeArrowheads="1"/>
          </p:cNvSpPr>
          <p:nvPr/>
        </p:nvSpPr>
        <p:spPr bwMode="black">
          <a:xfrm>
            <a:off x="7837488" y="4741863"/>
            <a:ext cx="581025" cy="368300"/>
          </a:xfrm>
          <a:prstGeom prst="rect">
            <a:avLst/>
          </a:prstGeom>
          <a:noFill/>
          <a:ln w="9525" algn="ctr">
            <a:noFill/>
            <a:miter lim="800000"/>
          </a:ln>
          <a:effectLst>
            <a:prstShdw prst="shdw13" dist="53882" dir="13500000">
              <a:srgbClr val="808080">
                <a:alpha val="50000"/>
              </a:srgbClr>
            </a:prstShdw>
          </a:effectLst>
        </p:spPr>
        <p:txBody>
          <a:bodyPr>
            <a:spAutoFit/>
          </a:bodyPr>
          <a:lstStyle/>
          <a:p>
            <a:r>
              <a:rPr kumimoji="1" lang="en-US" altLang="zh-CN">
                <a:solidFill>
                  <a:srgbClr val="FF0000"/>
                </a:solidFill>
                <a:latin typeface="Arial" panose="020B0604020202020204" pitchFamily="34" charset="0"/>
              </a:rPr>
              <a:t>0</a:t>
            </a:r>
          </a:p>
        </p:txBody>
      </p:sp>
      <p:sp>
        <p:nvSpPr>
          <p:cNvPr id="233" name="Rectangle 105"/>
          <p:cNvSpPr>
            <a:spLocks noChangeArrowheads="1"/>
          </p:cNvSpPr>
          <p:nvPr/>
        </p:nvSpPr>
        <p:spPr bwMode="black">
          <a:xfrm>
            <a:off x="7837488" y="5160963"/>
            <a:ext cx="581025" cy="368300"/>
          </a:xfrm>
          <a:prstGeom prst="rect">
            <a:avLst/>
          </a:prstGeom>
          <a:noFill/>
          <a:ln w="9525" algn="ctr">
            <a:noFill/>
            <a:miter lim="800000"/>
          </a:ln>
          <a:effectLst>
            <a:prstShdw prst="shdw13" dist="53882" dir="13500000">
              <a:srgbClr val="808080">
                <a:alpha val="50000"/>
              </a:srgbClr>
            </a:prstShdw>
          </a:effectLst>
        </p:spPr>
        <p:txBody>
          <a:bodyPr>
            <a:spAutoFit/>
          </a:bodyPr>
          <a:lstStyle/>
          <a:p>
            <a:r>
              <a:rPr kumimoji="1" lang="en-US" altLang="zh-CN">
                <a:solidFill>
                  <a:srgbClr val="FF0000"/>
                </a:solidFill>
                <a:latin typeface="Arial" panose="020B0604020202020204" pitchFamily="34" charset="0"/>
              </a:rPr>
              <a:t>0</a:t>
            </a:r>
          </a:p>
        </p:txBody>
      </p:sp>
      <p:sp>
        <p:nvSpPr>
          <p:cNvPr id="234" name="Rectangle 105"/>
          <p:cNvSpPr>
            <a:spLocks noChangeArrowheads="1"/>
          </p:cNvSpPr>
          <p:nvPr/>
        </p:nvSpPr>
        <p:spPr bwMode="black">
          <a:xfrm>
            <a:off x="7837488" y="4398963"/>
            <a:ext cx="581025" cy="368300"/>
          </a:xfrm>
          <a:prstGeom prst="rect">
            <a:avLst/>
          </a:prstGeom>
          <a:noFill/>
          <a:ln w="9525" algn="ctr">
            <a:noFill/>
            <a:miter lim="800000"/>
          </a:ln>
          <a:effectLst>
            <a:prstShdw prst="shdw13" dist="53882" dir="13500000">
              <a:srgbClr val="808080">
                <a:alpha val="50000"/>
              </a:srgbClr>
            </a:prstShdw>
          </a:effectLst>
        </p:spPr>
        <p:txBody>
          <a:bodyPr>
            <a:spAutoFit/>
          </a:bodyPr>
          <a:lstStyle/>
          <a:p>
            <a:r>
              <a:rPr kumimoji="1" lang="en-US" altLang="zh-CN">
                <a:solidFill>
                  <a:srgbClr val="FF0000"/>
                </a:solidFill>
                <a:latin typeface="Arial" panose="020B0604020202020204" pitchFamily="34" charset="0"/>
              </a:rPr>
              <a:t>1</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 calcmode="lin" valueType="num">
                                      <p:cBhvr additive="base">
                                        <p:cTn id="7" dur="500" fill="hold"/>
                                        <p:tgtEl>
                                          <p:spTgt spid="207"/>
                                        </p:tgtEl>
                                        <p:attrNameLst>
                                          <p:attrName>ppt_x</p:attrName>
                                        </p:attrNameLst>
                                      </p:cBhvr>
                                      <p:tavLst>
                                        <p:tav tm="0">
                                          <p:val>
                                            <p:strVal val="0-#ppt_w/2"/>
                                          </p:val>
                                        </p:tav>
                                        <p:tav tm="100000">
                                          <p:val>
                                            <p:strVal val="#ppt_x"/>
                                          </p:val>
                                        </p:tav>
                                      </p:tavLst>
                                    </p:anim>
                                    <p:anim calcmode="lin" valueType="num">
                                      <p:cBhvr additive="base">
                                        <p:cTn id="8" dur="500" fill="hold"/>
                                        <p:tgtEl>
                                          <p:spTgt spid="20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2000" fill="hold"/>
                                        <p:tgtEl>
                                          <p:spTgt spid="2"/>
                                        </p:tgtEl>
                                        <p:attrNameLst>
                                          <p:attrName>ppt_x</p:attrName>
                                        </p:attrNameLst>
                                      </p:cBhvr>
                                      <p:tavLst>
                                        <p:tav tm="0">
                                          <p:val>
                                            <p:strVal val="1+#ppt_w/2"/>
                                          </p:val>
                                        </p:tav>
                                        <p:tav tm="100000">
                                          <p:val>
                                            <p:strVal val="#ppt_x"/>
                                          </p:val>
                                        </p:tav>
                                      </p:tavLst>
                                    </p:anim>
                                    <p:anim calcmode="lin" valueType="num">
                                      <p:cBhvr additive="base">
                                        <p:cTn id="13" dur="2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2000" fill="hold"/>
                                        <p:tgtEl>
                                          <p:spTgt spid="29"/>
                                        </p:tgtEl>
                                        <p:attrNameLst>
                                          <p:attrName>ppt_x</p:attrName>
                                        </p:attrNameLst>
                                      </p:cBhvr>
                                      <p:tavLst>
                                        <p:tav tm="0">
                                          <p:val>
                                            <p:strVal val="#ppt_x"/>
                                          </p:val>
                                        </p:tav>
                                        <p:tav tm="100000">
                                          <p:val>
                                            <p:strVal val="#ppt_x"/>
                                          </p:val>
                                        </p:tav>
                                      </p:tavLst>
                                    </p:anim>
                                    <p:anim calcmode="lin" valueType="num">
                                      <p:cBhvr additive="base">
                                        <p:cTn id="19" dur="2000" fill="hold"/>
                                        <p:tgtEl>
                                          <p:spTgt spid="29"/>
                                        </p:tgtEl>
                                        <p:attrNameLst>
                                          <p:attrName>ppt_y</p:attrName>
                                        </p:attrNameLst>
                                      </p:cBhvr>
                                      <p:tavLst>
                                        <p:tav tm="0">
                                          <p:val>
                                            <p:strVal val="1+#ppt_h/2"/>
                                          </p:val>
                                        </p:tav>
                                        <p:tav tm="100000">
                                          <p:val>
                                            <p:strVal val="#ppt_y"/>
                                          </p:val>
                                        </p:tav>
                                      </p:tavLst>
                                    </p:anim>
                                  </p:childTnLst>
                                </p:cTn>
                              </p:par>
                            </p:childTnLst>
                          </p:cTn>
                        </p:par>
                        <p:par>
                          <p:cTn id="20" fill="hold">
                            <p:stCondLst>
                              <p:cond delay="2000"/>
                            </p:stCondLst>
                            <p:childTnLst>
                              <p:par>
                                <p:cTn id="21" presetID="2" presetClass="entr" presetSubtype="4" fill="hold" grpId="0" nodeType="afterEffect">
                                  <p:stCondLst>
                                    <p:cond delay="0"/>
                                  </p:stCondLst>
                                  <p:childTnLst>
                                    <p:set>
                                      <p:cBhvr>
                                        <p:cTn id="22" dur="1" fill="hold">
                                          <p:stCondLst>
                                            <p:cond delay="0"/>
                                          </p:stCondLst>
                                        </p:cTn>
                                        <p:tgtEl>
                                          <p:spTgt spid="4327"/>
                                        </p:tgtEl>
                                        <p:attrNameLst>
                                          <p:attrName>style.visibility</p:attrName>
                                        </p:attrNameLst>
                                      </p:cBhvr>
                                      <p:to>
                                        <p:strVal val="visible"/>
                                      </p:to>
                                    </p:set>
                                    <p:anim calcmode="lin" valueType="num">
                                      <p:cBhvr additive="base">
                                        <p:cTn id="23" dur="500" fill="hold"/>
                                        <p:tgtEl>
                                          <p:spTgt spid="4327"/>
                                        </p:tgtEl>
                                        <p:attrNameLst>
                                          <p:attrName>ppt_x</p:attrName>
                                        </p:attrNameLst>
                                      </p:cBhvr>
                                      <p:tavLst>
                                        <p:tav tm="0">
                                          <p:val>
                                            <p:strVal val="#ppt_x"/>
                                          </p:val>
                                        </p:tav>
                                        <p:tav tm="100000">
                                          <p:val>
                                            <p:strVal val="#ppt_x"/>
                                          </p:val>
                                        </p:tav>
                                      </p:tavLst>
                                    </p:anim>
                                    <p:anim calcmode="lin" valueType="num">
                                      <p:cBhvr additive="base">
                                        <p:cTn id="24" dur="500" fill="hold"/>
                                        <p:tgtEl>
                                          <p:spTgt spid="432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231"/>
                                        </p:tgtEl>
                                        <p:attrNameLst>
                                          <p:attrName>style.visibility</p:attrName>
                                        </p:attrNameLst>
                                      </p:cBhvr>
                                      <p:to>
                                        <p:strVal val="visible"/>
                                      </p:to>
                                    </p:set>
                                    <p:animEffect transition="in" filter="dissolve">
                                      <p:cBhvr>
                                        <p:cTn id="29" dur="500"/>
                                        <p:tgtEl>
                                          <p:spTgt spid="231"/>
                                        </p:tgtEl>
                                      </p:cBhvr>
                                    </p:animEffec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233"/>
                                        </p:tgtEl>
                                        <p:attrNameLst>
                                          <p:attrName>style.visibility</p:attrName>
                                        </p:attrNameLst>
                                      </p:cBhvr>
                                      <p:to>
                                        <p:strVal val="visible"/>
                                      </p:to>
                                    </p:set>
                                    <p:animEffect transition="in" filter="dissolve">
                                      <p:cBhvr>
                                        <p:cTn id="33" dur="500"/>
                                        <p:tgtEl>
                                          <p:spTgt spid="233"/>
                                        </p:tgtEl>
                                      </p:cBhvr>
                                    </p:animEffect>
                                  </p:childTnLst>
                                </p:cTn>
                              </p:par>
                            </p:childTnLst>
                          </p:cTn>
                        </p:par>
                        <p:par>
                          <p:cTn id="34" fill="hold">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232"/>
                                        </p:tgtEl>
                                        <p:attrNameLst>
                                          <p:attrName>style.visibility</p:attrName>
                                        </p:attrNameLst>
                                      </p:cBhvr>
                                      <p:to>
                                        <p:strVal val="visible"/>
                                      </p:to>
                                    </p:set>
                                    <p:animEffect transition="in" filter="dissolve">
                                      <p:cBhvr>
                                        <p:cTn id="37" dur="500"/>
                                        <p:tgtEl>
                                          <p:spTgt spid="232"/>
                                        </p:tgtEl>
                                      </p:cBhvr>
                                    </p:animEffect>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234"/>
                                        </p:tgtEl>
                                        <p:attrNameLst>
                                          <p:attrName>style.visibility</p:attrName>
                                        </p:attrNameLst>
                                      </p:cBhvr>
                                      <p:to>
                                        <p:strVal val="visible"/>
                                      </p:to>
                                    </p:set>
                                    <p:animEffect transition="in" filter="dissolve">
                                      <p:cBhvr>
                                        <p:cTn id="41" dur="5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4327" grpId="0"/>
      <p:bldP spid="231" grpId="0" bldLvl="0" animBg="1"/>
      <p:bldP spid="232" grpId="0" bldLvl="0" animBg="1"/>
      <p:bldP spid="233" grpId="0" bldLvl="0" animBg="1"/>
      <p:bldP spid="234"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1" name="Rectangle 2"/>
          <p:cNvSpPr>
            <a:spLocks noGrp="1" noChangeArrowheads="1"/>
          </p:cNvSpPr>
          <p:nvPr>
            <p:ph type="title"/>
          </p:nvPr>
        </p:nvSpPr>
        <p:spPr>
          <a:xfrm>
            <a:off x="2587625" y="515937"/>
            <a:ext cx="6858000" cy="609600"/>
          </a:xfrm>
        </p:spPr>
        <p:txBody>
          <a:bodyPr>
            <a:normAutofit fontScale="90000"/>
          </a:bodyPr>
          <a:lstStyle/>
          <a:p>
            <a:r>
              <a:rPr lang="zh-CN" altLang="en-US" dirty="0">
                <a:latin typeface="Arial" panose="020B0604020202020204" pitchFamily="34" charset="0"/>
                <a:ea typeface="黑体" panose="02010609060101010101" pitchFamily="49" charset="-122"/>
              </a:rPr>
              <a:t>电路功能</a:t>
            </a:r>
            <a:endParaRPr lang="en-US" altLang="zh-CN" dirty="0">
              <a:latin typeface="Arial" panose="020B0604020202020204" pitchFamily="34" charset="0"/>
              <a:ea typeface="黑体" panose="02010609060101010101" pitchFamily="49" charset="-122"/>
            </a:endParaRPr>
          </a:p>
        </p:txBody>
      </p:sp>
      <p:sp>
        <p:nvSpPr>
          <p:cNvPr id="114690" name="灯片编号占位符 4"/>
          <p:cNvSpPr>
            <a:spLocks noGrp="1"/>
          </p:cNvSpPr>
          <p:nvPr>
            <p:ph type="sldNum" sz="quarter" idx="10"/>
          </p:nvPr>
        </p:nvSpPr>
        <p:spPr>
          <a:noFill/>
        </p:spPr>
        <p:txBody>
          <a:bodyPr/>
          <a:lstStyle/>
          <a:p>
            <a:fld id="{11DC3B32-6164-4F70-969B-42186F6A302C}" type="slidenum">
              <a:rPr lang="ko-KR" altLang="en-US" smtClean="0"/>
              <a:t>70</a:t>
            </a:fld>
            <a:endParaRPr lang="en-US" altLang="ko-KR"/>
          </a:p>
        </p:txBody>
      </p:sp>
      <p:sp>
        <p:nvSpPr>
          <p:cNvPr id="21508" name="Text Box 139"/>
          <p:cNvSpPr txBox="1">
            <a:spLocks noChangeArrowheads="1"/>
          </p:cNvSpPr>
          <p:nvPr/>
        </p:nvSpPr>
        <p:spPr bwMode="auto">
          <a:xfrm>
            <a:off x="1917700" y="1096963"/>
            <a:ext cx="8197850" cy="801370"/>
          </a:xfrm>
          <a:prstGeom prst="rect">
            <a:avLst/>
          </a:prstGeom>
          <a:noFill/>
          <a:ln w="9525">
            <a:noFill/>
            <a:miter lim="800000"/>
          </a:ln>
        </p:spPr>
        <p:txBody>
          <a:bodyPr>
            <a:spAutoFit/>
          </a:bodyPr>
          <a:lstStyle/>
          <a:p>
            <a:pPr algn="just" eaLnBrk="0" hangingPunct="0">
              <a:lnSpc>
                <a:spcPct val="110000"/>
              </a:lnSpc>
              <a:spcBef>
                <a:spcPct val="0"/>
              </a:spcBef>
            </a:pPr>
            <a:r>
              <a:rPr lang="zh-CN" altLang="en-US" sz="2400">
                <a:solidFill>
                  <a:srgbClr val="C00000"/>
                </a:solidFill>
                <a:latin typeface="Arial" panose="020B0604020202020204" pitchFamily="34" charset="0"/>
                <a:cs typeface="Arial" panose="020B0604020202020204" pitchFamily="34" charset="0"/>
              </a:rPr>
              <a:t>（</a:t>
            </a:r>
            <a:r>
              <a:rPr lang="en-US" altLang="zh-CN" sz="2400">
                <a:solidFill>
                  <a:srgbClr val="C00000"/>
                </a:solidFill>
                <a:latin typeface="Arial" panose="020B0604020202020204" pitchFamily="34" charset="0"/>
                <a:cs typeface="Arial" panose="020B0604020202020204" pitchFamily="34" charset="0"/>
              </a:rPr>
              <a:t>4</a:t>
            </a:r>
            <a:r>
              <a:rPr lang="zh-CN" altLang="en-US" sz="2400">
                <a:solidFill>
                  <a:srgbClr val="C00000"/>
                </a:solidFill>
                <a:latin typeface="Arial" panose="020B0604020202020204" pitchFamily="34" charset="0"/>
                <a:cs typeface="Arial" panose="020B0604020202020204" pitchFamily="34" charset="0"/>
              </a:rPr>
              <a:t>）说明</a:t>
            </a:r>
            <a:r>
              <a:rPr lang="zh-CN" altLang="en-US" sz="2400">
                <a:solidFill>
                  <a:srgbClr val="C00000"/>
                </a:solidFill>
                <a:latin typeface="宋体" panose="02010600030101010101" pitchFamily="2" charset="-122"/>
                <a:cs typeface="Arial" panose="020B0604020202020204" pitchFamily="34" charset="0"/>
              </a:rPr>
              <a:t>电路功能</a:t>
            </a:r>
            <a:endParaRPr lang="en-US" altLang="zh-CN" sz="2400">
              <a:solidFill>
                <a:srgbClr val="C00000"/>
              </a:solidFill>
              <a:latin typeface="宋体" panose="02010600030101010101" pitchFamily="2" charset="-122"/>
              <a:cs typeface="Arial" panose="020B0604020202020204" pitchFamily="34" charset="0"/>
            </a:endParaRPr>
          </a:p>
          <a:p>
            <a:pPr algn="just" eaLnBrk="0" hangingPunct="0">
              <a:lnSpc>
                <a:spcPct val="110000"/>
              </a:lnSpc>
              <a:spcBef>
                <a:spcPct val="0"/>
              </a:spcBef>
            </a:pPr>
            <a:r>
              <a:rPr lang="zh-CN" altLang="en-US">
                <a:latin typeface="宋体" panose="02010600030101010101" pitchFamily="2" charset="-122"/>
                <a:cs typeface="Arial" panose="020B0604020202020204" pitchFamily="34" charset="0"/>
              </a:rPr>
              <a:t>   根据状态转换图，可知为同步十进制加法计数器，有自启动能力</a:t>
            </a:r>
          </a:p>
        </p:txBody>
      </p:sp>
      <p:sp>
        <p:nvSpPr>
          <p:cNvPr id="88" name="Text Box 4"/>
          <p:cNvSpPr txBox="1">
            <a:spLocks noChangeArrowheads="1"/>
          </p:cNvSpPr>
          <p:nvPr/>
        </p:nvSpPr>
        <p:spPr bwMode="auto">
          <a:xfrm>
            <a:off x="2503488" y="1930400"/>
            <a:ext cx="6503987" cy="2028825"/>
          </a:xfrm>
          <a:prstGeom prst="rect">
            <a:avLst/>
          </a:prstGeom>
          <a:noFill/>
          <a:ln w="9525">
            <a:noFill/>
            <a:miter lim="800000"/>
          </a:ln>
        </p:spPr>
        <p:txBody>
          <a:bodyPr>
            <a:spAutoFit/>
          </a:bodyPr>
          <a:lstStyle/>
          <a:p>
            <a:pPr marL="268605" indent="-268605" algn="just" eaLnBrk="0" hangingPunct="0">
              <a:lnSpc>
                <a:spcPct val="110000"/>
              </a:lnSpc>
              <a:spcBef>
                <a:spcPct val="10000"/>
              </a:spcBef>
              <a:buClr>
                <a:srgbClr val="0F5C62"/>
              </a:buClr>
              <a:buSzPct val="80000"/>
              <a:buFont typeface="Wingdings" panose="05000000000000000000" pitchFamily="2" charset="2"/>
              <a:buChar char="u"/>
            </a:pPr>
            <a:r>
              <a:rPr lang="zh-CN" altLang="en-US">
                <a:latin typeface="Arial" panose="020B0604020202020204" pitchFamily="34" charset="0"/>
              </a:rPr>
              <a:t>计数器</a:t>
            </a:r>
            <a:r>
              <a:rPr lang="en-US" altLang="zh-CN">
                <a:latin typeface="Arial" panose="020B0604020202020204" pitchFamily="34" charset="0"/>
              </a:rPr>
              <a:t>——</a:t>
            </a:r>
            <a:r>
              <a:rPr lang="zh-CN" altLang="en-US">
                <a:latin typeface="Arial" panose="020B0604020202020204" pitchFamily="34" charset="0"/>
              </a:rPr>
              <a:t>由若干状态构成一个计数循环</a:t>
            </a:r>
            <a:endParaRPr lang="en-US" altLang="zh-CN">
              <a:latin typeface="Arial" panose="020B0604020202020204" pitchFamily="34" charset="0"/>
            </a:endParaRPr>
          </a:p>
          <a:p>
            <a:pPr marL="268605" indent="-268605" algn="just" eaLnBrk="0" hangingPunct="0">
              <a:lnSpc>
                <a:spcPct val="110000"/>
              </a:lnSpc>
              <a:spcBef>
                <a:spcPct val="10000"/>
              </a:spcBef>
              <a:buClr>
                <a:srgbClr val="0F5C62"/>
              </a:buClr>
              <a:buSzPct val="80000"/>
              <a:buFont typeface="Wingdings" panose="05000000000000000000" pitchFamily="2" charset="2"/>
              <a:buChar char="u"/>
            </a:pPr>
            <a:r>
              <a:rPr lang="zh-CN" altLang="en-US">
                <a:latin typeface="Arial" panose="020B0604020202020204" pitchFamily="34" charset="0"/>
              </a:rPr>
              <a:t>同步</a:t>
            </a:r>
            <a:r>
              <a:rPr lang="en-US" altLang="zh-CN">
                <a:latin typeface="Arial" panose="020B0604020202020204" pitchFamily="34" charset="0"/>
              </a:rPr>
              <a:t>——</a:t>
            </a:r>
            <a:r>
              <a:rPr lang="zh-CN" altLang="en-US">
                <a:latin typeface="Arial" panose="020B0604020202020204" pitchFamily="34" charset="0"/>
              </a:rPr>
              <a:t>构成电路的全部</a:t>
            </a:r>
            <a:r>
              <a:rPr lang="en-US" altLang="zh-CN">
                <a:latin typeface="Arial" panose="020B0604020202020204" pitchFamily="34" charset="0"/>
              </a:rPr>
              <a:t>FF</a:t>
            </a:r>
            <a:r>
              <a:rPr lang="zh-CN" altLang="en-US">
                <a:latin typeface="Arial" panose="020B0604020202020204" pitchFamily="34" charset="0"/>
              </a:rPr>
              <a:t>的时钟端连接在一起</a:t>
            </a:r>
            <a:endParaRPr lang="en-US" altLang="zh-CN">
              <a:latin typeface="Arial" panose="020B0604020202020204" pitchFamily="34" charset="0"/>
            </a:endParaRPr>
          </a:p>
          <a:p>
            <a:pPr marL="268605" indent="-268605" algn="just" eaLnBrk="0" hangingPunct="0">
              <a:lnSpc>
                <a:spcPct val="110000"/>
              </a:lnSpc>
              <a:spcBef>
                <a:spcPct val="10000"/>
              </a:spcBef>
              <a:buClr>
                <a:srgbClr val="0F5C62"/>
              </a:buClr>
              <a:buSzPct val="80000"/>
              <a:buFont typeface="Wingdings" panose="05000000000000000000" pitchFamily="2" charset="2"/>
              <a:buChar char="u"/>
            </a:pPr>
            <a:r>
              <a:rPr lang="zh-CN" altLang="en-US">
                <a:latin typeface="Arial" panose="020B0604020202020204" pitchFamily="34" charset="0"/>
              </a:rPr>
              <a:t>十进制</a:t>
            </a:r>
            <a:r>
              <a:rPr lang="en-US" altLang="zh-CN">
                <a:latin typeface="Arial" panose="020B0604020202020204" pitchFamily="34" charset="0"/>
              </a:rPr>
              <a:t>——</a:t>
            </a:r>
            <a:r>
              <a:rPr lang="zh-CN" altLang="en-US">
                <a:latin typeface="Arial" panose="020B0604020202020204" pitchFamily="34" charset="0"/>
              </a:rPr>
              <a:t>计数循环的状态个数为</a:t>
            </a:r>
            <a:r>
              <a:rPr lang="en-US" altLang="zh-CN">
                <a:latin typeface="Arial" panose="020B0604020202020204" pitchFamily="34" charset="0"/>
              </a:rPr>
              <a:t>10</a:t>
            </a:r>
            <a:r>
              <a:rPr lang="zh-CN" altLang="en-US">
                <a:latin typeface="Arial" panose="020B0604020202020204" pitchFamily="34" charset="0"/>
              </a:rPr>
              <a:t>（模</a:t>
            </a:r>
            <a:r>
              <a:rPr lang="en-US" altLang="zh-CN">
                <a:latin typeface="Arial" panose="020B0604020202020204" pitchFamily="34" charset="0"/>
              </a:rPr>
              <a:t>10</a:t>
            </a:r>
            <a:r>
              <a:rPr lang="zh-CN" altLang="en-US">
                <a:latin typeface="Arial" panose="020B0604020202020204" pitchFamily="34" charset="0"/>
              </a:rPr>
              <a:t>计数器）</a:t>
            </a:r>
            <a:endParaRPr lang="en-US" altLang="zh-CN">
              <a:latin typeface="Arial" panose="020B0604020202020204" pitchFamily="34" charset="0"/>
            </a:endParaRPr>
          </a:p>
          <a:p>
            <a:pPr marL="268605" indent="-268605" algn="just" eaLnBrk="0" hangingPunct="0">
              <a:lnSpc>
                <a:spcPct val="110000"/>
              </a:lnSpc>
              <a:spcBef>
                <a:spcPct val="10000"/>
              </a:spcBef>
              <a:buClr>
                <a:srgbClr val="0F5C62"/>
              </a:buClr>
              <a:buSzPct val="80000"/>
              <a:buFont typeface="Wingdings" panose="05000000000000000000" pitchFamily="2" charset="2"/>
              <a:buChar char="u"/>
            </a:pPr>
            <a:r>
              <a:rPr lang="zh-CN" altLang="en-US">
                <a:latin typeface="Arial" panose="020B0604020202020204" pitchFamily="34" charset="0"/>
              </a:rPr>
              <a:t>加法</a:t>
            </a:r>
            <a:r>
              <a:rPr lang="en-US" altLang="zh-CN">
                <a:latin typeface="Arial" panose="020B0604020202020204" pitchFamily="34" charset="0"/>
              </a:rPr>
              <a:t>——</a:t>
            </a:r>
            <a:r>
              <a:rPr lang="zh-CN" altLang="en-US">
                <a:latin typeface="Arial" panose="020B0604020202020204" pitchFamily="34" charset="0"/>
              </a:rPr>
              <a:t>计数状态按递增方向变化</a:t>
            </a:r>
            <a:endParaRPr lang="en-US" altLang="zh-CN">
              <a:latin typeface="Arial" panose="020B0604020202020204" pitchFamily="34" charset="0"/>
            </a:endParaRPr>
          </a:p>
          <a:p>
            <a:pPr marL="268605" indent="-268605" algn="just" eaLnBrk="0" hangingPunct="0">
              <a:lnSpc>
                <a:spcPct val="110000"/>
              </a:lnSpc>
              <a:spcBef>
                <a:spcPct val="10000"/>
              </a:spcBef>
              <a:buClr>
                <a:srgbClr val="0F5C62"/>
              </a:buClr>
              <a:buSzPct val="80000"/>
              <a:buFont typeface="Wingdings" panose="05000000000000000000" pitchFamily="2" charset="2"/>
              <a:buChar char="u"/>
            </a:pPr>
            <a:r>
              <a:rPr lang="zh-CN" altLang="en-US">
                <a:latin typeface="Arial" panose="020B0604020202020204" pitchFamily="34" charset="0"/>
              </a:rPr>
              <a:t>自启动</a:t>
            </a:r>
            <a:r>
              <a:rPr lang="en-US" altLang="zh-CN">
                <a:latin typeface="Arial" panose="020B0604020202020204" pitchFamily="34" charset="0"/>
              </a:rPr>
              <a:t>——</a:t>
            </a:r>
            <a:r>
              <a:rPr lang="zh-CN" altLang="en-US">
                <a:latin typeface="Arial" panose="020B0604020202020204" pitchFamily="34" charset="0"/>
              </a:rPr>
              <a:t>不存在死循环，计数循环以外的状态，都能回到计数循环中来</a:t>
            </a:r>
          </a:p>
        </p:txBody>
      </p:sp>
      <p:sp>
        <p:nvSpPr>
          <p:cNvPr id="93" name="Text Box 9"/>
          <p:cNvSpPr txBox="1">
            <a:spLocks noChangeArrowheads="1"/>
          </p:cNvSpPr>
          <p:nvPr/>
        </p:nvSpPr>
        <p:spPr bwMode="auto">
          <a:xfrm>
            <a:off x="1952625" y="4637088"/>
            <a:ext cx="7451725" cy="395605"/>
          </a:xfrm>
          <a:prstGeom prst="rect">
            <a:avLst/>
          </a:prstGeom>
          <a:noFill/>
          <a:ln w="9525">
            <a:noFill/>
            <a:miter lim="800000"/>
          </a:ln>
        </p:spPr>
        <p:txBody>
          <a:bodyPr>
            <a:spAutoFit/>
          </a:bodyPr>
          <a:lstStyle/>
          <a:p>
            <a:pPr marL="725805" lvl="1" indent="-268605" algn="just" eaLnBrk="0" hangingPunct="0">
              <a:lnSpc>
                <a:spcPct val="110000"/>
              </a:lnSpc>
              <a:spcBef>
                <a:spcPct val="0"/>
              </a:spcBef>
              <a:buClr>
                <a:srgbClr val="0F5C62"/>
              </a:buClr>
              <a:buSzPct val="80000"/>
              <a:buFont typeface="Wingdings" panose="05000000000000000000" pitchFamily="2" charset="2"/>
              <a:buChar char="u"/>
            </a:pPr>
            <a:r>
              <a:rPr lang="zh-CN" altLang="en-US">
                <a:solidFill>
                  <a:srgbClr val="FF0000"/>
                </a:solidFill>
                <a:latin typeface="Arial" panose="020B0604020202020204" pitchFamily="34" charset="0"/>
              </a:rPr>
              <a:t>死循环（无效循环）</a:t>
            </a:r>
            <a:r>
              <a:rPr lang="en-US" altLang="zh-CN">
                <a:latin typeface="Arial" panose="020B0604020202020204" pitchFamily="34" charset="0"/>
              </a:rPr>
              <a:t>——</a:t>
            </a:r>
            <a:r>
              <a:rPr lang="zh-CN" altLang="en-US">
                <a:latin typeface="Arial" panose="020B0604020202020204" pitchFamily="34" charset="0"/>
              </a:rPr>
              <a:t>由无效状态构成的循环</a:t>
            </a:r>
          </a:p>
        </p:txBody>
      </p:sp>
      <p:grpSp>
        <p:nvGrpSpPr>
          <p:cNvPr id="2" name="Group 106"/>
          <p:cNvGrpSpPr/>
          <p:nvPr/>
        </p:nvGrpSpPr>
        <p:grpSpPr bwMode="auto">
          <a:xfrm>
            <a:off x="3886200" y="5299075"/>
            <a:ext cx="2019300" cy="736601"/>
            <a:chOff x="3012" y="3628"/>
            <a:chExt cx="1272" cy="464"/>
          </a:xfrm>
        </p:grpSpPr>
        <p:grpSp>
          <p:nvGrpSpPr>
            <p:cNvPr id="114702" name="Group 80"/>
            <p:cNvGrpSpPr/>
            <p:nvPr/>
          </p:nvGrpSpPr>
          <p:grpSpPr bwMode="auto">
            <a:xfrm>
              <a:off x="3888" y="3704"/>
              <a:ext cx="396" cy="368"/>
              <a:chOff x="3312" y="2727"/>
              <a:chExt cx="396" cy="368"/>
            </a:xfrm>
          </p:grpSpPr>
          <p:sp>
            <p:nvSpPr>
              <p:cNvPr id="114710" name="Oval 81"/>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4711" name="Text Box 82"/>
              <p:cNvSpPr txBox="1">
                <a:spLocks noChangeArrowheads="1"/>
              </p:cNvSpPr>
              <p:nvPr/>
            </p:nvSpPr>
            <p:spPr bwMode="auto">
              <a:xfrm>
                <a:off x="3324" y="2727"/>
                <a:ext cx="384" cy="368"/>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1110</a:t>
                </a:r>
              </a:p>
            </p:txBody>
          </p:sp>
        </p:grpSp>
        <p:sp>
          <p:nvSpPr>
            <p:cNvPr id="114703" name="Line 83"/>
            <p:cNvSpPr>
              <a:spLocks noChangeShapeType="1"/>
            </p:cNvSpPr>
            <p:nvPr/>
          </p:nvSpPr>
          <p:spPr bwMode="auto">
            <a:xfrm flipH="1" flipV="1">
              <a:off x="3408" y="3840"/>
              <a:ext cx="480" cy="0"/>
            </a:xfrm>
            <a:prstGeom prst="line">
              <a:avLst/>
            </a:prstGeom>
            <a:noFill/>
            <a:ln w="9525">
              <a:solidFill>
                <a:schemeClr val="tx1"/>
              </a:solidFill>
              <a:round/>
              <a:tailEnd type="triangle" w="med" len="med"/>
            </a:ln>
          </p:spPr>
          <p:txBody>
            <a:bodyPr/>
            <a:lstStyle/>
            <a:p>
              <a:endParaRPr lang="zh-CN" altLang="en-US"/>
            </a:p>
          </p:txBody>
        </p:sp>
        <p:grpSp>
          <p:nvGrpSpPr>
            <p:cNvPr id="114704" name="Group 84"/>
            <p:cNvGrpSpPr/>
            <p:nvPr/>
          </p:nvGrpSpPr>
          <p:grpSpPr bwMode="auto">
            <a:xfrm>
              <a:off x="3012" y="3724"/>
              <a:ext cx="396" cy="368"/>
              <a:chOff x="3312" y="2727"/>
              <a:chExt cx="396" cy="368"/>
            </a:xfrm>
          </p:grpSpPr>
          <p:sp>
            <p:nvSpPr>
              <p:cNvPr id="114708" name="Oval 85"/>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4709" name="Text Box 86"/>
              <p:cNvSpPr txBox="1">
                <a:spLocks noChangeArrowheads="1"/>
              </p:cNvSpPr>
              <p:nvPr/>
            </p:nvSpPr>
            <p:spPr bwMode="auto">
              <a:xfrm>
                <a:off x="3324" y="2727"/>
                <a:ext cx="384" cy="368"/>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1111</a:t>
                </a:r>
              </a:p>
            </p:txBody>
          </p:sp>
        </p:grpSp>
        <p:sp>
          <p:nvSpPr>
            <p:cNvPr id="114705" name="Text Box 97"/>
            <p:cNvSpPr txBox="1">
              <a:spLocks noChangeArrowheads="1"/>
            </p:cNvSpPr>
            <p:nvPr/>
          </p:nvSpPr>
          <p:spPr bwMode="auto">
            <a:xfrm>
              <a:off x="3504" y="3820"/>
              <a:ext cx="288" cy="21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a:t>
              </a:r>
            </a:p>
          </p:txBody>
        </p:sp>
        <p:sp>
          <p:nvSpPr>
            <p:cNvPr id="114706" name="Text Box 103"/>
            <p:cNvSpPr txBox="1">
              <a:spLocks noChangeArrowheads="1"/>
            </p:cNvSpPr>
            <p:nvPr/>
          </p:nvSpPr>
          <p:spPr bwMode="auto">
            <a:xfrm>
              <a:off x="3504" y="3628"/>
              <a:ext cx="288" cy="21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a:t>
              </a:r>
            </a:p>
          </p:txBody>
        </p:sp>
        <p:sp>
          <p:nvSpPr>
            <p:cNvPr id="114707" name="Arc 105"/>
            <p:cNvSpPr/>
            <p:nvPr/>
          </p:nvSpPr>
          <p:spPr bwMode="auto">
            <a:xfrm flipH="1">
              <a:off x="3361" y="3648"/>
              <a:ext cx="623" cy="96"/>
            </a:xfrm>
            <a:custGeom>
              <a:avLst/>
              <a:gdLst>
                <a:gd name="T0" fmla="*/ 0 w 43003"/>
                <a:gd name="T1" fmla="*/ 0 h 21600"/>
                <a:gd name="T2" fmla="*/ 0 w 43003"/>
                <a:gd name="T3" fmla="*/ 0 h 21600"/>
                <a:gd name="T4" fmla="*/ 0 w 43003"/>
                <a:gd name="T5" fmla="*/ 0 h 21600"/>
                <a:gd name="T6" fmla="*/ 0 60000 65536"/>
                <a:gd name="T7" fmla="*/ 0 60000 65536"/>
                <a:gd name="T8" fmla="*/ 0 60000 65536"/>
                <a:gd name="T9" fmla="*/ 0 w 43003"/>
                <a:gd name="T10" fmla="*/ 0 h 21600"/>
                <a:gd name="T11" fmla="*/ 43003 w 43003"/>
                <a:gd name="T12" fmla="*/ 21600 h 21600"/>
              </a:gdLst>
              <a:ahLst/>
              <a:cxnLst>
                <a:cxn ang="T6">
                  <a:pos x="T0" y="T1"/>
                </a:cxn>
                <a:cxn ang="T7">
                  <a:pos x="T2" y="T3"/>
                </a:cxn>
                <a:cxn ang="T8">
                  <a:pos x="T4" y="T5"/>
                </a:cxn>
              </a:cxnLst>
              <a:rect l="T9" t="T10" r="T11" b="T12"/>
              <a:pathLst>
                <a:path w="43003" h="21600" fill="none" extrusionOk="0">
                  <a:moveTo>
                    <a:pt x="0" y="18687"/>
                  </a:moveTo>
                  <a:cubicBezTo>
                    <a:pt x="1457" y="7982"/>
                    <a:pt x="10599" y="-1"/>
                    <a:pt x="21403" y="0"/>
                  </a:cubicBezTo>
                  <a:cubicBezTo>
                    <a:pt x="33332" y="0"/>
                    <a:pt x="43003" y="9670"/>
                    <a:pt x="43003" y="21600"/>
                  </a:cubicBezTo>
                </a:path>
                <a:path w="43003" h="21600" stroke="0" extrusionOk="0">
                  <a:moveTo>
                    <a:pt x="0" y="18687"/>
                  </a:moveTo>
                  <a:cubicBezTo>
                    <a:pt x="1457" y="7982"/>
                    <a:pt x="10599" y="-1"/>
                    <a:pt x="21403" y="0"/>
                  </a:cubicBezTo>
                  <a:cubicBezTo>
                    <a:pt x="33332" y="0"/>
                    <a:pt x="43003" y="9670"/>
                    <a:pt x="43003" y="21600"/>
                  </a:cubicBezTo>
                  <a:lnTo>
                    <a:pt x="21403" y="21600"/>
                  </a:lnTo>
                  <a:close/>
                </a:path>
              </a:pathLst>
            </a:custGeom>
            <a:noFill/>
            <a:ln w="9525">
              <a:solidFill>
                <a:schemeClr val="tx1"/>
              </a:solidFill>
              <a:round/>
              <a:headEnd type="triangle" w="med" len="med"/>
            </a:ln>
          </p:spPr>
          <p:txBody>
            <a:bodyPr wrap="none" anchor="ctr"/>
            <a:lstStyle/>
            <a:p>
              <a:endParaRPr lang="zh-CN" altLang="en-US"/>
            </a:p>
          </p:txBody>
        </p:sp>
      </p:grpSp>
      <p:grpSp>
        <p:nvGrpSpPr>
          <p:cNvPr id="5" name="Group 118"/>
          <p:cNvGrpSpPr/>
          <p:nvPr/>
        </p:nvGrpSpPr>
        <p:grpSpPr bwMode="auto">
          <a:xfrm>
            <a:off x="6584950" y="5356225"/>
            <a:ext cx="1000125" cy="673101"/>
            <a:chOff x="2280" y="3284"/>
            <a:chExt cx="630" cy="424"/>
          </a:xfrm>
        </p:grpSpPr>
        <p:grpSp>
          <p:nvGrpSpPr>
            <p:cNvPr id="114698" name="Group 112"/>
            <p:cNvGrpSpPr/>
            <p:nvPr/>
          </p:nvGrpSpPr>
          <p:grpSpPr bwMode="auto">
            <a:xfrm>
              <a:off x="2280" y="3340"/>
              <a:ext cx="396" cy="368"/>
              <a:chOff x="3312" y="2727"/>
              <a:chExt cx="396" cy="368"/>
            </a:xfrm>
          </p:grpSpPr>
          <p:sp>
            <p:nvSpPr>
              <p:cNvPr id="114700" name="Oval 113"/>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4701" name="Text Box 114"/>
              <p:cNvSpPr txBox="1">
                <a:spLocks noChangeArrowheads="1"/>
              </p:cNvSpPr>
              <p:nvPr/>
            </p:nvSpPr>
            <p:spPr bwMode="auto">
              <a:xfrm>
                <a:off x="3324" y="2727"/>
                <a:ext cx="384" cy="368"/>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1111</a:t>
                </a:r>
              </a:p>
            </p:txBody>
          </p:sp>
        </p:grpSp>
        <p:sp>
          <p:nvSpPr>
            <p:cNvPr id="114699" name="Arc 117"/>
            <p:cNvSpPr/>
            <p:nvPr/>
          </p:nvSpPr>
          <p:spPr bwMode="auto">
            <a:xfrm flipH="1">
              <a:off x="2622" y="3284"/>
              <a:ext cx="288" cy="289"/>
            </a:xfrm>
            <a:custGeom>
              <a:avLst/>
              <a:gdLst>
                <a:gd name="T0" fmla="*/ 0 w 41728"/>
                <a:gd name="T1" fmla="*/ 0 h 43200"/>
                <a:gd name="T2" fmla="*/ 0 w 41728"/>
                <a:gd name="T3" fmla="*/ 0 h 43200"/>
                <a:gd name="T4" fmla="*/ 0 w 41728"/>
                <a:gd name="T5" fmla="*/ 0 h 43200"/>
                <a:gd name="T6" fmla="*/ 0 60000 65536"/>
                <a:gd name="T7" fmla="*/ 0 60000 65536"/>
                <a:gd name="T8" fmla="*/ 0 60000 65536"/>
                <a:gd name="T9" fmla="*/ 0 w 41728"/>
                <a:gd name="T10" fmla="*/ 0 h 43200"/>
                <a:gd name="T11" fmla="*/ 41728 w 41728"/>
                <a:gd name="T12" fmla="*/ 43200 h 43200"/>
              </a:gdLst>
              <a:ahLst/>
              <a:cxnLst>
                <a:cxn ang="T6">
                  <a:pos x="T0" y="T1"/>
                </a:cxn>
                <a:cxn ang="T7">
                  <a:pos x="T2" y="T3"/>
                </a:cxn>
                <a:cxn ang="T8">
                  <a:pos x="T4" y="T5"/>
                </a:cxn>
              </a:cxnLst>
              <a:rect l="T9" t="T10" r="T11" b="T12"/>
              <a:pathLst>
                <a:path w="41728" h="43200" fill="none" extrusionOk="0">
                  <a:moveTo>
                    <a:pt x="39829" y="33185"/>
                  </a:moveTo>
                  <a:cubicBezTo>
                    <a:pt x="35866" y="39422"/>
                    <a:pt x="28989" y="43199"/>
                    <a:pt x="21600" y="43200"/>
                  </a:cubicBezTo>
                  <a:cubicBezTo>
                    <a:pt x="9670" y="43200"/>
                    <a:pt x="0" y="33529"/>
                    <a:pt x="0" y="21600"/>
                  </a:cubicBezTo>
                  <a:cubicBezTo>
                    <a:pt x="0" y="9670"/>
                    <a:pt x="9670" y="0"/>
                    <a:pt x="21600" y="0"/>
                  </a:cubicBezTo>
                  <a:cubicBezTo>
                    <a:pt x="30504" y="-1"/>
                    <a:pt x="38496" y="5464"/>
                    <a:pt x="41727" y="13762"/>
                  </a:cubicBezTo>
                </a:path>
                <a:path w="41728" h="43200" stroke="0" extrusionOk="0">
                  <a:moveTo>
                    <a:pt x="39829" y="33185"/>
                  </a:moveTo>
                  <a:cubicBezTo>
                    <a:pt x="35866" y="39422"/>
                    <a:pt x="28989" y="43199"/>
                    <a:pt x="21600" y="43200"/>
                  </a:cubicBezTo>
                  <a:cubicBezTo>
                    <a:pt x="9670" y="43200"/>
                    <a:pt x="0" y="33529"/>
                    <a:pt x="0" y="21600"/>
                  </a:cubicBezTo>
                  <a:cubicBezTo>
                    <a:pt x="0" y="9670"/>
                    <a:pt x="9670" y="0"/>
                    <a:pt x="21600" y="0"/>
                  </a:cubicBezTo>
                  <a:cubicBezTo>
                    <a:pt x="30504" y="-1"/>
                    <a:pt x="38496" y="5464"/>
                    <a:pt x="41727" y="13762"/>
                  </a:cubicBezTo>
                  <a:lnTo>
                    <a:pt x="21600" y="21600"/>
                  </a:lnTo>
                  <a:close/>
                </a:path>
              </a:pathLst>
            </a:custGeom>
            <a:noFill/>
            <a:ln w="9525">
              <a:solidFill>
                <a:schemeClr val="tx1"/>
              </a:solidFill>
              <a:round/>
              <a:headEnd type="triangle" w="med" len="med"/>
            </a:ln>
          </p:spPr>
          <p:txBody>
            <a:bodyPr wrap="none" anchor="ctr"/>
            <a:lstStyle/>
            <a:p>
              <a:endParaRPr lang="zh-CN" altLang="en-US"/>
            </a:p>
          </p:txBody>
        </p:sp>
      </p:grpSp>
      <p:sp>
        <p:nvSpPr>
          <p:cNvPr id="29" name="AutoShape 5"/>
          <p:cNvSpPr>
            <a:spLocks noChangeArrowheads="1"/>
          </p:cNvSpPr>
          <p:nvPr/>
        </p:nvSpPr>
        <p:spPr bwMode="auto">
          <a:xfrm>
            <a:off x="8274050" y="3501024"/>
            <a:ext cx="2955925" cy="2494378"/>
          </a:xfrm>
          <a:prstGeom prst="irregularSeal1">
            <a:avLst/>
          </a:prstGeom>
          <a:solidFill>
            <a:srgbClr val="F0C200"/>
          </a:solidFill>
          <a:ln w="9525">
            <a:noFill/>
            <a:miter lim="800000"/>
          </a:ln>
        </p:spPr>
        <p:txBody>
          <a:bodyPr anchor="ctr">
            <a:spAutoFit/>
          </a:bodyPr>
          <a:lstStyle/>
          <a:p>
            <a:pPr>
              <a:spcBef>
                <a:spcPct val="30000"/>
              </a:spcBef>
              <a:buClr>
                <a:schemeClr val="tx2"/>
              </a:buClr>
              <a:buSzPct val="85000"/>
              <a:buFont typeface="Wingdings" panose="05000000000000000000" pitchFamily="2" charset="2"/>
              <a:buNone/>
            </a:pPr>
            <a:r>
              <a:rPr lang="zh-CN" altLang="en-US">
                <a:solidFill>
                  <a:srgbClr val="CC0000"/>
                </a:solidFill>
                <a:ea typeface="华文行楷" panose="02010800040101010101" pitchFamily="2" charset="-122"/>
              </a:rPr>
              <a:t>设计计数器时，不允许存在死循环！</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additive="base">
                                        <p:cTn id="7" dur="500" fill="hold"/>
                                        <p:tgtEl>
                                          <p:spTgt spid="21508"/>
                                        </p:tgtEl>
                                        <p:attrNameLst>
                                          <p:attrName>ppt_x</p:attrName>
                                        </p:attrNameLst>
                                      </p:cBhvr>
                                      <p:tavLst>
                                        <p:tav tm="0">
                                          <p:val>
                                            <p:strVal val="0-#ppt_w/2"/>
                                          </p:val>
                                        </p:tav>
                                        <p:tav tm="100000">
                                          <p:val>
                                            <p:strVal val="#ppt_x"/>
                                          </p:val>
                                        </p:tav>
                                      </p:tavLst>
                                    </p:anim>
                                    <p:anim calcmode="lin" valueType="num">
                                      <p:cBhvr additive="base">
                                        <p:cTn id="8" dur="500" fill="hold"/>
                                        <p:tgtEl>
                                          <p:spTgt spid="2150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8"/>
                                        </p:tgtEl>
                                        <p:attrNameLst>
                                          <p:attrName>style.visibility</p:attrName>
                                        </p:attrNameLst>
                                      </p:cBhvr>
                                      <p:to>
                                        <p:strVal val="visible"/>
                                      </p:to>
                                    </p:set>
                                    <p:anim calcmode="lin" valueType="num">
                                      <p:cBhvr additive="base">
                                        <p:cTn id="13" dur="500" fill="hold"/>
                                        <p:tgtEl>
                                          <p:spTgt spid="88"/>
                                        </p:tgtEl>
                                        <p:attrNameLst>
                                          <p:attrName>ppt_x</p:attrName>
                                        </p:attrNameLst>
                                      </p:cBhvr>
                                      <p:tavLst>
                                        <p:tav tm="0">
                                          <p:val>
                                            <p:strVal val="0-#ppt_w/2"/>
                                          </p:val>
                                        </p:tav>
                                        <p:tav tm="100000">
                                          <p:val>
                                            <p:strVal val="#ppt_x"/>
                                          </p:val>
                                        </p:tav>
                                      </p:tavLst>
                                    </p:anim>
                                    <p:anim calcmode="lin" valueType="num">
                                      <p:cBhvr additive="base">
                                        <p:cTn id="14" dur="500" fill="hold"/>
                                        <p:tgtEl>
                                          <p:spTgt spid="8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93"/>
                                        </p:tgtEl>
                                        <p:attrNameLst>
                                          <p:attrName>style.visibility</p:attrName>
                                        </p:attrNameLst>
                                      </p:cBhvr>
                                      <p:to>
                                        <p:strVal val="visible"/>
                                      </p:to>
                                    </p:set>
                                    <p:anim calcmode="lin" valueType="num">
                                      <p:cBhvr additive="base">
                                        <p:cTn id="19" dur="500" fill="hold"/>
                                        <p:tgtEl>
                                          <p:spTgt spid="93"/>
                                        </p:tgtEl>
                                        <p:attrNameLst>
                                          <p:attrName>ppt_x</p:attrName>
                                        </p:attrNameLst>
                                      </p:cBhvr>
                                      <p:tavLst>
                                        <p:tav tm="0">
                                          <p:val>
                                            <p:strVal val="0-#ppt_w/2"/>
                                          </p:val>
                                        </p:tav>
                                        <p:tav tm="100000">
                                          <p:val>
                                            <p:strVal val="#ppt_x"/>
                                          </p:val>
                                        </p:tav>
                                      </p:tavLst>
                                    </p:anim>
                                    <p:anim calcmode="lin" valueType="num">
                                      <p:cBhvr additive="base">
                                        <p:cTn id="20"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additive="base">
                                        <p:cTn id="30" dur="500" fill="hold"/>
                                        <p:tgtEl>
                                          <p:spTgt spid="5"/>
                                        </p:tgtEl>
                                        <p:attrNameLst>
                                          <p:attrName>ppt_x</p:attrName>
                                        </p:attrNameLst>
                                      </p:cBhvr>
                                      <p:tavLst>
                                        <p:tav tm="0">
                                          <p:val>
                                            <p:strVal val="#ppt_x"/>
                                          </p:val>
                                        </p:tav>
                                        <p:tav tm="100000">
                                          <p:val>
                                            <p:strVal val="#ppt_x"/>
                                          </p:val>
                                        </p:tav>
                                      </p:tavLst>
                                    </p:anim>
                                    <p:anim calcmode="lin" valueType="num">
                                      <p:cBhvr additive="base">
                                        <p:cTn id="3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3" presetClass="entr" presetSubtype="16"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p:cTn id="36" dur="500" fill="hold"/>
                                        <p:tgtEl>
                                          <p:spTgt spid="29"/>
                                        </p:tgtEl>
                                        <p:attrNameLst>
                                          <p:attrName>ppt_w</p:attrName>
                                        </p:attrNameLst>
                                      </p:cBhvr>
                                      <p:tavLst>
                                        <p:tav tm="0">
                                          <p:val>
                                            <p:fltVal val="0"/>
                                          </p:val>
                                        </p:tav>
                                        <p:tav tm="100000">
                                          <p:val>
                                            <p:strVal val="#ppt_w"/>
                                          </p:val>
                                        </p:tav>
                                      </p:tavLst>
                                    </p:anim>
                                    <p:anim calcmode="lin" valueType="num">
                                      <p:cBhvr>
                                        <p:cTn id="37" dur="500" fill="hold"/>
                                        <p:tgtEl>
                                          <p:spTgt spid="2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p:bldP spid="88" grpId="0"/>
      <p:bldP spid="93" grpId="0"/>
      <p:bldP spid="29" grpId="0" bldLvl="0" animBg="1"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2" name="灯片编号占位符 155"/>
          <p:cNvSpPr>
            <a:spLocks noGrp="1"/>
          </p:cNvSpPr>
          <p:nvPr>
            <p:ph type="sldNum" sz="quarter" idx="12"/>
          </p:nvPr>
        </p:nvSpPr>
        <p:spPr>
          <a:noFill/>
        </p:spPr>
        <p:txBody>
          <a:bodyPr/>
          <a:lstStyle/>
          <a:p>
            <a:fld id="{6273B585-9F78-43E2-997B-DAFB0424E98B}" type="slidenum">
              <a:rPr lang="ko-KR" altLang="en-US" smtClean="0"/>
              <a:t>71</a:t>
            </a:fld>
            <a:endParaRPr lang="en-US" altLang="ko-KR"/>
          </a:p>
        </p:txBody>
      </p:sp>
      <p:sp>
        <p:nvSpPr>
          <p:cNvPr id="13316" name="Rectangle 2"/>
          <p:cNvSpPr>
            <a:spLocks noGrp="1" noChangeArrowheads="1"/>
          </p:cNvSpPr>
          <p:nvPr>
            <p:ph type="title" idx="4294967295"/>
          </p:nvPr>
        </p:nvSpPr>
        <p:spPr>
          <a:xfrm>
            <a:off x="3292475" y="492125"/>
            <a:ext cx="6858000" cy="609600"/>
          </a:xfrm>
        </p:spPr>
        <p:txBody>
          <a:bodyPr>
            <a:normAutofit fontScale="90000"/>
          </a:bodyPr>
          <a:lstStyle/>
          <a:p>
            <a:r>
              <a:rPr lang="en-US" altLang="zh-CN" dirty="0">
                <a:latin typeface="Arial" panose="020B0604020202020204" pitchFamily="34" charset="0"/>
                <a:ea typeface="黑体" panose="02010609060101010101" pitchFamily="49" charset="-122"/>
              </a:rPr>
              <a:t>【</a:t>
            </a:r>
            <a:r>
              <a:rPr lang="zh-CN" altLang="en-US" dirty="0">
                <a:latin typeface="Arial" panose="020B0604020202020204" pitchFamily="34" charset="0"/>
                <a:ea typeface="黑体" panose="02010609060101010101" pitchFamily="49" charset="-122"/>
              </a:rPr>
              <a:t>例</a:t>
            </a:r>
            <a:r>
              <a:rPr lang="en-US" altLang="zh-CN" dirty="0">
                <a:latin typeface="Arial" panose="020B0604020202020204" pitchFamily="34" charset="0"/>
                <a:ea typeface="黑体" panose="02010609060101010101" pitchFamily="49" charset="-122"/>
              </a:rPr>
              <a:t>8.13】</a:t>
            </a:r>
            <a:r>
              <a:rPr lang="zh-CN" altLang="en-US" dirty="0">
                <a:latin typeface="Arial" panose="020B0604020202020204" pitchFamily="34" charset="0"/>
                <a:ea typeface="黑体" panose="02010609060101010101" pitchFamily="49" charset="-122"/>
              </a:rPr>
              <a:t>同步计数器的分析</a:t>
            </a:r>
          </a:p>
        </p:txBody>
      </p:sp>
      <p:sp>
        <p:nvSpPr>
          <p:cNvPr id="13317" name="Text Box 139"/>
          <p:cNvSpPr txBox="1">
            <a:spLocks noChangeArrowheads="1"/>
          </p:cNvSpPr>
          <p:nvPr/>
        </p:nvSpPr>
        <p:spPr bwMode="auto">
          <a:xfrm>
            <a:off x="1766888" y="1022350"/>
            <a:ext cx="7891462" cy="460375"/>
          </a:xfrm>
          <a:prstGeom prst="rect">
            <a:avLst/>
          </a:prstGeom>
          <a:noFill/>
          <a:ln w="9525">
            <a:noFill/>
            <a:miter lim="800000"/>
          </a:ln>
        </p:spPr>
        <p:txBody>
          <a:bodyPr>
            <a:spAutoFit/>
          </a:bodyPr>
          <a:lstStyle/>
          <a:p>
            <a:pPr algn="just" eaLnBrk="0" hangingPunct="0"/>
            <a:r>
              <a:rPr lang="en-US" altLang="zh-CN" sz="2200" dirty="0">
                <a:solidFill>
                  <a:srgbClr val="FF0066"/>
                </a:solidFill>
                <a:latin typeface="宋体" panose="02010600030101010101" pitchFamily="2" charset="-122"/>
              </a:rPr>
              <a:t>【</a:t>
            </a:r>
            <a:r>
              <a:rPr lang="zh-CN" altLang="en-US" sz="2200" dirty="0">
                <a:solidFill>
                  <a:srgbClr val="FF0066"/>
                </a:solidFill>
                <a:latin typeface="Arial" panose="020B0604020202020204" pitchFamily="34" charset="0"/>
                <a:ea typeface="黑体" panose="02010609060101010101" pitchFamily="49" charset="-122"/>
              </a:rPr>
              <a:t>例</a:t>
            </a:r>
            <a:r>
              <a:rPr lang="en-US" altLang="zh-CN" sz="2400" dirty="0">
                <a:solidFill>
                  <a:srgbClr val="FF0066"/>
                </a:solidFill>
              </a:rPr>
              <a:t>8.</a:t>
            </a:r>
            <a:r>
              <a:rPr lang="en-US" altLang="zh-CN" sz="2200" dirty="0">
                <a:solidFill>
                  <a:srgbClr val="FF0066"/>
                </a:solidFill>
                <a:latin typeface="Arial" panose="020B0604020202020204" pitchFamily="34" charset="0"/>
                <a:ea typeface="黑体" panose="02010609060101010101" pitchFamily="49" charset="-122"/>
              </a:rPr>
              <a:t>13</a:t>
            </a:r>
            <a:r>
              <a:rPr lang="en-US" altLang="zh-CN" sz="2200" dirty="0">
                <a:solidFill>
                  <a:srgbClr val="FF0066"/>
                </a:solidFill>
                <a:latin typeface="宋体" panose="02010600030101010101" pitchFamily="2" charset="-122"/>
              </a:rPr>
              <a:t>】</a:t>
            </a:r>
            <a:r>
              <a:rPr lang="zh-CN" altLang="en-US" sz="2200" dirty="0">
                <a:solidFill>
                  <a:schemeClr val="tx2"/>
                </a:solidFill>
                <a:latin typeface="宋体" panose="02010600030101010101" pitchFamily="2" charset="-122"/>
              </a:rPr>
              <a:t>分析下图电路，说明电路特点。</a:t>
            </a:r>
            <a:endParaRPr lang="zh-CN" altLang="en-US" sz="2200" dirty="0">
              <a:solidFill>
                <a:schemeClr val="tx2"/>
              </a:solidFill>
              <a:latin typeface="Arial" panose="020B0604020202020204" pitchFamily="34" charset="0"/>
              <a:cs typeface="Arial" panose="020B0604020202020204" pitchFamily="34" charset="0"/>
            </a:endParaRPr>
          </a:p>
        </p:txBody>
      </p:sp>
      <p:sp>
        <p:nvSpPr>
          <p:cNvPr id="13318" name="Rectangle 2"/>
          <p:cNvSpPr>
            <a:spLocks noChangeArrowheads="1"/>
          </p:cNvSpPr>
          <p:nvPr/>
        </p:nvSpPr>
        <p:spPr bwMode="black">
          <a:xfrm>
            <a:off x="5941060" y="-353377"/>
            <a:ext cx="309880" cy="706755"/>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54630" name="Text Box 6"/>
          <p:cNvSpPr txBox="1">
            <a:spLocks noChangeArrowheads="1"/>
          </p:cNvSpPr>
          <p:nvPr/>
        </p:nvSpPr>
        <p:spPr bwMode="auto">
          <a:xfrm>
            <a:off x="2209800" y="4189413"/>
            <a:ext cx="2165350" cy="1198880"/>
          </a:xfrm>
          <a:prstGeom prst="rect">
            <a:avLst/>
          </a:prstGeom>
          <a:solidFill>
            <a:schemeClr val="accent1"/>
          </a:solidFill>
          <a:ln w="38100">
            <a:noFill/>
            <a:miter lim="800000"/>
          </a:ln>
          <a:effectLst>
            <a:prstShdw prst="shdw13" dist="53882" dir="13500000">
              <a:srgbClr val="808080">
                <a:alpha val="50000"/>
              </a:srgbClr>
            </a:prstShdw>
          </a:effectLst>
        </p:spPr>
        <p:txBody>
          <a:bodyPr>
            <a:spAutoFit/>
          </a:bodyPr>
          <a:lstStyle/>
          <a:p>
            <a:pPr algn="l">
              <a:lnSpc>
                <a:spcPct val="100000"/>
              </a:lnSpc>
              <a:defRPr/>
            </a:pPr>
            <a:r>
              <a:rPr lang="en-US" altLang="zh-CN" b="0" dirty="0">
                <a:effectLst>
                  <a:outerShdw blurRad="38100" dist="38100" dir="2700000" algn="tl">
                    <a:srgbClr val="C0C0C0"/>
                  </a:outerShdw>
                </a:effectLst>
              </a:rPr>
              <a:t>J</a:t>
            </a:r>
            <a:r>
              <a:rPr lang="en-US" altLang="zh-CN" b="0" baseline="-25000" dirty="0">
                <a:effectLst>
                  <a:outerShdw blurRad="38100" dist="38100" dir="2700000" algn="tl">
                    <a:srgbClr val="C0C0C0"/>
                  </a:outerShdw>
                </a:effectLst>
              </a:rPr>
              <a:t>0 </a:t>
            </a:r>
            <a:r>
              <a:rPr lang="en-US" altLang="zh-CN" b="0" dirty="0">
                <a:effectLst>
                  <a:outerShdw blurRad="38100" dist="38100" dir="2700000" algn="tl">
                    <a:srgbClr val="C0C0C0"/>
                  </a:outerShdw>
                </a:effectLst>
              </a:rPr>
              <a:t>= K</a:t>
            </a:r>
            <a:r>
              <a:rPr lang="en-US" altLang="zh-CN" b="0" baseline="-25000" dirty="0">
                <a:effectLst>
                  <a:outerShdw blurRad="38100" dist="38100" dir="2700000" algn="tl">
                    <a:srgbClr val="C0C0C0"/>
                  </a:outerShdw>
                </a:effectLst>
              </a:rPr>
              <a:t>0 </a:t>
            </a:r>
            <a:r>
              <a:rPr lang="en-US" altLang="zh-CN" b="0" dirty="0">
                <a:effectLst>
                  <a:outerShdw blurRad="38100" dist="38100" dir="2700000" algn="tl">
                    <a:srgbClr val="C0C0C0"/>
                  </a:outerShdw>
                </a:effectLst>
              </a:rPr>
              <a:t>= 1</a:t>
            </a:r>
          </a:p>
          <a:p>
            <a:pPr algn="l">
              <a:lnSpc>
                <a:spcPct val="100000"/>
              </a:lnSpc>
              <a:defRPr/>
            </a:pPr>
            <a:r>
              <a:rPr lang="en-US" altLang="zh-CN" b="0" dirty="0">
                <a:effectLst>
                  <a:outerShdw blurRad="38100" dist="38100" dir="2700000" algn="tl">
                    <a:srgbClr val="C0C0C0"/>
                  </a:outerShdw>
                </a:effectLst>
              </a:rPr>
              <a:t>J</a:t>
            </a:r>
            <a:r>
              <a:rPr lang="en-US" altLang="zh-CN" b="0" baseline="-25000" dirty="0">
                <a:effectLst>
                  <a:outerShdw blurRad="38100" dist="38100" dir="2700000" algn="tl">
                    <a:srgbClr val="C0C0C0"/>
                  </a:outerShdw>
                </a:effectLst>
              </a:rPr>
              <a:t>1</a:t>
            </a:r>
            <a:r>
              <a:rPr lang="en-US" altLang="zh-CN" b="0" dirty="0">
                <a:effectLst>
                  <a:outerShdw blurRad="38100" dist="38100" dir="2700000" algn="tl">
                    <a:srgbClr val="C0C0C0"/>
                  </a:outerShdw>
                </a:effectLst>
              </a:rPr>
              <a:t>= K</a:t>
            </a:r>
            <a:r>
              <a:rPr lang="en-US" altLang="zh-CN" b="0" baseline="-25000" dirty="0">
                <a:effectLst>
                  <a:outerShdw blurRad="38100" dist="38100" dir="2700000" algn="tl">
                    <a:srgbClr val="C0C0C0"/>
                  </a:outerShdw>
                </a:effectLst>
              </a:rPr>
              <a:t>1</a:t>
            </a:r>
            <a:r>
              <a:rPr lang="en-US" altLang="zh-CN" b="0" dirty="0">
                <a:effectLst>
                  <a:outerShdw blurRad="38100" dist="38100" dir="2700000" algn="tl">
                    <a:srgbClr val="C0C0C0"/>
                  </a:outerShdw>
                </a:effectLst>
              </a:rPr>
              <a:t>= Q</a:t>
            </a:r>
            <a:r>
              <a:rPr lang="en-US" altLang="zh-CN" b="0" baseline="-25000" dirty="0">
                <a:effectLst>
                  <a:outerShdw blurRad="38100" dist="38100" dir="2700000" algn="tl">
                    <a:srgbClr val="C0C0C0"/>
                  </a:outerShdw>
                </a:effectLst>
              </a:rPr>
              <a:t>0</a:t>
            </a:r>
            <a:r>
              <a:rPr lang="en-US" altLang="zh-CN" b="0" baseline="30000" dirty="0">
                <a:effectLst>
                  <a:outerShdw blurRad="38100" dist="38100" dir="2700000" algn="tl">
                    <a:srgbClr val="C0C0C0"/>
                  </a:outerShdw>
                </a:effectLst>
              </a:rPr>
              <a:t>n</a:t>
            </a:r>
          </a:p>
          <a:p>
            <a:pPr algn="l">
              <a:lnSpc>
                <a:spcPct val="100000"/>
              </a:lnSpc>
              <a:defRPr/>
            </a:pPr>
            <a:r>
              <a:rPr lang="en-US" altLang="zh-CN" b="0" dirty="0"/>
              <a:t>J</a:t>
            </a:r>
            <a:r>
              <a:rPr lang="en-US" altLang="zh-CN" b="0" baseline="-25000" dirty="0">
                <a:effectLst>
                  <a:outerShdw blurRad="38100" dist="38100" dir="2700000" algn="tl">
                    <a:srgbClr val="C0C0C0"/>
                  </a:outerShdw>
                </a:effectLst>
              </a:rPr>
              <a:t>2</a:t>
            </a:r>
            <a:r>
              <a:rPr lang="en-US" altLang="zh-CN" b="0" dirty="0"/>
              <a:t> = K</a:t>
            </a:r>
            <a:r>
              <a:rPr lang="en-US" altLang="zh-CN" b="0" baseline="-25000" dirty="0">
                <a:effectLst>
                  <a:outerShdw blurRad="38100" dist="38100" dir="2700000" algn="tl">
                    <a:srgbClr val="C0C0C0"/>
                  </a:outerShdw>
                </a:effectLst>
              </a:rPr>
              <a:t>2</a:t>
            </a:r>
            <a:r>
              <a:rPr lang="en-US" altLang="zh-CN" b="0" dirty="0"/>
              <a:t>= Q</a:t>
            </a:r>
            <a:r>
              <a:rPr lang="en-US" altLang="zh-CN" b="0" baseline="-25000" dirty="0">
                <a:effectLst>
                  <a:outerShdw blurRad="38100" dist="38100" dir="2700000" algn="tl">
                    <a:srgbClr val="C0C0C0"/>
                  </a:outerShdw>
                </a:effectLst>
              </a:rPr>
              <a:t>1</a:t>
            </a:r>
            <a:r>
              <a:rPr lang="en-US" altLang="zh-CN" b="0" baseline="30000" dirty="0">
                <a:effectLst>
                  <a:outerShdw blurRad="38100" dist="38100" dir="2700000" algn="tl">
                    <a:srgbClr val="C0C0C0"/>
                  </a:outerShdw>
                </a:effectLst>
              </a:rPr>
              <a:t>n</a:t>
            </a:r>
            <a:r>
              <a:rPr lang="en-US" altLang="zh-CN" b="0" dirty="0"/>
              <a:t>Q</a:t>
            </a:r>
            <a:r>
              <a:rPr lang="en-US" altLang="zh-CN" b="0" baseline="-25000" dirty="0">
                <a:effectLst>
                  <a:outerShdw blurRad="38100" dist="38100" dir="2700000" algn="tl">
                    <a:srgbClr val="C0C0C0"/>
                  </a:outerShdw>
                </a:effectLst>
              </a:rPr>
              <a:t>0</a:t>
            </a:r>
            <a:r>
              <a:rPr lang="en-US" altLang="zh-CN" b="0" baseline="30000" dirty="0">
                <a:effectLst>
                  <a:outerShdw blurRad="38100" dist="38100" dir="2700000" algn="tl">
                    <a:srgbClr val="C0C0C0"/>
                  </a:outerShdw>
                </a:effectLst>
              </a:rPr>
              <a:t>n</a:t>
            </a:r>
            <a:endParaRPr lang="en-US" altLang="zh-CN" b="0" baseline="-25000" dirty="0">
              <a:effectLst>
                <a:outerShdw blurRad="38100" dist="38100" dir="2700000" algn="tl">
                  <a:srgbClr val="C0C0C0"/>
                </a:outerShdw>
              </a:effectLst>
            </a:endParaRPr>
          </a:p>
          <a:p>
            <a:pPr algn="l">
              <a:lnSpc>
                <a:spcPct val="100000"/>
              </a:lnSpc>
              <a:defRPr/>
            </a:pPr>
            <a:r>
              <a:rPr lang="en-US" altLang="zh-CN" dirty="0"/>
              <a:t> </a:t>
            </a:r>
            <a:r>
              <a:rPr lang="en-US" altLang="zh-CN" b="0" dirty="0">
                <a:effectLst>
                  <a:outerShdw blurRad="38100" dist="38100" dir="2700000" algn="tl">
                    <a:srgbClr val="C0C0C0"/>
                  </a:outerShdw>
                </a:effectLst>
              </a:rPr>
              <a:t>J</a:t>
            </a:r>
            <a:r>
              <a:rPr lang="en-US" altLang="zh-CN" b="0" baseline="-25000" dirty="0">
                <a:effectLst>
                  <a:outerShdw blurRad="38100" dist="38100" dir="2700000" algn="tl">
                    <a:srgbClr val="C0C0C0"/>
                  </a:outerShdw>
                </a:effectLst>
              </a:rPr>
              <a:t>3 </a:t>
            </a:r>
            <a:r>
              <a:rPr lang="en-US" altLang="zh-CN" b="0" dirty="0">
                <a:effectLst>
                  <a:outerShdw blurRad="38100" dist="38100" dir="2700000" algn="tl">
                    <a:srgbClr val="C0C0C0"/>
                  </a:outerShdw>
                </a:effectLst>
              </a:rPr>
              <a:t>= K</a:t>
            </a:r>
            <a:r>
              <a:rPr lang="en-US" altLang="zh-CN" b="0" baseline="-25000" dirty="0">
                <a:effectLst>
                  <a:outerShdw blurRad="38100" dist="38100" dir="2700000" algn="tl">
                    <a:srgbClr val="C0C0C0"/>
                  </a:outerShdw>
                </a:effectLst>
              </a:rPr>
              <a:t>3</a:t>
            </a:r>
            <a:r>
              <a:rPr lang="en-US" altLang="zh-CN" b="0" dirty="0">
                <a:effectLst>
                  <a:outerShdw blurRad="38100" dist="38100" dir="2700000" algn="tl">
                    <a:srgbClr val="C0C0C0"/>
                  </a:outerShdw>
                </a:effectLst>
              </a:rPr>
              <a:t>=Q</a:t>
            </a:r>
            <a:r>
              <a:rPr lang="en-US" altLang="zh-CN" b="0" baseline="-25000" dirty="0">
                <a:effectLst>
                  <a:outerShdw blurRad="38100" dist="38100" dir="2700000" algn="tl">
                    <a:srgbClr val="C0C0C0"/>
                  </a:outerShdw>
                </a:effectLst>
              </a:rPr>
              <a:t>2</a:t>
            </a:r>
            <a:r>
              <a:rPr lang="en-US" altLang="zh-CN" b="0" baseline="30000" dirty="0">
                <a:effectLst>
                  <a:outerShdw blurRad="38100" dist="38100" dir="2700000" algn="tl">
                    <a:srgbClr val="C0C0C0"/>
                  </a:outerShdw>
                </a:effectLst>
              </a:rPr>
              <a:t>n</a:t>
            </a:r>
            <a:r>
              <a:rPr lang="en-US" altLang="zh-CN" b="0" dirty="0">
                <a:effectLst>
                  <a:outerShdw blurRad="38100" dist="38100" dir="2700000" algn="tl">
                    <a:srgbClr val="C0C0C0"/>
                  </a:outerShdw>
                </a:effectLst>
              </a:rPr>
              <a:t>Q</a:t>
            </a:r>
            <a:r>
              <a:rPr lang="en-US" altLang="zh-CN" b="0" baseline="-25000" dirty="0">
                <a:effectLst>
                  <a:outerShdw blurRad="38100" dist="38100" dir="2700000" algn="tl">
                    <a:srgbClr val="C0C0C0"/>
                  </a:outerShdw>
                </a:effectLst>
              </a:rPr>
              <a:t>1</a:t>
            </a:r>
            <a:r>
              <a:rPr lang="en-US" altLang="zh-CN" b="0" baseline="30000" dirty="0">
                <a:effectLst>
                  <a:outerShdw blurRad="38100" dist="38100" dir="2700000" algn="tl">
                    <a:srgbClr val="C0C0C0"/>
                  </a:outerShdw>
                </a:effectLst>
              </a:rPr>
              <a:t>n</a:t>
            </a:r>
            <a:r>
              <a:rPr lang="en-US" altLang="zh-CN" b="0" dirty="0">
                <a:effectLst>
                  <a:outerShdw blurRad="38100" dist="38100" dir="2700000" algn="tl">
                    <a:srgbClr val="C0C0C0"/>
                  </a:outerShdw>
                </a:effectLst>
              </a:rPr>
              <a:t>Q</a:t>
            </a:r>
            <a:r>
              <a:rPr lang="en-US" altLang="zh-CN" b="0" baseline="-25000" dirty="0">
                <a:effectLst>
                  <a:outerShdw blurRad="38100" dist="38100" dir="2700000" algn="tl">
                    <a:srgbClr val="C0C0C0"/>
                  </a:outerShdw>
                </a:effectLst>
              </a:rPr>
              <a:t>0</a:t>
            </a:r>
            <a:r>
              <a:rPr lang="en-US" altLang="zh-CN" b="0" baseline="30000" dirty="0">
                <a:effectLst>
                  <a:outerShdw blurRad="38100" dist="38100" dir="2700000" algn="tl">
                    <a:srgbClr val="C0C0C0"/>
                  </a:outerShdw>
                </a:effectLst>
              </a:rPr>
              <a:t>n</a:t>
            </a:r>
            <a:endParaRPr lang="zh-CN" altLang="en-US" b="0" baseline="-25000" dirty="0">
              <a:effectLst>
                <a:outerShdw blurRad="38100" dist="38100" dir="2700000" algn="tl">
                  <a:srgbClr val="C0C0C0"/>
                </a:outerShdw>
              </a:effectLst>
            </a:endParaRPr>
          </a:p>
        </p:txBody>
      </p:sp>
      <p:sp>
        <p:nvSpPr>
          <p:cNvPr id="154635" name="AutoShape 11"/>
          <p:cNvSpPr>
            <a:spLocks noChangeAspect="1" noChangeArrowheads="1" noTextEdit="1"/>
          </p:cNvSpPr>
          <p:nvPr/>
        </p:nvSpPr>
        <p:spPr bwMode="auto">
          <a:xfrm>
            <a:off x="2927350" y="1581150"/>
            <a:ext cx="6553200" cy="2111375"/>
          </a:xfrm>
          <a:prstGeom prst="rect">
            <a:avLst/>
          </a:prstGeom>
          <a:noFill/>
          <a:ln w="9525">
            <a:noFill/>
            <a:miter lim="800000"/>
          </a:ln>
        </p:spPr>
        <p:txBody>
          <a:bodyPr/>
          <a:lstStyle/>
          <a:p>
            <a:endParaRPr lang="zh-CN" altLang="en-US"/>
          </a:p>
        </p:txBody>
      </p:sp>
      <p:sp>
        <p:nvSpPr>
          <p:cNvPr id="154782" name="Text Box 158"/>
          <p:cNvSpPr txBox="1">
            <a:spLocks noChangeArrowheads="1"/>
          </p:cNvSpPr>
          <p:nvPr/>
        </p:nvSpPr>
        <p:spPr bwMode="black">
          <a:xfrm>
            <a:off x="1974850" y="3494088"/>
            <a:ext cx="5110163" cy="368300"/>
          </a:xfrm>
          <a:prstGeom prst="rect">
            <a:avLst/>
          </a:prstGeom>
          <a:noFill/>
          <a:ln w="9525" algn="ctr">
            <a:noFill/>
            <a:miter lim="800000"/>
          </a:ln>
        </p:spPr>
        <p:txBody>
          <a:bodyPr>
            <a:spAutoFit/>
          </a:bodyPr>
          <a:lstStyle/>
          <a:p>
            <a:pPr algn="l"/>
            <a:r>
              <a:rPr lang="zh-CN" altLang="en-US">
                <a:solidFill>
                  <a:srgbClr val="C00000"/>
                </a:solidFill>
                <a:latin typeface="Arial" panose="020B0604020202020204" pitchFamily="34" charset="0"/>
                <a:cs typeface="Arial" panose="020B0604020202020204" pitchFamily="34" charset="0"/>
              </a:rPr>
              <a:t>（</a:t>
            </a:r>
            <a:r>
              <a:rPr lang="en-US" altLang="zh-CN">
                <a:solidFill>
                  <a:srgbClr val="C00000"/>
                </a:solidFill>
                <a:latin typeface="Arial" panose="020B0604020202020204" pitchFamily="34" charset="0"/>
                <a:cs typeface="Arial" panose="020B0604020202020204" pitchFamily="34" charset="0"/>
              </a:rPr>
              <a:t>1</a:t>
            </a:r>
            <a:r>
              <a:rPr lang="zh-CN" altLang="en-US">
                <a:solidFill>
                  <a:srgbClr val="C00000"/>
                </a:solidFill>
                <a:latin typeface="Arial" panose="020B0604020202020204" pitchFamily="34" charset="0"/>
                <a:cs typeface="Arial" panose="020B0604020202020204" pitchFamily="34" charset="0"/>
              </a:rPr>
              <a:t>）写出驱动方程，状态方程和输出方程</a:t>
            </a:r>
          </a:p>
        </p:txBody>
      </p:sp>
      <p:graphicFrame>
        <p:nvGraphicFramePr>
          <p:cNvPr id="154784" name="Object 160"/>
          <p:cNvGraphicFramePr>
            <a:graphicFrameLocks noChangeAspect="1"/>
          </p:cNvGraphicFramePr>
          <p:nvPr/>
        </p:nvGraphicFramePr>
        <p:xfrm>
          <a:off x="4772025" y="3859213"/>
          <a:ext cx="3968750" cy="1954212"/>
        </p:xfrm>
        <a:graphic>
          <a:graphicData uri="http://schemas.openxmlformats.org/presentationml/2006/ole">
            <mc:AlternateContent xmlns:mc="http://schemas.openxmlformats.org/markup-compatibility/2006">
              <mc:Choice xmlns:v="urn:schemas-microsoft-com:vml" Requires="v">
                <p:oleObj spid="_x0000_s339971" name="公式" r:id="rId4" imgW="2260600" imgH="1092200" progId="Equation.3">
                  <p:embed/>
                </p:oleObj>
              </mc:Choice>
              <mc:Fallback>
                <p:oleObj name="公式" r:id="rId4" imgW="2260600" imgH="1092200" progId="Equation.3">
                  <p:embed/>
                  <p:pic>
                    <p:nvPicPr>
                      <p:cNvPr id="0" name="Object 1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2025" y="3859213"/>
                        <a:ext cx="3968750" cy="1954212"/>
                      </a:xfrm>
                      <a:prstGeom prst="rect">
                        <a:avLst/>
                      </a:prstGeom>
                      <a:solidFill>
                        <a:srgbClr val="FFFFBD"/>
                      </a:solidFill>
                      <a:effectLst>
                        <a:prstShdw prst="shdw13" dist="53882" dir="13500000">
                          <a:srgbClr val="808080">
                            <a:alpha val="50000"/>
                          </a:srgbClr>
                        </a:prstShdw>
                      </a:effectLst>
                    </p:spPr>
                  </p:pic>
                </p:oleObj>
              </mc:Fallback>
            </mc:AlternateContent>
          </a:graphicData>
        </a:graphic>
      </p:graphicFrame>
      <p:sp>
        <p:nvSpPr>
          <p:cNvPr id="13323" name="Rectangle 159"/>
          <p:cNvSpPr>
            <a:spLocks noChangeArrowheads="1"/>
          </p:cNvSpPr>
          <p:nvPr/>
        </p:nvSpPr>
        <p:spPr bwMode="black">
          <a:xfrm>
            <a:off x="1524000" y="-184150"/>
            <a:ext cx="309880" cy="368300"/>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endParaRPr lang="zh-CN" altLang="en-US"/>
          </a:p>
        </p:txBody>
      </p:sp>
      <p:graphicFrame>
        <p:nvGraphicFramePr>
          <p:cNvPr id="3075" name="Object 158"/>
          <p:cNvGraphicFramePr>
            <a:graphicFrameLocks noChangeAspect="1"/>
          </p:cNvGraphicFramePr>
          <p:nvPr/>
        </p:nvGraphicFramePr>
        <p:xfrm>
          <a:off x="4789488" y="5981700"/>
          <a:ext cx="3609975" cy="511175"/>
        </p:xfrm>
        <a:graphic>
          <a:graphicData uri="http://schemas.openxmlformats.org/presentationml/2006/ole">
            <mc:AlternateContent xmlns:mc="http://schemas.openxmlformats.org/markup-compatibility/2006">
              <mc:Choice xmlns:v="urn:schemas-microsoft-com:vml" Requires="v">
                <p:oleObj spid="_x0000_s339972" name="公式" r:id="rId6" imgW="2221230" imgH="317500" progId="Equation.3">
                  <p:embed/>
                </p:oleObj>
              </mc:Choice>
              <mc:Fallback>
                <p:oleObj name="公式" r:id="rId6" imgW="2221230" imgH="317500" progId="Equation.3">
                  <p:embed/>
                  <p:pic>
                    <p:nvPicPr>
                      <p:cNvPr id="0" name="Object 1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9488" y="5981700"/>
                        <a:ext cx="3609975" cy="511175"/>
                      </a:xfrm>
                      <a:prstGeom prst="rect">
                        <a:avLst/>
                      </a:prstGeom>
                      <a:solidFill>
                        <a:srgbClr val="FFCCFF"/>
                      </a:solidFill>
                      <a:effectLst>
                        <a:prstShdw prst="shdw13" dist="53882" dir="13500000">
                          <a:srgbClr val="808080">
                            <a:alpha val="50000"/>
                          </a:srgbClr>
                        </a:prstShdw>
                      </a:effectLst>
                    </p:spPr>
                  </p:pic>
                </p:oleObj>
              </mc:Fallback>
            </mc:AlternateContent>
          </a:graphicData>
        </a:graphic>
      </p:graphicFrame>
      <p:pic>
        <p:nvPicPr>
          <p:cNvPr id="8" name="图片 7"/>
          <p:cNvPicPr>
            <a:picLocks noChangeAspect="1"/>
          </p:cNvPicPr>
          <p:nvPr/>
        </p:nvPicPr>
        <p:blipFill>
          <a:blip r:embed="rId8"/>
          <a:stretch>
            <a:fillRect/>
          </a:stretch>
        </p:blipFill>
        <p:spPr>
          <a:xfrm>
            <a:off x="1619885" y="751205"/>
            <a:ext cx="8705850" cy="2743200"/>
          </a:xfrm>
          <a:prstGeom prst="rect">
            <a:avLst/>
          </a:prstGeom>
        </p:spPr>
      </p:pic>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54635"/>
                                        </p:tgtEl>
                                        <p:attrNameLst>
                                          <p:attrName>style.visibility</p:attrName>
                                        </p:attrNameLst>
                                      </p:cBhvr>
                                      <p:to>
                                        <p:strVal val="visible"/>
                                      </p:to>
                                    </p:set>
                                    <p:anim calcmode="lin" valueType="num">
                                      <p:cBhvr additive="base">
                                        <p:cTn id="7" dur="500" fill="hold"/>
                                        <p:tgtEl>
                                          <p:spTgt spid="154635"/>
                                        </p:tgtEl>
                                        <p:attrNameLst>
                                          <p:attrName>ppt_x</p:attrName>
                                        </p:attrNameLst>
                                      </p:cBhvr>
                                      <p:tavLst>
                                        <p:tav tm="0">
                                          <p:val>
                                            <p:strVal val="0-#ppt_w/2"/>
                                          </p:val>
                                        </p:tav>
                                        <p:tav tm="100000">
                                          <p:val>
                                            <p:strVal val="#ppt_x"/>
                                          </p:val>
                                        </p:tav>
                                      </p:tavLst>
                                    </p:anim>
                                    <p:anim calcmode="lin" valueType="num">
                                      <p:cBhvr additive="base">
                                        <p:cTn id="8" dur="500" fill="hold"/>
                                        <p:tgtEl>
                                          <p:spTgt spid="15463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4782"/>
                                        </p:tgtEl>
                                        <p:attrNameLst>
                                          <p:attrName>style.visibility</p:attrName>
                                        </p:attrNameLst>
                                      </p:cBhvr>
                                      <p:to>
                                        <p:strVal val="visible"/>
                                      </p:to>
                                    </p:set>
                                    <p:anim calcmode="lin" valueType="num">
                                      <p:cBhvr additive="base">
                                        <p:cTn id="13" dur="500" fill="hold"/>
                                        <p:tgtEl>
                                          <p:spTgt spid="154782"/>
                                        </p:tgtEl>
                                        <p:attrNameLst>
                                          <p:attrName>ppt_x</p:attrName>
                                        </p:attrNameLst>
                                      </p:cBhvr>
                                      <p:tavLst>
                                        <p:tav tm="0">
                                          <p:val>
                                            <p:strVal val="0-#ppt_w/2"/>
                                          </p:val>
                                        </p:tav>
                                        <p:tav tm="100000">
                                          <p:val>
                                            <p:strVal val="#ppt_x"/>
                                          </p:val>
                                        </p:tav>
                                      </p:tavLst>
                                    </p:anim>
                                    <p:anim calcmode="lin" valueType="num">
                                      <p:cBhvr additive="base">
                                        <p:cTn id="14" dur="500" fill="hold"/>
                                        <p:tgtEl>
                                          <p:spTgt spid="15478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4630"/>
                                        </p:tgtEl>
                                        <p:attrNameLst>
                                          <p:attrName>style.visibility</p:attrName>
                                        </p:attrNameLst>
                                      </p:cBhvr>
                                      <p:to>
                                        <p:strVal val="visible"/>
                                      </p:to>
                                    </p:set>
                                    <p:anim calcmode="lin" valueType="num">
                                      <p:cBhvr additive="base">
                                        <p:cTn id="19" dur="500" fill="hold"/>
                                        <p:tgtEl>
                                          <p:spTgt spid="154630"/>
                                        </p:tgtEl>
                                        <p:attrNameLst>
                                          <p:attrName>ppt_x</p:attrName>
                                        </p:attrNameLst>
                                      </p:cBhvr>
                                      <p:tavLst>
                                        <p:tav tm="0">
                                          <p:val>
                                            <p:strVal val="#ppt_x"/>
                                          </p:val>
                                        </p:tav>
                                        <p:tav tm="100000">
                                          <p:val>
                                            <p:strVal val="#ppt_x"/>
                                          </p:val>
                                        </p:tav>
                                      </p:tavLst>
                                    </p:anim>
                                    <p:anim calcmode="lin" valueType="num">
                                      <p:cBhvr additive="base">
                                        <p:cTn id="20" dur="500" fill="hold"/>
                                        <p:tgtEl>
                                          <p:spTgt spid="154630"/>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 presetClass="entr" presetSubtype="4" fill="hold" nodeType="afterEffect">
                                  <p:stCondLst>
                                    <p:cond delay="0"/>
                                  </p:stCondLst>
                                  <p:childTnLst>
                                    <p:set>
                                      <p:cBhvr>
                                        <p:cTn id="23" dur="1" fill="hold">
                                          <p:stCondLst>
                                            <p:cond delay="0"/>
                                          </p:stCondLst>
                                        </p:cTn>
                                        <p:tgtEl>
                                          <p:spTgt spid="154784"/>
                                        </p:tgtEl>
                                        <p:attrNameLst>
                                          <p:attrName>style.visibility</p:attrName>
                                        </p:attrNameLst>
                                      </p:cBhvr>
                                      <p:to>
                                        <p:strVal val="visible"/>
                                      </p:to>
                                    </p:set>
                                    <p:anim calcmode="lin" valueType="num">
                                      <p:cBhvr additive="base">
                                        <p:cTn id="24" dur="500" fill="hold"/>
                                        <p:tgtEl>
                                          <p:spTgt spid="154784"/>
                                        </p:tgtEl>
                                        <p:attrNameLst>
                                          <p:attrName>ppt_x</p:attrName>
                                        </p:attrNameLst>
                                      </p:cBhvr>
                                      <p:tavLst>
                                        <p:tav tm="0">
                                          <p:val>
                                            <p:strVal val="#ppt_x"/>
                                          </p:val>
                                        </p:tav>
                                        <p:tav tm="100000">
                                          <p:val>
                                            <p:strVal val="#ppt_x"/>
                                          </p:val>
                                        </p:tav>
                                      </p:tavLst>
                                    </p:anim>
                                    <p:anim calcmode="lin" valueType="num">
                                      <p:cBhvr additive="base">
                                        <p:cTn id="25" dur="500" fill="hold"/>
                                        <p:tgtEl>
                                          <p:spTgt spid="154784"/>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3075"/>
                                        </p:tgtEl>
                                        <p:attrNameLst>
                                          <p:attrName>style.visibility</p:attrName>
                                        </p:attrNameLst>
                                      </p:cBhvr>
                                      <p:to>
                                        <p:strVal val="visible"/>
                                      </p:to>
                                    </p:set>
                                    <p:animEffect transition="in" filter="blinds(horizontal)">
                                      <p:cBhvr>
                                        <p:cTn id="30" dur="5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0" grpId="0" bldLvl="0" animBg="1" autoUpdateAnimBg="0"/>
      <p:bldP spid="154635" grpId="0" animBg="1"/>
      <p:bldP spid="154782"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817" name="灯片编号占位符 84"/>
          <p:cNvSpPr>
            <a:spLocks noGrp="1"/>
          </p:cNvSpPr>
          <p:nvPr>
            <p:ph type="sldNum" sz="quarter" idx="12"/>
          </p:nvPr>
        </p:nvSpPr>
        <p:spPr>
          <a:noFill/>
        </p:spPr>
        <p:txBody>
          <a:bodyPr/>
          <a:lstStyle/>
          <a:p>
            <a:fld id="{6EBEC06E-EE22-4B36-8ED5-10FAD1A0DD4B}" type="slidenum">
              <a:rPr lang="ko-KR" altLang="en-US" smtClean="0"/>
              <a:t>72</a:t>
            </a:fld>
            <a:endParaRPr lang="en-US" altLang="ko-KR"/>
          </a:p>
        </p:txBody>
      </p:sp>
      <p:sp>
        <p:nvSpPr>
          <p:cNvPr id="116738" name="Rectangle 2"/>
          <p:cNvSpPr>
            <a:spLocks noGrp="1" noChangeArrowheads="1"/>
          </p:cNvSpPr>
          <p:nvPr>
            <p:ph type="title" idx="4294967295"/>
          </p:nvPr>
        </p:nvSpPr>
        <p:spPr>
          <a:xfrm>
            <a:off x="3366294" y="522288"/>
            <a:ext cx="6858000" cy="609600"/>
          </a:xfrm>
        </p:spPr>
        <p:txBody>
          <a:bodyPr>
            <a:normAutofit fontScale="90000"/>
          </a:bodyPr>
          <a:lstStyle/>
          <a:p>
            <a:r>
              <a:rPr lang="zh-CN" altLang="en-US" dirty="0">
                <a:latin typeface="Arial" panose="020B0604020202020204" pitchFamily="34" charset="0"/>
                <a:ea typeface="黑体" panose="02010609060101010101" pitchFamily="49" charset="-122"/>
              </a:rPr>
              <a:t>状态转换表</a:t>
            </a:r>
          </a:p>
        </p:txBody>
      </p:sp>
      <p:sp>
        <p:nvSpPr>
          <p:cNvPr id="116739" name="Rectangle 2"/>
          <p:cNvSpPr>
            <a:spLocks noChangeArrowheads="1"/>
          </p:cNvSpPr>
          <p:nvPr/>
        </p:nvSpPr>
        <p:spPr bwMode="black">
          <a:xfrm>
            <a:off x="5941060" y="-353377"/>
            <a:ext cx="309880" cy="706755"/>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16740" name="Text Box 145"/>
          <p:cNvSpPr txBox="1">
            <a:spLocks noChangeArrowheads="1"/>
          </p:cNvSpPr>
          <p:nvPr/>
        </p:nvSpPr>
        <p:spPr bwMode="black">
          <a:xfrm>
            <a:off x="1524000" y="1284288"/>
            <a:ext cx="2951163" cy="368300"/>
          </a:xfrm>
          <a:prstGeom prst="rect">
            <a:avLst/>
          </a:prstGeom>
          <a:noFill/>
          <a:ln w="9525" algn="ctr">
            <a:noFill/>
            <a:miter lim="800000"/>
          </a:ln>
        </p:spPr>
        <p:txBody>
          <a:bodyPr>
            <a:spAutoFit/>
          </a:bodyPr>
          <a:lstStyle/>
          <a:p>
            <a:pPr algn="l"/>
            <a:r>
              <a:rPr lang="zh-CN" altLang="en-US">
                <a:solidFill>
                  <a:srgbClr val="C00000"/>
                </a:solidFill>
                <a:latin typeface="Arial" panose="020B0604020202020204" pitchFamily="34" charset="0"/>
                <a:cs typeface="Arial" panose="020B0604020202020204" pitchFamily="34" charset="0"/>
              </a:rPr>
              <a:t>（</a:t>
            </a:r>
            <a:r>
              <a:rPr lang="en-US" altLang="zh-CN">
                <a:solidFill>
                  <a:srgbClr val="C00000"/>
                </a:solidFill>
                <a:latin typeface="Arial" panose="020B0604020202020204" pitchFamily="34" charset="0"/>
                <a:cs typeface="Arial" panose="020B0604020202020204" pitchFamily="34" charset="0"/>
              </a:rPr>
              <a:t>2</a:t>
            </a:r>
            <a:r>
              <a:rPr lang="zh-CN" altLang="en-US">
                <a:solidFill>
                  <a:srgbClr val="C00000"/>
                </a:solidFill>
                <a:latin typeface="Arial" panose="020B0604020202020204" pitchFamily="34" charset="0"/>
                <a:cs typeface="Arial" panose="020B0604020202020204" pitchFamily="34" charset="0"/>
              </a:rPr>
              <a:t>）列出状态转换表</a:t>
            </a:r>
          </a:p>
        </p:txBody>
      </p:sp>
      <p:graphicFrame>
        <p:nvGraphicFramePr>
          <p:cNvPr id="104531" name="Group 83"/>
          <p:cNvGraphicFramePr>
            <a:graphicFrameLocks noGrp="1"/>
          </p:cNvGraphicFramePr>
          <p:nvPr/>
        </p:nvGraphicFramePr>
        <p:xfrm>
          <a:off x="4314825" y="1182688"/>
          <a:ext cx="4960620" cy="4888865"/>
        </p:xfrm>
        <a:graphic>
          <a:graphicData uri="http://schemas.openxmlformats.org/drawingml/2006/table">
            <a:tbl>
              <a:tblPr/>
              <a:tblGrid>
                <a:gridCol w="2174875">
                  <a:extLst>
                    <a:ext uri="{9D8B030D-6E8A-4147-A177-3AD203B41FA5}">
                      <a16:colId xmlns:a16="http://schemas.microsoft.com/office/drawing/2014/main" val="20000"/>
                    </a:ext>
                  </a:extLst>
                </a:gridCol>
                <a:gridCol w="2347595">
                  <a:extLst>
                    <a:ext uri="{9D8B030D-6E8A-4147-A177-3AD203B41FA5}">
                      <a16:colId xmlns:a16="http://schemas.microsoft.com/office/drawing/2014/main" val="20001"/>
                    </a:ext>
                  </a:extLst>
                </a:gridCol>
                <a:gridCol w="438150">
                  <a:extLst>
                    <a:ext uri="{9D8B030D-6E8A-4147-A177-3AD203B41FA5}">
                      <a16:colId xmlns:a16="http://schemas.microsoft.com/office/drawing/2014/main" val="20002"/>
                    </a:ext>
                  </a:extLst>
                </a:gridCol>
              </a:tblGrid>
              <a:tr h="33528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Q</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3</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 Q</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2</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Q</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1</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n</a:t>
                      </a:r>
                      <a:r>
                        <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Q</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0</a:t>
                      </a:r>
                      <a:r>
                        <a:rPr kumimoji="0" lang="en-US" altLang="zh-CN" sz="1800" b="1" i="0" u="none" strike="noStrike" cap="none" normalizeH="0" baseline="30000" dirty="0">
                          <a:ln>
                            <a:noFill/>
                          </a:ln>
                          <a:solidFill>
                            <a:schemeClr val="tx1"/>
                          </a:solidFill>
                          <a:effectLst/>
                          <a:latin typeface="Arial" panose="020B0604020202020204" pitchFamily="34" charset="0"/>
                          <a:ea typeface="宋体" panose="02010600030101010101" pitchFamily="2" charset="-122"/>
                        </a:rPr>
                        <a:t>n</a:t>
                      </a:r>
                    </a:p>
                  </a:txBody>
                  <a:tcPr marL="0" marR="0" marT="0" marB="0" horzOverflow="overflow">
                    <a:lnL w="381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381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Q</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3</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n</a:t>
                      </a:r>
                      <a:r>
                        <a:rPr kumimoji="0" lang="zh-CN" altLang="en-US"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 Q</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2</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n</a:t>
                      </a:r>
                      <a:r>
                        <a:rPr kumimoji="0" lang="zh-CN" altLang="en-US"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Q</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n</a:t>
                      </a:r>
                      <a:r>
                        <a:rPr kumimoji="0" lang="zh-CN" altLang="en-US"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Q</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0</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n</a:t>
                      </a:r>
                      <a:r>
                        <a:rPr kumimoji="0" lang="zh-CN" altLang="en-US"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30000">
                          <a:ln>
                            <a:noFill/>
                          </a:ln>
                          <a:solidFill>
                            <a:schemeClr val="tx1"/>
                          </a:solidFill>
                          <a:effectLst/>
                          <a:latin typeface="Arial" panose="020B0604020202020204" pitchFamily="34" charset="0"/>
                          <a:ea typeface="宋体" panose="02010600030101010101" pitchFamily="2" charset="-122"/>
                        </a:rPr>
                        <a:t>1</a:t>
                      </a:r>
                    </a:p>
                  </a:txBody>
                  <a:tcPr marL="0" marR="0" marT="0" marB="0" horzOverflow="overflow">
                    <a:lnL w="381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381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C</a:t>
                      </a:r>
                    </a:p>
                  </a:txBody>
                  <a:tcPr marL="0" marR="0" marT="0" marB="0" horzOverflow="overflow">
                    <a:lnL w="381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381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24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0   0    0    0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0    0    0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305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0    0    0   </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0    0    </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0    0    </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1    0    0   0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1    0    0   0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1    0    0   1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20">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1    0    0   1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1    0   1    0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89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1    0   1    0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1    0    1   1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889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1    0    1   1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1    1    0   0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889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1    1    0   0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1    1    0   1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889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1    1    0   1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1    1    1   0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889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1    1    1   0</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1    1    1   1</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127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88925">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1" i="0" u="none" strike="noStrike" cap="none" normalizeH="0" baseline="0">
                          <a:ln>
                            <a:noFill/>
                          </a:ln>
                          <a:solidFill>
                            <a:srgbClr val="FF3399"/>
                          </a:solidFill>
                          <a:effectLst/>
                          <a:latin typeface="Arial" panose="020B0604020202020204" pitchFamily="34" charset="0"/>
                          <a:ea typeface="宋体" panose="02010600030101010101" pitchFamily="2" charset="-122"/>
                        </a:rPr>
                        <a:t>1    1    1   1</a:t>
                      </a:r>
                    </a:p>
                  </a:txBody>
                  <a:tcPr marL="0" marR="0" marT="0" marB="0" horzOverflow="overflow">
                    <a:lnL w="381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0   0    0    0</a:t>
                      </a:r>
                    </a:p>
                  </a:txBody>
                  <a:tcPr marL="0" marR="0" marT="0" marB="0" horzOverflow="overflow">
                    <a:lnL w="12700" cap="flat" cmpd="sng" algn="ctr">
                      <a:solidFill>
                        <a:srgbClr val="FF9933"/>
                      </a:solidFill>
                      <a:prstDash val="solid"/>
                      <a:round/>
                      <a:headEnd type="none" w="med" len="med"/>
                      <a:tailEnd type="none" w="med" len="med"/>
                    </a:lnL>
                    <a:lnR w="127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9933"/>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bg2"/>
                        </a:buClr>
                        <a:buSzTx/>
                        <a:buFont typeface="Wingdings" panose="05000000000000000000" pitchFamily="2" charset="2"/>
                        <a:buNone/>
                      </a:pPr>
                      <a:r>
                        <a:rPr kumimoji="0" lang="en-US" altLang="zh-CN" sz="1800" b="1" i="0" u="none" strike="noStrike" cap="none" normalizeH="0" baseline="0">
                          <a:ln>
                            <a:noFill/>
                          </a:ln>
                          <a:solidFill>
                            <a:srgbClr val="FF3399"/>
                          </a:solidFill>
                          <a:effectLst/>
                          <a:latin typeface="Arial" panose="020B0604020202020204" pitchFamily="34" charset="0"/>
                          <a:ea typeface="宋体" panose="02010600030101010101" pitchFamily="2" charset="-122"/>
                        </a:rPr>
                        <a:t>1</a:t>
                      </a:r>
                    </a:p>
                  </a:txBody>
                  <a:tcPr marL="0" marR="0" marT="0" marB="0" horzOverflow="overflow">
                    <a:lnL w="12700" cap="flat" cmpd="sng" algn="ctr">
                      <a:solidFill>
                        <a:srgbClr val="FF9933"/>
                      </a:solidFill>
                      <a:prstDash val="solid"/>
                      <a:round/>
                      <a:headEnd type="none" w="med" len="med"/>
                      <a:tailEnd type="none" w="med" len="med"/>
                    </a:lnL>
                    <a:lnR w="38100" cap="flat" cmpd="sng" algn="ctr">
                      <a:solidFill>
                        <a:srgbClr val="FF9933"/>
                      </a:solidFill>
                      <a:prstDash val="solid"/>
                      <a:round/>
                      <a:headEnd type="none" w="med" len="med"/>
                      <a:tailEnd type="none" w="med" len="med"/>
                    </a:lnR>
                    <a:lnT w="12700" cap="flat" cmpd="sng" algn="ctr">
                      <a:solidFill>
                        <a:srgbClr val="FF9933"/>
                      </a:solidFill>
                      <a:prstDash val="solid"/>
                      <a:round/>
                      <a:headEnd type="none" w="med" len="med"/>
                      <a:tailEnd type="none" w="med" len="med"/>
                    </a:lnT>
                    <a:lnB w="38100" cap="flat" cmpd="sng" algn="ctr">
                      <a:solidFill>
                        <a:srgbClr val="FF9933"/>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sp>
        <p:nvSpPr>
          <p:cNvPr id="2135048" name="AutoShape 8"/>
          <p:cNvSpPr>
            <a:spLocks noChangeArrowheads="1"/>
          </p:cNvSpPr>
          <p:nvPr/>
        </p:nvSpPr>
        <p:spPr bwMode="auto">
          <a:xfrm>
            <a:off x="9318625" y="6140450"/>
            <a:ext cx="1349375" cy="369888"/>
          </a:xfrm>
          <a:prstGeom prst="wedgeRoundRectCallout">
            <a:avLst>
              <a:gd name="adj1" fmla="val -63296"/>
              <a:gd name="adj2" fmla="val -86481"/>
              <a:gd name="adj3" fmla="val 16667"/>
            </a:avLst>
          </a:prstGeom>
          <a:solidFill>
            <a:srgbClr val="FFFF99"/>
          </a:solidFill>
          <a:ln w="9525">
            <a:solidFill>
              <a:srgbClr val="FF9966"/>
            </a:solidFill>
            <a:miter lim="800000"/>
          </a:ln>
          <a:effectLst>
            <a:prstShdw prst="shdw17" dist="17961" dir="2700000">
              <a:srgbClr val="99995C"/>
            </a:prstShdw>
          </a:effectLst>
        </p:spPr>
        <p:txBody>
          <a:bodyPr anchor="b"/>
          <a:lstStyle/>
          <a:p>
            <a:pPr algn="l">
              <a:lnSpc>
                <a:spcPct val="100000"/>
              </a:lnSpc>
              <a:spcBef>
                <a:spcPct val="0"/>
              </a:spcBef>
            </a:pPr>
            <a:r>
              <a:rPr lang="zh-CN" altLang="en-US">
                <a:ea typeface="楷体_GB2312" pitchFamily="49" charset="-122"/>
              </a:rPr>
              <a:t>对应原态</a:t>
            </a:r>
            <a:endParaRPr lang="en-US" altLang="zh-CN" sz="2400">
              <a:ea typeface="楷体_GB2312" pitchFamily="49" charset="-122"/>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04531"/>
                                        </p:tgtEl>
                                        <p:attrNameLst>
                                          <p:attrName>style.visibility</p:attrName>
                                        </p:attrNameLst>
                                      </p:cBhvr>
                                      <p:to>
                                        <p:strVal val="visible"/>
                                      </p:to>
                                    </p:set>
                                    <p:animEffect transition="in" filter="blinds(horizontal)">
                                      <p:cBhvr>
                                        <p:cTn id="7" dur="500"/>
                                        <p:tgtEl>
                                          <p:spTgt spid="1045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35048"/>
                                        </p:tgtEl>
                                        <p:attrNameLst>
                                          <p:attrName>style.visibility</p:attrName>
                                        </p:attrNameLst>
                                      </p:cBhvr>
                                      <p:to>
                                        <p:strVal val="visible"/>
                                      </p:to>
                                    </p:set>
                                    <p:animEffect transition="in" filter="dissolve">
                                      <p:cBhvr>
                                        <p:cTn id="12" dur="500"/>
                                        <p:tgtEl>
                                          <p:spTgt spid="213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35048" grpId="0" bldLvl="0" animBg="1"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a:xfrm>
            <a:off x="3288665" y="547689"/>
            <a:ext cx="6858000" cy="609600"/>
          </a:xfrm>
        </p:spPr>
        <p:txBody>
          <a:bodyPr>
            <a:normAutofit fontScale="90000"/>
          </a:bodyPr>
          <a:lstStyle/>
          <a:p>
            <a:r>
              <a:rPr lang="zh-CN" altLang="en-US" dirty="0">
                <a:latin typeface="Arial" panose="020B0604020202020204" pitchFamily="34" charset="0"/>
                <a:ea typeface="黑体" panose="02010609060101010101" pitchFamily="49" charset="-122"/>
              </a:rPr>
              <a:t>状态转换图和时序图</a:t>
            </a:r>
          </a:p>
        </p:txBody>
      </p:sp>
      <p:sp>
        <p:nvSpPr>
          <p:cNvPr id="14345" name="灯片编号占位符 86"/>
          <p:cNvSpPr>
            <a:spLocks noGrp="1"/>
          </p:cNvSpPr>
          <p:nvPr>
            <p:ph type="sldNum" sz="quarter" idx="10"/>
          </p:nvPr>
        </p:nvSpPr>
        <p:spPr>
          <a:noFill/>
        </p:spPr>
        <p:txBody>
          <a:bodyPr/>
          <a:lstStyle/>
          <a:p>
            <a:fld id="{F314ACD4-EB4A-4A21-BA85-20A1A4F91B28}" type="slidenum">
              <a:rPr lang="ko-KR" altLang="en-US" smtClean="0"/>
              <a:t>73</a:t>
            </a:fld>
            <a:endParaRPr lang="en-US" altLang="ko-KR"/>
          </a:p>
        </p:txBody>
      </p:sp>
      <p:sp>
        <p:nvSpPr>
          <p:cNvPr id="14340" name="Text Box 139"/>
          <p:cNvSpPr txBox="1">
            <a:spLocks noChangeArrowheads="1"/>
          </p:cNvSpPr>
          <p:nvPr/>
        </p:nvSpPr>
        <p:spPr bwMode="auto">
          <a:xfrm>
            <a:off x="1992313" y="1201738"/>
            <a:ext cx="5988050" cy="368300"/>
          </a:xfrm>
          <a:prstGeom prst="rect">
            <a:avLst/>
          </a:prstGeom>
          <a:noFill/>
          <a:ln w="9525">
            <a:noFill/>
            <a:miter lim="800000"/>
          </a:ln>
        </p:spPr>
        <p:txBody>
          <a:bodyPr>
            <a:spAutoFit/>
          </a:bodyPr>
          <a:lstStyle/>
          <a:p>
            <a:pPr algn="just" eaLnBrk="0" hangingPunct="0"/>
            <a:r>
              <a:rPr lang="zh-CN" altLang="en-US">
                <a:solidFill>
                  <a:srgbClr val="C00000"/>
                </a:solidFill>
                <a:latin typeface="Arial" panose="020B0604020202020204" pitchFamily="34" charset="0"/>
                <a:cs typeface="Arial" panose="020B0604020202020204" pitchFamily="34" charset="0"/>
              </a:rPr>
              <a:t>（</a:t>
            </a:r>
            <a:r>
              <a:rPr lang="en-US" altLang="zh-CN">
                <a:solidFill>
                  <a:srgbClr val="C00000"/>
                </a:solidFill>
                <a:latin typeface="Arial" panose="020B0604020202020204" pitchFamily="34" charset="0"/>
                <a:cs typeface="Arial" panose="020B0604020202020204" pitchFamily="34" charset="0"/>
              </a:rPr>
              <a:t>3</a:t>
            </a:r>
            <a:r>
              <a:rPr lang="zh-CN" altLang="en-US">
                <a:solidFill>
                  <a:srgbClr val="C00000"/>
                </a:solidFill>
                <a:latin typeface="Arial" panose="020B0604020202020204" pitchFamily="34" charset="0"/>
                <a:cs typeface="Arial" panose="020B0604020202020204" pitchFamily="34" charset="0"/>
              </a:rPr>
              <a:t>）根据状态转换表，画出状态转换图和时序图</a:t>
            </a:r>
          </a:p>
        </p:txBody>
      </p:sp>
      <p:sp>
        <p:nvSpPr>
          <p:cNvPr id="14341" name="Rectangle 2"/>
          <p:cNvSpPr>
            <a:spLocks noChangeArrowheads="1"/>
          </p:cNvSpPr>
          <p:nvPr/>
        </p:nvSpPr>
        <p:spPr bwMode="black">
          <a:xfrm>
            <a:off x="5941060" y="-353377"/>
            <a:ext cx="309880" cy="706755"/>
          </a:xfrm>
          <a:prstGeom prst="rect">
            <a:avLst/>
          </a:prstGeom>
          <a:noFill/>
          <a:ln w="9525" algn="ctr">
            <a:noFill/>
            <a:miter lim="800000"/>
          </a:ln>
          <a:effectLst>
            <a:prstShdw prst="shdw13" dist="53882" dir="13500000">
              <a:srgbClr val="808080">
                <a:alpha val="50000"/>
              </a:srgbClr>
            </a:prstShdw>
          </a:effectLst>
        </p:spPr>
        <p:txBody>
          <a:bodyPr wrap="none" anchor="ctr">
            <a:spAutoFit/>
          </a:bodyP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grpSp>
        <p:nvGrpSpPr>
          <p:cNvPr id="3" name="Group 315"/>
          <p:cNvGrpSpPr/>
          <p:nvPr/>
        </p:nvGrpSpPr>
        <p:grpSpPr bwMode="auto">
          <a:xfrm>
            <a:off x="2755265" y="1868488"/>
            <a:ext cx="7067550" cy="1284924"/>
            <a:chOff x="772" y="1291"/>
            <a:chExt cx="4452" cy="809"/>
          </a:xfrm>
        </p:grpSpPr>
        <p:grpSp>
          <p:nvGrpSpPr>
            <p:cNvPr id="14359" name="Group 227"/>
            <p:cNvGrpSpPr/>
            <p:nvPr/>
          </p:nvGrpSpPr>
          <p:grpSpPr bwMode="auto">
            <a:xfrm>
              <a:off x="796" y="1291"/>
              <a:ext cx="576" cy="367"/>
              <a:chOff x="3312" y="2727"/>
              <a:chExt cx="576" cy="462"/>
            </a:xfrm>
          </p:grpSpPr>
          <p:grpSp>
            <p:nvGrpSpPr>
              <p:cNvPr id="14433" name="Group 228"/>
              <p:cNvGrpSpPr/>
              <p:nvPr/>
            </p:nvGrpSpPr>
            <p:grpSpPr bwMode="auto">
              <a:xfrm>
                <a:off x="3312" y="2727"/>
                <a:ext cx="396" cy="462"/>
                <a:chOff x="3312" y="2727"/>
                <a:chExt cx="396" cy="462"/>
              </a:xfrm>
            </p:grpSpPr>
            <p:sp>
              <p:nvSpPr>
                <p:cNvPr id="14435" name="Oval 229"/>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36" name="Text Box 230"/>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0000</a:t>
                  </a:r>
                </a:p>
              </p:txBody>
            </p:sp>
          </p:grpSp>
          <p:sp>
            <p:nvSpPr>
              <p:cNvPr id="14434" name="Line 231"/>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0" name="Group 232"/>
            <p:cNvGrpSpPr/>
            <p:nvPr/>
          </p:nvGrpSpPr>
          <p:grpSpPr bwMode="auto">
            <a:xfrm>
              <a:off x="1363" y="1298"/>
              <a:ext cx="576" cy="367"/>
              <a:chOff x="3312" y="2727"/>
              <a:chExt cx="576" cy="462"/>
            </a:xfrm>
          </p:grpSpPr>
          <p:grpSp>
            <p:nvGrpSpPr>
              <p:cNvPr id="14429" name="Group 233"/>
              <p:cNvGrpSpPr/>
              <p:nvPr/>
            </p:nvGrpSpPr>
            <p:grpSpPr bwMode="auto">
              <a:xfrm>
                <a:off x="3312" y="2727"/>
                <a:ext cx="396" cy="462"/>
                <a:chOff x="3312" y="2727"/>
                <a:chExt cx="396" cy="462"/>
              </a:xfrm>
            </p:grpSpPr>
            <p:sp>
              <p:nvSpPr>
                <p:cNvPr id="14431" name="Oval 234"/>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32" name="Text Box 235"/>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0001</a:t>
                  </a:r>
                </a:p>
              </p:txBody>
            </p:sp>
          </p:grpSp>
          <p:sp>
            <p:nvSpPr>
              <p:cNvPr id="14430" name="Line 236"/>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1" name="Group 237"/>
            <p:cNvGrpSpPr/>
            <p:nvPr/>
          </p:nvGrpSpPr>
          <p:grpSpPr bwMode="auto">
            <a:xfrm>
              <a:off x="1936" y="1298"/>
              <a:ext cx="576" cy="367"/>
              <a:chOff x="3312" y="2727"/>
              <a:chExt cx="576" cy="462"/>
            </a:xfrm>
          </p:grpSpPr>
          <p:grpSp>
            <p:nvGrpSpPr>
              <p:cNvPr id="14425" name="Group 238"/>
              <p:cNvGrpSpPr/>
              <p:nvPr/>
            </p:nvGrpSpPr>
            <p:grpSpPr bwMode="auto">
              <a:xfrm>
                <a:off x="3312" y="2727"/>
                <a:ext cx="396" cy="462"/>
                <a:chOff x="3312" y="2727"/>
                <a:chExt cx="396" cy="462"/>
              </a:xfrm>
            </p:grpSpPr>
            <p:sp>
              <p:nvSpPr>
                <p:cNvPr id="14427" name="Oval 239"/>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28" name="Text Box 240"/>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0010</a:t>
                  </a:r>
                </a:p>
              </p:txBody>
            </p:sp>
          </p:grpSp>
          <p:sp>
            <p:nvSpPr>
              <p:cNvPr id="14426" name="Line 241"/>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2" name="Group 242"/>
            <p:cNvGrpSpPr/>
            <p:nvPr/>
          </p:nvGrpSpPr>
          <p:grpSpPr bwMode="auto">
            <a:xfrm>
              <a:off x="2524" y="1298"/>
              <a:ext cx="576" cy="367"/>
              <a:chOff x="3312" y="2727"/>
              <a:chExt cx="576" cy="462"/>
            </a:xfrm>
          </p:grpSpPr>
          <p:grpSp>
            <p:nvGrpSpPr>
              <p:cNvPr id="14421" name="Group 243"/>
              <p:cNvGrpSpPr/>
              <p:nvPr/>
            </p:nvGrpSpPr>
            <p:grpSpPr bwMode="auto">
              <a:xfrm>
                <a:off x="3312" y="2727"/>
                <a:ext cx="396" cy="462"/>
                <a:chOff x="3312" y="2727"/>
                <a:chExt cx="396" cy="462"/>
              </a:xfrm>
            </p:grpSpPr>
            <p:sp>
              <p:nvSpPr>
                <p:cNvPr id="14423" name="Oval 244"/>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24" name="Text Box 245"/>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0011</a:t>
                  </a:r>
                </a:p>
              </p:txBody>
            </p:sp>
          </p:grpSp>
          <p:sp>
            <p:nvSpPr>
              <p:cNvPr id="14422" name="Line 246"/>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sp>
          <p:nvSpPr>
            <p:cNvPr id="14363" name="Line 250"/>
            <p:cNvSpPr>
              <a:spLocks noChangeShapeType="1"/>
            </p:cNvSpPr>
            <p:nvPr/>
          </p:nvSpPr>
          <p:spPr bwMode="auto">
            <a:xfrm>
              <a:off x="5020" y="1466"/>
              <a:ext cx="0" cy="267"/>
            </a:xfrm>
            <a:prstGeom prst="line">
              <a:avLst/>
            </a:prstGeom>
            <a:noFill/>
            <a:ln w="9525">
              <a:solidFill>
                <a:schemeClr val="tx1"/>
              </a:solidFill>
              <a:round/>
              <a:tailEnd type="triangle" w="med" len="med"/>
            </a:ln>
          </p:spPr>
          <p:txBody>
            <a:bodyPr/>
            <a:lstStyle/>
            <a:p>
              <a:endParaRPr lang="zh-CN" altLang="en-US"/>
            </a:p>
          </p:txBody>
        </p:sp>
        <p:grpSp>
          <p:nvGrpSpPr>
            <p:cNvPr id="14364" name="Group 251"/>
            <p:cNvGrpSpPr/>
            <p:nvPr/>
          </p:nvGrpSpPr>
          <p:grpSpPr bwMode="auto">
            <a:xfrm>
              <a:off x="4624" y="1733"/>
              <a:ext cx="588" cy="367"/>
              <a:chOff x="4848" y="3024"/>
              <a:chExt cx="588" cy="463"/>
            </a:xfrm>
          </p:grpSpPr>
          <p:grpSp>
            <p:nvGrpSpPr>
              <p:cNvPr id="14417" name="Group 252"/>
              <p:cNvGrpSpPr/>
              <p:nvPr/>
            </p:nvGrpSpPr>
            <p:grpSpPr bwMode="auto">
              <a:xfrm>
                <a:off x="5040" y="3024"/>
                <a:ext cx="396" cy="463"/>
                <a:chOff x="3312" y="2727"/>
                <a:chExt cx="396" cy="463"/>
              </a:xfrm>
            </p:grpSpPr>
            <p:sp>
              <p:nvSpPr>
                <p:cNvPr id="14419" name="Oval 253"/>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20" name="Text Box 254"/>
                <p:cNvSpPr txBox="1">
                  <a:spLocks noChangeArrowheads="1"/>
                </p:cNvSpPr>
                <p:nvPr/>
              </p:nvSpPr>
              <p:spPr bwMode="auto">
                <a:xfrm>
                  <a:off x="3324" y="2727"/>
                  <a:ext cx="384" cy="46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1000</a:t>
                  </a:r>
                </a:p>
              </p:txBody>
            </p:sp>
          </p:grpSp>
          <p:sp>
            <p:nvSpPr>
              <p:cNvPr id="14418" name="Line 255"/>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5" name="Group 256"/>
            <p:cNvGrpSpPr/>
            <p:nvPr/>
          </p:nvGrpSpPr>
          <p:grpSpPr bwMode="auto">
            <a:xfrm>
              <a:off x="4048" y="1733"/>
              <a:ext cx="588" cy="367"/>
              <a:chOff x="4848" y="3024"/>
              <a:chExt cx="588" cy="463"/>
            </a:xfrm>
          </p:grpSpPr>
          <p:grpSp>
            <p:nvGrpSpPr>
              <p:cNvPr id="14413" name="Group 257"/>
              <p:cNvGrpSpPr/>
              <p:nvPr/>
            </p:nvGrpSpPr>
            <p:grpSpPr bwMode="auto">
              <a:xfrm>
                <a:off x="5040" y="3024"/>
                <a:ext cx="396" cy="463"/>
                <a:chOff x="3312" y="2727"/>
                <a:chExt cx="396" cy="463"/>
              </a:xfrm>
            </p:grpSpPr>
            <p:sp>
              <p:nvSpPr>
                <p:cNvPr id="14415" name="Oval 258"/>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16" name="Text Box 259"/>
                <p:cNvSpPr txBox="1">
                  <a:spLocks noChangeArrowheads="1"/>
                </p:cNvSpPr>
                <p:nvPr/>
              </p:nvSpPr>
              <p:spPr bwMode="auto">
                <a:xfrm>
                  <a:off x="3324" y="2727"/>
                  <a:ext cx="384" cy="46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1001</a:t>
                  </a:r>
                </a:p>
              </p:txBody>
            </p:sp>
          </p:grpSp>
          <p:sp>
            <p:nvSpPr>
              <p:cNvPr id="14414" name="Line 260"/>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6" name="Group 261"/>
            <p:cNvGrpSpPr/>
            <p:nvPr/>
          </p:nvGrpSpPr>
          <p:grpSpPr bwMode="auto">
            <a:xfrm>
              <a:off x="3484" y="1733"/>
              <a:ext cx="588" cy="367"/>
              <a:chOff x="4848" y="3024"/>
              <a:chExt cx="588" cy="463"/>
            </a:xfrm>
          </p:grpSpPr>
          <p:grpSp>
            <p:nvGrpSpPr>
              <p:cNvPr id="14409" name="Group 262"/>
              <p:cNvGrpSpPr/>
              <p:nvPr/>
            </p:nvGrpSpPr>
            <p:grpSpPr bwMode="auto">
              <a:xfrm>
                <a:off x="5040" y="3024"/>
                <a:ext cx="396" cy="463"/>
                <a:chOff x="3312" y="2727"/>
                <a:chExt cx="396" cy="463"/>
              </a:xfrm>
            </p:grpSpPr>
            <p:sp>
              <p:nvSpPr>
                <p:cNvPr id="14411" name="Oval 263"/>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12" name="Text Box 264"/>
                <p:cNvSpPr txBox="1">
                  <a:spLocks noChangeArrowheads="1"/>
                </p:cNvSpPr>
                <p:nvPr/>
              </p:nvSpPr>
              <p:spPr bwMode="auto">
                <a:xfrm>
                  <a:off x="3324" y="2727"/>
                  <a:ext cx="384" cy="46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1010</a:t>
                  </a:r>
                </a:p>
              </p:txBody>
            </p:sp>
          </p:grpSp>
          <p:sp>
            <p:nvSpPr>
              <p:cNvPr id="14410" name="Line 265"/>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7" name="Group 266"/>
            <p:cNvGrpSpPr/>
            <p:nvPr/>
          </p:nvGrpSpPr>
          <p:grpSpPr bwMode="auto">
            <a:xfrm>
              <a:off x="2884" y="1733"/>
              <a:ext cx="588" cy="367"/>
              <a:chOff x="4848" y="3024"/>
              <a:chExt cx="588" cy="463"/>
            </a:xfrm>
          </p:grpSpPr>
          <p:grpSp>
            <p:nvGrpSpPr>
              <p:cNvPr id="14405" name="Group 267"/>
              <p:cNvGrpSpPr/>
              <p:nvPr/>
            </p:nvGrpSpPr>
            <p:grpSpPr bwMode="auto">
              <a:xfrm>
                <a:off x="5040" y="3024"/>
                <a:ext cx="396" cy="463"/>
                <a:chOff x="3312" y="2727"/>
                <a:chExt cx="396" cy="463"/>
              </a:xfrm>
            </p:grpSpPr>
            <p:sp>
              <p:nvSpPr>
                <p:cNvPr id="14407" name="Oval 268"/>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08" name="Text Box 269"/>
                <p:cNvSpPr txBox="1">
                  <a:spLocks noChangeArrowheads="1"/>
                </p:cNvSpPr>
                <p:nvPr/>
              </p:nvSpPr>
              <p:spPr bwMode="auto">
                <a:xfrm>
                  <a:off x="3324" y="2727"/>
                  <a:ext cx="384" cy="46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1011</a:t>
                  </a:r>
                </a:p>
              </p:txBody>
            </p:sp>
          </p:grpSp>
          <p:sp>
            <p:nvSpPr>
              <p:cNvPr id="14406" name="Line 270"/>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8" name="Group 318"/>
            <p:cNvGrpSpPr/>
            <p:nvPr/>
          </p:nvGrpSpPr>
          <p:grpSpPr bwMode="auto">
            <a:xfrm>
              <a:off x="3100" y="1292"/>
              <a:ext cx="576" cy="367"/>
              <a:chOff x="3312" y="2727"/>
              <a:chExt cx="576" cy="462"/>
            </a:xfrm>
          </p:grpSpPr>
          <p:grpSp>
            <p:nvGrpSpPr>
              <p:cNvPr id="14401" name="Group 319"/>
              <p:cNvGrpSpPr/>
              <p:nvPr/>
            </p:nvGrpSpPr>
            <p:grpSpPr bwMode="auto">
              <a:xfrm>
                <a:off x="3312" y="2727"/>
                <a:ext cx="396" cy="462"/>
                <a:chOff x="3312" y="2727"/>
                <a:chExt cx="396" cy="462"/>
              </a:xfrm>
            </p:grpSpPr>
            <p:sp>
              <p:nvSpPr>
                <p:cNvPr id="14403" name="Oval 320"/>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04" name="Text Box 321"/>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0100</a:t>
                  </a:r>
                </a:p>
              </p:txBody>
            </p:sp>
          </p:grpSp>
          <p:sp>
            <p:nvSpPr>
              <p:cNvPr id="14402" name="Line 322"/>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69" name="Group 323"/>
            <p:cNvGrpSpPr/>
            <p:nvPr/>
          </p:nvGrpSpPr>
          <p:grpSpPr bwMode="auto">
            <a:xfrm>
              <a:off x="3667" y="1299"/>
              <a:ext cx="576" cy="367"/>
              <a:chOff x="3312" y="2727"/>
              <a:chExt cx="576" cy="462"/>
            </a:xfrm>
          </p:grpSpPr>
          <p:grpSp>
            <p:nvGrpSpPr>
              <p:cNvPr id="14397" name="Group 324"/>
              <p:cNvGrpSpPr/>
              <p:nvPr/>
            </p:nvGrpSpPr>
            <p:grpSpPr bwMode="auto">
              <a:xfrm>
                <a:off x="3312" y="2727"/>
                <a:ext cx="396" cy="462"/>
                <a:chOff x="3312" y="2727"/>
                <a:chExt cx="396" cy="462"/>
              </a:xfrm>
            </p:grpSpPr>
            <p:sp>
              <p:nvSpPr>
                <p:cNvPr id="14399" name="Oval 325"/>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400" name="Text Box 326"/>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0101</a:t>
                  </a:r>
                </a:p>
              </p:txBody>
            </p:sp>
          </p:grpSp>
          <p:sp>
            <p:nvSpPr>
              <p:cNvPr id="14398" name="Line 327"/>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70" name="Group 328"/>
            <p:cNvGrpSpPr/>
            <p:nvPr/>
          </p:nvGrpSpPr>
          <p:grpSpPr bwMode="auto">
            <a:xfrm>
              <a:off x="4240" y="1299"/>
              <a:ext cx="576" cy="367"/>
              <a:chOff x="3312" y="2727"/>
              <a:chExt cx="576" cy="462"/>
            </a:xfrm>
          </p:grpSpPr>
          <p:grpSp>
            <p:nvGrpSpPr>
              <p:cNvPr id="14393" name="Group 329"/>
              <p:cNvGrpSpPr/>
              <p:nvPr/>
            </p:nvGrpSpPr>
            <p:grpSpPr bwMode="auto">
              <a:xfrm>
                <a:off x="3312" y="2727"/>
                <a:ext cx="396" cy="462"/>
                <a:chOff x="3312" y="2727"/>
                <a:chExt cx="396" cy="462"/>
              </a:xfrm>
            </p:grpSpPr>
            <p:sp>
              <p:nvSpPr>
                <p:cNvPr id="14395" name="Oval 330"/>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396" name="Text Box 331"/>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0110</a:t>
                  </a:r>
                </a:p>
              </p:txBody>
            </p:sp>
          </p:grpSp>
          <p:sp>
            <p:nvSpPr>
              <p:cNvPr id="14394" name="Line 332"/>
              <p:cNvSpPr>
                <a:spLocks noChangeShapeType="1"/>
              </p:cNvSpPr>
              <p:nvPr/>
            </p:nvSpPr>
            <p:spPr bwMode="auto">
              <a:xfrm>
                <a:off x="3696" y="2832"/>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71" name="Group 334"/>
            <p:cNvGrpSpPr/>
            <p:nvPr/>
          </p:nvGrpSpPr>
          <p:grpSpPr bwMode="auto">
            <a:xfrm>
              <a:off x="4828" y="1299"/>
              <a:ext cx="396" cy="367"/>
              <a:chOff x="3312" y="2727"/>
              <a:chExt cx="396" cy="462"/>
            </a:xfrm>
          </p:grpSpPr>
          <p:sp>
            <p:nvSpPr>
              <p:cNvPr id="14391" name="Oval 335"/>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392" name="Text Box 336"/>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0111</a:t>
                </a:r>
              </a:p>
            </p:txBody>
          </p:sp>
        </p:grpSp>
        <p:grpSp>
          <p:nvGrpSpPr>
            <p:cNvPr id="14372" name="Group 338"/>
            <p:cNvGrpSpPr/>
            <p:nvPr/>
          </p:nvGrpSpPr>
          <p:grpSpPr bwMode="auto">
            <a:xfrm>
              <a:off x="2320" y="1733"/>
              <a:ext cx="588" cy="367"/>
              <a:chOff x="4848" y="3024"/>
              <a:chExt cx="588" cy="463"/>
            </a:xfrm>
          </p:grpSpPr>
          <p:grpSp>
            <p:nvGrpSpPr>
              <p:cNvPr id="14387" name="Group 339"/>
              <p:cNvGrpSpPr/>
              <p:nvPr/>
            </p:nvGrpSpPr>
            <p:grpSpPr bwMode="auto">
              <a:xfrm>
                <a:off x="5040" y="3024"/>
                <a:ext cx="396" cy="463"/>
                <a:chOff x="3312" y="2727"/>
                <a:chExt cx="396" cy="463"/>
              </a:xfrm>
            </p:grpSpPr>
            <p:sp>
              <p:nvSpPr>
                <p:cNvPr id="14389" name="Oval 340"/>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390" name="Text Box 341"/>
                <p:cNvSpPr txBox="1">
                  <a:spLocks noChangeArrowheads="1"/>
                </p:cNvSpPr>
                <p:nvPr/>
              </p:nvSpPr>
              <p:spPr bwMode="auto">
                <a:xfrm>
                  <a:off x="3324" y="2727"/>
                  <a:ext cx="384" cy="46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1100</a:t>
                  </a:r>
                </a:p>
              </p:txBody>
            </p:sp>
          </p:grpSp>
          <p:sp>
            <p:nvSpPr>
              <p:cNvPr id="14388" name="Line 342"/>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73" name="Group 343"/>
            <p:cNvGrpSpPr/>
            <p:nvPr/>
          </p:nvGrpSpPr>
          <p:grpSpPr bwMode="auto">
            <a:xfrm>
              <a:off x="1744" y="1733"/>
              <a:ext cx="588" cy="367"/>
              <a:chOff x="4848" y="3024"/>
              <a:chExt cx="588" cy="463"/>
            </a:xfrm>
          </p:grpSpPr>
          <p:grpSp>
            <p:nvGrpSpPr>
              <p:cNvPr id="14383" name="Group 344"/>
              <p:cNvGrpSpPr/>
              <p:nvPr/>
            </p:nvGrpSpPr>
            <p:grpSpPr bwMode="auto">
              <a:xfrm>
                <a:off x="5040" y="3024"/>
                <a:ext cx="396" cy="463"/>
                <a:chOff x="3312" y="2727"/>
                <a:chExt cx="396" cy="463"/>
              </a:xfrm>
            </p:grpSpPr>
            <p:sp>
              <p:nvSpPr>
                <p:cNvPr id="14385" name="Oval 345"/>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386" name="Text Box 346"/>
                <p:cNvSpPr txBox="1">
                  <a:spLocks noChangeArrowheads="1"/>
                </p:cNvSpPr>
                <p:nvPr/>
              </p:nvSpPr>
              <p:spPr bwMode="auto">
                <a:xfrm>
                  <a:off x="3324" y="2727"/>
                  <a:ext cx="384" cy="46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1101</a:t>
                  </a:r>
                </a:p>
              </p:txBody>
            </p:sp>
          </p:grpSp>
          <p:sp>
            <p:nvSpPr>
              <p:cNvPr id="14384" name="Line 347"/>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74" name="Group 348"/>
            <p:cNvGrpSpPr/>
            <p:nvPr/>
          </p:nvGrpSpPr>
          <p:grpSpPr bwMode="auto">
            <a:xfrm>
              <a:off x="1180" y="1733"/>
              <a:ext cx="588" cy="367"/>
              <a:chOff x="4848" y="3024"/>
              <a:chExt cx="588" cy="463"/>
            </a:xfrm>
          </p:grpSpPr>
          <p:grpSp>
            <p:nvGrpSpPr>
              <p:cNvPr id="14379" name="Group 349"/>
              <p:cNvGrpSpPr/>
              <p:nvPr/>
            </p:nvGrpSpPr>
            <p:grpSpPr bwMode="auto">
              <a:xfrm>
                <a:off x="5040" y="3024"/>
                <a:ext cx="396" cy="463"/>
                <a:chOff x="3312" y="2727"/>
                <a:chExt cx="396" cy="463"/>
              </a:xfrm>
            </p:grpSpPr>
            <p:sp>
              <p:nvSpPr>
                <p:cNvPr id="14381" name="Oval 350"/>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382" name="Text Box 351"/>
                <p:cNvSpPr txBox="1">
                  <a:spLocks noChangeArrowheads="1"/>
                </p:cNvSpPr>
                <p:nvPr/>
              </p:nvSpPr>
              <p:spPr bwMode="auto">
                <a:xfrm>
                  <a:off x="3324" y="2727"/>
                  <a:ext cx="384" cy="463"/>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1110</a:t>
                  </a:r>
                </a:p>
              </p:txBody>
            </p:sp>
          </p:grpSp>
          <p:sp>
            <p:nvSpPr>
              <p:cNvPr id="14380" name="Line 352"/>
              <p:cNvSpPr>
                <a:spLocks noChangeShapeType="1"/>
              </p:cNvSpPr>
              <p:nvPr/>
            </p:nvSpPr>
            <p:spPr bwMode="auto">
              <a:xfrm flipH="1">
                <a:off x="4848" y="3120"/>
                <a:ext cx="192" cy="0"/>
              </a:xfrm>
              <a:prstGeom prst="line">
                <a:avLst/>
              </a:prstGeom>
              <a:noFill/>
              <a:ln w="9525">
                <a:solidFill>
                  <a:schemeClr val="tx1"/>
                </a:solidFill>
                <a:round/>
                <a:tailEnd type="triangle" w="med" len="med"/>
              </a:ln>
            </p:spPr>
            <p:txBody>
              <a:bodyPr/>
              <a:lstStyle/>
              <a:p>
                <a:endParaRPr lang="zh-CN" altLang="en-US"/>
              </a:p>
            </p:txBody>
          </p:sp>
        </p:grpSp>
        <p:grpSp>
          <p:nvGrpSpPr>
            <p:cNvPr id="14375" name="Group 354"/>
            <p:cNvGrpSpPr/>
            <p:nvPr/>
          </p:nvGrpSpPr>
          <p:grpSpPr bwMode="auto">
            <a:xfrm>
              <a:off x="772" y="1733"/>
              <a:ext cx="396" cy="367"/>
              <a:chOff x="3312" y="2727"/>
              <a:chExt cx="396" cy="462"/>
            </a:xfrm>
          </p:grpSpPr>
          <p:sp>
            <p:nvSpPr>
              <p:cNvPr id="14377" name="Oval 355"/>
              <p:cNvSpPr>
                <a:spLocks noChangeArrowheads="1"/>
              </p:cNvSpPr>
              <p:nvPr/>
            </p:nvSpPr>
            <p:spPr bwMode="auto">
              <a:xfrm>
                <a:off x="3312" y="2736"/>
                <a:ext cx="384" cy="192"/>
              </a:xfrm>
              <a:prstGeom prst="ellipse">
                <a:avLst/>
              </a:prstGeom>
              <a:noFill/>
              <a:ln w="9525">
                <a:solidFill>
                  <a:schemeClr val="tx1"/>
                </a:solidFill>
                <a:round/>
              </a:ln>
            </p:spPr>
            <p:txBody>
              <a:bodyPr wrap="none" anchor="ctr"/>
              <a:lstStyle/>
              <a:p>
                <a:pPr algn="dist">
                  <a:spcBef>
                    <a:spcPct val="0"/>
                  </a:spcBef>
                </a:pPr>
                <a:endParaRPr lang="zh-CN" altLang="en-US" sz="4000">
                  <a:solidFill>
                    <a:schemeClr val="hlink"/>
                  </a:solidFill>
                  <a:latin typeface="Arial" panose="020B0604020202020204" pitchFamily="34" charset="0"/>
                  <a:ea typeface="Gulim" panose="020B0600000101010101" pitchFamily="34" charset="-127"/>
                </a:endParaRPr>
              </a:p>
            </p:txBody>
          </p:sp>
          <p:sp>
            <p:nvSpPr>
              <p:cNvPr id="14378" name="Text Box 356"/>
              <p:cNvSpPr txBox="1">
                <a:spLocks noChangeArrowheads="1"/>
              </p:cNvSpPr>
              <p:nvPr/>
            </p:nvSpPr>
            <p:spPr bwMode="auto">
              <a:xfrm>
                <a:off x="3324" y="2727"/>
                <a:ext cx="384" cy="462"/>
              </a:xfrm>
              <a:prstGeom prst="rect">
                <a:avLst/>
              </a:prstGeom>
              <a:noFill/>
              <a:ln w="9525">
                <a:noFill/>
                <a:miter lim="800000"/>
              </a:ln>
            </p:spPr>
            <p:txBody>
              <a:bodyPr>
                <a:spAutoFit/>
              </a:bodyPr>
              <a:lstStyle/>
              <a:p>
                <a:pPr algn="just" eaLnBrk="0" hangingPunct="0"/>
                <a:r>
                  <a:rPr lang="en-US" altLang="zh-CN" sz="1600">
                    <a:solidFill>
                      <a:schemeClr val="hlink"/>
                    </a:solidFill>
                    <a:ea typeface="Gulim" panose="020B0600000101010101" pitchFamily="34" charset="-127"/>
                  </a:rPr>
                  <a:t>1111</a:t>
                </a:r>
              </a:p>
            </p:txBody>
          </p:sp>
        </p:grpSp>
        <p:sp>
          <p:nvSpPr>
            <p:cNvPr id="14376" name="Line 274"/>
            <p:cNvSpPr>
              <a:spLocks noChangeShapeType="1"/>
            </p:cNvSpPr>
            <p:nvPr/>
          </p:nvSpPr>
          <p:spPr bwMode="auto">
            <a:xfrm flipV="1">
              <a:off x="962" y="1440"/>
              <a:ext cx="0" cy="295"/>
            </a:xfrm>
            <a:prstGeom prst="line">
              <a:avLst/>
            </a:prstGeom>
            <a:noFill/>
            <a:ln w="9525">
              <a:solidFill>
                <a:schemeClr val="tx1"/>
              </a:solidFill>
              <a:round/>
              <a:tailEnd type="triangle" w="med" len="med"/>
            </a:ln>
          </p:spPr>
          <p:txBody>
            <a:bodyPr/>
            <a:lstStyle/>
            <a:p>
              <a:endParaRPr lang="zh-CN" altLang="en-US"/>
            </a:p>
          </p:txBody>
        </p:sp>
      </p:grpSp>
      <p:sp>
        <p:nvSpPr>
          <p:cNvPr id="2" name="Text Box 139"/>
          <p:cNvSpPr txBox="1">
            <a:spLocks noChangeArrowheads="1"/>
          </p:cNvSpPr>
          <p:nvPr/>
        </p:nvSpPr>
        <p:spPr bwMode="auto">
          <a:xfrm>
            <a:off x="1997075" y="5541963"/>
            <a:ext cx="3138488" cy="368300"/>
          </a:xfrm>
          <a:prstGeom prst="rect">
            <a:avLst/>
          </a:prstGeom>
          <a:noFill/>
          <a:ln w="9525">
            <a:noFill/>
            <a:miter lim="800000"/>
          </a:ln>
        </p:spPr>
        <p:txBody>
          <a:bodyPr>
            <a:spAutoFit/>
          </a:bodyPr>
          <a:lstStyle/>
          <a:p>
            <a:pPr algn="just" eaLnBrk="0" hangingPunct="0"/>
            <a:r>
              <a:rPr lang="zh-CN" altLang="en-US">
                <a:solidFill>
                  <a:srgbClr val="C00000"/>
                </a:solidFill>
                <a:latin typeface="Arial" panose="020B0604020202020204" pitchFamily="34" charset="0"/>
                <a:cs typeface="Arial" panose="020B0604020202020204" pitchFamily="34" charset="0"/>
              </a:rPr>
              <a:t>（</a:t>
            </a:r>
            <a:r>
              <a:rPr lang="en-US" altLang="zh-CN">
                <a:solidFill>
                  <a:srgbClr val="C00000"/>
                </a:solidFill>
                <a:latin typeface="Arial" panose="020B0604020202020204" pitchFamily="34" charset="0"/>
                <a:cs typeface="Arial" panose="020B0604020202020204" pitchFamily="34" charset="0"/>
              </a:rPr>
              <a:t>4</a:t>
            </a:r>
            <a:r>
              <a:rPr lang="zh-CN" altLang="en-US">
                <a:solidFill>
                  <a:srgbClr val="C00000"/>
                </a:solidFill>
                <a:latin typeface="Arial" panose="020B0604020202020204" pitchFamily="34" charset="0"/>
                <a:cs typeface="Arial" panose="020B0604020202020204" pitchFamily="34" charset="0"/>
              </a:rPr>
              <a:t>）说明电路的功能</a:t>
            </a:r>
          </a:p>
        </p:txBody>
      </p:sp>
      <p:sp>
        <p:nvSpPr>
          <p:cNvPr id="5439" name="Text Box 319"/>
          <p:cNvSpPr txBox="1">
            <a:spLocks noChangeArrowheads="1"/>
          </p:cNvSpPr>
          <p:nvPr/>
        </p:nvSpPr>
        <p:spPr bwMode="black">
          <a:xfrm>
            <a:off x="2190750" y="5940425"/>
            <a:ext cx="5826125" cy="368300"/>
          </a:xfrm>
          <a:prstGeom prst="rect">
            <a:avLst/>
          </a:prstGeom>
          <a:noFill/>
          <a:ln w="9525" algn="ctr">
            <a:noFill/>
            <a:miter lim="800000"/>
          </a:ln>
        </p:spPr>
        <p:txBody>
          <a:bodyPr>
            <a:spAutoFit/>
          </a:bodyPr>
          <a:lstStyle/>
          <a:p>
            <a:r>
              <a:rPr lang="zh-CN" altLang="en-US"/>
              <a:t>电路是一个同步二进制</a:t>
            </a:r>
            <a:r>
              <a:rPr lang="zh-CN" altLang="en-US">
                <a:solidFill>
                  <a:srgbClr val="CC0066"/>
                </a:solidFill>
              </a:rPr>
              <a:t>（模</a:t>
            </a:r>
            <a:r>
              <a:rPr lang="en-US" altLang="zh-CN">
                <a:solidFill>
                  <a:srgbClr val="CC0066"/>
                </a:solidFill>
              </a:rPr>
              <a:t>16</a:t>
            </a:r>
            <a:r>
              <a:rPr lang="zh-CN" altLang="en-US">
                <a:solidFill>
                  <a:srgbClr val="CC0066"/>
                </a:solidFill>
              </a:rPr>
              <a:t>）</a:t>
            </a:r>
            <a:r>
              <a:rPr lang="zh-CN" altLang="en-US"/>
              <a:t>的加法计数器</a:t>
            </a:r>
          </a:p>
        </p:txBody>
      </p:sp>
      <p:grpSp>
        <p:nvGrpSpPr>
          <p:cNvPr id="227" name="Group 95"/>
          <p:cNvGrpSpPr/>
          <p:nvPr/>
        </p:nvGrpSpPr>
        <p:grpSpPr bwMode="auto">
          <a:xfrm>
            <a:off x="2122488" y="3068638"/>
            <a:ext cx="7694612" cy="2241550"/>
            <a:chOff x="377" y="1933"/>
            <a:chExt cx="4847" cy="1412"/>
          </a:xfrm>
        </p:grpSpPr>
        <p:graphicFrame>
          <p:nvGraphicFramePr>
            <p:cNvPr id="5440" name="Object 320"/>
            <p:cNvGraphicFramePr>
              <a:graphicFrameLocks noChangeAspect="1"/>
            </p:cNvGraphicFramePr>
            <p:nvPr/>
          </p:nvGraphicFramePr>
          <p:xfrm>
            <a:off x="567" y="1933"/>
            <a:ext cx="4657" cy="1362"/>
          </p:xfrm>
          <a:graphic>
            <a:graphicData uri="http://schemas.openxmlformats.org/presentationml/2006/ole">
              <mc:AlternateContent xmlns:mc="http://schemas.openxmlformats.org/markup-compatibility/2006">
                <mc:Choice xmlns:v="urn:schemas-microsoft-com:vml" Requires="v">
                  <p:oleObj spid="_x0000_s340994" name="位图图像" r:id="rId4" imgW="7391400" imgH="2162175" progId="PBrush">
                    <p:embed/>
                  </p:oleObj>
                </mc:Choice>
                <mc:Fallback>
                  <p:oleObj name="位图图像" r:id="rId4" imgW="7391400" imgH="2162175" progId="PBrush">
                    <p:embed/>
                    <p:pic>
                      <p:nvPicPr>
                        <p:cNvPr id="0" name="Object 3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black">
                        <a:xfrm>
                          <a:off x="567" y="1933"/>
                          <a:ext cx="4657" cy="1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53882" dir="13500000" algn="ctr" rotWithShape="0">
                                  <a:srgbClr val="808080">
                                    <a:alpha val="50000"/>
                                  </a:srgbClr>
                                </a:outerShdw>
                              </a:effectLst>
                            </a14:hiddenEffects>
                          </a:ext>
                        </a:extLst>
                      </p:spPr>
                    </p:pic>
                  </p:oleObj>
                </mc:Fallback>
              </mc:AlternateContent>
            </a:graphicData>
          </a:graphic>
        </p:graphicFrame>
        <p:sp>
          <p:nvSpPr>
            <p:cNvPr id="14353" name="Text Box 89"/>
            <p:cNvSpPr txBox="1">
              <a:spLocks noChangeArrowheads="1"/>
            </p:cNvSpPr>
            <p:nvPr/>
          </p:nvSpPr>
          <p:spPr bwMode="black">
            <a:xfrm>
              <a:off x="407" y="1957"/>
              <a:ext cx="407" cy="232"/>
            </a:xfrm>
            <a:prstGeom prst="rect">
              <a:avLst/>
            </a:prstGeom>
            <a:solidFill>
              <a:schemeClr val="bg1"/>
            </a:solidFill>
            <a:ln w="9525" algn="ctr">
              <a:noFill/>
              <a:miter lim="800000"/>
            </a:ln>
          </p:spPr>
          <p:txBody>
            <a:bodyPr>
              <a:spAutoFit/>
            </a:bodyPr>
            <a:lstStyle/>
            <a:p>
              <a:r>
                <a:rPr lang="en-US" altLang="zh-CN" sz="1800" i="1"/>
                <a:t>CP</a:t>
              </a:r>
            </a:p>
          </p:txBody>
        </p:sp>
        <p:sp>
          <p:nvSpPr>
            <p:cNvPr id="14354" name="Text Box 90"/>
            <p:cNvSpPr txBox="1">
              <a:spLocks noChangeArrowheads="1"/>
            </p:cNvSpPr>
            <p:nvPr/>
          </p:nvSpPr>
          <p:spPr bwMode="black">
            <a:xfrm>
              <a:off x="411" y="2238"/>
              <a:ext cx="407" cy="232"/>
            </a:xfrm>
            <a:prstGeom prst="rect">
              <a:avLst/>
            </a:prstGeom>
            <a:solidFill>
              <a:schemeClr val="bg1"/>
            </a:solidFill>
            <a:ln w="9525" algn="ctr">
              <a:noFill/>
              <a:miter lim="800000"/>
            </a:ln>
          </p:spPr>
          <p:txBody>
            <a:bodyPr>
              <a:spAutoFit/>
            </a:bodyPr>
            <a:lstStyle/>
            <a:p>
              <a:r>
                <a:rPr lang="en-US" altLang="zh-CN" sz="1800" i="1"/>
                <a:t>C</a:t>
              </a:r>
            </a:p>
          </p:txBody>
        </p:sp>
        <p:sp>
          <p:nvSpPr>
            <p:cNvPr id="14355" name="Text Box 91"/>
            <p:cNvSpPr txBox="1">
              <a:spLocks noChangeArrowheads="1"/>
            </p:cNvSpPr>
            <p:nvPr/>
          </p:nvSpPr>
          <p:spPr bwMode="black">
            <a:xfrm>
              <a:off x="397" y="2433"/>
              <a:ext cx="407" cy="232"/>
            </a:xfrm>
            <a:prstGeom prst="rect">
              <a:avLst/>
            </a:prstGeom>
            <a:solidFill>
              <a:schemeClr val="bg1"/>
            </a:solidFill>
            <a:ln w="9525" algn="ctr">
              <a:noFill/>
              <a:miter lim="800000"/>
            </a:ln>
          </p:spPr>
          <p:txBody>
            <a:bodyPr>
              <a:spAutoFit/>
            </a:bodyPr>
            <a:lstStyle/>
            <a:p>
              <a:r>
                <a:rPr lang="en-US" altLang="zh-CN" sz="1800" i="1"/>
                <a:t>Q</a:t>
              </a:r>
              <a:r>
                <a:rPr lang="en-US" altLang="zh-CN" sz="1800" i="1" baseline="-25000"/>
                <a:t>0</a:t>
              </a:r>
            </a:p>
          </p:txBody>
        </p:sp>
        <p:sp>
          <p:nvSpPr>
            <p:cNvPr id="14356" name="Text Box 92"/>
            <p:cNvSpPr txBox="1">
              <a:spLocks noChangeArrowheads="1"/>
            </p:cNvSpPr>
            <p:nvPr/>
          </p:nvSpPr>
          <p:spPr bwMode="black">
            <a:xfrm>
              <a:off x="378" y="2666"/>
              <a:ext cx="407" cy="232"/>
            </a:xfrm>
            <a:prstGeom prst="rect">
              <a:avLst/>
            </a:prstGeom>
            <a:solidFill>
              <a:schemeClr val="bg1"/>
            </a:solidFill>
            <a:ln w="9525" algn="ctr">
              <a:noFill/>
              <a:miter lim="800000"/>
            </a:ln>
          </p:spPr>
          <p:txBody>
            <a:bodyPr>
              <a:spAutoFit/>
            </a:bodyPr>
            <a:lstStyle/>
            <a:p>
              <a:r>
                <a:rPr lang="en-US" altLang="zh-CN" sz="1800" i="1"/>
                <a:t>Q</a:t>
              </a:r>
              <a:r>
                <a:rPr lang="en-US" altLang="zh-CN" sz="1800" i="1" baseline="-25000"/>
                <a:t>1</a:t>
              </a:r>
            </a:p>
          </p:txBody>
        </p:sp>
        <p:sp>
          <p:nvSpPr>
            <p:cNvPr id="14357" name="Text Box 93"/>
            <p:cNvSpPr txBox="1">
              <a:spLocks noChangeArrowheads="1"/>
            </p:cNvSpPr>
            <p:nvPr/>
          </p:nvSpPr>
          <p:spPr bwMode="black">
            <a:xfrm>
              <a:off x="377" y="2884"/>
              <a:ext cx="407" cy="232"/>
            </a:xfrm>
            <a:prstGeom prst="rect">
              <a:avLst/>
            </a:prstGeom>
            <a:solidFill>
              <a:schemeClr val="bg1"/>
            </a:solidFill>
            <a:ln w="9525" algn="ctr">
              <a:noFill/>
              <a:miter lim="800000"/>
            </a:ln>
          </p:spPr>
          <p:txBody>
            <a:bodyPr>
              <a:spAutoFit/>
            </a:bodyPr>
            <a:lstStyle/>
            <a:p>
              <a:r>
                <a:rPr lang="en-US" altLang="zh-CN" sz="1800" i="1"/>
                <a:t>Q</a:t>
              </a:r>
              <a:r>
                <a:rPr lang="en-US" altLang="zh-CN" sz="1800" i="1" baseline="-25000"/>
                <a:t>2</a:t>
              </a:r>
            </a:p>
          </p:txBody>
        </p:sp>
        <p:sp>
          <p:nvSpPr>
            <p:cNvPr id="14358" name="Text Box 94"/>
            <p:cNvSpPr txBox="1">
              <a:spLocks noChangeArrowheads="1"/>
            </p:cNvSpPr>
            <p:nvPr/>
          </p:nvSpPr>
          <p:spPr bwMode="black">
            <a:xfrm>
              <a:off x="377" y="3113"/>
              <a:ext cx="407" cy="232"/>
            </a:xfrm>
            <a:prstGeom prst="rect">
              <a:avLst/>
            </a:prstGeom>
            <a:solidFill>
              <a:schemeClr val="bg1"/>
            </a:solidFill>
            <a:ln w="9525" algn="ctr">
              <a:noFill/>
              <a:miter lim="800000"/>
            </a:ln>
          </p:spPr>
          <p:txBody>
            <a:bodyPr>
              <a:spAutoFit/>
            </a:bodyPr>
            <a:lstStyle/>
            <a:p>
              <a:r>
                <a:rPr lang="en-US" altLang="zh-CN" sz="1800" i="1"/>
                <a:t>Q</a:t>
              </a:r>
              <a:r>
                <a:rPr lang="en-US" altLang="zh-CN" sz="1800" i="1" baseline="-25000"/>
                <a:t>3</a:t>
              </a:r>
            </a:p>
          </p:txBody>
        </p:sp>
      </p:grpSp>
      <p:grpSp>
        <p:nvGrpSpPr>
          <p:cNvPr id="228" name="Group 102"/>
          <p:cNvGrpSpPr/>
          <p:nvPr/>
        </p:nvGrpSpPr>
        <p:grpSpPr bwMode="auto">
          <a:xfrm>
            <a:off x="8866188" y="3813175"/>
            <a:ext cx="558800" cy="1457326"/>
            <a:chOff x="4625" y="2402"/>
            <a:chExt cx="352" cy="918"/>
          </a:xfrm>
        </p:grpSpPr>
        <p:sp>
          <p:nvSpPr>
            <p:cNvPr id="14349" name="Text Box 15"/>
            <p:cNvSpPr txBox="1">
              <a:spLocks noChangeArrowheads="1"/>
            </p:cNvSpPr>
            <p:nvPr/>
          </p:nvSpPr>
          <p:spPr bwMode="black">
            <a:xfrm>
              <a:off x="4625" y="2402"/>
              <a:ext cx="343"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1</a:t>
              </a:r>
            </a:p>
          </p:txBody>
        </p:sp>
        <p:sp>
          <p:nvSpPr>
            <p:cNvPr id="14350" name="Text Box 16"/>
            <p:cNvSpPr txBox="1">
              <a:spLocks noChangeArrowheads="1"/>
            </p:cNvSpPr>
            <p:nvPr/>
          </p:nvSpPr>
          <p:spPr bwMode="black">
            <a:xfrm>
              <a:off x="4631" y="2642"/>
              <a:ext cx="344"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1</a:t>
              </a:r>
            </a:p>
          </p:txBody>
        </p:sp>
        <p:sp>
          <p:nvSpPr>
            <p:cNvPr id="14351" name="Text Box 17"/>
            <p:cNvSpPr txBox="1">
              <a:spLocks noChangeArrowheads="1"/>
            </p:cNvSpPr>
            <p:nvPr/>
          </p:nvSpPr>
          <p:spPr bwMode="black">
            <a:xfrm>
              <a:off x="4633" y="2865"/>
              <a:ext cx="344"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1</a:t>
              </a:r>
            </a:p>
          </p:txBody>
        </p:sp>
        <p:sp>
          <p:nvSpPr>
            <p:cNvPr id="14352" name="Text Box 18"/>
            <p:cNvSpPr txBox="1">
              <a:spLocks noChangeArrowheads="1"/>
            </p:cNvSpPr>
            <p:nvPr/>
          </p:nvSpPr>
          <p:spPr bwMode="black">
            <a:xfrm>
              <a:off x="4631" y="3088"/>
              <a:ext cx="343" cy="232"/>
            </a:xfrm>
            <a:prstGeom prst="rect">
              <a:avLst/>
            </a:prstGeom>
            <a:noFill/>
            <a:ln w="9525" algn="ctr">
              <a:noFill/>
              <a:miter lim="800000"/>
            </a:ln>
            <a:effectLst>
              <a:prstShdw prst="shdw13" dist="53882" dir="13500000">
                <a:srgbClr val="808080">
                  <a:alpha val="50000"/>
                </a:srgbClr>
              </a:prstShdw>
            </a:effectLst>
          </p:spPr>
          <p:txBody>
            <a:bodyPr>
              <a:spAutoFit/>
            </a:bodyPr>
            <a:lstStyle/>
            <a:p>
              <a:r>
                <a:rPr lang="en-US" altLang="zh-CN">
                  <a:solidFill>
                    <a:srgbClr val="FF0066"/>
                  </a:solidFill>
                  <a:latin typeface="Arial" panose="020B0604020202020204" pitchFamily="34" charset="0"/>
                </a:rPr>
                <a:t>1</a:t>
              </a:r>
            </a:p>
          </p:txBody>
        </p:sp>
      </p:grpSp>
      <p:sp>
        <p:nvSpPr>
          <p:cNvPr id="226" name="Text Box 268"/>
          <p:cNvSpPr txBox="1">
            <a:spLocks noChangeArrowheads="1"/>
          </p:cNvSpPr>
          <p:nvPr/>
        </p:nvSpPr>
        <p:spPr bwMode="black">
          <a:xfrm>
            <a:off x="8937625" y="3498850"/>
            <a:ext cx="454025" cy="368300"/>
          </a:xfrm>
          <a:prstGeom prst="rect">
            <a:avLst/>
          </a:prstGeom>
          <a:noFill/>
          <a:ln w="9525" algn="ctr">
            <a:noFill/>
            <a:miter lim="800000"/>
          </a:ln>
        </p:spPr>
        <p:txBody>
          <a:bodyPr>
            <a:spAutoFit/>
          </a:bodyPr>
          <a:lstStyle/>
          <a:p>
            <a:pPr>
              <a:defRPr/>
            </a:pPr>
            <a:r>
              <a:rPr lang="en-US" altLang="zh-CN" dirty="0">
                <a:solidFill>
                  <a:schemeClr val="accent2">
                    <a:lumMod val="50000"/>
                  </a:schemeClr>
                </a:solidFill>
                <a:latin typeface="Arial" panose="020B0604020202020204" pitchFamily="34" charset="0"/>
              </a:rPr>
              <a:t>1</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27"/>
                                        </p:tgtEl>
                                        <p:attrNameLst>
                                          <p:attrName>style.visibility</p:attrName>
                                        </p:attrNameLst>
                                      </p:cBhvr>
                                      <p:to>
                                        <p:strVal val="visible"/>
                                      </p:to>
                                    </p:set>
                                    <p:animEffect transition="in" filter="blinds(horizontal)">
                                      <p:cBhvr>
                                        <p:cTn id="13" dur="500"/>
                                        <p:tgtEl>
                                          <p:spTgt spid="2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28"/>
                                        </p:tgtEl>
                                        <p:attrNameLst>
                                          <p:attrName>style.visibility</p:attrName>
                                        </p:attrNameLst>
                                      </p:cBhvr>
                                      <p:to>
                                        <p:strVal val="visible"/>
                                      </p:to>
                                    </p:set>
                                    <p:animEffect transition="in" filter="wipe(down)">
                                      <p:cBhvr>
                                        <p:cTn id="18" dur="500"/>
                                        <p:tgtEl>
                                          <p:spTgt spid="228"/>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grpId="0" nodeType="clickEffect">
                                  <p:stCondLst>
                                    <p:cond delay="0"/>
                                  </p:stCondLst>
                                  <p:childTnLst>
                                    <p:set>
                                      <p:cBhvr>
                                        <p:cTn id="22" dur="1" fill="hold">
                                          <p:stCondLst>
                                            <p:cond delay="0"/>
                                          </p:stCondLst>
                                        </p:cTn>
                                        <p:tgtEl>
                                          <p:spTgt spid="226"/>
                                        </p:tgtEl>
                                        <p:attrNameLst>
                                          <p:attrName>style.visibility</p:attrName>
                                        </p:attrNameLst>
                                      </p:cBhvr>
                                      <p:to>
                                        <p:strVal val="visible"/>
                                      </p:to>
                                    </p:set>
                                    <p:anim calcmode="lin" valueType="num">
                                      <p:cBhvr>
                                        <p:cTn id="23" dur="500" fill="hold"/>
                                        <p:tgtEl>
                                          <p:spTgt spid="226"/>
                                        </p:tgtEl>
                                        <p:attrNameLst>
                                          <p:attrName>ppt_w</p:attrName>
                                        </p:attrNameLst>
                                      </p:cBhvr>
                                      <p:tavLst>
                                        <p:tav tm="0">
                                          <p:val>
                                            <p:fltVal val="0"/>
                                          </p:val>
                                        </p:tav>
                                        <p:tav tm="100000">
                                          <p:val>
                                            <p:strVal val="#ppt_w"/>
                                          </p:val>
                                        </p:tav>
                                      </p:tavLst>
                                    </p:anim>
                                    <p:anim calcmode="lin" valueType="num">
                                      <p:cBhvr>
                                        <p:cTn id="24" dur="500" fill="hold"/>
                                        <p:tgtEl>
                                          <p:spTgt spid="226"/>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additive="base">
                                        <p:cTn id="29" dur="500" fill="hold"/>
                                        <p:tgtEl>
                                          <p:spTgt spid="2"/>
                                        </p:tgtEl>
                                        <p:attrNameLst>
                                          <p:attrName>ppt_x</p:attrName>
                                        </p:attrNameLst>
                                      </p:cBhvr>
                                      <p:tavLst>
                                        <p:tav tm="0">
                                          <p:val>
                                            <p:strVal val="#ppt_x"/>
                                          </p:val>
                                        </p:tav>
                                        <p:tav tm="100000">
                                          <p:val>
                                            <p:strVal val="#ppt_x"/>
                                          </p:val>
                                        </p:tav>
                                      </p:tavLst>
                                    </p:anim>
                                    <p:anim calcmode="lin" valueType="num">
                                      <p:cBhvr additive="base">
                                        <p:cTn id="30" dur="500" fill="hold"/>
                                        <p:tgtEl>
                                          <p:spTgt spid="2"/>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grpId="0" nodeType="afterEffect">
                                  <p:stCondLst>
                                    <p:cond delay="0"/>
                                  </p:stCondLst>
                                  <p:childTnLst>
                                    <p:set>
                                      <p:cBhvr>
                                        <p:cTn id="33" dur="1" fill="hold">
                                          <p:stCondLst>
                                            <p:cond delay="0"/>
                                          </p:stCondLst>
                                        </p:cTn>
                                        <p:tgtEl>
                                          <p:spTgt spid="5439"/>
                                        </p:tgtEl>
                                        <p:attrNameLst>
                                          <p:attrName>style.visibility</p:attrName>
                                        </p:attrNameLst>
                                      </p:cBhvr>
                                      <p:to>
                                        <p:strVal val="visible"/>
                                      </p:to>
                                    </p:set>
                                    <p:anim calcmode="lin" valueType="num">
                                      <p:cBhvr additive="base">
                                        <p:cTn id="34" dur="500" fill="hold"/>
                                        <p:tgtEl>
                                          <p:spTgt spid="5439"/>
                                        </p:tgtEl>
                                        <p:attrNameLst>
                                          <p:attrName>ppt_x</p:attrName>
                                        </p:attrNameLst>
                                      </p:cBhvr>
                                      <p:tavLst>
                                        <p:tav tm="0">
                                          <p:val>
                                            <p:strVal val="#ppt_x"/>
                                          </p:val>
                                        </p:tav>
                                        <p:tav tm="100000">
                                          <p:val>
                                            <p:strVal val="#ppt_x"/>
                                          </p:val>
                                        </p:tav>
                                      </p:tavLst>
                                    </p:anim>
                                    <p:anim calcmode="lin" valueType="num">
                                      <p:cBhvr additive="base">
                                        <p:cTn id="35" dur="500" fill="hold"/>
                                        <p:tgtEl>
                                          <p:spTgt spid="54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439" grpId="0"/>
      <p:bldP spid="22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bwMode="auto">
          <a:xfrm>
            <a:off x="3371850" y="3851275"/>
            <a:ext cx="6505575" cy="1662113"/>
            <a:chOff x="1218" y="2948"/>
            <a:chExt cx="4098" cy="1047"/>
          </a:xfrm>
        </p:grpSpPr>
        <p:sp>
          <p:nvSpPr>
            <p:cNvPr id="50374" name="Line 3"/>
            <p:cNvSpPr>
              <a:spLocks noChangeShapeType="1"/>
            </p:cNvSpPr>
            <p:nvPr/>
          </p:nvSpPr>
          <p:spPr bwMode="auto">
            <a:xfrm>
              <a:off x="1218" y="2952"/>
              <a:ext cx="1" cy="1043"/>
            </a:xfrm>
            <a:prstGeom prst="line">
              <a:avLst/>
            </a:prstGeom>
            <a:noFill/>
            <a:ln w="38100">
              <a:solidFill>
                <a:schemeClr val="tx1"/>
              </a:solidFill>
              <a:round/>
              <a:tailEnd type="oval" w="sm" len="sm"/>
            </a:ln>
          </p:spPr>
          <p:txBody>
            <a:bodyPr/>
            <a:lstStyle/>
            <a:p>
              <a:endParaRPr lang="zh-CN" altLang="en-US"/>
            </a:p>
          </p:txBody>
        </p:sp>
        <p:sp>
          <p:nvSpPr>
            <p:cNvPr id="50375" name="Line 4"/>
            <p:cNvSpPr>
              <a:spLocks noChangeShapeType="1"/>
            </p:cNvSpPr>
            <p:nvPr/>
          </p:nvSpPr>
          <p:spPr bwMode="auto">
            <a:xfrm>
              <a:off x="1798" y="2952"/>
              <a:ext cx="1" cy="1043"/>
            </a:xfrm>
            <a:prstGeom prst="line">
              <a:avLst/>
            </a:prstGeom>
            <a:noFill/>
            <a:ln w="38100">
              <a:solidFill>
                <a:schemeClr val="tx1"/>
              </a:solidFill>
              <a:round/>
              <a:tailEnd type="oval" w="sm" len="sm"/>
            </a:ln>
          </p:spPr>
          <p:txBody>
            <a:bodyPr/>
            <a:lstStyle/>
            <a:p>
              <a:endParaRPr lang="zh-CN" altLang="en-US"/>
            </a:p>
          </p:txBody>
        </p:sp>
        <p:sp>
          <p:nvSpPr>
            <p:cNvPr id="50376" name="Line 5"/>
            <p:cNvSpPr>
              <a:spLocks noChangeShapeType="1"/>
            </p:cNvSpPr>
            <p:nvPr/>
          </p:nvSpPr>
          <p:spPr bwMode="auto">
            <a:xfrm>
              <a:off x="2368" y="2952"/>
              <a:ext cx="1" cy="1043"/>
            </a:xfrm>
            <a:prstGeom prst="line">
              <a:avLst/>
            </a:prstGeom>
            <a:noFill/>
            <a:ln w="38100">
              <a:solidFill>
                <a:schemeClr val="tx1"/>
              </a:solidFill>
              <a:round/>
              <a:tailEnd type="oval" w="sm" len="sm"/>
            </a:ln>
          </p:spPr>
          <p:txBody>
            <a:bodyPr/>
            <a:lstStyle/>
            <a:p>
              <a:endParaRPr lang="zh-CN" altLang="en-US"/>
            </a:p>
          </p:txBody>
        </p:sp>
        <p:sp>
          <p:nvSpPr>
            <p:cNvPr id="50377" name="Line 6"/>
            <p:cNvSpPr>
              <a:spLocks noChangeShapeType="1"/>
            </p:cNvSpPr>
            <p:nvPr/>
          </p:nvSpPr>
          <p:spPr bwMode="auto">
            <a:xfrm>
              <a:off x="2951" y="2952"/>
              <a:ext cx="1" cy="1043"/>
            </a:xfrm>
            <a:prstGeom prst="line">
              <a:avLst/>
            </a:prstGeom>
            <a:noFill/>
            <a:ln w="38100">
              <a:solidFill>
                <a:schemeClr val="tx1"/>
              </a:solidFill>
              <a:round/>
              <a:tailEnd type="oval" w="sm" len="sm"/>
            </a:ln>
          </p:spPr>
          <p:txBody>
            <a:bodyPr/>
            <a:lstStyle/>
            <a:p>
              <a:endParaRPr lang="zh-CN" altLang="en-US"/>
            </a:p>
          </p:txBody>
        </p:sp>
        <p:sp>
          <p:nvSpPr>
            <p:cNvPr id="50378" name="Line 7"/>
            <p:cNvSpPr>
              <a:spLocks noChangeShapeType="1"/>
            </p:cNvSpPr>
            <p:nvPr/>
          </p:nvSpPr>
          <p:spPr bwMode="auto">
            <a:xfrm>
              <a:off x="3567" y="2952"/>
              <a:ext cx="1" cy="1043"/>
            </a:xfrm>
            <a:prstGeom prst="line">
              <a:avLst/>
            </a:prstGeom>
            <a:noFill/>
            <a:ln w="38100">
              <a:solidFill>
                <a:schemeClr val="tx1"/>
              </a:solidFill>
              <a:round/>
              <a:tailEnd type="oval" w="sm" len="sm"/>
            </a:ln>
          </p:spPr>
          <p:txBody>
            <a:bodyPr/>
            <a:lstStyle/>
            <a:p>
              <a:endParaRPr lang="zh-CN" altLang="en-US"/>
            </a:p>
          </p:txBody>
        </p:sp>
        <p:sp>
          <p:nvSpPr>
            <p:cNvPr id="50379" name="Line 8"/>
            <p:cNvSpPr>
              <a:spLocks noChangeShapeType="1"/>
            </p:cNvSpPr>
            <p:nvPr/>
          </p:nvSpPr>
          <p:spPr bwMode="auto">
            <a:xfrm>
              <a:off x="4162" y="2952"/>
              <a:ext cx="1" cy="1043"/>
            </a:xfrm>
            <a:prstGeom prst="line">
              <a:avLst/>
            </a:prstGeom>
            <a:noFill/>
            <a:ln w="38100">
              <a:solidFill>
                <a:schemeClr val="tx1"/>
              </a:solidFill>
              <a:round/>
              <a:tailEnd type="oval" w="sm" len="sm"/>
            </a:ln>
          </p:spPr>
          <p:txBody>
            <a:bodyPr/>
            <a:lstStyle/>
            <a:p>
              <a:endParaRPr lang="zh-CN" altLang="en-US"/>
            </a:p>
          </p:txBody>
        </p:sp>
        <p:sp>
          <p:nvSpPr>
            <p:cNvPr id="50380" name="Line 9"/>
            <p:cNvSpPr>
              <a:spLocks noChangeShapeType="1"/>
            </p:cNvSpPr>
            <p:nvPr/>
          </p:nvSpPr>
          <p:spPr bwMode="auto">
            <a:xfrm>
              <a:off x="4732" y="2952"/>
              <a:ext cx="1" cy="1043"/>
            </a:xfrm>
            <a:prstGeom prst="line">
              <a:avLst/>
            </a:prstGeom>
            <a:noFill/>
            <a:ln w="38100">
              <a:solidFill>
                <a:schemeClr val="tx1"/>
              </a:solidFill>
              <a:round/>
              <a:tailEnd type="oval" w="sm" len="sm"/>
            </a:ln>
          </p:spPr>
          <p:txBody>
            <a:bodyPr/>
            <a:lstStyle/>
            <a:p>
              <a:endParaRPr lang="zh-CN" altLang="en-US"/>
            </a:p>
          </p:txBody>
        </p:sp>
        <p:sp>
          <p:nvSpPr>
            <p:cNvPr id="50381" name="Line 10"/>
            <p:cNvSpPr>
              <a:spLocks noChangeShapeType="1"/>
            </p:cNvSpPr>
            <p:nvPr/>
          </p:nvSpPr>
          <p:spPr bwMode="auto">
            <a:xfrm>
              <a:off x="5315" y="2948"/>
              <a:ext cx="1" cy="1047"/>
            </a:xfrm>
            <a:prstGeom prst="line">
              <a:avLst/>
            </a:prstGeom>
            <a:noFill/>
            <a:ln w="38100">
              <a:solidFill>
                <a:schemeClr val="tx1"/>
              </a:solidFill>
              <a:round/>
              <a:tailEnd type="oval" w="sm" len="sm"/>
            </a:ln>
          </p:spPr>
          <p:txBody>
            <a:bodyPr/>
            <a:lstStyle/>
            <a:p>
              <a:endParaRPr lang="zh-CN" altLang="en-US"/>
            </a:p>
          </p:txBody>
        </p:sp>
      </p:grpSp>
      <p:sp>
        <p:nvSpPr>
          <p:cNvPr id="50179" name="Text Box 12"/>
          <p:cNvSpPr txBox="1">
            <a:spLocks noChangeArrowheads="1"/>
          </p:cNvSpPr>
          <p:nvPr/>
        </p:nvSpPr>
        <p:spPr bwMode="auto">
          <a:xfrm>
            <a:off x="2603500" y="944563"/>
            <a:ext cx="8229600" cy="368300"/>
          </a:xfrm>
          <a:prstGeom prst="rect">
            <a:avLst/>
          </a:prstGeom>
          <a:noFill/>
          <a:ln w="9525">
            <a:noFill/>
            <a:miter lim="800000"/>
          </a:ln>
        </p:spPr>
        <p:txBody>
          <a:bodyPr>
            <a:spAutoFit/>
          </a:bodyPr>
          <a:lstStyle/>
          <a:p>
            <a:pPr algn="l">
              <a:lnSpc>
                <a:spcPct val="100000"/>
              </a:lnSpc>
            </a:pPr>
            <a:r>
              <a:rPr kumimoji="1" lang="zh-CN" altLang="en-US" b="1">
                <a:latin typeface="Arial" panose="020B0604020202020204" pitchFamily="34" charset="0"/>
              </a:rPr>
              <a:t>用8片</a:t>
            </a:r>
            <a:r>
              <a:rPr lang="en-US" altLang="zh-CN" b="1">
                <a:latin typeface="Arial" panose="020B0604020202020204" pitchFamily="34" charset="0"/>
              </a:rPr>
              <a:t>Intel 2114</a:t>
            </a:r>
            <a:r>
              <a:rPr lang="zh-CN" altLang="en-US">
                <a:latin typeface="Arial" panose="020B0604020202020204" pitchFamily="34" charset="0"/>
              </a:rPr>
              <a:t>（</a:t>
            </a:r>
            <a:r>
              <a:rPr kumimoji="1" lang="en-US" altLang="zh-CN" b="1">
                <a:latin typeface="Arial" panose="020B0604020202020204" pitchFamily="34" charset="0"/>
              </a:rPr>
              <a:t>1K</a:t>
            </a:r>
            <a:r>
              <a:rPr kumimoji="1" lang="en-US" altLang="zh-CN" b="1">
                <a:latin typeface="Arial" panose="020B0604020202020204" pitchFamily="34" charset="0"/>
                <a:cs typeface="Times New Roman" panose="02020603050405020304" pitchFamily="18" charset="0"/>
              </a:rPr>
              <a:t>×</a:t>
            </a:r>
            <a:r>
              <a:rPr kumimoji="1" lang="zh-CN" altLang="en-US" b="1">
                <a:latin typeface="Arial" panose="020B0604020202020204" pitchFamily="34" charset="0"/>
              </a:rPr>
              <a:t>4）组成4</a:t>
            </a:r>
            <a:r>
              <a:rPr kumimoji="1" lang="en-US" altLang="zh-CN" b="1">
                <a:latin typeface="Arial" panose="020B0604020202020204" pitchFamily="34" charset="0"/>
              </a:rPr>
              <a:t>K</a:t>
            </a:r>
            <a:r>
              <a:rPr kumimoji="1" lang="en-US" altLang="zh-CN" b="1">
                <a:latin typeface="Arial" panose="020B0604020202020204" pitchFamily="34" charset="0"/>
                <a:cs typeface="Times New Roman" panose="02020603050405020304" pitchFamily="18" charset="0"/>
              </a:rPr>
              <a:t>×</a:t>
            </a:r>
            <a:r>
              <a:rPr kumimoji="1" lang="en-US" altLang="zh-CN" b="1">
                <a:latin typeface="Arial" panose="020B0604020202020204" pitchFamily="34" charset="0"/>
              </a:rPr>
              <a:t>8</a:t>
            </a:r>
            <a:r>
              <a:rPr kumimoji="1" lang="zh-CN" altLang="en-US" b="1">
                <a:latin typeface="Arial" panose="020B0604020202020204" pitchFamily="34" charset="0"/>
              </a:rPr>
              <a:t>位的存储器</a:t>
            </a:r>
          </a:p>
        </p:txBody>
      </p:sp>
      <p:sp>
        <p:nvSpPr>
          <p:cNvPr id="50180" name="Rectangle 19"/>
          <p:cNvSpPr>
            <a:spLocks noChangeArrowheads="1"/>
          </p:cNvSpPr>
          <p:nvPr/>
        </p:nvSpPr>
        <p:spPr bwMode="auto">
          <a:xfrm>
            <a:off x="9863138" y="1868488"/>
            <a:ext cx="320675" cy="307975"/>
          </a:xfrm>
          <a:prstGeom prst="rect">
            <a:avLst/>
          </a:prstGeom>
          <a:noFill/>
          <a:ln w="38100">
            <a:noFill/>
            <a:miter lim="800000"/>
          </a:ln>
        </p:spPr>
        <p:txBody>
          <a:bodyPr/>
          <a:lstStyle/>
          <a:p>
            <a:endParaRPr lang="zh-CN" altLang="en-US"/>
          </a:p>
        </p:txBody>
      </p:sp>
      <p:grpSp>
        <p:nvGrpSpPr>
          <p:cNvPr id="4" name="Group 20"/>
          <p:cNvGrpSpPr/>
          <p:nvPr/>
        </p:nvGrpSpPr>
        <p:grpSpPr bwMode="auto">
          <a:xfrm>
            <a:off x="2027238" y="5508625"/>
            <a:ext cx="8115300" cy="276226"/>
            <a:chOff x="371" y="3992"/>
            <a:chExt cx="5112" cy="174"/>
          </a:xfrm>
        </p:grpSpPr>
        <p:sp>
          <p:nvSpPr>
            <p:cNvPr id="50371" name="Rectangle 21"/>
            <p:cNvSpPr>
              <a:spLocks noChangeArrowheads="1"/>
            </p:cNvSpPr>
            <p:nvPr/>
          </p:nvSpPr>
          <p:spPr bwMode="auto">
            <a:xfrm>
              <a:off x="395" y="3992"/>
              <a:ext cx="214"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WE</a:t>
              </a:r>
            </a:p>
          </p:txBody>
        </p:sp>
        <p:sp>
          <p:nvSpPr>
            <p:cNvPr id="50372" name="Line 22"/>
            <p:cNvSpPr>
              <a:spLocks noChangeShapeType="1"/>
            </p:cNvSpPr>
            <p:nvPr/>
          </p:nvSpPr>
          <p:spPr bwMode="auto">
            <a:xfrm>
              <a:off x="677" y="3998"/>
              <a:ext cx="4806" cy="1"/>
            </a:xfrm>
            <a:prstGeom prst="line">
              <a:avLst/>
            </a:prstGeom>
            <a:noFill/>
            <a:ln w="38100">
              <a:solidFill>
                <a:schemeClr val="tx1"/>
              </a:solidFill>
              <a:round/>
            </a:ln>
          </p:spPr>
          <p:txBody>
            <a:bodyPr/>
            <a:lstStyle/>
            <a:p>
              <a:endParaRPr lang="zh-CN" altLang="en-US"/>
            </a:p>
          </p:txBody>
        </p:sp>
        <p:sp>
          <p:nvSpPr>
            <p:cNvPr id="50373" name="Line 23"/>
            <p:cNvSpPr>
              <a:spLocks noChangeShapeType="1"/>
            </p:cNvSpPr>
            <p:nvPr/>
          </p:nvSpPr>
          <p:spPr bwMode="auto">
            <a:xfrm>
              <a:off x="371" y="3996"/>
              <a:ext cx="249" cy="0"/>
            </a:xfrm>
            <a:prstGeom prst="line">
              <a:avLst/>
            </a:prstGeom>
            <a:noFill/>
            <a:ln w="38100">
              <a:solidFill>
                <a:schemeClr val="tx1"/>
              </a:solidFill>
              <a:round/>
            </a:ln>
          </p:spPr>
          <p:txBody>
            <a:bodyPr/>
            <a:lstStyle/>
            <a:p>
              <a:endParaRPr lang="zh-CN" altLang="en-US"/>
            </a:p>
          </p:txBody>
        </p:sp>
      </p:grpSp>
      <p:grpSp>
        <p:nvGrpSpPr>
          <p:cNvPr id="5" name="Group 24"/>
          <p:cNvGrpSpPr/>
          <p:nvPr/>
        </p:nvGrpSpPr>
        <p:grpSpPr bwMode="auto">
          <a:xfrm>
            <a:off x="2065338" y="2384425"/>
            <a:ext cx="8077200" cy="1241426"/>
            <a:chOff x="395" y="2024"/>
            <a:chExt cx="5088" cy="782"/>
          </a:xfrm>
        </p:grpSpPr>
        <p:sp>
          <p:nvSpPr>
            <p:cNvPr id="50363" name="Rectangle 25"/>
            <p:cNvSpPr>
              <a:spLocks noChangeArrowheads="1"/>
            </p:cNvSpPr>
            <p:nvPr/>
          </p:nvSpPr>
          <p:spPr bwMode="auto">
            <a:xfrm>
              <a:off x="395" y="2146"/>
              <a:ext cx="149"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A</a:t>
              </a:r>
              <a:r>
                <a:rPr kumimoji="1" lang="en-US" altLang="zh-CN" sz="1800" b="1" baseline="-25000"/>
                <a:t>8</a:t>
              </a:r>
              <a:endParaRPr kumimoji="1" lang="en-US" altLang="zh-CN" sz="1800" b="1"/>
            </a:p>
          </p:txBody>
        </p:sp>
        <p:grpSp>
          <p:nvGrpSpPr>
            <p:cNvPr id="50364" name="Group 26"/>
            <p:cNvGrpSpPr/>
            <p:nvPr/>
          </p:nvGrpSpPr>
          <p:grpSpPr bwMode="auto">
            <a:xfrm>
              <a:off x="395" y="2024"/>
              <a:ext cx="5088" cy="782"/>
              <a:chOff x="395" y="2024"/>
              <a:chExt cx="5088" cy="782"/>
            </a:xfrm>
          </p:grpSpPr>
          <p:sp>
            <p:nvSpPr>
              <p:cNvPr id="50365" name="Line 27"/>
              <p:cNvSpPr>
                <a:spLocks noChangeShapeType="1"/>
              </p:cNvSpPr>
              <p:nvPr/>
            </p:nvSpPr>
            <p:spPr bwMode="auto">
              <a:xfrm>
                <a:off x="677" y="2174"/>
                <a:ext cx="4806" cy="1"/>
              </a:xfrm>
              <a:prstGeom prst="line">
                <a:avLst/>
              </a:prstGeom>
              <a:noFill/>
              <a:ln w="38100">
                <a:solidFill>
                  <a:schemeClr val="tx1"/>
                </a:solidFill>
                <a:round/>
              </a:ln>
            </p:spPr>
            <p:txBody>
              <a:bodyPr/>
              <a:lstStyle/>
              <a:p>
                <a:endParaRPr lang="zh-CN" altLang="en-US"/>
              </a:p>
            </p:txBody>
          </p:sp>
          <p:sp>
            <p:nvSpPr>
              <p:cNvPr id="50366" name="Line 28"/>
              <p:cNvSpPr>
                <a:spLocks noChangeShapeType="1"/>
              </p:cNvSpPr>
              <p:nvPr/>
            </p:nvSpPr>
            <p:spPr bwMode="auto">
              <a:xfrm>
                <a:off x="677" y="2268"/>
                <a:ext cx="4806" cy="1"/>
              </a:xfrm>
              <a:prstGeom prst="line">
                <a:avLst/>
              </a:prstGeom>
              <a:noFill/>
              <a:ln w="38100">
                <a:solidFill>
                  <a:schemeClr val="tx1"/>
                </a:solidFill>
                <a:round/>
              </a:ln>
            </p:spPr>
            <p:txBody>
              <a:bodyPr/>
              <a:lstStyle/>
              <a:p>
                <a:endParaRPr lang="zh-CN" altLang="en-US"/>
              </a:p>
            </p:txBody>
          </p:sp>
          <p:sp>
            <p:nvSpPr>
              <p:cNvPr id="50367" name="Freeform 29"/>
              <p:cNvSpPr/>
              <p:nvPr/>
            </p:nvSpPr>
            <p:spPr bwMode="auto">
              <a:xfrm>
                <a:off x="677" y="2553"/>
                <a:ext cx="4806" cy="1"/>
              </a:xfrm>
              <a:custGeom>
                <a:avLst/>
                <a:gdLst>
                  <a:gd name="T0" fmla="*/ 0 w 4649"/>
                  <a:gd name="T1" fmla="*/ 0 h 1"/>
                  <a:gd name="T2" fmla="*/ 7159 w 4649"/>
                  <a:gd name="T3" fmla="*/ 0 h 1"/>
                  <a:gd name="T4" fmla="*/ 0 60000 65536"/>
                  <a:gd name="T5" fmla="*/ 0 60000 65536"/>
                  <a:gd name="T6" fmla="*/ 0 w 4649"/>
                  <a:gd name="T7" fmla="*/ 0 h 1"/>
                  <a:gd name="T8" fmla="*/ 4649 w 4649"/>
                  <a:gd name="T9" fmla="*/ 1 h 1"/>
                </a:gdLst>
                <a:ahLst/>
                <a:cxnLst>
                  <a:cxn ang="T4">
                    <a:pos x="T0" y="T1"/>
                  </a:cxn>
                  <a:cxn ang="T5">
                    <a:pos x="T2" y="T3"/>
                  </a:cxn>
                </a:cxnLst>
                <a:rect l="T6" t="T7" r="T8" b="T9"/>
                <a:pathLst>
                  <a:path w="4649" h="1">
                    <a:moveTo>
                      <a:pt x="0" y="0"/>
                    </a:moveTo>
                    <a:lnTo>
                      <a:pt x="4649" y="0"/>
                    </a:lnTo>
                  </a:path>
                </a:pathLst>
              </a:custGeom>
              <a:solidFill>
                <a:srgbClr val="FFFFFF"/>
              </a:solidFill>
              <a:ln w="38100">
                <a:solidFill>
                  <a:schemeClr val="tx1"/>
                </a:solidFill>
                <a:round/>
              </a:ln>
            </p:spPr>
            <p:txBody>
              <a:bodyPr/>
              <a:lstStyle/>
              <a:p>
                <a:endParaRPr lang="zh-CN" altLang="en-US"/>
              </a:p>
            </p:txBody>
          </p:sp>
          <p:sp>
            <p:nvSpPr>
              <p:cNvPr id="50368" name="Rectangle 30"/>
              <p:cNvSpPr>
                <a:spLocks noChangeArrowheads="1"/>
              </p:cNvSpPr>
              <p:nvPr/>
            </p:nvSpPr>
            <p:spPr bwMode="auto">
              <a:xfrm>
                <a:off x="395" y="2024"/>
                <a:ext cx="149"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A</a:t>
                </a:r>
                <a:r>
                  <a:rPr kumimoji="1" lang="en-US" altLang="zh-CN" sz="1800" b="1" baseline="-25000"/>
                  <a:t>9</a:t>
                </a:r>
                <a:endParaRPr kumimoji="1" lang="en-US" altLang="zh-CN" sz="1800" b="1"/>
              </a:p>
            </p:txBody>
          </p:sp>
          <p:sp>
            <p:nvSpPr>
              <p:cNvPr id="50369" name="Rectangle 31"/>
              <p:cNvSpPr>
                <a:spLocks noChangeArrowheads="1"/>
              </p:cNvSpPr>
              <p:nvPr/>
            </p:nvSpPr>
            <p:spPr bwMode="auto">
              <a:xfrm>
                <a:off x="395" y="2457"/>
                <a:ext cx="149" cy="349"/>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A</a:t>
                </a:r>
                <a:r>
                  <a:rPr kumimoji="1" lang="en-US" altLang="zh-CN" sz="1800" b="1" baseline="-25000"/>
                  <a:t>0</a:t>
                </a:r>
              </a:p>
              <a:p>
                <a:pPr>
                  <a:lnSpc>
                    <a:spcPct val="100000"/>
                  </a:lnSpc>
                  <a:spcBef>
                    <a:spcPct val="0"/>
                  </a:spcBef>
                </a:pPr>
                <a:endParaRPr kumimoji="1" lang="en-US" altLang="zh-CN" sz="1800" b="1"/>
              </a:p>
            </p:txBody>
          </p:sp>
          <p:sp>
            <p:nvSpPr>
              <p:cNvPr id="50370" name="Text Box 32"/>
              <p:cNvSpPr txBox="1">
                <a:spLocks noChangeArrowheads="1"/>
              </p:cNvSpPr>
              <p:nvPr/>
            </p:nvSpPr>
            <p:spPr bwMode="auto">
              <a:xfrm>
                <a:off x="439" y="2286"/>
                <a:ext cx="197" cy="239"/>
              </a:xfrm>
              <a:prstGeom prst="rect">
                <a:avLst/>
              </a:prstGeom>
              <a:noFill/>
              <a:ln w="38100">
                <a:noFill/>
                <a:miter lim="800000"/>
              </a:ln>
            </p:spPr>
            <p:txBody>
              <a:bodyPr vert="eaVert" lIns="18000" rIns="18000">
                <a:spAutoFit/>
              </a:bodyPr>
              <a:lstStyle/>
              <a:p>
                <a:pPr>
                  <a:lnSpc>
                    <a:spcPct val="100000"/>
                  </a:lnSpc>
                </a:pPr>
                <a:r>
                  <a:rPr kumimoji="1" lang="zh-CN" altLang="en-US" b="1">
                    <a:cs typeface="Times New Roman" panose="02020603050405020304" pitchFamily="18" charset="0"/>
                  </a:rPr>
                  <a:t>...</a:t>
                </a:r>
                <a:endParaRPr kumimoji="1" lang="zh-CN" altLang="en-US" b="1"/>
              </a:p>
            </p:txBody>
          </p:sp>
        </p:grpSp>
      </p:grpSp>
      <p:grpSp>
        <p:nvGrpSpPr>
          <p:cNvPr id="7" name="Group 33"/>
          <p:cNvGrpSpPr/>
          <p:nvPr/>
        </p:nvGrpSpPr>
        <p:grpSpPr bwMode="auto">
          <a:xfrm>
            <a:off x="2065338" y="4219575"/>
            <a:ext cx="8083550" cy="1538288"/>
            <a:chOff x="395" y="3180"/>
            <a:chExt cx="5092" cy="969"/>
          </a:xfrm>
        </p:grpSpPr>
        <p:grpSp>
          <p:nvGrpSpPr>
            <p:cNvPr id="50350" name="Group 34"/>
            <p:cNvGrpSpPr/>
            <p:nvPr/>
          </p:nvGrpSpPr>
          <p:grpSpPr bwMode="auto">
            <a:xfrm>
              <a:off x="672" y="3335"/>
              <a:ext cx="4815" cy="567"/>
              <a:chOff x="672" y="3335"/>
              <a:chExt cx="4815" cy="567"/>
            </a:xfrm>
          </p:grpSpPr>
          <p:sp>
            <p:nvSpPr>
              <p:cNvPr id="50355" name="Freeform 35"/>
              <p:cNvSpPr/>
              <p:nvPr/>
            </p:nvSpPr>
            <p:spPr bwMode="auto">
              <a:xfrm>
                <a:off x="677" y="3335"/>
                <a:ext cx="4806" cy="1"/>
              </a:xfrm>
              <a:custGeom>
                <a:avLst/>
                <a:gdLst>
                  <a:gd name="T0" fmla="*/ 0 w 4659"/>
                  <a:gd name="T1" fmla="*/ 1 h 1"/>
                  <a:gd name="T2" fmla="*/ 6976 w 4659"/>
                  <a:gd name="T3" fmla="*/ 0 h 1"/>
                  <a:gd name="T4" fmla="*/ 0 60000 65536"/>
                  <a:gd name="T5" fmla="*/ 0 60000 65536"/>
                  <a:gd name="T6" fmla="*/ 0 w 4659"/>
                  <a:gd name="T7" fmla="*/ 0 h 1"/>
                  <a:gd name="T8" fmla="*/ 4659 w 4659"/>
                  <a:gd name="T9" fmla="*/ 1 h 1"/>
                </a:gdLst>
                <a:ahLst/>
                <a:cxnLst>
                  <a:cxn ang="T4">
                    <a:pos x="T0" y="T1"/>
                  </a:cxn>
                  <a:cxn ang="T5">
                    <a:pos x="T2" y="T3"/>
                  </a:cxn>
                </a:cxnLst>
                <a:rect l="T6" t="T7" r="T8" b="T9"/>
                <a:pathLst>
                  <a:path w="4659" h="1">
                    <a:moveTo>
                      <a:pt x="0" y="1"/>
                    </a:moveTo>
                    <a:lnTo>
                      <a:pt x="4659" y="0"/>
                    </a:lnTo>
                  </a:path>
                </a:pathLst>
              </a:custGeom>
              <a:solidFill>
                <a:srgbClr val="FFFFFF"/>
              </a:solidFill>
              <a:ln w="38100">
                <a:solidFill>
                  <a:schemeClr val="tx1"/>
                </a:solidFill>
                <a:round/>
              </a:ln>
            </p:spPr>
            <p:txBody>
              <a:bodyPr/>
              <a:lstStyle/>
              <a:p>
                <a:endParaRPr lang="zh-CN" altLang="en-US"/>
              </a:p>
            </p:txBody>
          </p:sp>
          <p:sp>
            <p:nvSpPr>
              <p:cNvPr id="50356" name="Freeform 36"/>
              <p:cNvSpPr/>
              <p:nvPr/>
            </p:nvSpPr>
            <p:spPr bwMode="auto">
              <a:xfrm>
                <a:off x="672" y="3411"/>
                <a:ext cx="4815" cy="3"/>
              </a:xfrm>
              <a:custGeom>
                <a:avLst/>
                <a:gdLst>
                  <a:gd name="T0" fmla="*/ 0 w 4815"/>
                  <a:gd name="T1" fmla="*/ 3 h 3"/>
                  <a:gd name="T2" fmla="*/ 4815 w 4815"/>
                  <a:gd name="T3" fmla="*/ 0 h 3"/>
                  <a:gd name="T4" fmla="*/ 0 60000 65536"/>
                  <a:gd name="T5" fmla="*/ 0 60000 65536"/>
                  <a:gd name="T6" fmla="*/ 0 w 4815"/>
                  <a:gd name="T7" fmla="*/ 0 h 3"/>
                  <a:gd name="T8" fmla="*/ 4815 w 4815"/>
                  <a:gd name="T9" fmla="*/ 3 h 3"/>
                </a:gdLst>
                <a:ahLst/>
                <a:cxnLst>
                  <a:cxn ang="T4">
                    <a:pos x="T0" y="T1"/>
                  </a:cxn>
                  <a:cxn ang="T5">
                    <a:pos x="T2" y="T3"/>
                  </a:cxn>
                </a:cxnLst>
                <a:rect l="T6" t="T7" r="T8" b="T9"/>
                <a:pathLst>
                  <a:path w="4815" h="3">
                    <a:moveTo>
                      <a:pt x="0" y="3"/>
                    </a:moveTo>
                    <a:lnTo>
                      <a:pt x="4815" y="0"/>
                    </a:lnTo>
                  </a:path>
                </a:pathLst>
              </a:custGeom>
              <a:solidFill>
                <a:srgbClr val="FFFFFF"/>
              </a:solidFill>
              <a:ln w="38100">
                <a:solidFill>
                  <a:schemeClr val="tx1"/>
                </a:solidFill>
                <a:round/>
              </a:ln>
            </p:spPr>
            <p:txBody>
              <a:bodyPr/>
              <a:lstStyle/>
              <a:p>
                <a:endParaRPr lang="zh-CN" altLang="en-US"/>
              </a:p>
            </p:txBody>
          </p:sp>
          <p:sp>
            <p:nvSpPr>
              <p:cNvPr id="50357" name="Line 37"/>
              <p:cNvSpPr>
                <a:spLocks noChangeShapeType="1"/>
              </p:cNvSpPr>
              <p:nvPr/>
            </p:nvSpPr>
            <p:spPr bwMode="auto">
              <a:xfrm>
                <a:off x="677" y="3492"/>
                <a:ext cx="4806" cy="1"/>
              </a:xfrm>
              <a:prstGeom prst="line">
                <a:avLst/>
              </a:prstGeom>
              <a:noFill/>
              <a:ln w="38100">
                <a:solidFill>
                  <a:schemeClr val="tx1"/>
                </a:solidFill>
                <a:round/>
              </a:ln>
            </p:spPr>
            <p:txBody>
              <a:bodyPr/>
              <a:lstStyle/>
              <a:p>
                <a:endParaRPr lang="zh-CN" altLang="en-US"/>
              </a:p>
            </p:txBody>
          </p:sp>
          <p:sp>
            <p:nvSpPr>
              <p:cNvPr id="50358" name="Line 38"/>
              <p:cNvSpPr>
                <a:spLocks noChangeShapeType="1"/>
              </p:cNvSpPr>
              <p:nvPr/>
            </p:nvSpPr>
            <p:spPr bwMode="auto">
              <a:xfrm>
                <a:off x="677" y="3575"/>
                <a:ext cx="4806" cy="1"/>
              </a:xfrm>
              <a:prstGeom prst="line">
                <a:avLst/>
              </a:prstGeom>
              <a:noFill/>
              <a:ln w="38100">
                <a:solidFill>
                  <a:schemeClr val="tx1"/>
                </a:solidFill>
                <a:round/>
              </a:ln>
            </p:spPr>
            <p:txBody>
              <a:bodyPr/>
              <a:lstStyle/>
              <a:p>
                <a:endParaRPr lang="zh-CN" altLang="en-US"/>
              </a:p>
            </p:txBody>
          </p:sp>
          <p:sp>
            <p:nvSpPr>
              <p:cNvPr id="50359" name="Line 39"/>
              <p:cNvSpPr>
                <a:spLocks noChangeShapeType="1"/>
              </p:cNvSpPr>
              <p:nvPr/>
            </p:nvSpPr>
            <p:spPr bwMode="auto">
              <a:xfrm>
                <a:off x="677" y="3655"/>
                <a:ext cx="4806" cy="1"/>
              </a:xfrm>
              <a:prstGeom prst="line">
                <a:avLst/>
              </a:prstGeom>
              <a:noFill/>
              <a:ln w="38100">
                <a:solidFill>
                  <a:schemeClr val="tx1"/>
                </a:solidFill>
                <a:round/>
              </a:ln>
            </p:spPr>
            <p:txBody>
              <a:bodyPr/>
              <a:lstStyle/>
              <a:p>
                <a:endParaRPr lang="zh-CN" altLang="en-US"/>
              </a:p>
            </p:txBody>
          </p:sp>
          <p:sp>
            <p:nvSpPr>
              <p:cNvPr id="50360" name="Freeform 40"/>
              <p:cNvSpPr/>
              <p:nvPr/>
            </p:nvSpPr>
            <p:spPr bwMode="auto">
              <a:xfrm>
                <a:off x="672" y="3735"/>
                <a:ext cx="4811" cy="4"/>
              </a:xfrm>
              <a:custGeom>
                <a:avLst/>
                <a:gdLst>
                  <a:gd name="T0" fmla="*/ 0 w 4811"/>
                  <a:gd name="T1" fmla="*/ 0 h 4"/>
                  <a:gd name="T2" fmla="*/ 4811 w 4811"/>
                  <a:gd name="T3" fmla="*/ 4 h 4"/>
                  <a:gd name="T4" fmla="*/ 0 60000 65536"/>
                  <a:gd name="T5" fmla="*/ 0 60000 65536"/>
                  <a:gd name="T6" fmla="*/ 0 w 4811"/>
                  <a:gd name="T7" fmla="*/ 0 h 4"/>
                  <a:gd name="T8" fmla="*/ 4811 w 4811"/>
                  <a:gd name="T9" fmla="*/ 4 h 4"/>
                </a:gdLst>
                <a:ahLst/>
                <a:cxnLst>
                  <a:cxn ang="T4">
                    <a:pos x="T0" y="T1"/>
                  </a:cxn>
                  <a:cxn ang="T5">
                    <a:pos x="T2" y="T3"/>
                  </a:cxn>
                </a:cxnLst>
                <a:rect l="T6" t="T7" r="T8" b="T9"/>
                <a:pathLst>
                  <a:path w="4811" h="4">
                    <a:moveTo>
                      <a:pt x="0" y="0"/>
                    </a:moveTo>
                    <a:lnTo>
                      <a:pt x="4811" y="4"/>
                    </a:lnTo>
                  </a:path>
                </a:pathLst>
              </a:custGeom>
              <a:solidFill>
                <a:srgbClr val="FFFFFF"/>
              </a:solidFill>
              <a:ln w="38100">
                <a:solidFill>
                  <a:schemeClr val="tx1"/>
                </a:solidFill>
                <a:round/>
              </a:ln>
            </p:spPr>
            <p:txBody>
              <a:bodyPr/>
              <a:lstStyle/>
              <a:p>
                <a:endParaRPr lang="zh-CN" altLang="en-US"/>
              </a:p>
            </p:txBody>
          </p:sp>
          <p:sp>
            <p:nvSpPr>
              <p:cNvPr id="50361" name="Line 41"/>
              <p:cNvSpPr>
                <a:spLocks noChangeShapeType="1"/>
              </p:cNvSpPr>
              <p:nvPr/>
            </p:nvSpPr>
            <p:spPr bwMode="auto">
              <a:xfrm>
                <a:off x="677" y="3818"/>
                <a:ext cx="4806" cy="1"/>
              </a:xfrm>
              <a:prstGeom prst="line">
                <a:avLst/>
              </a:prstGeom>
              <a:noFill/>
              <a:ln w="38100">
                <a:solidFill>
                  <a:schemeClr val="tx1"/>
                </a:solidFill>
                <a:round/>
              </a:ln>
            </p:spPr>
            <p:txBody>
              <a:bodyPr/>
              <a:lstStyle/>
              <a:p>
                <a:endParaRPr lang="zh-CN" altLang="en-US"/>
              </a:p>
            </p:txBody>
          </p:sp>
          <p:sp>
            <p:nvSpPr>
              <p:cNvPr id="50362" name="Line 42"/>
              <p:cNvSpPr>
                <a:spLocks noChangeShapeType="1"/>
              </p:cNvSpPr>
              <p:nvPr/>
            </p:nvSpPr>
            <p:spPr bwMode="auto">
              <a:xfrm>
                <a:off x="677" y="3901"/>
                <a:ext cx="4806" cy="1"/>
              </a:xfrm>
              <a:prstGeom prst="line">
                <a:avLst/>
              </a:prstGeom>
              <a:noFill/>
              <a:ln w="38100">
                <a:solidFill>
                  <a:schemeClr val="tx1"/>
                </a:solidFill>
                <a:round/>
              </a:ln>
            </p:spPr>
            <p:txBody>
              <a:bodyPr/>
              <a:lstStyle/>
              <a:p>
                <a:endParaRPr lang="zh-CN" altLang="en-US"/>
              </a:p>
            </p:txBody>
          </p:sp>
        </p:grpSp>
        <p:grpSp>
          <p:nvGrpSpPr>
            <p:cNvPr id="50351" name="Group 43"/>
            <p:cNvGrpSpPr/>
            <p:nvPr/>
          </p:nvGrpSpPr>
          <p:grpSpPr bwMode="auto">
            <a:xfrm>
              <a:off x="395" y="3180"/>
              <a:ext cx="229" cy="969"/>
              <a:chOff x="395" y="3180"/>
              <a:chExt cx="229" cy="969"/>
            </a:xfrm>
          </p:grpSpPr>
          <p:sp>
            <p:nvSpPr>
              <p:cNvPr id="50352" name="Rectangle 44"/>
              <p:cNvSpPr>
                <a:spLocks noChangeArrowheads="1"/>
              </p:cNvSpPr>
              <p:nvPr/>
            </p:nvSpPr>
            <p:spPr bwMode="auto">
              <a:xfrm>
                <a:off x="395" y="3180"/>
                <a:ext cx="155"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D</a:t>
                </a:r>
                <a:r>
                  <a:rPr kumimoji="1" lang="en-US" altLang="zh-CN" sz="1800" b="1" baseline="-25000"/>
                  <a:t>7</a:t>
                </a:r>
                <a:endParaRPr kumimoji="1" lang="en-US" altLang="zh-CN" sz="1800" b="1"/>
              </a:p>
            </p:txBody>
          </p:sp>
          <p:sp>
            <p:nvSpPr>
              <p:cNvPr id="50353" name="Rectangle 45"/>
              <p:cNvSpPr>
                <a:spLocks noChangeArrowheads="1"/>
              </p:cNvSpPr>
              <p:nvPr/>
            </p:nvSpPr>
            <p:spPr bwMode="auto">
              <a:xfrm>
                <a:off x="395" y="3800"/>
                <a:ext cx="155" cy="349"/>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D</a:t>
                </a:r>
                <a:r>
                  <a:rPr kumimoji="1" lang="en-US" altLang="zh-CN" sz="1800" b="1" baseline="-25000"/>
                  <a:t>0</a:t>
                </a:r>
              </a:p>
              <a:p>
                <a:pPr>
                  <a:lnSpc>
                    <a:spcPct val="100000"/>
                  </a:lnSpc>
                  <a:spcBef>
                    <a:spcPct val="0"/>
                  </a:spcBef>
                </a:pPr>
                <a:endParaRPr kumimoji="1" lang="en-US" altLang="zh-CN" sz="1800" b="1"/>
              </a:p>
            </p:txBody>
          </p:sp>
          <p:sp>
            <p:nvSpPr>
              <p:cNvPr id="50354" name="Text Box 46"/>
              <p:cNvSpPr txBox="1">
                <a:spLocks noChangeArrowheads="1"/>
              </p:cNvSpPr>
              <p:nvPr/>
            </p:nvSpPr>
            <p:spPr bwMode="auto">
              <a:xfrm>
                <a:off x="427" y="3359"/>
                <a:ext cx="197" cy="489"/>
              </a:xfrm>
              <a:prstGeom prst="rect">
                <a:avLst/>
              </a:prstGeom>
              <a:noFill/>
              <a:ln w="38100">
                <a:noFill/>
                <a:miter lim="800000"/>
              </a:ln>
            </p:spPr>
            <p:txBody>
              <a:bodyPr vert="eaVert" lIns="18000" rIns="18000">
                <a:spAutoFit/>
              </a:bodyPr>
              <a:lstStyle/>
              <a:p>
                <a:pPr>
                  <a:lnSpc>
                    <a:spcPct val="100000"/>
                  </a:lnSpc>
                </a:pPr>
                <a:r>
                  <a:rPr kumimoji="1" lang="zh-CN" altLang="en-US" b="1">
                    <a:cs typeface="Times New Roman" panose="02020603050405020304" pitchFamily="18" charset="0"/>
                  </a:rPr>
                  <a:t>……</a:t>
                </a:r>
              </a:p>
            </p:txBody>
          </p:sp>
        </p:grpSp>
      </p:grpSp>
      <p:grpSp>
        <p:nvGrpSpPr>
          <p:cNvPr id="10" name="Group 47"/>
          <p:cNvGrpSpPr/>
          <p:nvPr/>
        </p:nvGrpSpPr>
        <p:grpSpPr bwMode="auto">
          <a:xfrm>
            <a:off x="2598738" y="3929063"/>
            <a:ext cx="6991350" cy="1457325"/>
            <a:chOff x="731" y="2997"/>
            <a:chExt cx="4404" cy="918"/>
          </a:xfrm>
        </p:grpSpPr>
        <p:sp>
          <p:nvSpPr>
            <p:cNvPr id="50318" name="Line 48"/>
            <p:cNvSpPr>
              <a:spLocks noChangeShapeType="1"/>
            </p:cNvSpPr>
            <p:nvPr/>
          </p:nvSpPr>
          <p:spPr bwMode="auto">
            <a:xfrm>
              <a:off x="859" y="3006"/>
              <a:ext cx="1" cy="410"/>
            </a:xfrm>
            <a:prstGeom prst="line">
              <a:avLst/>
            </a:prstGeom>
            <a:noFill/>
            <a:ln w="38100">
              <a:solidFill>
                <a:schemeClr val="tx1"/>
              </a:solidFill>
              <a:round/>
              <a:tailEnd type="oval" w="sm" len="sm"/>
            </a:ln>
          </p:spPr>
          <p:txBody>
            <a:bodyPr/>
            <a:lstStyle/>
            <a:p>
              <a:endParaRPr lang="zh-CN" altLang="en-US"/>
            </a:p>
          </p:txBody>
        </p:sp>
        <p:sp>
          <p:nvSpPr>
            <p:cNvPr id="50319" name="Line 49"/>
            <p:cNvSpPr>
              <a:spLocks noChangeShapeType="1"/>
            </p:cNvSpPr>
            <p:nvPr/>
          </p:nvSpPr>
          <p:spPr bwMode="auto">
            <a:xfrm>
              <a:off x="951" y="3006"/>
              <a:ext cx="1" cy="489"/>
            </a:xfrm>
            <a:prstGeom prst="line">
              <a:avLst/>
            </a:prstGeom>
            <a:noFill/>
            <a:ln w="38100">
              <a:solidFill>
                <a:schemeClr val="tx1"/>
              </a:solidFill>
              <a:round/>
              <a:tailEnd type="oval" w="sm" len="sm"/>
            </a:ln>
          </p:spPr>
          <p:txBody>
            <a:bodyPr/>
            <a:lstStyle/>
            <a:p>
              <a:endParaRPr lang="zh-CN" altLang="en-US"/>
            </a:p>
          </p:txBody>
        </p:sp>
        <p:sp>
          <p:nvSpPr>
            <p:cNvPr id="50320" name="Freeform 50"/>
            <p:cNvSpPr/>
            <p:nvPr/>
          </p:nvSpPr>
          <p:spPr bwMode="auto">
            <a:xfrm>
              <a:off x="1041" y="3000"/>
              <a:ext cx="6" cy="582"/>
            </a:xfrm>
            <a:custGeom>
              <a:avLst/>
              <a:gdLst>
                <a:gd name="T0" fmla="*/ 6 w 6"/>
                <a:gd name="T1" fmla="*/ 0 h 582"/>
                <a:gd name="T2" fmla="*/ 0 w 6"/>
                <a:gd name="T3" fmla="*/ 582 h 582"/>
                <a:gd name="T4" fmla="*/ 0 60000 65536"/>
                <a:gd name="T5" fmla="*/ 0 60000 65536"/>
                <a:gd name="T6" fmla="*/ 0 w 6"/>
                <a:gd name="T7" fmla="*/ 0 h 582"/>
                <a:gd name="T8" fmla="*/ 6 w 6"/>
                <a:gd name="T9" fmla="*/ 582 h 582"/>
              </a:gdLst>
              <a:ahLst/>
              <a:cxnLst>
                <a:cxn ang="T4">
                  <a:pos x="T0" y="T1"/>
                </a:cxn>
                <a:cxn ang="T5">
                  <a:pos x="T2" y="T3"/>
                </a:cxn>
              </a:cxnLst>
              <a:rect l="T6" t="T7" r="T8" b="T9"/>
              <a:pathLst>
                <a:path w="6" h="582">
                  <a:moveTo>
                    <a:pt x="6" y="0"/>
                  </a:moveTo>
                  <a:lnTo>
                    <a:pt x="0" y="582"/>
                  </a:lnTo>
                </a:path>
              </a:pathLst>
            </a:custGeom>
            <a:solidFill>
              <a:srgbClr val="FFFFFF"/>
            </a:solidFill>
            <a:ln w="38100">
              <a:solidFill>
                <a:schemeClr val="tx1"/>
              </a:solidFill>
              <a:round/>
              <a:tailEnd type="oval" w="sm" len="sm"/>
            </a:ln>
          </p:spPr>
          <p:txBody>
            <a:bodyPr/>
            <a:lstStyle/>
            <a:p>
              <a:endParaRPr lang="zh-CN" altLang="en-US"/>
            </a:p>
          </p:txBody>
        </p:sp>
        <p:sp>
          <p:nvSpPr>
            <p:cNvPr id="50321" name="Line 51"/>
            <p:cNvSpPr>
              <a:spLocks noChangeShapeType="1"/>
            </p:cNvSpPr>
            <p:nvPr/>
          </p:nvSpPr>
          <p:spPr bwMode="auto">
            <a:xfrm>
              <a:off x="1344" y="3003"/>
              <a:ext cx="1" cy="655"/>
            </a:xfrm>
            <a:prstGeom prst="line">
              <a:avLst/>
            </a:prstGeom>
            <a:noFill/>
            <a:ln w="38100">
              <a:solidFill>
                <a:schemeClr val="tx1"/>
              </a:solidFill>
              <a:round/>
              <a:tailEnd type="oval" w="sm" len="sm"/>
            </a:ln>
          </p:spPr>
          <p:txBody>
            <a:bodyPr/>
            <a:lstStyle/>
            <a:p>
              <a:endParaRPr lang="zh-CN" altLang="en-US"/>
            </a:p>
          </p:txBody>
        </p:sp>
        <p:sp>
          <p:nvSpPr>
            <p:cNvPr id="50322" name="Freeform 52"/>
            <p:cNvSpPr/>
            <p:nvPr/>
          </p:nvSpPr>
          <p:spPr bwMode="auto">
            <a:xfrm>
              <a:off x="1437" y="2997"/>
              <a:ext cx="1" cy="745"/>
            </a:xfrm>
            <a:custGeom>
              <a:avLst/>
              <a:gdLst>
                <a:gd name="T0" fmla="*/ 0 w 1"/>
                <a:gd name="T1" fmla="*/ 0 h 745"/>
                <a:gd name="T2" fmla="*/ 0 w 1"/>
                <a:gd name="T3" fmla="*/ 745 h 745"/>
                <a:gd name="T4" fmla="*/ 0 60000 65536"/>
                <a:gd name="T5" fmla="*/ 0 60000 65536"/>
                <a:gd name="T6" fmla="*/ 0 w 1"/>
                <a:gd name="T7" fmla="*/ 0 h 745"/>
                <a:gd name="T8" fmla="*/ 1 w 1"/>
                <a:gd name="T9" fmla="*/ 745 h 745"/>
              </a:gdLst>
              <a:ahLst/>
              <a:cxnLst>
                <a:cxn ang="T4">
                  <a:pos x="T0" y="T1"/>
                </a:cxn>
                <a:cxn ang="T5">
                  <a:pos x="T2" y="T3"/>
                </a:cxn>
              </a:cxnLst>
              <a:rect l="T6" t="T7" r="T8" b="T9"/>
              <a:pathLst>
                <a:path w="1" h="745">
                  <a:moveTo>
                    <a:pt x="0" y="0"/>
                  </a:moveTo>
                  <a:lnTo>
                    <a:pt x="0" y="745"/>
                  </a:lnTo>
                </a:path>
              </a:pathLst>
            </a:custGeom>
            <a:solidFill>
              <a:srgbClr val="FFFFFF"/>
            </a:solidFill>
            <a:ln w="38100">
              <a:solidFill>
                <a:schemeClr val="tx1"/>
              </a:solidFill>
              <a:round/>
              <a:tailEnd type="oval" w="sm" len="sm"/>
            </a:ln>
          </p:spPr>
          <p:txBody>
            <a:bodyPr/>
            <a:lstStyle/>
            <a:p>
              <a:endParaRPr lang="zh-CN" altLang="en-US"/>
            </a:p>
          </p:txBody>
        </p:sp>
        <p:sp>
          <p:nvSpPr>
            <p:cNvPr id="50323" name="Line 53"/>
            <p:cNvSpPr>
              <a:spLocks noChangeShapeType="1"/>
            </p:cNvSpPr>
            <p:nvPr/>
          </p:nvSpPr>
          <p:spPr bwMode="auto">
            <a:xfrm>
              <a:off x="1528" y="3003"/>
              <a:ext cx="1" cy="822"/>
            </a:xfrm>
            <a:prstGeom prst="line">
              <a:avLst/>
            </a:prstGeom>
            <a:noFill/>
            <a:ln w="38100">
              <a:solidFill>
                <a:schemeClr val="tx1"/>
              </a:solidFill>
              <a:round/>
              <a:tailEnd type="oval" w="sm" len="sm"/>
            </a:ln>
          </p:spPr>
          <p:txBody>
            <a:bodyPr/>
            <a:lstStyle/>
            <a:p>
              <a:endParaRPr lang="zh-CN" altLang="en-US"/>
            </a:p>
          </p:txBody>
        </p:sp>
        <p:sp>
          <p:nvSpPr>
            <p:cNvPr id="50324" name="Line 54"/>
            <p:cNvSpPr>
              <a:spLocks noChangeShapeType="1"/>
            </p:cNvSpPr>
            <p:nvPr/>
          </p:nvSpPr>
          <p:spPr bwMode="auto">
            <a:xfrm>
              <a:off x="1620" y="3003"/>
              <a:ext cx="1" cy="912"/>
            </a:xfrm>
            <a:prstGeom prst="line">
              <a:avLst/>
            </a:prstGeom>
            <a:noFill/>
            <a:ln w="38100">
              <a:solidFill>
                <a:schemeClr val="tx1"/>
              </a:solidFill>
              <a:round/>
              <a:tailEnd type="oval" w="sm" len="sm"/>
            </a:ln>
          </p:spPr>
          <p:txBody>
            <a:bodyPr/>
            <a:lstStyle/>
            <a:p>
              <a:endParaRPr lang="zh-CN" altLang="en-US"/>
            </a:p>
          </p:txBody>
        </p:sp>
        <p:sp>
          <p:nvSpPr>
            <p:cNvPr id="50325" name="Line 55"/>
            <p:cNvSpPr>
              <a:spLocks noChangeShapeType="1"/>
            </p:cNvSpPr>
            <p:nvPr/>
          </p:nvSpPr>
          <p:spPr bwMode="auto">
            <a:xfrm>
              <a:off x="1917" y="3004"/>
              <a:ext cx="1" cy="333"/>
            </a:xfrm>
            <a:prstGeom prst="line">
              <a:avLst/>
            </a:prstGeom>
            <a:noFill/>
            <a:ln w="38100">
              <a:solidFill>
                <a:schemeClr val="tx1"/>
              </a:solidFill>
              <a:round/>
              <a:tailEnd type="oval" w="sm" len="sm"/>
            </a:ln>
          </p:spPr>
          <p:txBody>
            <a:bodyPr/>
            <a:lstStyle/>
            <a:p>
              <a:endParaRPr lang="zh-CN" altLang="en-US"/>
            </a:p>
          </p:txBody>
        </p:sp>
        <p:sp>
          <p:nvSpPr>
            <p:cNvPr id="50326" name="Line 56"/>
            <p:cNvSpPr>
              <a:spLocks noChangeShapeType="1"/>
            </p:cNvSpPr>
            <p:nvPr/>
          </p:nvSpPr>
          <p:spPr bwMode="auto">
            <a:xfrm>
              <a:off x="2009" y="3006"/>
              <a:ext cx="1" cy="410"/>
            </a:xfrm>
            <a:prstGeom prst="line">
              <a:avLst/>
            </a:prstGeom>
            <a:noFill/>
            <a:ln w="38100">
              <a:solidFill>
                <a:schemeClr val="tx1"/>
              </a:solidFill>
              <a:round/>
              <a:tailEnd type="oval" w="sm" len="sm"/>
            </a:ln>
          </p:spPr>
          <p:txBody>
            <a:bodyPr/>
            <a:lstStyle/>
            <a:p>
              <a:endParaRPr lang="zh-CN" altLang="en-US"/>
            </a:p>
          </p:txBody>
        </p:sp>
        <p:sp>
          <p:nvSpPr>
            <p:cNvPr id="50327" name="Line 57"/>
            <p:cNvSpPr>
              <a:spLocks noChangeShapeType="1"/>
            </p:cNvSpPr>
            <p:nvPr/>
          </p:nvSpPr>
          <p:spPr bwMode="auto">
            <a:xfrm flipH="1">
              <a:off x="2101" y="3006"/>
              <a:ext cx="4" cy="489"/>
            </a:xfrm>
            <a:prstGeom prst="line">
              <a:avLst/>
            </a:prstGeom>
            <a:noFill/>
            <a:ln w="38100">
              <a:solidFill>
                <a:schemeClr val="tx1"/>
              </a:solidFill>
              <a:round/>
              <a:tailEnd type="oval" w="sm" len="sm"/>
            </a:ln>
          </p:spPr>
          <p:txBody>
            <a:bodyPr/>
            <a:lstStyle/>
            <a:p>
              <a:endParaRPr lang="zh-CN" altLang="en-US"/>
            </a:p>
          </p:txBody>
        </p:sp>
        <p:sp>
          <p:nvSpPr>
            <p:cNvPr id="50328" name="Line 58"/>
            <p:cNvSpPr>
              <a:spLocks noChangeShapeType="1"/>
            </p:cNvSpPr>
            <p:nvPr/>
          </p:nvSpPr>
          <p:spPr bwMode="auto">
            <a:xfrm>
              <a:off x="2197" y="3006"/>
              <a:ext cx="1" cy="580"/>
            </a:xfrm>
            <a:prstGeom prst="line">
              <a:avLst/>
            </a:prstGeom>
            <a:noFill/>
            <a:ln w="38100">
              <a:solidFill>
                <a:schemeClr val="tx1"/>
              </a:solidFill>
              <a:round/>
              <a:tailEnd type="oval" w="sm" len="sm"/>
            </a:ln>
          </p:spPr>
          <p:txBody>
            <a:bodyPr/>
            <a:lstStyle/>
            <a:p>
              <a:endParaRPr lang="zh-CN" altLang="en-US"/>
            </a:p>
          </p:txBody>
        </p:sp>
        <p:sp>
          <p:nvSpPr>
            <p:cNvPr id="50329" name="Line 59"/>
            <p:cNvSpPr>
              <a:spLocks noChangeShapeType="1"/>
            </p:cNvSpPr>
            <p:nvPr/>
          </p:nvSpPr>
          <p:spPr bwMode="auto">
            <a:xfrm>
              <a:off x="2494" y="3003"/>
              <a:ext cx="1" cy="655"/>
            </a:xfrm>
            <a:prstGeom prst="line">
              <a:avLst/>
            </a:prstGeom>
            <a:noFill/>
            <a:ln w="38100">
              <a:solidFill>
                <a:schemeClr val="tx1"/>
              </a:solidFill>
              <a:round/>
              <a:tailEnd type="oval" w="sm" len="sm"/>
            </a:ln>
          </p:spPr>
          <p:txBody>
            <a:bodyPr/>
            <a:lstStyle/>
            <a:p>
              <a:endParaRPr lang="zh-CN" altLang="en-US"/>
            </a:p>
          </p:txBody>
        </p:sp>
        <p:sp>
          <p:nvSpPr>
            <p:cNvPr id="50330" name="Line 60"/>
            <p:cNvSpPr>
              <a:spLocks noChangeShapeType="1"/>
            </p:cNvSpPr>
            <p:nvPr/>
          </p:nvSpPr>
          <p:spPr bwMode="auto">
            <a:xfrm>
              <a:off x="2586" y="3003"/>
              <a:ext cx="1" cy="739"/>
            </a:xfrm>
            <a:prstGeom prst="line">
              <a:avLst/>
            </a:prstGeom>
            <a:noFill/>
            <a:ln w="38100">
              <a:solidFill>
                <a:schemeClr val="tx1"/>
              </a:solidFill>
              <a:round/>
              <a:tailEnd type="oval" w="sm" len="sm"/>
            </a:ln>
          </p:spPr>
          <p:txBody>
            <a:bodyPr/>
            <a:lstStyle/>
            <a:p>
              <a:endParaRPr lang="zh-CN" altLang="en-US"/>
            </a:p>
          </p:txBody>
        </p:sp>
        <p:sp>
          <p:nvSpPr>
            <p:cNvPr id="50331" name="Line 61"/>
            <p:cNvSpPr>
              <a:spLocks noChangeShapeType="1"/>
            </p:cNvSpPr>
            <p:nvPr/>
          </p:nvSpPr>
          <p:spPr bwMode="auto">
            <a:xfrm>
              <a:off x="2678" y="3003"/>
              <a:ext cx="1" cy="822"/>
            </a:xfrm>
            <a:prstGeom prst="line">
              <a:avLst/>
            </a:prstGeom>
            <a:noFill/>
            <a:ln w="38100">
              <a:solidFill>
                <a:schemeClr val="tx1"/>
              </a:solidFill>
              <a:round/>
              <a:tailEnd type="oval" w="sm" len="sm"/>
            </a:ln>
          </p:spPr>
          <p:txBody>
            <a:bodyPr/>
            <a:lstStyle/>
            <a:p>
              <a:endParaRPr lang="zh-CN" altLang="en-US"/>
            </a:p>
          </p:txBody>
        </p:sp>
        <p:sp>
          <p:nvSpPr>
            <p:cNvPr id="50332" name="Freeform 62"/>
            <p:cNvSpPr/>
            <p:nvPr/>
          </p:nvSpPr>
          <p:spPr bwMode="auto">
            <a:xfrm>
              <a:off x="2771" y="3000"/>
              <a:ext cx="3" cy="915"/>
            </a:xfrm>
            <a:custGeom>
              <a:avLst/>
              <a:gdLst>
                <a:gd name="T0" fmla="*/ 3 w 3"/>
                <a:gd name="T1" fmla="*/ 0 h 915"/>
                <a:gd name="T2" fmla="*/ 0 w 3"/>
                <a:gd name="T3" fmla="*/ 915 h 915"/>
                <a:gd name="T4" fmla="*/ 0 60000 65536"/>
                <a:gd name="T5" fmla="*/ 0 60000 65536"/>
                <a:gd name="T6" fmla="*/ 0 w 3"/>
                <a:gd name="T7" fmla="*/ 0 h 915"/>
                <a:gd name="T8" fmla="*/ 3 w 3"/>
                <a:gd name="T9" fmla="*/ 915 h 915"/>
              </a:gdLst>
              <a:ahLst/>
              <a:cxnLst>
                <a:cxn ang="T4">
                  <a:pos x="T0" y="T1"/>
                </a:cxn>
                <a:cxn ang="T5">
                  <a:pos x="T2" y="T3"/>
                </a:cxn>
              </a:cxnLst>
              <a:rect l="T6" t="T7" r="T8" b="T9"/>
              <a:pathLst>
                <a:path w="3" h="915">
                  <a:moveTo>
                    <a:pt x="3" y="0"/>
                  </a:moveTo>
                  <a:lnTo>
                    <a:pt x="0" y="915"/>
                  </a:lnTo>
                </a:path>
              </a:pathLst>
            </a:custGeom>
            <a:solidFill>
              <a:srgbClr val="FFFFFF"/>
            </a:solidFill>
            <a:ln w="38100">
              <a:solidFill>
                <a:schemeClr val="tx1"/>
              </a:solidFill>
              <a:round/>
              <a:tailEnd type="oval" w="sm" len="sm"/>
            </a:ln>
          </p:spPr>
          <p:txBody>
            <a:bodyPr/>
            <a:lstStyle/>
            <a:p>
              <a:endParaRPr lang="zh-CN" altLang="en-US"/>
            </a:p>
          </p:txBody>
        </p:sp>
        <p:sp>
          <p:nvSpPr>
            <p:cNvPr id="50333" name="Freeform 63"/>
            <p:cNvSpPr/>
            <p:nvPr/>
          </p:nvSpPr>
          <p:spPr bwMode="auto">
            <a:xfrm>
              <a:off x="3131" y="3006"/>
              <a:ext cx="1" cy="318"/>
            </a:xfrm>
            <a:custGeom>
              <a:avLst/>
              <a:gdLst>
                <a:gd name="T0" fmla="*/ 0 w 1"/>
                <a:gd name="T1" fmla="*/ 0 h 318"/>
                <a:gd name="T2" fmla="*/ 1 w 1"/>
                <a:gd name="T3" fmla="*/ 318 h 318"/>
                <a:gd name="T4" fmla="*/ 0 60000 65536"/>
                <a:gd name="T5" fmla="*/ 0 60000 65536"/>
                <a:gd name="T6" fmla="*/ 0 w 1"/>
                <a:gd name="T7" fmla="*/ 0 h 318"/>
                <a:gd name="T8" fmla="*/ 1 w 1"/>
                <a:gd name="T9" fmla="*/ 318 h 318"/>
              </a:gdLst>
              <a:ahLst/>
              <a:cxnLst>
                <a:cxn ang="T4">
                  <a:pos x="T0" y="T1"/>
                </a:cxn>
                <a:cxn ang="T5">
                  <a:pos x="T2" y="T3"/>
                </a:cxn>
              </a:cxnLst>
              <a:rect l="T6" t="T7" r="T8" b="T9"/>
              <a:pathLst>
                <a:path w="1" h="318">
                  <a:moveTo>
                    <a:pt x="0" y="0"/>
                  </a:moveTo>
                  <a:lnTo>
                    <a:pt x="1" y="318"/>
                  </a:lnTo>
                </a:path>
              </a:pathLst>
            </a:custGeom>
            <a:solidFill>
              <a:srgbClr val="FFFFFF"/>
            </a:solidFill>
            <a:ln w="38100">
              <a:solidFill>
                <a:schemeClr val="tx1"/>
              </a:solidFill>
              <a:round/>
              <a:tailEnd type="oval" w="sm" len="sm"/>
            </a:ln>
          </p:spPr>
          <p:txBody>
            <a:bodyPr/>
            <a:lstStyle/>
            <a:p>
              <a:endParaRPr lang="zh-CN" altLang="en-US"/>
            </a:p>
          </p:txBody>
        </p:sp>
        <p:sp>
          <p:nvSpPr>
            <p:cNvPr id="50334" name="Line 64"/>
            <p:cNvSpPr>
              <a:spLocks noChangeShapeType="1"/>
            </p:cNvSpPr>
            <p:nvPr/>
          </p:nvSpPr>
          <p:spPr bwMode="auto">
            <a:xfrm>
              <a:off x="3223" y="3003"/>
              <a:ext cx="1" cy="413"/>
            </a:xfrm>
            <a:prstGeom prst="line">
              <a:avLst/>
            </a:prstGeom>
            <a:noFill/>
            <a:ln w="38100">
              <a:solidFill>
                <a:schemeClr val="tx1"/>
              </a:solidFill>
              <a:round/>
              <a:tailEnd type="oval" w="sm" len="sm"/>
            </a:ln>
          </p:spPr>
          <p:txBody>
            <a:bodyPr/>
            <a:lstStyle/>
            <a:p>
              <a:endParaRPr lang="zh-CN" altLang="en-US"/>
            </a:p>
          </p:txBody>
        </p:sp>
        <p:sp>
          <p:nvSpPr>
            <p:cNvPr id="50335" name="Freeform 65"/>
            <p:cNvSpPr/>
            <p:nvPr/>
          </p:nvSpPr>
          <p:spPr bwMode="auto">
            <a:xfrm>
              <a:off x="3309" y="2997"/>
              <a:ext cx="6" cy="504"/>
            </a:xfrm>
            <a:custGeom>
              <a:avLst/>
              <a:gdLst>
                <a:gd name="T0" fmla="*/ 6 w 6"/>
                <a:gd name="T1" fmla="*/ 0 h 504"/>
                <a:gd name="T2" fmla="*/ 0 w 6"/>
                <a:gd name="T3" fmla="*/ 504 h 504"/>
                <a:gd name="T4" fmla="*/ 0 60000 65536"/>
                <a:gd name="T5" fmla="*/ 0 60000 65536"/>
                <a:gd name="T6" fmla="*/ 0 w 6"/>
                <a:gd name="T7" fmla="*/ 0 h 504"/>
                <a:gd name="T8" fmla="*/ 6 w 6"/>
                <a:gd name="T9" fmla="*/ 504 h 504"/>
              </a:gdLst>
              <a:ahLst/>
              <a:cxnLst>
                <a:cxn ang="T4">
                  <a:pos x="T0" y="T1"/>
                </a:cxn>
                <a:cxn ang="T5">
                  <a:pos x="T2" y="T3"/>
                </a:cxn>
              </a:cxnLst>
              <a:rect l="T6" t="T7" r="T8" b="T9"/>
              <a:pathLst>
                <a:path w="6" h="504">
                  <a:moveTo>
                    <a:pt x="6" y="0"/>
                  </a:moveTo>
                  <a:lnTo>
                    <a:pt x="0" y="504"/>
                  </a:lnTo>
                </a:path>
              </a:pathLst>
            </a:custGeom>
            <a:solidFill>
              <a:srgbClr val="FFFFFF"/>
            </a:solidFill>
            <a:ln w="38100">
              <a:solidFill>
                <a:schemeClr val="tx1"/>
              </a:solidFill>
              <a:round/>
              <a:tailEnd type="oval" w="sm" len="sm"/>
            </a:ln>
          </p:spPr>
          <p:txBody>
            <a:bodyPr/>
            <a:lstStyle/>
            <a:p>
              <a:endParaRPr lang="zh-CN" altLang="en-US"/>
            </a:p>
          </p:txBody>
        </p:sp>
        <p:sp>
          <p:nvSpPr>
            <p:cNvPr id="50336" name="Line 66"/>
            <p:cNvSpPr>
              <a:spLocks noChangeShapeType="1"/>
            </p:cNvSpPr>
            <p:nvPr/>
          </p:nvSpPr>
          <p:spPr bwMode="auto">
            <a:xfrm>
              <a:off x="3407" y="3003"/>
              <a:ext cx="1" cy="583"/>
            </a:xfrm>
            <a:prstGeom prst="line">
              <a:avLst/>
            </a:prstGeom>
            <a:noFill/>
            <a:ln w="38100">
              <a:solidFill>
                <a:schemeClr val="tx1"/>
              </a:solidFill>
              <a:round/>
              <a:tailEnd type="oval" w="sm" len="sm"/>
            </a:ln>
          </p:spPr>
          <p:txBody>
            <a:bodyPr/>
            <a:lstStyle/>
            <a:p>
              <a:endParaRPr lang="zh-CN" altLang="en-US"/>
            </a:p>
          </p:txBody>
        </p:sp>
        <p:sp>
          <p:nvSpPr>
            <p:cNvPr id="50337" name="Line 67"/>
            <p:cNvSpPr>
              <a:spLocks noChangeShapeType="1"/>
            </p:cNvSpPr>
            <p:nvPr/>
          </p:nvSpPr>
          <p:spPr bwMode="auto">
            <a:xfrm>
              <a:off x="3704" y="3000"/>
              <a:ext cx="1" cy="658"/>
            </a:xfrm>
            <a:prstGeom prst="line">
              <a:avLst/>
            </a:prstGeom>
            <a:noFill/>
            <a:ln w="38100">
              <a:solidFill>
                <a:schemeClr val="tx1"/>
              </a:solidFill>
              <a:round/>
              <a:tailEnd type="oval" w="sm" len="sm"/>
            </a:ln>
          </p:spPr>
          <p:txBody>
            <a:bodyPr/>
            <a:lstStyle/>
            <a:p>
              <a:endParaRPr lang="zh-CN" altLang="en-US"/>
            </a:p>
          </p:txBody>
        </p:sp>
        <p:sp>
          <p:nvSpPr>
            <p:cNvPr id="50338" name="Line 68"/>
            <p:cNvSpPr>
              <a:spLocks noChangeShapeType="1"/>
            </p:cNvSpPr>
            <p:nvPr/>
          </p:nvSpPr>
          <p:spPr bwMode="auto">
            <a:xfrm>
              <a:off x="3796" y="3004"/>
              <a:ext cx="1" cy="738"/>
            </a:xfrm>
            <a:prstGeom prst="line">
              <a:avLst/>
            </a:prstGeom>
            <a:noFill/>
            <a:ln w="38100">
              <a:solidFill>
                <a:schemeClr val="tx1"/>
              </a:solidFill>
              <a:round/>
              <a:tailEnd type="oval" w="sm" len="sm"/>
            </a:ln>
          </p:spPr>
          <p:txBody>
            <a:bodyPr/>
            <a:lstStyle/>
            <a:p>
              <a:endParaRPr lang="zh-CN" altLang="en-US"/>
            </a:p>
          </p:txBody>
        </p:sp>
        <p:sp>
          <p:nvSpPr>
            <p:cNvPr id="50339" name="Line 69"/>
            <p:cNvSpPr>
              <a:spLocks noChangeShapeType="1"/>
            </p:cNvSpPr>
            <p:nvPr/>
          </p:nvSpPr>
          <p:spPr bwMode="auto">
            <a:xfrm flipH="1">
              <a:off x="3888" y="3004"/>
              <a:ext cx="4" cy="821"/>
            </a:xfrm>
            <a:prstGeom prst="line">
              <a:avLst/>
            </a:prstGeom>
            <a:noFill/>
            <a:ln w="38100">
              <a:solidFill>
                <a:schemeClr val="tx1"/>
              </a:solidFill>
              <a:round/>
              <a:tailEnd type="oval" w="sm" len="sm"/>
            </a:ln>
          </p:spPr>
          <p:txBody>
            <a:bodyPr/>
            <a:lstStyle/>
            <a:p>
              <a:endParaRPr lang="zh-CN" altLang="en-US"/>
            </a:p>
          </p:txBody>
        </p:sp>
        <p:sp>
          <p:nvSpPr>
            <p:cNvPr id="50340" name="Line 70"/>
            <p:cNvSpPr>
              <a:spLocks noChangeShapeType="1"/>
            </p:cNvSpPr>
            <p:nvPr/>
          </p:nvSpPr>
          <p:spPr bwMode="auto">
            <a:xfrm>
              <a:off x="3984" y="3000"/>
              <a:ext cx="1" cy="915"/>
            </a:xfrm>
            <a:prstGeom prst="line">
              <a:avLst/>
            </a:prstGeom>
            <a:noFill/>
            <a:ln w="38100">
              <a:solidFill>
                <a:schemeClr val="tx1"/>
              </a:solidFill>
              <a:round/>
              <a:tailEnd type="oval" w="sm" len="sm"/>
            </a:ln>
          </p:spPr>
          <p:txBody>
            <a:bodyPr/>
            <a:lstStyle/>
            <a:p>
              <a:endParaRPr lang="zh-CN" altLang="en-US"/>
            </a:p>
          </p:txBody>
        </p:sp>
        <p:sp>
          <p:nvSpPr>
            <p:cNvPr id="50341" name="Freeform 71"/>
            <p:cNvSpPr/>
            <p:nvPr/>
          </p:nvSpPr>
          <p:spPr bwMode="auto">
            <a:xfrm>
              <a:off x="4281" y="3009"/>
              <a:ext cx="1" cy="324"/>
            </a:xfrm>
            <a:custGeom>
              <a:avLst/>
              <a:gdLst>
                <a:gd name="T0" fmla="*/ 0 w 1"/>
                <a:gd name="T1" fmla="*/ 0 h 324"/>
                <a:gd name="T2" fmla="*/ 0 w 1"/>
                <a:gd name="T3" fmla="*/ 324 h 324"/>
                <a:gd name="T4" fmla="*/ 0 60000 65536"/>
                <a:gd name="T5" fmla="*/ 0 60000 65536"/>
                <a:gd name="T6" fmla="*/ 0 w 1"/>
                <a:gd name="T7" fmla="*/ 0 h 324"/>
                <a:gd name="T8" fmla="*/ 1 w 1"/>
                <a:gd name="T9" fmla="*/ 324 h 324"/>
              </a:gdLst>
              <a:ahLst/>
              <a:cxnLst>
                <a:cxn ang="T4">
                  <a:pos x="T0" y="T1"/>
                </a:cxn>
                <a:cxn ang="T5">
                  <a:pos x="T2" y="T3"/>
                </a:cxn>
              </a:cxnLst>
              <a:rect l="T6" t="T7" r="T8" b="T9"/>
              <a:pathLst>
                <a:path w="1" h="324">
                  <a:moveTo>
                    <a:pt x="0" y="0"/>
                  </a:moveTo>
                  <a:lnTo>
                    <a:pt x="0" y="324"/>
                  </a:lnTo>
                </a:path>
              </a:pathLst>
            </a:custGeom>
            <a:solidFill>
              <a:srgbClr val="FFFFFF"/>
            </a:solidFill>
            <a:ln w="38100">
              <a:solidFill>
                <a:schemeClr val="tx1"/>
              </a:solidFill>
              <a:round/>
              <a:tailEnd type="oval" w="sm" len="sm"/>
            </a:ln>
          </p:spPr>
          <p:txBody>
            <a:bodyPr/>
            <a:lstStyle/>
            <a:p>
              <a:endParaRPr lang="zh-CN" altLang="en-US"/>
            </a:p>
          </p:txBody>
        </p:sp>
        <p:sp>
          <p:nvSpPr>
            <p:cNvPr id="50342" name="Line 72"/>
            <p:cNvSpPr>
              <a:spLocks noChangeShapeType="1"/>
            </p:cNvSpPr>
            <p:nvPr/>
          </p:nvSpPr>
          <p:spPr bwMode="auto">
            <a:xfrm>
              <a:off x="4373" y="3003"/>
              <a:ext cx="1" cy="413"/>
            </a:xfrm>
            <a:prstGeom prst="line">
              <a:avLst/>
            </a:prstGeom>
            <a:noFill/>
            <a:ln w="38100">
              <a:solidFill>
                <a:schemeClr val="tx1"/>
              </a:solidFill>
              <a:round/>
              <a:tailEnd type="oval" w="sm" len="sm"/>
            </a:ln>
          </p:spPr>
          <p:txBody>
            <a:bodyPr/>
            <a:lstStyle/>
            <a:p>
              <a:endParaRPr lang="zh-CN" altLang="en-US"/>
            </a:p>
          </p:txBody>
        </p:sp>
        <p:sp>
          <p:nvSpPr>
            <p:cNvPr id="50343" name="Line 73"/>
            <p:cNvSpPr>
              <a:spLocks noChangeShapeType="1"/>
            </p:cNvSpPr>
            <p:nvPr/>
          </p:nvSpPr>
          <p:spPr bwMode="auto">
            <a:xfrm>
              <a:off x="4465" y="3003"/>
              <a:ext cx="1" cy="492"/>
            </a:xfrm>
            <a:prstGeom prst="line">
              <a:avLst/>
            </a:prstGeom>
            <a:noFill/>
            <a:ln w="38100">
              <a:solidFill>
                <a:schemeClr val="tx1"/>
              </a:solidFill>
              <a:round/>
              <a:tailEnd type="oval" w="sm" len="sm"/>
            </a:ln>
          </p:spPr>
          <p:txBody>
            <a:bodyPr/>
            <a:lstStyle/>
            <a:p>
              <a:endParaRPr lang="zh-CN" altLang="en-US"/>
            </a:p>
          </p:txBody>
        </p:sp>
        <p:sp>
          <p:nvSpPr>
            <p:cNvPr id="50344" name="Line 74"/>
            <p:cNvSpPr>
              <a:spLocks noChangeShapeType="1"/>
            </p:cNvSpPr>
            <p:nvPr/>
          </p:nvSpPr>
          <p:spPr bwMode="auto">
            <a:xfrm>
              <a:off x="4557" y="3003"/>
              <a:ext cx="1" cy="583"/>
            </a:xfrm>
            <a:prstGeom prst="line">
              <a:avLst/>
            </a:prstGeom>
            <a:noFill/>
            <a:ln w="38100">
              <a:solidFill>
                <a:schemeClr val="tx1"/>
              </a:solidFill>
              <a:round/>
              <a:tailEnd type="oval" w="sm" len="sm"/>
            </a:ln>
          </p:spPr>
          <p:txBody>
            <a:bodyPr/>
            <a:lstStyle/>
            <a:p>
              <a:endParaRPr lang="zh-CN" altLang="en-US"/>
            </a:p>
          </p:txBody>
        </p:sp>
        <p:sp>
          <p:nvSpPr>
            <p:cNvPr id="50345" name="Line 75"/>
            <p:cNvSpPr>
              <a:spLocks noChangeShapeType="1"/>
            </p:cNvSpPr>
            <p:nvPr/>
          </p:nvSpPr>
          <p:spPr bwMode="auto">
            <a:xfrm>
              <a:off x="4854" y="3000"/>
              <a:ext cx="1" cy="658"/>
            </a:xfrm>
            <a:prstGeom prst="line">
              <a:avLst/>
            </a:prstGeom>
            <a:noFill/>
            <a:ln w="38100">
              <a:solidFill>
                <a:schemeClr val="tx1"/>
              </a:solidFill>
              <a:round/>
              <a:tailEnd type="oval" w="sm" len="sm"/>
            </a:ln>
          </p:spPr>
          <p:txBody>
            <a:bodyPr/>
            <a:lstStyle/>
            <a:p>
              <a:endParaRPr lang="zh-CN" altLang="en-US"/>
            </a:p>
          </p:txBody>
        </p:sp>
        <p:sp>
          <p:nvSpPr>
            <p:cNvPr id="50346" name="Line 76"/>
            <p:cNvSpPr>
              <a:spLocks noChangeShapeType="1"/>
            </p:cNvSpPr>
            <p:nvPr/>
          </p:nvSpPr>
          <p:spPr bwMode="auto">
            <a:xfrm>
              <a:off x="4946" y="3004"/>
              <a:ext cx="1" cy="738"/>
            </a:xfrm>
            <a:prstGeom prst="line">
              <a:avLst/>
            </a:prstGeom>
            <a:noFill/>
            <a:ln w="38100">
              <a:solidFill>
                <a:schemeClr val="tx1"/>
              </a:solidFill>
              <a:round/>
              <a:tailEnd type="oval" w="sm" len="sm"/>
            </a:ln>
          </p:spPr>
          <p:txBody>
            <a:bodyPr/>
            <a:lstStyle/>
            <a:p>
              <a:endParaRPr lang="zh-CN" altLang="en-US"/>
            </a:p>
          </p:txBody>
        </p:sp>
        <p:sp>
          <p:nvSpPr>
            <p:cNvPr id="50347" name="Line 77"/>
            <p:cNvSpPr>
              <a:spLocks noChangeShapeType="1"/>
            </p:cNvSpPr>
            <p:nvPr/>
          </p:nvSpPr>
          <p:spPr bwMode="auto">
            <a:xfrm flipH="1">
              <a:off x="5038" y="3004"/>
              <a:ext cx="4" cy="821"/>
            </a:xfrm>
            <a:prstGeom prst="line">
              <a:avLst/>
            </a:prstGeom>
            <a:noFill/>
            <a:ln w="38100">
              <a:solidFill>
                <a:schemeClr val="tx1"/>
              </a:solidFill>
              <a:round/>
              <a:tailEnd type="oval" w="sm" len="sm"/>
            </a:ln>
          </p:spPr>
          <p:txBody>
            <a:bodyPr/>
            <a:lstStyle/>
            <a:p>
              <a:endParaRPr lang="zh-CN" altLang="en-US"/>
            </a:p>
          </p:txBody>
        </p:sp>
        <p:sp>
          <p:nvSpPr>
            <p:cNvPr id="50348" name="Line 78"/>
            <p:cNvSpPr>
              <a:spLocks noChangeShapeType="1"/>
            </p:cNvSpPr>
            <p:nvPr/>
          </p:nvSpPr>
          <p:spPr bwMode="auto">
            <a:xfrm>
              <a:off x="5134" y="3000"/>
              <a:ext cx="1" cy="915"/>
            </a:xfrm>
            <a:prstGeom prst="line">
              <a:avLst/>
            </a:prstGeom>
            <a:noFill/>
            <a:ln w="38100">
              <a:solidFill>
                <a:schemeClr val="tx1"/>
              </a:solidFill>
              <a:round/>
              <a:tailEnd type="oval" w="sm" len="sm"/>
            </a:ln>
          </p:spPr>
          <p:txBody>
            <a:bodyPr/>
            <a:lstStyle/>
            <a:p>
              <a:endParaRPr lang="zh-CN" altLang="en-US"/>
            </a:p>
          </p:txBody>
        </p:sp>
        <p:sp>
          <p:nvSpPr>
            <p:cNvPr id="50349" name="Line 79"/>
            <p:cNvSpPr>
              <a:spLocks noChangeShapeType="1"/>
            </p:cNvSpPr>
            <p:nvPr/>
          </p:nvSpPr>
          <p:spPr bwMode="auto">
            <a:xfrm>
              <a:off x="731" y="3004"/>
              <a:ext cx="1" cy="333"/>
            </a:xfrm>
            <a:prstGeom prst="line">
              <a:avLst/>
            </a:prstGeom>
            <a:noFill/>
            <a:ln w="38100">
              <a:solidFill>
                <a:schemeClr val="tx1"/>
              </a:solidFill>
              <a:round/>
              <a:tailEnd type="oval" w="sm" len="sm"/>
            </a:ln>
          </p:spPr>
          <p:txBody>
            <a:bodyPr/>
            <a:lstStyle/>
            <a:p>
              <a:endParaRPr lang="zh-CN" altLang="en-US"/>
            </a:p>
          </p:txBody>
        </p:sp>
      </p:grpSp>
      <p:grpSp>
        <p:nvGrpSpPr>
          <p:cNvPr id="11" name="Group 80"/>
          <p:cNvGrpSpPr/>
          <p:nvPr/>
        </p:nvGrpSpPr>
        <p:grpSpPr bwMode="auto">
          <a:xfrm>
            <a:off x="2065338" y="1779588"/>
            <a:ext cx="1119187" cy="822324"/>
            <a:chOff x="395" y="1643"/>
            <a:chExt cx="705" cy="518"/>
          </a:xfrm>
        </p:grpSpPr>
        <p:sp>
          <p:nvSpPr>
            <p:cNvPr id="50314" name="Rectangle 81"/>
            <p:cNvSpPr>
              <a:spLocks noChangeArrowheads="1"/>
            </p:cNvSpPr>
            <p:nvPr/>
          </p:nvSpPr>
          <p:spPr bwMode="auto">
            <a:xfrm>
              <a:off x="395" y="1643"/>
              <a:ext cx="201"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solidFill>
                    <a:srgbClr val="FF0000"/>
                  </a:solidFill>
                </a:rPr>
                <a:t>A</a:t>
              </a:r>
              <a:r>
                <a:rPr kumimoji="1" lang="en-US" altLang="zh-CN" sz="1800" b="1" baseline="-25000">
                  <a:solidFill>
                    <a:srgbClr val="FF0000"/>
                  </a:solidFill>
                </a:rPr>
                <a:t>11</a:t>
              </a:r>
              <a:endParaRPr kumimoji="1" lang="en-US" altLang="zh-CN" sz="1800" b="1">
                <a:solidFill>
                  <a:srgbClr val="FF0000"/>
                </a:solidFill>
              </a:endParaRPr>
            </a:p>
          </p:txBody>
        </p:sp>
        <p:sp>
          <p:nvSpPr>
            <p:cNvPr id="50315" name="Rectangle 82"/>
            <p:cNvSpPr>
              <a:spLocks noChangeArrowheads="1"/>
            </p:cNvSpPr>
            <p:nvPr/>
          </p:nvSpPr>
          <p:spPr bwMode="auto">
            <a:xfrm>
              <a:off x="395" y="1812"/>
              <a:ext cx="325" cy="349"/>
            </a:xfrm>
            <a:prstGeom prst="rect">
              <a:avLst/>
            </a:prstGeom>
            <a:noFill/>
            <a:ln w="38100">
              <a:noFill/>
              <a:miter lim="800000"/>
            </a:ln>
          </p:spPr>
          <p:txBody>
            <a:bodyPr lIns="0" tIns="0" rIns="0" bIns="0">
              <a:spAutoFit/>
            </a:bodyPr>
            <a:lstStyle/>
            <a:p>
              <a:pPr algn="l">
                <a:lnSpc>
                  <a:spcPct val="100000"/>
                </a:lnSpc>
                <a:spcBef>
                  <a:spcPct val="0"/>
                </a:spcBef>
              </a:pPr>
              <a:r>
                <a:rPr kumimoji="1" lang="en-US" altLang="zh-CN" sz="1800" b="1">
                  <a:solidFill>
                    <a:srgbClr val="FF0000"/>
                  </a:solidFill>
                </a:rPr>
                <a:t>A</a:t>
              </a:r>
              <a:r>
                <a:rPr kumimoji="1" lang="en-US" altLang="zh-CN" sz="1800" b="1" baseline="-25000">
                  <a:solidFill>
                    <a:srgbClr val="FF0000"/>
                  </a:solidFill>
                </a:rPr>
                <a:t>10</a:t>
              </a:r>
            </a:p>
            <a:p>
              <a:pPr algn="l">
                <a:lnSpc>
                  <a:spcPct val="100000"/>
                </a:lnSpc>
                <a:spcBef>
                  <a:spcPct val="0"/>
                </a:spcBef>
              </a:pPr>
              <a:endParaRPr kumimoji="1" lang="en-US" altLang="zh-CN" sz="1800" b="1"/>
            </a:p>
          </p:txBody>
        </p:sp>
        <p:sp>
          <p:nvSpPr>
            <p:cNvPr id="50316" name="Freeform 83"/>
            <p:cNvSpPr/>
            <p:nvPr/>
          </p:nvSpPr>
          <p:spPr bwMode="auto">
            <a:xfrm>
              <a:off x="679" y="1742"/>
              <a:ext cx="421" cy="1"/>
            </a:xfrm>
            <a:custGeom>
              <a:avLst/>
              <a:gdLst>
                <a:gd name="T0" fmla="*/ 421 w 421"/>
                <a:gd name="T1" fmla="*/ 0 h 1"/>
                <a:gd name="T2" fmla="*/ 0 w 421"/>
                <a:gd name="T3" fmla="*/ 1 h 1"/>
                <a:gd name="T4" fmla="*/ 0 60000 65536"/>
                <a:gd name="T5" fmla="*/ 0 60000 65536"/>
                <a:gd name="T6" fmla="*/ 0 w 421"/>
                <a:gd name="T7" fmla="*/ 0 h 1"/>
                <a:gd name="T8" fmla="*/ 421 w 421"/>
                <a:gd name="T9" fmla="*/ 1 h 1"/>
              </a:gdLst>
              <a:ahLst/>
              <a:cxnLst>
                <a:cxn ang="T4">
                  <a:pos x="T0" y="T1"/>
                </a:cxn>
                <a:cxn ang="T5">
                  <a:pos x="T2" y="T3"/>
                </a:cxn>
              </a:cxnLst>
              <a:rect l="T6" t="T7" r="T8" b="T9"/>
              <a:pathLst>
                <a:path w="421" h="1">
                  <a:moveTo>
                    <a:pt x="421" y="0"/>
                  </a:moveTo>
                  <a:lnTo>
                    <a:pt x="0" y="1"/>
                  </a:lnTo>
                </a:path>
              </a:pathLst>
            </a:custGeom>
            <a:solidFill>
              <a:srgbClr val="FFFFFF"/>
            </a:solidFill>
            <a:ln w="38100">
              <a:solidFill>
                <a:schemeClr val="tx1"/>
              </a:solidFill>
              <a:round/>
            </a:ln>
          </p:spPr>
          <p:txBody>
            <a:bodyPr/>
            <a:lstStyle/>
            <a:p>
              <a:endParaRPr lang="zh-CN" altLang="en-US"/>
            </a:p>
          </p:txBody>
        </p:sp>
        <p:sp>
          <p:nvSpPr>
            <p:cNvPr id="50317" name="Freeform 84"/>
            <p:cNvSpPr/>
            <p:nvPr/>
          </p:nvSpPr>
          <p:spPr bwMode="auto">
            <a:xfrm>
              <a:off x="681" y="1899"/>
              <a:ext cx="411" cy="4"/>
            </a:xfrm>
            <a:custGeom>
              <a:avLst/>
              <a:gdLst>
                <a:gd name="T0" fmla="*/ 411 w 411"/>
                <a:gd name="T1" fmla="*/ 4 h 4"/>
                <a:gd name="T2" fmla="*/ 0 w 411"/>
                <a:gd name="T3" fmla="*/ 0 h 4"/>
                <a:gd name="T4" fmla="*/ 0 60000 65536"/>
                <a:gd name="T5" fmla="*/ 0 60000 65536"/>
                <a:gd name="T6" fmla="*/ 0 w 411"/>
                <a:gd name="T7" fmla="*/ 0 h 4"/>
                <a:gd name="T8" fmla="*/ 411 w 411"/>
                <a:gd name="T9" fmla="*/ 4 h 4"/>
              </a:gdLst>
              <a:ahLst/>
              <a:cxnLst>
                <a:cxn ang="T4">
                  <a:pos x="T0" y="T1"/>
                </a:cxn>
                <a:cxn ang="T5">
                  <a:pos x="T2" y="T3"/>
                </a:cxn>
              </a:cxnLst>
              <a:rect l="T6" t="T7" r="T8" b="T9"/>
              <a:pathLst>
                <a:path w="411" h="4">
                  <a:moveTo>
                    <a:pt x="411" y="4"/>
                  </a:moveTo>
                  <a:lnTo>
                    <a:pt x="0" y="0"/>
                  </a:lnTo>
                </a:path>
              </a:pathLst>
            </a:custGeom>
            <a:solidFill>
              <a:srgbClr val="FFFFFF"/>
            </a:solidFill>
            <a:ln w="38100">
              <a:solidFill>
                <a:schemeClr val="tx1"/>
              </a:solidFill>
              <a:round/>
            </a:ln>
          </p:spPr>
          <p:txBody>
            <a:bodyPr/>
            <a:lstStyle/>
            <a:p>
              <a:endParaRPr lang="zh-CN" altLang="en-US"/>
            </a:p>
          </p:txBody>
        </p:sp>
      </p:grpSp>
      <p:grpSp>
        <p:nvGrpSpPr>
          <p:cNvPr id="12" name="Group 85"/>
          <p:cNvGrpSpPr/>
          <p:nvPr/>
        </p:nvGrpSpPr>
        <p:grpSpPr bwMode="auto">
          <a:xfrm>
            <a:off x="3228975" y="2266950"/>
            <a:ext cx="1477963" cy="1403350"/>
            <a:chOff x="1128" y="1950"/>
            <a:chExt cx="931" cy="884"/>
          </a:xfrm>
        </p:grpSpPr>
        <p:sp>
          <p:nvSpPr>
            <p:cNvPr id="50305" name="Line 86"/>
            <p:cNvSpPr>
              <a:spLocks noChangeShapeType="1"/>
            </p:cNvSpPr>
            <p:nvPr/>
          </p:nvSpPr>
          <p:spPr bwMode="auto">
            <a:xfrm flipV="1">
              <a:off x="1705" y="2821"/>
              <a:ext cx="104" cy="2"/>
            </a:xfrm>
            <a:prstGeom prst="line">
              <a:avLst/>
            </a:prstGeom>
            <a:noFill/>
            <a:ln w="38100">
              <a:solidFill>
                <a:schemeClr val="tx1"/>
              </a:solidFill>
              <a:round/>
            </a:ln>
          </p:spPr>
          <p:txBody>
            <a:bodyPr/>
            <a:lstStyle/>
            <a:p>
              <a:endParaRPr lang="zh-CN" altLang="en-US"/>
            </a:p>
          </p:txBody>
        </p:sp>
        <p:grpSp>
          <p:nvGrpSpPr>
            <p:cNvPr id="50306" name="Group 87"/>
            <p:cNvGrpSpPr/>
            <p:nvPr/>
          </p:nvGrpSpPr>
          <p:grpSpPr bwMode="auto">
            <a:xfrm>
              <a:off x="1128" y="1950"/>
              <a:ext cx="931" cy="884"/>
              <a:chOff x="1128" y="1950"/>
              <a:chExt cx="931" cy="884"/>
            </a:xfrm>
          </p:grpSpPr>
          <p:sp>
            <p:nvSpPr>
              <p:cNvPr id="50307" name="Freeform 88"/>
              <p:cNvSpPr/>
              <p:nvPr/>
            </p:nvSpPr>
            <p:spPr bwMode="auto">
              <a:xfrm>
                <a:off x="1467" y="1950"/>
                <a:ext cx="339" cy="6"/>
              </a:xfrm>
              <a:custGeom>
                <a:avLst/>
                <a:gdLst>
                  <a:gd name="T0" fmla="*/ 0 w 339"/>
                  <a:gd name="T1" fmla="*/ 6 h 6"/>
                  <a:gd name="T2" fmla="*/ 0 w 339"/>
                  <a:gd name="T3" fmla="*/ 0 h 6"/>
                  <a:gd name="T4" fmla="*/ 339 w 339"/>
                  <a:gd name="T5" fmla="*/ 0 h 6"/>
                  <a:gd name="T6" fmla="*/ 0 60000 65536"/>
                  <a:gd name="T7" fmla="*/ 0 60000 65536"/>
                  <a:gd name="T8" fmla="*/ 0 60000 65536"/>
                  <a:gd name="T9" fmla="*/ 0 w 339"/>
                  <a:gd name="T10" fmla="*/ 0 h 6"/>
                  <a:gd name="T11" fmla="*/ 339 w 339"/>
                  <a:gd name="T12" fmla="*/ 6 h 6"/>
                </a:gdLst>
                <a:ahLst/>
                <a:cxnLst>
                  <a:cxn ang="T6">
                    <a:pos x="T0" y="T1"/>
                  </a:cxn>
                  <a:cxn ang="T7">
                    <a:pos x="T2" y="T3"/>
                  </a:cxn>
                  <a:cxn ang="T8">
                    <a:pos x="T4" y="T5"/>
                  </a:cxn>
                </a:cxnLst>
                <a:rect l="T9" t="T10" r="T11" b="T12"/>
                <a:pathLst>
                  <a:path w="339" h="6">
                    <a:moveTo>
                      <a:pt x="0" y="6"/>
                    </a:moveTo>
                    <a:lnTo>
                      <a:pt x="0" y="0"/>
                    </a:lnTo>
                    <a:lnTo>
                      <a:pt x="339" y="0"/>
                    </a:lnTo>
                  </a:path>
                </a:pathLst>
              </a:custGeom>
              <a:solidFill>
                <a:srgbClr val="FFFFFF"/>
              </a:solidFill>
              <a:ln w="38100">
                <a:solidFill>
                  <a:srgbClr val="0000FF"/>
                </a:solidFill>
                <a:round/>
              </a:ln>
            </p:spPr>
            <p:txBody>
              <a:bodyPr/>
              <a:lstStyle/>
              <a:p>
                <a:endParaRPr lang="zh-CN" altLang="en-US"/>
              </a:p>
            </p:txBody>
          </p:sp>
          <p:sp>
            <p:nvSpPr>
              <p:cNvPr id="50308" name="Freeform 89"/>
              <p:cNvSpPr/>
              <p:nvPr/>
            </p:nvSpPr>
            <p:spPr bwMode="auto">
              <a:xfrm>
                <a:off x="1795" y="1950"/>
                <a:ext cx="1" cy="884"/>
              </a:xfrm>
              <a:custGeom>
                <a:avLst/>
                <a:gdLst>
                  <a:gd name="T0" fmla="*/ 1 w 1"/>
                  <a:gd name="T1" fmla="*/ 0 h 861"/>
                  <a:gd name="T2" fmla="*/ 0 w 1"/>
                  <a:gd name="T3" fmla="*/ 1214 h 861"/>
                  <a:gd name="T4" fmla="*/ 0 60000 65536"/>
                  <a:gd name="T5" fmla="*/ 0 60000 65536"/>
                  <a:gd name="T6" fmla="*/ 0 w 1"/>
                  <a:gd name="T7" fmla="*/ 0 h 861"/>
                  <a:gd name="T8" fmla="*/ 1 w 1"/>
                  <a:gd name="T9" fmla="*/ 861 h 861"/>
                </a:gdLst>
                <a:ahLst/>
                <a:cxnLst>
                  <a:cxn ang="T4">
                    <a:pos x="T0" y="T1"/>
                  </a:cxn>
                  <a:cxn ang="T5">
                    <a:pos x="T2" y="T3"/>
                  </a:cxn>
                </a:cxnLst>
                <a:rect l="T6" t="T7" r="T8" b="T9"/>
                <a:pathLst>
                  <a:path w="1" h="861">
                    <a:moveTo>
                      <a:pt x="1" y="0"/>
                    </a:moveTo>
                    <a:lnTo>
                      <a:pt x="0" y="861"/>
                    </a:lnTo>
                  </a:path>
                </a:pathLst>
              </a:custGeom>
              <a:solidFill>
                <a:srgbClr val="FFFFFF"/>
              </a:solidFill>
              <a:ln w="38100">
                <a:solidFill>
                  <a:srgbClr val="0000FF"/>
                </a:solidFill>
                <a:round/>
              </a:ln>
            </p:spPr>
            <p:txBody>
              <a:bodyPr/>
              <a:lstStyle/>
              <a:p>
                <a:endParaRPr lang="zh-CN" altLang="en-US"/>
              </a:p>
            </p:txBody>
          </p:sp>
          <p:sp>
            <p:nvSpPr>
              <p:cNvPr id="50309" name="Line 90"/>
              <p:cNvSpPr>
                <a:spLocks noChangeShapeType="1"/>
              </p:cNvSpPr>
              <p:nvPr/>
            </p:nvSpPr>
            <p:spPr bwMode="auto">
              <a:xfrm>
                <a:off x="1128" y="2823"/>
                <a:ext cx="104" cy="0"/>
              </a:xfrm>
              <a:prstGeom prst="line">
                <a:avLst/>
              </a:prstGeom>
              <a:noFill/>
              <a:ln w="38100">
                <a:solidFill>
                  <a:srgbClr val="0000FF"/>
                </a:solidFill>
                <a:round/>
              </a:ln>
            </p:spPr>
            <p:txBody>
              <a:bodyPr/>
              <a:lstStyle/>
              <a:p>
                <a:endParaRPr lang="zh-CN" altLang="en-US"/>
              </a:p>
            </p:txBody>
          </p:sp>
          <p:sp>
            <p:nvSpPr>
              <p:cNvPr id="50310" name="Line 91"/>
              <p:cNvSpPr>
                <a:spLocks noChangeShapeType="1"/>
              </p:cNvSpPr>
              <p:nvPr/>
            </p:nvSpPr>
            <p:spPr bwMode="auto">
              <a:xfrm flipV="1">
                <a:off x="1218" y="2639"/>
                <a:ext cx="1" cy="184"/>
              </a:xfrm>
              <a:prstGeom prst="line">
                <a:avLst/>
              </a:prstGeom>
              <a:noFill/>
              <a:ln w="38100">
                <a:solidFill>
                  <a:srgbClr val="0000FF"/>
                </a:solidFill>
                <a:round/>
              </a:ln>
            </p:spPr>
            <p:txBody>
              <a:bodyPr/>
              <a:lstStyle/>
              <a:p>
                <a:endParaRPr lang="zh-CN" altLang="en-US"/>
              </a:p>
            </p:txBody>
          </p:sp>
          <p:sp>
            <p:nvSpPr>
              <p:cNvPr id="50311" name="Line 92"/>
              <p:cNvSpPr>
                <a:spLocks noChangeShapeType="1"/>
              </p:cNvSpPr>
              <p:nvPr/>
            </p:nvSpPr>
            <p:spPr bwMode="auto">
              <a:xfrm>
                <a:off x="1209" y="2639"/>
                <a:ext cx="577" cy="1"/>
              </a:xfrm>
              <a:prstGeom prst="line">
                <a:avLst/>
              </a:prstGeom>
              <a:noFill/>
              <a:ln w="38100">
                <a:solidFill>
                  <a:srgbClr val="0000FF"/>
                </a:solidFill>
                <a:round/>
                <a:tailEnd type="oval" w="sm" len="sm"/>
              </a:ln>
            </p:spPr>
            <p:txBody>
              <a:bodyPr/>
              <a:lstStyle/>
              <a:p>
                <a:endParaRPr lang="zh-CN" altLang="en-US"/>
              </a:p>
            </p:txBody>
          </p:sp>
          <p:sp>
            <p:nvSpPr>
              <p:cNvPr id="50312" name="Rectangle 93"/>
              <p:cNvSpPr>
                <a:spLocks noChangeArrowheads="1"/>
              </p:cNvSpPr>
              <p:nvPr/>
            </p:nvSpPr>
            <p:spPr bwMode="auto">
              <a:xfrm>
                <a:off x="1839" y="1954"/>
                <a:ext cx="220"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CS</a:t>
                </a:r>
                <a:r>
                  <a:rPr kumimoji="1" lang="en-US" altLang="zh-CN" sz="1800" b="1" baseline="-25000"/>
                  <a:t>0</a:t>
                </a:r>
                <a:endParaRPr kumimoji="1" lang="en-US" altLang="zh-CN" sz="1800" b="1"/>
              </a:p>
            </p:txBody>
          </p:sp>
          <p:sp>
            <p:nvSpPr>
              <p:cNvPr id="50313" name="Freeform 94"/>
              <p:cNvSpPr/>
              <p:nvPr/>
            </p:nvSpPr>
            <p:spPr bwMode="auto">
              <a:xfrm>
                <a:off x="1842" y="1962"/>
                <a:ext cx="195" cy="1"/>
              </a:xfrm>
              <a:custGeom>
                <a:avLst/>
                <a:gdLst>
                  <a:gd name="T0" fmla="*/ 0 w 195"/>
                  <a:gd name="T1" fmla="*/ 0 h 1"/>
                  <a:gd name="T2" fmla="*/ 195 w 195"/>
                  <a:gd name="T3" fmla="*/ 0 h 1"/>
                  <a:gd name="T4" fmla="*/ 0 60000 65536"/>
                  <a:gd name="T5" fmla="*/ 0 60000 65536"/>
                  <a:gd name="T6" fmla="*/ 0 w 195"/>
                  <a:gd name="T7" fmla="*/ 0 h 1"/>
                  <a:gd name="T8" fmla="*/ 195 w 195"/>
                  <a:gd name="T9" fmla="*/ 1 h 1"/>
                </a:gdLst>
                <a:ahLst/>
                <a:cxnLst>
                  <a:cxn ang="T4">
                    <a:pos x="T0" y="T1"/>
                  </a:cxn>
                  <a:cxn ang="T5">
                    <a:pos x="T2" y="T3"/>
                  </a:cxn>
                </a:cxnLst>
                <a:rect l="T6" t="T7" r="T8" b="T9"/>
                <a:pathLst>
                  <a:path w="195" h="1">
                    <a:moveTo>
                      <a:pt x="0" y="0"/>
                    </a:moveTo>
                    <a:lnTo>
                      <a:pt x="195" y="0"/>
                    </a:lnTo>
                  </a:path>
                </a:pathLst>
              </a:custGeom>
              <a:noFill/>
              <a:ln w="19050">
                <a:solidFill>
                  <a:schemeClr val="tx1"/>
                </a:solidFill>
                <a:round/>
              </a:ln>
            </p:spPr>
            <p:txBody>
              <a:bodyPr/>
              <a:lstStyle/>
              <a:p>
                <a:endParaRPr lang="zh-CN" altLang="en-US"/>
              </a:p>
            </p:txBody>
          </p:sp>
        </p:grpSp>
      </p:grpSp>
      <p:grpSp>
        <p:nvGrpSpPr>
          <p:cNvPr id="14" name="Group 95"/>
          <p:cNvGrpSpPr/>
          <p:nvPr/>
        </p:nvGrpSpPr>
        <p:grpSpPr bwMode="auto">
          <a:xfrm>
            <a:off x="3767138" y="2143125"/>
            <a:ext cx="2768600" cy="1509713"/>
            <a:chOff x="1467" y="1872"/>
            <a:chExt cx="1744" cy="951"/>
          </a:xfrm>
        </p:grpSpPr>
        <p:sp>
          <p:nvSpPr>
            <p:cNvPr id="50295" name="Line 96"/>
            <p:cNvSpPr>
              <a:spLocks noChangeShapeType="1"/>
            </p:cNvSpPr>
            <p:nvPr/>
          </p:nvSpPr>
          <p:spPr bwMode="auto">
            <a:xfrm flipV="1">
              <a:off x="2855" y="2821"/>
              <a:ext cx="104" cy="2"/>
            </a:xfrm>
            <a:prstGeom prst="line">
              <a:avLst/>
            </a:prstGeom>
            <a:noFill/>
            <a:ln w="38100">
              <a:solidFill>
                <a:srgbClr val="FF0066"/>
              </a:solidFill>
              <a:round/>
            </a:ln>
          </p:spPr>
          <p:txBody>
            <a:bodyPr/>
            <a:lstStyle/>
            <a:p>
              <a:endParaRPr lang="zh-CN" altLang="en-US"/>
            </a:p>
          </p:txBody>
        </p:sp>
        <p:grpSp>
          <p:nvGrpSpPr>
            <p:cNvPr id="50296" name="Group 97"/>
            <p:cNvGrpSpPr/>
            <p:nvPr/>
          </p:nvGrpSpPr>
          <p:grpSpPr bwMode="auto">
            <a:xfrm>
              <a:off x="1467" y="1872"/>
              <a:ext cx="1744" cy="951"/>
              <a:chOff x="1467" y="1872"/>
              <a:chExt cx="1744" cy="951"/>
            </a:xfrm>
          </p:grpSpPr>
          <p:sp>
            <p:nvSpPr>
              <p:cNvPr id="50297" name="Freeform 98"/>
              <p:cNvSpPr/>
              <p:nvPr/>
            </p:nvSpPr>
            <p:spPr bwMode="auto">
              <a:xfrm>
                <a:off x="2948" y="1872"/>
                <a:ext cx="1" cy="948"/>
              </a:xfrm>
              <a:custGeom>
                <a:avLst/>
                <a:gdLst>
                  <a:gd name="T0" fmla="*/ 0 w 1"/>
                  <a:gd name="T1" fmla="*/ 948 h 948"/>
                  <a:gd name="T2" fmla="*/ 0 w 1"/>
                  <a:gd name="T3" fmla="*/ 0 h 948"/>
                  <a:gd name="T4" fmla="*/ 0 60000 65536"/>
                  <a:gd name="T5" fmla="*/ 0 60000 65536"/>
                  <a:gd name="T6" fmla="*/ 0 w 1"/>
                  <a:gd name="T7" fmla="*/ 0 h 948"/>
                  <a:gd name="T8" fmla="*/ 1 w 1"/>
                  <a:gd name="T9" fmla="*/ 948 h 948"/>
                </a:gdLst>
                <a:ahLst/>
                <a:cxnLst>
                  <a:cxn ang="T4">
                    <a:pos x="T0" y="T1"/>
                  </a:cxn>
                  <a:cxn ang="T5">
                    <a:pos x="T2" y="T3"/>
                  </a:cxn>
                </a:cxnLst>
                <a:rect l="T6" t="T7" r="T8" b="T9"/>
                <a:pathLst>
                  <a:path w="1" h="948">
                    <a:moveTo>
                      <a:pt x="0" y="948"/>
                    </a:moveTo>
                    <a:lnTo>
                      <a:pt x="0" y="0"/>
                    </a:lnTo>
                  </a:path>
                </a:pathLst>
              </a:custGeom>
              <a:solidFill>
                <a:srgbClr val="FFFFFF"/>
              </a:solidFill>
              <a:ln w="38100">
                <a:solidFill>
                  <a:srgbClr val="FF0066"/>
                </a:solidFill>
                <a:round/>
              </a:ln>
            </p:spPr>
            <p:txBody>
              <a:bodyPr/>
              <a:lstStyle/>
              <a:p>
                <a:endParaRPr lang="zh-CN" altLang="en-US"/>
              </a:p>
            </p:txBody>
          </p:sp>
          <p:sp>
            <p:nvSpPr>
              <p:cNvPr id="50298" name="Line 99"/>
              <p:cNvSpPr>
                <a:spLocks noChangeShapeType="1"/>
              </p:cNvSpPr>
              <p:nvPr/>
            </p:nvSpPr>
            <p:spPr bwMode="auto">
              <a:xfrm flipV="1">
                <a:off x="2278" y="2820"/>
                <a:ext cx="104" cy="3"/>
              </a:xfrm>
              <a:prstGeom prst="line">
                <a:avLst/>
              </a:prstGeom>
              <a:noFill/>
              <a:ln w="38100">
                <a:solidFill>
                  <a:schemeClr val="tx1"/>
                </a:solidFill>
                <a:round/>
              </a:ln>
            </p:spPr>
            <p:txBody>
              <a:bodyPr/>
              <a:lstStyle/>
              <a:p>
                <a:endParaRPr lang="zh-CN" altLang="en-US"/>
              </a:p>
            </p:txBody>
          </p:sp>
          <p:sp>
            <p:nvSpPr>
              <p:cNvPr id="50299" name="Line 100"/>
              <p:cNvSpPr>
                <a:spLocks noChangeShapeType="1"/>
              </p:cNvSpPr>
              <p:nvPr/>
            </p:nvSpPr>
            <p:spPr bwMode="auto">
              <a:xfrm flipV="1">
                <a:off x="2371" y="2639"/>
                <a:ext cx="1" cy="184"/>
              </a:xfrm>
              <a:prstGeom prst="line">
                <a:avLst/>
              </a:prstGeom>
              <a:noFill/>
              <a:ln w="38100">
                <a:solidFill>
                  <a:srgbClr val="FF0066"/>
                </a:solidFill>
                <a:round/>
              </a:ln>
            </p:spPr>
            <p:txBody>
              <a:bodyPr/>
              <a:lstStyle/>
              <a:p>
                <a:endParaRPr lang="zh-CN" altLang="en-US"/>
              </a:p>
            </p:txBody>
          </p:sp>
          <p:sp>
            <p:nvSpPr>
              <p:cNvPr id="50300" name="Line 101"/>
              <p:cNvSpPr>
                <a:spLocks noChangeShapeType="1"/>
              </p:cNvSpPr>
              <p:nvPr/>
            </p:nvSpPr>
            <p:spPr bwMode="auto">
              <a:xfrm>
                <a:off x="2365" y="2639"/>
                <a:ext cx="578" cy="1"/>
              </a:xfrm>
              <a:prstGeom prst="line">
                <a:avLst/>
              </a:prstGeom>
              <a:noFill/>
              <a:ln w="38100">
                <a:solidFill>
                  <a:srgbClr val="FF0066"/>
                </a:solidFill>
                <a:round/>
                <a:tailEnd type="oval" w="sm" len="sm"/>
              </a:ln>
            </p:spPr>
            <p:txBody>
              <a:bodyPr/>
              <a:lstStyle/>
              <a:p>
                <a:endParaRPr lang="zh-CN" altLang="en-US"/>
              </a:p>
            </p:txBody>
          </p:sp>
          <p:grpSp>
            <p:nvGrpSpPr>
              <p:cNvPr id="50301" name="Group 102"/>
              <p:cNvGrpSpPr/>
              <p:nvPr/>
            </p:nvGrpSpPr>
            <p:grpSpPr bwMode="auto">
              <a:xfrm>
                <a:off x="1467" y="1878"/>
                <a:ext cx="1744" cy="250"/>
                <a:chOff x="1467" y="1878"/>
                <a:chExt cx="1744" cy="250"/>
              </a:xfrm>
            </p:grpSpPr>
            <p:sp>
              <p:nvSpPr>
                <p:cNvPr id="50302" name="Rectangle 103"/>
                <p:cNvSpPr>
                  <a:spLocks noChangeArrowheads="1"/>
                </p:cNvSpPr>
                <p:nvPr/>
              </p:nvSpPr>
              <p:spPr bwMode="auto">
                <a:xfrm>
                  <a:off x="2991" y="1954"/>
                  <a:ext cx="220"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CS</a:t>
                  </a:r>
                  <a:r>
                    <a:rPr kumimoji="1" lang="en-US" altLang="zh-CN" sz="1800" b="1" baseline="-25000"/>
                    <a:t>1</a:t>
                  </a:r>
                  <a:endParaRPr kumimoji="1" lang="en-US" altLang="zh-CN" sz="1800" b="1"/>
                </a:p>
              </p:txBody>
            </p:sp>
            <p:sp>
              <p:nvSpPr>
                <p:cNvPr id="50303" name="Freeform 104"/>
                <p:cNvSpPr/>
                <p:nvPr/>
              </p:nvSpPr>
              <p:spPr bwMode="auto">
                <a:xfrm>
                  <a:off x="1467" y="1878"/>
                  <a:ext cx="1485" cy="1"/>
                </a:xfrm>
                <a:custGeom>
                  <a:avLst/>
                  <a:gdLst>
                    <a:gd name="T0" fmla="*/ 0 w 1485"/>
                    <a:gd name="T1" fmla="*/ 0 h 1"/>
                    <a:gd name="T2" fmla="*/ 1485 w 1485"/>
                    <a:gd name="T3" fmla="*/ 0 h 1"/>
                    <a:gd name="T4" fmla="*/ 0 60000 65536"/>
                    <a:gd name="T5" fmla="*/ 0 60000 65536"/>
                    <a:gd name="T6" fmla="*/ 0 w 1485"/>
                    <a:gd name="T7" fmla="*/ 0 h 1"/>
                    <a:gd name="T8" fmla="*/ 1485 w 1485"/>
                    <a:gd name="T9" fmla="*/ 1 h 1"/>
                  </a:gdLst>
                  <a:ahLst/>
                  <a:cxnLst>
                    <a:cxn ang="T4">
                      <a:pos x="T0" y="T1"/>
                    </a:cxn>
                    <a:cxn ang="T5">
                      <a:pos x="T2" y="T3"/>
                    </a:cxn>
                  </a:cxnLst>
                  <a:rect l="T6" t="T7" r="T8" b="T9"/>
                  <a:pathLst>
                    <a:path w="1485" h="1">
                      <a:moveTo>
                        <a:pt x="0" y="0"/>
                      </a:moveTo>
                      <a:lnTo>
                        <a:pt x="1485" y="0"/>
                      </a:lnTo>
                    </a:path>
                  </a:pathLst>
                </a:custGeom>
                <a:solidFill>
                  <a:srgbClr val="FFFFFF"/>
                </a:solidFill>
                <a:ln w="38100">
                  <a:solidFill>
                    <a:srgbClr val="FF0066"/>
                  </a:solidFill>
                  <a:round/>
                </a:ln>
              </p:spPr>
              <p:txBody>
                <a:bodyPr/>
                <a:lstStyle/>
                <a:p>
                  <a:endParaRPr lang="zh-CN" altLang="en-US"/>
                </a:p>
              </p:txBody>
            </p:sp>
            <p:sp>
              <p:nvSpPr>
                <p:cNvPr id="50304" name="Freeform 105"/>
                <p:cNvSpPr/>
                <p:nvPr/>
              </p:nvSpPr>
              <p:spPr bwMode="auto">
                <a:xfrm flipV="1">
                  <a:off x="2994" y="1936"/>
                  <a:ext cx="195" cy="27"/>
                </a:xfrm>
                <a:custGeom>
                  <a:avLst/>
                  <a:gdLst>
                    <a:gd name="T0" fmla="*/ 0 w 195"/>
                    <a:gd name="T1" fmla="*/ 0 h 1"/>
                    <a:gd name="T2" fmla="*/ 195 w 195"/>
                    <a:gd name="T3" fmla="*/ 0 h 1"/>
                    <a:gd name="T4" fmla="*/ 0 60000 65536"/>
                    <a:gd name="T5" fmla="*/ 0 60000 65536"/>
                    <a:gd name="T6" fmla="*/ 0 w 195"/>
                    <a:gd name="T7" fmla="*/ 0 h 1"/>
                    <a:gd name="T8" fmla="*/ 195 w 195"/>
                    <a:gd name="T9" fmla="*/ 1 h 1"/>
                  </a:gdLst>
                  <a:ahLst/>
                  <a:cxnLst>
                    <a:cxn ang="T4">
                      <a:pos x="T0" y="T1"/>
                    </a:cxn>
                    <a:cxn ang="T5">
                      <a:pos x="T2" y="T3"/>
                    </a:cxn>
                  </a:cxnLst>
                  <a:rect l="T6" t="T7" r="T8" b="T9"/>
                  <a:pathLst>
                    <a:path w="195" h="1">
                      <a:moveTo>
                        <a:pt x="0" y="0"/>
                      </a:moveTo>
                      <a:lnTo>
                        <a:pt x="195" y="0"/>
                      </a:lnTo>
                    </a:path>
                  </a:pathLst>
                </a:custGeom>
                <a:noFill/>
                <a:ln w="19050">
                  <a:solidFill>
                    <a:schemeClr val="tx1"/>
                  </a:solidFill>
                  <a:round/>
                </a:ln>
              </p:spPr>
              <p:txBody>
                <a:bodyPr/>
                <a:lstStyle/>
                <a:p>
                  <a:endParaRPr lang="zh-CN" altLang="en-US"/>
                </a:p>
              </p:txBody>
            </p:sp>
          </p:grpSp>
        </p:grpSp>
      </p:grpSp>
      <p:grpSp>
        <p:nvGrpSpPr>
          <p:cNvPr id="17" name="Group 106"/>
          <p:cNvGrpSpPr/>
          <p:nvPr/>
        </p:nvGrpSpPr>
        <p:grpSpPr bwMode="auto">
          <a:xfrm>
            <a:off x="3748088" y="1990725"/>
            <a:ext cx="4706937" cy="1662113"/>
            <a:chOff x="1455" y="1776"/>
            <a:chExt cx="2965" cy="1047"/>
          </a:xfrm>
        </p:grpSpPr>
        <p:sp>
          <p:nvSpPr>
            <p:cNvPr id="50286" name="Freeform 107"/>
            <p:cNvSpPr/>
            <p:nvPr/>
          </p:nvSpPr>
          <p:spPr bwMode="auto">
            <a:xfrm>
              <a:off x="4154" y="1776"/>
              <a:ext cx="6" cy="1044"/>
            </a:xfrm>
            <a:custGeom>
              <a:avLst/>
              <a:gdLst>
                <a:gd name="T0" fmla="*/ 6 w 6"/>
                <a:gd name="T1" fmla="*/ 1044 h 1044"/>
                <a:gd name="T2" fmla="*/ 0 w 6"/>
                <a:gd name="T3" fmla="*/ 0 h 1044"/>
                <a:gd name="T4" fmla="*/ 0 60000 65536"/>
                <a:gd name="T5" fmla="*/ 0 60000 65536"/>
                <a:gd name="T6" fmla="*/ 0 w 6"/>
                <a:gd name="T7" fmla="*/ 0 h 1044"/>
                <a:gd name="T8" fmla="*/ 6 w 6"/>
                <a:gd name="T9" fmla="*/ 1044 h 1044"/>
              </a:gdLst>
              <a:ahLst/>
              <a:cxnLst>
                <a:cxn ang="T4">
                  <a:pos x="T0" y="T1"/>
                </a:cxn>
                <a:cxn ang="T5">
                  <a:pos x="T2" y="T3"/>
                </a:cxn>
              </a:cxnLst>
              <a:rect l="T6" t="T7" r="T8" b="T9"/>
              <a:pathLst>
                <a:path w="6" h="1044">
                  <a:moveTo>
                    <a:pt x="6" y="1044"/>
                  </a:moveTo>
                  <a:lnTo>
                    <a:pt x="0" y="0"/>
                  </a:lnTo>
                </a:path>
              </a:pathLst>
            </a:custGeom>
            <a:solidFill>
              <a:srgbClr val="FFFFFF"/>
            </a:solidFill>
            <a:ln w="38100">
              <a:solidFill>
                <a:srgbClr val="008000"/>
              </a:solidFill>
              <a:round/>
            </a:ln>
          </p:spPr>
          <p:txBody>
            <a:bodyPr/>
            <a:lstStyle/>
            <a:p>
              <a:endParaRPr lang="zh-CN" altLang="en-US"/>
            </a:p>
          </p:txBody>
        </p:sp>
        <p:sp>
          <p:nvSpPr>
            <p:cNvPr id="50287" name="Line 108"/>
            <p:cNvSpPr>
              <a:spLocks noChangeShapeType="1"/>
            </p:cNvSpPr>
            <p:nvPr/>
          </p:nvSpPr>
          <p:spPr bwMode="auto">
            <a:xfrm flipV="1">
              <a:off x="3474" y="2814"/>
              <a:ext cx="110" cy="2"/>
            </a:xfrm>
            <a:prstGeom prst="line">
              <a:avLst/>
            </a:prstGeom>
            <a:noFill/>
            <a:ln w="38100">
              <a:solidFill>
                <a:srgbClr val="008000"/>
              </a:solidFill>
              <a:round/>
            </a:ln>
          </p:spPr>
          <p:txBody>
            <a:bodyPr/>
            <a:lstStyle/>
            <a:p>
              <a:endParaRPr lang="zh-CN" altLang="en-US"/>
            </a:p>
          </p:txBody>
        </p:sp>
        <p:sp>
          <p:nvSpPr>
            <p:cNvPr id="50288" name="Line 109"/>
            <p:cNvSpPr>
              <a:spLocks noChangeShapeType="1"/>
            </p:cNvSpPr>
            <p:nvPr/>
          </p:nvSpPr>
          <p:spPr bwMode="auto">
            <a:xfrm flipV="1">
              <a:off x="4069" y="2814"/>
              <a:ext cx="104" cy="2"/>
            </a:xfrm>
            <a:prstGeom prst="line">
              <a:avLst/>
            </a:prstGeom>
            <a:noFill/>
            <a:ln w="38100">
              <a:solidFill>
                <a:srgbClr val="008000"/>
              </a:solidFill>
              <a:round/>
            </a:ln>
          </p:spPr>
          <p:txBody>
            <a:bodyPr/>
            <a:lstStyle/>
            <a:p>
              <a:endParaRPr lang="zh-CN" altLang="en-US"/>
            </a:p>
          </p:txBody>
        </p:sp>
        <p:sp>
          <p:nvSpPr>
            <p:cNvPr id="50289" name="Freeform 110"/>
            <p:cNvSpPr/>
            <p:nvPr/>
          </p:nvSpPr>
          <p:spPr bwMode="auto">
            <a:xfrm>
              <a:off x="3573" y="2641"/>
              <a:ext cx="1" cy="182"/>
            </a:xfrm>
            <a:custGeom>
              <a:avLst/>
              <a:gdLst>
                <a:gd name="T0" fmla="*/ 0 w 1"/>
                <a:gd name="T1" fmla="*/ 182 h 182"/>
                <a:gd name="T2" fmla="*/ 1 w 1"/>
                <a:gd name="T3" fmla="*/ 0 h 182"/>
                <a:gd name="T4" fmla="*/ 0 60000 65536"/>
                <a:gd name="T5" fmla="*/ 0 60000 65536"/>
                <a:gd name="T6" fmla="*/ 0 w 1"/>
                <a:gd name="T7" fmla="*/ 0 h 182"/>
                <a:gd name="T8" fmla="*/ 1 w 1"/>
                <a:gd name="T9" fmla="*/ 182 h 182"/>
              </a:gdLst>
              <a:ahLst/>
              <a:cxnLst>
                <a:cxn ang="T4">
                  <a:pos x="T0" y="T1"/>
                </a:cxn>
                <a:cxn ang="T5">
                  <a:pos x="T2" y="T3"/>
                </a:cxn>
              </a:cxnLst>
              <a:rect l="T6" t="T7" r="T8" b="T9"/>
              <a:pathLst>
                <a:path w="1" h="182">
                  <a:moveTo>
                    <a:pt x="0" y="182"/>
                  </a:moveTo>
                  <a:lnTo>
                    <a:pt x="1" y="0"/>
                  </a:lnTo>
                </a:path>
              </a:pathLst>
            </a:custGeom>
            <a:solidFill>
              <a:srgbClr val="FFFFFF"/>
            </a:solidFill>
            <a:ln w="38100">
              <a:solidFill>
                <a:srgbClr val="008000"/>
              </a:solidFill>
              <a:round/>
            </a:ln>
          </p:spPr>
          <p:txBody>
            <a:bodyPr/>
            <a:lstStyle/>
            <a:p>
              <a:endParaRPr lang="zh-CN" altLang="en-US"/>
            </a:p>
          </p:txBody>
        </p:sp>
        <p:sp>
          <p:nvSpPr>
            <p:cNvPr id="50290" name="Line 111"/>
            <p:cNvSpPr>
              <a:spLocks noChangeShapeType="1"/>
            </p:cNvSpPr>
            <p:nvPr/>
          </p:nvSpPr>
          <p:spPr bwMode="auto">
            <a:xfrm>
              <a:off x="3564" y="2628"/>
              <a:ext cx="589" cy="1"/>
            </a:xfrm>
            <a:prstGeom prst="line">
              <a:avLst/>
            </a:prstGeom>
            <a:noFill/>
            <a:ln w="38100">
              <a:solidFill>
                <a:srgbClr val="008000"/>
              </a:solidFill>
              <a:round/>
              <a:tailEnd type="oval" w="sm" len="sm"/>
            </a:ln>
          </p:spPr>
          <p:txBody>
            <a:bodyPr/>
            <a:lstStyle/>
            <a:p>
              <a:endParaRPr lang="zh-CN" altLang="en-US"/>
            </a:p>
          </p:txBody>
        </p:sp>
        <p:grpSp>
          <p:nvGrpSpPr>
            <p:cNvPr id="50291" name="Group 112"/>
            <p:cNvGrpSpPr/>
            <p:nvPr/>
          </p:nvGrpSpPr>
          <p:grpSpPr bwMode="auto">
            <a:xfrm>
              <a:off x="1455" y="1779"/>
              <a:ext cx="2965" cy="349"/>
              <a:chOff x="1455" y="1779"/>
              <a:chExt cx="2965" cy="349"/>
            </a:xfrm>
          </p:grpSpPr>
          <p:sp>
            <p:nvSpPr>
              <p:cNvPr id="50292" name="Freeform 113"/>
              <p:cNvSpPr/>
              <p:nvPr/>
            </p:nvSpPr>
            <p:spPr bwMode="auto">
              <a:xfrm>
                <a:off x="1455" y="1779"/>
                <a:ext cx="2712" cy="3"/>
              </a:xfrm>
              <a:custGeom>
                <a:avLst/>
                <a:gdLst>
                  <a:gd name="T0" fmla="*/ 0 w 2712"/>
                  <a:gd name="T1" fmla="*/ 0 h 3"/>
                  <a:gd name="T2" fmla="*/ 2712 w 2712"/>
                  <a:gd name="T3" fmla="*/ 3 h 3"/>
                  <a:gd name="T4" fmla="*/ 0 60000 65536"/>
                  <a:gd name="T5" fmla="*/ 0 60000 65536"/>
                  <a:gd name="T6" fmla="*/ 0 w 2712"/>
                  <a:gd name="T7" fmla="*/ 0 h 3"/>
                  <a:gd name="T8" fmla="*/ 2712 w 2712"/>
                  <a:gd name="T9" fmla="*/ 3 h 3"/>
                </a:gdLst>
                <a:ahLst/>
                <a:cxnLst>
                  <a:cxn ang="T4">
                    <a:pos x="T0" y="T1"/>
                  </a:cxn>
                  <a:cxn ang="T5">
                    <a:pos x="T2" y="T3"/>
                  </a:cxn>
                </a:cxnLst>
                <a:rect l="T6" t="T7" r="T8" b="T9"/>
                <a:pathLst>
                  <a:path w="2712" h="3">
                    <a:moveTo>
                      <a:pt x="0" y="0"/>
                    </a:moveTo>
                    <a:lnTo>
                      <a:pt x="2712" y="3"/>
                    </a:lnTo>
                  </a:path>
                </a:pathLst>
              </a:custGeom>
              <a:solidFill>
                <a:srgbClr val="FFFFFF"/>
              </a:solidFill>
              <a:ln w="38100">
                <a:solidFill>
                  <a:srgbClr val="008000"/>
                </a:solidFill>
                <a:round/>
              </a:ln>
            </p:spPr>
            <p:txBody>
              <a:bodyPr/>
              <a:lstStyle/>
              <a:p>
                <a:endParaRPr lang="zh-CN" altLang="en-US"/>
              </a:p>
            </p:txBody>
          </p:sp>
          <p:sp>
            <p:nvSpPr>
              <p:cNvPr id="50293" name="Rectangle 114"/>
              <p:cNvSpPr>
                <a:spLocks noChangeArrowheads="1"/>
              </p:cNvSpPr>
              <p:nvPr/>
            </p:nvSpPr>
            <p:spPr bwMode="auto">
              <a:xfrm>
                <a:off x="4200" y="1954"/>
                <a:ext cx="220"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CS</a:t>
                </a:r>
                <a:r>
                  <a:rPr kumimoji="1" lang="en-US" altLang="zh-CN" sz="1800" b="1" baseline="-25000"/>
                  <a:t>2</a:t>
                </a:r>
                <a:endParaRPr kumimoji="1" lang="en-US" altLang="zh-CN" sz="1800" b="1"/>
              </a:p>
            </p:txBody>
          </p:sp>
          <p:sp>
            <p:nvSpPr>
              <p:cNvPr id="50294" name="Freeform 115"/>
              <p:cNvSpPr/>
              <p:nvPr/>
            </p:nvSpPr>
            <p:spPr bwMode="auto">
              <a:xfrm flipV="1">
                <a:off x="4200" y="1936"/>
                <a:ext cx="195" cy="27"/>
              </a:xfrm>
              <a:custGeom>
                <a:avLst/>
                <a:gdLst>
                  <a:gd name="T0" fmla="*/ 0 w 195"/>
                  <a:gd name="T1" fmla="*/ 0 h 1"/>
                  <a:gd name="T2" fmla="*/ 195 w 195"/>
                  <a:gd name="T3" fmla="*/ 0 h 1"/>
                  <a:gd name="T4" fmla="*/ 0 60000 65536"/>
                  <a:gd name="T5" fmla="*/ 0 60000 65536"/>
                  <a:gd name="T6" fmla="*/ 0 w 195"/>
                  <a:gd name="T7" fmla="*/ 0 h 1"/>
                  <a:gd name="T8" fmla="*/ 195 w 195"/>
                  <a:gd name="T9" fmla="*/ 1 h 1"/>
                </a:gdLst>
                <a:ahLst/>
                <a:cxnLst>
                  <a:cxn ang="T4">
                    <a:pos x="T0" y="T1"/>
                  </a:cxn>
                  <a:cxn ang="T5">
                    <a:pos x="T2" y="T3"/>
                  </a:cxn>
                </a:cxnLst>
                <a:rect l="T6" t="T7" r="T8" b="T9"/>
                <a:pathLst>
                  <a:path w="195" h="1">
                    <a:moveTo>
                      <a:pt x="0" y="0"/>
                    </a:moveTo>
                    <a:lnTo>
                      <a:pt x="195" y="0"/>
                    </a:lnTo>
                  </a:path>
                </a:pathLst>
              </a:custGeom>
              <a:noFill/>
              <a:ln w="19050">
                <a:solidFill>
                  <a:schemeClr val="tx1"/>
                </a:solidFill>
                <a:round/>
              </a:ln>
            </p:spPr>
            <p:txBody>
              <a:bodyPr/>
              <a:lstStyle/>
              <a:p>
                <a:endParaRPr lang="zh-CN" altLang="en-US"/>
              </a:p>
            </p:txBody>
          </p:sp>
        </p:grpSp>
      </p:grpSp>
      <p:grpSp>
        <p:nvGrpSpPr>
          <p:cNvPr id="19" name="Group 116"/>
          <p:cNvGrpSpPr/>
          <p:nvPr/>
        </p:nvGrpSpPr>
        <p:grpSpPr bwMode="auto">
          <a:xfrm>
            <a:off x="3743325" y="1863725"/>
            <a:ext cx="6535738" cy="1778000"/>
            <a:chOff x="1452" y="1696"/>
            <a:chExt cx="4117" cy="1120"/>
          </a:xfrm>
        </p:grpSpPr>
        <p:sp>
          <p:nvSpPr>
            <p:cNvPr id="50277" name="Line 117"/>
            <p:cNvSpPr>
              <a:spLocks noChangeShapeType="1"/>
            </p:cNvSpPr>
            <p:nvPr/>
          </p:nvSpPr>
          <p:spPr bwMode="auto">
            <a:xfrm flipV="1">
              <a:off x="4642" y="2814"/>
              <a:ext cx="104" cy="2"/>
            </a:xfrm>
            <a:prstGeom prst="line">
              <a:avLst/>
            </a:prstGeom>
            <a:noFill/>
            <a:ln w="38100">
              <a:solidFill>
                <a:schemeClr val="tx1"/>
              </a:solidFill>
              <a:round/>
            </a:ln>
          </p:spPr>
          <p:txBody>
            <a:bodyPr/>
            <a:lstStyle/>
            <a:p>
              <a:endParaRPr lang="zh-CN" altLang="en-US"/>
            </a:p>
          </p:txBody>
        </p:sp>
        <p:sp>
          <p:nvSpPr>
            <p:cNvPr id="50278" name="Line 118"/>
            <p:cNvSpPr>
              <a:spLocks noChangeShapeType="1"/>
            </p:cNvSpPr>
            <p:nvPr/>
          </p:nvSpPr>
          <p:spPr bwMode="auto">
            <a:xfrm flipV="1">
              <a:off x="5219" y="2814"/>
              <a:ext cx="104" cy="2"/>
            </a:xfrm>
            <a:prstGeom prst="line">
              <a:avLst/>
            </a:prstGeom>
            <a:noFill/>
            <a:ln w="38100">
              <a:solidFill>
                <a:srgbClr val="FF0000"/>
              </a:solidFill>
              <a:round/>
            </a:ln>
          </p:spPr>
          <p:txBody>
            <a:bodyPr/>
            <a:lstStyle/>
            <a:p>
              <a:endParaRPr lang="zh-CN" altLang="en-US"/>
            </a:p>
          </p:txBody>
        </p:sp>
        <p:sp>
          <p:nvSpPr>
            <p:cNvPr id="50279" name="Line 119"/>
            <p:cNvSpPr>
              <a:spLocks noChangeShapeType="1"/>
            </p:cNvSpPr>
            <p:nvPr/>
          </p:nvSpPr>
          <p:spPr bwMode="auto">
            <a:xfrm flipV="1">
              <a:off x="4732" y="2628"/>
              <a:ext cx="1" cy="188"/>
            </a:xfrm>
            <a:prstGeom prst="line">
              <a:avLst/>
            </a:prstGeom>
            <a:noFill/>
            <a:ln w="38100">
              <a:solidFill>
                <a:srgbClr val="FF0000"/>
              </a:solidFill>
              <a:round/>
            </a:ln>
          </p:spPr>
          <p:txBody>
            <a:bodyPr/>
            <a:lstStyle/>
            <a:p>
              <a:endParaRPr lang="zh-CN" altLang="en-US"/>
            </a:p>
          </p:txBody>
        </p:sp>
        <p:sp>
          <p:nvSpPr>
            <p:cNvPr id="50280" name="Line 120"/>
            <p:cNvSpPr>
              <a:spLocks noChangeShapeType="1"/>
            </p:cNvSpPr>
            <p:nvPr/>
          </p:nvSpPr>
          <p:spPr bwMode="auto">
            <a:xfrm>
              <a:off x="4726" y="2628"/>
              <a:ext cx="578" cy="1"/>
            </a:xfrm>
            <a:prstGeom prst="line">
              <a:avLst/>
            </a:prstGeom>
            <a:noFill/>
            <a:ln w="38100">
              <a:solidFill>
                <a:srgbClr val="FF0000"/>
              </a:solidFill>
              <a:round/>
              <a:tailEnd type="oval" w="sm" len="sm"/>
            </a:ln>
          </p:spPr>
          <p:txBody>
            <a:bodyPr/>
            <a:lstStyle/>
            <a:p>
              <a:endParaRPr lang="zh-CN" altLang="en-US"/>
            </a:p>
          </p:txBody>
        </p:sp>
        <p:sp>
          <p:nvSpPr>
            <p:cNvPr id="50281" name="Line 121"/>
            <p:cNvSpPr>
              <a:spLocks noChangeShapeType="1"/>
            </p:cNvSpPr>
            <p:nvPr/>
          </p:nvSpPr>
          <p:spPr bwMode="auto">
            <a:xfrm flipH="1" flipV="1">
              <a:off x="5308" y="1696"/>
              <a:ext cx="4" cy="1120"/>
            </a:xfrm>
            <a:prstGeom prst="line">
              <a:avLst/>
            </a:prstGeom>
            <a:noFill/>
            <a:ln w="38100">
              <a:solidFill>
                <a:srgbClr val="FF0000"/>
              </a:solidFill>
              <a:round/>
            </a:ln>
          </p:spPr>
          <p:txBody>
            <a:bodyPr/>
            <a:lstStyle/>
            <a:p>
              <a:endParaRPr lang="zh-CN" altLang="en-US"/>
            </a:p>
          </p:txBody>
        </p:sp>
        <p:grpSp>
          <p:nvGrpSpPr>
            <p:cNvPr id="50282" name="Group 122"/>
            <p:cNvGrpSpPr/>
            <p:nvPr/>
          </p:nvGrpSpPr>
          <p:grpSpPr bwMode="auto">
            <a:xfrm>
              <a:off x="1452" y="1698"/>
              <a:ext cx="4117" cy="430"/>
              <a:chOff x="1452" y="1698"/>
              <a:chExt cx="4117" cy="430"/>
            </a:xfrm>
          </p:grpSpPr>
          <p:sp>
            <p:nvSpPr>
              <p:cNvPr id="50283" name="Freeform 123"/>
              <p:cNvSpPr/>
              <p:nvPr/>
            </p:nvSpPr>
            <p:spPr bwMode="auto">
              <a:xfrm>
                <a:off x="1452" y="1698"/>
                <a:ext cx="3870" cy="1"/>
              </a:xfrm>
              <a:custGeom>
                <a:avLst/>
                <a:gdLst>
                  <a:gd name="T0" fmla="*/ 0 w 3870"/>
                  <a:gd name="T1" fmla="*/ 0 h 1"/>
                  <a:gd name="T2" fmla="*/ 3870 w 3870"/>
                  <a:gd name="T3" fmla="*/ 0 h 1"/>
                  <a:gd name="T4" fmla="*/ 0 60000 65536"/>
                  <a:gd name="T5" fmla="*/ 0 60000 65536"/>
                  <a:gd name="T6" fmla="*/ 0 w 3870"/>
                  <a:gd name="T7" fmla="*/ 0 h 1"/>
                  <a:gd name="T8" fmla="*/ 3870 w 3870"/>
                  <a:gd name="T9" fmla="*/ 1 h 1"/>
                </a:gdLst>
                <a:ahLst/>
                <a:cxnLst>
                  <a:cxn ang="T4">
                    <a:pos x="T0" y="T1"/>
                  </a:cxn>
                  <a:cxn ang="T5">
                    <a:pos x="T2" y="T3"/>
                  </a:cxn>
                </a:cxnLst>
                <a:rect l="T6" t="T7" r="T8" b="T9"/>
                <a:pathLst>
                  <a:path w="3870" h="1">
                    <a:moveTo>
                      <a:pt x="0" y="0"/>
                    </a:moveTo>
                    <a:lnTo>
                      <a:pt x="3870" y="0"/>
                    </a:lnTo>
                  </a:path>
                </a:pathLst>
              </a:custGeom>
              <a:solidFill>
                <a:srgbClr val="FFFFFF"/>
              </a:solidFill>
              <a:ln w="38100">
                <a:solidFill>
                  <a:srgbClr val="FF0000"/>
                </a:solidFill>
                <a:round/>
              </a:ln>
            </p:spPr>
            <p:txBody>
              <a:bodyPr/>
              <a:lstStyle/>
              <a:p>
                <a:endParaRPr lang="zh-CN" altLang="en-US"/>
              </a:p>
            </p:txBody>
          </p:sp>
          <p:sp>
            <p:nvSpPr>
              <p:cNvPr id="50284" name="Rectangle 124"/>
              <p:cNvSpPr>
                <a:spLocks noChangeArrowheads="1"/>
              </p:cNvSpPr>
              <p:nvPr/>
            </p:nvSpPr>
            <p:spPr bwMode="auto">
              <a:xfrm>
                <a:off x="5349" y="1954"/>
                <a:ext cx="220" cy="174"/>
              </a:xfrm>
              <a:prstGeom prst="rect">
                <a:avLst/>
              </a:prstGeom>
              <a:noFill/>
              <a:ln w="38100">
                <a:noFill/>
                <a:miter lim="800000"/>
              </a:ln>
            </p:spPr>
            <p:txBody>
              <a:bodyPr wrap="none" lIns="0" tIns="0" rIns="0" bIns="0">
                <a:spAutoFit/>
              </a:bodyPr>
              <a:lstStyle/>
              <a:p>
                <a:pPr>
                  <a:lnSpc>
                    <a:spcPct val="100000"/>
                  </a:lnSpc>
                  <a:spcBef>
                    <a:spcPct val="0"/>
                  </a:spcBef>
                </a:pPr>
                <a:r>
                  <a:rPr kumimoji="1" lang="en-US" altLang="zh-CN" sz="1800" b="1"/>
                  <a:t>CS</a:t>
                </a:r>
                <a:r>
                  <a:rPr kumimoji="1" lang="en-US" altLang="zh-CN" sz="1800" b="1" baseline="-25000"/>
                  <a:t>3</a:t>
                </a:r>
                <a:endParaRPr kumimoji="1" lang="en-US" altLang="zh-CN" sz="1800" b="1"/>
              </a:p>
            </p:txBody>
          </p:sp>
          <p:sp>
            <p:nvSpPr>
              <p:cNvPr id="50285" name="Freeform 125"/>
              <p:cNvSpPr/>
              <p:nvPr/>
            </p:nvSpPr>
            <p:spPr bwMode="auto">
              <a:xfrm flipV="1">
                <a:off x="5343" y="1936"/>
                <a:ext cx="195" cy="27"/>
              </a:xfrm>
              <a:custGeom>
                <a:avLst/>
                <a:gdLst>
                  <a:gd name="T0" fmla="*/ 0 w 195"/>
                  <a:gd name="T1" fmla="*/ 0 h 1"/>
                  <a:gd name="T2" fmla="*/ 195 w 195"/>
                  <a:gd name="T3" fmla="*/ 0 h 1"/>
                  <a:gd name="T4" fmla="*/ 0 60000 65536"/>
                  <a:gd name="T5" fmla="*/ 0 60000 65536"/>
                  <a:gd name="T6" fmla="*/ 0 w 195"/>
                  <a:gd name="T7" fmla="*/ 0 h 1"/>
                  <a:gd name="T8" fmla="*/ 195 w 195"/>
                  <a:gd name="T9" fmla="*/ 1 h 1"/>
                </a:gdLst>
                <a:ahLst/>
                <a:cxnLst>
                  <a:cxn ang="T4">
                    <a:pos x="T0" y="T1"/>
                  </a:cxn>
                  <a:cxn ang="T5">
                    <a:pos x="T2" y="T3"/>
                  </a:cxn>
                </a:cxnLst>
                <a:rect l="T6" t="T7" r="T8" b="T9"/>
                <a:pathLst>
                  <a:path w="195" h="1">
                    <a:moveTo>
                      <a:pt x="0" y="0"/>
                    </a:moveTo>
                    <a:lnTo>
                      <a:pt x="195" y="0"/>
                    </a:lnTo>
                  </a:path>
                </a:pathLst>
              </a:custGeom>
              <a:noFill/>
              <a:ln w="19050">
                <a:solidFill>
                  <a:schemeClr val="tx1"/>
                </a:solidFill>
                <a:round/>
              </a:ln>
            </p:spPr>
            <p:txBody>
              <a:bodyPr/>
              <a:lstStyle/>
              <a:p>
                <a:endParaRPr lang="zh-CN" altLang="en-US"/>
              </a:p>
            </p:txBody>
          </p:sp>
        </p:grpSp>
      </p:grpSp>
      <p:grpSp>
        <p:nvGrpSpPr>
          <p:cNvPr id="21" name="Group 213"/>
          <p:cNvGrpSpPr/>
          <p:nvPr/>
        </p:nvGrpSpPr>
        <p:grpSpPr bwMode="auto">
          <a:xfrm>
            <a:off x="3184525" y="1792288"/>
            <a:ext cx="574675" cy="615950"/>
            <a:chOff x="1046" y="1465"/>
            <a:chExt cx="362" cy="388"/>
          </a:xfrm>
        </p:grpSpPr>
        <p:sp>
          <p:nvSpPr>
            <p:cNvPr id="50270" name="Rectangle 127"/>
            <p:cNvSpPr>
              <a:spLocks noChangeArrowheads="1"/>
            </p:cNvSpPr>
            <p:nvPr/>
          </p:nvSpPr>
          <p:spPr bwMode="auto">
            <a:xfrm>
              <a:off x="1046" y="1465"/>
              <a:ext cx="298" cy="388"/>
            </a:xfrm>
            <a:prstGeom prst="rect">
              <a:avLst/>
            </a:prstGeom>
            <a:noFill/>
            <a:ln w="38100">
              <a:solidFill>
                <a:srgbClr val="CC3300"/>
              </a:solidFill>
              <a:miter lim="800000"/>
            </a:ln>
          </p:spPr>
          <p:txBody>
            <a:bodyPr/>
            <a:lstStyle/>
            <a:p>
              <a:endParaRPr lang="zh-CN" altLang="en-US"/>
            </a:p>
          </p:txBody>
        </p:sp>
        <p:sp>
          <p:nvSpPr>
            <p:cNvPr id="50271" name="Rectangle 128"/>
            <p:cNvSpPr>
              <a:spLocks noChangeArrowheads="1"/>
            </p:cNvSpPr>
            <p:nvPr/>
          </p:nvSpPr>
          <p:spPr bwMode="auto">
            <a:xfrm>
              <a:off x="1051" y="1469"/>
              <a:ext cx="272" cy="174"/>
            </a:xfrm>
            <a:prstGeom prst="rect">
              <a:avLst/>
            </a:prstGeom>
            <a:noFill/>
            <a:ln w="38100">
              <a:noFill/>
              <a:miter lim="800000"/>
            </a:ln>
          </p:spPr>
          <p:txBody>
            <a:bodyPr wrap="none" lIns="0" tIns="0" rIns="0" bIns="0">
              <a:spAutoFit/>
            </a:bodyPr>
            <a:lstStyle/>
            <a:p>
              <a:pPr>
                <a:lnSpc>
                  <a:spcPct val="100000"/>
                </a:lnSpc>
                <a:spcBef>
                  <a:spcPct val="0"/>
                </a:spcBef>
              </a:pPr>
              <a:r>
                <a:rPr kumimoji="1" lang="zh-CN" altLang="en-US" sz="1800" b="1">
                  <a:solidFill>
                    <a:srgbClr val="FF0000"/>
                  </a:solidFill>
                  <a:latin typeface="宋体" panose="02010600030101010101" pitchFamily="2" charset="-122"/>
                </a:rPr>
                <a:t>片</a:t>
              </a:r>
              <a:r>
                <a:rPr kumimoji="1" lang="zh-CN" altLang="en-US" sz="1600" b="1">
                  <a:solidFill>
                    <a:srgbClr val="FF0000"/>
                  </a:solidFill>
                  <a:latin typeface="宋体" panose="02010600030101010101" pitchFamily="2" charset="-122"/>
                </a:rPr>
                <a:t>选</a:t>
              </a:r>
            </a:p>
          </p:txBody>
        </p:sp>
        <p:sp>
          <p:nvSpPr>
            <p:cNvPr id="50272" name="Rectangle 129"/>
            <p:cNvSpPr>
              <a:spLocks noChangeArrowheads="1"/>
            </p:cNvSpPr>
            <p:nvPr/>
          </p:nvSpPr>
          <p:spPr bwMode="auto">
            <a:xfrm>
              <a:off x="1046" y="1658"/>
              <a:ext cx="272" cy="174"/>
            </a:xfrm>
            <a:prstGeom prst="rect">
              <a:avLst/>
            </a:prstGeom>
            <a:noFill/>
            <a:ln w="38100">
              <a:noFill/>
              <a:miter lim="800000"/>
            </a:ln>
          </p:spPr>
          <p:txBody>
            <a:bodyPr wrap="none" lIns="0" tIns="0" rIns="0" bIns="0">
              <a:spAutoFit/>
            </a:bodyPr>
            <a:lstStyle/>
            <a:p>
              <a:pPr>
                <a:lnSpc>
                  <a:spcPct val="100000"/>
                </a:lnSpc>
                <a:spcBef>
                  <a:spcPct val="0"/>
                </a:spcBef>
              </a:pPr>
              <a:r>
                <a:rPr kumimoji="1" lang="zh-CN" altLang="en-US" sz="1800" b="1">
                  <a:solidFill>
                    <a:srgbClr val="FF0000"/>
                  </a:solidFill>
                  <a:latin typeface="宋体" panose="02010600030101010101" pitchFamily="2" charset="-122"/>
                </a:rPr>
                <a:t>译</a:t>
              </a:r>
              <a:r>
                <a:rPr kumimoji="1" lang="zh-CN" altLang="en-US" sz="1600" b="1">
                  <a:solidFill>
                    <a:srgbClr val="FF0000"/>
                  </a:solidFill>
                  <a:latin typeface="宋体" panose="02010600030101010101" pitchFamily="2" charset="-122"/>
                </a:rPr>
                <a:t>码</a:t>
              </a:r>
            </a:p>
          </p:txBody>
        </p:sp>
        <p:sp>
          <p:nvSpPr>
            <p:cNvPr id="50273" name="Oval 130"/>
            <p:cNvSpPr>
              <a:spLocks noChangeArrowheads="1"/>
            </p:cNvSpPr>
            <p:nvPr/>
          </p:nvSpPr>
          <p:spPr bwMode="auto">
            <a:xfrm>
              <a:off x="1343" y="1487"/>
              <a:ext cx="56" cy="56"/>
            </a:xfrm>
            <a:prstGeom prst="ellipse">
              <a:avLst/>
            </a:prstGeom>
            <a:noFill/>
            <a:ln w="19050">
              <a:solidFill>
                <a:srgbClr val="CC3300"/>
              </a:solidFill>
              <a:round/>
            </a:ln>
          </p:spPr>
          <p:txBody>
            <a:bodyPr wrap="none" anchor="ctr"/>
            <a:lstStyle/>
            <a:p>
              <a:endParaRPr lang="zh-CN" altLang="en-US"/>
            </a:p>
          </p:txBody>
        </p:sp>
        <p:sp>
          <p:nvSpPr>
            <p:cNvPr id="50274" name="Oval 131"/>
            <p:cNvSpPr>
              <a:spLocks noChangeArrowheads="1"/>
            </p:cNvSpPr>
            <p:nvPr/>
          </p:nvSpPr>
          <p:spPr bwMode="auto">
            <a:xfrm>
              <a:off x="1349" y="1568"/>
              <a:ext cx="56" cy="56"/>
            </a:xfrm>
            <a:prstGeom prst="ellipse">
              <a:avLst/>
            </a:prstGeom>
            <a:noFill/>
            <a:ln w="19050">
              <a:solidFill>
                <a:srgbClr val="CC3300"/>
              </a:solidFill>
              <a:round/>
            </a:ln>
          </p:spPr>
          <p:txBody>
            <a:bodyPr wrap="none" anchor="ctr"/>
            <a:lstStyle/>
            <a:p>
              <a:endParaRPr lang="zh-CN" altLang="en-US"/>
            </a:p>
          </p:txBody>
        </p:sp>
        <p:sp>
          <p:nvSpPr>
            <p:cNvPr id="50275" name="Oval 132"/>
            <p:cNvSpPr>
              <a:spLocks noChangeArrowheads="1"/>
            </p:cNvSpPr>
            <p:nvPr/>
          </p:nvSpPr>
          <p:spPr bwMode="auto">
            <a:xfrm>
              <a:off x="1349" y="1661"/>
              <a:ext cx="56" cy="56"/>
            </a:xfrm>
            <a:prstGeom prst="ellipse">
              <a:avLst/>
            </a:prstGeom>
            <a:noFill/>
            <a:ln w="19050">
              <a:solidFill>
                <a:srgbClr val="CC3300"/>
              </a:solidFill>
              <a:round/>
            </a:ln>
          </p:spPr>
          <p:txBody>
            <a:bodyPr wrap="none" anchor="ctr"/>
            <a:lstStyle/>
            <a:p>
              <a:endParaRPr lang="zh-CN" altLang="en-US"/>
            </a:p>
          </p:txBody>
        </p:sp>
        <p:sp>
          <p:nvSpPr>
            <p:cNvPr id="50276" name="Oval 133"/>
            <p:cNvSpPr>
              <a:spLocks noChangeArrowheads="1"/>
            </p:cNvSpPr>
            <p:nvPr/>
          </p:nvSpPr>
          <p:spPr bwMode="auto">
            <a:xfrm>
              <a:off x="1352" y="1745"/>
              <a:ext cx="56" cy="56"/>
            </a:xfrm>
            <a:prstGeom prst="ellipse">
              <a:avLst/>
            </a:prstGeom>
            <a:noFill/>
            <a:ln w="19050">
              <a:solidFill>
                <a:srgbClr val="CC3300"/>
              </a:solidFill>
              <a:round/>
            </a:ln>
          </p:spPr>
          <p:txBody>
            <a:bodyPr wrap="none" anchor="ctr"/>
            <a:lstStyle/>
            <a:p>
              <a:endParaRPr lang="zh-CN" altLang="en-US"/>
            </a:p>
          </p:txBody>
        </p:sp>
      </p:grpSp>
      <p:grpSp>
        <p:nvGrpSpPr>
          <p:cNvPr id="22" name="Group 134"/>
          <p:cNvGrpSpPr/>
          <p:nvPr/>
        </p:nvGrpSpPr>
        <p:grpSpPr bwMode="auto">
          <a:xfrm>
            <a:off x="2628900" y="2605088"/>
            <a:ext cx="6994525" cy="947737"/>
            <a:chOff x="750" y="2163"/>
            <a:chExt cx="4406" cy="597"/>
          </a:xfrm>
        </p:grpSpPr>
        <p:grpSp>
          <p:nvGrpSpPr>
            <p:cNvPr id="50230" name="Group 135"/>
            <p:cNvGrpSpPr/>
            <p:nvPr/>
          </p:nvGrpSpPr>
          <p:grpSpPr bwMode="auto">
            <a:xfrm>
              <a:off x="750" y="2169"/>
              <a:ext cx="307" cy="586"/>
              <a:chOff x="750" y="2169"/>
              <a:chExt cx="307" cy="586"/>
            </a:xfrm>
          </p:grpSpPr>
          <p:sp>
            <p:nvSpPr>
              <p:cNvPr id="50266" name="Line 136"/>
              <p:cNvSpPr>
                <a:spLocks noChangeShapeType="1"/>
              </p:cNvSpPr>
              <p:nvPr/>
            </p:nvSpPr>
            <p:spPr bwMode="auto">
              <a:xfrm flipV="1">
                <a:off x="834" y="2254"/>
                <a:ext cx="1" cy="493"/>
              </a:xfrm>
              <a:prstGeom prst="line">
                <a:avLst/>
              </a:prstGeom>
              <a:noFill/>
              <a:ln w="38100">
                <a:solidFill>
                  <a:schemeClr val="tx1"/>
                </a:solidFill>
                <a:round/>
                <a:tailEnd type="oval" w="sm" len="sm"/>
              </a:ln>
            </p:spPr>
            <p:txBody>
              <a:bodyPr/>
              <a:lstStyle/>
              <a:p>
                <a:endParaRPr lang="zh-CN" altLang="en-US"/>
              </a:p>
            </p:txBody>
          </p:sp>
          <p:sp>
            <p:nvSpPr>
              <p:cNvPr id="50267" name="Line 137"/>
              <p:cNvSpPr>
                <a:spLocks noChangeShapeType="1"/>
              </p:cNvSpPr>
              <p:nvPr/>
            </p:nvSpPr>
            <p:spPr bwMode="auto">
              <a:xfrm flipV="1">
                <a:off x="750" y="2169"/>
                <a:ext cx="1" cy="572"/>
              </a:xfrm>
              <a:prstGeom prst="line">
                <a:avLst/>
              </a:prstGeom>
              <a:noFill/>
              <a:ln w="38100">
                <a:solidFill>
                  <a:schemeClr val="tx1"/>
                </a:solidFill>
                <a:round/>
                <a:tailEnd type="oval" w="sm" len="sm"/>
              </a:ln>
            </p:spPr>
            <p:txBody>
              <a:bodyPr/>
              <a:lstStyle/>
              <a:p>
                <a:endParaRPr lang="zh-CN" altLang="en-US"/>
              </a:p>
            </p:txBody>
          </p:sp>
          <p:sp>
            <p:nvSpPr>
              <p:cNvPr id="50268" name="Line 138"/>
              <p:cNvSpPr>
                <a:spLocks noChangeShapeType="1"/>
              </p:cNvSpPr>
              <p:nvPr/>
            </p:nvSpPr>
            <p:spPr bwMode="auto">
              <a:xfrm flipV="1">
                <a:off x="1056" y="2546"/>
                <a:ext cx="1" cy="209"/>
              </a:xfrm>
              <a:prstGeom prst="line">
                <a:avLst/>
              </a:prstGeom>
              <a:noFill/>
              <a:ln w="38100">
                <a:solidFill>
                  <a:schemeClr val="tx1"/>
                </a:solidFill>
                <a:round/>
                <a:tailEnd type="oval" w="sm" len="sm"/>
              </a:ln>
            </p:spPr>
            <p:txBody>
              <a:bodyPr/>
              <a:lstStyle/>
              <a:p>
                <a:endParaRPr lang="zh-CN" altLang="en-US"/>
              </a:p>
            </p:txBody>
          </p:sp>
          <p:sp>
            <p:nvSpPr>
              <p:cNvPr id="50269" name="Text Box 139"/>
              <p:cNvSpPr txBox="1">
                <a:spLocks noChangeArrowheads="1"/>
              </p:cNvSpPr>
              <p:nvPr/>
            </p:nvSpPr>
            <p:spPr bwMode="auto">
              <a:xfrm>
                <a:off x="832"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nvGrpSpPr>
            <p:cNvPr id="50231" name="Group 140"/>
            <p:cNvGrpSpPr/>
            <p:nvPr/>
          </p:nvGrpSpPr>
          <p:grpSpPr bwMode="auto">
            <a:xfrm>
              <a:off x="1340" y="2174"/>
              <a:ext cx="307" cy="586"/>
              <a:chOff x="1340" y="2174"/>
              <a:chExt cx="307" cy="586"/>
            </a:xfrm>
          </p:grpSpPr>
          <p:sp>
            <p:nvSpPr>
              <p:cNvPr id="50262" name="Line 141"/>
              <p:cNvSpPr>
                <a:spLocks noChangeShapeType="1"/>
              </p:cNvSpPr>
              <p:nvPr/>
            </p:nvSpPr>
            <p:spPr bwMode="auto">
              <a:xfrm flipV="1">
                <a:off x="1424" y="2259"/>
                <a:ext cx="1" cy="493"/>
              </a:xfrm>
              <a:prstGeom prst="line">
                <a:avLst/>
              </a:prstGeom>
              <a:noFill/>
              <a:ln w="38100">
                <a:solidFill>
                  <a:schemeClr val="tx1"/>
                </a:solidFill>
                <a:round/>
                <a:tailEnd type="oval" w="sm" len="sm"/>
              </a:ln>
            </p:spPr>
            <p:txBody>
              <a:bodyPr/>
              <a:lstStyle/>
              <a:p>
                <a:endParaRPr lang="zh-CN" altLang="en-US"/>
              </a:p>
            </p:txBody>
          </p:sp>
          <p:sp>
            <p:nvSpPr>
              <p:cNvPr id="50263" name="Line 142"/>
              <p:cNvSpPr>
                <a:spLocks noChangeShapeType="1"/>
              </p:cNvSpPr>
              <p:nvPr/>
            </p:nvSpPr>
            <p:spPr bwMode="auto">
              <a:xfrm flipV="1">
                <a:off x="1340" y="2174"/>
                <a:ext cx="1" cy="572"/>
              </a:xfrm>
              <a:prstGeom prst="line">
                <a:avLst/>
              </a:prstGeom>
              <a:noFill/>
              <a:ln w="38100">
                <a:solidFill>
                  <a:schemeClr val="tx1"/>
                </a:solidFill>
                <a:round/>
                <a:tailEnd type="oval" w="sm" len="sm"/>
              </a:ln>
            </p:spPr>
            <p:txBody>
              <a:bodyPr/>
              <a:lstStyle/>
              <a:p>
                <a:endParaRPr lang="zh-CN" altLang="en-US"/>
              </a:p>
            </p:txBody>
          </p:sp>
          <p:sp>
            <p:nvSpPr>
              <p:cNvPr id="50264" name="Line 143"/>
              <p:cNvSpPr>
                <a:spLocks noChangeShapeType="1"/>
              </p:cNvSpPr>
              <p:nvPr/>
            </p:nvSpPr>
            <p:spPr bwMode="auto">
              <a:xfrm flipV="1">
                <a:off x="1646" y="2551"/>
                <a:ext cx="1" cy="209"/>
              </a:xfrm>
              <a:prstGeom prst="line">
                <a:avLst/>
              </a:prstGeom>
              <a:noFill/>
              <a:ln w="38100">
                <a:solidFill>
                  <a:schemeClr val="tx1"/>
                </a:solidFill>
                <a:round/>
                <a:tailEnd type="oval" w="sm" len="sm"/>
              </a:ln>
            </p:spPr>
            <p:txBody>
              <a:bodyPr/>
              <a:lstStyle/>
              <a:p>
                <a:endParaRPr lang="zh-CN" altLang="en-US"/>
              </a:p>
            </p:txBody>
          </p:sp>
          <p:sp>
            <p:nvSpPr>
              <p:cNvPr id="50265" name="Text Box 144"/>
              <p:cNvSpPr txBox="1">
                <a:spLocks noChangeArrowheads="1"/>
              </p:cNvSpPr>
              <p:nvPr/>
            </p:nvSpPr>
            <p:spPr bwMode="auto">
              <a:xfrm>
                <a:off x="1420"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nvGrpSpPr>
            <p:cNvPr id="50232" name="Group 145"/>
            <p:cNvGrpSpPr/>
            <p:nvPr/>
          </p:nvGrpSpPr>
          <p:grpSpPr bwMode="auto">
            <a:xfrm>
              <a:off x="1917" y="2166"/>
              <a:ext cx="307" cy="586"/>
              <a:chOff x="1917" y="2166"/>
              <a:chExt cx="307" cy="586"/>
            </a:xfrm>
          </p:grpSpPr>
          <p:sp>
            <p:nvSpPr>
              <p:cNvPr id="50258" name="Line 146"/>
              <p:cNvSpPr>
                <a:spLocks noChangeShapeType="1"/>
              </p:cNvSpPr>
              <p:nvPr/>
            </p:nvSpPr>
            <p:spPr bwMode="auto">
              <a:xfrm flipV="1">
                <a:off x="2001" y="2251"/>
                <a:ext cx="1" cy="493"/>
              </a:xfrm>
              <a:prstGeom prst="line">
                <a:avLst/>
              </a:prstGeom>
              <a:noFill/>
              <a:ln w="38100">
                <a:solidFill>
                  <a:schemeClr val="tx1"/>
                </a:solidFill>
                <a:round/>
                <a:tailEnd type="oval" w="sm" len="sm"/>
              </a:ln>
            </p:spPr>
            <p:txBody>
              <a:bodyPr/>
              <a:lstStyle/>
              <a:p>
                <a:endParaRPr lang="zh-CN" altLang="en-US"/>
              </a:p>
            </p:txBody>
          </p:sp>
          <p:sp>
            <p:nvSpPr>
              <p:cNvPr id="50259" name="Line 147"/>
              <p:cNvSpPr>
                <a:spLocks noChangeShapeType="1"/>
              </p:cNvSpPr>
              <p:nvPr/>
            </p:nvSpPr>
            <p:spPr bwMode="auto">
              <a:xfrm flipV="1">
                <a:off x="1917" y="2166"/>
                <a:ext cx="1" cy="572"/>
              </a:xfrm>
              <a:prstGeom prst="line">
                <a:avLst/>
              </a:prstGeom>
              <a:noFill/>
              <a:ln w="38100">
                <a:solidFill>
                  <a:schemeClr val="tx1"/>
                </a:solidFill>
                <a:round/>
                <a:tailEnd type="oval" w="sm" len="sm"/>
              </a:ln>
            </p:spPr>
            <p:txBody>
              <a:bodyPr/>
              <a:lstStyle/>
              <a:p>
                <a:endParaRPr lang="zh-CN" altLang="en-US"/>
              </a:p>
            </p:txBody>
          </p:sp>
          <p:sp>
            <p:nvSpPr>
              <p:cNvPr id="50260" name="Line 148"/>
              <p:cNvSpPr>
                <a:spLocks noChangeShapeType="1"/>
              </p:cNvSpPr>
              <p:nvPr/>
            </p:nvSpPr>
            <p:spPr bwMode="auto">
              <a:xfrm flipV="1">
                <a:off x="2223" y="2543"/>
                <a:ext cx="1" cy="209"/>
              </a:xfrm>
              <a:prstGeom prst="line">
                <a:avLst/>
              </a:prstGeom>
              <a:noFill/>
              <a:ln w="38100">
                <a:solidFill>
                  <a:schemeClr val="tx1"/>
                </a:solidFill>
                <a:round/>
                <a:tailEnd type="oval" w="sm" len="sm"/>
              </a:ln>
            </p:spPr>
            <p:txBody>
              <a:bodyPr/>
              <a:lstStyle/>
              <a:p>
                <a:endParaRPr lang="zh-CN" altLang="en-US"/>
              </a:p>
            </p:txBody>
          </p:sp>
          <p:sp>
            <p:nvSpPr>
              <p:cNvPr id="50261" name="Text Box 149"/>
              <p:cNvSpPr txBox="1">
                <a:spLocks noChangeArrowheads="1"/>
              </p:cNvSpPr>
              <p:nvPr/>
            </p:nvSpPr>
            <p:spPr bwMode="auto">
              <a:xfrm>
                <a:off x="1996"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nvGrpSpPr>
            <p:cNvPr id="50233" name="Group 150"/>
            <p:cNvGrpSpPr/>
            <p:nvPr/>
          </p:nvGrpSpPr>
          <p:grpSpPr bwMode="auto">
            <a:xfrm>
              <a:off x="2481" y="2171"/>
              <a:ext cx="307" cy="586"/>
              <a:chOff x="2481" y="2171"/>
              <a:chExt cx="307" cy="586"/>
            </a:xfrm>
          </p:grpSpPr>
          <p:sp>
            <p:nvSpPr>
              <p:cNvPr id="50254" name="Line 151"/>
              <p:cNvSpPr>
                <a:spLocks noChangeShapeType="1"/>
              </p:cNvSpPr>
              <p:nvPr/>
            </p:nvSpPr>
            <p:spPr bwMode="auto">
              <a:xfrm flipV="1">
                <a:off x="2565" y="2256"/>
                <a:ext cx="1" cy="493"/>
              </a:xfrm>
              <a:prstGeom prst="line">
                <a:avLst/>
              </a:prstGeom>
              <a:noFill/>
              <a:ln w="38100">
                <a:solidFill>
                  <a:schemeClr val="tx1"/>
                </a:solidFill>
                <a:round/>
                <a:tailEnd type="oval" w="sm" len="sm"/>
              </a:ln>
            </p:spPr>
            <p:txBody>
              <a:bodyPr/>
              <a:lstStyle/>
              <a:p>
                <a:endParaRPr lang="zh-CN" altLang="en-US"/>
              </a:p>
            </p:txBody>
          </p:sp>
          <p:sp>
            <p:nvSpPr>
              <p:cNvPr id="50255" name="Line 152"/>
              <p:cNvSpPr>
                <a:spLocks noChangeShapeType="1"/>
              </p:cNvSpPr>
              <p:nvPr/>
            </p:nvSpPr>
            <p:spPr bwMode="auto">
              <a:xfrm flipV="1">
                <a:off x="2481" y="2171"/>
                <a:ext cx="1" cy="572"/>
              </a:xfrm>
              <a:prstGeom prst="line">
                <a:avLst/>
              </a:prstGeom>
              <a:noFill/>
              <a:ln w="38100">
                <a:solidFill>
                  <a:schemeClr val="tx1"/>
                </a:solidFill>
                <a:round/>
                <a:tailEnd type="oval" w="sm" len="sm"/>
              </a:ln>
            </p:spPr>
            <p:txBody>
              <a:bodyPr/>
              <a:lstStyle/>
              <a:p>
                <a:endParaRPr lang="zh-CN" altLang="en-US"/>
              </a:p>
            </p:txBody>
          </p:sp>
          <p:sp>
            <p:nvSpPr>
              <p:cNvPr id="50256" name="Line 153"/>
              <p:cNvSpPr>
                <a:spLocks noChangeShapeType="1"/>
              </p:cNvSpPr>
              <p:nvPr/>
            </p:nvSpPr>
            <p:spPr bwMode="auto">
              <a:xfrm flipV="1">
                <a:off x="2787" y="2548"/>
                <a:ext cx="1" cy="209"/>
              </a:xfrm>
              <a:prstGeom prst="line">
                <a:avLst/>
              </a:prstGeom>
              <a:noFill/>
              <a:ln w="38100">
                <a:solidFill>
                  <a:schemeClr val="tx1"/>
                </a:solidFill>
                <a:round/>
                <a:tailEnd type="oval" w="sm" len="sm"/>
              </a:ln>
            </p:spPr>
            <p:txBody>
              <a:bodyPr/>
              <a:lstStyle/>
              <a:p>
                <a:endParaRPr lang="zh-CN" altLang="en-US"/>
              </a:p>
            </p:txBody>
          </p:sp>
          <p:sp>
            <p:nvSpPr>
              <p:cNvPr id="50257" name="Text Box 154"/>
              <p:cNvSpPr txBox="1">
                <a:spLocks noChangeArrowheads="1"/>
              </p:cNvSpPr>
              <p:nvPr/>
            </p:nvSpPr>
            <p:spPr bwMode="auto">
              <a:xfrm>
                <a:off x="2568"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nvGrpSpPr>
            <p:cNvPr id="50234" name="Group 155"/>
            <p:cNvGrpSpPr/>
            <p:nvPr/>
          </p:nvGrpSpPr>
          <p:grpSpPr bwMode="auto">
            <a:xfrm>
              <a:off x="3093" y="2178"/>
              <a:ext cx="306" cy="579"/>
              <a:chOff x="3093" y="2178"/>
              <a:chExt cx="306" cy="579"/>
            </a:xfrm>
          </p:grpSpPr>
          <p:sp>
            <p:nvSpPr>
              <p:cNvPr id="50250" name="Line 156"/>
              <p:cNvSpPr>
                <a:spLocks noChangeShapeType="1"/>
              </p:cNvSpPr>
              <p:nvPr/>
            </p:nvSpPr>
            <p:spPr bwMode="auto">
              <a:xfrm flipV="1">
                <a:off x="3176" y="2256"/>
                <a:ext cx="1" cy="493"/>
              </a:xfrm>
              <a:prstGeom prst="line">
                <a:avLst/>
              </a:prstGeom>
              <a:noFill/>
              <a:ln w="38100">
                <a:solidFill>
                  <a:schemeClr val="tx1"/>
                </a:solidFill>
                <a:round/>
                <a:tailEnd type="oval" w="sm" len="sm"/>
              </a:ln>
            </p:spPr>
            <p:txBody>
              <a:bodyPr/>
              <a:lstStyle/>
              <a:p>
                <a:endParaRPr lang="zh-CN" altLang="en-US"/>
              </a:p>
            </p:txBody>
          </p:sp>
          <p:sp>
            <p:nvSpPr>
              <p:cNvPr id="50251" name="Freeform 157"/>
              <p:cNvSpPr/>
              <p:nvPr/>
            </p:nvSpPr>
            <p:spPr bwMode="auto">
              <a:xfrm>
                <a:off x="3093" y="2178"/>
                <a:ext cx="1" cy="561"/>
              </a:xfrm>
              <a:custGeom>
                <a:avLst/>
                <a:gdLst>
                  <a:gd name="T0" fmla="*/ 0 w 1"/>
                  <a:gd name="T1" fmla="*/ 561 h 561"/>
                  <a:gd name="T2" fmla="*/ 0 w 1"/>
                  <a:gd name="T3" fmla="*/ 0 h 561"/>
                  <a:gd name="T4" fmla="*/ 0 60000 65536"/>
                  <a:gd name="T5" fmla="*/ 0 60000 65536"/>
                  <a:gd name="T6" fmla="*/ 0 w 1"/>
                  <a:gd name="T7" fmla="*/ 0 h 561"/>
                  <a:gd name="T8" fmla="*/ 1 w 1"/>
                  <a:gd name="T9" fmla="*/ 561 h 561"/>
                </a:gdLst>
                <a:ahLst/>
                <a:cxnLst>
                  <a:cxn ang="T4">
                    <a:pos x="T0" y="T1"/>
                  </a:cxn>
                  <a:cxn ang="T5">
                    <a:pos x="T2" y="T3"/>
                  </a:cxn>
                </a:cxnLst>
                <a:rect l="T6" t="T7" r="T8" b="T9"/>
                <a:pathLst>
                  <a:path w="1" h="561">
                    <a:moveTo>
                      <a:pt x="0" y="561"/>
                    </a:moveTo>
                    <a:lnTo>
                      <a:pt x="0" y="0"/>
                    </a:lnTo>
                  </a:path>
                </a:pathLst>
              </a:custGeom>
              <a:solidFill>
                <a:srgbClr val="FFFFFF"/>
              </a:solidFill>
              <a:ln w="38100">
                <a:solidFill>
                  <a:schemeClr val="tx1"/>
                </a:solidFill>
                <a:round/>
                <a:tailEnd type="oval" w="sm" len="sm"/>
              </a:ln>
            </p:spPr>
            <p:txBody>
              <a:bodyPr/>
              <a:lstStyle/>
              <a:p>
                <a:endParaRPr lang="zh-CN" altLang="en-US"/>
              </a:p>
            </p:txBody>
          </p:sp>
          <p:sp>
            <p:nvSpPr>
              <p:cNvPr id="50252" name="Line 158"/>
              <p:cNvSpPr>
                <a:spLocks noChangeShapeType="1"/>
              </p:cNvSpPr>
              <p:nvPr/>
            </p:nvSpPr>
            <p:spPr bwMode="auto">
              <a:xfrm flipV="1">
                <a:off x="3398" y="2548"/>
                <a:ext cx="1" cy="209"/>
              </a:xfrm>
              <a:prstGeom prst="line">
                <a:avLst/>
              </a:prstGeom>
              <a:noFill/>
              <a:ln w="38100">
                <a:solidFill>
                  <a:schemeClr val="tx1"/>
                </a:solidFill>
                <a:round/>
                <a:tailEnd type="oval" w="sm" len="sm"/>
              </a:ln>
            </p:spPr>
            <p:txBody>
              <a:bodyPr/>
              <a:lstStyle/>
              <a:p>
                <a:endParaRPr lang="zh-CN" altLang="en-US"/>
              </a:p>
            </p:txBody>
          </p:sp>
          <p:sp>
            <p:nvSpPr>
              <p:cNvPr id="50253" name="Text Box 159"/>
              <p:cNvSpPr txBox="1">
                <a:spLocks noChangeArrowheads="1"/>
              </p:cNvSpPr>
              <p:nvPr/>
            </p:nvSpPr>
            <p:spPr bwMode="auto">
              <a:xfrm>
                <a:off x="3168"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nvGrpSpPr>
            <p:cNvPr id="50235" name="Group 160"/>
            <p:cNvGrpSpPr/>
            <p:nvPr/>
          </p:nvGrpSpPr>
          <p:grpSpPr bwMode="auto">
            <a:xfrm>
              <a:off x="3695" y="2163"/>
              <a:ext cx="307" cy="586"/>
              <a:chOff x="3695" y="2163"/>
              <a:chExt cx="307" cy="586"/>
            </a:xfrm>
          </p:grpSpPr>
          <p:sp>
            <p:nvSpPr>
              <p:cNvPr id="50246" name="Line 161"/>
              <p:cNvSpPr>
                <a:spLocks noChangeShapeType="1"/>
              </p:cNvSpPr>
              <p:nvPr/>
            </p:nvSpPr>
            <p:spPr bwMode="auto">
              <a:xfrm flipV="1">
                <a:off x="3779" y="2248"/>
                <a:ext cx="1" cy="493"/>
              </a:xfrm>
              <a:prstGeom prst="line">
                <a:avLst/>
              </a:prstGeom>
              <a:noFill/>
              <a:ln w="38100">
                <a:solidFill>
                  <a:schemeClr val="tx1"/>
                </a:solidFill>
                <a:round/>
                <a:tailEnd type="oval" w="sm" len="sm"/>
              </a:ln>
            </p:spPr>
            <p:txBody>
              <a:bodyPr/>
              <a:lstStyle/>
              <a:p>
                <a:endParaRPr lang="zh-CN" altLang="en-US"/>
              </a:p>
            </p:txBody>
          </p:sp>
          <p:sp>
            <p:nvSpPr>
              <p:cNvPr id="50247" name="Line 162"/>
              <p:cNvSpPr>
                <a:spLocks noChangeShapeType="1"/>
              </p:cNvSpPr>
              <p:nvPr/>
            </p:nvSpPr>
            <p:spPr bwMode="auto">
              <a:xfrm flipV="1">
                <a:off x="3695" y="2163"/>
                <a:ext cx="1" cy="572"/>
              </a:xfrm>
              <a:prstGeom prst="line">
                <a:avLst/>
              </a:prstGeom>
              <a:noFill/>
              <a:ln w="38100">
                <a:solidFill>
                  <a:schemeClr val="tx1"/>
                </a:solidFill>
                <a:round/>
                <a:tailEnd type="oval" w="sm" len="sm"/>
              </a:ln>
            </p:spPr>
            <p:txBody>
              <a:bodyPr/>
              <a:lstStyle/>
              <a:p>
                <a:endParaRPr lang="zh-CN" altLang="en-US"/>
              </a:p>
            </p:txBody>
          </p:sp>
          <p:sp>
            <p:nvSpPr>
              <p:cNvPr id="50248" name="Line 163"/>
              <p:cNvSpPr>
                <a:spLocks noChangeShapeType="1"/>
              </p:cNvSpPr>
              <p:nvPr/>
            </p:nvSpPr>
            <p:spPr bwMode="auto">
              <a:xfrm flipV="1">
                <a:off x="4001" y="2540"/>
                <a:ext cx="1" cy="209"/>
              </a:xfrm>
              <a:prstGeom prst="line">
                <a:avLst/>
              </a:prstGeom>
              <a:noFill/>
              <a:ln w="38100">
                <a:solidFill>
                  <a:schemeClr val="tx1"/>
                </a:solidFill>
                <a:round/>
                <a:tailEnd type="oval" w="sm" len="sm"/>
              </a:ln>
            </p:spPr>
            <p:txBody>
              <a:bodyPr/>
              <a:lstStyle/>
              <a:p>
                <a:endParaRPr lang="zh-CN" altLang="en-US"/>
              </a:p>
            </p:txBody>
          </p:sp>
          <p:sp>
            <p:nvSpPr>
              <p:cNvPr id="50249" name="Text Box 164"/>
              <p:cNvSpPr txBox="1">
                <a:spLocks noChangeArrowheads="1"/>
              </p:cNvSpPr>
              <p:nvPr/>
            </p:nvSpPr>
            <p:spPr bwMode="auto">
              <a:xfrm>
                <a:off x="3772"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nvGrpSpPr>
            <p:cNvPr id="50236" name="Group 165"/>
            <p:cNvGrpSpPr/>
            <p:nvPr/>
          </p:nvGrpSpPr>
          <p:grpSpPr bwMode="auto">
            <a:xfrm>
              <a:off x="4246" y="2168"/>
              <a:ext cx="307" cy="586"/>
              <a:chOff x="4246" y="2168"/>
              <a:chExt cx="307" cy="586"/>
            </a:xfrm>
          </p:grpSpPr>
          <p:sp>
            <p:nvSpPr>
              <p:cNvPr id="50242" name="Freeform 166"/>
              <p:cNvSpPr/>
              <p:nvPr/>
            </p:nvSpPr>
            <p:spPr bwMode="auto">
              <a:xfrm>
                <a:off x="4326" y="2250"/>
                <a:ext cx="4" cy="497"/>
              </a:xfrm>
              <a:custGeom>
                <a:avLst/>
                <a:gdLst>
                  <a:gd name="T0" fmla="*/ 4 w 4"/>
                  <a:gd name="T1" fmla="*/ 497 h 497"/>
                  <a:gd name="T2" fmla="*/ 0 w 4"/>
                  <a:gd name="T3" fmla="*/ 0 h 497"/>
                  <a:gd name="T4" fmla="*/ 0 60000 65536"/>
                  <a:gd name="T5" fmla="*/ 0 60000 65536"/>
                  <a:gd name="T6" fmla="*/ 0 w 4"/>
                  <a:gd name="T7" fmla="*/ 0 h 497"/>
                  <a:gd name="T8" fmla="*/ 4 w 4"/>
                  <a:gd name="T9" fmla="*/ 497 h 497"/>
                </a:gdLst>
                <a:ahLst/>
                <a:cxnLst>
                  <a:cxn ang="T4">
                    <a:pos x="T0" y="T1"/>
                  </a:cxn>
                  <a:cxn ang="T5">
                    <a:pos x="T2" y="T3"/>
                  </a:cxn>
                </a:cxnLst>
                <a:rect l="T6" t="T7" r="T8" b="T9"/>
                <a:pathLst>
                  <a:path w="4" h="497">
                    <a:moveTo>
                      <a:pt x="4" y="497"/>
                    </a:moveTo>
                    <a:lnTo>
                      <a:pt x="0" y="0"/>
                    </a:lnTo>
                  </a:path>
                </a:pathLst>
              </a:custGeom>
              <a:solidFill>
                <a:srgbClr val="FFFFFF"/>
              </a:solidFill>
              <a:ln w="38100">
                <a:solidFill>
                  <a:schemeClr val="tx1"/>
                </a:solidFill>
                <a:round/>
                <a:tailEnd type="oval" w="sm" len="sm"/>
              </a:ln>
            </p:spPr>
            <p:txBody>
              <a:bodyPr/>
              <a:lstStyle/>
              <a:p>
                <a:endParaRPr lang="zh-CN" altLang="en-US"/>
              </a:p>
            </p:txBody>
          </p:sp>
          <p:sp>
            <p:nvSpPr>
              <p:cNvPr id="50243" name="Line 167"/>
              <p:cNvSpPr>
                <a:spLocks noChangeShapeType="1"/>
              </p:cNvSpPr>
              <p:nvPr/>
            </p:nvSpPr>
            <p:spPr bwMode="auto">
              <a:xfrm flipV="1">
                <a:off x="4246" y="2168"/>
                <a:ext cx="1" cy="572"/>
              </a:xfrm>
              <a:prstGeom prst="line">
                <a:avLst/>
              </a:prstGeom>
              <a:noFill/>
              <a:ln w="38100">
                <a:solidFill>
                  <a:schemeClr val="tx1"/>
                </a:solidFill>
                <a:round/>
                <a:tailEnd type="oval" w="sm" len="sm"/>
              </a:ln>
            </p:spPr>
            <p:txBody>
              <a:bodyPr/>
              <a:lstStyle/>
              <a:p>
                <a:endParaRPr lang="zh-CN" altLang="en-US"/>
              </a:p>
            </p:txBody>
          </p:sp>
          <p:sp>
            <p:nvSpPr>
              <p:cNvPr id="50244" name="Line 168"/>
              <p:cNvSpPr>
                <a:spLocks noChangeShapeType="1"/>
              </p:cNvSpPr>
              <p:nvPr/>
            </p:nvSpPr>
            <p:spPr bwMode="auto">
              <a:xfrm flipV="1">
                <a:off x="4552" y="2545"/>
                <a:ext cx="1" cy="209"/>
              </a:xfrm>
              <a:prstGeom prst="line">
                <a:avLst/>
              </a:prstGeom>
              <a:noFill/>
              <a:ln w="38100">
                <a:solidFill>
                  <a:schemeClr val="tx1"/>
                </a:solidFill>
                <a:round/>
                <a:tailEnd type="oval" w="sm" len="sm"/>
              </a:ln>
            </p:spPr>
            <p:txBody>
              <a:bodyPr/>
              <a:lstStyle/>
              <a:p>
                <a:endParaRPr lang="zh-CN" altLang="en-US"/>
              </a:p>
            </p:txBody>
          </p:sp>
          <p:sp>
            <p:nvSpPr>
              <p:cNvPr id="50245" name="Text Box 169"/>
              <p:cNvSpPr txBox="1">
                <a:spLocks noChangeArrowheads="1"/>
              </p:cNvSpPr>
              <p:nvPr/>
            </p:nvSpPr>
            <p:spPr bwMode="auto">
              <a:xfrm>
                <a:off x="4320"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nvGrpSpPr>
            <p:cNvPr id="50237" name="Group 170"/>
            <p:cNvGrpSpPr/>
            <p:nvPr/>
          </p:nvGrpSpPr>
          <p:grpSpPr bwMode="auto">
            <a:xfrm>
              <a:off x="4845" y="2175"/>
              <a:ext cx="311" cy="584"/>
              <a:chOff x="4845" y="2175"/>
              <a:chExt cx="311" cy="584"/>
            </a:xfrm>
          </p:grpSpPr>
          <p:sp>
            <p:nvSpPr>
              <p:cNvPr id="50238" name="Line 171"/>
              <p:cNvSpPr>
                <a:spLocks noChangeShapeType="1"/>
              </p:cNvSpPr>
              <p:nvPr/>
            </p:nvSpPr>
            <p:spPr bwMode="auto">
              <a:xfrm flipV="1">
                <a:off x="4933" y="2258"/>
                <a:ext cx="1" cy="493"/>
              </a:xfrm>
              <a:prstGeom prst="line">
                <a:avLst/>
              </a:prstGeom>
              <a:noFill/>
              <a:ln w="38100">
                <a:solidFill>
                  <a:schemeClr val="tx1"/>
                </a:solidFill>
                <a:round/>
                <a:tailEnd type="oval" w="sm" len="sm"/>
              </a:ln>
            </p:spPr>
            <p:txBody>
              <a:bodyPr/>
              <a:lstStyle/>
              <a:p>
                <a:endParaRPr lang="zh-CN" altLang="en-US"/>
              </a:p>
            </p:txBody>
          </p:sp>
          <p:sp>
            <p:nvSpPr>
              <p:cNvPr id="50239" name="Freeform 172"/>
              <p:cNvSpPr/>
              <p:nvPr/>
            </p:nvSpPr>
            <p:spPr bwMode="auto">
              <a:xfrm>
                <a:off x="4845" y="2175"/>
                <a:ext cx="4" cy="570"/>
              </a:xfrm>
              <a:custGeom>
                <a:avLst/>
                <a:gdLst>
                  <a:gd name="T0" fmla="*/ 4 w 4"/>
                  <a:gd name="T1" fmla="*/ 570 h 570"/>
                  <a:gd name="T2" fmla="*/ 0 w 4"/>
                  <a:gd name="T3" fmla="*/ 0 h 570"/>
                  <a:gd name="T4" fmla="*/ 0 60000 65536"/>
                  <a:gd name="T5" fmla="*/ 0 60000 65536"/>
                  <a:gd name="T6" fmla="*/ 0 w 4"/>
                  <a:gd name="T7" fmla="*/ 0 h 570"/>
                  <a:gd name="T8" fmla="*/ 4 w 4"/>
                  <a:gd name="T9" fmla="*/ 570 h 570"/>
                </a:gdLst>
                <a:ahLst/>
                <a:cxnLst>
                  <a:cxn ang="T4">
                    <a:pos x="T0" y="T1"/>
                  </a:cxn>
                  <a:cxn ang="T5">
                    <a:pos x="T2" y="T3"/>
                  </a:cxn>
                </a:cxnLst>
                <a:rect l="T6" t="T7" r="T8" b="T9"/>
                <a:pathLst>
                  <a:path w="4" h="570">
                    <a:moveTo>
                      <a:pt x="4" y="570"/>
                    </a:moveTo>
                    <a:lnTo>
                      <a:pt x="0" y="0"/>
                    </a:lnTo>
                  </a:path>
                </a:pathLst>
              </a:custGeom>
              <a:solidFill>
                <a:srgbClr val="FFFFFF"/>
              </a:solidFill>
              <a:ln w="38100">
                <a:solidFill>
                  <a:schemeClr val="tx1"/>
                </a:solidFill>
                <a:round/>
                <a:tailEnd type="oval" w="sm" len="sm"/>
              </a:ln>
            </p:spPr>
            <p:txBody>
              <a:bodyPr/>
              <a:lstStyle/>
              <a:p>
                <a:endParaRPr lang="zh-CN" altLang="en-US"/>
              </a:p>
            </p:txBody>
          </p:sp>
          <p:sp>
            <p:nvSpPr>
              <p:cNvPr id="50240" name="Line 173"/>
              <p:cNvSpPr>
                <a:spLocks noChangeShapeType="1"/>
              </p:cNvSpPr>
              <p:nvPr/>
            </p:nvSpPr>
            <p:spPr bwMode="auto">
              <a:xfrm flipV="1">
                <a:off x="5155" y="2550"/>
                <a:ext cx="1" cy="209"/>
              </a:xfrm>
              <a:prstGeom prst="line">
                <a:avLst/>
              </a:prstGeom>
              <a:noFill/>
              <a:ln w="38100">
                <a:solidFill>
                  <a:schemeClr val="tx1"/>
                </a:solidFill>
                <a:round/>
                <a:tailEnd type="oval" w="sm" len="sm"/>
              </a:ln>
            </p:spPr>
            <p:txBody>
              <a:bodyPr/>
              <a:lstStyle/>
              <a:p>
                <a:endParaRPr lang="zh-CN" altLang="en-US"/>
              </a:p>
            </p:txBody>
          </p:sp>
          <p:sp>
            <p:nvSpPr>
              <p:cNvPr id="50241" name="Text Box 174"/>
              <p:cNvSpPr txBox="1">
                <a:spLocks noChangeArrowheads="1"/>
              </p:cNvSpPr>
              <p:nvPr/>
            </p:nvSpPr>
            <p:spPr bwMode="auto">
              <a:xfrm>
                <a:off x="4944" y="2496"/>
                <a:ext cx="185" cy="232"/>
              </a:xfrm>
              <a:prstGeom prst="rect">
                <a:avLst/>
              </a:prstGeom>
              <a:noFill/>
              <a:ln w="9525">
                <a:noFill/>
                <a:miter lim="800000"/>
              </a:ln>
            </p:spPr>
            <p:txBody>
              <a:bodyPr wrap="none">
                <a:spAutoFit/>
              </a:bodyPr>
              <a:lstStyle/>
              <a:p>
                <a:pPr algn="l">
                  <a:lnSpc>
                    <a:spcPct val="100000"/>
                  </a:lnSpc>
                  <a:spcBef>
                    <a:spcPct val="0"/>
                  </a:spcBef>
                </a:pPr>
                <a:r>
                  <a:rPr kumimoji="1" lang="zh-CN" altLang="en-US" b="1"/>
                  <a:t>..</a:t>
                </a:r>
              </a:p>
            </p:txBody>
          </p:sp>
        </p:grpSp>
      </p:grpSp>
      <p:grpSp>
        <p:nvGrpSpPr>
          <p:cNvPr id="31" name="Group 176"/>
          <p:cNvGrpSpPr/>
          <p:nvPr/>
        </p:nvGrpSpPr>
        <p:grpSpPr bwMode="auto">
          <a:xfrm>
            <a:off x="3228975" y="3849688"/>
            <a:ext cx="6664325" cy="19050"/>
            <a:chOff x="1128" y="2947"/>
            <a:chExt cx="4198" cy="12"/>
          </a:xfrm>
        </p:grpSpPr>
        <p:grpSp>
          <p:nvGrpSpPr>
            <p:cNvPr id="50217" name="Group 177"/>
            <p:cNvGrpSpPr/>
            <p:nvPr/>
          </p:nvGrpSpPr>
          <p:grpSpPr bwMode="auto">
            <a:xfrm>
              <a:off x="1128" y="2947"/>
              <a:ext cx="4198" cy="12"/>
              <a:chOff x="1128" y="2947"/>
              <a:chExt cx="4198" cy="12"/>
            </a:xfrm>
          </p:grpSpPr>
          <p:grpSp>
            <p:nvGrpSpPr>
              <p:cNvPr id="50219" name="Group 178"/>
              <p:cNvGrpSpPr/>
              <p:nvPr/>
            </p:nvGrpSpPr>
            <p:grpSpPr bwMode="auto">
              <a:xfrm>
                <a:off x="2858" y="2947"/>
                <a:ext cx="1318" cy="12"/>
                <a:chOff x="2858" y="2947"/>
                <a:chExt cx="1318" cy="12"/>
              </a:xfrm>
            </p:grpSpPr>
            <p:sp>
              <p:nvSpPr>
                <p:cNvPr id="50227" name="Line 179"/>
                <p:cNvSpPr>
                  <a:spLocks noChangeShapeType="1"/>
                </p:cNvSpPr>
                <p:nvPr/>
              </p:nvSpPr>
              <p:spPr bwMode="auto">
                <a:xfrm>
                  <a:off x="2858" y="2958"/>
                  <a:ext cx="104" cy="1"/>
                </a:xfrm>
                <a:prstGeom prst="line">
                  <a:avLst/>
                </a:prstGeom>
                <a:noFill/>
                <a:ln w="38100">
                  <a:solidFill>
                    <a:schemeClr val="tx1"/>
                  </a:solidFill>
                  <a:round/>
                </a:ln>
              </p:spPr>
              <p:txBody>
                <a:bodyPr/>
                <a:lstStyle/>
                <a:p>
                  <a:endParaRPr lang="zh-CN" altLang="en-US"/>
                </a:p>
              </p:txBody>
            </p:sp>
            <p:sp>
              <p:nvSpPr>
                <p:cNvPr id="50228" name="Line 180"/>
                <p:cNvSpPr>
                  <a:spLocks noChangeShapeType="1"/>
                </p:cNvSpPr>
                <p:nvPr/>
              </p:nvSpPr>
              <p:spPr bwMode="auto">
                <a:xfrm>
                  <a:off x="3477" y="2947"/>
                  <a:ext cx="104" cy="1"/>
                </a:xfrm>
                <a:prstGeom prst="line">
                  <a:avLst/>
                </a:prstGeom>
                <a:noFill/>
                <a:ln w="38100">
                  <a:solidFill>
                    <a:schemeClr val="tx1"/>
                  </a:solidFill>
                  <a:round/>
                </a:ln>
              </p:spPr>
              <p:txBody>
                <a:bodyPr/>
                <a:lstStyle/>
                <a:p>
                  <a:endParaRPr lang="zh-CN" altLang="en-US"/>
                </a:p>
              </p:txBody>
            </p:sp>
            <p:sp>
              <p:nvSpPr>
                <p:cNvPr id="50229" name="Line 181"/>
                <p:cNvSpPr>
                  <a:spLocks noChangeShapeType="1"/>
                </p:cNvSpPr>
                <p:nvPr/>
              </p:nvSpPr>
              <p:spPr bwMode="auto">
                <a:xfrm>
                  <a:off x="4072" y="2947"/>
                  <a:ext cx="104" cy="1"/>
                </a:xfrm>
                <a:prstGeom prst="line">
                  <a:avLst/>
                </a:prstGeom>
                <a:noFill/>
                <a:ln w="38100">
                  <a:solidFill>
                    <a:schemeClr val="tx1"/>
                  </a:solidFill>
                  <a:round/>
                </a:ln>
              </p:spPr>
              <p:txBody>
                <a:bodyPr/>
                <a:lstStyle/>
                <a:p>
                  <a:endParaRPr lang="zh-CN" altLang="en-US"/>
                </a:p>
              </p:txBody>
            </p:sp>
          </p:grpSp>
          <p:grpSp>
            <p:nvGrpSpPr>
              <p:cNvPr id="50220" name="Group 182"/>
              <p:cNvGrpSpPr/>
              <p:nvPr/>
            </p:nvGrpSpPr>
            <p:grpSpPr bwMode="auto">
              <a:xfrm>
                <a:off x="1128" y="2947"/>
                <a:ext cx="4198" cy="12"/>
                <a:chOff x="1128" y="2947"/>
                <a:chExt cx="4198" cy="12"/>
              </a:xfrm>
            </p:grpSpPr>
            <p:sp>
              <p:nvSpPr>
                <p:cNvPr id="50221" name="Line 183"/>
                <p:cNvSpPr>
                  <a:spLocks noChangeShapeType="1"/>
                </p:cNvSpPr>
                <p:nvPr/>
              </p:nvSpPr>
              <p:spPr bwMode="auto">
                <a:xfrm>
                  <a:off x="2278" y="2958"/>
                  <a:ext cx="104" cy="1"/>
                </a:xfrm>
                <a:prstGeom prst="line">
                  <a:avLst/>
                </a:prstGeom>
                <a:noFill/>
                <a:ln w="38100">
                  <a:solidFill>
                    <a:schemeClr val="tx1"/>
                  </a:solidFill>
                  <a:round/>
                </a:ln>
              </p:spPr>
              <p:txBody>
                <a:bodyPr/>
                <a:lstStyle/>
                <a:p>
                  <a:endParaRPr lang="zh-CN" altLang="en-US"/>
                </a:p>
              </p:txBody>
            </p:sp>
            <p:grpSp>
              <p:nvGrpSpPr>
                <p:cNvPr id="50222" name="Group 184"/>
                <p:cNvGrpSpPr/>
                <p:nvPr/>
              </p:nvGrpSpPr>
              <p:grpSpPr bwMode="auto">
                <a:xfrm>
                  <a:off x="1128" y="2947"/>
                  <a:ext cx="4198" cy="12"/>
                  <a:chOff x="1128" y="2947"/>
                  <a:chExt cx="4198" cy="12"/>
                </a:xfrm>
              </p:grpSpPr>
              <p:sp>
                <p:nvSpPr>
                  <p:cNvPr id="50223" name="Line 185"/>
                  <p:cNvSpPr>
                    <a:spLocks noChangeShapeType="1"/>
                  </p:cNvSpPr>
                  <p:nvPr/>
                </p:nvSpPr>
                <p:spPr bwMode="auto">
                  <a:xfrm>
                    <a:off x="1708" y="2958"/>
                    <a:ext cx="104" cy="1"/>
                  </a:xfrm>
                  <a:prstGeom prst="line">
                    <a:avLst/>
                  </a:prstGeom>
                  <a:noFill/>
                  <a:ln w="38100">
                    <a:solidFill>
                      <a:schemeClr val="tx1"/>
                    </a:solidFill>
                    <a:round/>
                  </a:ln>
                </p:spPr>
                <p:txBody>
                  <a:bodyPr/>
                  <a:lstStyle/>
                  <a:p>
                    <a:endParaRPr lang="zh-CN" altLang="en-US"/>
                  </a:p>
                </p:txBody>
              </p:sp>
              <p:grpSp>
                <p:nvGrpSpPr>
                  <p:cNvPr id="50224" name="Group 186"/>
                  <p:cNvGrpSpPr/>
                  <p:nvPr/>
                </p:nvGrpSpPr>
                <p:grpSpPr bwMode="auto">
                  <a:xfrm>
                    <a:off x="1128" y="2947"/>
                    <a:ext cx="4198" cy="12"/>
                    <a:chOff x="1128" y="2947"/>
                    <a:chExt cx="4198" cy="12"/>
                  </a:xfrm>
                </p:grpSpPr>
                <p:sp>
                  <p:nvSpPr>
                    <p:cNvPr id="50225" name="Line 187"/>
                    <p:cNvSpPr>
                      <a:spLocks noChangeShapeType="1"/>
                    </p:cNvSpPr>
                    <p:nvPr/>
                  </p:nvSpPr>
                  <p:spPr bwMode="auto">
                    <a:xfrm>
                      <a:off x="1128" y="2958"/>
                      <a:ext cx="104" cy="1"/>
                    </a:xfrm>
                    <a:prstGeom prst="line">
                      <a:avLst/>
                    </a:prstGeom>
                    <a:noFill/>
                    <a:ln w="38100">
                      <a:solidFill>
                        <a:schemeClr val="tx1"/>
                      </a:solidFill>
                      <a:round/>
                    </a:ln>
                  </p:spPr>
                  <p:txBody>
                    <a:bodyPr/>
                    <a:lstStyle/>
                    <a:p>
                      <a:endParaRPr lang="zh-CN" altLang="en-US"/>
                    </a:p>
                  </p:txBody>
                </p:sp>
                <p:sp>
                  <p:nvSpPr>
                    <p:cNvPr id="50226" name="Line 188"/>
                    <p:cNvSpPr>
                      <a:spLocks noChangeShapeType="1"/>
                    </p:cNvSpPr>
                    <p:nvPr/>
                  </p:nvSpPr>
                  <p:spPr bwMode="auto">
                    <a:xfrm>
                      <a:off x="5222" y="2947"/>
                      <a:ext cx="104" cy="1"/>
                    </a:xfrm>
                    <a:prstGeom prst="line">
                      <a:avLst/>
                    </a:prstGeom>
                    <a:noFill/>
                    <a:ln w="38100">
                      <a:solidFill>
                        <a:schemeClr val="tx1"/>
                      </a:solidFill>
                      <a:round/>
                    </a:ln>
                  </p:spPr>
                  <p:txBody>
                    <a:bodyPr/>
                    <a:lstStyle/>
                    <a:p>
                      <a:endParaRPr lang="zh-CN" altLang="en-US"/>
                    </a:p>
                  </p:txBody>
                </p:sp>
              </p:grpSp>
            </p:grpSp>
          </p:grpSp>
        </p:grpSp>
        <p:sp>
          <p:nvSpPr>
            <p:cNvPr id="50218" name="Line 189"/>
            <p:cNvSpPr>
              <a:spLocks noChangeShapeType="1"/>
            </p:cNvSpPr>
            <p:nvPr/>
          </p:nvSpPr>
          <p:spPr bwMode="auto">
            <a:xfrm>
              <a:off x="4642" y="2947"/>
              <a:ext cx="104" cy="1"/>
            </a:xfrm>
            <a:prstGeom prst="line">
              <a:avLst/>
            </a:prstGeom>
            <a:noFill/>
            <a:ln w="38100">
              <a:solidFill>
                <a:schemeClr val="tx1"/>
              </a:solidFill>
              <a:round/>
            </a:ln>
          </p:spPr>
          <p:txBody>
            <a:bodyPr/>
            <a:lstStyle/>
            <a:p>
              <a:endParaRPr lang="zh-CN" altLang="en-US"/>
            </a:p>
          </p:txBody>
        </p:sp>
      </p:grpSp>
      <p:grpSp>
        <p:nvGrpSpPr>
          <p:cNvPr id="69" name="Group 190"/>
          <p:cNvGrpSpPr/>
          <p:nvPr/>
        </p:nvGrpSpPr>
        <p:grpSpPr bwMode="auto">
          <a:xfrm>
            <a:off x="2487613" y="3530600"/>
            <a:ext cx="7224712" cy="407988"/>
            <a:chOff x="661" y="2746"/>
            <a:chExt cx="4551" cy="257"/>
          </a:xfrm>
        </p:grpSpPr>
        <p:grpSp>
          <p:nvGrpSpPr>
            <p:cNvPr id="50199" name="Group 191"/>
            <p:cNvGrpSpPr/>
            <p:nvPr/>
          </p:nvGrpSpPr>
          <p:grpSpPr bwMode="auto">
            <a:xfrm>
              <a:off x="661" y="2746"/>
              <a:ext cx="4551" cy="257"/>
              <a:chOff x="661" y="2746"/>
              <a:chExt cx="4551" cy="257"/>
            </a:xfrm>
          </p:grpSpPr>
          <p:sp>
            <p:nvSpPr>
              <p:cNvPr id="50201" name="Rectangle 192"/>
              <p:cNvSpPr>
                <a:spLocks noChangeArrowheads="1"/>
              </p:cNvSpPr>
              <p:nvPr/>
            </p:nvSpPr>
            <p:spPr bwMode="auto">
              <a:xfrm>
                <a:off x="690"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a:t>
                </a:r>
                <a:r>
                  <a:rPr kumimoji="1" lang="en-US" altLang="zh-CN" sz="1600" b="1">
                    <a:solidFill>
                      <a:srgbClr val="CC3300"/>
                    </a:solidFill>
                  </a:rPr>
                  <a:t>×</a:t>
                </a:r>
                <a:r>
                  <a:rPr kumimoji="1" lang="en-US" altLang="zh-CN" sz="1800" b="1">
                    <a:solidFill>
                      <a:srgbClr val="CC3300"/>
                    </a:solidFill>
                  </a:rPr>
                  <a:t>4</a:t>
                </a:r>
              </a:p>
            </p:txBody>
          </p:sp>
          <p:grpSp>
            <p:nvGrpSpPr>
              <p:cNvPr id="50202" name="Group 193"/>
              <p:cNvGrpSpPr/>
              <p:nvPr/>
            </p:nvGrpSpPr>
            <p:grpSpPr bwMode="auto">
              <a:xfrm>
                <a:off x="661" y="2746"/>
                <a:ext cx="4551" cy="257"/>
                <a:chOff x="661" y="2746"/>
                <a:chExt cx="4551" cy="257"/>
              </a:xfrm>
            </p:grpSpPr>
            <p:sp>
              <p:nvSpPr>
                <p:cNvPr id="50209" name="Rectangle 194"/>
                <p:cNvSpPr>
                  <a:spLocks noChangeArrowheads="1"/>
                </p:cNvSpPr>
                <p:nvPr/>
              </p:nvSpPr>
              <p:spPr bwMode="auto">
                <a:xfrm>
                  <a:off x="661" y="2746"/>
                  <a:ext cx="463" cy="253"/>
                </a:xfrm>
                <a:prstGeom prst="rect">
                  <a:avLst/>
                </a:prstGeom>
                <a:noFill/>
                <a:ln w="38100">
                  <a:solidFill>
                    <a:srgbClr val="CC3300"/>
                  </a:solidFill>
                  <a:miter lim="800000"/>
                </a:ln>
              </p:spPr>
              <p:txBody>
                <a:bodyPr/>
                <a:lstStyle/>
                <a:p>
                  <a:endParaRPr lang="zh-CN" altLang="en-US"/>
                </a:p>
              </p:txBody>
            </p:sp>
            <p:sp>
              <p:nvSpPr>
                <p:cNvPr id="50210" name="Rectangle 195"/>
                <p:cNvSpPr>
                  <a:spLocks noChangeArrowheads="1"/>
                </p:cNvSpPr>
                <p:nvPr/>
              </p:nvSpPr>
              <p:spPr bwMode="auto">
                <a:xfrm>
                  <a:off x="1853" y="2746"/>
                  <a:ext cx="421" cy="253"/>
                </a:xfrm>
                <a:prstGeom prst="rect">
                  <a:avLst/>
                </a:prstGeom>
                <a:noFill/>
                <a:ln w="38100">
                  <a:solidFill>
                    <a:srgbClr val="CC3300"/>
                  </a:solidFill>
                  <a:miter lim="800000"/>
                </a:ln>
              </p:spPr>
              <p:txBody>
                <a:bodyPr/>
                <a:lstStyle/>
                <a:p>
                  <a:endParaRPr lang="zh-CN" altLang="en-US"/>
                </a:p>
              </p:txBody>
            </p:sp>
            <p:sp>
              <p:nvSpPr>
                <p:cNvPr id="50211" name="Rectangle 196"/>
                <p:cNvSpPr>
                  <a:spLocks noChangeArrowheads="1"/>
                </p:cNvSpPr>
                <p:nvPr/>
              </p:nvSpPr>
              <p:spPr bwMode="auto">
                <a:xfrm>
                  <a:off x="2427" y="2746"/>
                  <a:ext cx="421" cy="253"/>
                </a:xfrm>
                <a:prstGeom prst="rect">
                  <a:avLst/>
                </a:prstGeom>
                <a:noFill/>
                <a:ln w="38100">
                  <a:solidFill>
                    <a:srgbClr val="CC3300"/>
                  </a:solidFill>
                  <a:miter lim="800000"/>
                </a:ln>
              </p:spPr>
              <p:txBody>
                <a:bodyPr/>
                <a:lstStyle/>
                <a:p>
                  <a:endParaRPr lang="zh-CN" altLang="en-US"/>
                </a:p>
              </p:txBody>
            </p:sp>
            <p:sp>
              <p:nvSpPr>
                <p:cNvPr id="50212" name="Rectangle 197"/>
                <p:cNvSpPr>
                  <a:spLocks noChangeArrowheads="1"/>
                </p:cNvSpPr>
                <p:nvPr/>
              </p:nvSpPr>
              <p:spPr bwMode="auto">
                <a:xfrm>
                  <a:off x="3043" y="2746"/>
                  <a:ext cx="421" cy="257"/>
                </a:xfrm>
                <a:prstGeom prst="rect">
                  <a:avLst/>
                </a:prstGeom>
                <a:noFill/>
                <a:ln w="38100">
                  <a:solidFill>
                    <a:srgbClr val="CC3300"/>
                  </a:solidFill>
                  <a:miter lim="800000"/>
                </a:ln>
              </p:spPr>
              <p:txBody>
                <a:bodyPr/>
                <a:lstStyle/>
                <a:p>
                  <a:endParaRPr lang="zh-CN" altLang="en-US"/>
                </a:p>
              </p:txBody>
            </p:sp>
            <p:sp>
              <p:nvSpPr>
                <p:cNvPr id="50213" name="Rectangle 198"/>
                <p:cNvSpPr>
                  <a:spLocks noChangeArrowheads="1"/>
                </p:cNvSpPr>
                <p:nvPr/>
              </p:nvSpPr>
              <p:spPr bwMode="auto">
                <a:xfrm>
                  <a:off x="3640" y="2746"/>
                  <a:ext cx="422" cy="254"/>
                </a:xfrm>
                <a:prstGeom prst="rect">
                  <a:avLst/>
                </a:prstGeom>
                <a:noFill/>
                <a:ln w="38100">
                  <a:solidFill>
                    <a:srgbClr val="CC3300"/>
                  </a:solidFill>
                  <a:miter lim="800000"/>
                </a:ln>
              </p:spPr>
              <p:txBody>
                <a:bodyPr/>
                <a:lstStyle/>
                <a:p>
                  <a:endParaRPr lang="zh-CN" altLang="en-US"/>
                </a:p>
              </p:txBody>
            </p:sp>
            <p:sp>
              <p:nvSpPr>
                <p:cNvPr id="50214" name="Rectangle 199"/>
                <p:cNvSpPr>
                  <a:spLocks noChangeArrowheads="1"/>
                </p:cNvSpPr>
                <p:nvPr/>
              </p:nvSpPr>
              <p:spPr bwMode="auto">
                <a:xfrm>
                  <a:off x="4214" y="2746"/>
                  <a:ext cx="421" cy="257"/>
                </a:xfrm>
                <a:prstGeom prst="rect">
                  <a:avLst/>
                </a:prstGeom>
                <a:noFill/>
                <a:ln w="38100">
                  <a:solidFill>
                    <a:srgbClr val="CC3300"/>
                  </a:solidFill>
                  <a:miter lim="800000"/>
                </a:ln>
              </p:spPr>
              <p:txBody>
                <a:bodyPr/>
                <a:lstStyle/>
                <a:p>
                  <a:endParaRPr lang="zh-CN" altLang="en-US"/>
                </a:p>
              </p:txBody>
            </p:sp>
            <p:sp>
              <p:nvSpPr>
                <p:cNvPr id="50215" name="Rectangle 200"/>
                <p:cNvSpPr>
                  <a:spLocks noChangeArrowheads="1"/>
                </p:cNvSpPr>
                <p:nvPr/>
              </p:nvSpPr>
              <p:spPr bwMode="auto">
                <a:xfrm>
                  <a:off x="4791" y="2746"/>
                  <a:ext cx="421" cy="254"/>
                </a:xfrm>
                <a:prstGeom prst="rect">
                  <a:avLst/>
                </a:prstGeom>
                <a:noFill/>
                <a:ln w="38100">
                  <a:solidFill>
                    <a:srgbClr val="CC3300"/>
                  </a:solidFill>
                  <a:miter lim="800000"/>
                </a:ln>
              </p:spPr>
              <p:txBody>
                <a:bodyPr/>
                <a:lstStyle/>
                <a:p>
                  <a:endParaRPr lang="zh-CN" altLang="en-US"/>
                </a:p>
              </p:txBody>
            </p:sp>
            <p:sp>
              <p:nvSpPr>
                <p:cNvPr id="50216" name="Rectangle 201"/>
                <p:cNvSpPr>
                  <a:spLocks noChangeArrowheads="1"/>
                </p:cNvSpPr>
                <p:nvPr/>
              </p:nvSpPr>
              <p:spPr bwMode="auto">
                <a:xfrm>
                  <a:off x="1277" y="2746"/>
                  <a:ext cx="421" cy="253"/>
                </a:xfrm>
                <a:prstGeom prst="rect">
                  <a:avLst/>
                </a:prstGeom>
                <a:noFill/>
                <a:ln w="38100">
                  <a:solidFill>
                    <a:srgbClr val="CC3300"/>
                  </a:solidFill>
                  <a:miter lim="800000"/>
                </a:ln>
              </p:spPr>
              <p:txBody>
                <a:bodyPr/>
                <a:lstStyle/>
                <a:p>
                  <a:endParaRPr lang="zh-CN" altLang="en-US"/>
                </a:p>
              </p:txBody>
            </p:sp>
          </p:grpSp>
          <p:sp>
            <p:nvSpPr>
              <p:cNvPr id="50203" name="Rectangle 202"/>
              <p:cNvSpPr>
                <a:spLocks noChangeArrowheads="1"/>
              </p:cNvSpPr>
              <p:nvPr/>
            </p:nvSpPr>
            <p:spPr bwMode="auto">
              <a:xfrm>
                <a:off x="1858"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K×4</a:t>
                </a:r>
              </a:p>
            </p:txBody>
          </p:sp>
          <p:sp>
            <p:nvSpPr>
              <p:cNvPr id="50204" name="Rectangle 203"/>
              <p:cNvSpPr>
                <a:spLocks noChangeArrowheads="1"/>
              </p:cNvSpPr>
              <p:nvPr/>
            </p:nvSpPr>
            <p:spPr bwMode="auto">
              <a:xfrm>
                <a:off x="2432"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K×4</a:t>
                </a:r>
              </a:p>
            </p:txBody>
          </p:sp>
          <p:sp>
            <p:nvSpPr>
              <p:cNvPr id="50205" name="Rectangle 204"/>
              <p:cNvSpPr>
                <a:spLocks noChangeArrowheads="1"/>
              </p:cNvSpPr>
              <p:nvPr/>
            </p:nvSpPr>
            <p:spPr bwMode="auto">
              <a:xfrm>
                <a:off x="3051"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K×4</a:t>
                </a:r>
              </a:p>
            </p:txBody>
          </p:sp>
          <p:sp>
            <p:nvSpPr>
              <p:cNvPr id="50206" name="Rectangle 205"/>
              <p:cNvSpPr>
                <a:spLocks noChangeArrowheads="1"/>
              </p:cNvSpPr>
              <p:nvPr/>
            </p:nvSpPr>
            <p:spPr bwMode="auto">
              <a:xfrm>
                <a:off x="3645"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K×4</a:t>
                </a:r>
              </a:p>
            </p:txBody>
          </p:sp>
          <p:sp>
            <p:nvSpPr>
              <p:cNvPr id="50207" name="Rectangle 206"/>
              <p:cNvSpPr>
                <a:spLocks noChangeArrowheads="1"/>
              </p:cNvSpPr>
              <p:nvPr/>
            </p:nvSpPr>
            <p:spPr bwMode="auto">
              <a:xfrm>
                <a:off x="4221"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K×4</a:t>
                </a:r>
              </a:p>
            </p:txBody>
          </p:sp>
          <p:sp>
            <p:nvSpPr>
              <p:cNvPr id="50208" name="Rectangle 207"/>
              <p:cNvSpPr>
                <a:spLocks noChangeArrowheads="1"/>
              </p:cNvSpPr>
              <p:nvPr/>
            </p:nvSpPr>
            <p:spPr bwMode="auto">
              <a:xfrm>
                <a:off x="4797"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K×4</a:t>
                </a:r>
              </a:p>
            </p:txBody>
          </p:sp>
        </p:grpSp>
        <p:sp>
          <p:nvSpPr>
            <p:cNvPr id="50200" name="Rectangle 208"/>
            <p:cNvSpPr>
              <a:spLocks noChangeArrowheads="1"/>
            </p:cNvSpPr>
            <p:nvPr/>
          </p:nvSpPr>
          <p:spPr bwMode="auto">
            <a:xfrm>
              <a:off x="1278" y="2794"/>
              <a:ext cx="407" cy="174"/>
            </a:xfrm>
            <a:prstGeom prst="rect">
              <a:avLst/>
            </a:prstGeom>
            <a:noFill/>
            <a:ln w="6350">
              <a:noFill/>
              <a:miter lim="800000"/>
            </a:ln>
          </p:spPr>
          <p:txBody>
            <a:bodyPr lIns="0" tIns="0" rIns="0" bIns="0">
              <a:spAutoFit/>
            </a:bodyPr>
            <a:lstStyle/>
            <a:p>
              <a:pPr>
                <a:lnSpc>
                  <a:spcPct val="100000"/>
                </a:lnSpc>
                <a:spcBef>
                  <a:spcPct val="0"/>
                </a:spcBef>
              </a:pPr>
              <a:r>
                <a:rPr kumimoji="1" lang="zh-CN" altLang="en-US" sz="1800" b="1">
                  <a:solidFill>
                    <a:srgbClr val="CC3300"/>
                  </a:solidFill>
                </a:rPr>
                <a:t>1</a:t>
              </a:r>
              <a:r>
                <a:rPr kumimoji="1" lang="en-US" altLang="zh-CN" sz="1800" b="1">
                  <a:solidFill>
                    <a:srgbClr val="CC3300"/>
                  </a:solidFill>
                </a:rPr>
                <a:t>K×4</a:t>
              </a:r>
            </a:p>
          </p:txBody>
        </p:sp>
      </p:grpSp>
      <p:sp>
        <p:nvSpPr>
          <p:cNvPr id="50194" name="Rectangle 209"/>
          <p:cNvSpPr>
            <a:spLocks noGrp="1" noChangeArrowheads="1"/>
          </p:cNvSpPr>
          <p:nvPr>
            <p:ph type="title"/>
          </p:nvPr>
        </p:nvSpPr>
        <p:spPr>
          <a:xfrm>
            <a:off x="697865" y="304800"/>
            <a:ext cx="9970135" cy="609600"/>
          </a:xfrm>
        </p:spPr>
        <p:txBody>
          <a:bodyPr/>
          <a:lstStyle/>
          <a:p>
            <a:r>
              <a:rPr lang="en-US" altLang="zh-CN" sz="2600" smtClean="0">
                <a:solidFill>
                  <a:srgbClr val="FFCC00"/>
                </a:solidFill>
                <a:latin typeface="Arial" panose="020B0604020202020204" pitchFamily="34" charset="0"/>
                <a:ea typeface="黑体" panose="02010609060101010101" pitchFamily="49" charset="-122"/>
                <a:cs typeface="Arial" panose="020B0604020202020204" pitchFamily="34" charset="0"/>
              </a:rPr>
              <a:t>【</a:t>
            </a:r>
            <a:r>
              <a:rPr lang="zh-CN" altLang="en-US" sz="2600" smtClean="0">
                <a:solidFill>
                  <a:srgbClr val="FFCC00"/>
                </a:solidFill>
                <a:latin typeface="Arial" panose="020B0604020202020204" pitchFamily="34" charset="0"/>
                <a:ea typeface="黑体" panose="02010609060101010101" pitchFamily="49" charset="-122"/>
                <a:cs typeface="Arial" panose="020B0604020202020204" pitchFamily="34" charset="0"/>
              </a:rPr>
              <a:t>例</a:t>
            </a:r>
            <a:r>
              <a:rPr lang="en-US" altLang="zh-CN" sz="2600" smtClean="0">
                <a:solidFill>
                  <a:srgbClr val="FFCC00"/>
                </a:solidFill>
                <a:latin typeface="Arial" panose="020B0604020202020204" pitchFamily="34" charset="0"/>
                <a:ea typeface="黑体" panose="02010609060101010101" pitchFamily="49" charset="-122"/>
                <a:cs typeface="Arial" panose="020B0604020202020204" pitchFamily="34" charset="0"/>
              </a:rPr>
              <a:t>8.4】</a:t>
            </a:r>
            <a:r>
              <a:rPr lang="zh-CN" altLang="en-US" sz="2600" smtClean="0">
                <a:solidFill>
                  <a:srgbClr val="FFCC00"/>
                </a:solidFill>
                <a:latin typeface="Arial" panose="020B0604020202020204" pitchFamily="34" charset="0"/>
                <a:ea typeface="黑体" panose="02010609060101010101" pitchFamily="49" charset="-122"/>
                <a:cs typeface="Arial" panose="020B0604020202020204" pitchFamily="34" charset="0"/>
              </a:rPr>
              <a:t> </a:t>
            </a:r>
            <a:r>
              <a:rPr lang="en-US" altLang="zh-CN" sz="2600" smtClean="0">
                <a:solidFill>
                  <a:srgbClr val="FFCC00"/>
                </a:solidFill>
                <a:latin typeface="Arial" panose="020B0604020202020204" pitchFamily="34" charset="0"/>
                <a:ea typeface="黑体" panose="02010609060101010101" pitchFamily="49" charset="-122"/>
                <a:cs typeface="Arial" panose="020B0604020202020204" pitchFamily="34" charset="0"/>
              </a:rPr>
              <a:t>1K×4</a:t>
            </a:r>
            <a:r>
              <a:rPr lang="zh-CN" altLang="en-US" sz="2600" smtClean="0">
                <a:solidFill>
                  <a:srgbClr val="FFCC00"/>
                </a:solidFill>
                <a:latin typeface="Arial" panose="020B0604020202020204" pitchFamily="34" charset="0"/>
                <a:ea typeface="黑体" panose="02010609060101010101" pitchFamily="49" charset="-122"/>
                <a:cs typeface="Arial" panose="020B0604020202020204" pitchFamily="34" charset="0"/>
              </a:rPr>
              <a:t>位 </a:t>
            </a:r>
            <a:r>
              <a:rPr lang="en-US" altLang="zh-CN" sz="2600" smtClean="0">
                <a:solidFill>
                  <a:srgbClr val="FFCC00"/>
                </a:solidFill>
                <a:latin typeface="Arial" panose="020B0604020202020204" pitchFamily="34" charset="0"/>
                <a:ea typeface="黑体" panose="02010609060101010101" pitchFamily="49" charset="-122"/>
                <a:cs typeface="Arial" panose="020B0604020202020204" pitchFamily="34" charset="0"/>
              </a:rPr>
              <a:t>SRAM </a:t>
            </a:r>
            <a:r>
              <a:rPr lang="zh-CN" altLang="en-US" sz="2600" smtClean="0">
                <a:solidFill>
                  <a:srgbClr val="FFCC00"/>
                </a:solidFill>
                <a:latin typeface="Arial" panose="020B0604020202020204" pitchFamily="34" charset="0"/>
                <a:ea typeface="黑体" panose="02010609060101010101" pitchFamily="49" charset="-122"/>
                <a:cs typeface="Arial" panose="020B0604020202020204" pitchFamily="34" charset="0"/>
              </a:rPr>
              <a:t>扩展为</a:t>
            </a:r>
            <a:r>
              <a:rPr lang="en-US" altLang="zh-CN" sz="2600" smtClean="0">
                <a:solidFill>
                  <a:srgbClr val="FFCC00"/>
                </a:solidFill>
                <a:latin typeface="Arial" panose="020B0604020202020204" pitchFamily="34" charset="0"/>
                <a:ea typeface="黑体" panose="02010609060101010101" pitchFamily="49" charset="-122"/>
                <a:cs typeface="Arial" panose="020B0604020202020204" pitchFamily="34" charset="0"/>
              </a:rPr>
              <a:t>4K×8</a:t>
            </a:r>
            <a:r>
              <a:rPr lang="zh-CN" altLang="en-US" sz="2600" smtClean="0">
                <a:solidFill>
                  <a:srgbClr val="FFCC00"/>
                </a:solidFill>
                <a:latin typeface="Arial" panose="020B0604020202020204" pitchFamily="34" charset="0"/>
                <a:ea typeface="黑体" panose="02010609060101010101" pitchFamily="49" charset="-122"/>
                <a:cs typeface="Arial" panose="020B0604020202020204" pitchFamily="34" charset="0"/>
              </a:rPr>
              <a:t>位存储器</a:t>
            </a:r>
          </a:p>
        </p:txBody>
      </p:sp>
      <p:sp>
        <p:nvSpPr>
          <p:cNvPr id="75" name="AutoShape 59"/>
          <p:cNvSpPr>
            <a:spLocks noChangeArrowheads="1"/>
          </p:cNvSpPr>
          <p:nvPr/>
        </p:nvSpPr>
        <p:spPr bwMode="auto">
          <a:xfrm>
            <a:off x="5576888" y="1431925"/>
            <a:ext cx="1635125" cy="357188"/>
          </a:xfrm>
          <a:prstGeom prst="wedgeRoundRectCallout">
            <a:avLst>
              <a:gd name="adj1" fmla="val 45532"/>
              <a:gd name="adj2" fmla="val -81111"/>
              <a:gd name="adj3" fmla="val 16667"/>
            </a:avLst>
          </a:prstGeom>
          <a:solidFill>
            <a:srgbClr val="FFFFBD"/>
          </a:solidFill>
          <a:ln w="9525">
            <a:solidFill>
              <a:srgbClr val="CC6600"/>
            </a:solidFill>
            <a:miter lim="800000"/>
          </a:ln>
          <a:effectLst>
            <a:prstShdw prst="shdw17" dist="17961" dir="2700000">
              <a:srgbClr val="7A3D00"/>
            </a:prstShdw>
          </a:effectLst>
        </p:spPr>
        <p:txBody>
          <a:bodyPr anchor="b"/>
          <a:lstStyle/>
          <a:p>
            <a:pPr algn="l">
              <a:lnSpc>
                <a:spcPct val="100000"/>
              </a:lnSpc>
              <a:spcBef>
                <a:spcPct val="0"/>
              </a:spcBef>
            </a:pPr>
            <a:r>
              <a:rPr lang="zh-CN" altLang="en-US" sz="1800" b="1">
                <a:solidFill>
                  <a:srgbClr val="CC3300"/>
                </a:solidFill>
                <a:latin typeface="Arial" panose="020B0604020202020204" pitchFamily="34" charset="0"/>
                <a:ea typeface="楷体_GB2312" pitchFamily="49" charset="-122"/>
              </a:rPr>
              <a:t>12根地址线</a:t>
            </a:r>
            <a:endParaRPr lang="en-US" altLang="zh-CN" sz="1800" b="1">
              <a:solidFill>
                <a:srgbClr val="CC3300"/>
              </a:solidFill>
              <a:latin typeface="Arial" panose="020B0604020202020204" pitchFamily="34" charset="0"/>
              <a:ea typeface="楷体_GB2312" pitchFamily="49" charset="-122"/>
            </a:endParaRPr>
          </a:p>
        </p:txBody>
      </p:sp>
      <p:sp>
        <p:nvSpPr>
          <p:cNvPr id="2" name="AutoShape 59"/>
          <p:cNvSpPr>
            <a:spLocks noChangeArrowheads="1"/>
          </p:cNvSpPr>
          <p:nvPr/>
        </p:nvSpPr>
        <p:spPr bwMode="auto">
          <a:xfrm>
            <a:off x="7886700" y="1446213"/>
            <a:ext cx="1525588" cy="288925"/>
          </a:xfrm>
          <a:prstGeom prst="wedgeRoundRectCallout">
            <a:avLst>
              <a:gd name="adj1" fmla="val -58014"/>
              <a:gd name="adj2" fmla="val -106593"/>
              <a:gd name="adj3" fmla="val 16667"/>
            </a:avLst>
          </a:prstGeom>
          <a:solidFill>
            <a:srgbClr val="FFCC99"/>
          </a:solidFill>
          <a:ln w="9525">
            <a:solidFill>
              <a:srgbClr val="CC6600"/>
            </a:solidFill>
            <a:miter lim="800000"/>
          </a:ln>
          <a:effectLst>
            <a:prstShdw prst="shdw17" dist="17961" dir="2700000">
              <a:srgbClr val="7A3D00"/>
            </a:prstShdw>
          </a:effectLst>
        </p:spPr>
        <p:txBody>
          <a:bodyPr anchor="b"/>
          <a:lstStyle/>
          <a:p>
            <a:pPr algn="l">
              <a:lnSpc>
                <a:spcPct val="100000"/>
              </a:lnSpc>
              <a:spcBef>
                <a:spcPct val="0"/>
              </a:spcBef>
            </a:pPr>
            <a:r>
              <a:rPr lang="zh-CN" altLang="en-US" sz="1800" b="1">
                <a:solidFill>
                  <a:srgbClr val="CC3300"/>
                </a:solidFill>
                <a:latin typeface="Arial" panose="020B0604020202020204" pitchFamily="34" charset="0"/>
                <a:ea typeface="楷体_GB2312" pitchFamily="49" charset="-122"/>
              </a:rPr>
              <a:t>8根数据线</a:t>
            </a:r>
          </a:p>
        </p:txBody>
      </p:sp>
      <p:sp>
        <p:nvSpPr>
          <p:cNvPr id="59397" name="Text Box 7"/>
          <p:cNvSpPr txBox="1">
            <a:spLocks noChangeArrowheads="1"/>
          </p:cNvSpPr>
          <p:nvPr/>
        </p:nvSpPr>
        <p:spPr bwMode="auto">
          <a:xfrm>
            <a:off x="1597025" y="5775325"/>
            <a:ext cx="8956675" cy="1092835"/>
          </a:xfrm>
          <a:prstGeom prst="rect">
            <a:avLst/>
          </a:prstGeom>
          <a:solidFill>
            <a:srgbClr val="FFFFCC"/>
          </a:solidFill>
          <a:ln w="9525">
            <a:noFill/>
            <a:miter lim="800000"/>
          </a:ln>
          <a:effectLst>
            <a:outerShdw blurRad="50800" dist="38100" dir="16200000" rotWithShape="0">
              <a:prstClr val="black">
                <a:alpha val="40000"/>
              </a:prstClr>
            </a:outerShdw>
          </a:effectLst>
        </p:spPr>
        <p:txBody>
          <a:bodyPr lIns="90000" tIns="46800" rIns="90000" bIns="46800">
            <a:spAutoFit/>
          </a:bodyPr>
          <a:lstStyle/>
          <a:p>
            <a:pPr marL="361950" indent="-361950" algn="l">
              <a:lnSpc>
                <a:spcPts val="2600"/>
              </a:lnSpc>
              <a:spcBef>
                <a:spcPct val="0"/>
              </a:spcBef>
              <a:buClr>
                <a:schemeClr val="bg2"/>
              </a:buClr>
              <a:buFont typeface="Wingdings" panose="05000000000000000000" pitchFamily="2" charset="2"/>
              <a:buChar char="v"/>
              <a:defRPr/>
            </a:pPr>
            <a:r>
              <a:rPr lang="zh-CN" altLang="en-US" sz="2000" b="1">
                <a:solidFill>
                  <a:srgbClr val="CC0066"/>
                </a:solidFill>
                <a:ea typeface="楷体_GB2312" pitchFamily="49" charset="-122"/>
                <a:cs typeface="Arial" panose="020B0604020202020204" pitchFamily="34" charset="0"/>
              </a:rPr>
              <a:t>位扩展</a:t>
            </a:r>
            <a:r>
              <a:rPr lang="zh-CN" altLang="en-US" sz="2000" b="1">
                <a:ea typeface="楷体_GB2312" pitchFamily="49" charset="-122"/>
                <a:cs typeface="Arial" panose="020B0604020202020204" pitchFamily="34" charset="0"/>
              </a:rPr>
              <a:t>：每</a:t>
            </a:r>
            <a:r>
              <a:rPr lang="en-US" altLang="zh-CN" sz="2000" b="1">
                <a:ea typeface="楷体_GB2312" pitchFamily="49" charset="-122"/>
                <a:cs typeface="Arial" panose="020B0604020202020204" pitchFamily="34" charset="0"/>
              </a:rPr>
              <a:t>2</a:t>
            </a:r>
            <a:r>
              <a:rPr lang="zh-CN" altLang="en-US" sz="2000" b="1">
                <a:ea typeface="楷体_GB2312" pitchFamily="49" charset="-122"/>
                <a:cs typeface="Arial" panose="020B0604020202020204" pitchFamily="34" charset="0"/>
              </a:rPr>
              <a:t>片为一组，公用一个片选信号，高位片的数据端接</a:t>
            </a:r>
            <a:r>
              <a:rPr lang="en-US" altLang="zh-CN" sz="2000" b="1">
                <a:ea typeface="楷体_GB2312" pitchFamily="49" charset="-122"/>
                <a:cs typeface="Arial" panose="020B0604020202020204" pitchFamily="34" charset="0"/>
              </a:rPr>
              <a:t>D7~D4</a:t>
            </a:r>
            <a:r>
              <a:rPr lang="zh-CN" altLang="en-US" sz="2000" b="1">
                <a:ea typeface="楷体_GB2312" pitchFamily="49" charset="-122"/>
                <a:cs typeface="Arial" panose="020B0604020202020204" pitchFamily="34" charset="0"/>
              </a:rPr>
              <a:t>，低位片的数据端接</a:t>
            </a:r>
            <a:r>
              <a:rPr lang="en-US" altLang="zh-CN" sz="2000" b="1">
                <a:ea typeface="楷体_GB2312" pitchFamily="49" charset="-122"/>
                <a:cs typeface="Arial" panose="020B0604020202020204" pitchFamily="34" charset="0"/>
              </a:rPr>
              <a:t>D3~D0</a:t>
            </a:r>
            <a:r>
              <a:rPr lang="zh-CN" altLang="en-US" sz="2000" b="1">
                <a:ea typeface="楷体_GB2312" pitchFamily="49" charset="-122"/>
                <a:cs typeface="Arial" panose="020B0604020202020204" pitchFamily="34" charset="0"/>
              </a:rPr>
              <a:t>，构成1</a:t>
            </a:r>
            <a:r>
              <a:rPr lang="en-US" altLang="zh-CN" sz="2000" b="1">
                <a:ea typeface="楷体_GB2312" pitchFamily="49" charset="-122"/>
                <a:cs typeface="Arial" panose="020B0604020202020204" pitchFamily="34" charset="0"/>
              </a:rPr>
              <a:t>K×</a:t>
            </a:r>
            <a:r>
              <a:rPr lang="en-US" altLang="zh-CN" sz="2000" b="1">
                <a:solidFill>
                  <a:srgbClr val="CC0066"/>
                </a:solidFill>
                <a:ea typeface="楷体_GB2312" pitchFamily="49" charset="-122"/>
                <a:cs typeface="Arial" panose="020B0604020202020204" pitchFamily="34" charset="0"/>
              </a:rPr>
              <a:t>8</a:t>
            </a:r>
            <a:r>
              <a:rPr lang="zh-CN" altLang="en-US" sz="2000" b="1">
                <a:ea typeface="楷体_GB2312" pitchFamily="49" charset="-122"/>
                <a:cs typeface="Arial" panose="020B0604020202020204" pitchFamily="34" charset="0"/>
              </a:rPr>
              <a:t>位存储器</a:t>
            </a:r>
            <a:endParaRPr lang="en-US" altLang="zh-CN" sz="2000" b="1">
              <a:ea typeface="楷体_GB2312" pitchFamily="49" charset="-122"/>
              <a:cs typeface="Arial" panose="020B0604020202020204" pitchFamily="34" charset="0"/>
            </a:endParaRPr>
          </a:p>
          <a:p>
            <a:pPr marL="361950" indent="-361950" algn="l">
              <a:lnSpc>
                <a:spcPts val="2600"/>
              </a:lnSpc>
              <a:spcBef>
                <a:spcPct val="0"/>
              </a:spcBef>
              <a:buClr>
                <a:schemeClr val="bg2"/>
              </a:buClr>
              <a:buFont typeface="Wingdings" panose="05000000000000000000" pitchFamily="2" charset="2"/>
              <a:buChar char="v"/>
              <a:defRPr/>
            </a:pPr>
            <a:r>
              <a:rPr lang="zh-CN" altLang="en-US" sz="2000" b="1">
                <a:solidFill>
                  <a:srgbClr val="CC0066"/>
                </a:solidFill>
                <a:ea typeface="楷体_GB2312" pitchFamily="49" charset="-122"/>
                <a:cs typeface="Arial" panose="020B0604020202020204" pitchFamily="34" charset="0"/>
              </a:rPr>
              <a:t>字扩展：</a:t>
            </a:r>
            <a:r>
              <a:rPr lang="zh-CN" altLang="en-US" sz="2000" b="1">
                <a:ea typeface="楷体_GB2312" pitchFamily="49" charset="-122"/>
                <a:cs typeface="Arial" panose="020B0604020202020204" pitchFamily="34" charset="0"/>
              </a:rPr>
              <a:t>译码器产生</a:t>
            </a:r>
            <a:r>
              <a:rPr lang="en-US" altLang="zh-CN" sz="2000" b="1">
                <a:ea typeface="楷体_GB2312" pitchFamily="49" charset="-122"/>
                <a:cs typeface="Arial" panose="020B0604020202020204" pitchFamily="34" charset="0"/>
              </a:rPr>
              <a:t>4</a:t>
            </a:r>
            <a:r>
              <a:rPr lang="zh-CN" altLang="en-US" sz="2000" b="1">
                <a:ea typeface="楷体_GB2312" pitchFamily="49" charset="-122"/>
                <a:cs typeface="Arial" panose="020B0604020202020204" pitchFamily="34" charset="0"/>
              </a:rPr>
              <a:t>个片选信号分别控制</a:t>
            </a:r>
            <a:r>
              <a:rPr lang="en-US" altLang="zh-CN" sz="2000" b="1">
                <a:ea typeface="楷体_GB2312" pitchFamily="49" charset="-122"/>
                <a:cs typeface="Arial" panose="020B0604020202020204" pitchFamily="34" charset="0"/>
              </a:rPr>
              <a:t>4</a:t>
            </a:r>
            <a:r>
              <a:rPr lang="zh-CN" altLang="en-US" sz="2000" b="1">
                <a:ea typeface="楷体_GB2312" pitchFamily="49" charset="-122"/>
                <a:cs typeface="Arial" panose="020B0604020202020204" pitchFamily="34" charset="0"/>
              </a:rPr>
              <a:t>组芯片，构成</a:t>
            </a:r>
            <a:r>
              <a:rPr lang="en-US" altLang="zh-CN" sz="2000" b="1">
                <a:solidFill>
                  <a:srgbClr val="CC0066"/>
                </a:solidFill>
                <a:ea typeface="楷体_GB2312" pitchFamily="49" charset="-122"/>
                <a:cs typeface="Arial" panose="020B0604020202020204" pitchFamily="34" charset="0"/>
              </a:rPr>
              <a:t>4</a:t>
            </a:r>
            <a:r>
              <a:rPr lang="en-US" altLang="zh-CN" sz="2000" b="1">
                <a:ea typeface="楷体_GB2312" pitchFamily="49" charset="-122"/>
                <a:cs typeface="Arial" panose="020B0604020202020204" pitchFamily="34" charset="0"/>
              </a:rPr>
              <a:t>K×8</a:t>
            </a:r>
            <a:r>
              <a:rPr lang="zh-CN" altLang="en-US" sz="2000" b="1">
                <a:ea typeface="楷体_GB2312" pitchFamily="49" charset="-122"/>
                <a:cs typeface="Arial" panose="020B0604020202020204" pitchFamily="34" charset="0"/>
              </a:rPr>
              <a:t>位存储器</a:t>
            </a:r>
          </a:p>
        </p:txBody>
      </p:sp>
      <p:sp>
        <p:nvSpPr>
          <p:cNvPr id="50198" name="灯片编号占位符 4"/>
          <p:cNvSpPr txBox="1">
            <a:spLocks noGrp="1"/>
          </p:cNvSpPr>
          <p:nvPr/>
        </p:nvSpPr>
        <p:spPr bwMode="black">
          <a:xfrm>
            <a:off x="9625013" y="6453188"/>
            <a:ext cx="871537" cy="304800"/>
          </a:xfrm>
          <a:prstGeom prst="rect">
            <a:avLst/>
          </a:prstGeom>
          <a:noFill/>
          <a:ln w="9525">
            <a:noFill/>
            <a:miter lim="800000"/>
          </a:ln>
        </p:spPr>
        <p:txBody>
          <a:bodyPr/>
          <a:lstStyle/>
          <a:p>
            <a:pPr algn="r">
              <a:lnSpc>
                <a:spcPct val="100000"/>
              </a:lnSpc>
              <a:spcBef>
                <a:spcPct val="0"/>
              </a:spcBef>
            </a:pPr>
            <a:fld id="{5B743A30-27B6-46B2-8888-71DC6F44C1A9}" type="slidenum">
              <a:rPr lang="ko-KR" altLang="en-US" sz="1600" b="1">
                <a:solidFill>
                  <a:schemeClr val="accent2"/>
                </a:solidFill>
                <a:latin typeface="Verdana" panose="020B0604030504040204" pitchFamily="34" charset="0"/>
                <a:ea typeface="Gulim" panose="020B0600000101010101" pitchFamily="34" charset="-127"/>
              </a:rPr>
              <a:t>74</a:t>
            </a:fld>
            <a:endParaRPr lang="en-US" altLang="ko-KR" sz="1600" b="1">
              <a:solidFill>
                <a:schemeClr val="accent2"/>
              </a:solidFill>
              <a:latin typeface="Verdana" panose="020B0604030504040204" pitchFamily="34" charset="0"/>
              <a:ea typeface="Gulim" panose="020B0600000101010101" pitchFamily="34" charset="-127"/>
            </a:endParaRP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dissolve">
                                      <p:cBhvr>
                                        <p:cTn id="7" dur="500"/>
                                        <p:tgtEl>
                                          <p:spTgt spid="7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barn(outVertical)">
                                      <p:cBhvr>
                                        <p:cTn id="17" dur="500"/>
                                        <p:tgtEl>
                                          <p:spTgt spid="6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strips(downRigh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Righ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6"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strips(downRigh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9397"/>
                                        </p:tgtEl>
                                        <p:attrNameLst>
                                          <p:attrName>style.visibility</p:attrName>
                                        </p:attrNameLst>
                                      </p:cBhvr>
                                      <p:to>
                                        <p:strVal val="visible"/>
                                      </p:to>
                                    </p:set>
                                    <p:anim calcmode="lin" valueType="num">
                                      <p:cBhvr additive="base">
                                        <p:cTn id="37" dur="500" fill="hold"/>
                                        <p:tgtEl>
                                          <p:spTgt spid="59397"/>
                                        </p:tgtEl>
                                        <p:attrNameLst>
                                          <p:attrName>ppt_x</p:attrName>
                                        </p:attrNameLst>
                                      </p:cBhvr>
                                      <p:tavLst>
                                        <p:tav tm="0">
                                          <p:val>
                                            <p:strVal val="#ppt_x"/>
                                          </p:val>
                                        </p:tav>
                                        <p:tav tm="100000">
                                          <p:val>
                                            <p:strVal val="#ppt_x"/>
                                          </p:val>
                                        </p:tav>
                                      </p:tavLst>
                                    </p:anim>
                                    <p:anim calcmode="lin" valueType="num">
                                      <p:cBhvr additive="base">
                                        <p:cTn id="38" dur="500" fill="hold"/>
                                        <p:tgtEl>
                                          <p:spTgt spid="5939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8" presetClass="entr" presetSubtype="3"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strips(upRight)">
                                      <p:cBhvr>
                                        <p:cTn id="43" dur="500"/>
                                        <p:tgtEl>
                                          <p:spTgt spid="10"/>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slide(fromLeft)">
                                      <p:cBhvr>
                                        <p:cTn id="48" dur="500"/>
                                        <p:tgtEl>
                                          <p:spTgt spid="4"/>
                                        </p:tgtEl>
                                      </p:cBhvr>
                                    </p:animEffect>
                                  </p:childTnLst>
                                </p:cTn>
                              </p:par>
                            </p:childTnLst>
                          </p:cTn>
                        </p:par>
                        <p:par>
                          <p:cTn id="49" fill="hold">
                            <p:stCondLst>
                              <p:cond delay="500"/>
                            </p:stCondLst>
                            <p:childTnLst>
                              <p:par>
                                <p:cTn id="50" presetID="22" presetClass="entr" presetSubtype="4" fill="hold" nodeType="after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down)">
                                      <p:cBhvr>
                                        <p:cTn id="52" dur="500"/>
                                        <p:tgtEl>
                                          <p:spTgt spid="3"/>
                                        </p:tgtEl>
                                      </p:cBhvr>
                                    </p:animEffect>
                                  </p:childTnLst>
                                </p:cTn>
                              </p:par>
                            </p:childTnLst>
                          </p:cTn>
                        </p:par>
                        <p:par>
                          <p:cTn id="53" fill="hold">
                            <p:stCondLst>
                              <p:cond delay="1000"/>
                            </p:stCondLst>
                            <p:childTnLst>
                              <p:par>
                                <p:cTn id="54" presetID="18" presetClass="entr" presetSubtype="9" fill="hold"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strips(upLeft)">
                                      <p:cBhvr>
                                        <p:cTn id="56" dur="500"/>
                                        <p:tgtEl>
                                          <p:spTgt spid="31"/>
                                        </p:tgtEl>
                                      </p:cBhvr>
                                    </p:animEffect>
                                  </p:childTnLst>
                                </p:cTn>
                              </p:par>
                            </p:childTnLst>
                          </p:cTn>
                        </p:par>
                      </p:childTnLst>
                    </p:cTn>
                  </p:par>
                  <p:par>
                    <p:cTn id="57" fill="hold">
                      <p:stCondLst>
                        <p:cond delay="indefinite"/>
                      </p:stCondLst>
                      <p:childTnLst>
                        <p:par>
                          <p:cTn id="58" fill="hold">
                            <p:stCondLst>
                              <p:cond delay="0"/>
                            </p:stCondLst>
                            <p:childTnLst>
                              <p:par>
                                <p:cTn id="59" presetID="18" presetClass="entr" presetSubtype="6" fill="hold" nodeType="click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strips(downRight)">
                                      <p:cBhvr>
                                        <p:cTn id="61" dur="500"/>
                                        <p:tgtEl>
                                          <p:spTgt spid="11"/>
                                        </p:tgtEl>
                                      </p:cBhvr>
                                    </p:animEffect>
                                  </p:childTnLst>
                                </p:cTn>
                              </p:par>
                            </p:childTnLst>
                          </p:cTn>
                        </p:par>
                        <p:par>
                          <p:cTn id="62" fill="hold">
                            <p:stCondLst>
                              <p:cond delay="500"/>
                            </p:stCondLst>
                            <p:childTnLst>
                              <p:par>
                                <p:cTn id="63" presetID="18" presetClass="entr" presetSubtype="6" fill="hold" nodeType="after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strips(downRight)">
                                      <p:cBhvr>
                                        <p:cTn id="65" dur="500"/>
                                        <p:tgtEl>
                                          <p:spTgt spid="21"/>
                                        </p:tgtEl>
                                      </p:cBhvr>
                                    </p:animEffect>
                                  </p:childTnLst>
                                </p:cTn>
                              </p:par>
                            </p:childTnLst>
                          </p:cTn>
                        </p:par>
                      </p:childTnLst>
                    </p:cTn>
                  </p:par>
                  <p:par>
                    <p:cTn id="66" fill="hold">
                      <p:stCondLst>
                        <p:cond delay="indefinite"/>
                      </p:stCondLst>
                      <p:childTnLst>
                        <p:par>
                          <p:cTn id="67" fill="hold">
                            <p:stCondLst>
                              <p:cond delay="0"/>
                            </p:stCondLst>
                            <p:childTnLst>
                              <p:par>
                                <p:cTn id="68" presetID="18" presetClass="entr" presetSubtype="6"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strips(downRight)">
                                      <p:cBhvr>
                                        <p:cTn id="70" dur="500"/>
                                        <p:tgtEl>
                                          <p:spTgt spid="12"/>
                                        </p:tgtEl>
                                      </p:cBhvr>
                                    </p:animEffect>
                                  </p:childTnLst>
                                </p:cTn>
                              </p:par>
                            </p:childTnLst>
                          </p:cTn>
                        </p:par>
                      </p:childTnLst>
                    </p:cTn>
                  </p:par>
                  <p:par>
                    <p:cTn id="71" fill="hold">
                      <p:stCondLst>
                        <p:cond delay="indefinite"/>
                      </p:stCondLst>
                      <p:childTnLst>
                        <p:par>
                          <p:cTn id="72" fill="hold">
                            <p:stCondLst>
                              <p:cond delay="0"/>
                            </p:stCondLst>
                            <p:childTnLst>
                              <p:par>
                                <p:cTn id="73" presetID="18" presetClass="entr" presetSubtype="6" fill="hold" nodeType="clickEffect">
                                  <p:stCondLst>
                                    <p:cond delay="0"/>
                                  </p:stCondLst>
                                  <p:childTnLst>
                                    <p:set>
                                      <p:cBhvr>
                                        <p:cTn id="74" dur="1" fill="hold">
                                          <p:stCondLst>
                                            <p:cond delay="0"/>
                                          </p:stCondLst>
                                        </p:cTn>
                                        <p:tgtEl>
                                          <p:spTgt spid="14"/>
                                        </p:tgtEl>
                                        <p:attrNameLst>
                                          <p:attrName>style.visibility</p:attrName>
                                        </p:attrNameLst>
                                      </p:cBhvr>
                                      <p:to>
                                        <p:strVal val="visible"/>
                                      </p:to>
                                    </p:set>
                                    <p:animEffect transition="in" filter="strips(downRight)">
                                      <p:cBhvr>
                                        <p:cTn id="75" dur="500"/>
                                        <p:tgtEl>
                                          <p:spTgt spid="14"/>
                                        </p:tgtEl>
                                      </p:cBhvr>
                                    </p:animEffect>
                                  </p:childTnLst>
                                </p:cTn>
                              </p:par>
                            </p:childTnLst>
                          </p:cTn>
                        </p:par>
                      </p:childTnLst>
                    </p:cTn>
                  </p:par>
                  <p:par>
                    <p:cTn id="76" fill="hold">
                      <p:stCondLst>
                        <p:cond delay="indefinite"/>
                      </p:stCondLst>
                      <p:childTnLst>
                        <p:par>
                          <p:cTn id="77" fill="hold">
                            <p:stCondLst>
                              <p:cond delay="0"/>
                            </p:stCondLst>
                            <p:childTnLst>
                              <p:par>
                                <p:cTn id="78" presetID="18" presetClass="entr" presetSubtype="6" fill="hold"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strips(downRight)">
                                      <p:cBhvr>
                                        <p:cTn id="80" dur="500"/>
                                        <p:tgtEl>
                                          <p:spTgt spid="17"/>
                                        </p:tgtEl>
                                      </p:cBhvr>
                                    </p:animEffect>
                                  </p:childTnLst>
                                </p:cTn>
                              </p:par>
                            </p:childTnLst>
                          </p:cTn>
                        </p:par>
                      </p:childTnLst>
                    </p:cTn>
                  </p:par>
                  <p:par>
                    <p:cTn id="81" fill="hold">
                      <p:stCondLst>
                        <p:cond delay="indefinite"/>
                      </p:stCondLst>
                      <p:childTnLst>
                        <p:par>
                          <p:cTn id="82" fill="hold">
                            <p:stCondLst>
                              <p:cond delay="0"/>
                            </p:stCondLst>
                            <p:childTnLst>
                              <p:par>
                                <p:cTn id="83" presetID="18" presetClass="entr" presetSubtype="6" fill="hold"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strips(downRight)">
                                      <p:cBhvr>
                                        <p:cTn id="8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bldLvl="0" animBg="1" autoUpdateAnimBg="0"/>
      <p:bldP spid="2" grpId="0" bldLvl="0" animBg="1" autoUpdateAnimBg="0"/>
      <p:bldP spid="59397"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文本框 14337"/>
          <p:cNvSpPr txBox="1"/>
          <p:nvPr/>
        </p:nvSpPr>
        <p:spPr>
          <a:xfrm>
            <a:off x="3352800" y="152400"/>
            <a:ext cx="5410200" cy="460375"/>
          </a:xfrm>
          <a:prstGeom prst="rect">
            <a:avLst/>
          </a:prstGeom>
          <a:solidFill>
            <a:srgbClr val="CCFFCC"/>
          </a:solidFill>
          <a:ln w="9525">
            <a:noFill/>
          </a:ln>
        </p:spPr>
        <p:txBody>
          <a:bodyPr>
            <a:spAutoFit/>
          </a:bodyPr>
          <a:lstStyle/>
          <a:p>
            <a:pPr algn="ctr" eaLnBrk="1" hangingPunct="1">
              <a:spcBef>
                <a:spcPct val="50000"/>
              </a:spcBef>
            </a:pPr>
            <a:r>
              <a:rPr lang="en-US" altLang="zh-CN" sz="2400" dirty="0">
                <a:solidFill>
                  <a:schemeClr val="hlink"/>
                </a:solidFill>
                <a:latin typeface="Times New Roman" panose="02020603050405020304" pitchFamily="18" charset="0"/>
              </a:rPr>
              <a:t>10.2.2     </a:t>
            </a:r>
            <a:r>
              <a:rPr lang="zh-CN" altLang="en-US" sz="2400" dirty="0">
                <a:solidFill>
                  <a:schemeClr val="hlink"/>
                </a:solidFill>
                <a:latin typeface="Times New Roman" panose="02020603050405020304" pitchFamily="18" charset="0"/>
              </a:rPr>
              <a:t>倒</a:t>
            </a:r>
            <a:r>
              <a:rPr lang="en-US" altLang="zh-CN" sz="2400" dirty="0">
                <a:solidFill>
                  <a:schemeClr val="hlink"/>
                </a:solidFill>
                <a:latin typeface="Times New Roman" panose="02020603050405020304" pitchFamily="18" charset="0"/>
              </a:rPr>
              <a:t>T</a:t>
            </a:r>
            <a:r>
              <a:rPr lang="zh-CN" altLang="en-US" sz="2400" dirty="0">
                <a:solidFill>
                  <a:schemeClr val="hlink"/>
                </a:solidFill>
                <a:latin typeface="Times New Roman" panose="02020603050405020304" pitchFamily="18" charset="0"/>
              </a:rPr>
              <a:t>型电阻网络</a:t>
            </a:r>
            <a:r>
              <a:rPr lang="en-US" altLang="zh-CN" sz="2400" dirty="0">
                <a:solidFill>
                  <a:schemeClr val="hlink"/>
                </a:solidFill>
                <a:latin typeface="Times New Roman" panose="02020603050405020304" pitchFamily="18" charset="0"/>
              </a:rPr>
              <a:t>D/A</a:t>
            </a:r>
            <a:r>
              <a:rPr lang="zh-CN" altLang="en-US" sz="2400" dirty="0">
                <a:solidFill>
                  <a:schemeClr val="hlink"/>
                </a:solidFill>
                <a:latin typeface="Times New Roman" panose="02020603050405020304" pitchFamily="18" charset="0"/>
              </a:rPr>
              <a:t>转换器</a:t>
            </a:r>
          </a:p>
        </p:txBody>
      </p:sp>
      <p:sp>
        <p:nvSpPr>
          <p:cNvPr id="14466" name="文本框 14465"/>
          <p:cNvSpPr txBox="1"/>
          <p:nvPr/>
        </p:nvSpPr>
        <p:spPr>
          <a:xfrm>
            <a:off x="1736725" y="685800"/>
            <a:ext cx="2926080" cy="460375"/>
          </a:xfrm>
          <a:prstGeom prst="rect">
            <a:avLst/>
          </a:prstGeom>
          <a:noFill/>
          <a:ln w="19050">
            <a:noFill/>
          </a:ln>
        </p:spPr>
        <p:txBody>
          <a:bodyPr wrap="none">
            <a:spAutoFit/>
          </a:bodyPr>
          <a:lstStyle/>
          <a:p>
            <a:pPr eaLnBrk="1" hangingPunct="1"/>
            <a:r>
              <a:rPr lang="zh-CN" altLang="en-US" sz="2400" dirty="0">
                <a:solidFill>
                  <a:schemeClr val="hlink"/>
                </a:solidFill>
                <a:latin typeface="Times New Roman" panose="02020603050405020304" pitchFamily="18" charset="0"/>
              </a:rPr>
              <a:t>一、电路及工作原理</a:t>
            </a:r>
          </a:p>
        </p:txBody>
      </p:sp>
      <p:sp>
        <p:nvSpPr>
          <p:cNvPr id="14467" name="文本框 14466"/>
          <p:cNvSpPr txBox="1"/>
          <p:nvPr/>
        </p:nvSpPr>
        <p:spPr>
          <a:xfrm>
            <a:off x="1660525" y="1143000"/>
            <a:ext cx="3673475" cy="1198880"/>
          </a:xfrm>
          <a:prstGeom prst="rect">
            <a:avLst/>
          </a:prstGeom>
          <a:noFill/>
          <a:ln w="19050">
            <a:noFill/>
          </a:ln>
        </p:spPr>
        <p:txBody>
          <a:bodyPr>
            <a:spAutoFit/>
          </a:bodyPr>
          <a:lstStyle/>
          <a:p>
            <a:pPr eaLnBrk="1" hangingPunct="1"/>
            <a:r>
              <a:rPr lang="zh-CN" altLang="en-US" sz="2400" dirty="0">
                <a:solidFill>
                  <a:schemeClr val="hlink"/>
                </a:solidFill>
                <a:latin typeface="Times New Roman" panose="02020603050405020304" pitchFamily="18" charset="0"/>
              </a:rPr>
              <a:t>基本思路：</a:t>
            </a:r>
            <a:r>
              <a:rPr lang="zh-CN" altLang="en-US" sz="2400" dirty="0">
                <a:solidFill>
                  <a:srgbClr val="000099"/>
                </a:solidFill>
                <a:latin typeface="Times New Roman" panose="02020603050405020304" pitchFamily="18" charset="0"/>
              </a:rPr>
              <a:t>将电阻放在横向支路上，越低位经过的电阻越多，电流越小</a:t>
            </a:r>
          </a:p>
        </p:txBody>
      </p:sp>
      <p:sp>
        <p:nvSpPr>
          <p:cNvPr id="14468" name="文本框 14467"/>
          <p:cNvSpPr txBox="1"/>
          <p:nvPr/>
        </p:nvSpPr>
        <p:spPr>
          <a:xfrm>
            <a:off x="1736725" y="2524125"/>
            <a:ext cx="3063875" cy="1568450"/>
          </a:xfrm>
          <a:prstGeom prst="rect">
            <a:avLst/>
          </a:prstGeom>
          <a:noFill/>
          <a:ln w="19050">
            <a:noFill/>
          </a:ln>
        </p:spPr>
        <p:txBody>
          <a:bodyPr>
            <a:spAutoFit/>
          </a:bodyPr>
          <a:lstStyle/>
          <a:p>
            <a:pPr eaLnBrk="1" hangingPunct="1"/>
            <a:r>
              <a:rPr lang="zh-CN" altLang="en-US" sz="2400" dirty="0">
                <a:solidFill>
                  <a:srgbClr val="000099"/>
                </a:solidFill>
                <a:latin typeface="Times New Roman" panose="02020603050405020304" pitchFamily="18" charset="0"/>
              </a:rPr>
              <a:t>由图可知不管开关接左还是接右，支路电流都不变，只是</a:t>
            </a:r>
            <a:r>
              <a:rPr lang="zh-CN" altLang="en-US" sz="2400" dirty="0">
                <a:solidFill>
                  <a:srgbClr val="FF00FF"/>
                </a:solidFill>
                <a:latin typeface="Times New Roman" panose="02020603050405020304" pitchFamily="18" charset="0"/>
              </a:rPr>
              <a:t>接左流入地</a:t>
            </a:r>
            <a:r>
              <a:rPr lang="zh-CN" altLang="en-US" sz="2400" dirty="0">
                <a:latin typeface="Times New Roman" panose="02020603050405020304" pitchFamily="18" charset="0"/>
              </a:rPr>
              <a:t>，</a:t>
            </a:r>
            <a:r>
              <a:rPr lang="zh-CN" altLang="en-US" sz="2400" dirty="0">
                <a:solidFill>
                  <a:srgbClr val="009900"/>
                </a:solidFill>
                <a:latin typeface="Times New Roman" panose="02020603050405020304" pitchFamily="18" charset="0"/>
              </a:rPr>
              <a:t>接右流向</a:t>
            </a:r>
            <a:r>
              <a:rPr lang="en-US" altLang="zh-CN" sz="2400" i="1" dirty="0">
                <a:solidFill>
                  <a:srgbClr val="009900"/>
                </a:solidFill>
                <a:latin typeface="Times New Roman" panose="02020603050405020304" pitchFamily="18" charset="0"/>
              </a:rPr>
              <a:t>R</a:t>
            </a:r>
            <a:r>
              <a:rPr lang="en-US" altLang="zh-CN" sz="2400" dirty="0">
                <a:latin typeface="Times New Roman" panose="02020603050405020304" pitchFamily="18" charset="0"/>
              </a:rPr>
              <a:t> </a:t>
            </a:r>
          </a:p>
        </p:txBody>
      </p:sp>
      <p:grpSp>
        <p:nvGrpSpPr>
          <p:cNvPr id="14491" name="组合 14490"/>
          <p:cNvGrpSpPr/>
          <p:nvPr/>
        </p:nvGrpSpPr>
        <p:grpSpPr>
          <a:xfrm>
            <a:off x="4808538" y="685800"/>
            <a:ext cx="5842000" cy="3740151"/>
            <a:chOff x="2069" y="432"/>
            <a:chExt cx="3680" cy="2356"/>
          </a:xfrm>
        </p:grpSpPr>
        <p:grpSp>
          <p:nvGrpSpPr>
            <p:cNvPr id="21512" name="组合 14478"/>
            <p:cNvGrpSpPr/>
            <p:nvPr/>
          </p:nvGrpSpPr>
          <p:grpSpPr>
            <a:xfrm>
              <a:off x="2069" y="432"/>
              <a:ext cx="3680" cy="2356"/>
              <a:chOff x="2069" y="432"/>
              <a:chExt cx="3680" cy="2356"/>
            </a:xfrm>
          </p:grpSpPr>
          <p:sp>
            <p:nvSpPr>
              <p:cNvPr id="21524" name="直接连接符 14375"/>
              <p:cNvSpPr/>
              <p:nvPr/>
            </p:nvSpPr>
            <p:spPr>
              <a:xfrm flipV="1">
                <a:off x="3135" y="1049"/>
                <a:ext cx="1284" cy="0"/>
              </a:xfrm>
              <a:prstGeom prst="line">
                <a:avLst/>
              </a:prstGeom>
              <a:ln w="19050" cap="flat" cmpd="sng">
                <a:solidFill>
                  <a:srgbClr val="339933"/>
                </a:solidFill>
                <a:prstDash val="solid"/>
                <a:headEnd type="none" w="med" len="med"/>
                <a:tailEnd type="none" w="med" len="med"/>
              </a:ln>
            </p:spPr>
          </p:sp>
          <p:grpSp>
            <p:nvGrpSpPr>
              <p:cNvPr id="21525" name="组合 14449"/>
              <p:cNvGrpSpPr/>
              <p:nvPr/>
            </p:nvGrpSpPr>
            <p:grpSpPr>
              <a:xfrm>
                <a:off x="2759" y="1625"/>
                <a:ext cx="1144" cy="816"/>
                <a:chOff x="962" y="1872"/>
                <a:chExt cx="1144" cy="635"/>
              </a:xfrm>
            </p:grpSpPr>
            <p:sp>
              <p:nvSpPr>
                <p:cNvPr id="21613" name="直接连接符 14430"/>
                <p:cNvSpPr/>
                <p:nvPr/>
              </p:nvSpPr>
              <p:spPr>
                <a:xfrm flipV="1">
                  <a:off x="962" y="1872"/>
                  <a:ext cx="0" cy="624"/>
                </a:xfrm>
                <a:prstGeom prst="line">
                  <a:avLst/>
                </a:prstGeom>
                <a:ln w="19050" cap="flat" cmpd="sng">
                  <a:solidFill>
                    <a:schemeClr val="tx1"/>
                  </a:solidFill>
                  <a:prstDash val="solid"/>
                  <a:headEnd type="none" w="med" len="med"/>
                  <a:tailEnd type="none" w="med" len="med"/>
                </a:ln>
              </p:spPr>
            </p:sp>
            <p:sp>
              <p:nvSpPr>
                <p:cNvPr id="21614" name="直接连接符 14344"/>
                <p:cNvSpPr/>
                <p:nvPr/>
              </p:nvSpPr>
              <p:spPr>
                <a:xfrm flipV="1">
                  <a:off x="1721" y="1883"/>
                  <a:ext cx="0" cy="624"/>
                </a:xfrm>
                <a:prstGeom prst="line">
                  <a:avLst/>
                </a:prstGeom>
                <a:ln w="19050" cap="flat" cmpd="sng">
                  <a:solidFill>
                    <a:schemeClr val="tx1"/>
                  </a:solidFill>
                  <a:prstDash val="solid"/>
                  <a:headEnd type="none" w="med" len="med"/>
                  <a:tailEnd type="none" w="med" len="med"/>
                </a:ln>
              </p:spPr>
            </p:sp>
            <p:sp>
              <p:nvSpPr>
                <p:cNvPr id="21615" name="直接连接符 14345"/>
                <p:cNvSpPr/>
                <p:nvPr/>
              </p:nvSpPr>
              <p:spPr>
                <a:xfrm flipV="1">
                  <a:off x="2106" y="1883"/>
                  <a:ext cx="0" cy="624"/>
                </a:xfrm>
                <a:prstGeom prst="line">
                  <a:avLst/>
                </a:prstGeom>
                <a:ln w="19050" cap="flat" cmpd="sng">
                  <a:solidFill>
                    <a:schemeClr val="tx1"/>
                  </a:solidFill>
                  <a:prstDash val="solid"/>
                  <a:headEnd type="none" w="med" len="med"/>
                  <a:tailEnd type="none" w="med" len="med"/>
                </a:ln>
              </p:spPr>
            </p:sp>
            <p:sp>
              <p:nvSpPr>
                <p:cNvPr id="21616" name="直接连接符 14346"/>
                <p:cNvSpPr/>
                <p:nvPr/>
              </p:nvSpPr>
              <p:spPr>
                <a:xfrm flipV="1">
                  <a:off x="1336" y="1883"/>
                  <a:ext cx="0" cy="624"/>
                </a:xfrm>
                <a:prstGeom prst="line">
                  <a:avLst/>
                </a:prstGeom>
                <a:ln w="19050" cap="flat" cmpd="sng">
                  <a:solidFill>
                    <a:schemeClr val="tx1"/>
                  </a:solidFill>
                  <a:prstDash val="solid"/>
                  <a:headEnd type="none" w="med" len="med"/>
                  <a:tailEnd type="none" w="med" len="med"/>
                </a:ln>
              </p:spPr>
            </p:sp>
          </p:grpSp>
          <p:sp>
            <p:nvSpPr>
              <p:cNvPr id="21526" name="直接连接符 14384"/>
              <p:cNvSpPr/>
              <p:nvPr/>
            </p:nvSpPr>
            <p:spPr>
              <a:xfrm flipH="1">
                <a:off x="2373" y="1289"/>
                <a:ext cx="2544" cy="0"/>
              </a:xfrm>
              <a:prstGeom prst="line">
                <a:avLst/>
              </a:prstGeom>
              <a:ln w="19050" cap="flat" cmpd="sng">
                <a:solidFill>
                  <a:schemeClr val="tx2"/>
                </a:solidFill>
                <a:prstDash val="solid"/>
                <a:headEnd type="none" w="med" len="med"/>
                <a:tailEnd type="none" w="med" len="med"/>
              </a:ln>
            </p:spPr>
          </p:sp>
          <p:grpSp>
            <p:nvGrpSpPr>
              <p:cNvPr id="21527" name="组合 14460"/>
              <p:cNvGrpSpPr/>
              <p:nvPr/>
            </p:nvGrpSpPr>
            <p:grpSpPr>
              <a:xfrm>
                <a:off x="2805" y="857"/>
                <a:ext cx="1152" cy="694"/>
                <a:chOff x="4006" y="3072"/>
                <a:chExt cx="842" cy="576"/>
              </a:xfrm>
            </p:grpSpPr>
            <p:sp>
              <p:nvSpPr>
                <p:cNvPr id="21609" name="直接连接符 14394"/>
                <p:cNvSpPr/>
                <p:nvPr/>
              </p:nvSpPr>
              <p:spPr>
                <a:xfrm>
                  <a:off x="4006" y="3072"/>
                  <a:ext cx="0" cy="576"/>
                </a:xfrm>
                <a:prstGeom prst="line">
                  <a:avLst/>
                </a:prstGeom>
                <a:ln w="19050" cap="flat" cmpd="sng">
                  <a:solidFill>
                    <a:srgbClr val="CC6600"/>
                  </a:solidFill>
                  <a:prstDash val="lgDash"/>
                  <a:headEnd type="none" w="med" len="med"/>
                  <a:tailEnd type="none" w="med" len="med"/>
                </a:ln>
              </p:spPr>
            </p:sp>
            <p:sp>
              <p:nvSpPr>
                <p:cNvPr id="21610" name="直接连接符 14395"/>
                <p:cNvSpPr/>
                <p:nvPr/>
              </p:nvSpPr>
              <p:spPr>
                <a:xfrm>
                  <a:off x="4286" y="3072"/>
                  <a:ext cx="0" cy="576"/>
                </a:xfrm>
                <a:prstGeom prst="line">
                  <a:avLst/>
                </a:prstGeom>
                <a:ln w="19050" cap="flat" cmpd="sng">
                  <a:solidFill>
                    <a:srgbClr val="CC6600"/>
                  </a:solidFill>
                  <a:prstDash val="lgDash"/>
                  <a:headEnd type="none" w="med" len="med"/>
                  <a:tailEnd type="none" w="med" len="med"/>
                </a:ln>
              </p:spPr>
            </p:sp>
            <p:sp>
              <p:nvSpPr>
                <p:cNvPr id="21611" name="直接连接符 14396"/>
                <p:cNvSpPr/>
                <p:nvPr/>
              </p:nvSpPr>
              <p:spPr>
                <a:xfrm>
                  <a:off x="4567" y="3072"/>
                  <a:ext cx="0" cy="576"/>
                </a:xfrm>
                <a:prstGeom prst="line">
                  <a:avLst/>
                </a:prstGeom>
                <a:ln w="19050" cap="flat" cmpd="sng">
                  <a:solidFill>
                    <a:srgbClr val="CC6600"/>
                  </a:solidFill>
                  <a:prstDash val="lgDash"/>
                  <a:headEnd type="none" w="med" len="med"/>
                  <a:tailEnd type="none" w="med" len="med"/>
                </a:ln>
              </p:spPr>
            </p:sp>
            <p:sp>
              <p:nvSpPr>
                <p:cNvPr id="21612" name="直接连接符 14397"/>
                <p:cNvSpPr/>
                <p:nvPr/>
              </p:nvSpPr>
              <p:spPr>
                <a:xfrm>
                  <a:off x="4848" y="3072"/>
                  <a:ext cx="0" cy="576"/>
                </a:xfrm>
                <a:prstGeom prst="line">
                  <a:avLst/>
                </a:prstGeom>
                <a:ln w="19050" cap="flat" cmpd="sng">
                  <a:solidFill>
                    <a:srgbClr val="CC6600"/>
                  </a:solidFill>
                  <a:prstDash val="lgDash"/>
                  <a:headEnd type="none" w="med" len="med"/>
                  <a:tailEnd type="none" w="med" len="med"/>
                </a:ln>
              </p:spPr>
            </p:sp>
          </p:grpSp>
          <p:grpSp>
            <p:nvGrpSpPr>
              <p:cNvPr id="21528" name="组合 14461"/>
              <p:cNvGrpSpPr/>
              <p:nvPr/>
            </p:nvGrpSpPr>
            <p:grpSpPr>
              <a:xfrm>
                <a:off x="2709" y="569"/>
                <a:ext cx="1440" cy="296"/>
                <a:chOff x="3888" y="3600"/>
                <a:chExt cx="1140" cy="296"/>
              </a:xfrm>
            </p:grpSpPr>
            <p:sp>
              <p:nvSpPr>
                <p:cNvPr id="21605" name="文本框 14398"/>
                <p:cNvSpPr txBox="1"/>
                <p:nvPr/>
              </p:nvSpPr>
              <p:spPr>
                <a:xfrm>
                  <a:off x="3888" y="3600"/>
                  <a:ext cx="217" cy="290"/>
                </a:xfrm>
                <a:prstGeom prst="rect">
                  <a:avLst/>
                </a:prstGeom>
                <a:noFill/>
                <a:ln w="19050">
                  <a:noFill/>
                </a:ln>
              </p:spPr>
              <p:txBody>
                <a:bodyPr wrap="none">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0</a:t>
                  </a:r>
                </a:p>
              </p:txBody>
            </p:sp>
            <p:sp>
              <p:nvSpPr>
                <p:cNvPr id="21606" name="文本框 14399"/>
                <p:cNvSpPr txBox="1"/>
                <p:nvPr/>
              </p:nvSpPr>
              <p:spPr>
                <a:xfrm>
                  <a:off x="4176" y="3600"/>
                  <a:ext cx="217" cy="292"/>
                </a:xfrm>
                <a:prstGeom prst="rect">
                  <a:avLst/>
                </a:prstGeom>
                <a:noFill/>
                <a:ln w="19050">
                  <a:noFill/>
                </a:ln>
              </p:spPr>
              <p:txBody>
                <a:bodyPr wrap="none">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1</a:t>
                  </a:r>
                </a:p>
              </p:txBody>
            </p:sp>
            <p:sp>
              <p:nvSpPr>
                <p:cNvPr id="21607" name="文本框 14400"/>
                <p:cNvSpPr txBox="1"/>
                <p:nvPr/>
              </p:nvSpPr>
              <p:spPr>
                <a:xfrm>
                  <a:off x="4464" y="3600"/>
                  <a:ext cx="276" cy="294"/>
                </a:xfrm>
                <a:prstGeom prst="rect">
                  <a:avLst/>
                </a:prstGeom>
                <a:noFill/>
                <a:ln w="19050">
                  <a:noFill/>
                </a:ln>
              </p:spPr>
              <p:txBody>
                <a:bodyPr>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2</a:t>
                  </a:r>
                </a:p>
              </p:txBody>
            </p:sp>
            <p:sp>
              <p:nvSpPr>
                <p:cNvPr id="21608" name="文本框 14401"/>
                <p:cNvSpPr txBox="1"/>
                <p:nvPr/>
              </p:nvSpPr>
              <p:spPr>
                <a:xfrm>
                  <a:off x="4752" y="3600"/>
                  <a:ext cx="276" cy="296"/>
                </a:xfrm>
                <a:prstGeom prst="rect">
                  <a:avLst/>
                </a:prstGeom>
                <a:noFill/>
                <a:ln w="19050">
                  <a:noFill/>
                </a:ln>
              </p:spPr>
              <p:txBody>
                <a:bodyPr>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3</a:t>
                  </a:r>
                </a:p>
              </p:txBody>
            </p:sp>
          </p:grpSp>
          <p:sp>
            <p:nvSpPr>
              <p:cNvPr id="21529" name="文本框 14408"/>
              <p:cNvSpPr txBox="1"/>
              <p:nvPr/>
            </p:nvSpPr>
            <p:spPr>
              <a:xfrm>
                <a:off x="4245" y="617"/>
                <a:ext cx="384" cy="290"/>
              </a:xfrm>
              <a:prstGeom prst="rect">
                <a:avLst/>
              </a:prstGeom>
              <a:noFill/>
              <a:ln w="19050">
                <a:noFill/>
              </a:ln>
            </p:spPr>
            <p:txBody>
              <a:bodyPr>
                <a:spAutoFit/>
              </a:bodyPr>
              <a:lstStyle/>
              <a:p>
                <a:pPr eaLnBrk="1" hangingPunct="1"/>
                <a:r>
                  <a:rPr lang="en-US" altLang="zh-CN" sz="2400" i="1" dirty="0">
                    <a:latin typeface="Times New Roman" panose="02020603050405020304" pitchFamily="18" charset="0"/>
                    <a:ea typeface="宋体" panose="02010600030101010101" pitchFamily="2" charset="-122"/>
                  </a:rPr>
                  <a:t>i </a:t>
                </a:r>
                <a:r>
                  <a:rPr lang="en-US" altLang="zh-CN" sz="2400" i="1" baseline="-25000" dirty="0">
                    <a:latin typeface="Times New Roman" panose="02020603050405020304" pitchFamily="18" charset="0"/>
                    <a:ea typeface="宋体" panose="02010600030101010101" pitchFamily="2" charset="-122"/>
                  </a:rPr>
                  <a:t>∑</a:t>
                </a:r>
                <a:endParaRPr lang="en-US" altLang="zh-CN" sz="2400" baseline="-25000" dirty="0">
                  <a:latin typeface="Times New Roman" panose="02020603050405020304" pitchFamily="18" charset="0"/>
                  <a:ea typeface="Times New Roman" panose="02020603050405020304" pitchFamily="18" charset="0"/>
                </a:endParaRPr>
              </a:p>
            </p:txBody>
          </p:sp>
          <p:sp>
            <p:nvSpPr>
              <p:cNvPr id="21530" name="文本框 14409"/>
              <p:cNvSpPr txBox="1"/>
              <p:nvPr/>
            </p:nvSpPr>
            <p:spPr>
              <a:xfrm>
                <a:off x="4245" y="2297"/>
                <a:ext cx="462" cy="290"/>
              </a:xfrm>
              <a:prstGeom prst="rect">
                <a:avLst/>
              </a:prstGeom>
              <a:noFill/>
              <a:ln w="19050">
                <a:noFill/>
              </a:ln>
            </p:spPr>
            <p:txBody>
              <a:bodyPr wrap="none">
                <a:spAutoFit/>
              </a:bodyPr>
              <a:lstStyle/>
              <a:p>
                <a:pPr eaLnBrk="1" hangingPunct="1"/>
                <a:r>
                  <a:rPr lang="en-US" altLang="zh-CN" sz="2400" i="1" dirty="0">
                    <a:solidFill>
                      <a:srgbClr val="006600"/>
                    </a:solidFill>
                    <a:latin typeface="Times New Roman" panose="02020603050405020304" pitchFamily="18" charset="0"/>
                    <a:ea typeface="宋体" panose="02010600030101010101" pitchFamily="2" charset="-122"/>
                  </a:rPr>
                  <a:t>V</a:t>
                </a:r>
                <a:r>
                  <a:rPr lang="en-US" altLang="zh-CN" sz="2400" baseline="-25000" dirty="0">
                    <a:solidFill>
                      <a:srgbClr val="006600"/>
                    </a:solidFill>
                    <a:latin typeface="Times New Roman" panose="02020603050405020304" pitchFamily="18" charset="0"/>
                    <a:ea typeface="宋体" panose="02010600030101010101" pitchFamily="2" charset="-122"/>
                  </a:rPr>
                  <a:t>REF</a:t>
                </a:r>
              </a:p>
            </p:txBody>
          </p:sp>
          <p:sp>
            <p:nvSpPr>
              <p:cNvPr id="21531" name="直接连接符 14407"/>
              <p:cNvSpPr/>
              <p:nvPr/>
            </p:nvSpPr>
            <p:spPr>
              <a:xfrm flipV="1">
                <a:off x="4293" y="1001"/>
                <a:ext cx="192" cy="0"/>
              </a:xfrm>
              <a:prstGeom prst="line">
                <a:avLst/>
              </a:prstGeom>
              <a:ln w="19050" cap="flat" cmpd="sng">
                <a:solidFill>
                  <a:schemeClr val="hlink"/>
                </a:solidFill>
                <a:prstDash val="solid"/>
                <a:headEnd type="none" w="med" len="med"/>
                <a:tailEnd type="triangle" w="med" len="med"/>
              </a:ln>
            </p:spPr>
          </p:sp>
          <p:sp>
            <p:nvSpPr>
              <p:cNvPr id="21532" name="文本框 14348"/>
              <p:cNvSpPr txBox="1"/>
              <p:nvPr/>
            </p:nvSpPr>
            <p:spPr>
              <a:xfrm>
                <a:off x="5459" y="1018"/>
                <a:ext cx="290" cy="290"/>
              </a:xfrm>
              <a:prstGeom prst="rect">
                <a:avLst/>
              </a:prstGeom>
              <a:noFill/>
              <a:ln w="9525">
                <a:noFill/>
              </a:ln>
            </p:spPr>
            <p:txBody>
              <a:bodyPr wrap="none">
                <a:spAutoFit/>
              </a:bodyPr>
              <a:lstStyle/>
              <a:p>
                <a:r>
                  <a:rPr lang="en-US" altLang="zh-CN" sz="2400" i="1" dirty="0">
                    <a:solidFill>
                      <a:srgbClr val="3333FF"/>
                    </a:solidFill>
                    <a:latin typeface="Times New Roman" panose="02020603050405020304" pitchFamily="18" charset="0"/>
                    <a:ea typeface="宋体" panose="02010600030101010101" pitchFamily="2" charset="-122"/>
                  </a:rPr>
                  <a:t>v</a:t>
                </a:r>
                <a:r>
                  <a:rPr lang="en-US" altLang="zh-CN" sz="2400" baseline="-25000" dirty="0">
                    <a:solidFill>
                      <a:srgbClr val="3333FF"/>
                    </a:solidFill>
                    <a:latin typeface="Times New Roman" panose="02020603050405020304" pitchFamily="18" charset="0"/>
                    <a:ea typeface="宋体" panose="02010600030101010101" pitchFamily="2" charset="-122"/>
                  </a:rPr>
                  <a:t>O</a:t>
                </a:r>
              </a:p>
            </p:txBody>
          </p:sp>
          <p:sp>
            <p:nvSpPr>
              <p:cNvPr id="21533" name="文本框 14349"/>
              <p:cNvSpPr txBox="1"/>
              <p:nvPr/>
            </p:nvSpPr>
            <p:spPr>
              <a:xfrm>
                <a:off x="4886" y="473"/>
                <a:ext cx="213" cy="251"/>
              </a:xfrm>
              <a:prstGeom prst="rect">
                <a:avLst/>
              </a:prstGeom>
              <a:noFill/>
              <a:ln w="9525">
                <a:noFill/>
              </a:ln>
            </p:spPr>
            <p:txBody>
              <a:bodyPr wrap="none">
                <a:spAutoFit/>
              </a:bodyPr>
              <a:lstStyle/>
              <a:p>
                <a:r>
                  <a:rPr lang="en-US" altLang="zh-CN" sz="2000" i="1" dirty="0">
                    <a:solidFill>
                      <a:srgbClr val="3333FF"/>
                    </a:solidFill>
                    <a:latin typeface="Times New Roman" panose="02020603050405020304" pitchFamily="18" charset="0"/>
                    <a:ea typeface="宋体" panose="02010600030101010101" pitchFamily="2" charset="-122"/>
                  </a:rPr>
                  <a:t>R</a:t>
                </a:r>
                <a:endParaRPr lang="en-US" altLang="zh-CN" sz="2000" dirty="0">
                  <a:solidFill>
                    <a:srgbClr val="3333FF"/>
                  </a:solidFill>
                  <a:latin typeface="Times New Roman" panose="02020603050405020304" pitchFamily="18" charset="0"/>
                  <a:ea typeface="宋体" panose="02010600030101010101" pitchFamily="2" charset="-122"/>
                </a:endParaRPr>
              </a:p>
            </p:txBody>
          </p:sp>
          <p:sp>
            <p:nvSpPr>
              <p:cNvPr id="21534" name="等腰三角形 14350"/>
              <p:cNvSpPr/>
              <p:nvPr/>
            </p:nvSpPr>
            <p:spPr>
              <a:xfrm rot="5400000">
                <a:off x="4811" y="953"/>
                <a:ext cx="432" cy="480"/>
              </a:xfrm>
              <a:prstGeom prst="triangle">
                <a:avLst>
                  <a:gd name="adj" fmla="val 50000"/>
                </a:avLst>
              </a:prstGeom>
              <a:solidFill>
                <a:schemeClr val="accent1"/>
              </a:solidFill>
              <a:ln w="19050" cap="flat" cmpd="sng">
                <a:solidFill>
                  <a:schemeClr val="tx1"/>
                </a:solidFill>
                <a:prstDash val="solid"/>
                <a:miter/>
                <a:headEnd type="none" w="med" len="med"/>
                <a:tailEnd type="none" w="med" len="med"/>
              </a:ln>
            </p:spPr>
            <p:txBody>
              <a:bodyPr rot="10800000" vert="eaVert" wrap="none" anchor="ctr" anchorCtr="0"/>
              <a:lstStyle/>
              <a:p>
                <a:pPr algn="ctr"/>
                <a:r>
                  <a:rPr lang="en-US" altLang="zh-CN" sz="2000" dirty="0">
                    <a:solidFill>
                      <a:srgbClr val="3333FF"/>
                    </a:solidFill>
                    <a:latin typeface="Times New Roman" panose="02020603050405020304" pitchFamily="18" charset="0"/>
                    <a:ea typeface="宋体" panose="02010600030101010101" pitchFamily="2" charset="-122"/>
                  </a:rPr>
                  <a:t>  A</a:t>
                </a:r>
              </a:p>
            </p:txBody>
          </p:sp>
          <p:sp>
            <p:nvSpPr>
              <p:cNvPr id="21535" name="文本框 14351"/>
              <p:cNvSpPr txBox="1"/>
              <p:nvPr/>
            </p:nvSpPr>
            <p:spPr>
              <a:xfrm>
                <a:off x="4773" y="953"/>
                <a:ext cx="168" cy="251"/>
              </a:xfrm>
              <a:prstGeom prst="rect">
                <a:avLst/>
              </a:prstGeom>
              <a:noFill/>
              <a:ln w="19050">
                <a:noFill/>
              </a:ln>
            </p:spPr>
            <p:txBody>
              <a:bodyPr wrap="none">
                <a:spAutoFit/>
              </a:bodyPr>
              <a:lstStyle/>
              <a:p>
                <a:r>
                  <a:rPr lang="en-US" altLang="zh-CN" sz="2000" dirty="0">
                    <a:solidFill>
                      <a:srgbClr val="3333FF"/>
                    </a:solidFill>
                    <a:latin typeface="Times New Roman" panose="02020603050405020304" pitchFamily="18" charset="0"/>
                    <a:ea typeface="宋体" panose="02010600030101010101" pitchFamily="2" charset="-122"/>
                  </a:rPr>
                  <a:t>-</a:t>
                </a:r>
              </a:p>
            </p:txBody>
          </p:sp>
          <p:sp>
            <p:nvSpPr>
              <p:cNvPr id="21536" name="文本框 14352"/>
              <p:cNvSpPr txBox="1"/>
              <p:nvPr/>
            </p:nvSpPr>
            <p:spPr>
              <a:xfrm>
                <a:off x="4787" y="1145"/>
                <a:ext cx="206" cy="251"/>
              </a:xfrm>
              <a:prstGeom prst="rect">
                <a:avLst/>
              </a:prstGeom>
              <a:noFill/>
              <a:ln w="19050">
                <a:noFill/>
              </a:ln>
            </p:spPr>
            <p:txBody>
              <a:bodyPr wrap="none">
                <a:spAutoFit/>
              </a:bodyPr>
              <a:lstStyle/>
              <a:p>
                <a:r>
                  <a:rPr lang="en-US" altLang="zh-CN" sz="2000" dirty="0">
                    <a:solidFill>
                      <a:srgbClr val="3333FF"/>
                    </a:solidFill>
                    <a:latin typeface="Times New Roman" panose="02020603050405020304" pitchFamily="18" charset="0"/>
                    <a:ea typeface="宋体" panose="02010600030101010101" pitchFamily="2" charset="-122"/>
                  </a:rPr>
                  <a:t>+</a:t>
                </a:r>
              </a:p>
            </p:txBody>
          </p:sp>
          <p:sp>
            <p:nvSpPr>
              <p:cNvPr id="21537" name="直接连接符 14403"/>
              <p:cNvSpPr/>
              <p:nvPr/>
            </p:nvSpPr>
            <p:spPr>
              <a:xfrm>
                <a:off x="4533" y="1474"/>
                <a:ext cx="118" cy="0"/>
              </a:xfrm>
              <a:prstGeom prst="line">
                <a:avLst/>
              </a:prstGeom>
              <a:ln w="19050" cap="flat" cmpd="sng">
                <a:solidFill>
                  <a:schemeClr val="tx1"/>
                </a:solidFill>
                <a:prstDash val="solid"/>
                <a:headEnd type="none" w="med" len="med"/>
                <a:tailEnd type="none" w="med" len="med"/>
              </a:ln>
            </p:spPr>
          </p:sp>
          <p:sp>
            <p:nvSpPr>
              <p:cNvPr id="21538" name="直接连接符 14404"/>
              <p:cNvSpPr/>
              <p:nvPr/>
            </p:nvSpPr>
            <p:spPr>
              <a:xfrm>
                <a:off x="5267" y="1193"/>
                <a:ext cx="192" cy="0"/>
              </a:xfrm>
              <a:prstGeom prst="line">
                <a:avLst/>
              </a:prstGeom>
              <a:ln w="19050" cap="flat" cmpd="sng">
                <a:solidFill>
                  <a:schemeClr val="tx1"/>
                </a:solidFill>
                <a:prstDash val="solid"/>
                <a:headEnd type="none" w="med" len="med"/>
                <a:tailEnd type="none" w="med" len="med"/>
              </a:ln>
            </p:spPr>
          </p:sp>
          <p:sp>
            <p:nvSpPr>
              <p:cNvPr id="21539" name="任意多边形 14405"/>
              <p:cNvSpPr/>
              <p:nvPr/>
            </p:nvSpPr>
            <p:spPr>
              <a:xfrm>
                <a:off x="4589" y="761"/>
                <a:ext cx="726" cy="432"/>
              </a:xfrm>
              <a:custGeom>
                <a:avLst/>
                <a:gdLst/>
                <a:ahLst/>
                <a:cxnLst>
                  <a:cxn ang="0">
                    <a:pos x="0" y="288"/>
                  </a:cxn>
                  <a:cxn ang="0">
                    <a:pos x="0" y="0"/>
                  </a:cxn>
                  <a:cxn ang="0">
                    <a:pos x="726" y="0"/>
                  </a:cxn>
                  <a:cxn ang="0">
                    <a:pos x="726" y="432"/>
                  </a:cxn>
                </a:cxnLst>
                <a:rect l="0" t="0" r="0" b="0"/>
                <a:pathLst>
                  <a:path w="624" h="432">
                    <a:moveTo>
                      <a:pt x="0" y="288"/>
                    </a:moveTo>
                    <a:lnTo>
                      <a:pt x="0" y="0"/>
                    </a:lnTo>
                    <a:lnTo>
                      <a:pt x="624" y="0"/>
                    </a:lnTo>
                    <a:lnTo>
                      <a:pt x="624" y="432"/>
                    </a:ln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1540" name="矩形 14406"/>
              <p:cNvSpPr/>
              <p:nvPr/>
            </p:nvSpPr>
            <p:spPr>
              <a:xfrm rot="-5400000">
                <a:off x="4970" y="641"/>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41" name="椭圆 14414"/>
              <p:cNvSpPr/>
              <p:nvPr/>
            </p:nvSpPr>
            <p:spPr>
              <a:xfrm>
                <a:off x="5298" y="1178"/>
                <a:ext cx="48" cy="48"/>
              </a:xfrm>
              <a:prstGeom prst="ellipse">
                <a:avLst/>
              </a:prstGeom>
              <a:solidFill>
                <a:schemeClr val="tx2"/>
              </a:solidFill>
              <a:ln w="19050" cap="flat" cmpd="sng">
                <a:solidFill>
                  <a:schemeClr val="tx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42" name="文本框 14419"/>
              <p:cNvSpPr txBox="1"/>
              <p:nvPr/>
            </p:nvSpPr>
            <p:spPr>
              <a:xfrm>
                <a:off x="4559" y="1043"/>
                <a:ext cx="266"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dirty="0">
                    <a:latin typeface="Times New Roman" panose="02020603050405020304" pitchFamily="18" charset="0"/>
                    <a:ea typeface="宋体" panose="02010600030101010101" pitchFamily="2" charset="-122"/>
                  </a:rPr>
                  <a:t>-</a:t>
                </a:r>
              </a:p>
            </p:txBody>
          </p:sp>
          <p:sp>
            <p:nvSpPr>
              <p:cNvPr id="21543" name="文本框 14420"/>
              <p:cNvSpPr txBox="1"/>
              <p:nvPr/>
            </p:nvSpPr>
            <p:spPr>
              <a:xfrm>
                <a:off x="4541" y="1241"/>
                <a:ext cx="30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dirty="0">
                    <a:latin typeface="Times New Roman" panose="02020603050405020304" pitchFamily="18" charset="0"/>
                    <a:ea typeface="宋体" panose="02010600030101010101" pitchFamily="2" charset="-122"/>
                  </a:rPr>
                  <a:t>+</a:t>
                </a:r>
              </a:p>
            </p:txBody>
          </p:sp>
          <p:sp>
            <p:nvSpPr>
              <p:cNvPr id="21544" name="文本框 14421"/>
              <p:cNvSpPr txBox="1"/>
              <p:nvPr/>
            </p:nvSpPr>
            <p:spPr>
              <a:xfrm>
                <a:off x="2639" y="432"/>
                <a:ext cx="408"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LSB</a:t>
                </a:r>
              </a:p>
            </p:txBody>
          </p:sp>
          <p:sp>
            <p:nvSpPr>
              <p:cNvPr id="21545" name="文本框 14422"/>
              <p:cNvSpPr txBox="1"/>
              <p:nvPr/>
            </p:nvSpPr>
            <p:spPr>
              <a:xfrm>
                <a:off x="3686" y="432"/>
                <a:ext cx="45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MSB</a:t>
                </a:r>
              </a:p>
            </p:txBody>
          </p:sp>
          <p:sp>
            <p:nvSpPr>
              <p:cNvPr id="21546" name="直接连接符 14426"/>
              <p:cNvSpPr/>
              <p:nvPr/>
            </p:nvSpPr>
            <p:spPr>
              <a:xfrm flipV="1">
                <a:off x="4586" y="1278"/>
                <a:ext cx="0" cy="192"/>
              </a:xfrm>
              <a:prstGeom prst="line">
                <a:avLst/>
              </a:prstGeom>
              <a:ln w="19050" cap="flat" cmpd="sng">
                <a:solidFill>
                  <a:schemeClr val="tx1"/>
                </a:solidFill>
                <a:prstDash val="solid"/>
                <a:headEnd type="none" w="med" len="med"/>
                <a:tailEnd type="none" w="med" len="med"/>
              </a:ln>
            </p:spPr>
          </p:sp>
          <p:sp>
            <p:nvSpPr>
              <p:cNvPr id="21547" name="任意多边形 14425"/>
              <p:cNvSpPr/>
              <p:nvPr/>
            </p:nvSpPr>
            <p:spPr>
              <a:xfrm>
                <a:off x="2908" y="1049"/>
                <a:ext cx="1865" cy="432"/>
              </a:xfrm>
              <a:custGeom>
                <a:avLst/>
                <a:gdLst/>
                <a:ahLst/>
                <a:cxnLst>
                  <a:cxn ang="0">
                    <a:pos x="1865" y="0"/>
                  </a:cxn>
                  <a:cxn ang="0">
                    <a:pos x="0" y="0"/>
                  </a:cxn>
                  <a:cxn ang="0">
                    <a:pos x="0" y="432"/>
                  </a:cxn>
                </a:cxnLst>
                <a:rect l="0" t="0" r="0" b="0"/>
                <a:pathLst>
                  <a:path w="2112" h="432">
                    <a:moveTo>
                      <a:pt x="2112" y="0"/>
                    </a:moveTo>
                    <a:lnTo>
                      <a:pt x="0" y="0"/>
                    </a:lnTo>
                    <a:lnTo>
                      <a:pt x="0" y="432"/>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21548" name="直接连接符 14376"/>
              <p:cNvSpPr/>
              <p:nvPr/>
            </p:nvSpPr>
            <p:spPr>
              <a:xfrm flipV="1">
                <a:off x="3284" y="1049"/>
                <a:ext cx="0" cy="417"/>
              </a:xfrm>
              <a:prstGeom prst="line">
                <a:avLst/>
              </a:prstGeom>
              <a:ln w="19050" cap="flat" cmpd="sng">
                <a:solidFill>
                  <a:srgbClr val="339933"/>
                </a:solidFill>
                <a:prstDash val="solid"/>
                <a:headEnd type="none" w="med" len="med"/>
                <a:tailEnd type="none" w="med" len="med"/>
              </a:ln>
            </p:spPr>
          </p:sp>
          <p:sp>
            <p:nvSpPr>
              <p:cNvPr id="21549" name="直接连接符 14378"/>
              <p:cNvSpPr/>
              <p:nvPr/>
            </p:nvSpPr>
            <p:spPr>
              <a:xfrm flipV="1">
                <a:off x="3672" y="1049"/>
                <a:ext cx="0" cy="417"/>
              </a:xfrm>
              <a:prstGeom prst="line">
                <a:avLst/>
              </a:prstGeom>
              <a:ln w="19050" cap="flat" cmpd="sng">
                <a:solidFill>
                  <a:srgbClr val="339933"/>
                </a:solidFill>
                <a:prstDash val="solid"/>
                <a:headEnd type="none" w="med" len="med"/>
                <a:tailEnd type="none" w="med" len="med"/>
              </a:ln>
            </p:spPr>
          </p:sp>
          <p:sp>
            <p:nvSpPr>
              <p:cNvPr id="21550" name="直接连接符 14380"/>
              <p:cNvSpPr/>
              <p:nvPr/>
            </p:nvSpPr>
            <p:spPr>
              <a:xfrm flipV="1">
                <a:off x="4045" y="1049"/>
                <a:ext cx="0" cy="417"/>
              </a:xfrm>
              <a:prstGeom prst="line">
                <a:avLst/>
              </a:prstGeom>
              <a:ln w="19050" cap="flat" cmpd="sng">
                <a:solidFill>
                  <a:srgbClr val="339933"/>
                </a:solidFill>
                <a:prstDash val="solid"/>
                <a:headEnd type="none" w="med" len="med"/>
                <a:tailEnd type="none" w="med" len="med"/>
              </a:ln>
            </p:spPr>
          </p:sp>
          <p:sp>
            <p:nvSpPr>
              <p:cNvPr id="21551" name="直接连接符 14385"/>
              <p:cNvSpPr/>
              <p:nvPr/>
            </p:nvSpPr>
            <p:spPr>
              <a:xfrm flipH="1" flipV="1">
                <a:off x="3801" y="1278"/>
                <a:ext cx="0" cy="192"/>
              </a:xfrm>
              <a:prstGeom prst="line">
                <a:avLst/>
              </a:prstGeom>
              <a:ln w="19050" cap="flat" cmpd="sng">
                <a:solidFill>
                  <a:schemeClr val="tx2"/>
                </a:solidFill>
                <a:prstDash val="solid"/>
                <a:headEnd type="none" w="med" len="med"/>
                <a:tailEnd type="none" w="med" len="med"/>
              </a:ln>
            </p:spPr>
          </p:sp>
          <p:sp>
            <p:nvSpPr>
              <p:cNvPr id="21552" name="直接连接符 14386"/>
              <p:cNvSpPr/>
              <p:nvPr/>
            </p:nvSpPr>
            <p:spPr>
              <a:xfrm flipH="1" flipV="1">
                <a:off x="3414" y="1278"/>
                <a:ext cx="0" cy="192"/>
              </a:xfrm>
              <a:prstGeom prst="line">
                <a:avLst/>
              </a:prstGeom>
              <a:ln w="19050" cap="flat" cmpd="sng">
                <a:solidFill>
                  <a:schemeClr val="tx2"/>
                </a:solidFill>
                <a:prstDash val="solid"/>
                <a:headEnd type="none" w="med" len="med"/>
                <a:tailEnd type="none" w="med" len="med"/>
              </a:ln>
            </p:spPr>
          </p:sp>
          <p:sp>
            <p:nvSpPr>
              <p:cNvPr id="21553" name="直接连接符 14388"/>
              <p:cNvSpPr/>
              <p:nvPr/>
            </p:nvSpPr>
            <p:spPr>
              <a:xfrm flipH="1" flipV="1">
                <a:off x="3040" y="1278"/>
                <a:ext cx="0" cy="192"/>
              </a:xfrm>
              <a:prstGeom prst="line">
                <a:avLst/>
              </a:prstGeom>
              <a:ln w="19050" cap="flat" cmpd="sng">
                <a:solidFill>
                  <a:schemeClr val="tx2"/>
                </a:solidFill>
                <a:prstDash val="solid"/>
                <a:headEnd type="none" w="med" len="med"/>
                <a:tailEnd type="none" w="med" len="med"/>
              </a:ln>
            </p:spPr>
          </p:sp>
          <p:sp>
            <p:nvSpPr>
              <p:cNvPr id="21554" name="直接连接符 14390"/>
              <p:cNvSpPr/>
              <p:nvPr/>
            </p:nvSpPr>
            <p:spPr>
              <a:xfrm flipH="1" flipV="1">
                <a:off x="2666" y="1278"/>
                <a:ext cx="0" cy="192"/>
              </a:xfrm>
              <a:prstGeom prst="line">
                <a:avLst/>
              </a:prstGeom>
              <a:ln w="19050" cap="flat" cmpd="sng">
                <a:solidFill>
                  <a:schemeClr val="tx2"/>
                </a:solidFill>
                <a:prstDash val="solid"/>
                <a:headEnd type="none" w="med" len="med"/>
                <a:tailEnd type="none" w="med" len="med"/>
              </a:ln>
            </p:spPr>
          </p:sp>
          <p:sp>
            <p:nvSpPr>
              <p:cNvPr id="21555" name="直接连接符 14340"/>
              <p:cNvSpPr/>
              <p:nvPr/>
            </p:nvSpPr>
            <p:spPr>
              <a:xfrm flipH="1" flipV="1">
                <a:off x="3371" y="1458"/>
                <a:ext cx="158" cy="144"/>
              </a:xfrm>
              <a:prstGeom prst="line">
                <a:avLst/>
              </a:prstGeom>
              <a:ln w="28575" cap="flat" cmpd="sng">
                <a:solidFill>
                  <a:srgbClr val="FF00FF"/>
                </a:solidFill>
                <a:prstDash val="solid"/>
                <a:headEnd type="none" w="med" len="med"/>
                <a:tailEnd type="none" w="med" len="med"/>
              </a:ln>
            </p:spPr>
          </p:sp>
          <p:sp>
            <p:nvSpPr>
              <p:cNvPr id="21556" name="直接连接符 14341"/>
              <p:cNvSpPr/>
              <p:nvPr/>
            </p:nvSpPr>
            <p:spPr>
              <a:xfrm flipH="1" flipV="1">
                <a:off x="3010" y="1469"/>
                <a:ext cx="158" cy="144"/>
              </a:xfrm>
              <a:prstGeom prst="line">
                <a:avLst/>
              </a:prstGeom>
              <a:ln w="28575" cap="flat" cmpd="sng">
                <a:solidFill>
                  <a:srgbClr val="FF00FF"/>
                </a:solidFill>
                <a:prstDash val="solid"/>
                <a:headEnd type="none" w="med" len="med"/>
                <a:tailEnd type="none" w="med" len="med"/>
              </a:ln>
            </p:spPr>
          </p:sp>
          <p:sp>
            <p:nvSpPr>
              <p:cNvPr id="21557" name="直接连接符 14342"/>
              <p:cNvSpPr/>
              <p:nvPr/>
            </p:nvSpPr>
            <p:spPr>
              <a:xfrm flipH="1" flipV="1">
                <a:off x="2613" y="1447"/>
                <a:ext cx="158" cy="144"/>
              </a:xfrm>
              <a:prstGeom prst="line">
                <a:avLst/>
              </a:prstGeom>
              <a:ln w="28575" cap="flat" cmpd="sng">
                <a:solidFill>
                  <a:srgbClr val="FF00FF"/>
                </a:solidFill>
                <a:prstDash val="solid"/>
                <a:headEnd type="none" w="med" len="med"/>
                <a:tailEnd type="none" w="med" len="med"/>
              </a:ln>
            </p:spPr>
          </p:sp>
          <p:sp>
            <p:nvSpPr>
              <p:cNvPr id="21558" name="直接连接符 14343"/>
              <p:cNvSpPr/>
              <p:nvPr/>
            </p:nvSpPr>
            <p:spPr>
              <a:xfrm flipH="1" flipV="1">
                <a:off x="3744" y="1447"/>
                <a:ext cx="158" cy="144"/>
              </a:xfrm>
              <a:prstGeom prst="line">
                <a:avLst/>
              </a:prstGeom>
              <a:ln w="28575" cap="flat" cmpd="sng">
                <a:solidFill>
                  <a:srgbClr val="FF00FF"/>
                </a:solidFill>
                <a:prstDash val="solid"/>
                <a:headEnd type="none" w="med" len="med"/>
                <a:tailEnd type="none" w="med" len="med"/>
              </a:ln>
            </p:spPr>
          </p:sp>
          <p:grpSp>
            <p:nvGrpSpPr>
              <p:cNvPr id="21559" name="组合 14369"/>
              <p:cNvGrpSpPr/>
              <p:nvPr/>
            </p:nvGrpSpPr>
            <p:grpSpPr>
              <a:xfrm flipH="1" flipV="1">
                <a:off x="2730" y="1602"/>
                <a:ext cx="1200" cy="48"/>
                <a:chOff x="218" y="1632"/>
                <a:chExt cx="897" cy="48"/>
              </a:xfrm>
            </p:grpSpPr>
            <p:sp>
              <p:nvSpPr>
                <p:cNvPr id="21601" name="椭圆 14370"/>
                <p:cNvSpPr/>
                <p:nvPr/>
              </p:nvSpPr>
              <p:spPr>
                <a:xfrm>
                  <a:off x="218"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602" name="椭圆 14371"/>
                <p:cNvSpPr/>
                <p:nvPr/>
              </p:nvSpPr>
              <p:spPr>
                <a:xfrm>
                  <a:off x="508"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603" name="椭圆 14372"/>
                <p:cNvSpPr/>
                <p:nvPr/>
              </p:nvSpPr>
              <p:spPr>
                <a:xfrm>
                  <a:off x="787"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604" name="椭圆 14373"/>
                <p:cNvSpPr/>
                <p:nvPr/>
              </p:nvSpPr>
              <p:spPr>
                <a:xfrm>
                  <a:off x="1067"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1560" name="文本框 14410"/>
              <p:cNvSpPr txBox="1"/>
              <p:nvPr/>
            </p:nvSpPr>
            <p:spPr>
              <a:xfrm>
                <a:off x="3970"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3</a:t>
                </a:r>
              </a:p>
            </p:txBody>
          </p:sp>
          <p:sp>
            <p:nvSpPr>
              <p:cNvPr id="21561" name="文本框 14411"/>
              <p:cNvSpPr txBox="1"/>
              <p:nvPr/>
            </p:nvSpPr>
            <p:spPr>
              <a:xfrm>
                <a:off x="3591"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2</a:t>
                </a:r>
              </a:p>
            </p:txBody>
          </p:sp>
          <p:sp>
            <p:nvSpPr>
              <p:cNvPr id="21562" name="文本框 14412"/>
              <p:cNvSpPr txBox="1"/>
              <p:nvPr/>
            </p:nvSpPr>
            <p:spPr>
              <a:xfrm>
                <a:off x="3213"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1</a:t>
                </a:r>
              </a:p>
            </p:txBody>
          </p:sp>
          <p:sp>
            <p:nvSpPr>
              <p:cNvPr id="21563" name="文本框 14413"/>
              <p:cNvSpPr txBox="1"/>
              <p:nvPr/>
            </p:nvSpPr>
            <p:spPr>
              <a:xfrm>
                <a:off x="2834"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0</a:t>
                </a:r>
              </a:p>
            </p:txBody>
          </p:sp>
          <p:sp>
            <p:nvSpPr>
              <p:cNvPr id="21564" name="任意多边形 14347"/>
              <p:cNvSpPr/>
              <p:nvPr/>
            </p:nvSpPr>
            <p:spPr>
              <a:xfrm flipV="1">
                <a:off x="2394" y="1289"/>
                <a:ext cx="1851" cy="1152"/>
              </a:xfrm>
              <a:custGeom>
                <a:avLst/>
                <a:gdLst/>
                <a:ahLst/>
                <a:cxnLst>
                  <a:cxn ang="0">
                    <a:pos x="1851" y="0"/>
                  </a:cxn>
                  <a:cxn ang="0">
                    <a:pos x="0" y="0"/>
                  </a:cxn>
                  <a:cxn ang="0">
                    <a:pos x="0" y="1152"/>
                  </a:cxn>
                </a:cxnLst>
                <a:rect l="0" t="0" r="0" b="0"/>
                <a:pathLst>
                  <a:path w="1344" h="624">
                    <a:moveTo>
                      <a:pt x="1344" y="0"/>
                    </a:moveTo>
                    <a:lnTo>
                      <a:pt x="0" y="0"/>
                    </a:lnTo>
                    <a:lnTo>
                      <a:pt x="0" y="624"/>
                    </a:ln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1565" name="矩形 14353"/>
              <p:cNvSpPr/>
              <p:nvPr/>
            </p:nvSpPr>
            <p:spPr>
              <a:xfrm rot="-10800000" flipV="1">
                <a:off x="3846"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66" name="文本框 14358"/>
              <p:cNvSpPr txBox="1"/>
              <p:nvPr/>
            </p:nvSpPr>
            <p:spPr>
              <a:xfrm>
                <a:off x="2827"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1567" name="文本框 14359"/>
              <p:cNvSpPr txBox="1"/>
              <p:nvPr/>
            </p:nvSpPr>
            <p:spPr>
              <a:xfrm>
                <a:off x="3205"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1568" name="文本框 14360"/>
              <p:cNvSpPr txBox="1"/>
              <p:nvPr/>
            </p:nvSpPr>
            <p:spPr>
              <a:xfrm>
                <a:off x="3584" y="1961"/>
                <a:ext cx="29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2R</a:t>
                </a:r>
              </a:p>
            </p:txBody>
          </p:sp>
          <p:sp>
            <p:nvSpPr>
              <p:cNvPr id="21569" name="直接连接符 14361"/>
              <p:cNvSpPr/>
              <p:nvPr/>
            </p:nvSpPr>
            <p:spPr>
              <a:xfrm flipV="1">
                <a:off x="2876" y="1817"/>
                <a:ext cx="0" cy="192"/>
              </a:xfrm>
              <a:prstGeom prst="line">
                <a:avLst/>
              </a:prstGeom>
              <a:ln w="19050" cap="flat" cmpd="sng">
                <a:solidFill>
                  <a:schemeClr val="hlink"/>
                </a:solidFill>
                <a:prstDash val="solid"/>
                <a:headEnd type="none" w="med" len="med"/>
                <a:tailEnd type="triangle" w="med" len="med"/>
              </a:ln>
            </p:spPr>
          </p:sp>
          <p:sp>
            <p:nvSpPr>
              <p:cNvPr id="21570" name="直接连接符 14362"/>
              <p:cNvSpPr/>
              <p:nvPr/>
            </p:nvSpPr>
            <p:spPr>
              <a:xfrm flipV="1">
                <a:off x="3189" y="1817"/>
                <a:ext cx="0" cy="192"/>
              </a:xfrm>
              <a:prstGeom prst="line">
                <a:avLst/>
              </a:prstGeom>
              <a:ln w="19050" cap="flat" cmpd="sng">
                <a:solidFill>
                  <a:schemeClr val="hlink"/>
                </a:solidFill>
                <a:prstDash val="solid"/>
                <a:headEnd type="none" w="med" len="med"/>
                <a:tailEnd type="triangle" w="med" len="med"/>
              </a:ln>
            </p:spPr>
          </p:sp>
          <p:sp>
            <p:nvSpPr>
              <p:cNvPr id="21571" name="直接连接符 14363"/>
              <p:cNvSpPr/>
              <p:nvPr/>
            </p:nvSpPr>
            <p:spPr>
              <a:xfrm flipV="1">
                <a:off x="3646" y="1817"/>
                <a:ext cx="0" cy="192"/>
              </a:xfrm>
              <a:prstGeom prst="line">
                <a:avLst/>
              </a:prstGeom>
              <a:ln w="19050" cap="flat" cmpd="sng">
                <a:solidFill>
                  <a:schemeClr val="hlink"/>
                </a:solidFill>
                <a:prstDash val="solid"/>
                <a:headEnd type="none" w="med" len="med"/>
                <a:tailEnd type="triangle" w="med" len="med"/>
              </a:ln>
            </p:spPr>
          </p:sp>
          <p:sp>
            <p:nvSpPr>
              <p:cNvPr id="21572" name="直接连接符 14364"/>
              <p:cNvSpPr/>
              <p:nvPr/>
            </p:nvSpPr>
            <p:spPr>
              <a:xfrm flipV="1">
                <a:off x="4005" y="1817"/>
                <a:ext cx="0" cy="192"/>
              </a:xfrm>
              <a:prstGeom prst="line">
                <a:avLst/>
              </a:prstGeom>
              <a:ln w="19050" cap="flat" cmpd="sng">
                <a:solidFill>
                  <a:schemeClr val="hlink"/>
                </a:solidFill>
                <a:prstDash val="solid"/>
                <a:headEnd type="none" w="med" len="med"/>
                <a:tailEnd type="triangle" w="med" len="med"/>
              </a:ln>
            </p:spPr>
          </p:sp>
          <p:sp>
            <p:nvSpPr>
              <p:cNvPr id="21573" name="文本框 14365"/>
              <p:cNvSpPr txBox="1"/>
              <p:nvPr/>
            </p:nvSpPr>
            <p:spPr>
              <a:xfrm>
                <a:off x="2757"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0</a:t>
                </a:r>
              </a:p>
            </p:txBody>
          </p:sp>
          <p:sp>
            <p:nvSpPr>
              <p:cNvPr id="21574" name="文本框 14366"/>
              <p:cNvSpPr txBox="1"/>
              <p:nvPr/>
            </p:nvSpPr>
            <p:spPr>
              <a:xfrm>
                <a:off x="3142"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1</a:t>
                </a:r>
              </a:p>
            </p:txBody>
          </p:sp>
          <p:sp>
            <p:nvSpPr>
              <p:cNvPr id="21575" name="文本框 14367"/>
              <p:cNvSpPr txBox="1"/>
              <p:nvPr/>
            </p:nvSpPr>
            <p:spPr>
              <a:xfrm>
                <a:off x="3542"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2</a:t>
                </a:r>
              </a:p>
            </p:txBody>
          </p:sp>
          <p:sp>
            <p:nvSpPr>
              <p:cNvPr id="21576" name="文本框 14368"/>
              <p:cNvSpPr txBox="1"/>
              <p:nvPr/>
            </p:nvSpPr>
            <p:spPr>
              <a:xfrm>
                <a:off x="3942"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3</a:t>
                </a:r>
              </a:p>
            </p:txBody>
          </p:sp>
          <p:sp>
            <p:nvSpPr>
              <p:cNvPr id="21577" name="文本框 14434"/>
              <p:cNvSpPr txBox="1"/>
              <p:nvPr/>
            </p:nvSpPr>
            <p:spPr>
              <a:xfrm>
                <a:off x="2448"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1578" name="文本框 14435"/>
              <p:cNvSpPr txBox="1"/>
              <p:nvPr/>
            </p:nvSpPr>
            <p:spPr>
              <a:xfrm>
                <a:off x="2069"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1579" name="椭圆 14436"/>
              <p:cNvSpPr/>
              <p:nvPr/>
            </p:nvSpPr>
            <p:spPr>
              <a:xfrm>
                <a:off x="4563" y="1278"/>
                <a:ext cx="48" cy="48"/>
              </a:xfrm>
              <a:prstGeom prst="ellipse">
                <a:avLst/>
              </a:prstGeom>
              <a:solidFill>
                <a:schemeClr val="tx2"/>
              </a:solidFill>
              <a:ln w="19050" cap="flat" cmpd="sng">
                <a:solidFill>
                  <a:schemeClr val="tx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0" name="矩形 14438"/>
              <p:cNvSpPr/>
              <p:nvPr/>
            </p:nvSpPr>
            <p:spPr>
              <a:xfrm rot="-10800000" flipV="1">
                <a:off x="2336"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1" name="矩形 14439"/>
              <p:cNvSpPr/>
              <p:nvPr/>
            </p:nvSpPr>
            <p:spPr>
              <a:xfrm rot="5400000" flipV="1">
                <a:off x="2903" y="2322"/>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2" name="矩形 14440"/>
              <p:cNvSpPr/>
              <p:nvPr/>
            </p:nvSpPr>
            <p:spPr>
              <a:xfrm rot="5400000" flipV="1">
                <a:off x="3281" y="2322"/>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3" name="矩形 14441"/>
              <p:cNvSpPr/>
              <p:nvPr/>
            </p:nvSpPr>
            <p:spPr>
              <a:xfrm rot="5400000" flipV="1">
                <a:off x="3660" y="2322"/>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4" name="矩形 14442"/>
              <p:cNvSpPr/>
              <p:nvPr/>
            </p:nvSpPr>
            <p:spPr>
              <a:xfrm rot="-10800000" flipV="1">
                <a:off x="2709"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5" name="矩形 14443"/>
              <p:cNvSpPr/>
              <p:nvPr/>
            </p:nvSpPr>
            <p:spPr>
              <a:xfrm rot="-10800000" flipV="1">
                <a:off x="3045"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6" name="矩形 14444"/>
              <p:cNvSpPr/>
              <p:nvPr/>
            </p:nvSpPr>
            <p:spPr>
              <a:xfrm rot="-10800000" flipV="1">
                <a:off x="3477"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87" name="文本框 14445"/>
              <p:cNvSpPr txBox="1"/>
              <p:nvPr/>
            </p:nvSpPr>
            <p:spPr>
              <a:xfrm>
                <a:off x="2833" y="219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1588" name="文本框 14447"/>
              <p:cNvSpPr txBox="1"/>
              <p:nvPr/>
            </p:nvSpPr>
            <p:spPr>
              <a:xfrm>
                <a:off x="3217" y="219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1589" name="文本框 14448"/>
              <p:cNvSpPr txBox="1"/>
              <p:nvPr/>
            </p:nvSpPr>
            <p:spPr>
              <a:xfrm>
                <a:off x="3590" y="219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1590" name="直接连接符 14450"/>
              <p:cNvSpPr/>
              <p:nvPr/>
            </p:nvSpPr>
            <p:spPr>
              <a:xfrm flipH="1">
                <a:off x="2373" y="2552"/>
                <a:ext cx="288" cy="0"/>
              </a:xfrm>
              <a:prstGeom prst="line">
                <a:avLst/>
              </a:prstGeom>
              <a:ln w="19050" cap="flat" cmpd="sng">
                <a:solidFill>
                  <a:schemeClr val="hlink"/>
                </a:solidFill>
                <a:prstDash val="solid"/>
                <a:headEnd type="none" w="med" len="med"/>
                <a:tailEnd type="triangle" w="med" len="med"/>
              </a:ln>
            </p:spPr>
          </p:sp>
          <p:sp>
            <p:nvSpPr>
              <p:cNvPr id="21591" name="直接连接符 14451"/>
              <p:cNvSpPr/>
              <p:nvPr/>
            </p:nvSpPr>
            <p:spPr>
              <a:xfrm flipH="1">
                <a:off x="2861" y="2552"/>
                <a:ext cx="288" cy="0"/>
              </a:xfrm>
              <a:prstGeom prst="line">
                <a:avLst/>
              </a:prstGeom>
              <a:ln w="19050" cap="flat" cmpd="sng">
                <a:solidFill>
                  <a:schemeClr val="hlink"/>
                </a:solidFill>
                <a:prstDash val="solid"/>
                <a:headEnd type="none" w="med" len="med"/>
                <a:tailEnd type="triangle" w="med" len="med"/>
              </a:ln>
            </p:spPr>
          </p:sp>
          <p:sp>
            <p:nvSpPr>
              <p:cNvPr id="21592" name="直接连接符 14452"/>
              <p:cNvSpPr/>
              <p:nvPr/>
            </p:nvSpPr>
            <p:spPr>
              <a:xfrm flipH="1">
                <a:off x="3217" y="2552"/>
                <a:ext cx="288" cy="0"/>
              </a:xfrm>
              <a:prstGeom prst="line">
                <a:avLst/>
              </a:prstGeom>
              <a:ln w="19050" cap="flat" cmpd="sng">
                <a:solidFill>
                  <a:schemeClr val="hlink"/>
                </a:solidFill>
                <a:prstDash val="solid"/>
                <a:headEnd type="none" w="med" len="med"/>
                <a:tailEnd type="triangle" w="med" len="med"/>
              </a:ln>
            </p:spPr>
          </p:sp>
          <p:sp>
            <p:nvSpPr>
              <p:cNvPr id="21593" name="直接连接符 14453"/>
              <p:cNvSpPr/>
              <p:nvPr/>
            </p:nvSpPr>
            <p:spPr>
              <a:xfrm flipH="1">
                <a:off x="3572" y="2552"/>
                <a:ext cx="288" cy="0"/>
              </a:xfrm>
              <a:prstGeom prst="line">
                <a:avLst/>
              </a:prstGeom>
              <a:ln w="19050" cap="flat" cmpd="sng">
                <a:solidFill>
                  <a:schemeClr val="hlink"/>
                </a:solidFill>
                <a:prstDash val="solid"/>
                <a:headEnd type="none" w="med" len="med"/>
                <a:tailEnd type="triangle" w="med" len="med"/>
              </a:ln>
            </p:spPr>
          </p:sp>
          <p:sp>
            <p:nvSpPr>
              <p:cNvPr id="21594" name="文本框 14454"/>
              <p:cNvSpPr txBox="1"/>
              <p:nvPr/>
            </p:nvSpPr>
            <p:spPr>
              <a:xfrm>
                <a:off x="3573"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3</a:t>
                </a:r>
              </a:p>
            </p:txBody>
          </p:sp>
          <p:sp>
            <p:nvSpPr>
              <p:cNvPr id="21595" name="文本框 14455"/>
              <p:cNvSpPr txBox="1"/>
              <p:nvPr/>
            </p:nvSpPr>
            <p:spPr>
              <a:xfrm>
                <a:off x="3199"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2</a:t>
                </a:r>
              </a:p>
            </p:txBody>
          </p:sp>
          <p:sp>
            <p:nvSpPr>
              <p:cNvPr id="21596" name="文本框 14456"/>
              <p:cNvSpPr txBox="1"/>
              <p:nvPr/>
            </p:nvSpPr>
            <p:spPr>
              <a:xfrm>
                <a:off x="2826"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1</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21597" name="文本框 14457"/>
              <p:cNvSpPr txBox="1"/>
              <p:nvPr/>
            </p:nvSpPr>
            <p:spPr>
              <a:xfrm>
                <a:off x="2373"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0</a:t>
                </a:r>
              </a:p>
            </p:txBody>
          </p:sp>
          <p:sp>
            <p:nvSpPr>
              <p:cNvPr id="21598" name="直接连接符 14458"/>
              <p:cNvSpPr/>
              <p:nvPr/>
            </p:nvSpPr>
            <p:spPr>
              <a:xfrm flipH="1">
                <a:off x="3942" y="2552"/>
                <a:ext cx="288" cy="0"/>
              </a:xfrm>
              <a:prstGeom prst="line">
                <a:avLst/>
              </a:prstGeom>
              <a:ln w="19050" cap="flat" cmpd="sng">
                <a:solidFill>
                  <a:schemeClr val="hlink"/>
                </a:solidFill>
                <a:prstDash val="solid"/>
                <a:headEnd type="none" w="med" len="med"/>
                <a:tailEnd type="triangle" w="med" len="med"/>
              </a:ln>
            </p:spPr>
          </p:sp>
          <p:sp>
            <p:nvSpPr>
              <p:cNvPr id="21599" name="文本框 14459"/>
              <p:cNvSpPr txBox="1"/>
              <p:nvPr/>
            </p:nvSpPr>
            <p:spPr>
              <a:xfrm>
                <a:off x="3998" y="2537"/>
                <a:ext cx="168"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endParaRPr lang="en-US" altLang="zh-CN" sz="2000" baseline="-25000" dirty="0">
                  <a:solidFill>
                    <a:schemeClr val="hlink"/>
                  </a:solidFill>
                  <a:latin typeface="Times New Roman" panose="02020603050405020304" pitchFamily="18" charset="0"/>
                  <a:ea typeface="宋体" panose="02010600030101010101" pitchFamily="2" charset="-122"/>
                </a:endParaRPr>
              </a:p>
            </p:txBody>
          </p:sp>
          <p:sp>
            <p:nvSpPr>
              <p:cNvPr id="21600" name="椭圆 14418"/>
              <p:cNvSpPr/>
              <p:nvPr/>
            </p:nvSpPr>
            <p:spPr>
              <a:xfrm>
                <a:off x="4556" y="1038"/>
                <a:ext cx="48" cy="48"/>
              </a:xfrm>
              <a:prstGeom prst="ellipse">
                <a:avLst/>
              </a:prstGeom>
              <a:solidFill>
                <a:schemeClr val="tx2"/>
              </a:solidFill>
              <a:ln w="19050" cap="flat" cmpd="sng">
                <a:solidFill>
                  <a:schemeClr val="tx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1513" name="椭圆 14479"/>
            <p:cNvSpPr/>
            <p:nvPr/>
          </p:nvSpPr>
          <p:spPr>
            <a:xfrm>
              <a:off x="3773" y="1274"/>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14" name="椭圆 14480"/>
            <p:cNvSpPr/>
            <p:nvPr/>
          </p:nvSpPr>
          <p:spPr>
            <a:xfrm>
              <a:off x="3386" y="1274"/>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15" name="椭圆 14481"/>
            <p:cNvSpPr/>
            <p:nvPr/>
          </p:nvSpPr>
          <p:spPr>
            <a:xfrm>
              <a:off x="3013" y="1270"/>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16" name="椭圆 14482"/>
            <p:cNvSpPr/>
            <p:nvPr/>
          </p:nvSpPr>
          <p:spPr>
            <a:xfrm>
              <a:off x="2644" y="1274"/>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17" name="椭圆 14483"/>
            <p:cNvSpPr/>
            <p:nvPr/>
          </p:nvSpPr>
          <p:spPr>
            <a:xfrm>
              <a:off x="4021" y="1023"/>
              <a:ext cx="48" cy="48"/>
            </a:xfrm>
            <a:prstGeom prst="ellipse">
              <a:avLst/>
            </a:prstGeom>
            <a:solidFill>
              <a:srgbClr val="009900"/>
            </a:solidFill>
            <a:ln w="19050" cap="flat" cmpd="sng">
              <a:solidFill>
                <a:srgbClr val="00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18" name="椭圆 14484"/>
            <p:cNvSpPr/>
            <p:nvPr/>
          </p:nvSpPr>
          <p:spPr>
            <a:xfrm>
              <a:off x="3264" y="1019"/>
              <a:ext cx="48" cy="48"/>
            </a:xfrm>
            <a:prstGeom prst="ellipse">
              <a:avLst/>
            </a:prstGeom>
            <a:solidFill>
              <a:srgbClr val="009900"/>
            </a:solidFill>
            <a:ln w="19050" cap="flat" cmpd="sng">
              <a:solidFill>
                <a:srgbClr val="00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19" name="椭圆 14485"/>
            <p:cNvSpPr/>
            <p:nvPr/>
          </p:nvSpPr>
          <p:spPr>
            <a:xfrm>
              <a:off x="3648" y="1023"/>
              <a:ext cx="48" cy="48"/>
            </a:xfrm>
            <a:prstGeom prst="ellipse">
              <a:avLst/>
            </a:prstGeom>
            <a:solidFill>
              <a:srgbClr val="009900"/>
            </a:solidFill>
            <a:ln w="19050" cap="flat" cmpd="sng">
              <a:solidFill>
                <a:srgbClr val="00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20" name="椭圆 14486"/>
            <p:cNvSpPr/>
            <p:nvPr/>
          </p:nvSpPr>
          <p:spPr>
            <a:xfrm>
              <a:off x="3877" y="2422"/>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21" name="椭圆 14487"/>
            <p:cNvSpPr/>
            <p:nvPr/>
          </p:nvSpPr>
          <p:spPr>
            <a:xfrm>
              <a:off x="3493" y="2426"/>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22" name="椭圆 14488"/>
            <p:cNvSpPr/>
            <p:nvPr/>
          </p:nvSpPr>
          <p:spPr>
            <a:xfrm>
              <a:off x="3124" y="2422"/>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1523" name="椭圆 14489"/>
            <p:cNvSpPr/>
            <p:nvPr/>
          </p:nvSpPr>
          <p:spPr>
            <a:xfrm>
              <a:off x="2736" y="2422"/>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graphicFrame>
        <p:nvGraphicFramePr>
          <p:cNvPr id="14599" name="对象 14598"/>
          <p:cNvGraphicFramePr/>
          <p:nvPr/>
        </p:nvGraphicFramePr>
        <p:xfrm>
          <a:off x="2063750" y="4797425"/>
          <a:ext cx="4895850" cy="606425"/>
        </p:xfrm>
        <a:graphic>
          <a:graphicData uri="http://schemas.openxmlformats.org/presentationml/2006/ole">
            <mc:AlternateContent xmlns:mc="http://schemas.openxmlformats.org/markup-compatibility/2006">
              <mc:Choice xmlns:v="urn:schemas-microsoft-com:vml" Requires="v">
                <p:oleObj spid="_x0000_s342018" r:id="rId3" imgW="1943100" imgH="228600" progId="Equation.3">
                  <p:embed/>
                </p:oleObj>
              </mc:Choice>
              <mc:Fallback>
                <p:oleObj r:id="rId3" imgW="1943100" imgH="228600" progId="Equation.3">
                  <p:embed/>
                  <p:pic>
                    <p:nvPicPr>
                      <p:cNvPr id="0" name="图片 3090"/>
                      <p:cNvPicPr/>
                      <p:nvPr/>
                    </p:nvPicPr>
                    <p:blipFill>
                      <a:blip r:embed="rId4"/>
                      <a:stretch>
                        <a:fillRect/>
                      </a:stretch>
                    </p:blipFill>
                    <p:spPr>
                      <a:xfrm>
                        <a:off x="2063750" y="4797425"/>
                        <a:ext cx="4895850" cy="60642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466">
                                            <p:txEl>
                                              <p:pRg st="0" end="0"/>
                                            </p:txEl>
                                          </p:spTgt>
                                        </p:tgtEl>
                                        <p:attrNameLst>
                                          <p:attrName>style.visibility</p:attrName>
                                        </p:attrNameLst>
                                      </p:cBhvr>
                                      <p:to>
                                        <p:strVal val="visible"/>
                                      </p:to>
                                    </p:set>
                                    <p:animEffect transition="in" filter="wipe(left)">
                                      <p:cBhvr>
                                        <p:cTn id="7" dur="500"/>
                                        <p:tgtEl>
                                          <p:spTgt spid="144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491"/>
                                        </p:tgtEl>
                                        <p:attrNameLst>
                                          <p:attrName>style.visibility</p:attrName>
                                        </p:attrNameLst>
                                      </p:cBhvr>
                                      <p:to>
                                        <p:strVal val="visible"/>
                                      </p:to>
                                    </p:set>
                                    <p:animEffect transition="in" filter="wipe(left)">
                                      <p:cBhvr>
                                        <p:cTn id="12" dur="500"/>
                                        <p:tgtEl>
                                          <p:spTgt spid="144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467">
                                            <p:txEl>
                                              <p:pRg st="0" end="0"/>
                                            </p:txEl>
                                          </p:spTgt>
                                        </p:tgtEl>
                                        <p:attrNameLst>
                                          <p:attrName>style.visibility</p:attrName>
                                        </p:attrNameLst>
                                      </p:cBhvr>
                                      <p:to>
                                        <p:strVal val="visible"/>
                                      </p:to>
                                    </p:set>
                                    <p:animEffect transition="in" filter="wipe(left)">
                                      <p:cBhvr>
                                        <p:cTn id="17" dur="500"/>
                                        <p:tgtEl>
                                          <p:spTgt spid="144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468">
                                            <p:txEl>
                                              <p:pRg st="0" end="0"/>
                                            </p:txEl>
                                          </p:spTgt>
                                        </p:tgtEl>
                                        <p:attrNameLst>
                                          <p:attrName>style.visibility</p:attrName>
                                        </p:attrNameLst>
                                      </p:cBhvr>
                                      <p:to>
                                        <p:strVal val="visible"/>
                                      </p:to>
                                    </p:set>
                                    <p:animEffect transition="in" filter="wipe(left)">
                                      <p:cBhvr>
                                        <p:cTn id="22" dur="500"/>
                                        <p:tgtEl>
                                          <p:spTgt spid="1446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4599"/>
                                        </p:tgtEl>
                                        <p:attrNameLst>
                                          <p:attrName>style.visibility</p:attrName>
                                        </p:attrNameLst>
                                      </p:cBhvr>
                                      <p:to>
                                        <p:strVal val="visible"/>
                                      </p:to>
                                    </p:set>
                                    <p:animEffect transition="in" filter="wipe(left)">
                                      <p:cBhvr>
                                        <p:cTn id="27" dur="500"/>
                                        <p:tgtEl>
                                          <p:spTgt spid="145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66" grpId="0" build="p"/>
      <p:bldP spid="14467" grpId="0" build="p"/>
      <p:bldP spid="14468"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组合 59397"/>
          <p:cNvGrpSpPr/>
          <p:nvPr/>
        </p:nvGrpSpPr>
        <p:grpSpPr>
          <a:xfrm>
            <a:off x="4773613" y="44450"/>
            <a:ext cx="5842000" cy="3740151"/>
            <a:chOff x="2069" y="432"/>
            <a:chExt cx="3680" cy="2356"/>
          </a:xfrm>
        </p:grpSpPr>
        <p:grpSp>
          <p:nvGrpSpPr>
            <p:cNvPr id="22601" name="组合 59398"/>
            <p:cNvGrpSpPr/>
            <p:nvPr/>
          </p:nvGrpSpPr>
          <p:grpSpPr>
            <a:xfrm>
              <a:off x="2069" y="432"/>
              <a:ext cx="3680" cy="2356"/>
              <a:chOff x="2069" y="432"/>
              <a:chExt cx="3680" cy="2356"/>
            </a:xfrm>
          </p:grpSpPr>
          <p:sp>
            <p:nvSpPr>
              <p:cNvPr id="22613" name="直接连接符 59399"/>
              <p:cNvSpPr/>
              <p:nvPr/>
            </p:nvSpPr>
            <p:spPr>
              <a:xfrm flipV="1">
                <a:off x="3135" y="1049"/>
                <a:ext cx="1284" cy="0"/>
              </a:xfrm>
              <a:prstGeom prst="line">
                <a:avLst/>
              </a:prstGeom>
              <a:ln w="19050" cap="flat" cmpd="sng">
                <a:solidFill>
                  <a:srgbClr val="339933"/>
                </a:solidFill>
                <a:prstDash val="solid"/>
                <a:headEnd type="none" w="med" len="med"/>
                <a:tailEnd type="none" w="med" len="med"/>
              </a:ln>
            </p:spPr>
          </p:sp>
          <p:grpSp>
            <p:nvGrpSpPr>
              <p:cNvPr id="22614" name="组合 59400"/>
              <p:cNvGrpSpPr/>
              <p:nvPr/>
            </p:nvGrpSpPr>
            <p:grpSpPr>
              <a:xfrm>
                <a:off x="2759" y="1625"/>
                <a:ext cx="1144" cy="816"/>
                <a:chOff x="962" y="1872"/>
                <a:chExt cx="1144" cy="635"/>
              </a:xfrm>
            </p:grpSpPr>
            <p:sp>
              <p:nvSpPr>
                <p:cNvPr id="22702" name="直接连接符 59401"/>
                <p:cNvSpPr/>
                <p:nvPr/>
              </p:nvSpPr>
              <p:spPr>
                <a:xfrm flipV="1">
                  <a:off x="962" y="1872"/>
                  <a:ext cx="0" cy="624"/>
                </a:xfrm>
                <a:prstGeom prst="line">
                  <a:avLst/>
                </a:prstGeom>
                <a:ln w="19050" cap="flat" cmpd="sng">
                  <a:solidFill>
                    <a:schemeClr val="tx1"/>
                  </a:solidFill>
                  <a:prstDash val="solid"/>
                  <a:headEnd type="none" w="med" len="med"/>
                  <a:tailEnd type="none" w="med" len="med"/>
                </a:ln>
              </p:spPr>
            </p:sp>
            <p:sp>
              <p:nvSpPr>
                <p:cNvPr id="22703" name="直接连接符 59402"/>
                <p:cNvSpPr/>
                <p:nvPr/>
              </p:nvSpPr>
              <p:spPr>
                <a:xfrm flipV="1">
                  <a:off x="1721" y="1883"/>
                  <a:ext cx="0" cy="624"/>
                </a:xfrm>
                <a:prstGeom prst="line">
                  <a:avLst/>
                </a:prstGeom>
                <a:ln w="19050" cap="flat" cmpd="sng">
                  <a:solidFill>
                    <a:schemeClr val="tx1"/>
                  </a:solidFill>
                  <a:prstDash val="solid"/>
                  <a:headEnd type="none" w="med" len="med"/>
                  <a:tailEnd type="none" w="med" len="med"/>
                </a:ln>
              </p:spPr>
            </p:sp>
            <p:sp>
              <p:nvSpPr>
                <p:cNvPr id="22704" name="直接连接符 59403"/>
                <p:cNvSpPr/>
                <p:nvPr/>
              </p:nvSpPr>
              <p:spPr>
                <a:xfrm flipV="1">
                  <a:off x="2106" y="1883"/>
                  <a:ext cx="0" cy="624"/>
                </a:xfrm>
                <a:prstGeom prst="line">
                  <a:avLst/>
                </a:prstGeom>
                <a:ln w="19050" cap="flat" cmpd="sng">
                  <a:solidFill>
                    <a:schemeClr val="tx1"/>
                  </a:solidFill>
                  <a:prstDash val="solid"/>
                  <a:headEnd type="none" w="med" len="med"/>
                  <a:tailEnd type="none" w="med" len="med"/>
                </a:ln>
              </p:spPr>
            </p:sp>
            <p:sp>
              <p:nvSpPr>
                <p:cNvPr id="22705" name="直接连接符 59404"/>
                <p:cNvSpPr/>
                <p:nvPr/>
              </p:nvSpPr>
              <p:spPr>
                <a:xfrm flipV="1">
                  <a:off x="1336" y="1883"/>
                  <a:ext cx="0" cy="624"/>
                </a:xfrm>
                <a:prstGeom prst="line">
                  <a:avLst/>
                </a:prstGeom>
                <a:ln w="19050" cap="flat" cmpd="sng">
                  <a:solidFill>
                    <a:schemeClr val="tx1"/>
                  </a:solidFill>
                  <a:prstDash val="solid"/>
                  <a:headEnd type="none" w="med" len="med"/>
                  <a:tailEnd type="none" w="med" len="med"/>
                </a:ln>
              </p:spPr>
            </p:sp>
          </p:grpSp>
          <p:sp>
            <p:nvSpPr>
              <p:cNvPr id="22615" name="直接连接符 59405"/>
              <p:cNvSpPr/>
              <p:nvPr/>
            </p:nvSpPr>
            <p:spPr>
              <a:xfrm flipH="1">
                <a:off x="2373" y="1289"/>
                <a:ext cx="2544" cy="0"/>
              </a:xfrm>
              <a:prstGeom prst="line">
                <a:avLst/>
              </a:prstGeom>
              <a:ln w="19050" cap="flat" cmpd="sng">
                <a:solidFill>
                  <a:schemeClr val="tx2"/>
                </a:solidFill>
                <a:prstDash val="solid"/>
                <a:headEnd type="none" w="med" len="med"/>
                <a:tailEnd type="none" w="med" len="med"/>
              </a:ln>
            </p:spPr>
          </p:sp>
          <p:grpSp>
            <p:nvGrpSpPr>
              <p:cNvPr id="22616" name="组合 59406"/>
              <p:cNvGrpSpPr/>
              <p:nvPr/>
            </p:nvGrpSpPr>
            <p:grpSpPr>
              <a:xfrm>
                <a:off x="2805" y="857"/>
                <a:ext cx="1152" cy="694"/>
                <a:chOff x="4006" y="3072"/>
                <a:chExt cx="842" cy="576"/>
              </a:xfrm>
            </p:grpSpPr>
            <p:sp>
              <p:nvSpPr>
                <p:cNvPr id="22698" name="直接连接符 59407"/>
                <p:cNvSpPr/>
                <p:nvPr/>
              </p:nvSpPr>
              <p:spPr>
                <a:xfrm>
                  <a:off x="4006" y="3072"/>
                  <a:ext cx="0" cy="576"/>
                </a:xfrm>
                <a:prstGeom prst="line">
                  <a:avLst/>
                </a:prstGeom>
                <a:ln w="19050" cap="flat" cmpd="sng">
                  <a:solidFill>
                    <a:srgbClr val="CC6600"/>
                  </a:solidFill>
                  <a:prstDash val="lgDash"/>
                  <a:headEnd type="none" w="med" len="med"/>
                  <a:tailEnd type="none" w="med" len="med"/>
                </a:ln>
              </p:spPr>
            </p:sp>
            <p:sp>
              <p:nvSpPr>
                <p:cNvPr id="22699" name="直接连接符 59408"/>
                <p:cNvSpPr/>
                <p:nvPr/>
              </p:nvSpPr>
              <p:spPr>
                <a:xfrm>
                  <a:off x="4286" y="3072"/>
                  <a:ext cx="0" cy="576"/>
                </a:xfrm>
                <a:prstGeom prst="line">
                  <a:avLst/>
                </a:prstGeom>
                <a:ln w="19050" cap="flat" cmpd="sng">
                  <a:solidFill>
                    <a:srgbClr val="CC6600"/>
                  </a:solidFill>
                  <a:prstDash val="lgDash"/>
                  <a:headEnd type="none" w="med" len="med"/>
                  <a:tailEnd type="none" w="med" len="med"/>
                </a:ln>
              </p:spPr>
            </p:sp>
            <p:sp>
              <p:nvSpPr>
                <p:cNvPr id="22700" name="直接连接符 59409"/>
                <p:cNvSpPr/>
                <p:nvPr/>
              </p:nvSpPr>
              <p:spPr>
                <a:xfrm>
                  <a:off x="4567" y="3072"/>
                  <a:ext cx="0" cy="576"/>
                </a:xfrm>
                <a:prstGeom prst="line">
                  <a:avLst/>
                </a:prstGeom>
                <a:ln w="19050" cap="flat" cmpd="sng">
                  <a:solidFill>
                    <a:srgbClr val="CC6600"/>
                  </a:solidFill>
                  <a:prstDash val="lgDash"/>
                  <a:headEnd type="none" w="med" len="med"/>
                  <a:tailEnd type="none" w="med" len="med"/>
                </a:ln>
              </p:spPr>
            </p:sp>
            <p:sp>
              <p:nvSpPr>
                <p:cNvPr id="22701" name="直接连接符 59410"/>
                <p:cNvSpPr/>
                <p:nvPr/>
              </p:nvSpPr>
              <p:spPr>
                <a:xfrm>
                  <a:off x="4848" y="3072"/>
                  <a:ext cx="0" cy="576"/>
                </a:xfrm>
                <a:prstGeom prst="line">
                  <a:avLst/>
                </a:prstGeom>
                <a:ln w="19050" cap="flat" cmpd="sng">
                  <a:solidFill>
                    <a:srgbClr val="CC6600"/>
                  </a:solidFill>
                  <a:prstDash val="lgDash"/>
                  <a:headEnd type="none" w="med" len="med"/>
                  <a:tailEnd type="none" w="med" len="med"/>
                </a:ln>
              </p:spPr>
            </p:sp>
          </p:grpSp>
          <p:grpSp>
            <p:nvGrpSpPr>
              <p:cNvPr id="22617" name="组合 59411"/>
              <p:cNvGrpSpPr/>
              <p:nvPr/>
            </p:nvGrpSpPr>
            <p:grpSpPr>
              <a:xfrm>
                <a:off x="2709" y="569"/>
                <a:ext cx="1440" cy="296"/>
                <a:chOff x="3888" y="3600"/>
                <a:chExt cx="1140" cy="296"/>
              </a:xfrm>
            </p:grpSpPr>
            <p:sp>
              <p:nvSpPr>
                <p:cNvPr id="22694" name="文本框 59412"/>
                <p:cNvSpPr txBox="1"/>
                <p:nvPr/>
              </p:nvSpPr>
              <p:spPr>
                <a:xfrm>
                  <a:off x="3888" y="3600"/>
                  <a:ext cx="217" cy="290"/>
                </a:xfrm>
                <a:prstGeom prst="rect">
                  <a:avLst/>
                </a:prstGeom>
                <a:noFill/>
                <a:ln w="19050">
                  <a:noFill/>
                </a:ln>
              </p:spPr>
              <p:txBody>
                <a:bodyPr wrap="none">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0</a:t>
                  </a:r>
                </a:p>
              </p:txBody>
            </p:sp>
            <p:sp>
              <p:nvSpPr>
                <p:cNvPr id="22695" name="文本框 59413"/>
                <p:cNvSpPr txBox="1"/>
                <p:nvPr/>
              </p:nvSpPr>
              <p:spPr>
                <a:xfrm>
                  <a:off x="4176" y="3600"/>
                  <a:ext cx="217" cy="292"/>
                </a:xfrm>
                <a:prstGeom prst="rect">
                  <a:avLst/>
                </a:prstGeom>
                <a:noFill/>
                <a:ln w="19050">
                  <a:noFill/>
                </a:ln>
              </p:spPr>
              <p:txBody>
                <a:bodyPr wrap="none">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1</a:t>
                  </a:r>
                </a:p>
              </p:txBody>
            </p:sp>
            <p:sp>
              <p:nvSpPr>
                <p:cNvPr id="22696" name="文本框 59414"/>
                <p:cNvSpPr txBox="1"/>
                <p:nvPr/>
              </p:nvSpPr>
              <p:spPr>
                <a:xfrm>
                  <a:off x="4464" y="3600"/>
                  <a:ext cx="276" cy="294"/>
                </a:xfrm>
                <a:prstGeom prst="rect">
                  <a:avLst/>
                </a:prstGeom>
                <a:noFill/>
                <a:ln w="19050">
                  <a:noFill/>
                </a:ln>
              </p:spPr>
              <p:txBody>
                <a:bodyPr>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2</a:t>
                  </a:r>
                </a:p>
              </p:txBody>
            </p:sp>
            <p:sp>
              <p:nvSpPr>
                <p:cNvPr id="22697" name="文本框 59415"/>
                <p:cNvSpPr txBox="1"/>
                <p:nvPr/>
              </p:nvSpPr>
              <p:spPr>
                <a:xfrm>
                  <a:off x="4752" y="3600"/>
                  <a:ext cx="276" cy="296"/>
                </a:xfrm>
                <a:prstGeom prst="rect">
                  <a:avLst/>
                </a:prstGeom>
                <a:noFill/>
                <a:ln w="19050">
                  <a:noFill/>
                </a:ln>
              </p:spPr>
              <p:txBody>
                <a:bodyPr>
                  <a:spAutoFit/>
                </a:bodyPr>
                <a:lstStyle/>
                <a:p>
                  <a:pPr eaLnBrk="1" hangingPunct="1"/>
                  <a:r>
                    <a:rPr lang="en-US" altLang="zh-CN" sz="2400" i="1" dirty="0">
                      <a:solidFill>
                        <a:srgbClr val="CC6600"/>
                      </a:solidFill>
                      <a:latin typeface="Times New Roman" panose="02020603050405020304" pitchFamily="18" charset="0"/>
                      <a:ea typeface="宋体" panose="02010600030101010101" pitchFamily="2" charset="-122"/>
                    </a:rPr>
                    <a:t>d</a:t>
                  </a:r>
                  <a:r>
                    <a:rPr lang="en-US" altLang="zh-CN" sz="2400" baseline="-25000" dirty="0">
                      <a:solidFill>
                        <a:srgbClr val="CC6600"/>
                      </a:solidFill>
                      <a:latin typeface="Times New Roman" panose="02020603050405020304" pitchFamily="18" charset="0"/>
                      <a:ea typeface="宋体" panose="02010600030101010101" pitchFamily="2" charset="-122"/>
                    </a:rPr>
                    <a:t>3</a:t>
                  </a:r>
                </a:p>
              </p:txBody>
            </p:sp>
          </p:grpSp>
          <p:sp>
            <p:nvSpPr>
              <p:cNvPr id="22618" name="文本框 59416"/>
              <p:cNvSpPr txBox="1"/>
              <p:nvPr/>
            </p:nvSpPr>
            <p:spPr>
              <a:xfrm>
                <a:off x="4245" y="617"/>
                <a:ext cx="384" cy="290"/>
              </a:xfrm>
              <a:prstGeom prst="rect">
                <a:avLst/>
              </a:prstGeom>
              <a:noFill/>
              <a:ln w="19050">
                <a:noFill/>
              </a:ln>
            </p:spPr>
            <p:txBody>
              <a:bodyPr>
                <a:spAutoFit/>
              </a:bodyPr>
              <a:lstStyle/>
              <a:p>
                <a:pPr eaLnBrk="1" hangingPunct="1"/>
                <a:r>
                  <a:rPr lang="en-US" altLang="zh-CN" sz="2400" i="1" dirty="0">
                    <a:latin typeface="Times New Roman" panose="02020603050405020304" pitchFamily="18" charset="0"/>
                    <a:ea typeface="宋体" panose="02010600030101010101" pitchFamily="2" charset="-122"/>
                  </a:rPr>
                  <a:t>i </a:t>
                </a:r>
                <a:r>
                  <a:rPr lang="en-US" altLang="zh-CN" sz="2400" i="1" baseline="-25000" dirty="0">
                    <a:latin typeface="Times New Roman" panose="02020603050405020304" pitchFamily="18" charset="0"/>
                    <a:ea typeface="宋体" panose="02010600030101010101" pitchFamily="2" charset="-122"/>
                  </a:rPr>
                  <a:t>∑</a:t>
                </a:r>
                <a:endParaRPr lang="en-US" altLang="zh-CN" sz="2400" baseline="-25000" dirty="0">
                  <a:latin typeface="Times New Roman" panose="02020603050405020304" pitchFamily="18" charset="0"/>
                  <a:ea typeface="Times New Roman" panose="02020603050405020304" pitchFamily="18" charset="0"/>
                </a:endParaRPr>
              </a:p>
            </p:txBody>
          </p:sp>
          <p:sp>
            <p:nvSpPr>
              <p:cNvPr id="22619" name="文本框 59417"/>
              <p:cNvSpPr txBox="1"/>
              <p:nvPr/>
            </p:nvSpPr>
            <p:spPr>
              <a:xfrm>
                <a:off x="4245" y="2297"/>
                <a:ext cx="462" cy="290"/>
              </a:xfrm>
              <a:prstGeom prst="rect">
                <a:avLst/>
              </a:prstGeom>
              <a:noFill/>
              <a:ln w="19050">
                <a:noFill/>
              </a:ln>
            </p:spPr>
            <p:txBody>
              <a:bodyPr wrap="none">
                <a:spAutoFit/>
              </a:bodyPr>
              <a:lstStyle/>
              <a:p>
                <a:pPr eaLnBrk="1" hangingPunct="1"/>
                <a:r>
                  <a:rPr lang="en-US" altLang="zh-CN" sz="2400" i="1" dirty="0">
                    <a:solidFill>
                      <a:srgbClr val="006600"/>
                    </a:solidFill>
                    <a:latin typeface="Times New Roman" panose="02020603050405020304" pitchFamily="18" charset="0"/>
                    <a:ea typeface="宋体" panose="02010600030101010101" pitchFamily="2" charset="-122"/>
                  </a:rPr>
                  <a:t>V</a:t>
                </a:r>
                <a:r>
                  <a:rPr lang="en-US" altLang="zh-CN" sz="2400" baseline="-25000" dirty="0">
                    <a:solidFill>
                      <a:srgbClr val="006600"/>
                    </a:solidFill>
                    <a:latin typeface="Times New Roman" panose="02020603050405020304" pitchFamily="18" charset="0"/>
                    <a:ea typeface="宋体" panose="02010600030101010101" pitchFamily="2" charset="-122"/>
                  </a:rPr>
                  <a:t>REF</a:t>
                </a:r>
              </a:p>
            </p:txBody>
          </p:sp>
          <p:sp>
            <p:nvSpPr>
              <p:cNvPr id="22620" name="直接连接符 59418"/>
              <p:cNvSpPr/>
              <p:nvPr/>
            </p:nvSpPr>
            <p:spPr>
              <a:xfrm flipV="1">
                <a:off x="4293" y="1001"/>
                <a:ext cx="192" cy="0"/>
              </a:xfrm>
              <a:prstGeom prst="line">
                <a:avLst/>
              </a:prstGeom>
              <a:ln w="19050" cap="flat" cmpd="sng">
                <a:solidFill>
                  <a:schemeClr val="hlink"/>
                </a:solidFill>
                <a:prstDash val="solid"/>
                <a:headEnd type="none" w="med" len="med"/>
                <a:tailEnd type="triangle" w="med" len="med"/>
              </a:ln>
            </p:spPr>
          </p:sp>
          <p:sp>
            <p:nvSpPr>
              <p:cNvPr id="22621" name="文本框 59419"/>
              <p:cNvSpPr txBox="1"/>
              <p:nvPr/>
            </p:nvSpPr>
            <p:spPr>
              <a:xfrm>
                <a:off x="5459" y="1018"/>
                <a:ext cx="290" cy="290"/>
              </a:xfrm>
              <a:prstGeom prst="rect">
                <a:avLst/>
              </a:prstGeom>
              <a:noFill/>
              <a:ln w="9525">
                <a:noFill/>
              </a:ln>
            </p:spPr>
            <p:txBody>
              <a:bodyPr wrap="none">
                <a:spAutoFit/>
              </a:bodyPr>
              <a:lstStyle/>
              <a:p>
                <a:r>
                  <a:rPr lang="en-US" altLang="zh-CN" sz="2400" i="1" dirty="0">
                    <a:solidFill>
                      <a:srgbClr val="3333FF"/>
                    </a:solidFill>
                    <a:latin typeface="Times New Roman" panose="02020603050405020304" pitchFamily="18" charset="0"/>
                    <a:ea typeface="宋体" panose="02010600030101010101" pitchFamily="2" charset="-122"/>
                  </a:rPr>
                  <a:t>v</a:t>
                </a:r>
                <a:r>
                  <a:rPr lang="en-US" altLang="zh-CN" sz="2400" baseline="-25000" dirty="0">
                    <a:solidFill>
                      <a:srgbClr val="3333FF"/>
                    </a:solidFill>
                    <a:latin typeface="Times New Roman" panose="02020603050405020304" pitchFamily="18" charset="0"/>
                    <a:ea typeface="宋体" panose="02010600030101010101" pitchFamily="2" charset="-122"/>
                  </a:rPr>
                  <a:t>O</a:t>
                </a:r>
              </a:p>
            </p:txBody>
          </p:sp>
          <p:sp>
            <p:nvSpPr>
              <p:cNvPr id="22622" name="文本框 59420"/>
              <p:cNvSpPr txBox="1"/>
              <p:nvPr/>
            </p:nvSpPr>
            <p:spPr>
              <a:xfrm>
                <a:off x="4886" y="473"/>
                <a:ext cx="213" cy="251"/>
              </a:xfrm>
              <a:prstGeom prst="rect">
                <a:avLst/>
              </a:prstGeom>
              <a:noFill/>
              <a:ln w="9525">
                <a:noFill/>
              </a:ln>
            </p:spPr>
            <p:txBody>
              <a:bodyPr wrap="none">
                <a:spAutoFit/>
              </a:bodyPr>
              <a:lstStyle/>
              <a:p>
                <a:r>
                  <a:rPr lang="en-US" altLang="zh-CN" sz="2000" i="1" dirty="0">
                    <a:solidFill>
                      <a:srgbClr val="3333FF"/>
                    </a:solidFill>
                    <a:latin typeface="Times New Roman" panose="02020603050405020304" pitchFamily="18" charset="0"/>
                    <a:ea typeface="宋体" panose="02010600030101010101" pitchFamily="2" charset="-122"/>
                  </a:rPr>
                  <a:t>R</a:t>
                </a:r>
                <a:endParaRPr lang="en-US" altLang="zh-CN" sz="2000" dirty="0">
                  <a:solidFill>
                    <a:srgbClr val="3333FF"/>
                  </a:solidFill>
                  <a:latin typeface="Times New Roman" panose="02020603050405020304" pitchFamily="18" charset="0"/>
                  <a:ea typeface="宋体" panose="02010600030101010101" pitchFamily="2" charset="-122"/>
                </a:endParaRPr>
              </a:p>
            </p:txBody>
          </p:sp>
          <p:sp>
            <p:nvSpPr>
              <p:cNvPr id="22623" name="等腰三角形 59421"/>
              <p:cNvSpPr/>
              <p:nvPr/>
            </p:nvSpPr>
            <p:spPr>
              <a:xfrm rot="5400000">
                <a:off x="4811" y="953"/>
                <a:ext cx="432" cy="480"/>
              </a:xfrm>
              <a:prstGeom prst="triangle">
                <a:avLst>
                  <a:gd name="adj" fmla="val 50000"/>
                </a:avLst>
              </a:prstGeom>
              <a:solidFill>
                <a:schemeClr val="accent1"/>
              </a:solidFill>
              <a:ln w="19050" cap="flat" cmpd="sng">
                <a:solidFill>
                  <a:schemeClr val="tx1"/>
                </a:solidFill>
                <a:prstDash val="solid"/>
                <a:miter/>
                <a:headEnd type="none" w="med" len="med"/>
                <a:tailEnd type="none" w="med" len="med"/>
              </a:ln>
            </p:spPr>
            <p:txBody>
              <a:bodyPr rot="10800000" vert="eaVert" wrap="none" anchor="ctr" anchorCtr="0"/>
              <a:lstStyle/>
              <a:p>
                <a:pPr algn="ctr"/>
                <a:r>
                  <a:rPr lang="en-US" altLang="zh-CN" sz="2000" dirty="0">
                    <a:solidFill>
                      <a:srgbClr val="3333FF"/>
                    </a:solidFill>
                    <a:latin typeface="Times New Roman" panose="02020603050405020304" pitchFamily="18" charset="0"/>
                    <a:ea typeface="宋体" panose="02010600030101010101" pitchFamily="2" charset="-122"/>
                  </a:rPr>
                  <a:t>  A</a:t>
                </a:r>
              </a:p>
            </p:txBody>
          </p:sp>
          <p:sp>
            <p:nvSpPr>
              <p:cNvPr id="22624" name="文本框 59422"/>
              <p:cNvSpPr txBox="1"/>
              <p:nvPr/>
            </p:nvSpPr>
            <p:spPr>
              <a:xfrm>
                <a:off x="4773" y="953"/>
                <a:ext cx="168" cy="251"/>
              </a:xfrm>
              <a:prstGeom prst="rect">
                <a:avLst/>
              </a:prstGeom>
              <a:noFill/>
              <a:ln w="19050">
                <a:noFill/>
              </a:ln>
            </p:spPr>
            <p:txBody>
              <a:bodyPr wrap="none">
                <a:spAutoFit/>
              </a:bodyPr>
              <a:lstStyle/>
              <a:p>
                <a:r>
                  <a:rPr lang="en-US" altLang="zh-CN" sz="2000" dirty="0">
                    <a:solidFill>
                      <a:srgbClr val="3333FF"/>
                    </a:solidFill>
                    <a:latin typeface="Times New Roman" panose="02020603050405020304" pitchFamily="18" charset="0"/>
                    <a:ea typeface="宋体" panose="02010600030101010101" pitchFamily="2" charset="-122"/>
                  </a:rPr>
                  <a:t>-</a:t>
                </a:r>
              </a:p>
            </p:txBody>
          </p:sp>
          <p:sp>
            <p:nvSpPr>
              <p:cNvPr id="22625" name="文本框 59423"/>
              <p:cNvSpPr txBox="1"/>
              <p:nvPr/>
            </p:nvSpPr>
            <p:spPr>
              <a:xfrm>
                <a:off x="4787" y="1145"/>
                <a:ext cx="206" cy="251"/>
              </a:xfrm>
              <a:prstGeom prst="rect">
                <a:avLst/>
              </a:prstGeom>
              <a:noFill/>
              <a:ln w="19050">
                <a:noFill/>
              </a:ln>
            </p:spPr>
            <p:txBody>
              <a:bodyPr wrap="none">
                <a:spAutoFit/>
              </a:bodyPr>
              <a:lstStyle/>
              <a:p>
                <a:r>
                  <a:rPr lang="en-US" altLang="zh-CN" sz="2000" dirty="0">
                    <a:solidFill>
                      <a:srgbClr val="3333FF"/>
                    </a:solidFill>
                    <a:latin typeface="Times New Roman" panose="02020603050405020304" pitchFamily="18" charset="0"/>
                    <a:ea typeface="宋体" panose="02010600030101010101" pitchFamily="2" charset="-122"/>
                  </a:rPr>
                  <a:t>+</a:t>
                </a:r>
              </a:p>
            </p:txBody>
          </p:sp>
          <p:sp>
            <p:nvSpPr>
              <p:cNvPr id="22626" name="直接连接符 59424"/>
              <p:cNvSpPr/>
              <p:nvPr/>
            </p:nvSpPr>
            <p:spPr>
              <a:xfrm>
                <a:off x="4533" y="1474"/>
                <a:ext cx="118" cy="0"/>
              </a:xfrm>
              <a:prstGeom prst="line">
                <a:avLst/>
              </a:prstGeom>
              <a:ln w="19050" cap="flat" cmpd="sng">
                <a:solidFill>
                  <a:schemeClr val="tx1"/>
                </a:solidFill>
                <a:prstDash val="solid"/>
                <a:headEnd type="none" w="med" len="med"/>
                <a:tailEnd type="none" w="med" len="med"/>
              </a:ln>
            </p:spPr>
          </p:sp>
          <p:sp>
            <p:nvSpPr>
              <p:cNvPr id="22627" name="直接连接符 59425"/>
              <p:cNvSpPr/>
              <p:nvPr/>
            </p:nvSpPr>
            <p:spPr>
              <a:xfrm>
                <a:off x="5267" y="1193"/>
                <a:ext cx="192" cy="0"/>
              </a:xfrm>
              <a:prstGeom prst="line">
                <a:avLst/>
              </a:prstGeom>
              <a:ln w="19050" cap="flat" cmpd="sng">
                <a:solidFill>
                  <a:schemeClr val="tx1"/>
                </a:solidFill>
                <a:prstDash val="solid"/>
                <a:headEnd type="none" w="med" len="med"/>
                <a:tailEnd type="none" w="med" len="med"/>
              </a:ln>
            </p:spPr>
          </p:sp>
          <p:sp>
            <p:nvSpPr>
              <p:cNvPr id="22628" name="任意多边形 59426"/>
              <p:cNvSpPr/>
              <p:nvPr/>
            </p:nvSpPr>
            <p:spPr>
              <a:xfrm>
                <a:off x="4589" y="761"/>
                <a:ext cx="726" cy="432"/>
              </a:xfrm>
              <a:custGeom>
                <a:avLst/>
                <a:gdLst/>
                <a:ahLst/>
                <a:cxnLst>
                  <a:cxn ang="0">
                    <a:pos x="0" y="288"/>
                  </a:cxn>
                  <a:cxn ang="0">
                    <a:pos x="0" y="0"/>
                  </a:cxn>
                  <a:cxn ang="0">
                    <a:pos x="726" y="0"/>
                  </a:cxn>
                  <a:cxn ang="0">
                    <a:pos x="726" y="432"/>
                  </a:cxn>
                </a:cxnLst>
                <a:rect l="0" t="0" r="0" b="0"/>
                <a:pathLst>
                  <a:path w="624" h="432">
                    <a:moveTo>
                      <a:pt x="0" y="288"/>
                    </a:moveTo>
                    <a:lnTo>
                      <a:pt x="0" y="0"/>
                    </a:lnTo>
                    <a:lnTo>
                      <a:pt x="624" y="0"/>
                    </a:lnTo>
                    <a:lnTo>
                      <a:pt x="624" y="432"/>
                    </a:ln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629" name="矩形 59427"/>
              <p:cNvSpPr/>
              <p:nvPr/>
            </p:nvSpPr>
            <p:spPr>
              <a:xfrm rot="-5400000">
                <a:off x="4970" y="641"/>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30" name="椭圆 59428"/>
              <p:cNvSpPr/>
              <p:nvPr/>
            </p:nvSpPr>
            <p:spPr>
              <a:xfrm>
                <a:off x="5298" y="1178"/>
                <a:ext cx="48" cy="48"/>
              </a:xfrm>
              <a:prstGeom prst="ellipse">
                <a:avLst/>
              </a:prstGeom>
              <a:solidFill>
                <a:schemeClr val="tx2"/>
              </a:solidFill>
              <a:ln w="19050" cap="flat" cmpd="sng">
                <a:solidFill>
                  <a:schemeClr val="tx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31" name="文本框 59429"/>
              <p:cNvSpPr txBox="1"/>
              <p:nvPr/>
            </p:nvSpPr>
            <p:spPr>
              <a:xfrm>
                <a:off x="4559" y="1043"/>
                <a:ext cx="266"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dirty="0">
                    <a:latin typeface="Times New Roman" panose="02020603050405020304" pitchFamily="18" charset="0"/>
                    <a:ea typeface="宋体" panose="02010600030101010101" pitchFamily="2" charset="-122"/>
                  </a:rPr>
                  <a:t>-</a:t>
                </a:r>
              </a:p>
            </p:txBody>
          </p:sp>
          <p:sp>
            <p:nvSpPr>
              <p:cNvPr id="22632" name="文本框 59430"/>
              <p:cNvSpPr txBox="1"/>
              <p:nvPr/>
            </p:nvSpPr>
            <p:spPr>
              <a:xfrm>
                <a:off x="4541" y="1241"/>
                <a:ext cx="30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dirty="0">
                    <a:latin typeface="Times New Roman" panose="02020603050405020304" pitchFamily="18" charset="0"/>
                    <a:ea typeface="宋体" panose="02010600030101010101" pitchFamily="2" charset="-122"/>
                  </a:rPr>
                  <a:t>+</a:t>
                </a:r>
              </a:p>
            </p:txBody>
          </p:sp>
          <p:sp>
            <p:nvSpPr>
              <p:cNvPr id="22633" name="文本框 59431"/>
              <p:cNvSpPr txBox="1"/>
              <p:nvPr/>
            </p:nvSpPr>
            <p:spPr>
              <a:xfrm>
                <a:off x="2639" y="432"/>
                <a:ext cx="408"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LSB</a:t>
                </a:r>
              </a:p>
            </p:txBody>
          </p:sp>
          <p:sp>
            <p:nvSpPr>
              <p:cNvPr id="22634" name="文本框 59432"/>
              <p:cNvSpPr txBox="1"/>
              <p:nvPr/>
            </p:nvSpPr>
            <p:spPr>
              <a:xfrm>
                <a:off x="3686" y="432"/>
                <a:ext cx="45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MSB</a:t>
                </a:r>
              </a:p>
            </p:txBody>
          </p:sp>
          <p:sp>
            <p:nvSpPr>
              <p:cNvPr id="22635" name="直接连接符 59433"/>
              <p:cNvSpPr/>
              <p:nvPr/>
            </p:nvSpPr>
            <p:spPr>
              <a:xfrm flipV="1">
                <a:off x="4586" y="1278"/>
                <a:ext cx="0" cy="192"/>
              </a:xfrm>
              <a:prstGeom prst="line">
                <a:avLst/>
              </a:prstGeom>
              <a:ln w="19050" cap="flat" cmpd="sng">
                <a:solidFill>
                  <a:schemeClr val="tx1"/>
                </a:solidFill>
                <a:prstDash val="solid"/>
                <a:headEnd type="none" w="med" len="med"/>
                <a:tailEnd type="none" w="med" len="med"/>
              </a:ln>
            </p:spPr>
          </p:sp>
          <p:sp>
            <p:nvSpPr>
              <p:cNvPr id="22636" name="任意多边形 59434"/>
              <p:cNvSpPr/>
              <p:nvPr/>
            </p:nvSpPr>
            <p:spPr>
              <a:xfrm>
                <a:off x="2908" y="1049"/>
                <a:ext cx="1865" cy="432"/>
              </a:xfrm>
              <a:custGeom>
                <a:avLst/>
                <a:gdLst/>
                <a:ahLst/>
                <a:cxnLst>
                  <a:cxn ang="0">
                    <a:pos x="1865" y="0"/>
                  </a:cxn>
                  <a:cxn ang="0">
                    <a:pos x="0" y="0"/>
                  </a:cxn>
                  <a:cxn ang="0">
                    <a:pos x="0" y="432"/>
                  </a:cxn>
                </a:cxnLst>
                <a:rect l="0" t="0" r="0" b="0"/>
                <a:pathLst>
                  <a:path w="2112" h="432">
                    <a:moveTo>
                      <a:pt x="2112" y="0"/>
                    </a:moveTo>
                    <a:lnTo>
                      <a:pt x="0" y="0"/>
                    </a:lnTo>
                    <a:lnTo>
                      <a:pt x="0" y="432"/>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22637" name="直接连接符 59435"/>
              <p:cNvSpPr/>
              <p:nvPr/>
            </p:nvSpPr>
            <p:spPr>
              <a:xfrm flipV="1">
                <a:off x="3284" y="1049"/>
                <a:ext cx="0" cy="417"/>
              </a:xfrm>
              <a:prstGeom prst="line">
                <a:avLst/>
              </a:prstGeom>
              <a:ln w="19050" cap="flat" cmpd="sng">
                <a:solidFill>
                  <a:srgbClr val="339933"/>
                </a:solidFill>
                <a:prstDash val="solid"/>
                <a:headEnd type="none" w="med" len="med"/>
                <a:tailEnd type="none" w="med" len="med"/>
              </a:ln>
            </p:spPr>
          </p:sp>
          <p:sp>
            <p:nvSpPr>
              <p:cNvPr id="22638" name="直接连接符 59436"/>
              <p:cNvSpPr/>
              <p:nvPr/>
            </p:nvSpPr>
            <p:spPr>
              <a:xfrm flipV="1">
                <a:off x="3672" y="1049"/>
                <a:ext cx="0" cy="417"/>
              </a:xfrm>
              <a:prstGeom prst="line">
                <a:avLst/>
              </a:prstGeom>
              <a:ln w="19050" cap="flat" cmpd="sng">
                <a:solidFill>
                  <a:srgbClr val="339933"/>
                </a:solidFill>
                <a:prstDash val="solid"/>
                <a:headEnd type="none" w="med" len="med"/>
                <a:tailEnd type="none" w="med" len="med"/>
              </a:ln>
            </p:spPr>
          </p:sp>
          <p:sp>
            <p:nvSpPr>
              <p:cNvPr id="22639" name="直接连接符 59437"/>
              <p:cNvSpPr/>
              <p:nvPr/>
            </p:nvSpPr>
            <p:spPr>
              <a:xfrm flipV="1">
                <a:off x="4045" y="1049"/>
                <a:ext cx="0" cy="417"/>
              </a:xfrm>
              <a:prstGeom prst="line">
                <a:avLst/>
              </a:prstGeom>
              <a:ln w="19050" cap="flat" cmpd="sng">
                <a:solidFill>
                  <a:srgbClr val="339933"/>
                </a:solidFill>
                <a:prstDash val="solid"/>
                <a:headEnd type="none" w="med" len="med"/>
                <a:tailEnd type="none" w="med" len="med"/>
              </a:ln>
            </p:spPr>
          </p:sp>
          <p:sp>
            <p:nvSpPr>
              <p:cNvPr id="22640" name="直接连接符 59438"/>
              <p:cNvSpPr/>
              <p:nvPr/>
            </p:nvSpPr>
            <p:spPr>
              <a:xfrm flipH="1" flipV="1">
                <a:off x="3801" y="1278"/>
                <a:ext cx="0" cy="192"/>
              </a:xfrm>
              <a:prstGeom prst="line">
                <a:avLst/>
              </a:prstGeom>
              <a:ln w="19050" cap="flat" cmpd="sng">
                <a:solidFill>
                  <a:schemeClr val="tx2"/>
                </a:solidFill>
                <a:prstDash val="solid"/>
                <a:headEnd type="none" w="med" len="med"/>
                <a:tailEnd type="none" w="med" len="med"/>
              </a:ln>
            </p:spPr>
          </p:sp>
          <p:sp>
            <p:nvSpPr>
              <p:cNvPr id="22641" name="直接连接符 59439"/>
              <p:cNvSpPr/>
              <p:nvPr/>
            </p:nvSpPr>
            <p:spPr>
              <a:xfrm flipH="1" flipV="1">
                <a:off x="3414" y="1278"/>
                <a:ext cx="0" cy="192"/>
              </a:xfrm>
              <a:prstGeom prst="line">
                <a:avLst/>
              </a:prstGeom>
              <a:ln w="19050" cap="flat" cmpd="sng">
                <a:solidFill>
                  <a:schemeClr val="tx2"/>
                </a:solidFill>
                <a:prstDash val="solid"/>
                <a:headEnd type="none" w="med" len="med"/>
                <a:tailEnd type="none" w="med" len="med"/>
              </a:ln>
            </p:spPr>
          </p:sp>
          <p:sp>
            <p:nvSpPr>
              <p:cNvPr id="22642" name="直接连接符 59440"/>
              <p:cNvSpPr/>
              <p:nvPr/>
            </p:nvSpPr>
            <p:spPr>
              <a:xfrm flipH="1" flipV="1">
                <a:off x="3040" y="1278"/>
                <a:ext cx="0" cy="192"/>
              </a:xfrm>
              <a:prstGeom prst="line">
                <a:avLst/>
              </a:prstGeom>
              <a:ln w="19050" cap="flat" cmpd="sng">
                <a:solidFill>
                  <a:schemeClr val="tx2"/>
                </a:solidFill>
                <a:prstDash val="solid"/>
                <a:headEnd type="none" w="med" len="med"/>
                <a:tailEnd type="none" w="med" len="med"/>
              </a:ln>
            </p:spPr>
          </p:sp>
          <p:sp>
            <p:nvSpPr>
              <p:cNvPr id="22643" name="直接连接符 59441"/>
              <p:cNvSpPr/>
              <p:nvPr/>
            </p:nvSpPr>
            <p:spPr>
              <a:xfrm flipH="1" flipV="1">
                <a:off x="2666" y="1278"/>
                <a:ext cx="0" cy="192"/>
              </a:xfrm>
              <a:prstGeom prst="line">
                <a:avLst/>
              </a:prstGeom>
              <a:ln w="19050" cap="flat" cmpd="sng">
                <a:solidFill>
                  <a:schemeClr val="tx2"/>
                </a:solidFill>
                <a:prstDash val="solid"/>
                <a:headEnd type="none" w="med" len="med"/>
                <a:tailEnd type="none" w="med" len="med"/>
              </a:ln>
            </p:spPr>
          </p:sp>
          <p:sp>
            <p:nvSpPr>
              <p:cNvPr id="22644" name="直接连接符 59442"/>
              <p:cNvSpPr/>
              <p:nvPr/>
            </p:nvSpPr>
            <p:spPr>
              <a:xfrm flipH="1" flipV="1">
                <a:off x="3371" y="1458"/>
                <a:ext cx="158" cy="144"/>
              </a:xfrm>
              <a:prstGeom prst="line">
                <a:avLst/>
              </a:prstGeom>
              <a:ln w="28575" cap="flat" cmpd="sng">
                <a:solidFill>
                  <a:srgbClr val="FF00FF"/>
                </a:solidFill>
                <a:prstDash val="solid"/>
                <a:headEnd type="none" w="med" len="med"/>
                <a:tailEnd type="none" w="med" len="med"/>
              </a:ln>
            </p:spPr>
          </p:sp>
          <p:sp>
            <p:nvSpPr>
              <p:cNvPr id="22645" name="直接连接符 59443"/>
              <p:cNvSpPr/>
              <p:nvPr/>
            </p:nvSpPr>
            <p:spPr>
              <a:xfrm flipH="1" flipV="1">
                <a:off x="3010" y="1469"/>
                <a:ext cx="158" cy="144"/>
              </a:xfrm>
              <a:prstGeom prst="line">
                <a:avLst/>
              </a:prstGeom>
              <a:ln w="28575" cap="flat" cmpd="sng">
                <a:solidFill>
                  <a:srgbClr val="FF00FF"/>
                </a:solidFill>
                <a:prstDash val="solid"/>
                <a:headEnd type="none" w="med" len="med"/>
                <a:tailEnd type="none" w="med" len="med"/>
              </a:ln>
            </p:spPr>
          </p:sp>
          <p:sp>
            <p:nvSpPr>
              <p:cNvPr id="22646" name="直接连接符 59444"/>
              <p:cNvSpPr/>
              <p:nvPr/>
            </p:nvSpPr>
            <p:spPr>
              <a:xfrm flipH="1" flipV="1">
                <a:off x="2613" y="1447"/>
                <a:ext cx="158" cy="144"/>
              </a:xfrm>
              <a:prstGeom prst="line">
                <a:avLst/>
              </a:prstGeom>
              <a:ln w="28575" cap="flat" cmpd="sng">
                <a:solidFill>
                  <a:srgbClr val="FF00FF"/>
                </a:solidFill>
                <a:prstDash val="solid"/>
                <a:headEnd type="none" w="med" len="med"/>
                <a:tailEnd type="none" w="med" len="med"/>
              </a:ln>
            </p:spPr>
          </p:sp>
          <p:sp>
            <p:nvSpPr>
              <p:cNvPr id="22647" name="直接连接符 59445"/>
              <p:cNvSpPr/>
              <p:nvPr/>
            </p:nvSpPr>
            <p:spPr>
              <a:xfrm flipH="1" flipV="1">
                <a:off x="3744" y="1447"/>
                <a:ext cx="158" cy="144"/>
              </a:xfrm>
              <a:prstGeom prst="line">
                <a:avLst/>
              </a:prstGeom>
              <a:ln w="28575" cap="flat" cmpd="sng">
                <a:solidFill>
                  <a:srgbClr val="FF00FF"/>
                </a:solidFill>
                <a:prstDash val="solid"/>
                <a:headEnd type="none" w="med" len="med"/>
                <a:tailEnd type="none" w="med" len="med"/>
              </a:ln>
            </p:spPr>
          </p:sp>
          <p:grpSp>
            <p:nvGrpSpPr>
              <p:cNvPr id="22648" name="组合 59446"/>
              <p:cNvGrpSpPr/>
              <p:nvPr/>
            </p:nvGrpSpPr>
            <p:grpSpPr>
              <a:xfrm flipH="1" flipV="1">
                <a:off x="2730" y="1602"/>
                <a:ext cx="1200" cy="48"/>
                <a:chOff x="218" y="1632"/>
                <a:chExt cx="897" cy="48"/>
              </a:xfrm>
            </p:grpSpPr>
            <p:sp>
              <p:nvSpPr>
                <p:cNvPr id="22690" name="椭圆 59447"/>
                <p:cNvSpPr/>
                <p:nvPr/>
              </p:nvSpPr>
              <p:spPr>
                <a:xfrm>
                  <a:off x="218"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91" name="椭圆 59448"/>
                <p:cNvSpPr/>
                <p:nvPr/>
              </p:nvSpPr>
              <p:spPr>
                <a:xfrm>
                  <a:off x="508"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92" name="椭圆 59449"/>
                <p:cNvSpPr/>
                <p:nvPr/>
              </p:nvSpPr>
              <p:spPr>
                <a:xfrm>
                  <a:off x="787"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93" name="椭圆 59450"/>
                <p:cNvSpPr/>
                <p:nvPr/>
              </p:nvSpPr>
              <p:spPr>
                <a:xfrm>
                  <a:off x="1067" y="1632"/>
                  <a:ext cx="48" cy="48"/>
                </a:xfrm>
                <a:prstGeom prst="ellipse">
                  <a:avLst/>
                </a:prstGeom>
                <a:solidFill>
                  <a:schemeClr val="accent1"/>
                </a:solidFill>
                <a:ln w="19050" cap="flat" cmpd="sng">
                  <a:solidFill>
                    <a:srgbClr val="FF00FF"/>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2649" name="文本框 59451"/>
              <p:cNvSpPr txBox="1"/>
              <p:nvPr/>
            </p:nvSpPr>
            <p:spPr>
              <a:xfrm>
                <a:off x="3970"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3</a:t>
                </a:r>
              </a:p>
            </p:txBody>
          </p:sp>
          <p:sp>
            <p:nvSpPr>
              <p:cNvPr id="22650" name="文本框 59452"/>
              <p:cNvSpPr txBox="1"/>
              <p:nvPr/>
            </p:nvSpPr>
            <p:spPr>
              <a:xfrm>
                <a:off x="3591"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2</a:t>
                </a:r>
              </a:p>
            </p:txBody>
          </p:sp>
          <p:sp>
            <p:nvSpPr>
              <p:cNvPr id="22651" name="文本框 59453"/>
              <p:cNvSpPr txBox="1"/>
              <p:nvPr/>
            </p:nvSpPr>
            <p:spPr>
              <a:xfrm>
                <a:off x="3213"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1</a:t>
                </a:r>
              </a:p>
            </p:txBody>
          </p:sp>
          <p:sp>
            <p:nvSpPr>
              <p:cNvPr id="22652" name="文本框 59454"/>
              <p:cNvSpPr txBox="1"/>
              <p:nvPr/>
            </p:nvSpPr>
            <p:spPr>
              <a:xfrm>
                <a:off x="2834" y="1448"/>
                <a:ext cx="256" cy="251"/>
              </a:xfrm>
              <a:prstGeom prst="rect">
                <a:avLst/>
              </a:prstGeom>
              <a:noFill/>
              <a:ln w="19050">
                <a:noFill/>
              </a:ln>
            </p:spPr>
            <p:txBody>
              <a:bodyPr wrap="none">
                <a:spAutoFit/>
              </a:bodyPr>
              <a:lstStyle/>
              <a:p>
                <a:pPr eaLnBrk="1" hangingPunct="1"/>
                <a:r>
                  <a:rPr lang="en-US" altLang="zh-CN" sz="2000" dirty="0">
                    <a:solidFill>
                      <a:srgbClr val="FF00FF"/>
                    </a:solidFill>
                    <a:latin typeface="Times New Roman" panose="02020603050405020304" pitchFamily="18" charset="0"/>
                    <a:ea typeface="宋体" panose="02010600030101010101" pitchFamily="2" charset="-122"/>
                  </a:rPr>
                  <a:t>S</a:t>
                </a:r>
                <a:r>
                  <a:rPr lang="en-US" altLang="zh-CN" sz="2000" baseline="-25000" dirty="0">
                    <a:solidFill>
                      <a:srgbClr val="FF00FF"/>
                    </a:solidFill>
                    <a:latin typeface="Times New Roman" panose="02020603050405020304" pitchFamily="18" charset="0"/>
                    <a:ea typeface="宋体" panose="02010600030101010101" pitchFamily="2" charset="-122"/>
                  </a:rPr>
                  <a:t>0</a:t>
                </a:r>
              </a:p>
            </p:txBody>
          </p:sp>
          <p:sp>
            <p:nvSpPr>
              <p:cNvPr id="22653" name="任意多边形 59455"/>
              <p:cNvSpPr/>
              <p:nvPr/>
            </p:nvSpPr>
            <p:spPr>
              <a:xfrm flipV="1">
                <a:off x="2394" y="1289"/>
                <a:ext cx="1851" cy="1152"/>
              </a:xfrm>
              <a:custGeom>
                <a:avLst/>
                <a:gdLst/>
                <a:ahLst/>
                <a:cxnLst>
                  <a:cxn ang="0">
                    <a:pos x="1851" y="0"/>
                  </a:cxn>
                  <a:cxn ang="0">
                    <a:pos x="0" y="0"/>
                  </a:cxn>
                  <a:cxn ang="0">
                    <a:pos x="0" y="1152"/>
                  </a:cxn>
                </a:cxnLst>
                <a:rect l="0" t="0" r="0" b="0"/>
                <a:pathLst>
                  <a:path w="1344" h="624">
                    <a:moveTo>
                      <a:pt x="1344" y="0"/>
                    </a:moveTo>
                    <a:lnTo>
                      <a:pt x="0" y="0"/>
                    </a:lnTo>
                    <a:lnTo>
                      <a:pt x="0" y="624"/>
                    </a:ln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654" name="矩形 59456"/>
              <p:cNvSpPr/>
              <p:nvPr/>
            </p:nvSpPr>
            <p:spPr>
              <a:xfrm rot="-10800000" flipV="1">
                <a:off x="3846"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55" name="文本框 59457"/>
              <p:cNvSpPr txBox="1"/>
              <p:nvPr/>
            </p:nvSpPr>
            <p:spPr>
              <a:xfrm>
                <a:off x="2827"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656" name="文本框 59458"/>
              <p:cNvSpPr txBox="1"/>
              <p:nvPr/>
            </p:nvSpPr>
            <p:spPr>
              <a:xfrm>
                <a:off x="3205"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657" name="文本框 59459"/>
              <p:cNvSpPr txBox="1"/>
              <p:nvPr/>
            </p:nvSpPr>
            <p:spPr>
              <a:xfrm>
                <a:off x="3584" y="1961"/>
                <a:ext cx="29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2R</a:t>
                </a:r>
              </a:p>
            </p:txBody>
          </p:sp>
          <p:sp>
            <p:nvSpPr>
              <p:cNvPr id="22658" name="直接连接符 59460"/>
              <p:cNvSpPr/>
              <p:nvPr/>
            </p:nvSpPr>
            <p:spPr>
              <a:xfrm flipV="1">
                <a:off x="2876" y="1817"/>
                <a:ext cx="0" cy="192"/>
              </a:xfrm>
              <a:prstGeom prst="line">
                <a:avLst/>
              </a:prstGeom>
              <a:ln w="19050" cap="flat" cmpd="sng">
                <a:solidFill>
                  <a:schemeClr val="hlink"/>
                </a:solidFill>
                <a:prstDash val="solid"/>
                <a:headEnd type="none" w="med" len="med"/>
                <a:tailEnd type="triangle" w="med" len="med"/>
              </a:ln>
            </p:spPr>
          </p:sp>
          <p:sp>
            <p:nvSpPr>
              <p:cNvPr id="22659" name="直接连接符 59461"/>
              <p:cNvSpPr/>
              <p:nvPr/>
            </p:nvSpPr>
            <p:spPr>
              <a:xfrm flipV="1">
                <a:off x="3189" y="1817"/>
                <a:ext cx="0" cy="192"/>
              </a:xfrm>
              <a:prstGeom prst="line">
                <a:avLst/>
              </a:prstGeom>
              <a:ln w="19050" cap="flat" cmpd="sng">
                <a:solidFill>
                  <a:schemeClr val="hlink"/>
                </a:solidFill>
                <a:prstDash val="solid"/>
                <a:headEnd type="none" w="med" len="med"/>
                <a:tailEnd type="triangle" w="med" len="med"/>
              </a:ln>
            </p:spPr>
          </p:sp>
          <p:sp>
            <p:nvSpPr>
              <p:cNvPr id="22660" name="直接连接符 59462"/>
              <p:cNvSpPr/>
              <p:nvPr/>
            </p:nvSpPr>
            <p:spPr>
              <a:xfrm flipV="1">
                <a:off x="3646" y="1817"/>
                <a:ext cx="0" cy="192"/>
              </a:xfrm>
              <a:prstGeom prst="line">
                <a:avLst/>
              </a:prstGeom>
              <a:ln w="19050" cap="flat" cmpd="sng">
                <a:solidFill>
                  <a:schemeClr val="hlink"/>
                </a:solidFill>
                <a:prstDash val="solid"/>
                <a:headEnd type="none" w="med" len="med"/>
                <a:tailEnd type="triangle" w="med" len="med"/>
              </a:ln>
            </p:spPr>
          </p:sp>
          <p:sp>
            <p:nvSpPr>
              <p:cNvPr id="22661" name="直接连接符 59463"/>
              <p:cNvSpPr/>
              <p:nvPr/>
            </p:nvSpPr>
            <p:spPr>
              <a:xfrm flipV="1">
                <a:off x="4005" y="1817"/>
                <a:ext cx="0" cy="192"/>
              </a:xfrm>
              <a:prstGeom prst="line">
                <a:avLst/>
              </a:prstGeom>
              <a:ln w="19050" cap="flat" cmpd="sng">
                <a:solidFill>
                  <a:schemeClr val="hlink"/>
                </a:solidFill>
                <a:prstDash val="solid"/>
                <a:headEnd type="none" w="med" len="med"/>
                <a:tailEnd type="triangle" w="med" len="med"/>
              </a:ln>
            </p:spPr>
          </p:sp>
          <p:sp>
            <p:nvSpPr>
              <p:cNvPr id="22662" name="文本框 59464"/>
              <p:cNvSpPr txBox="1"/>
              <p:nvPr/>
            </p:nvSpPr>
            <p:spPr>
              <a:xfrm>
                <a:off x="2757"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0</a:t>
                </a:r>
              </a:p>
            </p:txBody>
          </p:sp>
          <p:sp>
            <p:nvSpPr>
              <p:cNvPr id="22663" name="文本框 59465"/>
              <p:cNvSpPr txBox="1"/>
              <p:nvPr/>
            </p:nvSpPr>
            <p:spPr>
              <a:xfrm>
                <a:off x="3142"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1</a:t>
                </a:r>
              </a:p>
            </p:txBody>
          </p:sp>
          <p:sp>
            <p:nvSpPr>
              <p:cNvPr id="22664" name="文本框 59466"/>
              <p:cNvSpPr txBox="1"/>
              <p:nvPr/>
            </p:nvSpPr>
            <p:spPr>
              <a:xfrm>
                <a:off x="3542"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2</a:t>
                </a:r>
              </a:p>
            </p:txBody>
          </p:sp>
          <p:sp>
            <p:nvSpPr>
              <p:cNvPr id="22665" name="文本框 59467"/>
              <p:cNvSpPr txBox="1"/>
              <p:nvPr/>
            </p:nvSpPr>
            <p:spPr>
              <a:xfrm>
                <a:off x="3942" y="1625"/>
                <a:ext cx="22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3</a:t>
                </a:r>
              </a:p>
            </p:txBody>
          </p:sp>
          <p:sp>
            <p:nvSpPr>
              <p:cNvPr id="22666" name="文本框 59468"/>
              <p:cNvSpPr txBox="1"/>
              <p:nvPr/>
            </p:nvSpPr>
            <p:spPr>
              <a:xfrm>
                <a:off x="2448"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667" name="文本框 59469"/>
              <p:cNvSpPr txBox="1"/>
              <p:nvPr/>
            </p:nvSpPr>
            <p:spPr>
              <a:xfrm>
                <a:off x="2069" y="196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668" name="椭圆 59470"/>
              <p:cNvSpPr/>
              <p:nvPr/>
            </p:nvSpPr>
            <p:spPr>
              <a:xfrm>
                <a:off x="4563" y="1278"/>
                <a:ext cx="48" cy="48"/>
              </a:xfrm>
              <a:prstGeom prst="ellipse">
                <a:avLst/>
              </a:prstGeom>
              <a:solidFill>
                <a:schemeClr val="tx2"/>
              </a:solidFill>
              <a:ln w="19050" cap="flat" cmpd="sng">
                <a:solidFill>
                  <a:schemeClr val="tx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69" name="矩形 59471"/>
              <p:cNvSpPr/>
              <p:nvPr/>
            </p:nvSpPr>
            <p:spPr>
              <a:xfrm rot="-10800000" flipV="1">
                <a:off x="2336"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70" name="矩形 59472"/>
              <p:cNvSpPr/>
              <p:nvPr/>
            </p:nvSpPr>
            <p:spPr>
              <a:xfrm rot="5400000" flipV="1">
                <a:off x="2903" y="2322"/>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71" name="矩形 59473"/>
              <p:cNvSpPr/>
              <p:nvPr/>
            </p:nvSpPr>
            <p:spPr>
              <a:xfrm rot="5400000" flipV="1">
                <a:off x="3281" y="2322"/>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72" name="矩形 59474"/>
              <p:cNvSpPr/>
              <p:nvPr/>
            </p:nvSpPr>
            <p:spPr>
              <a:xfrm rot="5400000" flipV="1">
                <a:off x="3660" y="2322"/>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73" name="矩形 59475"/>
              <p:cNvSpPr/>
              <p:nvPr/>
            </p:nvSpPr>
            <p:spPr>
              <a:xfrm rot="-10800000" flipV="1">
                <a:off x="2709"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74" name="矩形 59476"/>
              <p:cNvSpPr/>
              <p:nvPr/>
            </p:nvSpPr>
            <p:spPr>
              <a:xfrm rot="-10800000" flipV="1">
                <a:off x="3045"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75" name="矩形 59477"/>
              <p:cNvSpPr/>
              <p:nvPr/>
            </p:nvSpPr>
            <p:spPr>
              <a:xfrm rot="-10800000" flipV="1">
                <a:off x="3477" y="1806"/>
                <a:ext cx="96" cy="240"/>
              </a:xfrm>
              <a:prstGeom prst="rect">
                <a:avLst/>
              </a:prstGeom>
              <a:solidFill>
                <a:schemeClr val="accent1"/>
              </a:solidFill>
              <a:ln w="19050"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76" name="文本框 59478"/>
              <p:cNvSpPr txBox="1"/>
              <p:nvPr/>
            </p:nvSpPr>
            <p:spPr>
              <a:xfrm>
                <a:off x="2833" y="219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2677" name="文本框 59479"/>
              <p:cNvSpPr txBox="1"/>
              <p:nvPr/>
            </p:nvSpPr>
            <p:spPr>
              <a:xfrm>
                <a:off x="3217" y="219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2678" name="文本框 59480"/>
              <p:cNvSpPr txBox="1"/>
              <p:nvPr/>
            </p:nvSpPr>
            <p:spPr>
              <a:xfrm>
                <a:off x="3590" y="219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2679" name="直接连接符 59481"/>
              <p:cNvSpPr/>
              <p:nvPr/>
            </p:nvSpPr>
            <p:spPr>
              <a:xfrm flipH="1">
                <a:off x="2373" y="2552"/>
                <a:ext cx="288" cy="0"/>
              </a:xfrm>
              <a:prstGeom prst="line">
                <a:avLst/>
              </a:prstGeom>
              <a:ln w="19050" cap="flat" cmpd="sng">
                <a:solidFill>
                  <a:schemeClr val="hlink"/>
                </a:solidFill>
                <a:prstDash val="solid"/>
                <a:headEnd type="none" w="med" len="med"/>
                <a:tailEnd type="triangle" w="med" len="med"/>
              </a:ln>
            </p:spPr>
          </p:sp>
          <p:sp>
            <p:nvSpPr>
              <p:cNvPr id="22680" name="直接连接符 59482"/>
              <p:cNvSpPr/>
              <p:nvPr/>
            </p:nvSpPr>
            <p:spPr>
              <a:xfrm flipH="1">
                <a:off x="2861" y="2552"/>
                <a:ext cx="288" cy="0"/>
              </a:xfrm>
              <a:prstGeom prst="line">
                <a:avLst/>
              </a:prstGeom>
              <a:ln w="19050" cap="flat" cmpd="sng">
                <a:solidFill>
                  <a:schemeClr val="hlink"/>
                </a:solidFill>
                <a:prstDash val="solid"/>
                <a:headEnd type="none" w="med" len="med"/>
                <a:tailEnd type="triangle" w="med" len="med"/>
              </a:ln>
            </p:spPr>
          </p:sp>
          <p:sp>
            <p:nvSpPr>
              <p:cNvPr id="22681" name="直接连接符 59483"/>
              <p:cNvSpPr/>
              <p:nvPr/>
            </p:nvSpPr>
            <p:spPr>
              <a:xfrm flipH="1">
                <a:off x="3217" y="2552"/>
                <a:ext cx="288" cy="0"/>
              </a:xfrm>
              <a:prstGeom prst="line">
                <a:avLst/>
              </a:prstGeom>
              <a:ln w="19050" cap="flat" cmpd="sng">
                <a:solidFill>
                  <a:schemeClr val="hlink"/>
                </a:solidFill>
                <a:prstDash val="solid"/>
                <a:headEnd type="none" w="med" len="med"/>
                <a:tailEnd type="triangle" w="med" len="med"/>
              </a:ln>
            </p:spPr>
          </p:sp>
          <p:sp>
            <p:nvSpPr>
              <p:cNvPr id="22682" name="直接连接符 59484"/>
              <p:cNvSpPr/>
              <p:nvPr/>
            </p:nvSpPr>
            <p:spPr>
              <a:xfrm flipH="1">
                <a:off x="3572" y="2552"/>
                <a:ext cx="288" cy="0"/>
              </a:xfrm>
              <a:prstGeom prst="line">
                <a:avLst/>
              </a:prstGeom>
              <a:ln w="19050" cap="flat" cmpd="sng">
                <a:solidFill>
                  <a:schemeClr val="hlink"/>
                </a:solidFill>
                <a:prstDash val="solid"/>
                <a:headEnd type="none" w="med" len="med"/>
                <a:tailEnd type="triangle" w="med" len="med"/>
              </a:ln>
            </p:spPr>
          </p:sp>
          <p:sp>
            <p:nvSpPr>
              <p:cNvPr id="22683" name="文本框 59485"/>
              <p:cNvSpPr txBox="1"/>
              <p:nvPr/>
            </p:nvSpPr>
            <p:spPr>
              <a:xfrm>
                <a:off x="3573"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3</a:t>
                </a:r>
              </a:p>
            </p:txBody>
          </p:sp>
          <p:sp>
            <p:nvSpPr>
              <p:cNvPr id="22684" name="文本框 59486"/>
              <p:cNvSpPr txBox="1"/>
              <p:nvPr/>
            </p:nvSpPr>
            <p:spPr>
              <a:xfrm>
                <a:off x="3199"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2</a:t>
                </a:r>
              </a:p>
            </p:txBody>
          </p:sp>
          <p:sp>
            <p:nvSpPr>
              <p:cNvPr id="22685" name="文本框 59487"/>
              <p:cNvSpPr txBox="1"/>
              <p:nvPr/>
            </p:nvSpPr>
            <p:spPr>
              <a:xfrm>
                <a:off x="2826"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1</a:t>
                </a:r>
                <a:endParaRPr lang="en-US" altLang="zh-CN" sz="2000" dirty="0">
                  <a:solidFill>
                    <a:schemeClr val="hlink"/>
                  </a:solidFill>
                  <a:latin typeface="Times New Roman" panose="02020603050405020304" pitchFamily="18" charset="0"/>
                  <a:ea typeface="宋体" panose="02010600030101010101" pitchFamily="2" charset="-122"/>
                </a:endParaRPr>
              </a:p>
            </p:txBody>
          </p:sp>
          <p:sp>
            <p:nvSpPr>
              <p:cNvPr id="22686" name="文本框 59488"/>
              <p:cNvSpPr txBox="1"/>
              <p:nvPr/>
            </p:nvSpPr>
            <p:spPr>
              <a:xfrm>
                <a:off x="2373" y="2537"/>
                <a:ext cx="255"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r>
                  <a:rPr lang="en-US" altLang="zh-CN" sz="2000" baseline="-25000" dirty="0">
                    <a:solidFill>
                      <a:schemeClr val="hlink"/>
                    </a:solidFill>
                    <a:latin typeface="Times New Roman" panose="02020603050405020304" pitchFamily="18" charset="0"/>
                    <a:ea typeface="宋体" panose="02010600030101010101" pitchFamily="2" charset="-122"/>
                  </a:rPr>
                  <a:t>0</a:t>
                </a:r>
              </a:p>
            </p:txBody>
          </p:sp>
          <p:sp>
            <p:nvSpPr>
              <p:cNvPr id="22687" name="直接连接符 59489"/>
              <p:cNvSpPr/>
              <p:nvPr/>
            </p:nvSpPr>
            <p:spPr>
              <a:xfrm flipH="1">
                <a:off x="3942" y="2552"/>
                <a:ext cx="288" cy="0"/>
              </a:xfrm>
              <a:prstGeom prst="line">
                <a:avLst/>
              </a:prstGeom>
              <a:ln w="19050" cap="flat" cmpd="sng">
                <a:solidFill>
                  <a:schemeClr val="hlink"/>
                </a:solidFill>
                <a:prstDash val="solid"/>
                <a:headEnd type="none" w="med" len="med"/>
                <a:tailEnd type="triangle" w="med" len="med"/>
              </a:ln>
            </p:spPr>
          </p:sp>
          <p:sp>
            <p:nvSpPr>
              <p:cNvPr id="22688" name="文本框 59490"/>
              <p:cNvSpPr txBox="1"/>
              <p:nvPr/>
            </p:nvSpPr>
            <p:spPr>
              <a:xfrm>
                <a:off x="3998" y="2537"/>
                <a:ext cx="168"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I</a:t>
                </a:r>
                <a:endParaRPr lang="en-US" altLang="zh-CN" sz="2000" baseline="-25000" dirty="0">
                  <a:solidFill>
                    <a:schemeClr val="hlink"/>
                  </a:solidFill>
                  <a:latin typeface="Times New Roman" panose="02020603050405020304" pitchFamily="18" charset="0"/>
                  <a:ea typeface="宋体" panose="02010600030101010101" pitchFamily="2" charset="-122"/>
                </a:endParaRPr>
              </a:p>
            </p:txBody>
          </p:sp>
          <p:sp>
            <p:nvSpPr>
              <p:cNvPr id="22689" name="椭圆 59491"/>
              <p:cNvSpPr/>
              <p:nvPr/>
            </p:nvSpPr>
            <p:spPr>
              <a:xfrm>
                <a:off x="4556" y="1038"/>
                <a:ext cx="48" cy="48"/>
              </a:xfrm>
              <a:prstGeom prst="ellipse">
                <a:avLst/>
              </a:prstGeom>
              <a:solidFill>
                <a:schemeClr val="tx2"/>
              </a:solidFill>
              <a:ln w="19050" cap="flat" cmpd="sng">
                <a:solidFill>
                  <a:schemeClr val="tx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2602" name="椭圆 59492"/>
            <p:cNvSpPr/>
            <p:nvPr/>
          </p:nvSpPr>
          <p:spPr>
            <a:xfrm>
              <a:off x="3773" y="1274"/>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03" name="椭圆 59493"/>
            <p:cNvSpPr/>
            <p:nvPr/>
          </p:nvSpPr>
          <p:spPr>
            <a:xfrm>
              <a:off x="3386" y="1274"/>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04" name="椭圆 59494"/>
            <p:cNvSpPr/>
            <p:nvPr/>
          </p:nvSpPr>
          <p:spPr>
            <a:xfrm>
              <a:off x="3013" y="1270"/>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05" name="椭圆 59495"/>
            <p:cNvSpPr/>
            <p:nvPr/>
          </p:nvSpPr>
          <p:spPr>
            <a:xfrm>
              <a:off x="2644" y="1274"/>
              <a:ext cx="48" cy="48"/>
            </a:xfrm>
            <a:prstGeom prst="ellipse">
              <a:avLst/>
            </a:prstGeom>
            <a:solidFill>
              <a:schemeClr val="bg2"/>
            </a:solidFill>
            <a:ln w="19050" cap="flat" cmpd="sng">
              <a:solidFill>
                <a:schemeClr val="bg2"/>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06" name="椭圆 59496"/>
            <p:cNvSpPr/>
            <p:nvPr/>
          </p:nvSpPr>
          <p:spPr>
            <a:xfrm>
              <a:off x="4021" y="1023"/>
              <a:ext cx="48" cy="48"/>
            </a:xfrm>
            <a:prstGeom prst="ellipse">
              <a:avLst/>
            </a:prstGeom>
            <a:solidFill>
              <a:srgbClr val="009900"/>
            </a:solidFill>
            <a:ln w="19050" cap="flat" cmpd="sng">
              <a:solidFill>
                <a:srgbClr val="00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07" name="椭圆 59497"/>
            <p:cNvSpPr/>
            <p:nvPr/>
          </p:nvSpPr>
          <p:spPr>
            <a:xfrm>
              <a:off x="3264" y="1019"/>
              <a:ext cx="48" cy="48"/>
            </a:xfrm>
            <a:prstGeom prst="ellipse">
              <a:avLst/>
            </a:prstGeom>
            <a:solidFill>
              <a:srgbClr val="009900"/>
            </a:solidFill>
            <a:ln w="19050" cap="flat" cmpd="sng">
              <a:solidFill>
                <a:srgbClr val="00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08" name="椭圆 59498"/>
            <p:cNvSpPr/>
            <p:nvPr/>
          </p:nvSpPr>
          <p:spPr>
            <a:xfrm>
              <a:off x="3648" y="1023"/>
              <a:ext cx="48" cy="48"/>
            </a:xfrm>
            <a:prstGeom prst="ellipse">
              <a:avLst/>
            </a:prstGeom>
            <a:solidFill>
              <a:srgbClr val="009900"/>
            </a:solidFill>
            <a:ln w="19050" cap="flat" cmpd="sng">
              <a:solidFill>
                <a:srgbClr val="009900"/>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09" name="椭圆 59499"/>
            <p:cNvSpPr/>
            <p:nvPr/>
          </p:nvSpPr>
          <p:spPr>
            <a:xfrm>
              <a:off x="3877" y="2422"/>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10" name="椭圆 59500"/>
            <p:cNvSpPr/>
            <p:nvPr/>
          </p:nvSpPr>
          <p:spPr>
            <a:xfrm>
              <a:off x="3493" y="2426"/>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11" name="椭圆 59501"/>
            <p:cNvSpPr/>
            <p:nvPr/>
          </p:nvSpPr>
          <p:spPr>
            <a:xfrm>
              <a:off x="3124" y="2422"/>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612" name="椭圆 59502"/>
            <p:cNvSpPr/>
            <p:nvPr/>
          </p:nvSpPr>
          <p:spPr>
            <a:xfrm>
              <a:off x="2736" y="2422"/>
              <a:ext cx="48" cy="48"/>
            </a:xfrm>
            <a:prstGeom prst="ellipse">
              <a:avLst/>
            </a:prstGeom>
            <a:solidFill>
              <a:schemeClr val="tx1"/>
            </a:solidFill>
            <a:ln w="19050"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2531" name="文本框 59503"/>
          <p:cNvSpPr txBox="1"/>
          <p:nvPr/>
        </p:nvSpPr>
        <p:spPr>
          <a:xfrm>
            <a:off x="1774825" y="115888"/>
            <a:ext cx="3230880" cy="460375"/>
          </a:xfrm>
          <a:prstGeom prst="rect">
            <a:avLst/>
          </a:prstGeom>
          <a:noFill/>
          <a:ln w="19050">
            <a:noFill/>
          </a:ln>
        </p:spPr>
        <p:txBody>
          <a:bodyPr wrap="none">
            <a:spAutoFit/>
          </a:bodyPr>
          <a:lstStyle/>
          <a:p>
            <a:pPr eaLnBrk="1" hangingPunct="1"/>
            <a:r>
              <a:rPr lang="zh-CN" altLang="en-US" sz="2400" dirty="0">
                <a:solidFill>
                  <a:schemeClr val="hlink"/>
                </a:solidFill>
                <a:latin typeface="Times New Roman" panose="02020603050405020304" pitchFamily="18" charset="0"/>
              </a:rPr>
              <a:t>按接左求各支路电流：</a:t>
            </a:r>
          </a:p>
        </p:txBody>
      </p:sp>
      <p:grpSp>
        <p:nvGrpSpPr>
          <p:cNvPr id="59583" name="组合 59582"/>
          <p:cNvGrpSpPr/>
          <p:nvPr/>
        </p:nvGrpSpPr>
        <p:grpSpPr>
          <a:xfrm>
            <a:off x="1919288" y="476250"/>
            <a:ext cx="1584325" cy="3516313"/>
            <a:chOff x="249" y="436"/>
            <a:chExt cx="998" cy="2215"/>
          </a:xfrm>
        </p:grpSpPr>
        <p:graphicFrame>
          <p:nvGraphicFramePr>
            <p:cNvPr id="22595" name="对象 59569"/>
            <p:cNvGraphicFramePr/>
            <p:nvPr/>
          </p:nvGraphicFramePr>
          <p:xfrm>
            <a:off x="380" y="436"/>
            <a:ext cx="857" cy="465"/>
          </p:xfrm>
          <a:graphic>
            <a:graphicData uri="http://schemas.openxmlformats.org/presentationml/2006/ole">
              <mc:AlternateContent xmlns:mc="http://schemas.openxmlformats.org/markup-compatibility/2006">
                <mc:Choice xmlns:v="urn:schemas-microsoft-com:vml" Requires="v">
                  <p:oleObj spid="_x0000_s343053" r:id="rId3" imgW="786765" imgH="405765" progId="Equation.3">
                    <p:embed/>
                  </p:oleObj>
                </mc:Choice>
                <mc:Fallback>
                  <p:oleObj r:id="rId3" imgW="786765" imgH="405765" progId="Equation.3">
                    <p:embed/>
                    <p:pic>
                      <p:nvPicPr>
                        <p:cNvPr id="0" name="图片 3075"/>
                        <p:cNvPicPr/>
                        <p:nvPr/>
                      </p:nvPicPr>
                      <p:blipFill>
                        <a:blip r:embed="rId4"/>
                        <a:stretch>
                          <a:fillRect/>
                        </a:stretch>
                      </p:blipFill>
                      <p:spPr>
                        <a:xfrm>
                          <a:off x="380" y="436"/>
                          <a:ext cx="857" cy="465"/>
                        </a:xfrm>
                        <a:prstGeom prst="rect">
                          <a:avLst/>
                        </a:prstGeom>
                        <a:noFill/>
                        <a:ln w="38100">
                          <a:noFill/>
                          <a:miter/>
                        </a:ln>
                      </p:spPr>
                    </p:pic>
                  </p:oleObj>
                </mc:Fallback>
              </mc:AlternateContent>
            </a:graphicData>
          </a:graphic>
        </p:graphicFrame>
        <p:graphicFrame>
          <p:nvGraphicFramePr>
            <p:cNvPr id="22596" name="对象 59570"/>
            <p:cNvGraphicFramePr/>
            <p:nvPr/>
          </p:nvGraphicFramePr>
          <p:xfrm>
            <a:off x="382" y="898"/>
            <a:ext cx="820" cy="446"/>
          </p:xfrm>
          <a:graphic>
            <a:graphicData uri="http://schemas.openxmlformats.org/presentationml/2006/ole">
              <mc:AlternateContent xmlns:mc="http://schemas.openxmlformats.org/markup-compatibility/2006">
                <mc:Choice xmlns:v="urn:schemas-microsoft-com:vml" Requires="v">
                  <p:oleObj spid="_x0000_s343054" r:id="rId5" imgW="786765" imgH="405765" progId="Equation.3">
                    <p:embed/>
                  </p:oleObj>
                </mc:Choice>
                <mc:Fallback>
                  <p:oleObj r:id="rId5" imgW="786765" imgH="405765" progId="Equation.3">
                    <p:embed/>
                    <p:pic>
                      <p:nvPicPr>
                        <p:cNvPr id="0" name="图片 3076"/>
                        <p:cNvPicPr/>
                        <p:nvPr/>
                      </p:nvPicPr>
                      <p:blipFill>
                        <a:blip r:embed="rId6"/>
                        <a:stretch>
                          <a:fillRect/>
                        </a:stretch>
                      </p:blipFill>
                      <p:spPr>
                        <a:xfrm>
                          <a:off x="382" y="898"/>
                          <a:ext cx="820" cy="446"/>
                        </a:xfrm>
                        <a:prstGeom prst="rect">
                          <a:avLst/>
                        </a:prstGeom>
                        <a:noFill/>
                        <a:ln w="38100">
                          <a:noFill/>
                          <a:miter/>
                        </a:ln>
                      </p:spPr>
                    </p:pic>
                  </p:oleObj>
                </mc:Fallback>
              </mc:AlternateContent>
            </a:graphicData>
          </a:graphic>
        </p:graphicFrame>
        <p:graphicFrame>
          <p:nvGraphicFramePr>
            <p:cNvPr id="22597" name="对象 59571"/>
            <p:cNvGraphicFramePr/>
            <p:nvPr/>
          </p:nvGraphicFramePr>
          <p:xfrm>
            <a:off x="392" y="1797"/>
            <a:ext cx="810" cy="464"/>
          </p:xfrm>
          <a:graphic>
            <a:graphicData uri="http://schemas.openxmlformats.org/presentationml/2006/ole">
              <mc:AlternateContent xmlns:mc="http://schemas.openxmlformats.org/markup-compatibility/2006">
                <mc:Choice xmlns:v="urn:schemas-microsoft-com:vml" Requires="v">
                  <p:oleObj spid="_x0000_s343055" r:id="rId7" imgW="748665" imgH="405765" progId="Equation.3">
                    <p:embed/>
                  </p:oleObj>
                </mc:Choice>
                <mc:Fallback>
                  <p:oleObj r:id="rId7" imgW="748665" imgH="405765" progId="Equation.3">
                    <p:embed/>
                    <p:pic>
                      <p:nvPicPr>
                        <p:cNvPr id="0" name="图片 3077"/>
                        <p:cNvPicPr/>
                        <p:nvPr/>
                      </p:nvPicPr>
                      <p:blipFill>
                        <a:blip r:embed="rId8"/>
                        <a:stretch>
                          <a:fillRect/>
                        </a:stretch>
                      </p:blipFill>
                      <p:spPr>
                        <a:xfrm>
                          <a:off x="392" y="1797"/>
                          <a:ext cx="810" cy="464"/>
                        </a:xfrm>
                        <a:prstGeom prst="rect">
                          <a:avLst/>
                        </a:prstGeom>
                        <a:noFill/>
                        <a:ln w="38100">
                          <a:noFill/>
                          <a:miter/>
                        </a:ln>
                      </p:spPr>
                    </p:pic>
                  </p:oleObj>
                </mc:Fallback>
              </mc:AlternateContent>
            </a:graphicData>
          </a:graphic>
        </p:graphicFrame>
        <p:graphicFrame>
          <p:nvGraphicFramePr>
            <p:cNvPr id="22598" name="对象 59572"/>
            <p:cNvGraphicFramePr/>
            <p:nvPr/>
          </p:nvGraphicFramePr>
          <p:xfrm>
            <a:off x="377" y="1344"/>
            <a:ext cx="870" cy="466"/>
          </p:xfrm>
          <a:graphic>
            <a:graphicData uri="http://schemas.openxmlformats.org/presentationml/2006/ole">
              <mc:AlternateContent xmlns:mc="http://schemas.openxmlformats.org/markup-compatibility/2006">
                <mc:Choice xmlns:v="urn:schemas-microsoft-com:vml" Requires="v">
                  <p:oleObj spid="_x0000_s343056" r:id="rId9" imgW="799465" imgH="405765" progId="Equation.3">
                    <p:embed/>
                  </p:oleObj>
                </mc:Choice>
                <mc:Fallback>
                  <p:oleObj r:id="rId9" imgW="799465" imgH="405765" progId="Equation.3">
                    <p:embed/>
                    <p:pic>
                      <p:nvPicPr>
                        <p:cNvPr id="0" name="图片 3098"/>
                        <p:cNvPicPr/>
                        <p:nvPr/>
                      </p:nvPicPr>
                      <p:blipFill>
                        <a:blip r:embed="rId10"/>
                        <a:stretch>
                          <a:fillRect/>
                        </a:stretch>
                      </p:blipFill>
                      <p:spPr>
                        <a:xfrm>
                          <a:off x="377" y="1344"/>
                          <a:ext cx="870" cy="466"/>
                        </a:xfrm>
                        <a:prstGeom prst="rect">
                          <a:avLst/>
                        </a:prstGeom>
                        <a:noFill/>
                        <a:ln w="38100">
                          <a:noFill/>
                          <a:miter/>
                        </a:ln>
                      </p:spPr>
                    </p:pic>
                  </p:oleObj>
                </mc:Fallback>
              </mc:AlternateContent>
            </a:graphicData>
          </a:graphic>
        </p:graphicFrame>
        <p:graphicFrame>
          <p:nvGraphicFramePr>
            <p:cNvPr id="22599" name="对象 59573"/>
            <p:cNvGraphicFramePr/>
            <p:nvPr/>
          </p:nvGraphicFramePr>
          <p:xfrm>
            <a:off x="385" y="2205"/>
            <a:ext cx="635" cy="446"/>
          </p:xfrm>
          <a:graphic>
            <a:graphicData uri="http://schemas.openxmlformats.org/presentationml/2006/ole">
              <mc:AlternateContent xmlns:mc="http://schemas.openxmlformats.org/markup-compatibility/2006">
                <mc:Choice xmlns:v="urn:schemas-microsoft-com:vml" Requires="v">
                  <p:oleObj spid="_x0000_s343057" r:id="rId11" imgW="608965" imgH="405765" progId="Equation.3">
                    <p:embed/>
                  </p:oleObj>
                </mc:Choice>
                <mc:Fallback>
                  <p:oleObj r:id="rId11" imgW="608965" imgH="405765" progId="Equation.3">
                    <p:embed/>
                    <p:pic>
                      <p:nvPicPr>
                        <p:cNvPr id="0" name="图片 3097"/>
                        <p:cNvPicPr/>
                        <p:nvPr/>
                      </p:nvPicPr>
                      <p:blipFill>
                        <a:blip r:embed="rId12"/>
                        <a:stretch>
                          <a:fillRect/>
                        </a:stretch>
                      </p:blipFill>
                      <p:spPr>
                        <a:xfrm>
                          <a:off x="385" y="2205"/>
                          <a:ext cx="635" cy="446"/>
                        </a:xfrm>
                        <a:prstGeom prst="rect">
                          <a:avLst/>
                        </a:prstGeom>
                        <a:noFill/>
                        <a:ln w="38100">
                          <a:noFill/>
                          <a:miter/>
                        </a:ln>
                      </p:spPr>
                    </p:pic>
                  </p:oleObj>
                </mc:Fallback>
              </mc:AlternateContent>
            </a:graphicData>
          </a:graphic>
        </p:graphicFrame>
        <p:sp>
          <p:nvSpPr>
            <p:cNvPr id="22600" name="左大括号 59574"/>
            <p:cNvSpPr/>
            <p:nvPr/>
          </p:nvSpPr>
          <p:spPr>
            <a:xfrm>
              <a:off x="249" y="753"/>
              <a:ext cx="91" cy="1679"/>
            </a:xfrm>
            <a:prstGeom prst="leftBrace">
              <a:avLst>
                <a:gd name="adj1" fmla="val 153498"/>
                <a:gd name="adj2" fmla="val 50000"/>
              </a:avLst>
            </a:prstGeom>
            <a:noFill/>
            <a:ln w="3810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grpSp>
        <p:nvGrpSpPr>
          <p:cNvPr id="59584" name="组合 59583"/>
          <p:cNvGrpSpPr/>
          <p:nvPr/>
        </p:nvGrpSpPr>
        <p:grpSpPr>
          <a:xfrm>
            <a:off x="3575050" y="549275"/>
            <a:ext cx="593725" cy="2901950"/>
            <a:chOff x="1292" y="436"/>
            <a:chExt cx="374" cy="1828"/>
          </a:xfrm>
        </p:grpSpPr>
        <p:graphicFrame>
          <p:nvGraphicFramePr>
            <p:cNvPr id="22591" name="对象 59577"/>
            <p:cNvGraphicFramePr/>
            <p:nvPr/>
          </p:nvGraphicFramePr>
          <p:xfrm>
            <a:off x="1304" y="436"/>
            <a:ext cx="362" cy="453"/>
          </p:xfrm>
          <a:graphic>
            <a:graphicData uri="http://schemas.openxmlformats.org/presentationml/2006/ole">
              <mc:AlternateContent xmlns:mc="http://schemas.openxmlformats.org/markup-compatibility/2006">
                <mc:Choice xmlns:v="urn:schemas-microsoft-com:vml" Requires="v">
                  <p:oleObj spid="_x0000_s343058" r:id="rId13" imgW="342900" imgH="405765" progId="Equation.3">
                    <p:embed/>
                  </p:oleObj>
                </mc:Choice>
                <mc:Fallback>
                  <p:oleObj r:id="rId13" imgW="342900" imgH="405765" progId="Equation.3">
                    <p:embed/>
                    <p:pic>
                      <p:nvPicPr>
                        <p:cNvPr id="0" name="图片 3091"/>
                        <p:cNvPicPr/>
                        <p:nvPr/>
                      </p:nvPicPr>
                      <p:blipFill>
                        <a:blip r:embed="rId14"/>
                        <a:stretch>
                          <a:fillRect/>
                        </a:stretch>
                      </p:blipFill>
                      <p:spPr>
                        <a:xfrm>
                          <a:off x="1304" y="436"/>
                          <a:ext cx="362" cy="453"/>
                        </a:xfrm>
                        <a:prstGeom prst="rect">
                          <a:avLst/>
                        </a:prstGeom>
                        <a:noFill/>
                        <a:ln w="38100">
                          <a:noFill/>
                          <a:miter/>
                        </a:ln>
                      </p:spPr>
                    </p:pic>
                  </p:oleObj>
                </mc:Fallback>
              </mc:AlternateContent>
            </a:graphicData>
          </a:graphic>
        </p:graphicFrame>
        <p:graphicFrame>
          <p:nvGraphicFramePr>
            <p:cNvPr id="22592" name="对象 59578"/>
            <p:cNvGraphicFramePr/>
            <p:nvPr/>
          </p:nvGraphicFramePr>
          <p:xfrm>
            <a:off x="1325" y="890"/>
            <a:ext cx="285" cy="438"/>
          </p:xfrm>
          <a:graphic>
            <a:graphicData uri="http://schemas.openxmlformats.org/presentationml/2006/ole">
              <mc:AlternateContent xmlns:mc="http://schemas.openxmlformats.org/markup-compatibility/2006">
                <mc:Choice xmlns:v="urn:schemas-microsoft-com:vml" Requires="v">
                  <p:oleObj spid="_x0000_s343059" r:id="rId15" imgW="279400" imgH="405765" progId="Equation.3">
                    <p:embed/>
                  </p:oleObj>
                </mc:Choice>
                <mc:Fallback>
                  <p:oleObj r:id="rId15" imgW="279400" imgH="405765" progId="Equation.3">
                    <p:embed/>
                    <p:pic>
                      <p:nvPicPr>
                        <p:cNvPr id="0" name="图片 3096"/>
                        <p:cNvPicPr/>
                        <p:nvPr/>
                      </p:nvPicPr>
                      <p:blipFill>
                        <a:blip r:embed="rId16"/>
                        <a:stretch>
                          <a:fillRect/>
                        </a:stretch>
                      </p:blipFill>
                      <p:spPr>
                        <a:xfrm>
                          <a:off x="1325" y="890"/>
                          <a:ext cx="285" cy="438"/>
                        </a:xfrm>
                        <a:prstGeom prst="rect">
                          <a:avLst/>
                        </a:prstGeom>
                        <a:noFill/>
                        <a:ln w="38100">
                          <a:noFill/>
                          <a:miter/>
                        </a:ln>
                      </p:spPr>
                    </p:pic>
                  </p:oleObj>
                </mc:Fallback>
              </mc:AlternateContent>
            </a:graphicData>
          </a:graphic>
        </p:graphicFrame>
        <p:graphicFrame>
          <p:nvGraphicFramePr>
            <p:cNvPr id="22593" name="对象 59579"/>
            <p:cNvGraphicFramePr/>
            <p:nvPr/>
          </p:nvGraphicFramePr>
          <p:xfrm>
            <a:off x="1326" y="1344"/>
            <a:ext cx="279" cy="427"/>
          </p:xfrm>
          <a:graphic>
            <a:graphicData uri="http://schemas.openxmlformats.org/presentationml/2006/ole">
              <mc:AlternateContent xmlns:mc="http://schemas.openxmlformats.org/markup-compatibility/2006">
                <mc:Choice xmlns:v="urn:schemas-microsoft-com:vml" Requires="v">
                  <p:oleObj spid="_x0000_s343060" r:id="rId17" imgW="279400" imgH="405765" progId="Equation.3">
                    <p:embed/>
                  </p:oleObj>
                </mc:Choice>
                <mc:Fallback>
                  <p:oleObj r:id="rId17" imgW="279400" imgH="405765" progId="Equation.3">
                    <p:embed/>
                    <p:pic>
                      <p:nvPicPr>
                        <p:cNvPr id="0" name="图片 3099"/>
                        <p:cNvPicPr/>
                        <p:nvPr/>
                      </p:nvPicPr>
                      <p:blipFill>
                        <a:blip r:embed="rId18"/>
                        <a:stretch>
                          <a:fillRect/>
                        </a:stretch>
                      </p:blipFill>
                      <p:spPr>
                        <a:xfrm>
                          <a:off x="1326" y="1344"/>
                          <a:ext cx="279" cy="427"/>
                        </a:xfrm>
                        <a:prstGeom prst="rect">
                          <a:avLst/>
                        </a:prstGeom>
                        <a:noFill/>
                        <a:ln w="38100">
                          <a:noFill/>
                          <a:miter/>
                        </a:ln>
                      </p:spPr>
                    </p:pic>
                  </p:oleObj>
                </mc:Fallback>
              </mc:AlternateContent>
            </a:graphicData>
          </a:graphic>
        </p:graphicFrame>
        <p:graphicFrame>
          <p:nvGraphicFramePr>
            <p:cNvPr id="22594" name="对象 59580"/>
            <p:cNvGraphicFramePr/>
            <p:nvPr/>
          </p:nvGraphicFramePr>
          <p:xfrm>
            <a:off x="1292" y="1797"/>
            <a:ext cx="305" cy="467"/>
          </p:xfrm>
          <a:graphic>
            <a:graphicData uri="http://schemas.openxmlformats.org/presentationml/2006/ole">
              <mc:AlternateContent xmlns:mc="http://schemas.openxmlformats.org/markup-compatibility/2006">
                <mc:Choice xmlns:v="urn:schemas-microsoft-com:vml" Requires="v">
                  <p:oleObj spid="_x0000_s343061" r:id="rId19" imgW="279400" imgH="405765" progId="Equation.3">
                    <p:embed/>
                  </p:oleObj>
                </mc:Choice>
                <mc:Fallback>
                  <p:oleObj r:id="rId19" imgW="279400" imgH="405765" progId="Equation.3">
                    <p:embed/>
                    <p:pic>
                      <p:nvPicPr>
                        <p:cNvPr id="0" name="图片 3093"/>
                        <p:cNvPicPr/>
                        <p:nvPr/>
                      </p:nvPicPr>
                      <p:blipFill>
                        <a:blip r:embed="rId20"/>
                        <a:stretch>
                          <a:fillRect/>
                        </a:stretch>
                      </p:blipFill>
                      <p:spPr>
                        <a:xfrm>
                          <a:off x="1292" y="1797"/>
                          <a:ext cx="305" cy="467"/>
                        </a:xfrm>
                        <a:prstGeom prst="rect">
                          <a:avLst/>
                        </a:prstGeom>
                        <a:noFill/>
                        <a:ln w="38100">
                          <a:noFill/>
                          <a:miter/>
                        </a:ln>
                      </p:spPr>
                    </p:pic>
                  </p:oleObj>
                </mc:Fallback>
              </mc:AlternateContent>
            </a:graphicData>
          </a:graphic>
        </p:graphicFrame>
      </p:grpSp>
      <p:graphicFrame>
        <p:nvGraphicFramePr>
          <p:cNvPr id="59585" name="对象 59584"/>
          <p:cNvGraphicFramePr/>
          <p:nvPr/>
        </p:nvGraphicFramePr>
        <p:xfrm>
          <a:off x="1774825" y="5216525"/>
          <a:ext cx="5718175" cy="1668463"/>
        </p:xfrm>
        <a:graphic>
          <a:graphicData uri="http://schemas.openxmlformats.org/presentationml/2006/ole">
            <mc:AlternateContent xmlns:mc="http://schemas.openxmlformats.org/markup-compatibility/2006">
              <mc:Choice xmlns:v="urn:schemas-microsoft-com:vml" Requires="v">
                <p:oleObj spid="_x0000_s343062" r:id="rId21" imgW="3072130" imgH="850265" progId="Equation.3">
                  <p:embed/>
                </p:oleObj>
              </mc:Choice>
              <mc:Fallback>
                <p:oleObj r:id="rId21" imgW="3072130" imgH="850265" progId="Equation.3">
                  <p:embed/>
                  <p:pic>
                    <p:nvPicPr>
                      <p:cNvPr id="0" name="图片 3095"/>
                      <p:cNvPicPr/>
                      <p:nvPr/>
                    </p:nvPicPr>
                    <p:blipFill>
                      <a:blip r:embed="rId22"/>
                      <a:stretch>
                        <a:fillRect/>
                      </a:stretch>
                    </p:blipFill>
                    <p:spPr>
                      <a:xfrm>
                        <a:off x="1774825" y="5216525"/>
                        <a:ext cx="5718175" cy="1668463"/>
                      </a:xfrm>
                      <a:prstGeom prst="rect">
                        <a:avLst/>
                      </a:prstGeom>
                      <a:noFill/>
                      <a:ln w="38100">
                        <a:noFill/>
                        <a:miter/>
                      </a:ln>
                    </p:spPr>
                  </p:pic>
                </p:oleObj>
              </mc:Fallback>
            </mc:AlternateContent>
          </a:graphicData>
        </a:graphic>
      </p:graphicFrame>
      <p:graphicFrame>
        <p:nvGraphicFramePr>
          <p:cNvPr id="59586" name="对象 59585"/>
          <p:cNvGraphicFramePr/>
          <p:nvPr/>
        </p:nvGraphicFramePr>
        <p:xfrm>
          <a:off x="1811338" y="4508500"/>
          <a:ext cx="3708400" cy="796925"/>
        </p:xfrm>
        <a:graphic>
          <a:graphicData uri="http://schemas.openxmlformats.org/presentationml/2006/ole">
            <mc:AlternateContent xmlns:mc="http://schemas.openxmlformats.org/markup-compatibility/2006">
              <mc:Choice xmlns:v="urn:schemas-microsoft-com:vml" Requires="v">
                <p:oleObj spid="_x0000_s343063" r:id="rId23" imgW="1991995" imgH="405765" progId="Equation.3">
                  <p:embed/>
                </p:oleObj>
              </mc:Choice>
              <mc:Fallback>
                <p:oleObj r:id="rId23" imgW="1991995" imgH="405765" progId="Equation.3">
                  <p:embed/>
                  <p:pic>
                    <p:nvPicPr>
                      <p:cNvPr id="0" name="图片 3092"/>
                      <p:cNvPicPr/>
                      <p:nvPr/>
                    </p:nvPicPr>
                    <p:blipFill>
                      <a:blip r:embed="rId24"/>
                      <a:stretch>
                        <a:fillRect/>
                      </a:stretch>
                    </p:blipFill>
                    <p:spPr>
                      <a:xfrm>
                        <a:off x="1811338" y="4508500"/>
                        <a:ext cx="3708400" cy="796925"/>
                      </a:xfrm>
                      <a:prstGeom prst="rect">
                        <a:avLst/>
                      </a:prstGeom>
                      <a:noFill/>
                      <a:ln w="38100">
                        <a:noFill/>
                        <a:miter/>
                      </a:ln>
                    </p:spPr>
                  </p:pic>
                </p:oleObj>
              </mc:Fallback>
            </mc:AlternateContent>
          </a:graphicData>
        </a:graphic>
      </p:graphicFrame>
      <p:graphicFrame>
        <p:nvGraphicFramePr>
          <p:cNvPr id="59587" name="对象 59586"/>
          <p:cNvGraphicFramePr/>
          <p:nvPr/>
        </p:nvGraphicFramePr>
        <p:xfrm>
          <a:off x="1801813" y="4005263"/>
          <a:ext cx="4006850" cy="498475"/>
        </p:xfrm>
        <a:graphic>
          <a:graphicData uri="http://schemas.openxmlformats.org/presentationml/2006/ole">
            <mc:AlternateContent xmlns:mc="http://schemas.openxmlformats.org/markup-compatibility/2006">
              <mc:Choice xmlns:v="urn:schemas-microsoft-com:vml" Requires="v">
                <p:oleObj spid="_x0000_s343064" r:id="rId25" imgW="1930400" imgH="228600" progId="Equation.3">
                  <p:embed/>
                </p:oleObj>
              </mc:Choice>
              <mc:Fallback>
                <p:oleObj r:id="rId25" imgW="1930400" imgH="228600" progId="Equation.3">
                  <p:embed/>
                  <p:pic>
                    <p:nvPicPr>
                      <p:cNvPr id="0" name="图片 3094"/>
                      <p:cNvPicPr/>
                      <p:nvPr/>
                    </p:nvPicPr>
                    <p:blipFill>
                      <a:blip r:embed="rId26"/>
                      <a:stretch>
                        <a:fillRect/>
                      </a:stretch>
                    </p:blipFill>
                    <p:spPr>
                      <a:xfrm>
                        <a:off x="1801813" y="4005263"/>
                        <a:ext cx="4006850" cy="498475"/>
                      </a:xfrm>
                      <a:prstGeom prst="rect">
                        <a:avLst/>
                      </a:prstGeom>
                      <a:noFill/>
                      <a:ln w="38100">
                        <a:noFill/>
                        <a:miter/>
                      </a:ln>
                    </p:spPr>
                  </p:pic>
                </p:oleObj>
              </mc:Fallback>
            </mc:AlternateContent>
          </a:graphicData>
        </a:graphic>
      </p:graphicFrame>
      <p:grpSp>
        <p:nvGrpSpPr>
          <p:cNvPr id="59645" name="组合 59644"/>
          <p:cNvGrpSpPr/>
          <p:nvPr/>
        </p:nvGrpSpPr>
        <p:grpSpPr>
          <a:xfrm>
            <a:off x="6905625" y="3789363"/>
            <a:ext cx="3668713" cy="1882774"/>
            <a:chOff x="3344" y="2472"/>
            <a:chExt cx="2311" cy="1186"/>
          </a:xfrm>
        </p:grpSpPr>
        <p:grpSp>
          <p:nvGrpSpPr>
            <p:cNvPr id="22538" name="组合 59589"/>
            <p:cNvGrpSpPr/>
            <p:nvPr/>
          </p:nvGrpSpPr>
          <p:grpSpPr>
            <a:xfrm>
              <a:off x="4070" y="2495"/>
              <a:ext cx="1144" cy="816"/>
              <a:chOff x="962" y="1872"/>
              <a:chExt cx="1144" cy="635"/>
            </a:xfrm>
          </p:grpSpPr>
          <p:sp>
            <p:nvSpPr>
              <p:cNvPr id="22587" name="直接连接符 59590"/>
              <p:cNvSpPr/>
              <p:nvPr/>
            </p:nvSpPr>
            <p:spPr>
              <a:xfrm flipV="1">
                <a:off x="962" y="1872"/>
                <a:ext cx="0" cy="624"/>
              </a:xfrm>
              <a:prstGeom prst="line">
                <a:avLst/>
              </a:prstGeom>
              <a:ln w="28575" cap="flat" cmpd="sng">
                <a:solidFill>
                  <a:schemeClr val="tx1"/>
                </a:solidFill>
                <a:prstDash val="solid"/>
                <a:headEnd type="none" w="med" len="med"/>
                <a:tailEnd type="none" w="med" len="med"/>
              </a:ln>
            </p:spPr>
          </p:sp>
          <p:sp>
            <p:nvSpPr>
              <p:cNvPr id="22588" name="直接连接符 59591"/>
              <p:cNvSpPr/>
              <p:nvPr/>
            </p:nvSpPr>
            <p:spPr>
              <a:xfrm flipV="1">
                <a:off x="1721" y="1883"/>
                <a:ext cx="0" cy="624"/>
              </a:xfrm>
              <a:prstGeom prst="line">
                <a:avLst/>
              </a:prstGeom>
              <a:ln w="28575" cap="flat" cmpd="sng">
                <a:solidFill>
                  <a:schemeClr val="tx1"/>
                </a:solidFill>
                <a:prstDash val="solid"/>
                <a:headEnd type="none" w="med" len="med"/>
                <a:tailEnd type="none" w="med" len="med"/>
              </a:ln>
            </p:spPr>
          </p:sp>
          <p:sp>
            <p:nvSpPr>
              <p:cNvPr id="22589" name="直接连接符 59592"/>
              <p:cNvSpPr/>
              <p:nvPr/>
            </p:nvSpPr>
            <p:spPr>
              <a:xfrm flipV="1">
                <a:off x="2106" y="1883"/>
                <a:ext cx="0" cy="624"/>
              </a:xfrm>
              <a:prstGeom prst="line">
                <a:avLst/>
              </a:prstGeom>
              <a:ln w="28575" cap="flat" cmpd="sng">
                <a:solidFill>
                  <a:schemeClr val="tx1"/>
                </a:solidFill>
                <a:prstDash val="solid"/>
                <a:headEnd type="none" w="med" len="med"/>
                <a:tailEnd type="none" w="med" len="med"/>
              </a:ln>
            </p:spPr>
          </p:sp>
          <p:sp>
            <p:nvSpPr>
              <p:cNvPr id="22590" name="直接连接符 59593"/>
              <p:cNvSpPr/>
              <p:nvPr/>
            </p:nvSpPr>
            <p:spPr>
              <a:xfrm flipV="1">
                <a:off x="1336" y="1883"/>
                <a:ext cx="0" cy="624"/>
              </a:xfrm>
              <a:prstGeom prst="line">
                <a:avLst/>
              </a:prstGeom>
              <a:ln w="28575" cap="flat" cmpd="sng">
                <a:solidFill>
                  <a:schemeClr val="tx1"/>
                </a:solidFill>
                <a:prstDash val="solid"/>
                <a:headEnd type="none" w="med" len="med"/>
                <a:tailEnd type="none" w="med" len="med"/>
              </a:ln>
            </p:spPr>
          </p:sp>
        </p:grpSp>
        <p:sp>
          <p:nvSpPr>
            <p:cNvPr id="22539" name="直接连接符 59594"/>
            <p:cNvSpPr/>
            <p:nvPr/>
          </p:nvSpPr>
          <p:spPr>
            <a:xfrm flipH="1">
              <a:off x="3705" y="2491"/>
              <a:ext cx="1878" cy="0"/>
            </a:xfrm>
            <a:prstGeom prst="line">
              <a:avLst/>
            </a:prstGeom>
            <a:ln w="28575" cap="flat" cmpd="sng">
              <a:solidFill>
                <a:schemeClr val="tx2"/>
              </a:solidFill>
              <a:prstDash val="solid"/>
              <a:headEnd type="none" w="med" len="med"/>
              <a:tailEnd type="none" w="med" len="med"/>
            </a:ln>
          </p:spPr>
        </p:sp>
        <p:sp>
          <p:nvSpPr>
            <p:cNvPr id="22540" name="文本框 59595"/>
            <p:cNvSpPr txBox="1"/>
            <p:nvPr/>
          </p:nvSpPr>
          <p:spPr>
            <a:xfrm>
              <a:off x="5193" y="2976"/>
              <a:ext cx="462" cy="290"/>
            </a:xfrm>
            <a:prstGeom prst="rect">
              <a:avLst/>
            </a:prstGeom>
            <a:noFill/>
            <a:ln w="19050">
              <a:noFill/>
            </a:ln>
          </p:spPr>
          <p:txBody>
            <a:bodyPr wrap="none">
              <a:spAutoFit/>
            </a:bodyPr>
            <a:lstStyle/>
            <a:p>
              <a:pPr eaLnBrk="1" hangingPunct="1"/>
              <a:r>
                <a:rPr lang="en-US" altLang="zh-CN" sz="2400" i="1" dirty="0">
                  <a:solidFill>
                    <a:srgbClr val="FF0000"/>
                  </a:solidFill>
                  <a:latin typeface="Times New Roman" panose="02020603050405020304" pitchFamily="18" charset="0"/>
                  <a:ea typeface="宋体" panose="02010600030101010101" pitchFamily="2" charset="-122"/>
                </a:rPr>
                <a:t>V</a:t>
              </a:r>
              <a:r>
                <a:rPr lang="en-US" altLang="zh-CN" sz="2400" baseline="-25000" dirty="0">
                  <a:solidFill>
                    <a:srgbClr val="FF0000"/>
                  </a:solidFill>
                  <a:latin typeface="Times New Roman" panose="02020603050405020304" pitchFamily="18" charset="0"/>
                  <a:ea typeface="宋体" panose="02010600030101010101" pitchFamily="2" charset="-122"/>
                </a:rPr>
                <a:t>REF</a:t>
              </a:r>
            </a:p>
          </p:txBody>
        </p:sp>
        <p:grpSp>
          <p:nvGrpSpPr>
            <p:cNvPr id="22541" name="组合 59596"/>
            <p:cNvGrpSpPr/>
            <p:nvPr/>
          </p:nvGrpSpPr>
          <p:grpSpPr>
            <a:xfrm flipH="1" flipV="1">
              <a:off x="4041" y="2472"/>
              <a:ext cx="1200" cy="48"/>
              <a:chOff x="218" y="1632"/>
              <a:chExt cx="897" cy="48"/>
            </a:xfrm>
          </p:grpSpPr>
          <p:sp>
            <p:nvSpPr>
              <p:cNvPr id="22583" name="椭圆 59597"/>
              <p:cNvSpPr/>
              <p:nvPr/>
            </p:nvSpPr>
            <p:spPr>
              <a:xfrm>
                <a:off x="218" y="1632"/>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84" name="椭圆 59598"/>
              <p:cNvSpPr/>
              <p:nvPr/>
            </p:nvSpPr>
            <p:spPr>
              <a:xfrm>
                <a:off x="508" y="1632"/>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85" name="椭圆 59599"/>
              <p:cNvSpPr/>
              <p:nvPr/>
            </p:nvSpPr>
            <p:spPr>
              <a:xfrm>
                <a:off x="787" y="1632"/>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86" name="椭圆 59600"/>
              <p:cNvSpPr/>
              <p:nvPr/>
            </p:nvSpPr>
            <p:spPr>
              <a:xfrm>
                <a:off x="1067" y="1632"/>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22542" name="任意多边形 59601"/>
            <p:cNvSpPr/>
            <p:nvPr/>
          </p:nvSpPr>
          <p:spPr>
            <a:xfrm flipV="1">
              <a:off x="3705" y="2482"/>
              <a:ext cx="1851" cy="829"/>
            </a:xfrm>
            <a:custGeom>
              <a:avLst/>
              <a:gdLst/>
              <a:ahLst/>
              <a:cxnLst>
                <a:cxn ang="0">
                  <a:pos x="1851" y="0"/>
                </a:cxn>
                <a:cxn ang="0">
                  <a:pos x="0" y="0"/>
                </a:cxn>
                <a:cxn ang="0">
                  <a:pos x="0" y="829"/>
                </a:cxn>
              </a:cxnLst>
              <a:rect l="0" t="0" r="0" b="0"/>
              <a:pathLst>
                <a:path w="1344" h="624">
                  <a:moveTo>
                    <a:pt x="1344" y="0"/>
                  </a:moveTo>
                  <a:lnTo>
                    <a:pt x="0" y="0"/>
                  </a:lnTo>
                  <a:lnTo>
                    <a:pt x="0" y="624"/>
                  </a:lnTo>
                </a:path>
              </a:pathLst>
            </a:custGeom>
            <a:noFill/>
            <a:ln w="2857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22543" name="矩形 59602"/>
            <p:cNvSpPr/>
            <p:nvPr/>
          </p:nvSpPr>
          <p:spPr>
            <a:xfrm rot="-10800000" flipV="1">
              <a:off x="5157" y="2676"/>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wrap="none" anchor="ctr" anchorCtr="0"/>
            <a:lstStyle/>
            <a:p>
              <a:pPr algn="ctr" eaLnBrk="1" hangingPunct="1"/>
              <a:endParaRPr lang="zh-CN" altLang="zh-CN" dirty="0">
                <a:solidFill>
                  <a:srgbClr val="FFFF00"/>
                </a:solidFill>
                <a:latin typeface="Times New Roman" panose="02020603050405020304" pitchFamily="18" charset="0"/>
              </a:endParaRPr>
            </a:p>
          </p:txBody>
        </p:sp>
        <p:sp>
          <p:nvSpPr>
            <p:cNvPr id="22544" name="文本框 59603"/>
            <p:cNvSpPr txBox="1"/>
            <p:nvPr/>
          </p:nvSpPr>
          <p:spPr>
            <a:xfrm>
              <a:off x="4147" y="2849"/>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545" name="文本框 59604"/>
            <p:cNvSpPr txBox="1"/>
            <p:nvPr/>
          </p:nvSpPr>
          <p:spPr>
            <a:xfrm>
              <a:off x="4516" y="283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546" name="文本框 59605"/>
            <p:cNvSpPr txBox="1"/>
            <p:nvPr/>
          </p:nvSpPr>
          <p:spPr>
            <a:xfrm>
              <a:off x="4895" y="2831"/>
              <a:ext cx="29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2R</a:t>
              </a:r>
            </a:p>
          </p:txBody>
        </p:sp>
        <p:sp>
          <p:nvSpPr>
            <p:cNvPr id="22547" name="直接连接符 59606"/>
            <p:cNvSpPr/>
            <p:nvPr/>
          </p:nvSpPr>
          <p:spPr>
            <a:xfrm flipV="1">
              <a:off x="4178" y="2714"/>
              <a:ext cx="0" cy="192"/>
            </a:xfrm>
            <a:prstGeom prst="line">
              <a:avLst/>
            </a:prstGeom>
            <a:ln w="28575" cap="flat" cmpd="sng">
              <a:solidFill>
                <a:srgbClr val="FF0000"/>
              </a:solidFill>
              <a:prstDash val="solid"/>
              <a:headEnd type="none" w="med" len="med"/>
              <a:tailEnd type="triangle" w="med" len="med"/>
            </a:ln>
          </p:spPr>
        </p:sp>
        <p:sp>
          <p:nvSpPr>
            <p:cNvPr id="22548" name="直接连接符 59607"/>
            <p:cNvSpPr/>
            <p:nvPr/>
          </p:nvSpPr>
          <p:spPr>
            <a:xfrm flipV="1">
              <a:off x="4558" y="2705"/>
              <a:ext cx="0" cy="192"/>
            </a:xfrm>
            <a:prstGeom prst="line">
              <a:avLst/>
            </a:prstGeom>
            <a:ln w="28575" cap="flat" cmpd="sng">
              <a:solidFill>
                <a:srgbClr val="FF0000"/>
              </a:solidFill>
              <a:prstDash val="solid"/>
              <a:headEnd type="none" w="med" len="med"/>
              <a:tailEnd type="triangle" w="med" len="med"/>
            </a:ln>
          </p:spPr>
        </p:sp>
        <p:sp>
          <p:nvSpPr>
            <p:cNvPr id="22549" name="直接连接符 59608"/>
            <p:cNvSpPr/>
            <p:nvPr/>
          </p:nvSpPr>
          <p:spPr>
            <a:xfrm flipV="1">
              <a:off x="4957" y="2687"/>
              <a:ext cx="0" cy="192"/>
            </a:xfrm>
            <a:prstGeom prst="line">
              <a:avLst/>
            </a:prstGeom>
            <a:ln w="28575" cap="flat" cmpd="sng">
              <a:solidFill>
                <a:srgbClr val="FF0000"/>
              </a:solidFill>
              <a:prstDash val="solid"/>
              <a:headEnd type="none" w="med" len="med"/>
              <a:tailEnd type="triangle" w="med" len="med"/>
            </a:ln>
          </p:spPr>
        </p:sp>
        <p:sp>
          <p:nvSpPr>
            <p:cNvPr id="22550" name="直接连接符 59609"/>
            <p:cNvSpPr/>
            <p:nvPr/>
          </p:nvSpPr>
          <p:spPr>
            <a:xfrm flipV="1">
              <a:off x="5316" y="2687"/>
              <a:ext cx="0" cy="192"/>
            </a:xfrm>
            <a:prstGeom prst="line">
              <a:avLst/>
            </a:prstGeom>
            <a:ln w="28575" cap="flat" cmpd="sng">
              <a:solidFill>
                <a:srgbClr val="FF0000"/>
              </a:solidFill>
              <a:prstDash val="solid"/>
              <a:headEnd type="none" w="med" len="med"/>
              <a:tailEnd type="triangle" w="med" len="med"/>
            </a:ln>
          </p:spPr>
        </p:sp>
        <p:sp>
          <p:nvSpPr>
            <p:cNvPr id="22551" name="文本框 59610"/>
            <p:cNvSpPr txBox="1"/>
            <p:nvPr/>
          </p:nvSpPr>
          <p:spPr>
            <a:xfrm>
              <a:off x="4068" y="2495"/>
              <a:ext cx="220"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0</a:t>
              </a:r>
            </a:p>
          </p:txBody>
        </p:sp>
        <p:sp>
          <p:nvSpPr>
            <p:cNvPr id="22552" name="文本框 59611"/>
            <p:cNvSpPr txBox="1"/>
            <p:nvPr/>
          </p:nvSpPr>
          <p:spPr>
            <a:xfrm>
              <a:off x="4453" y="2495"/>
              <a:ext cx="220"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1</a:t>
              </a:r>
            </a:p>
          </p:txBody>
        </p:sp>
        <p:sp>
          <p:nvSpPr>
            <p:cNvPr id="22553" name="文本框 59612"/>
            <p:cNvSpPr txBox="1"/>
            <p:nvPr/>
          </p:nvSpPr>
          <p:spPr>
            <a:xfrm>
              <a:off x="4853" y="2495"/>
              <a:ext cx="220"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2</a:t>
              </a:r>
            </a:p>
          </p:txBody>
        </p:sp>
        <p:sp>
          <p:nvSpPr>
            <p:cNvPr id="22554" name="文本框 59613"/>
            <p:cNvSpPr txBox="1"/>
            <p:nvPr/>
          </p:nvSpPr>
          <p:spPr>
            <a:xfrm>
              <a:off x="5253" y="2495"/>
              <a:ext cx="220"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3</a:t>
              </a:r>
            </a:p>
          </p:txBody>
        </p:sp>
        <p:sp>
          <p:nvSpPr>
            <p:cNvPr id="22555" name="文本框 59614"/>
            <p:cNvSpPr txBox="1"/>
            <p:nvPr/>
          </p:nvSpPr>
          <p:spPr>
            <a:xfrm>
              <a:off x="3777" y="2831"/>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556" name="文本框 59615"/>
            <p:cNvSpPr txBox="1"/>
            <p:nvPr/>
          </p:nvSpPr>
          <p:spPr>
            <a:xfrm>
              <a:off x="3344" y="2840"/>
              <a:ext cx="29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2</a:t>
              </a:r>
              <a:r>
                <a:rPr lang="en-US" altLang="zh-CN" sz="2000" i="1" dirty="0">
                  <a:latin typeface="Times New Roman" panose="02020603050405020304" pitchFamily="18" charset="0"/>
                  <a:ea typeface="宋体" panose="02010600030101010101" pitchFamily="2" charset="-122"/>
                </a:rPr>
                <a:t>R</a:t>
              </a:r>
            </a:p>
          </p:txBody>
        </p:sp>
        <p:sp>
          <p:nvSpPr>
            <p:cNvPr id="22557" name="矩形 59616"/>
            <p:cNvSpPr/>
            <p:nvPr/>
          </p:nvSpPr>
          <p:spPr>
            <a:xfrm rot="-10800000" flipV="1">
              <a:off x="3647" y="2676"/>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58" name="矩形 59617"/>
            <p:cNvSpPr/>
            <p:nvPr/>
          </p:nvSpPr>
          <p:spPr>
            <a:xfrm rot="5400000" flipV="1">
              <a:off x="4214" y="3192"/>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59" name="矩形 59618"/>
            <p:cNvSpPr/>
            <p:nvPr/>
          </p:nvSpPr>
          <p:spPr>
            <a:xfrm rot="5400000" flipV="1">
              <a:off x="4592" y="3192"/>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60" name="矩形 59619"/>
            <p:cNvSpPr/>
            <p:nvPr/>
          </p:nvSpPr>
          <p:spPr>
            <a:xfrm rot="5400000" flipV="1">
              <a:off x="4971" y="3192"/>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61" name="矩形 59620"/>
            <p:cNvSpPr/>
            <p:nvPr/>
          </p:nvSpPr>
          <p:spPr>
            <a:xfrm rot="-10800000" flipV="1">
              <a:off x="4020" y="2676"/>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62" name="矩形 59621"/>
            <p:cNvSpPr/>
            <p:nvPr/>
          </p:nvSpPr>
          <p:spPr>
            <a:xfrm rot="-10800000" flipV="1">
              <a:off x="4398" y="2676"/>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63" name="矩形 59622"/>
            <p:cNvSpPr/>
            <p:nvPr/>
          </p:nvSpPr>
          <p:spPr>
            <a:xfrm rot="-10800000" flipV="1">
              <a:off x="4788" y="2676"/>
              <a:ext cx="96" cy="240"/>
            </a:xfrm>
            <a:prstGeom prst="rect">
              <a:avLst/>
            </a:prstGeom>
            <a:solidFill>
              <a:srgbClr val="FFFF00"/>
            </a:solidFill>
            <a:ln w="28575" cap="flat" cmpd="sng">
              <a:solidFill>
                <a:srgbClr val="3333FF"/>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64" name="文本框 59623"/>
            <p:cNvSpPr txBox="1"/>
            <p:nvPr/>
          </p:nvSpPr>
          <p:spPr>
            <a:xfrm>
              <a:off x="4144" y="306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2565" name="文本框 59624"/>
            <p:cNvSpPr txBox="1"/>
            <p:nvPr/>
          </p:nvSpPr>
          <p:spPr>
            <a:xfrm>
              <a:off x="4528" y="306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2566" name="文本框 59625"/>
            <p:cNvSpPr txBox="1"/>
            <p:nvPr/>
          </p:nvSpPr>
          <p:spPr>
            <a:xfrm>
              <a:off x="4901" y="3060"/>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22567" name="直接连接符 59626"/>
            <p:cNvSpPr/>
            <p:nvPr/>
          </p:nvSpPr>
          <p:spPr>
            <a:xfrm flipH="1">
              <a:off x="3684" y="3422"/>
              <a:ext cx="288" cy="0"/>
            </a:xfrm>
            <a:prstGeom prst="line">
              <a:avLst/>
            </a:prstGeom>
            <a:ln w="28575" cap="flat" cmpd="sng">
              <a:solidFill>
                <a:srgbClr val="FF0000"/>
              </a:solidFill>
              <a:prstDash val="solid"/>
              <a:headEnd type="none" w="med" len="med"/>
              <a:tailEnd type="triangle" w="med" len="med"/>
            </a:ln>
          </p:spPr>
        </p:sp>
        <p:sp>
          <p:nvSpPr>
            <p:cNvPr id="22568" name="直接连接符 59627"/>
            <p:cNvSpPr/>
            <p:nvPr/>
          </p:nvSpPr>
          <p:spPr>
            <a:xfrm flipH="1">
              <a:off x="4172" y="3422"/>
              <a:ext cx="288" cy="0"/>
            </a:xfrm>
            <a:prstGeom prst="line">
              <a:avLst/>
            </a:prstGeom>
            <a:ln w="28575" cap="flat" cmpd="sng">
              <a:solidFill>
                <a:srgbClr val="FF0000"/>
              </a:solidFill>
              <a:prstDash val="solid"/>
              <a:headEnd type="none" w="med" len="med"/>
              <a:tailEnd type="triangle" w="med" len="med"/>
            </a:ln>
          </p:spPr>
        </p:sp>
        <p:sp>
          <p:nvSpPr>
            <p:cNvPr id="22569" name="直接连接符 59628"/>
            <p:cNvSpPr/>
            <p:nvPr/>
          </p:nvSpPr>
          <p:spPr>
            <a:xfrm flipH="1">
              <a:off x="4528" y="3422"/>
              <a:ext cx="288" cy="0"/>
            </a:xfrm>
            <a:prstGeom prst="line">
              <a:avLst/>
            </a:prstGeom>
            <a:ln w="28575" cap="flat" cmpd="sng">
              <a:solidFill>
                <a:srgbClr val="FF0000"/>
              </a:solidFill>
              <a:prstDash val="solid"/>
              <a:headEnd type="none" w="med" len="med"/>
              <a:tailEnd type="triangle" w="med" len="med"/>
            </a:ln>
          </p:spPr>
        </p:sp>
        <p:sp>
          <p:nvSpPr>
            <p:cNvPr id="22570" name="直接连接符 59629"/>
            <p:cNvSpPr/>
            <p:nvPr/>
          </p:nvSpPr>
          <p:spPr>
            <a:xfrm flipH="1">
              <a:off x="4883" y="3422"/>
              <a:ext cx="288" cy="0"/>
            </a:xfrm>
            <a:prstGeom prst="line">
              <a:avLst/>
            </a:prstGeom>
            <a:ln w="28575" cap="flat" cmpd="sng">
              <a:solidFill>
                <a:srgbClr val="FF0000"/>
              </a:solidFill>
              <a:prstDash val="solid"/>
              <a:headEnd type="none" w="med" len="med"/>
              <a:tailEnd type="triangle" w="med" len="med"/>
            </a:ln>
          </p:spPr>
        </p:sp>
        <p:sp>
          <p:nvSpPr>
            <p:cNvPr id="22571" name="文本框 59630"/>
            <p:cNvSpPr txBox="1"/>
            <p:nvPr/>
          </p:nvSpPr>
          <p:spPr>
            <a:xfrm>
              <a:off x="4884" y="3407"/>
              <a:ext cx="255"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3</a:t>
              </a:r>
            </a:p>
          </p:txBody>
        </p:sp>
        <p:sp>
          <p:nvSpPr>
            <p:cNvPr id="22572" name="文本框 59631"/>
            <p:cNvSpPr txBox="1"/>
            <p:nvPr/>
          </p:nvSpPr>
          <p:spPr>
            <a:xfrm>
              <a:off x="4510" y="3407"/>
              <a:ext cx="255"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2</a:t>
              </a:r>
            </a:p>
          </p:txBody>
        </p:sp>
        <p:sp>
          <p:nvSpPr>
            <p:cNvPr id="22573" name="文本框 59632"/>
            <p:cNvSpPr txBox="1"/>
            <p:nvPr/>
          </p:nvSpPr>
          <p:spPr>
            <a:xfrm>
              <a:off x="4137" y="3407"/>
              <a:ext cx="255"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1</a:t>
              </a:r>
              <a:endParaRPr lang="en-US" altLang="zh-CN" sz="2000" dirty="0">
                <a:solidFill>
                  <a:srgbClr val="FF0000"/>
                </a:solidFill>
                <a:latin typeface="Times New Roman" panose="02020603050405020304" pitchFamily="18" charset="0"/>
                <a:ea typeface="宋体" panose="02010600030101010101" pitchFamily="2" charset="-122"/>
              </a:endParaRPr>
            </a:p>
          </p:txBody>
        </p:sp>
        <p:sp>
          <p:nvSpPr>
            <p:cNvPr id="22574" name="文本框 59633"/>
            <p:cNvSpPr txBox="1"/>
            <p:nvPr/>
          </p:nvSpPr>
          <p:spPr>
            <a:xfrm>
              <a:off x="3684" y="3407"/>
              <a:ext cx="255"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r>
                <a:rPr lang="en-US" altLang="zh-CN" sz="2000" baseline="-25000" dirty="0">
                  <a:solidFill>
                    <a:srgbClr val="FF0000"/>
                  </a:solidFill>
                  <a:latin typeface="Times New Roman" panose="02020603050405020304" pitchFamily="18" charset="0"/>
                  <a:ea typeface="宋体" panose="02010600030101010101" pitchFamily="2" charset="-122"/>
                </a:rPr>
                <a:t>0</a:t>
              </a:r>
            </a:p>
          </p:txBody>
        </p:sp>
        <p:sp>
          <p:nvSpPr>
            <p:cNvPr id="22575" name="直接连接符 59634"/>
            <p:cNvSpPr/>
            <p:nvPr/>
          </p:nvSpPr>
          <p:spPr>
            <a:xfrm flipH="1">
              <a:off x="5253" y="3422"/>
              <a:ext cx="288" cy="0"/>
            </a:xfrm>
            <a:prstGeom prst="line">
              <a:avLst/>
            </a:prstGeom>
            <a:ln w="28575" cap="flat" cmpd="sng">
              <a:solidFill>
                <a:srgbClr val="FF0000"/>
              </a:solidFill>
              <a:prstDash val="solid"/>
              <a:headEnd type="none" w="med" len="med"/>
              <a:tailEnd type="triangle" w="med" len="med"/>
            </a:ln>
          </p:spPr>
        </p:sp>
        <p:sp>
          <p:nvSpPr>
            <p:cNvPr id="22576" name="文本框 59635"/>
            <p:cNvSpPr txBox="1"/>
            <p:nvPr/>
          </p:nvSpPr>
          <p:spPr>
            <a:xfrm>
              <a:off x="5309" y="3407"/>
              <a:ext cx="168" cy="251"/>
            </a:xfrm>
            <a:prstGeom prst="rect">
              <a:avLst/>
            </a:prstGeom>
            <a:noFill/>
            <a:ln w="19050">
              <a:noFill/>
            </a:ln>
          </p:spPr>
          <p:txBody>
            <a:bodyPr wrap="none">
              <a:spAutoFit/>
            </a:bodyPr>
            <a:lstStyle/>
            <a:p>
              <a:pPr eaLnBrk="1" hangingPunct="1"/>
              <a:r>
                <a:rPr lang="en-US" altLang="zh-CN" sz="2000" i="1" dirty="0">
                  <a:solidFill>
                    <a:srgbClr val="FF0000"/>
                  </a:solidFill>
                  <a:latin typeface="Times New Roman" panose="02020603050405020304" pitchFamily="18" charset="0"/>
                  <a:ea typeface="宋体" panose="02010600030101010101" pitchFamily="2" charset="-122"/>
                </a:rPr>
                <a:t>I</a:t>
              </a:r>
              <a:endParaRPr lang="en-US" altLang="zh-CN" sz="2000" baseline="-25000" dirty="0">
                <a:solidFill>
                  <a:srgbClr val="FF0000"/>
                </a:solidFill>
                <a:latin typeface="Times New Roman" panose="02020603050405020304" pitchFamily="18" charset="0"/>
                <a:ea typeface="宋体" panose="02010600030101010101" pitchFamily="2" charset="-122"/>
              </a:endParaRPr>
            </a:p>
          </p:txBody>
        </p:sp>
        <p:sp>
          <p:nvSpPr>
            <p:cNvPr id="22577" name="椭圆 59636"/>
            <p:cNvSpPr/>
            <p:nvPr/>
          </p:nvSpPr>
          <p:spPr>
            <a:xfrm>
              <a:off x="5188" y="3292"/>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78" name="椭圆 59637"/>
            <p:cNvSpPr/>
            <p:nvPr/>
          </p:nvSpPr>
          <p:spPr>
            <a:xfrm>
              <a:off x="4804" y="3296"/>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79" name="椭圆 59638"/>
            <p:cNvSpPr/>
            <p:nvPr/>
          </p:nvSpPr>
          <p:spPr>
            <a:xfrm>
              <a:off x="4435" y="3292"/>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80" name="椭圆 59639"/>
            <p:cNvSpPr/>
            <p:nvPr/>
          </p:nvSpPr>
          <p:spPr>
            <a:xfrm>
              <a:off x="4047" y="3292"/>
              <a:ext cx="48" cy="48"/>
            </a:xfrm>
            <a:prstGeom prst="ellipse">
              <a:avLst/>
            </a:prstGeom>
            <a:solidFill>
              <a:schemeClr val="tx1"/>
            </a:solidFill>
            <a:ln w="28575" cap="flat" cmpd="sng">
              <a:solidFill>
                <a:schemeClr val="tx1"/>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22581" name="直接连接符 59640"/>
            <p:cNvSpPr/>
            <p:nvPr/>
          </p:nvSpPr>
          <p:spPr>
            <a:xfrm>
              <a:off x="5583" y="2482"/>
              <a:ext cx="0" cy="136"/>
            </a:xfrm>
            <a:prstGeom prst="line">
              <a:avLst/>
            </a:prstGeom>
            <a:ln w="28575" cap="flat" cmpd="sng">
              <a:solidFill>
                <a:schemeClr val="tx1"/>
              </a:solidFill>
              <a:prstDash val="solid"/>
              <a:headEnd type="none" w="med" len="med"/>
              <a:tailEnd type="none" w="med" len="med"/>
            </a:ln>
          </p:spPr>
        </p:sp>
        <p:sp>
          <p:nvSpPr>
            <p:cNvPr id="22582" name="直接连接符 59641"/>
            <p:cNvSpPr/>
            <p:nvPr/>
          </p:nvSpPr>
          <p:spPr>
            <a:xfrm>
              <a:off x="5537" y="2618"/>
              <a:ext cx="91" cy="0"/>
            </a:xfrm>
            <a:prstGeom prst="line">
              <a:avLst/>
            </a:prstGeom>
            <a:ln w="28575" cap="flat" cmpd="sng">
              <a:solidFill>
                <a:schemeClr val="tx1"/>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9645"/>
                                        </p:tgtEl>
                                        <p:attrNameLst>
                                          <p:attrName>style.visibility</p:attrName>
                                        </p:attrNameLst>
                                      </p:cBhvr>
                                      <p:to>
                                        <p:strVal val="visible"/>
                                      </p:to>
                                    </p:set>
                                    <p:animEffect transition="in" filter="wipe(left)">
                                      <p:cBhvr>
                                        <p:cTn id="7" dur="500"/>
                                        <p:tgtEl>
                                          <p:spTgt spid="596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583"/>
                                        </p:tgtEl>
                                        <p:attrNameLst>
                                          <p:attrName>style.visibility</p:attrName>
                                        </p:attrNameLst>
                                      </p:cBhvr>
                                      <p:to>
                                        <p:strVal val="visible"/>
                                      </p:to>
                                    </p:set>
                                    <p:animEffect transition="in" filter="wipe(left)">
                                      <p:cBhvr>
                                        <p:cTn id="12" dur="500"/>
                                        <p:tgtEl>
                                          <p:spTgt spid="5958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9584"/>
                                        </p:tgtEl>
                                        <p:attrNameLst>
                                          <p:attrName>style.visibility</p:attrName>
                                        </p:attrNameLst>
                                      </p:cBhvr>
                                      <p:to>
                                        <p:strVal val="visible"/>
                                      </p:to>
                                    </p:set>
                                    <p:animEffect transition="in" filter="wipe(left)">
                                      <p:cBhvr>
                                        <p:cTn id="17" dur="500"/>
                                        <p:tgtEl>
                                          <p:spTgt spid="5958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9587"/>
                                        </p:tgtEl>
                                        <p:attrNameLst>
                                          <p:attrName>style.visibility</p:attrName>
                                        </p:attrNameLst>
                                      </p:cBhvr>
                                      <p:to>
                                        <p:strVal val="visible"/>
                                      </p:to>
                                    </p:set>
                                    <p:animEffect transition="in" filter="wipe(left)">
                                      <p:cBhvr>
                                        <p:cTn id="22" dur="500"/>
                                        <p:tgtEl>
                                          <p:spTgt spid="595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9586"/>
                                        </p:tgtEl>
                                        <p:attrNameLst>
                                          <p:attrName>style.visibility</p:attrName>
                                        </p:attrNameLst>
                                      </p:cBhvr>
                                      <p:to>
                                        <p:strVal val="visible"/>
                                      </p:to>
                                    </p:set>
                                    <p:animEffect transition="in" filter="wipe(left)">
                                      <p:cBhvr>
                                        <p:cTn id="27" dur="500"/>
                                        <p:tgtEl>
                                          <p:spTgt spid="5958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9585"/>
                                        </p:tgtEl>
                                        <p:attrNameLst>
                                          <p:attrName>style.visibility</p:attrName>
                                        </p:attrNameLst>
                                      </p:cBhvr>
                                      <p:to>
                                        <p:strVal val="visible"/>
                                      </p:to>
                                    </p:set>
                                    <p:animEffect transition="in" filter="wipe(left)">
                                      <p:cBhvr>
                                        <p:cTn id="32" dur="500"/>
                                        <p:tgtEl>
                                          <p:spTgt spid="59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 name="文本框 22629"/>
          <p:cNvSpPr txBox="1"/>
          <p:nvPr/>
        </p:nvSpPr>
        <p:spPr>
          <a:xfrm>
            <a:off x="1847850" y="1844675"/>
            <a:ext cx="3368675" cy="829945"/>
          </a:xfrm>
          <a:prstGeom prst="rect">
            <a:avLst/>
          </a:prstGeom>
          <a:noFill/>
          <a:ln w="19050">
            <a:noFill/>
          </a:ln>
        </p:spPr>
        <p:txBody>
          <a:bodyPr>
            <a:spAutoFit/>
          </a:bodyPr>
          <a:lstStyle/>
          <a:p>
            <a:pPr eaLnBrk="1" hangingPunct="1"/>
            <a:r>
              <a:rPr lang="zh-CN" altLang="en-US" sz="2400" dirty="0">
                <a:solidFill>
                  <a:srgbClr val="000099"/>
                </a:solidFill>
                <a:latin typeface="Times New Roman" panose="02020603050405020304" pitchFamily="18" charset="0"/>
                <a:ea typeface="宋体" panose="02010600030101010101" pitchFamily="2" charset="-122"/>
              </a:rPr>
              <a:t>电阻支路为倒</a:t>
            </a:r>
            <a:r>
              <a:rPr lang="en-US" altLang="zh-CN" sz="2400" dirty="0">
                <a:solidFill>
                  <a:srgbClr val="000099"/>
                </a:solidFill>
                <a:latin typeface="Times New Roman" panose="02020603050405020304" pitchFamily="18" charset="0"/>
                <a:ea typeface="宋体" panose="02010600030101010101" pitchFamily="2" charset="-122"/>
              </a:rPr>
              <a:t>T</a:t>
            </a:r>
            <a:r>
              <a:rPr lang="zh-CN" altLang="en-US" sz="2400" dirty="0">
                <a:solidFill>
                  <a:srgbClr val="000099"/>
                </a:solidFill>
                <a:latin typeface="Times New Roman" panose="02020603050405020304" pitchFamily="18" charset="0"/>
                <a:ea typeface="宋体" panose="02010600030101010101" pitchFamily="2" charset="-122"/>
              </a:rPr>
              <a:t>型，故名倒</a:t>
            </a:r>
            <a:r>
              <a:rPr lang="en-US" altLang="zh-CN" sz="2400" dirty="0">
                <a:solidFill>
                  <a:srgbClr val="000099"/>
                </a:solidFill>
                <a:latin typeface="Times New Roman" panose="02020603050405020304" pitchFamily="18" charset="0"/>
                <a:ea typeface="宋体" panose="02010600030101010101" pitchFamily="2" charset="-122"/>
              </a:rPr>
              <a:t>T</a:t>
            </a:r>
            <a:r>
              <a:rPr lang="zh-CN" altLang="en-US" sz="2400" dirty="0">
                <a:solidFill>
                  <a:srgbClr val="000099"/>
                </a:solidFill>
                <a:latin typeface="Times New Roman" panose="02020603050405020304" pitchFamily="18" charset="0"/>
                <a:ea typeface="宋体" panose="02010600030101010101" pitchFamily="2" charset="-122"/>
              </a:rPr>
              <a:t>型电阻网络</a:t>
            </a:r>
            <a:r>
              <a:rPr lang="en-US" altLang="zh-CN" sz="2400" dirty="0">
                <a:solidFill>
                  <a:srgbClr val="000099"/>
                </a:solidFill>
                <a:latin typeface="Times New Roman" panose="02020603050405020304" pitchFamily="18" charset="0"/>
                <a:ea typeface="宋体" panose="02010600030101010101" pitchFamily="2" charset="-122"/>
              </a:rPr>
              <a:t>DAC</a:t>
            </a:r>
          </a:p>
        </p:txBody>
      </p:sp>
      <p:graphicFrame>
        <p:nvGraphicFramePr>
          <p:cNvPr id="22922" name="对象 22921"/>
          <p:cNvGraphicFramePr/>
          <p:nvPr/>
        </p:nvGraphicFramePr>
        <p:xfrm>
          <a:off x="1900238" y="836613"/>
          <a:ext cx="6643687" cy="796925"/>
        </p:xfrm>
        <a:graphic>
          <a:graphicData uri="http://schemas.openxmlformats.org/presentationml/2006/ole">
            <mc:AlternateContent xmlns:mc="http://schemas.openxmlformats.org/markup-compatibility/2006">
              <mc:Choice xmlns:v="urn:schemas-microsoft-com:vml" Requires="v">
                <p:oleObj spid="_x0000_s344066" r:id="rId3" imgW="3565525" imgH="405765" progId="Equation.3">
                  <p:embed/>
                </p:oleObj>
              </mc:Choice>
              <mc:Fallback>
                <p:oleObj r:id="rId3" imgW="3565525" imgH="405765" progId="Equation.3">
                  <p:embed/>
                  <p:pic>
                    <p:nvPicPr>
                      <p:cNvPr id="0" name="图片 3075"/>
                      <p:cNvPicPr/>
                      <p:nvPr/>
                    </p:nvPicPr>
                    <p:blipFill>
                      <a:blip r:embed="rId4"/>
                      <a:stretch>
                        <a:fillRect/>
                      </a:stretch>
                    </p:blipFill>
                    <p:spPr>
                      <a:xfrm>
                        <a:off x="1900238" y="836613"/>
                        <a:ext cx="6643687" cy="796925"/>
                      </a:xfrm>
                      <a:prstGeom prst="rect">
                        <a:avLst/>
                      </a:prstGeom>
                      <a:noFill/>
                      <a:ln w="38100">
                        <a:noFill/>
                        <a:miter/>
                      </a:ln>
                    </p:spPr>
                  </p:pic>
                </p:oleObj>
              </mc:Fallback>
            </mc:AlternateContent>
          </a:graphicData>
        </a:graphic>
      </p:graphicFrame>
      <p:sp>
        <p:nvSpPr>
          <p:cNvPr id="22923" name="矩形 22922"/>
          <p:cNvSpPr/>
          <p:nvPr/>
        </p:nvSpPr>
        <p:spPr>
          <a:xfrm>
            <a:off x="8616950" y="1023938"/>
            <a:ext cx="487680" cy="460375"/>
          </a:xfrm>
          <a:prstGeom prst="rect">
            <a:avLst/>
          </a:prstGeom>
          <a:noFill/>
          <a:ln w="19050">
            <a:noFill/>
          </a:ln>
        </p:spPr>
        <p:txBody>
          <a:bodyPr wrap="none">
            <a:spAutoFit/>
          </a:bodyPr>
          <a:lstStyle/>
          <a:p>
            <a:pPr eaLnBrk="1" hangingPunct="1"/>
            <a:r>
              <a:rPr lang="en-US" altLang="zh-CN" sz="2400" dirty="0">
                <a:solidFill>
                  <a:schemeClr val="hlink"/>
                </a:solidFill>
                <a:latin typeface="Times New Roman" panose="02020603050405020304" pitchFamily="18" charset="0"/>
                <a:ea typeface="宋体" panose="02010600030101010101" pitchFamily="2" charset="-122"/>
              </a:rPr>
              <a:t>★</a:t>
            </a:r>
          </a:p>
        </p:txBody>
      </p:sp>
      <p:sp>
        <p:nvSpPr>
          <p:cNvPr id="23557" name="文本框 22923"/>
          <p:cNvSpPr txBox="1"/>
          <p:nvPr/>
        </p:nvSpPr>
        <p:spPr>
          <a:xfrm>
            <a:off x="1703388" y="282575"/>
            <a:ext cx="3040380" cy="368300"/>
          </a:xfrm>
          <a:prstGeom prst="rect">
            <a:avLst/>
          </a:prstGeom>
          <a:noFill/>
          <a:ln w="19050">
            <a:noFill/>
          </a:ln>
        </p:spPr>
        <p:txBody>
          <a:bodyPr wrap="none">
            <a:spAutoFit/>
          </a:bodyPr>
          <a:lstStyle/>
          <a:p>
            <a:pPr eaLnBrk="1" hangingPunct="1"/>
            <a:r>
              <a:rPr lang="zh-CN" altLang="en-US" dirty="0">
                <a:solidFill>
                  <a:srgbClr val="000099"/>
                </a:solidFill>
                <a:latin typeface="Times New Roman" panose="02020603050405020304" pitchFamily="18" charset="0"/>
              </a:rPr>
              <a:t>推广：</a:t>
            </a:r>
            <a:r>
              <a:rPr lang="en-US" altLang="zh-CN" dirty="0">
                <a:solidFill>
                  <a:srgbClr val="000099"/>
                </a:solidFill>
                <a:latin typeface="Times New Roman" panose="02020603050405020304" pitchFamily="18" charset="0"/>
              </a:rPr>
              <a:t>n</a:t>
            </a:r>
            <a:r>
              <a:rPr lang="zh-CN" altLang="en-US" dirty="0">
                <a:solidFill>
                  <a:srgbClr val="000099"/>
                </a:solidFill>
                <a:latin typeface="Times New Roman" panose="02020603050405020304" pitchFamily="18" charset="0"/>
              </a:rPr>
              <a:t>位数模转换器的输出</a:t>
            </a:r>
          </a:p>
        </p:txBody>
      </p:sp>
      <p:sp>
        <p:nvSpPr>
          <p:cNvPr id="22925" name="文本框 22924"/>
          <p:cNvSpPr txBox="1"/>
          <p:nvPr/>
        </p:nvSpPr>
        <p:spPr>
          <a:xfrm>
            <a:off x="1847850" y="2781300"/>
            <a:ext cx="2475230" cy="368300"/>
          </a:xfrm>
          <a:prstGeom prst="rect">
            <a:avLst/>
          </a:prstGeom>
          <a:noFill/>
          <a:ln w="19050">
            <a:noFill/>
          </a:ln>
        </p:spPr>
        <p:txBody>
          <a:bodyPr wrap="none">
            <a:spAutoFit/>
          </a:bodyPr>
          <a:lstStyle/>
          <a:p>
            <a:pPr eaLnBrk="1" hangingPunct="1"/>
            <a:r>
              <a:rPr lang="zh-CN" altLang="en-US" dirty="0">
                <a:solidFill>
                  <a:srgbClr val="000099"/>
                </a:solidFill>
                <a:latin typeface="Times New Roman" panose="02020603050405020304" pitchFamily="18" charset="0"/>
              </a:rPr>
              <a:t>改变</a:t>
            </a:r>
            <a:r>
              <a:rPr lang="en-US" altLang="zh-CN" dirty="0">
                <a:solidFill>
                  <a:srgbClr val="000099"/>
                </a:solidFill>
                <a:latin typeface="Times New Roman" panose="02020603050405020304" pitchFamily="18" charset="0"/>
              </a:rPr>
              <a:t>R</a:t>
            </a:r>
            <a:r>
              <a:rPr lang="en-US" altLang="zh-CN" baseline="-25000" dirty="0">
                <a:solidFill>
                  <a:srgbClr val="000099"/>
                </a:solidFill>
                <a:latin typeface="Times New Roman" panose="02020603050405020304" pitchFamily="18" charset="0"/>
              </a:rPr>
              <a:t>F</a:t>
            </a:r>
            <a:r>
              <a:rPr lang="zh-CN" altLang="en-US" dirty="0">
                <a:solidFill>
                  <a:srgbClr val="000099"/>
                </a:solidFill>
                <a:latin typeface="Times New Roman" panose="02020603050405020304" pitchFamily="18" charset="0"/>
              </a:rPr>
              <a:t>可改变比例系数</a:t>
            </a:r>
          </a:p>
        </p:txBody>
      </p:sp>
      <p:sp>
        <p:nvSpPr>
          <p:cNvPr id="22926" name="文本框 22925"/>
          <p:cNvSpPr txBox="1"/>
          <p:nvPr/>
        </p:nvSpPr>
        <p:spPr>
          <a:xfrm>
            <a:off x="1919288" y="3357563"/>
            <a:ext cx="2926080" cy="368300"/>
          </a:xfrm>
          <a:prstGeom prst="rect">
            <a:avLst/>
          </a:prstGeom>
          <a:solidFill>
            <a:srgbClr val="FFFF00"/>
          </a:solidFill>
          <a:ln w="19050">
            <a:noFill/>
          </a:ln>
        </p:spPr>
        <p:txBody>
          <a:bodyPr wrap="none">
            <a:spAutoFit/>
          </a:bodyPr>
          <a:lstStyle/>
          <a:p>
            <a:pPr eaLnBrk="1" hangingPunct="1"/>
            <a:r>
              <a:rPr lang="zh-CN" altLang="en-US" dirty="0">
                <a:solidFill>
                  <a:schemeClr val="hlink"/>
                </a:solidFill>
                <a:latin typeface="Times New Roman" panose="02020603050405020304" pitchFamily="18" charset="0"/>
              </a:rPr>
              <a:t>解决了</a:t>
            </a:r>
            <a:r>
              <a:rPr lang="zh-CN" altLang="en-US" dirty="0">
                <a:solidFill>
                  <a:srgbClr val="000099"/>
                </a:solidFill>
                <a:latin typeface="Times New Roman" panose="02020603050405020304" pitchFamily="18" charset="0"/>
              </a:rPr>
              <a:t>阻值相差太大的问题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922"/>
                                        </p:tgtEl>
                                        <p:attrNameLst>
                                          <p:attrName>style.visibility</p:attrName>
                                        </p:attrNameLst>
                                      </p:cBhvr>
                                      <p:to>
                                        <p:strVal val="visible"/>
                                      </p:to>
                                    </p:set>
                                    <p:animEffect transition="in" filter="wipe(left)">
                                      <p:cBhvr>
                                        <p:cTn id="7" dur="500"/>
                                        <p:tgtEl>
                                          <p:spTgt spid="229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923">
                                            <p:txEl>
                                              <p:pRg st="0" end="0"/>
                                            </p:txEl>
                                          </p:spTgt>
                                        </p:tgtEl>
                                        <p:attrNameLst>
                                          <p:attrName>style.visibility</p:attrName>
                                        </p:attrNameLst>
                                      </p:cBhvr>
                                      <p:to>
                                        <p:strVal val="visible"/>
                                      </p:to>
                                    </p:set>
                                    <p:animEffect transition="in" filter="wipe(left)">
                                      <p:cBhvr>
                                        <p:cTn id="12" dur="500"/>
                                        <p:tgtEl>
                                          <p:spTgt spid="2292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630">
                                            <p:txEl>
                                              <p:pRg st="0" end="0"/>
                                            </p:txEl>
                                          </p:spTgt>
                                        </p:tgtEl>
                                        <p:attrNameLst>
                                          <p:attrName>style.visibility</p:attrName>
                                        </p:attrNameLst>
                                      </p:cBhvr>
                                      <p:to>
                                        <p:strVal val="visible"/>
                                      </p:to>
                                    </p:set>
                                    <p:animEffect transition="in" filter="wipe(left)">
                                      <p:cBhvr>
                                        <p:cTn id="17" dur="500"/>
                                        <p:tgtEl>
                                          <p:spTgt spid="2263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925"/>
                                        </p:tgtEl>
                                        <p:attrNameLst>
                                          <p:attrName>style.visibility</p:attrName>
                                        </p:attrNameLst>
                                      </p:cBhvr>
                                      <p:to>
                                        <p:strVal val="visible"/>
                                      </p:to>
                                    </p:set>
                                    <p:animEffect transition="in" filter="wipe(left)">
                                      <p:cBhvr>
                                        <p:cTn id="22" dur="500"/>
                                        <p:tgtEl>
                                          <p:spTgt spid="229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926"/>
                                        </p:tgtEl>
                                        <p:attrNameLst>
                                          <p:attrName>style.visibility</p:attrName>
                                        </p:attrNameLst>
                                      </p:cBhvr>
                                      <p:to>
                                        <p:strVal val="visible"/>
                                      </p:to>
                                    </p:set>
                                    <p:animEffect transition="in" filter="wipe(left)">
                                      <p:cBhvr>
                                        <p:cTn id="27" dur="500"/>
                                        <p:tgtEl>
                                          <p:spTgt spid="22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 grpId="0" build="p"/>
      <p:bldP spid="22923" grpId="0" build="p"/>
      <p:bldP spid="22925" grpId="0"/>
      <p:bldP spid="22926" grpId="0" bldLvl="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文本框 35841"/>
          <p:cNvSpPr txBox="1"/>
          <p:nvPr/>
        </p:nvSpPr>
        <p:spPr>
          <a:xfrm>
            <a:off x="4343400" y="228600"/>
            <a:ext cx="3886200" cy="460375"/>
          </a:xfrm>
          <a:prstGeom prst="rect">
            <a:avLst/>
          </a:prstGeom>
          <a:solidFill>
            <a:srgbClr val="CCFFCC"/>
          </a:solidFill>
          <a:ln w="9525">
            <a:noFill/>
          </a:ln>
        </p:spPr>
        <p:txBody>
          <a:bodyPr>
            <a:spAutoFit/>
          </a:bodyPr>
          <a:lstStyle/>
          <a:p>
            <a:pPr eaLnBrk="1" hangingPunct="1">
              <a:spcBef>
                <a:spcPct val="50000"/>
              </a:spcBef>
            </a:pPr>
            <a:r>
              <a:rPr lang="en-US" altLang="zh-CN" sz="2400" dirty="0">
                <a:solidFill>
                  <a:schemeClr val="hlink"/>
                </a:solidFill>
                <a:latin typeface="Times New Roman" panose="02020603050405020304" pitchFamily="18" charset="0"/>
              </a:rPr>
              <a:t>10.3.4     </a:t>
            </a:r>
            <a:r>
              <a:rPr lang="zh-CN" altLang="en-US" sz="2400" dirty="0">
                <a:solidFill>
                  <a:schemeClr val="hlink"/>
                </a:solidFill>
                <a:latin typeface="Times New Roman" panose="02020603050405020304" pitchFamily="18" charset="0"/>
              </a:rPr>
              <a:t>间接</a:t>
            </a:r>
            <a:r>
              <a:rPr lang="en-US" altLang="zh-CN" sz="2400" dirty="0">
                <a:solidFill>
                  <a:schemeClr val="hlink"/>
                </a:solidFill>
                <a:latin typeface="Times New Roman" panose="02020603050405020304" pitchFamily="18" charset="0"/>
              </a:rPr>
              <a:t>A/D</a:t>
            </a:r>
            <a:r>
              <a:rPr lang="zh-CN" altLang="en-US" sz="2400" dirty="0">
                <a:solidFill>
                  <a:schemeClr val="hlink"/>
                </a:solidFill>
                <a:latin typeface="Times New Roman" panose="02020603050405020304" pitchFamily="18" charset="0"/>
              </a:rPr>
              <a:t>转换器</a:t>
            </a:r>
          </a:p>
        </p:txBody>
      </p:sp>
      <p:sp>
        <p:nvSpPr>
          <p:cNvPr id="35843" name="文本框 35842"/>
          <p:cNvSpPr txBox="1"/>
          <p:nvPr/>
        </p:nvSpPr>
        <p:spPr>
          <a:xfrm>
            <a:off x="1600200" y="609600"/>
            <a:ext cx="2011680" cy="460375"/>
          </a:xfrm>
          <a:prstGeom prst="rect">
            <a:avLst/>
          </a:prstGeom>
          <a:noFill/>
          <a:ln w="19050">
            <a:noFill/>
          </a:ln>
        </p:spPr>
        <p:txBody>
          <a:bodyPr wrap="none">
            <a:spAutoFit/>
          </a:bodyPr>
          <a:lstStyle/>
          <a:p>
            <a:pPr eaLnBrk="1" hangingPunct="1"/>
            <a:r>
              <a:rPr lang="zh-CN" altLang="en-US" sz="2400" dirty="0">
                <a:solidFill>
                  <a:schemeClr val="hlink"/>
                </a:solidFill>
                <a:latin typeface="Times New Roman" panose="02020603050405020304" pitchFamily="18" charset="0"/>
              </a:rPr>
              <a:t>一、双积分型</a:t>
            </a:r>
          </a:p>
        </p:txBody>
      </p:sp>
      <p:sp>
        <p:nvSpPr>
          <p:cNvPr id="35844" name="文本框 35843"/>
          <p:cNvSpPr txBox="1"/>
          <p:nvPr/>
        </p:nvSpPr>
        <p:spPr>
          <a:xfrm>
            <a:off x="1525588" y="1098550"/>
            <a:ext cx="9142412" cy="829945"/>
          </a:xfrm>
          <a:prstGeom prst="rect">
            <a:avLst/>
          </a:prstGeom>
          <a:solidFill>
            <a:srgbClr val="FFFFCC"/>
          </a:solidFill>
          <a:ln w="19050">
            <a:noFill/>
          </a:ln>
        </p:spPr>
        <p:txBody>
          <a:bodyPr>
            <a:spAutoFit/>
          </a:bodyPr>
          <a:lstStyle/>
          <a:p>
            <a:pPr eaLnBrk="1" hangingPunct="1"/>
            <a:r>
              <a:rPr lang="zh-CN" altLang="en-US" sz="2400" dirty="0">
                <a:solidFill>
                  <a:schemeClr val="hlink"/>
                </a:solidFill>
                <a:latin typeface="Times New Roman" panose="02020603050405020304" pitchFamily="18" charset="0"/>
              </a:rPr>
              <a:t>基本思路：</a:t>
            </a:r>
            <a:r>
              <a:rPr lang="zh-CN" altLang="en-US" sz="2400" dirty="0">
                <a:latin typeface="Times New Roman" panose="02020603050405020304" pitchFamily="18" charset="0"/>
              </a:rPr>
              <a:t>将电压</a:t>
            </a:r>
            <a:r>
              <a:rPr lang="en-US" altLang="zh-CN" sz="2400" i="1" dirty="0">
                <a:solidFill>
                  <a:srgbClr val="FF00FF"/>
                </a:solidFill>
                <a:latin typeface="Times New Roman" panose="02020603050405020304" pitchFamily="18" charset="0"/>
              </a:rPr>
              <a:t>V</a:t>
            </a:r>
            <a:r>
              <a:rPr lang="en-US" altLang="zh-CN" sz="2400" baseline="-25000" dirty="0">
                <a:solidFill>
                  <a:srgbClr val="FF00FF"/>
                </a:solidFill>
                <a:latin typeface="Times New Roman" panose="02020603050405020304" pitchFamily="18" charset="0"/>
              </a:rPr>
              <a:t>I</a:t>
            </a:r>
            <a:r>
              <a:rPr lang="zh-CN" altLang="en-US" sz="2400" dirty="0">
                <a:latin typeface="Times New Roman" panose="02020603050405020304" pitchFamily="18" charset="0"/>
              </a:rPr>
              <a:t>转换成与之成正比的时间</a:t>
            </a:r>
            <a:r>
              <a:rPr lang="en-US" altLang="zh-CN" sz="2400" i="1" dirty="0">
                <a:solidFill>
                  <a:srgbClr val="FF00FF"/>
                </a:solidFill>
                <a:latin typeface="Times New Roman" panose="02020603050405020304" pitchFamily="18" charset="0"/>
              </a:rPr>
              <a:t>T</a:t>
            </a:r>
            <a:r>
              <a:rPr lang="zh-CN" altLang="en-US" sz="2400" dirty="0">
                <a:latin typeface="Times New Roman" panose="02020603050405020304" pitchFamily="18" charset="0"/>
              </a:rPr>
              <a:t>，并在此时间内对固定频率的脉冲进行计数，则</a:t>
            </a:r>
            <a:r>
              <a:rPr lang="zh-CN" altLang="en-US" sz="2400" dirty="0">
                <a:solidFill>
                  <a:srgbClr val="FF00FF"/>
                </a:solidFill>
                <a:latin typeface="Times New Roman" panose="02020603050405020304" pitchFamily="18" charset="0"/>
              </a:rPr>
              <a:t>计数结果</a:t>
            </a:r>
            <a:r>
              <a:rPr lang="en-US" altLang="zh-CN" sz="2400" i="1" dirty="0">
                <a:solidFill>
                  <a:srgbClr val="FF00FF"/>
                </a:solidFill>
                <a:latin typeface="Times New Roman" panose="02020603050405020304" pitchFamily="18" charset="0"/>
              </a:rPr>
              <a:t>D</a:t>
            </a:r>
            <a:r>
              <a:rPr lang="en-US" altLang="zh-CN" sz="2400" dirty="0">
                <a:latin typeface="Times New Roman" panose="02020603050405020304" pitchFamily="18" charset="0"/>
              </a:rPr>
              <a:t>(</a:t>
            </a:r>
            <a:r>
              <a:rPr lang="zh-CN" altLang="en-US" sz="2400" dirty="0">
                <a:latin typeface="Times New Roman" panose="02020603050405020304" pitchFamily="18" charset="0"/>
              </a:rPr>
              <a:t>正比于电压</a:t>
            </a:r>
            <a:r>
              <a:rPr lang="en-US" altLang="zh-CN" sz="2400" dirty="0">
                <a:latin typeface="Times New Roman" panose="02020603050405020304" pitchFamily="18" charset="0"/>
              </a:rPr>
              <a:t>V</a:t>
            </a:r>
            <a:r>
              <a:rPr lang="en-US" altLang="zh-CN" sz="2400" baseline="-25000" dirty="0">
                <a:latin typeface="Times New Roman" panose="02020603050405020304" pitchFamily="18" charset="0"/>
              </a:rPr>
              <a:t>I</a:t>
            </a:r>
            <a:r>
              <a:rPr lang="en-US" altLang="zh-CN" sz="2400" dirty="0">
                <a:latin typeface="Times New Roman" panose="02020603050405020304" pitchFamily="18" charset="0"/>
              </a:rPr>
              <a:t>)</a:t>
            </a:r>
            <a:r>
              <a:rPr lang="zh-CN" altLang="en-US" sz="2400" dirty="0">
                <a:latin typeface="Times New Roman" panose="02020603050405020304" pitchFamily="18" charset="0"/>
              </a:rPr>
              <a:t>即为转换结果。</a:t>
            </a:r>
          </a:p>
        </p:txBody>
      </p:sp>
      <p:grpSp>
        <p:nvGrpSpPr>
          <p:cNvPr id="36009" name="组合 36008"/>
          <p:cNvGrpSpPr/>
          <p:nvPr/>
        </p:nvGrpSpPr>
        <p:grpSpPr>
          <a:xfrm>
            <a:off x="3886200" y="2514600"/>
            <a:ext cx="3903663" cy="2209800"/>
            <a:chOff x="1488" y="1584"/>
            <a:chExt cx="2459" cy="1392"/>
          </a:xfrm>
        </p:grpSpPr>
        <p:grpSp>
          <p:nvGrpSpPr>
            <p:cNvPr id="52231" name="组合 36004"/>
            <p:cNvGrpSpPr/>
            <p:nvPr/>
          </p:nvGrpSpPr>
          <p:grpSpPr>
            <a:xfrm>
              <a:off x="1488" y="1584"/>
              <a:ext cx="2256" cy="1298"/>
              <a:chOff x="384" y="1728"/>
              <a:chExt cx="2256" cy="1298"/>
            </a:xfrm>
          </p:grpSpPr>
          <p:sp>
            <p:nvSpPr>
              <p:cNvPr id="52235" name="任意多边形 35917"/>
              <p:cNvSpPr/>
              <p:nvPr/>
            </p:nvSpPr>
            <p:spPr>
              <a:xfrm>
                <a:off x="384" y="2016"/>
                <a:ext cx="2256" cy="288"/>
              </a:xfrm>
              <a:custGeom>
                <a:avLst/>
                <a:gdLst/>
                <a:ahLst/>
                <a:cxnLst>
                  <a:cxn ang="0">
                    <a:pos x="0" y="288"/>
                  </a:cxn>
                  <a:cxn ang="0">
                    <a:pos x="330" y="288"/>
                  </a:cxn>
                  <a:cxn ang="0">
                    <a:pos x="330" y="0"/>
                  </a:cxn>
                  <a:cxn ang="0">
                    <a:pos x="1761" y="0"/>
                  </a:cxn>
                  <a:cxn ang="0">
                    <a:pos x="1761" y="288"/>
                  </a:cxn>
                  <a:cxn ang="0">
                    <a:pos x="2256" y="288"/>
                  </a:cxn>
                </a:cxnLst>
                <a:rect l="0" t="0" r="0" b="0"/>
                <a:pathLst>
                  <a:path w="1968" h="240">
                    <a:moveTo>
                      <a:pt x="0" y="240"/>
                    </a:moveTo>
                    <a:lnTo>
                      <a:pt x="288" y="240"/>
                    </a:lnTo>
                    <a:lnTo>
                      <a:pt x="288" y="0"/>
                    </a:lnTo>
                    <a:lnTo>
                      <a:pt x="1536" y="0"/>
                    </a:lnTo>
                    <a:lnTo>
                      <a:pt x="1536" y="240"/>
                    </a:lnTo>
                    <a:lnTo>
                      <a:pt x="1968" y="24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grpSp>
            <p:nvGrpSpPr>
              <p:cNvPr id="52236" name="组合 35999"/>
              <p:cNvGrpSpPr/>
              <p:nvPr/>
            </p:nvGrpSpPr>
            <p:grpSpPr>
              <a:xfrm>
                <a:off x="528" y="2496"/>
                <a:ext cx="1872" cy="240"/>
                <a:chOff x="3928" y="1728"/>
                <a:chExt cx="1477" cy="288"/>
              </a:xfrm>
            </p:grpSpPr>
            <p:grpSp>
              <p:nvGrpSpPr>
                <p:cNvPr id="52241" name="组合 35927"/>
                <p:cNvGrpSpPr/>
                <p:nvPr/>
              </p:nvGrpSpPr>
              <p:grpSpPr>
                <a:xfrm>
                  <a:off x="3928" y="1728"/>
                  <a:ext cx="192" cy="288"/>
                  <a:chOff x="720" y="3072"/>
                  <a:chExt cx="384" cy="288"/>
                </a:xfrm>
              </p:grpSpPr>
              <p:sp>
                <p:nvSpPr>
                  <p:cNvPr id="52264" name="任意多边形 35928"/>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65" name="任意多边形 35929"/>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nvGrpSpPr>
                <p:cNvPr id="52242" name="组合 35930"/>
                <p:cNvGrpSpPr/>
                <p:nvPr/>
              </p:nvGrpSpPr>
              <p:grpSpPr>
                <a:xfrm>
                  <a:off x="4120" y="1728"/>
                  <a:ext cx="192" cy="288"/>
                  <a:chOff x="720" y="3072"/>
                  <a:chExt cx="384" cy="288"/>
                </a:xfrm>
              </p:grpSpPr>
              <p:sp>
                <p:nvSpPr>
                  <p:cNvPr id="52262" name="任意多边形 35931"/>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63" name="任意多边形 35932"/>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nvGrpSpPr>
                <p:cNvPr id="52243" name="组合 35933"/>
                <p:cNvGrpSpPr/>
                <p:nvPr/>
              </p:nvGrpSpPr>
              <p:grpSpPr>
                <a:xfrm>
                  <a:off x="4312" y="1728"/>
                  <a:ext cx="192" cy="288"/>
                  <a:chOff x="720" y="3072"/>
                  <a:chExt cx="384" cy="288"/>
                </a:xfrm>
              </p:grpSpPr>
              <p:sp>
                <p:nvSpPr>
                  <p:cNvPr id="52260" name="任意多边形 35934"/>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61" name="任意多边形 35935"/>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nvGrpSpPr>
                <p:cNvPr id="52244" name="组合 35936"/>
                <p:cNvGrpSpPr/>
                <p:nvPr/>
              </p:nvGrpSpPr>
              <p:grpSpPr>
                <a:xfrm>
                  <a:off x="4504" y="1728"/>
                  <a:ext cx="192" cy="288"/>
                  <a:chOff x="720" y="3072"/>
                  <a:chExt cx="384" cy="288"/>
                </a:xfrm>
              </p:grpSpPr>
              <p:sp>
                <p:nvSpPr>
                  <p:cNvPr id="52258" name="任意多边形 35937"/>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59" name="任意多边形 35938"/>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nvGrpSpPr>
                <p:cNvPr id="52245" name="组合 35939"/>
                <p:cNvGrpSpPr/>
                <p:nvPr/>
              </p:nvGrpSpPr>
              <p:grpSpPr>
                <a:xfrm>
                  <a:off x="4696" y="1728"/>
                  <a:ext cx="709" cy="288"/>
                  <a:chOff x="923" y="1968"/>
                  <a:chExt cx="768" cy="288"/>
                </a:xfrm>
              </p:grpSpPr>
              <p:grpSp>
                <p:nvGrpSpPr>
                  <p:cNvPr id="52246" name="组合 35940"/>
                  <p:cNvGrpSpPr/>
                  <p:nvPr/>
                </p:nvGrpSpPr>
                <p:grpSpPr>
                  <a:xfrm>
                    <a:off x="923" y="1968"/>
                    <a:ext cx="192" cy="288"/>
                    <a:chOff x="720" y="3072"/>
                    <a:chExt cx="384" cy="288"/>
                  </a:xfrm>
                </p:grpSpPr>
                <p:sp>
                  <p:nvSpPr>
                    <p:cNvPr id="52256" name="任意多边形 35941"/>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57" name="任意多边形 35942"/>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nvGrpSpPr>
                  <p:cNvPr id="52247" name="组合 35943"/>
                  <p:cNvGrpSpPr/>
                  <p:nvPr/>
                </p:nvGrpSpPr>
                <p:grpSpPr>
                  <a:xfrm>
                    <a:off x="1115" y="1968"/>
                    <a:ext cx="192" cy="288"/>
                    <a:chOff x="720" y="3072"/>
                    <a:chExt cx="384" cy="288"/>
                  </a:xfrm>
                </p:grpSpPr>
                <p:sp>
                  <p:nvSpPr>
                    <p:cNvPr id="52254" name="任意多边形 35944"/>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55" name="任意多边形 35945"/>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nvGrpSpPr>
                  <p:cNvPr id="52248" name="组合 35946"/>
                  <p:cNvGrpSpPr/>
                  <p:nvPr/>
                </p:nvGrpSpPr>
                <p:grpSpPr>
                  <a:xfrm>
                    <a:off x="1307" y="1968"/>
                    <a:ext cx="192" cy="288"/>
                    <a:chOff x="720" y="3072"/>
                    <a:chExt cx="384" cy="288"/>
                  </a:xfrm>
                </p:grpSpPr>
                <p:sp>
                  <p:nvSpPr>
                    <p:cNvPr id="52252" name="任意多边形 35947"/>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53" name="任意多边形 35948"/>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nvGrpSpPr>
                  <p:cNvPr id="52249" name="组合 35949"/>
                  <p:cNvGrpSpPr/>
                  <p:nvPr/>
                </p:nvGrpSpPr>
                <p:grpSpPr>
                  <a:xfrm>
                    <a:off x="1499" y="1968"/>
                    <a:ext cx="192" cy="288"/>
                    <a:chOff x="720" y="3072"/>
                    <a:chExt cx="384" cy="288"/>
                  </a:xfrm>
                </p:grpSpPr>
                <p:sp>
                  <p:nvSpPr>
                    <p:cNvPr id="52250" name="任意多边形 35950"/>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2251" name="任意多边形 35951"/>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grpSp>
          </p:grpSp>
          <p:sp>
            <p:nvSpPr>
              <p:cNvPr id="52237" name="直接连接符 36000"/>
              <p:cNvSpPr/>
              <p:nvPr/>
            </p:nvSpPr>
            <p:spPr>
              <a:xfrm>
                <a:off x="731" y="2116"/>
                <a:ext cx="1392" cy="0"/>
              </a:xfrm>
              <a:prstGeom prst="line">
                <a:avLst/>
              </a:prstGeom>
              <a:ln w="19050" cap="flat" cmpd="sng">
                <a:solidFill>
                  <a:schemeClr val="tx1"/>
                </a:solidFill>
                <a:prstDash val="solid"/>
                <a:headEnd type="triangle" w="med" len="med"/>
                <a:tailEnd type="triangle" w="med" len="med"/>
              </a:ln>
            </p:spPr>
          </p:sp>
          <p:sp>
            <p:nvSpPr>
              <p:cNvPr id="52238" name="文本框 36001"/>
              <p:cNvSpPr txBox="1"/>
              <p:nvPr/>
            </p:nvSpPr>
            <p:spPr>
              <a:xfrm>
                <a:off x="1303" y="2064"/>
                <a:ext cx="222" cy="290"/>
              </a:xfrm>
              <a:prstGeom prst="rect">
                <a:avLst/>
              </a:prstGeom>
              <a:noFill/>
              <a:ln w="19050">
                <a:noFill/>
              </a:ln>
            </p:spPr>
            <p:txBody>
              <a:bodyPr wrap="none">
                <a:spAutoFit/>
              </a:bodyPr>
              <a:lstStyle/>
              <a:p>
                <a:pPr eaLnBrk="1" hangingPunct="1"/>
                <a:r>
                  <a:rPr lang="en-US" altLang="zh-CN" sz="2400" i="1" dirty="0">
                    <a:solidFill>
                      <a:srgbClr val="FF00FF"/>
                    </a:solidFill>
                    <a:latin typeface="Times New Roman" panose="02020603050405020304" pitchFamily="18" charset="0"/>
                  </a:rPr>
                  <a:t>T</a:t>
                </a:r>
              </a:p>
            </p:txBody>
          </p:sp>
          <p:sp>
            <p:nvSpPr>
              <p:cNvPr id="52239" name="文本框 36002"/>
              <p:cNvSpPr txBox="1"/>
              <p:nvPr/>
            </p:nvSpPr>
            <p:spPr>
              <a:xfrm>
                <a:off x="1312" y="2736"/>
                <a:ext cx="605" cy="290"/>
              </a:xfrm>
              <a:prstGeom prst="rect">
                <a:avLst/>
              </a:prstGeom>
              <a:noFill/>
              <a:ln w="19050">
                <a:noFill/>
              </a:ln>
            </p:spPr>
            <p:txBody>
              <a:bodyPr wrap="none">
                <a:spAutoFit/>
              </a:bodyPr>
              <a:lstStyle/>
              <a:p>
                <a:pPr eaLnBrk="1" hangingPunct="1"/>
                <a:r>
                  <a:rPr lang="en-US" altLang="zh-CN" sz="2400" i="1" dirty="0">
                    <a:solidFill>
                      <a:srgbClr val="FF00FF"/>
                    </a:solidFill>
                    <a:latin typeface="Times New Roman" panose="02020603050405020304" pitchFamily="18" charset="0"/>
                  </a:rPr>
                  <a:t>D</a:t>
                </a:r>
                <a:r>
                  <a:rPr lang="en-US" altLang="zh-CN" sz="2400" i="1" dirty="0">
                    <a:latin typeface="Times New Roman" panose="02020603050405020304" pitchFamily="18" charset="0"/>
                  </a:rPr>
                  <a:t>∝</a:t>
                </a:r>
                <a:r>
                  <a:rPr lang="en-US" altLang="zh-CN" sz="2400" i="1" dirty="0">
                    <a:solidFill>
                      <a:srgbClr val="FF00FF"/>
                    </a:solidFill>
                    <a:latin typeface="Times New Roman" panose="02020603050405020304" pitchFamily="18" charset="0"/>
                  </a:rPr>
                  <a:t>V</a:t>
                </a:r>
                <a:r>
                  <a:rPr lang="en-US" altLang="zh-CN" sz="2400" baseline="-25000" dirty="0">
                    <a:solidFill>
                      <a:srgbClr val="FF00FF"/>
                    </a:solidFill>
                    <a:latin typeface="Times New Roman" panose="02020603050405020304" pitchFamily="18" charset="0"/>
                  </a:rPr>
                  <a:t>I</a:t>
                </a:r>
              </a:p>
            </p:txBody>
          </p:sp>
          <p:sp>
            <p:nvSpPr>
              <p:cNvPr id="52240" name="文本框 36003"/>
              <p:cNvSpPr txBox="1"/>
              <p:nvPr/>
            </p:nvSpPr>
            <p:spPr>
              <a:xfrm>
                <a:off x="1123" y="1728"/>
                <a:ext cx="573"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rPr>
                  <a:t>T∝</a:t>
                </a:r>
                <a:r>
                  <a:rPr lang="en-US" altLang="zh-CN" sz="2400" i="1" dirty="0">
                    <a:solidFill>
                      <a:srgbClr val="FF00FF"/>
                    </a:solidFill>
                    <a:latin typeface="Times New Roman" panose="02020603050405020304" pitchFamily="18" charset="0"/>
                  </a:rPr>
                  <a:t>V</a:t>
                </a:r>
                <a:r>
                  <a:rPr lang="en-US" altLang="zh-CN" sz="2400" baseline="-25000" dirty="0">
                    <a:solidFill>
                      <a:srgbClr val="FF00FF"/>
                    </a:solidFill>
                    <a:latin typeface="Times New Roman" panose="02020603050405020304" pitchFamily="18" charset="0"/>
                  </a:rPr>
                  <a:t>I</a:t>
                </a:r>
              </a:p>
            </p:txBody>
          </p:sp>
        </p:grpSp>
        <p:sp>
          <p:nvSpPr>
            <p:cNvPr id="52232" name="直接连接符 36005"/>
            <p:cNvSpPr/>
            <p:nvPr/>
          </p:nvSpPr>
          <p:spPr>
            <a:xfrm>
              <a:off x="1813" y="2112"/>
              <a:ext cx="0" cy="864"/>
            </a:xfrm>
            <a:prstGeom prst="line">
              <a:avLst/>
            </a:prstGeom>
            <a:ln w="19050" cap="flat" cmpd="sng">
              <a:solidFill>
                <a:schemeClr val="hlink"/>
              </a:solidFill>
              <a:prstDash val="lgDash"/>
              <a:headEnd type="none" w="med" len="med"/>
              <a:tailEnd type="none" w="med" len="med"/>
            </a:ln>
          </p:spPr>
        </p:sp>
        <p:sp>
          <p:nvSpPr>
            <p:cNvPr id="52233" name="直接连接符 36006"/>
            <p:cNvSpPr/>
            <p:nvPr/>
          </p:nvSpPr>
          <p:spPr>
            <a:xfrm>
              <a:off x="3253" y="2112"/>
              <a:ext cx="0" cy="864"/>
            </a:xfrm>
            <a:prstGeom prst="line">
              <a:avLst/>
            </a:prstGeom>
            <a:ln w="19050" cap="flat" cmpd="sng">
              <a:solidFill>
                <a:schemeClr val="hlink"/>
              </a:solidFill>
              <a:prstDash val="lgDash"/>
              <a:headEnd type="none" w="med" len="med"/>
              <a:tailEnd type="none" w="med" len="med"/>
            </a:ln>
          </p:spPr>
        </p:sp>
        <p:sp>
          <p:nvSpPr>
            <p:cNvPr id="52234" name="矩形 36007"/>
            <p:cNvSpPr/>
            <p:nvPr/>
          </p:nvSpPr>
          <p:spPr>
            <a:xfrm>
              <a:off x="3513" y="2304"/>
              <a:ext cx="434"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rPr>
                <a:t>f=f</a:t>
              </a:r>
              <a:r>
                <a:rPr lang="en-US" altLang="zh-CN" sz="2400" baseline="-25000" dirty="0">
                  <a:latin typeface="Times New Roman" panose="02020603050405020304" pitchFamily="18" charset="0"/>
                </a:rPr>
                <a:t>C</a:t>
              </a:r>
            </a:p>
          </p:txBody>
        </p:sp>
      </p:grpSp>
      <p:sp>
        <p:nvSpPr>
          <p:cNvPr id="36010" name="文本框 36009"/>
          <p:cNvSpPr txBox="1"/>
          <p:nvPr/>
        </p:nvSpPr>
        <p:spPr>
          <a:xfrm>
            <a:off x="3216275" y="5157788"/>
            <a:ext cx="2985135" cy="645160"/>
          </a:xfrm>
          <a:prstGeom prst="rect">
            <a:avLst/>
          </a:prstGeom>
          <a:noFill/>
          <a:ln w="19050">
            <a:noFill/>
          </a:ln>
        </p:spPr>
        <p:txBody>
          <a:bodyPr wrap="none">
            <a:spAutoFit/>
          </a:bodyPr>
          <a:lstStyle/>
          <a:p>
            <a:pPr eaLnBrk="1" hangingPunct="1"/>
            <a:r>
              <a:rPr lang="zh-CN" altLang="en-US" dirty="0">
                <a:latin typeface="Times New Roman" panose="02020603050405020304" pitchFamily="18" charset="0"/>
              </a:rPr>
              <a:t>例如</a:t>
            </a:r>
            <a:r>
              <a:rPr lang="en-US" altLang="zh-CN" dirty="0">
                <a:latin typeface="Times New Roman" panose="02020603050405020304" pitchFamily="18" charset="0"/>
              </a:rPr>
              <a:t>1V    1ms</a:t>
            </a:r>
            <a:r>
              <a:rPr lang="zh-CN" altLang="en-US" dirty="0">
                <a:latin typeface="Times New Roman" panose="02020603050405020304" pitchFamily="18" charset="0"/>
              </a:rPr>
              <a:t>，</a:t>
            </a:r>
            <a:r>
              <a:rPr lang="en-US" altLang="zh-CN" dirty="0">
                <a:latin typeface="Times New Roman" panose="02020603050405020304" pitchFamily="18" charset="0"/>
              </a:rPr>
              <a:t>5KHz</a:t>
            </a:r>
            <a:r>
              <a:rPr lang="zh-CN" altLang="en-US" dirty="0">
                <a:latin typeface="Times New Roman" panose="02020603050405020304" pitchFamily="18" charset="0"/>
              </a:rPr>
              <a:t>，</a:t>
            </a:r>
            <a:r>
              <a:rPr lang="en-US" altLang="zh-CN" dirty="0">
                <a:latin typeface="Times New Roman" panose="02020603050405020304" pitchFamily="18" charset="0"/>
              </a:rPr>
              <a:t>0101</a:t>
            </a:r>
          </a:p>
          <a:p>
            <a:pPr eaLnBrk="1" hangingPunct="1"/>
            <a:r>
              <a:rPr lang="en-US" altLang="zh-CN" dirty="0">
                <a:latin typeface="Times New Roman" panose="02020603050405020304" pitchFamily="18" charset="0"/>
              </a:rPr>
              <a:t>        2V    2ms</a:t>
            </a:r>
            <a:r>
              <a:rPr lang="zh-CN" altLang="en-US" dirty="0">
                <a:latin typeface="Times New Roman" panose="02020603050405020304" pitchFamily="18" charset="0"/>
              </a:rPr>
              <a:t>，</a:t>
            </a:r>
            <a:r>
              <a:rPr lang="en-US" altLang="zh-CN" dirty="0">
                <a:latin typeface="Times New Roman" panose="02020603050405020304" pitchFamily="18" charset="0"/>
              </a:rPr>
              <a:t>5KHz</a:t>
            </a:r>
            <a:r>
              <a:rPr lang="zh-CN" altLang="en-US" dirty="0">
                <a:latin typeface="Times New Roman" panose="02020603050405020304" pitchFamily="18" charset="0"/>
              </a:rPr>
              <a:t>，</a:t>
            </a:r>
            <a:r>
              <a:rPr lang="en-US" altLang="zh-CN" dirty="0">
                <a:latin typeface="Times New Roman" panose="02020603050405020304" pitchFamily="18" charset="0"/>
              </a:rPr>
              <a:t>1010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left)">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wipe(left)">
                                      <p:cBhvr>
                                        <p:cTn id="12" dur="500"/>
                                        <p:tgtEl>
                                          <p:spTgt spid="3584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009"/>
                                        </p:tgtEl>
                                        <p:attrNameLst>
                                          <p:attrName>style.visibility</p:attrName>
                                        </p:attrNameLst>
                                      </p:cBhvr>
                                      <p:to>
                                        <p:strVal val="visible"/>
                                      </p:to>
                                    </p:set>
                                    <p:animEffect transition="in" filter="wipe(left)">
                                      <p:cBhvr>
                                        <p:cTn id="17" dur="500"/>
                                        <p:tgtEl>
                                          <p:spTgt spid="3600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010"/>
                                        </p:tgtEl>
                                        <p:attrNameLst>
                                          <p:attrName>style.visibility</p:attrName>
                                        </p:attrNameLst>
                                      </p:cBhvr>
                                      <p:to>
                                        <p:strVal val="visible"/>
                                      </p:to>
                                    </p:set>
                                    <p:animEffect transition="in" filter="wipe(left)">
                                      <p:cBhvr>
                                        <p:cTn id="22" dur="500"/>
                                        <p:tgtEl>
                                          <p:spTgt spid="36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P spid="35844" grpId="0" bldLvl="0" animBg="1"/>
      <p:bldP spid="3601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266" name="组合 47265"/>
          <p:cNvGrpSpPr/>
          <p:nvPr/>
        </p:nvGrpSpPr>
        <p:grpSpPr>
          <a:xfrm>
            <a:off x="7239000" y="0"/>
            <a:ext cx="3429000" cy="2133600"/>
            <a:chOff x="3600" y="0"/>
            <a:chExt cx="2160" cy="1344"/>
          </a:xfrm>
        </p:grpSpPr>
        <p:sp>
          <p:nvSpPr>
            <p:cNvPr id="53341" name="矩形 47258"/>
            <p:cNvSpPr/>
            <p:nvPr/>
          </p:nvSpPr>
          <p:spPr>
            <a:xfrm>
              <a:off x="3600" y="0"/>
              <a:ext cx="2160" cy="1344"/>
            </a:xfrm>
            <a:prstGeom prst="rect">
              <a:avLst/>
            </a:prstGeom>
            <a:solidFill>
              <a:srgbClr val="CCFFCC"/>
            </a:solidFill>
            <a:ln w="19050">
              <a:noFill/>
            </a:ln>
          </p:spPr>
          <p:txBody>
            <a:bodyPr/>
            <a:lstStyle/>
            <a:p>
              <a:pPr eaLnBrk="1" hangingPunct="1"/>
              <a:endParaRPr lang="zh-CN" altLang="en-US" dirty="0">
                <a:latin typeface="Times New Roman" panose="02020603050405020304" pitchFamily="18" charset="0"/>
              </a:endParaRPr>
            </a:p>
          </p:txBody>
        </p:sp>
        <p:sp>
          <p:nvSpPr>
            <p:cNvPr id="53342" name="直接连接符 47179"/>
            <p:cNvSpPr/>
            <p:nvPr/>
          </p:nvSpPr>
          <p:spPr>
            <a:xfrm>
              <a:off x="3980" y="528"/>
              <a:ext cx="1632" cy="0"/>
            </a:xfrm>
            <a:prstGeom prst="line">
              <a:avLst/>
            </a:prstGeom>
            <a:ln w="19050" cap="flat" cmpd="sng">
              <a:solidFill>
                <a:schemeClr val="hlink"/>
              </a:solidFill>
              <a:prstDash val="solid"/>
              <a:headEnd type="none" w="med" len="med"/>
              <a:tailEnd type="triangle" w="med" len="med"/>
            </a:ln>
          </p:spPr>
        </p:sp>
        <p:sp>
          <p:nvSpPr>
            <p:cNvPr id="53343" name="直接连接符 47180"/>
            <p:cNvSpPr/>
            <p:nvPr/>
          </p:nvSpPr>
          <p:spPr>
            <a:xfrm flipV="1">
              <a:off x="3980" y="48"/>
              <a:ext cx="4" cy="1152"/>
            </a:xfrm>
            <a:prstGeom prst="line">
              <a:avLst/>
            </a:prstGeom>
            <a:ln w="19050" cap="flat" cmpd="sng">
              <a:solidFill>
                <a:schemeClr val="hlink"/>
              </a:solidFill>
              <a:prstDash val="solid"/>
              <a:headEnd type="none" w="med" len="med"/>
              <a:tailEnd type="triangle" w="med" len="med"/>
            </a:ln>
          </p:spPr>
        </p:sp>
        <p:sp>
          <p:nvSpPr>
            <p:cNvPr id="53344" name="任意多边形 47181"/>
            <p:cNvSpPr/>
            <p:nvPr/>
          </p:nvSpPr>
          <p:spPr>
            <a:xfrm>
              <a:off x="3980" y="528"/>
              <a:ext cx="1200" cy="624"/>
            </a:xfrm>
            <a:custGeom>
              <a:avLst/>
              <a:gdLst/>
              <a:ahLst/>
              <a:cxnLst>
                <a:cxn ang="0">
                  <a:pos x="0" y="0"/>
                </a:cxn>
                <a:cxn ang="0">
                  <a:pos x="720" y="624"/>
                </a:cxn>
                <a:cxn ang="0">
                  <a:pos x="1200" y="0"/>
                </a:cxn>
              </a:cxnLst>
              <a:rect l="0" t="0" r="0" b="0"/>
              <a:pathLst>
                <a:path w="1200" h="528">
                  <a:moveTo>
                    <a:pt x="0" y="0"/>
                  </a:moveTo>
                  <a:lnTo>
                    <a:pt x="720" y="528"/>
                  </a:lnTo>
                  <a:lnTo>
                    <a:pt x="1200" y="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3345" name="直接连接符 47212"/>
            <p:cNvSpPr/>
            <p:nvPr/>
          </p:nvSpPr>
          <p:spPr>
            <a:xfrm flipH="1">
              <a:off x="4704" y="96"/>
              <a:ext cx="11" cy="1056"/>
            </a:xfrm>
            <a:prstGeom prst="line">
              <a:avLst/>
            </a:prstGeom>
            <a:ln w="19050" cap="flat" cmpd="sng">
              <a:solidFill>
                <a:schemeClr val="hlink"/>
              </a:solidFill>
              <a:prstDash val="lgDash"/>
              <a:headEnd type="none" w="med" len="med"/>
              <a:tailEnd type="none" w="med" len="med"/>
            </a:ln>
          </p:spPr>
        </p:sp>
        <p:sp>
          <p:nvSpPr>
            <p:cNvPr id="53346" name="直接连接符 47213"/>
            <p:cNvSpPr/>
            <p:nvPr/>
          </p:nvSpPr>
          <p:spPr>
            <a:xfrm flipH="1">
              <a:off x="5184" y="96"/>
              <a:ext cx="11" cy="432"/>
            </a:xfrm>
            <a:prstGeom prst="line">
              <a:avLst/>
            </a:prstGeom>
            <a:ln w="19050" cap="flat" cmpd="sng">
              <a:solidFill>
                <a:schemeClr val="hlink"/>
              </a:solidFill>
              <a:prstDash val="lgDash"/>
              <a:headEnd type="none" w="med" len="med"/>
              <a:tailEnd type="none" w="med" len="med"/>
            </a:ln>
          </p:spPr>
        </p:sp>
        <p:sp>
          <p:nvSpPr>
            <p:cNvPr id="53347" name="文本框 47234"/>
            <p:cNvSpPr txBox="1"/>
            <p:nvPr/>
          </p:nvSpPr>
          <p:spPr>
            <a:xfrm>
              <a:off x="4818" y="71"/>
              <a:ext cx="256"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T</a:t>
              </a:r>
              <a:r>
                <a:rPr lang="en-US" altLang="zh-CN" sz="2000" baseline="-25000" dirty="0">
                  <a:solidFill>
                    <a:schemeClr val="hlink"/>
                  </a:solidFill>
                  <a:latin typeface="Times New Roman" panose="02020603050405020304" pitchFamily="18" charset="0"/>
                  <a:ea typeface="宋体" panose="02010600030101010101" pitchFamily="2" charset="-122"/>
                </a:rPr>
                <a:t>2</a:t>
              </a:r>
            </a:p>
          </p:txBody>
        </p:sp>
        <p:sp>
          <p:nvSpPr>
            <p:cNvPr id="53348" name="文本框 47235"/>
            <p:cNvSpPr txBox="1"/>
            <p:nvPr/>
          </p:nvSpPr>
          <p:spPr>
            <a:xfrm>
              <a:off x="4220" y="71"/>
              <a:ext cx="256"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r>
                <a:rPr lang="en-US" altLang="zh-CN" sz="2000" baseline="-25000" dirty="0">
                  <a:latin typeface="Times New Roman" panose="02020603050405020304" pitchFamily="18" charset="0"/>
                  <a:ea typeface="宋体" panose="02010600030101010101" pitchFamily="2" charset="-122"/>
                </a:rPr>
                <a:t>1</a:t>
              </a:r>
            </a:p>
          </p:txBody>
        </p:sp>
        <p:sp>
          <p:nvSpPr>
            <p:cNvPr id="53349" name="直接连接符 47237"/>
            <p:cNvSpPr/>
            <p:nvPr/>
          </p:nvSpPr>
          <p:spPr>
            <a:xfrm flipH="1">
              <a:off x="3980" y="1141"/>
              <a:ext cx="720" cy="0"/>
            </a:xfrm>
            <a:prstGeom prst="line">
              <a:avLst/>
            </a:prstGeom>
            <a:ln w="19050" cap="flat" cmpd="sng">
              <a:solidFill>
                <a:srgbClr val="009900"/>
              </a:solidFill>
              <a:prstDash val="lgDash"/>
              <a:headEnd type="none" w="med" len="med"/>
              <a:tailEnd type="none" w="med" len="med"/>
            </a:ln>
          </p:spPr>
        </p:sp>
        <p:sp>
          <p:nvSpPr>
            <p:cNvPr id="53350" name="文本框 47239"/>
            <p:cNvSpPr txBox="1"/>
            <p:nvPr/>
          </p:nvSpPr>
          <p:spPr>
            <a:xfrm>
              <a:off x="3622" y="975"/>
              <a:ext cx="34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V</a:t>
              </a:r>
              <a:r>
                <a:rPr lang="en-US" altLang="zh-CN" sz="2000" baseline="-25000" dirty="0">
                  <a:solidFill>
                    <a:schemeClr val="hlink"/>
                  </a:solidFill>
                  <a:latin typeface="Times New Roman" panose="02020603050405020304" pitchFamily="18" charset="0"/>
                  <a:ea typeface="宋体" panose="02010600030101010101" pitchFamily="2" charset="-122"/>
                </a:rPr>
                <a:t>O1</a:t>
              </a:r>
            </a:p>
          </p:txBody>
        </p:sp>
        <p:sp>
          <p:nvSpPr>
            <p:cNvPr id="53351" name="文本框 47240"/>
            <p:cNvSpPr txBox="1"/>
            <p:nvPr/>
          </p:nvSpPr>
          <p:spPr>
            <a:xfrm>
              <a:off x="3696" y="96"/>
              <a:ext cx="262"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baseline="-25000" dirty="0">
                  <a:latin typeface="Times New Roman" panose="02020603050405020304" pitchFamily="18" charset="0"/>
                  <a:ea typeface="宋体" panose="02010600030101010101" pitchFamily="2" charset="-122"/>
                </a:rPr>
                <a:t>O</a:t>
              </a:r>
            </a:p>
          </p:txBody>
        </p:sp>
        <p:sp>
          <p:nvSpPr>
            <p:cNvPr id="53352" name="文本框 47249"/>
            <p:cNvSpPr txBox="1"/>
            <p:nvPr/>
          </p:nvSpPr>
          <p:spPr>
            <a:xfrm>
              <a:off x="5472" y="518"/>
              <a:ext cx="160"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endParaRPr lang="en-US" altLang="zh-CN" sz="2000" baseline="-25000" dirty="0">
                <a:latin typeface="Times New Roman" panose="02020603050405020304" pitchFamily="18" charset="0"/>
                <a:ea typeface="宋体" panose="02010600030101010101" pitchFamily="2" charset="-122"/>
              </a:endParaRPr>
            </a:p>
          </p:txBody>
        </p:sp>
        <p:sp>
          <p:nvSpPr>
            <p:cNvPr id="53353" name="文本框 47252"/>
            <p:cNvSpPr txBox="1"/>
            <p:nvPr/>
          </p:nvSpPr>
          <p:spPr>
            <a:xfrm>
              <a:off x="5162" y="521"/>
              <a:ext cx="195" cy="184"/>
            </a:xfrm>
            <a:prstGeom prst="rect">
              <a:avLst/>
            </a:prstGeom>
            <a:noFill/>
            <a:ln w="19050">
              <a:noFill/>
            </a:ln>
          </p:spPr>
          <p:txBody>
            <a:bodyPr wrap="none">
              <a:spAutoFit/>
            </a:bodyPr>
            <a:lstStyle/>
            <a:p>
              <a:pPr eaLnBrk="1" hangingPunct="1"/>
              <a:endParaRPr lang="zh-CN" altLang="zh-CN" sz="2000" baseline="-25000" dirty="0">
                <a:latin typeface="Times New Roman" panose="02020603050405020304" pitchFamily="18" charset="0"/>
                <a:ea typeface="宋体" panose="02010600030101010101" pitchFamily="2" charset="-122"/>
              </a:endParaRPr>
            </a:p>
          </p:txBody>
        </p:sp>
        <p:sp>
          <p:nvSpPr>
            <p:cNvPr id="53354" name="直接连接符 47253"/>
            <p:cNvSpPr/>
            <p:nvPr/>
          </p:nvSpPr>
          <p:spPr>
            <a:xfrm>
              <a:off x="4464" y="207"/>
              <a:ext cx="240" cy="0"/>
            </a:xfrm>
            <a:prstGeom prst="line">
              <a:avLst/>
            </a:prstGeom>
            <a:ln w="19050" cap="flat" cmpd="sng">
              <a:solidFill>
                <a:schemeClr val="hlink"/>
              </a:solidFill>
              <a:prstDash val="solid"/>
              <a:headEnd type="none" w="med" len="med"/>
              <a:tailEnd type="triangle" w="med" len="med"/>
            </a:ln>
          </p:spPr>
        </p:sp>
        <p:sp>
          <p:nvSpPr>
            <p:cNvPr id="53355" name="直接连接符 47254"/>
            <p:cNvSpPr/>
            <p:nvPr/>
          </p:nvSpPr>
          <p:spPr>
            <a:xfrm flipH="1">
              <a:off x="3984" y="207"/>
              <a:ext cx="240" cy="0"/>
            </a:xfrm>
            <a:prstGeom prst="line">
              <a:avLst/>
            </a:prstGeom>
            <a:ln w="19050" cap="flat" cmpd="sng">
              <a:solidFill>
                <a:schemeClr val="hlink"/>
              </a:solidFill>
              <a:prstDash val="solid"/>
              <a:headEnd type="none" w="med" len="med"/>
              <a:tailEnd type="triangle" w="med" len="med"/>
            </a:ln>
          </p:spPr>
        </p:sp>
        <p:sp>
          <p:nvSpPr>
            <p:cNvPr id="53356" name="直接连接符 47255"/>
            <p:cNvSpPr/>
            <p:nvPr/>
          </p:nvSpPr>
          <p:spPr>
            <a:xfrm>
              <a:off x="5040" y="203"/>
              <a:ext cx="144" cy="0"/>
            </a:xfrm>
            <a:prstGeom prst="line">
              <a:avLst/>
            </a:prstGeom>
            <a:ln w="19050" cap="flat" cmpd="sng">
              <a:solidFill>
                <a:schemeClr val="hlink"/>
              </a:solidFill>
              <a:prstDash val="solid"/>
              <a:headEnd type="none" w="med" len="med"/>
              <a:tailEnd type="triangle" w="med" len="med"/>
            </a:ln>
          </p:spPr>
        </p:sp>
        <p:sp>
          <p:nvSpPr>
            <p:cNvPr id="53357" name="直接连接符 47256"/>
            <p:cNvSpPr/>
            <p:nvPr/>
          </p:nvSpPr>
          <p:spPr>
            <a:xfrm flipH="1">
              <a:off x="4704" y="203"/>
              <a:ext cx="144" cy="0"/>
            </a:xfrm>
            <a:prstGeom prst="line">
              <a:avLst/>
            </a:prstGeom>
            <a:ln w="19050" cap="flat" cmpd="sng">
              <a:solidFill>
                <a:schemeClr val="hlink"/>
              </a:solidFill>
              <a:prstDash val="solid"/>
              <a:headEnd type="none" w="med" len="med"/>
              <a:tailEnd type="triangle" w="med" len="med"/>
            </a:ln>
          </p:spPr>
        </p:sp>
      </p:grpSp>
      <p:sp>
        <p:nvSpPr>
          <p:cNvPr id="47172" name="文本框 47171"/>
          <p:cNvSpPr txBox="1"/>
          <p:nvPr/>
        </p:nvSpPr>
        <p:spPr>
          <a:xfrm>
            <a:off x="1524000" y="3581400"/>
            <a:ext cx="8305800" cy="784860"/>
          </a:xfrm>
          <a:prstGeom prst="rect">
            <a:avLst/>
          </a:prstGeom>
          <a:solidFill>
            <a:srgbClr val="FFFFCC"/>
          </a:solidFill>
          <a:ln w="19050">
            <a:noFill/>
          </a:ln>
        </p:spPr>
        <p:txBody>
          <a:bodyPr>
            <a:spAutoFit/>
          </a:bodyPr>
          <a:lstStyle/>
          <a:p>
            <a:pPr eaLnBrk="1" hangingPunct="1">
              <a:spcBef>
                <a:spcPct val="5000"/>
              </a:spcBef>
            </a:pPr>
            <a:r>
              <a:rPr lang="zh-CN" altLang="en-US" sz="2200" dirty="0">
                <a:solidFill>
                  <a:srgbClr val="FF00FF"/>
                </a:solidFill>
                <a:latin typeface="Times New Roman" panose="02020603050405020304" pitchFamily="18" charset="0"/>
              </a:rPr>
              <a:t>转换前，</a:t>
            </a:r>
            <a:r>
              <a:rPr lang="en-US" altLang="zh-CN" sz="2200" i="1" dirty="0">
                <a:solidFill>
                  <a:srgbClr val="FF00FF"/>
                </a:solidFill>
                <a:latin typeface="Times New Roman" panose="02020603050405020304" pitchFamily="18" charset="0"/>
              </a:rPr>
              <a:t>v</a:t>
            </a:r>
            <a:r>
              <a:rPr lang="en-US" altLang="zh-CN" sz="2200" baseline="-25000" dirty="0">
                <a:solidFill>
                  <a:srgbClr val="FF00FF"/>
                </a:solidFill>
                <a:latin typeface="Times New Roman" panose="02020603050405020304" pitchFamily="18" charset="0"/>
              </a:rPr>
              <a:t>L</a:t>
            </a:r>
            <a:r>
              <a:rPr lang="en-US" altLang="zh-CN" sz="2200" dirty="0">
                <a:solidFill>
                  <a:srgbClr val="FF00FF"/>
                </a:solidFill>
                <a:latin typeface="Times New Roman" panose="02020603050405020304" pitchFamily="18" charset="0"/>
              </a:rPr>
              <a:t>=0</a:t>
            </a:r>
            <a:r>
              <a:rPr lang="zh-CN" altLang="en-US" sz="2200" dirty="0">
                <a:solidFill>
                  <a:srgbClr val="FF00FF"/>
                </a:solidFill>
                <a:latin typeface="Times New Roman" panose="02020603050405020304" pitchFamily="18" charset="0"/>
              </a:rPr>
              <a:t>，</a:t>
            </a:r>
            <a:r>
              <a:rPr lang="zh-CN" altLang="en-US" sz="2200" dirty="0">
                <a:latin typeface="Times New Roman" panose="02020603050405020304" pitchFamily="18" charset="0"/>
              </a:rPr>
              <a:t>计数器清零，</a:t>
            </a:r>
            <a:r>
              <a:rPr lang="en-US" altLang="zh-CN" sz="2200" i="1" dirty="0">
                <a:latin typeface="Times New Roman" panose="02020603050405020304" pitchFamily="18" charset="0"/>
              </a:rPr>
              <a:t>S</a:t>
            </a:r>
            <a:r>
              <a:rPr lang="en-US" altLang="zh-CN" sz="2200" baseline="-25000" dirty="0">
                <a:latin typeface="Times New Roman" panose="02020603050405020304" pitchFamily="18" charset="0"/>
              </a:rPr>
              <a:t>0</a:t>
            </a:r>
            <a:r>
              <a:rPr lang="zh-CN" altLang="en-US" sz="2200" dirty="0">
                <a:latin typeface="Times New Roman" panose="02020603050405020304" pitchFamily="18" charset="0"/>
              </a:rPr>
              <a:t>闭合，</a:t>
            </a:r>
            <a:r>
              <a:rPr lang="en-US" altLang="zh-CN" sz="2200" i="1" dirty="0">
                <a:latin typeface="Times New Roman" panose="02020603050405020304" pitchFamily="18" charset="0"/>
              </a:rPr>
              <a:t>C</a:t>
            </a:r>
            <a:r>
              <a:rPr lang="zh-CN" altLang="en-US" sz="2200" dirty="0">
                <a:latin typeface="Times New Roman" panose="02020603050405020304" pitchFamily="18" charset="0"/>
              </a:rPr>
              <a:t>放完电，</a:t>
            </a:r>
            <a:r>
              <a:rPr lang="en-US" altLang="zh-CN" sz="2200" i="1" dirty="0">
                <a:latin typeface="Times New Roman" panose="02020603050405020304" pitchFamily="18" charset="0"/>
              </a:rPr>
              <a:t>v</a:t>
            </a:r>
            <a:r>
              <a:rPr lang="en-US" altLang="zh-CN" sz="2200" baseline="-25000" dirty="0">
                <a:latin typeface="Times New Roman" panose="02020603050405020304" pitchFamily="18" charset="0"/>
              </a:rPr>
              <a:t>o</a:t>
            </a:r>
            <a:r>
              <a:rPr lang="en-US" altLang="zh-CN" sz="2200" dirty="0">
                <a:latin typeface="Times New Roman" panose="02020603050405020304" pitchFamily="18" charset="0"/>
              </a:rPr>
              <a:t>=0</a:t>
            </a:r>
            <a:r>
              <a:rPr lang="zh-CN" altLang="en-US" sz="2200" dirty="0">
                <a:latin typeface="Times New Roman" panose="02020603050405020304" pitchFamily="18" charset="0"/>
              </a:rPr>
              <a:t>。</a:t>
            </a:r>
          </a:p>
          <a:p>
            <a:pPr eaLnBrk="1" hangingPunct="1">
              <a:spcBef>
                <a:spcPct val="5000"/>
              </a:spcBef>
            </a:pPr>
            <a:r>
              <a:rPr lang="zh-CN" altLang="en-US" sz="2200" dirty="0">
                <a:solidFill>
                  <a:srgbClr val="FF00FF"/>
                </a:solidFill>
                <a:latin typeface="Times New Roman" panose="02020603050405020304" pitchFamily="18" charset="0"/>
              </a:rPr>
              <a:t>转换开始，</a:t>
            </a:r>
            <a:r>
              <a:rPr lang="en-US" altLang="zh-CN" sz="2200" i="1" dirty="0">
                <a:solidFill>
                  <a:srgbClr val="FF00FF"/>
                </a:solidFill>
                <a:latin typeface="Times New Roman" panose="02020603050405020304" pitchFamily="18" charset="0"/>
              </a:rPr>
              <a:t>v</a:t>
            </a:r>
            <a:r>
              <a:rPr lang="en-US" altLang="zh-CN" sz="2200" baseline="-25000" dirty="0">
                <a:solidFill>
                  <a:srgbClr val="FF00FF"/>
                </a:solidFill>
                <a:latin typeface="Times New Roman" panose="02020603050405020304" pitchFamily="18" charset="0"/>
              </a:rPr>
              <a:t>L</a:t>
            </a:r>
            <a:r>
              <a:rPr lang="en-US" altLang="zh-CN" sz="2200" dirty="0">
                <a:solidFill>
                  <a:srgbClr val="FF00FF"/>
                </a:solidFill>
                <a:latin typeface="Times New Roman" panose="02020603050405020304" pitchFamily="18" charset="0"/>
              </a:rPr>
              <a:t>=1</a:t>
            </a:r>
            <a:r>
              <a:rPr lang="zh-CN" altLang="en-US" sz="2200" dirty="0">
                <a:solidFill>
                  <a:srgbClr val="FF00FF"/>
                </a:solidFill>
                <a:latin typeface="Times New Roman" panose="02020603050405020304" pitchFamily="18" charset="0"/>
              </a:rPr>
              <a:t>，</a:t>
            </a:r>
            <a:r>
              <a:rPr lang="en-US" altLang="zh-CN" sz="2200" dirty="0">
                <a:solidFill>
                  <a:srgbClr val="0000CC"/>
                </a:solidFill>
                <a:latin typeface="Times New Roman" panose="02020603050405020304" pitchFamily="18" charset="0"/>
              </a:rPr>
              <a:t>S</a:t>
            </a:r>
            <a:r>
              <a:rPr lang="en-US" altLang="zh-CN" sz="2200" baseline="-25000" dirty="0">
                <a:solidFill>
                  <a:srgbClr val="0000CC"/>
                </a:solidFill>
                <a:latin typeface="Times New Roman" panose="02020603050405020304" pitchFamily="18" charset="0"/>
              </a:rPr>
              <a:t>0</a:t>
            </a:r>
            <a:r>
              <a:rPr lang="zh-CN" altLang="en-US" sz="2200" dirty="0">
                <a:solidFill>
                  <a:srgbClr val="0000CC"/>
                </a:solidFill>
                <a:latin typeface="Times New Roman" panose="02020603050405020304" pitchFamily="18" charset="0"/>
              </a:rPr>
              <a:t>打开</a:t>
            </a:r>
          </a:p>
        </p:txBody>
      </p:sp>
      <p:sp>
        <p:nvSpPr>
          <p:cNvPr id="47173" name="文本框 47172"/>
          <p:cNvSpPr txBox="1"/>
          <p:nvPr/>
        </p:nvSpPr>
        <p:spPr>
          <a:xfrm>
            <a:off x="1524000" y="4395788"/>
            <a:ext cx="4643438" cy="768350"/>
          </a:xfrm>
          <a:prstGeom prst="rect">
            <a:avLst/>
          </a:prstGeom>
          <a:solidFill>
            <a:schemeClr val="accent1"/>
          </a:solidFill>
          <a:ln w="19050">
            <a:noFill/>
          </a:ln>
        </p:spPr>
        <p:txBody>
          <a:bodyPr>
            <a:spAutoFit/>
          </a:bodyPr>
          <a:lstStyle/>
          <a:p>
            <a:pPr marR="0" defTabSz="914400" eaLnBrk="1" hangingPunct="1">
              <a:spcBef>
                <a:spcPct val="30000"/>
              </a:spcBef>
              <a:buClrTx/>
              <a:buSzTx/>
              <a:buFontTx/>
              <a:buNone/>
              <a:defRPr/>
            </a:pPr>
            <a:r>
              <a:rPr kumimoji="0" lang="zh-CN" altLang="en-US" sz="2200" kern="1200" cap="none" spc="0" normalizeH="0" baseline="0" noProof="1">
                <a:solidFill>
                  <a:srgbClr val="FF00FF"/>
                </a:solidFill>
                <a:effectLst>
                  <a:outerShdw blurRad="38100" dist="38100" dir="2700000">
                    <a:srgbClr val="000000"/>
                  </a:outerShdw>
                </a:effectLst>
                <a:latin typeface="Times New Roman" panose="02020603050405020304" pitchFamily="18" charset="0"/>
                <a:ea typeface="黑体" panose="02010609060101010101" pitchFamily="49" charset="-122"/>
                <a:cs typeface="+mn-cs"/>
              </a:rPr>
              <a:t>第一步，</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S</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1</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接</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v</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I</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，积分器对</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v</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I</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积分， </a:t>
            </a:r>
            <a:r>
              <a:rPr kumimoji="0" lang="zh-CN" altLang="zh-CN" sz="2200" i="1" kern="1200" cap="none" spc="0" normalizeH="0" baseline="0" noProof="1">
                <a:latin typeface="Times New Roman" panose="02020603050405020304" pitchFamily="18" charset="0"/>
                <a:ea typeface="黑体" panose="02010609060101010101" pitchFamily="49" charset="-122"/>
                <a:cs typeface="+mn-cs"/>
              </a:rPr>
              <a:t>v</a:t>
            </a:r>
            <a:r>
              <a:rPr kumimoji="0" lang="zh-CN" altLang="zh-CN" sz="2200" kern="1200" cap="none" spc="0" normalizeH="0" baseline="-25000" noProof="1">
                <a:latin typeface="Times New Roman" panose="02020603050405020304" pitchFamily="18" charset="0"/>
                <a:ea typeface="黑体" panose="02010609060101010101" pitchFamily="49" charset="-122"/>
                <a:cs typeface="+mn-cs"/>
              </a:rPr>
              <a:t>O</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下降，积分时间为固定值</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T</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1</a:t>
            </a:r>
          </a:p>
        </p:txBody>
      </p:sp>
      <p:grpSp>
        <p:nvGrpSpPr>
          <p:cNvPr id="47267" name="组合 47266"/>
          <p:cNvGrpSpPr/>
          <p:nvPr/>
        </p:nvGrpSpPr>
        <p:grpSpPr>
          <a:xfrm>
            <a:off x="6346825" y="4191000"/>
            <a:ext cx="3997325" cy="838200"/>
            <a:chOff x="2810" y="2688"/>
            <a:chExt cx="2518" cy="528"/>
          </a:xfrm>
        </p:grpSpPr>
        <p:sp>
          <p:nvSpPr>
            <p:cNvPr id="53339" name="矩形 47173"/>
            <p:cNvSpPr/>
            <p:nvPr/>
          </p:nvSpPr>
          <p:spPr>
            <a:xfrm>
              <a:off x="2810" y="2821"/>
              <a:ext cx="1152" cy="271"/>
            </a:xfrm>
            <a:prstGeom prst="rect">
              <a:avLst/>
            </a:prstGeom>
            <a:noFill/>
            <a:ln w="19050">
              <a:noFill/>
            </a:ln>
          </p:spPr>
          <p:txBody>
            <a:bodyPr>
              <a:spAutoFit/>
            </a:bodyPr>
            <a:lstStyle/>
            <a:p>
              <a:pPr eaLnBrk="1" hangingPunct="1">
                <a:spcBef>
                  <a:spcPct val="50000"/>
                </a:spcBef>
              </a:pPr>
              <a:r>
                <a:rPr lang="zh-CN" altLang="en-US" sz="2200" dirty="0">
                  <a:solidFill>
                    <a:srgbClr val="FF00FF"/>
                  </a:solidFill>
                  <a:latin typeface="Times New Roman" panose="02020603050405020304" pitchFamily="18" charset="0"/>
                </a:rPr>
                <a:t>积分结束：</a:t>
              </a:r>
            </a:p>
          </p:txBody>
        </p:sp>
        <p:graphicFrame>
          <p:nvGraphicFramePr>
            <p:cNvPr id="53340" name="对象 47174"/>
            <p:cNvGraphicFramePr/>
            <p:nvPr/>
          </p:nvGraphicFramePr>
          <p:xfrm>
            <a:off x="3888" y="2688"/>
            <a:ext cx="1440" cy="528"/>
          </p:xfrm>
          <a:graphic>
            <a:graphicData uri="http://schemas.openxmlformats.org/presentationml/2006/ole">
              <mc:AlternateContent xmlns:mc="http://schemas.openxmlformats.org/markup-compatibility/2006">
                <mc:Choice xmlns:v="urn:schemas-microsoft-com:vml" Requires="v">
                  <p:oleObj spid="_x0000_s345093" r:id="rId3" imgW="1103630" imgH="405765" progId="Equation.3">
                    <p:embed/>
                  </p:oleObj>
                </mc:Choice>
                <mc:Fallback>
                  <p:oleObj r:id="rId3" imgW="1103630" imgH="405765" progId="Equation.3">
                    <p:embed/>
                    <p:pic>
                      <p:nvPicPr>
                        <p:cNvPr id="0" name="图片 3093"/>
                        <p:cNvPicPr/>
                        <p:nvPr/>
                      </p:nvPicPr>
                      <p:blipFill>
                        <a:blip r:embed="rId4"/>
                        <a:stretch>
                          <a:fillRect/>
                        </a:stretch>
                      </p:blipFill>
                      <p:spPr>
                        <a:xfrm>
                          <a:off x="3888" y="2688"/>
                          <a:ext cx="1440" cy="528"/>
                        </a:xfrm>
                        <a:prstGeom prst="rect">
                          <a:avLst/>
                        </a:prstGeom>
                        <a:noFill/>
                        <a:ln w="38100">
                          <a:noFill/>
                          <a:miter/>
                        </a:ln>
                      </p:spPr>
                    </p:pic>
                  </p:oleObj>
                </mc:Fallback>
              </mc:AlternateContent>
            </a:graphicData>
          </a:graphic>
        </p:graphicFrame>
      </p:grpSp>
      <p:sp>
        <p:nvSpPr>
          <p:cNvPr id="47176" name="文本框 47175"/>
          <p:cNvSpPr txBox="1"/>
          <p:nvPr/>
        </p:nvSpPr>
        <p:spPr>
          <a:xfrm>
            <a:off x="1524000" y="5257800"/>
            <a:ext cx="4114800" cy="1106805"/>
          </a:xfrm>
          <a:prstGeom prst="rect">
            <a:avLst/>
          </a:prstGeom>
          <a:solidFill>
            <a:schemeClr val="accent1"/>
          </a:solidFill>
          <a:ln w="19050">
            <a:noFill/>
          </a:ln>
        </p:spPr>
        <p:txBody>
          <a:bodyPr>
            <a:spAutoFit/>
          </a:bodyPr>
          <a:lstStyle/>
          <a:p>
            <a:pPr marR="0" defTabSz="914400" eaLnBrk="1" hangingPunct="1">
              <a:buClrTx/>
              <a:buSzTx/>
              <a:buFontTx/>
              <a:buNone/>
              <a:defRPr/>
            </a:pPr>
            <a:r>
              <a:rPr kumimoji="0" lang="zh-CN" altLang="en-US" sz="2200" kern="1200" cap="none" spc="0" normalizeH="0" baseline="0" noProof="1">
                <a:solidFill>
                  <a:srgbClr val="FF00FF"/>
                </a:solidFill>
                <a:effectLst>
                  <a:outerShdw blurRad="38100" dist="38100" dir="2700000">
                    <a:srgbClr val="000000"/>
                  </a:outerShdw>
                </a:effectLst>
                <a:latin typeface="Times New Roman" panose="02020603050405020304" pitchFamily="18" charset="0"/>
                <a:ea typeface="黑体" panose="02010609060101010101" pitchFamily="49" charset="-122"/>
                <a:cs typeface="+mn-cs"/>
              </a:rPr>
              <a:t>第二步，</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S</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1</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接</a:t>
            </a:r>
            <a:r>
              <a:rPr kumimoji="0" lang="en-US" altLang="zh-CN" sz="2200" kern="1200" cap="none" spc="0" normalizeH="0" baseline="0" noProof="1">
                <a:latin typeface="Times New Roman" panose="02020603050405020304" pitchFamily="18" charset="0"/>
                <a:ea typeface="黑体" panose="02010609060101010101" pitchFamily="49" charset="-122"/>
                <a:cs typeface="+mn-cs"/>
              </a:rPr>
              <a:t>-</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V</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REF</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，积分器对</a:t>
            </a:r>
          </a:p>
          <a:p>
            <a:pPr marR="0" defTabSz="914400" eaLnBrk="1" hangingPunct="1">
              <a:buClrTx/>
              <a:buSzTx/>
              <a:buFontTx/>
              <a:buNone/>
              <a:defRPr/>
            </a:pPr>
            <a:r>
              <a:rPr kumimoji="0" lang="en-US" altLang="zh-CN" sz="2200" kern="1200" cap="none" spc="0" normalizeH="0" baseline="0" noProof="1">
                <a:latin typeface="Times New Roman" panose="02020603050405020304" pitchFamily="18" charset="0"/>
                <a:ea typeface="黑体" panose="02010609060101010101" pitchFamily="49" charset="-122"/>
                <a:cs typeface="+mn-cs"/>
              </a:rPr>
              <a:t>-</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V</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REF</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积分，</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v</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O</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增加，</a:t>
            </a:r>
            <a:r>
              <a:rPr kumimoji="0" lang="en-US" altLang="zh-CN" sz="2200" i="1" kern="1200" cap="none" spc="0" normalizeH="0" baseline="0" noProof="1">
                <a:latin typeface="Times New Roman" panose="02020603050405020304" pitchFamily="18" charset="0"/>
                <a:ea typeface="黑体" panose="02010609060101010101" pitchFamily="49" charset="-122"/>
                <a:cs typeface="+mn-cs"/>
              </a:rPr>
              <a:t>v</a:t>
            </a:r>
            <a:r>
              <a:rPr kumimoji="0" lang="en-US" altLang="zh-CN" sz="2200" kern="1200" cap="none" spc="0" normalizeH="0" baseline="-25000" noProof="1">
                <a:latin typeface="Times New Roman" panose="02020603050405020304" pitchFamily="18" charset="0"/>
                <a:ea typeface="黑体" panose="02010609060101010101" pitchFamily="49" charset="-122"/>
                <a:cs typeface="+mn-cs"/>
              </a:rPr>
              <a:t>O</a:t>
            </a:r>
            <a:r>
              <a:rPr kumimoji="0" lang="en-US" altLang="zh-CN" sz="2200" kern="1200" cap="none" spc="0" normalizeH="0" baseline="0" noProof="1">
                <a:latin typeface="Times New Roman" panose="02020603050405020304" pitchFamily="18" charset="0"/>
                <a:ea typeface="黑体" panose="02010609060101010101" pitchFamily="49" charset="-122"/>
                <a:cs typeface="+mn-cs"/>
              </a:rPr>
              <a:t>=0</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时，比较器输出</a:t>
            </a:r>
            <a:r>
              <a:rPr kumimoji="0" lang="en-US" altLang="zh-CN" sz="2200" kern="1200" cap="none" spc="0" normalizeH="0" baseline="0" noProof="1">
                <a:latin typeface="Times New Roman" panose="02020603050405020304" pitchFamily="18" charset="0"/>
                <a:ea typeface="黑体" panose="02010609060101010101" pitchFamily="49" charset="-122"/>
                <a:cs typeface="+mn-cs"/>
              </a:rPr>
              <a:t>0</a:t>
            </a:r>
            <a:r>
              <a:rPr kumimoji="0" lang="zh-CN" altLang="en-US" sz="2200" kern="1200" cap="none" spc="0" normalizeH="0" baseline="0" noProof="1">
                <a:latin typeface="Times New Roman" panose="02020603050405020304" pitchFamily="18" charset="0"/>
                <a:ea typeface="黑体" panose="02010609060101010101" pitchFamily="49" charset="-122"/>
                <a:cs typeface="+mn-cs"/>
              </a:rPr>
              <a:t>，积分结束。</a:t>
            </a:r>
          </a:p>
        </p:txBody>
      </p:sp>
      <p:grpSp>
        <p:nvGrpSpPr>
          <p:cNvPr id="47268" name="组合 47267"/>
          <p:cNvGrpSpPr/>
          <p:nvPr/>
        </p:nvGrpSpPr>
        <p:grpSpPr>
          <a:xfrm>
            <a:off x="4267200" y="5105400"/>
            <a:ext cx="6400800" cy="1284288"/>
            <a:chOff x="1728" y="3360"/>
            <a:chExt cx="4032" cy="809"/>
          </a:xfrm>
        </p:grpSpPr>
        <p:sp>
          <p:nvSpPr>
            <p:cNvPr id="53337" name="文本框 47176"/>
            <p:cNvSpPr txBox="1"/>
            <p:nvPr/>
          </p:nvSpPr>
          <p:spPr>
            <a:xfrm>
              <a:off x="1728" y="3888"/>
              <a:ext cx="195" cy="271"/>
            </a:xfrm>
            <a:prstGeom prst="rect">
              <a:avLst/>
            </a:prstGeom>
            <a:noFill/>
            <a:ln w="19050">
              <a:noFill/>
            </a:ln>
          </p:spPr>
          <p:txBody>
            <a:bodyPr wrap="none">
              <a:spAutoFit/>
            </a:bodyPr>
            <a:lstStyle/>
            <a:p>
              <a:pPr eaLnBrk="1" hangingPunct="1"/>
              <a:endParaRPr lang="zh-CN" altLang="zh-CN" sz="2200" dirty="0">
                <a:solidFill>
                  <a:srgbClr val="FF00FF"/>
                </a:solidFill>
                <a:latin typeface="Times New Roman" panose="02020603050405020304" pitchFamily="18" charset="0"/>
              </a:endParaRPr>
            </a:p>
          </p:txBody>
        </p:sp>
        <p:graphicFrame>
          <p:nvGraphicFramePr>
            <p:cNvPr id="53338" name="对象 47177"/>
            <p:cNvGraphicFramePr/>
            <p:nvPr/>
          </p:nvGraphicFramePr>
          <p:xfrm>
            <a:off x="2632" y="3360"/>
            <a:ext cx="3128" cy="809"/>
          </p:xfrm>
          <a:graphic>
            <a:graphicData uri="http://schemas.openxmlformats.org/presentationml/2006/ole">
              <mc:AlternateContent xmlns:mc="http://schemas.openxmlformats.org/markup-compatibility/2006">
                <mc:Choice xmlns:v="urn:schemas-microsoft-com:vml" Requires="v">
                  <p:oleObj spid="_x0000_s345094" r:id="rId5" imgW="2399030" imgH="622300" progId="Equation.3">
                    <p:embed/>
                  </p:oleObj>
                </mc:Choice>
                <mc:Fallback>
                  <p:oleObj r:id="rId5" imgW="2399030" imgH="622300" progId="Equation.3">
                    <p:embed/>
                    <p:pic>
                      <p:nvPicPr>
                        <p:cNvPr id="0" name="图片 3094"/>
                        <p:cNvPicPr/>
                        <p:nvPr/>
                      </p:nvPicPr>
                      <p:blipFill>
                        <a:blip r:embed="rId6"/>
                        <a:stretch>
                          <a:fillRect/>
                        </a:stretch>
                      </p:blipFill>
                      <p:spPr>
                        <a:xfrm>
                          <a:off x="2632" y="3360"/>
                          <a:ext cx="3128" cy="809"/>
                        </a:xfrm>
                        <a:prstGeom prst="rect">
                          <a:avLst/>
                        </a:prstGeom>
                        <a:noFill/>
                        <a:ln w="38100">
                          <a:noFill/>
                          <a:miter/>
                        </a:ln>
                      </p:spPr>
                    </p:pic>
                  </p:oleObj>
                </mc:Fallback>
              </mc:AlternateContent>
            </a:graphicData>
          </a:graphic>
        </p:graphicFrame>
      </p:grpSp>
      <p:grpSp>
        <p:nvGrpSpPr>
          <p:cNvPr id="47275" name="组合 47274"/>
          <p:cNvGrpSpPr/>
          <p:nvPr/>
        </p:nvGrpSpPr>
        <p:grpSpPr>
          <a:xfrm>
            <a:off x="7239000" y="439738"/>
            <a:ext cx="2216150" cy="1076324"/>
            <a:chOff x="3600" y="1344"/>
            <a:chExt cx="1396" cy="678"/>
          </a:xfrm>
        </p:grpSpPr>
        <p:sp>
          <p:nvSpPr>
            <p:cNvPr id="53332" name="直接连接符 47210"/>
            <p:cNvSpPr/>
            <p:nvPr/>
          </p:nvSpPr>
          <p:spPr>
            <a:xfrm flipH="1">
              <a:off x="4992" y="1413"/>
              <a:ext cx="0" cy="214"/>
            </a:xfrm>
            <a:prstGeom prst="line">
              <a:avLst/>
            </a:prstGeom>
            <a:ln w="19050" cap="flat" cmpd="sng">
              <a:solidFill>
                <a:srgbClr val="FF00FF"/>
              </a:solidFill>
              <a:prstDash val="lgDash"/>
              <a:headEnd type="none" w="med" len="med"/>
              <a:tailEnd type="none" w="med" len="med"/>
            </a:ln>
          </p:spPr>
        </p:sp>
        <p:sp>
          <p:nvSpPr>
            <p:cNvPr id="53333" name="直接连接符 47236"/>
            <p:cNvSpPr/>
            <p:nvPr/>
          </p:nvSpPr>
          <p:spPr>
            <a:xfrm flipH="1">
              <a:off x="3980" y="1963"/>
              <a:ext cx="720" cy="0"/>
            </a:xfrm>
            <a:prstGeom prst="line">
              <a:avLst/>
            </a:prstGeom>
            <a:ln w="19050" cap="flat" cmpd="sng">
              <a:solidFill>
                <a:srgbClr val="FF00FF"/>
              </a:solidFill>
              <a:prstDash val="lgDash"/>
              <a:headEnd type="none" w="med" len="med"/>
              <a:tailEnd type="none" w="med" len="med"/>
            </a:ln>
          </p:spPr>
        </p:sp>
        <p:sp>
          <p:nvSpPr>
            <p:cNvPr id="53334" name="任意多边形 47182"/>
            <p:cNvSpPr/>
            <p:nvPr/>
          </p:nvSpPr>
          <p:spPr>
            <a:xfrm>
              <a:off x="3980" y="1579"/>
              <a:ext cx="1008" cy="384"/>
            </a:xfrm>
            <a:custGeom>
              <a:avLst/>
              <a:gdLst/>
              <a:ahLst/>
              <a:cxnLst>
                <a:cxn ang="0">
                  <a:pos x="0" y="0"/>
                </a:cxn>
                <a:cxn ang="0">
                  <a:pos x="720" y="384"/>
                </a:cxn>
                <a:cxn ang="0">
                  <a:pos x="1008" y="0"/>
                </a:cxn>
              </a:cxnLst>
              <a:rect l="0" t="0" r="0" b="0"/>
              <a:pathLst>
                <a:path w="1008" h="384">
                  <a:moveTo>
                    <a:pt x="0" y="0"/>
                  </a:moveTo>
                  <a:lnTo>
                    <a:pt x="720" y="384"/>
                  </a:lnTo>
                  <a:lnTo>
                    <a:pt x="1008" y="0"/>
                  </a:lnTo>
                </a:path>
              </a:pathLst>
            </a:custGeom>
            <a:noFill/>
            <a:ln w="19050" cap="flat" cmpd="sng">
              <a:solidFill>
                <a:srgbClr val="FF00FF">
                  <a:alpha val="100000"/>
                </a:srgbClr>
              </a:solidFill>
              <a:prstDash val="lgDash"/>
              <a:round/>
              <a:headEnd type="none" w="med" len="med"/>
              <a:tailEnd type="none" w="med" len="med"/>
            </a:ln>
          </p:spPr>
          <p:txBody>
            <a:bodyPr/>
            <a:lstStyle/>
            <a:p>
              <a:endParaRPr lang="zh-CN" altLang="en-US"/>
            </a:p>
          </p:txBody>
        </p:sp>
        <p:sp>
          <p:nvSpPr>
            <p:cNvPr id="53335" name="文本框 47233"/>
            <p:cNvSpPr txBox="1"/>
            <p:nvPr/>
          </p:nvSpPr>
          <p:spPr>
            <a:xfrm>
              <a:off x="4706" y="1344"/>
              <a:ext cx="290" cy="251"/>
            </a:xfrm>
            <a:prstGeom prst="rect">
              <a:avLst/>
            </a:prstGeom>
            <a:noFill/>
            <a:ln w="19050">
              <a:noFill/>
            </a:ln>
          </p:spPr>
          <p:txBody>
            <a:bodyPr wrap="none">
              <a:spAutoFit/>
            </a:bodyPr>
            <a:lstStyle/>
            <a:p>
              <a:pPr eaLnBrk="1" hangingPunct="1"/>
              <a:r>
                <a:rPr lang="en-US" altLang="zh-CN" sz="2000" i="1" dirty="0">
                  <a:solidFill>
                    <a:srgbClr val="FF00FF"/>
                  </a:solidFill>
                  <a:latin typeface="Times New Roman" panose="02020603050405020304" pitchFamily="18" charset="0"/>
                  <a:ea typeface="宋体" panose="02010600030101010101" pitchFamily="2" charset="-122"/>
                </a:rPr>
                <a:t>T'</a:t>
              </a:r>
              <a:r>
                <a:rPr lang="en-US" altLang="zh-CN" sz="2000" baseline="-25000" dirty="0">
                  <a:solidFill>
                    <a:srgbClr val="FF00FF"/>
                  </a:solidFill>
                  <a:latin typeface="Times New Roman" panose="02020603050405020304" pitchFamily="18" charset="0"/>
                  <a:ea typeface="宋体" panose="02010600030101010101" pitchFamily="2" charset="-122"/>
                </a:rPr>
                <a:t>2</a:t>
              </a:r>
            </a:p>
          </p:txBody>
        </p:sp>
        <p:sp>
          <p:nvSpPr>
            <p:cNvPr id="53336" name="文本框 47238"/>
            <p:cNvSpPr txBox="1"/>
            <p:nvPr/>
          </p:nvSpPr>
          <p:spPr>
            <a:xfrm>
              <a:off x="3600" y="1771"/>
              <a:ext cx="374" cy="251"/>
            </a:xfrm>
            <a:prstGeom prst="rect">
              <a:avLst/>
            </a:prstGeom>
            <a:noFill/>
            <a:ln w="19050">
              <a:noFill/>
            </a:ln>
          </p:spPr>
          <p:txBody>
            <a:bodyPr wrap="none">
              <a:spAutoFit/>
            </a:bodyPr>
            <a:lstStyle/>
            <a:p>
              <a:pPr eaLnBrk="1" hangingPunct="1"/>
              <a:r>
                <a:rPr lang="en-US" altLang="zh-CN" sz="2000" i="1" dirty="0">
                  <a:solidFill>
                    <a:srgbClr val="FF00FF"/>
                  </a:solidFill>
                  <a:latin typeface="Times New Roman" panose="02020603050405020304" pitchFamily="18" charset="0"/>
                  <a:ea typeface="宋体" panose="02010600030101010101" pitchFamily="2" charset="-122"/>
                </a:rPr>
                <a:t>V'</a:t>
              </a:r>
              <a:r>
                <a:rPr lang="en-US" altLang="zh-CN" sz="2000" baseline="-25000" dirty="0">
                  <a:solidFill>
                    <a:srgbClr val="FF00FF"/>
                  </a:solidFill>
                  <a:latin typeface="Times New Roman" panose="02020603050405020304" pitchFamily="18" charset="0"/>
                  <a:ea typeface="宋体" panose="02010600030101010101" pitchFamily="2" charset="-122"/>
                </a:rPr>
                <a:t>O1</a:t>
              </a:r>
            </a:p>
          </p:txBody>
        </p:sp>
      </p:grpSp>
      <p:grpSp>
        <p:nvGrpSpPr>
          <p:cNvPr id="53257" name="组合 47273"/>
          <p:cNvGrpSpPr/>
          <p:nvPr/>
        </p:nvGrpSpPr>
        <p:grpSpPr>
          <a:xfrm>
            <a:off x="1524000" y="0"/>
            <a:ext cx="5518150" cy="3498851"/>
            <a:chOff x="0" y="0"/>
            <a:chExt cx="3476" cy="2204"/>
          </a:xfrm>
        </p:grpSpPr>
        <p:sp>
          <p:nvSpPr>
            <p:cNvPr id="53266" name="等腰三角形 47119"/>
            <p:cNvSpPr/>
            <p:nvPr/>
          </p:nvSpPr>
          <p:spPr>
            <a:xfrm rot="-5400000" flipV="1">
              <a:off x="2250" y="755"/>
              <a:ext cx="388" cy="417"/>
            </a:xfrm>
            <a:prstGeom prst="triangle">
              <a:avLst>
                <a:gd name="adj" fmla="val 50000"/>
              </a:avLst>
            </a:prstGeom>
            <a:solidFill>
              <a:srgbClr val="FFCCFF"/>
            </a:solid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267" name="文本框 47113"/>
            <p:cNvSpPr txBox="1"/>
            <p:nvPr/>
          </p:nvSpPr>
          <p:spPr>
            <a:xfrm>
              <a:off x="3167" y="1248"/>
              <a:ext cx="309" cy="912"/>
            </a:xfrm>
            <a:prstGeom prst="rect">
              <a:avLst/>
            </a:prstGeom>
            <a:noFill/>
            <a:ln w="19050">
              <a:noFill/>
            </a:ln>
          </p:spPr>
          <p:txBody>
            <a:bodyPr vert="eaVert">
              <a:spAutoFit/>
            </a:bodyPr>
            <a:lstStyle/>
            <a:p>
              <a:pPr eaLnBrk="1" hangingPunct="1">
                <a:spcBef>
                  <a:spcPct val="50000"/>
                </a:spcBef>
              </a:pPr>
              <a:r>
                <a:rPr lang="zh-CN" altLang="en-US" sz="2000" dirty="0">
                  <a:latin typeface="Times New Roman" panose="02020603050405020304" pitchFamily="18" charset="0"/>
                  <a:ea typeface="宋体" panose="02010600030101010101" pitchFamily="2" charset="-122"/>
                </a:rPr>
                <a:t>数字量输出</a:t>
              </a:r>
            </a:p>
          </p:txBody>
        </p:sp>
        <p:sp>
          <p:nvSpPr>
            <p:cNvPr id="53268" name="矩形 47107"/>
            <p:cNvSpPr/>
            <p:nvPr/>
          </p:nvSpPr>
          <p:spPr>
            <a:xfrm>
              <a:off x="1840" y="587"/>
              <a:ext cx="290"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O</a:t>
              </a:r>
            </a:p>
          </p:txBody>
        </p:sp>
        <p:sp>
          <p:nvSpPr>
            <p:cNvPr id="53269" name="文本框 47108"/>
            <p:cNvSpPr txBox="1"/>
            <p:nvPr/>
          </p:nvSpPr>
          <p:spPr>
            <a:xfrm>
              <a:off x="1754" y="1724"/>
              <a:ext cx="311"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CP</a:t>
              </a:r>
            </a:p>
          </p:txBody>
        </p:sp>
        <p:sp>
          <p:nvSpPr>
            <p:cNvPr id="53270" name="上箭头 47109"/>
            <p:cNvSpPr/>
            <p:nvPr/>
          </p:nvSpPr>
          <p:spPr>
            <a:xfrm rot="5400000">
              <a:off x="2653" y="1474"/>
              <a:ext cx="288" cy="336"/>
            </a:xfrm>
            <a:prstGeom prst="upArrow">
              <a:avLst>
                <a:gd name="adj1" fmla="val 50000"/>
                <a:gd name="adj2" fmla="val 29150"/>
              </a:avLst>
            </a:prstGeom>
            <a:no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271" name="文本框 47110"/>
            <p:cNvSpPr txBox="1"/>
            <p:nvPr/>
          </p:nvSpPr>
          <p:spPr>
            <a:xfrm>
              <a:off x="1392" y="1930"/>
              <a:ext cx="768" cy="251"/>
            </a:xfrm>
            <a:prstGeom prst="rect">
              <a:avLst/>
            </a:prstGeom>
            <a:solidFill>
              <a:schemeClr val="bg1"/>
            </a:solidFill>
            <a:ln w="19050" cap="flat" cmpd="sng">
              <a:solidFill>
                <a:schemeClr val="tx1"/>
              </a:solidFill>
              <a:prstDash val="solid"/>
              <a:miter/>
              <a:headEnd type="none" w="med" len="med"/>
              <a:tailEnd type="none" w="med" len="med"/>
            </a:ln>
          </p:spPr>
          <p:txBody>
            <a:bodyPr>
              <a:spAutoFit/>
            </a:bodyPr>
            <a:lstStyle/>
            <a:p>
              <a:pPr algn="ctr" eaLnBrk="1" hangingPunct="1">
                <a:spcBef>
                  <a:spcPct val="50000"/>
                </a:spcBef>
              </a:pPr>
              <a:r>
                <a:rPr lang="zh-CN" altLang="en-US" sz="2000" dirty="0">
                  <a:latin typeface="Times New Roman" panose="02020603050405020304" pitchFamily="18" charset="0"/>
                  <a:ea typeface="宋体" panose="02010600030101010101" pitchFamily="2" charset="-122"/>
                </a:rPr>
                <a:t>脉冲源</a:t>
              </a:r>
            </a:p>
          </p:txBody>
        </p:sp>
        <p:sp>
          <p:nvSpPr>
            <p:cNvPr id="53272" name="矩形 47111"/>
            <p:cNvSpPr/>
            <p:nvPr/>
          </p:nvSpPr>
          <p:spPr>
            <a:xfrm>
              <a:off x="160" y="1759"/>
              <a:ext cx="755" cy="445"/>
            </a:xfrm>
            <a:prstGeom prst="rect">
              <a:avLst/>
            </a:prstGeom>
            <a:noFill/>
            <a:ln w="19050">
              <a:noFill/>
            </a:ln>
          </p:spPr>
          <p:txBody>
            <a:bodyPr wrap="none">
              <a:spAutoFit/>
            </a:bodyPr>
            <a:lstStyle/>
            <a:p>
              <a:pPr algn="ctr" eaLnBrk="1" hangingPunct="1"/>
              <a:r>
                <a:rPr lang="en-US" altLang="zh-CN" sz="2000" i="1" dirty="0">
                  <a:solidFill>
                    <a:srgbClr val="FF00FF"/>
                  </a:solidFill>
                  <a:latin typeface="Times New Roman" panose="02020603050405020304" pitchFamily="18" charset="0"/>
                  <a:ea typeface="宋体" panose="02010600030101010101" pitchFamily="2" charset="-122"/>
                </a:rPr>
                <a:t>v</a:t>
              </a:r>
              <a:r>
                <a:rPr lang="en-US" altLang="zh-CN" sz="2000" baseline="-25000" dirty="0">
                  <a:solidFill>
                    <a:srgbClr val="FF00FF"/>
                  </a:solidFill>
                  <a:latin typeface="Times New Roman" panose="02020603050405020304" pitchFamily="18" charset="0"/>
                  <a:ea typeface="宋体" panose="02010600030101010101" pitchFamily="2" charset="-122"/>
                </a:rPr>
                <a:t>L</a:t>
              </a:r>
              <a:endParaRPr lang="en-US" altLang="zh-CN" sz="2000" dirty="0">
                <a:solidFill>
                  <a:srgbClr val="FF00FF"/>
                </a:solidFill>
                <a:latin typeface="Times New Roman" panose="02020603050405020304" pitchFamily="18" charset="0"/>
                <a:ea typeface="宋体" panose="02010600030101010101" pitchFamily="2" charset="-122"/>
              </a:endParaRPr>
            </a:p>
            <a:p>
              <a:pPr algn="ctr" eaLnBrk="1" hangingPunct="1"/>
              <a:r>
                <a:rPr lang="zh-CN" altLang="en-US" sz="2000" dirty="0">
                  <a:solidFill>
                    <a:srgbClr val="FF00FF"/>
                  </a:solidFill>
                  <a:latin typeface="Times New Roman" panose="02020603050405020304" pitchFamily="18" charset="0"/>
                  <a:ea typeface="宋体" panose="02010600030101010101" pitchFamily="2" charset="-122"/>
                </a:rPr>
                <a:t>控制转换</a:t>
              </a:r>
              <a:endParaRPr lang="zh-CN" altLang="en-US" sz="2000" baseline="-25000" dirty="0">
                <a:solidFill>
                  <a:srgbClr val="FF00FF"/>
                </a:solidFill>
                <a:latin typeface="Times New Roman" panose="02020603050405020304" pitchFamily="18" charset="0"/>
                <a:ea typeface="宋体" panose="02010600030101010101" pitchFamily="2" charset="-122"/>
              </a:endParaRPr>
            </a:p>
          </p:txBody>
        </p:sp>
        <p:sp>
          <p:nvSpPr>
            <p:cNvPr id="53273" name="文本框 47112"/>
            <p:cNvSpPr txBox="1"/>
            <p:nvPr/>
          </p:nvSpPr>
          <p:spPr>
            <a:xfrm>
              <a:off x="1037" y="1450"/>
              <a:ext cx="912" cy="251"/>
            </a:xfrm>
            <a:prstGeom prst="rect">
              <a:avLst/>
            </a:prstGeom>
            <a:solidFill>
              <a:srgbClr val="CCCCFF"/>
            </a:solidFill>
            <a:ln w="19050" cap="flat" cmpd="sng">
              <a:solidFill>
                <a:schemeClr val="hlink"/>
              </a:solidFill>
              <a:prstDash val="solid"/>
              <a:miter/>
              <a:headEnd type="none" w="med" len="med"/>
              <a:tailEnd type="none" w="med" len="med"/>
            </a:ln>
          </p:spPr>
          <p:txBody>
            <a:bodyPr>
              <a:spAutoFit/>
            </a:bodyPr>
            <a:lstStyle/>
            <a:p>
              <a:pPr algn="ctr" eaLnBrk="1" hangingPunct="1">
                <a:spcBef>
                  <a:spcPct val="50000"/>
                </a:spcBef>
              </a:pPr>
              <a:r>
                <a:rPr lang="zh-CN" altLang="en-US" sz="2000" dirty="0">
                  <a:latin typeface="Times New Roman" panose="02020603050405020304" pitchFamily="18" charset="0"/>
                  <a:ea typeface="宋体" panose="02010600030101010101" pitchFamily="2" charset="-122"/>
                </a:rPr>
                <a:t>控制逻辑</a:t>
              </a:r>
            </a:p>
          </p:txBody>
        </p:sp>
        <p:sp>
          <p:nvSpPr>
            <p:cNvPr id="53274" name="矩形 47114"/>
            <p:cNvSpPr/>
            <p:nvPr/>
          </p:nvSpPr>
          <p:spPr>
            <a:xfrm>
              <a:off x="2640" y="1269"/>
              <a:ext cx="45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MSB</a:t>
              </a:r>
            </a:p>
          </p:txBody>
        </p:sp>
        <p:sp>
          <p:nvSpPr>
            <p:cNvPr id="53275" name="矩形 47115"/>
            <p:cNvSpPr/>
            <p:nvPr/>
          </p:nvSpPr>
          <p:spPr>
            <a:xfrm>
              <a:off x="2640" y="1808"/>
              <a:ext cx="408"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LSB</a:t>
              </a:r>
            </a:p>
          </p:txBody>
        </p:sp>
        <p:sp>
          <p:nvSpPr>
            <p:cNvPr id="53276" name="右大括号 47116"/>
            <p:cNvSpPr/>
            <p:nvPr/>
          </p:nvSpPr>
          <p:spPr>
            <a:xfrm>
              <a:off x="3072" y="1328"/>
              <a:ext cx="96" cy="672"/>
            </a:xfrm>
            <a:prstGeom prst="rightBrace">
              <a:avLst>
                <a:gd name="adj1" fmla="val 58236"/>
                <a:gd name="adj2" fmla="val 50000"/>
              </a:avLst>
            </a:prstGeom>
            <a:no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277" name="文本框 47117"/>
            <p:cNvSpPr txBox="1"/>
            <p:nvPr/>
          </p:nvSpPr>
          <p:spPr>
            <a:xfrm>
              <a:off x="2189" y="652"/>
              <a:ext cx="358"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_</a:t>
              </a:r>
            </a:p>
          </p:txBody>
        </p:sp>
        <p:sp>
          <p:nvSpPr>
            <p:cNvPr id="53278" name="文本框 47120"/>
            <p:cNvSpPr txBox="1"/>
            <p:nvPr/>
          </p:nvSpPr>
          <p:spPr>
            <a:xfrm>
              <a:off x="2280" y="828"/>
              <a:ext cx="357"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C</a:t>
              </a:r>
            </a:p>
          </p:txBody>
        </p:sp>
        <p:sp>
          <p:nvSpPr>
            <p:cNvPr id="53279" name="文本框 47121"/>
            <p:cNvSpPr txBox="1"/>
            <p:nvPr/>
          </p:nvSpPr>
          <p:spPr>
            <a:xfrm>
              <a:off x="2179" y="918"/>
              <a:ext cx="358"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a:t>
              </a:r>
            </a:p>
          </p:txBody>
        </p:sp>
        <p:sp>
          <p:nvSpPr>
            <p:cNvPr id="53280" name="直接连接符 47122"/>
            <p:cNvSpPr/>
            <p:nvPr/>
          </p:nvSpPr>
          <p:spPr>
            <a:xfrm>
              <a:off x="1648" y="871"/>
              <a:ext cx="587" cy="0"/>
            </a:xfrm>
            <a:prstGeom prst="line">
              <a:avLst/>
            </a:prstGeom>
            <a:ln w="19050" cap="flat" cmpd="sng">
              <a:solidFill>
                <a:schemeClr val="hlink"/>
              </a:solidFill>
              <a:prstDash val="solid"/>
              <a:headEnd type="none" w="med" len="med"/>
              <a:tailEnd type="none" w="med" len="med"/>
            </a:ln>
          </p:spPr>
        </p:sp>
        <p:sp>
          <p:nvSpPr>
            <p:cNvPr id="53281" name="文本框 47123"/>
            <p:cNvSpPr txBox="1"/>
            <p:nvPr/>
          </p:nvSpPr>
          <p:spPr>
            <a:xfrm>
              <a:off x="2315" y="1306"/>
              <a:ext cx="309" cy="672"/>
            </a:xfrm>
            <a:prstGeom prst="rect">
              <a:avLst/>
            </a:prstGeom>
            <a:solidFill>
              <a:srgbClr val="CCFFCC"/>
            </a:solidFill>
            <a:ln w="19050" cap="flat" cmpd="sng">
              <a:solidFill>
                <a:schemeClr val="tx1"/>
              </a:solidFill>
              <a:prstDash val="solid"/>
              <a:miter/>
              <a:headEnd type="none" w="med" len="med"/>
              <a:tailEnd type="none" w="med" len="med"/>
            </a:ln>
          </p:spPr>
          <p:txBody>
            <a:bodyPr vert="eaVert">
              <a:spAutoFit/>
            </a:bodyPr>
            <a:lstStyle/>
            <a:p>
              <a:pPr algn="ctr" eaLnBrk="1" hangingPunct="1">
                <a:spcBef>
                  <a:spcPct val="50000"/>
                </a:spcBef>
              </a:pPr>
              <a:r>
                <a:rPr lang="zh-CN" altLang="en-US" sz="2000" dirty="0">
                  <a:latin typeface="Times New Roman" panose="02020603050405020304" pitchFamily="18" charset="0"/>
                  <a:ea typeface="宋体" panose="02010600030101010101" pitchFamily="2" charset="-122"/>
                </a:rPr>
                <a:t>计数器</a:t>
              </a:r>
            </a:p>
          </p:txBody>
        </p:sp>
        <p:sp>
          <p:nvSpPr>
            <p:cNvPr id="53282" name="任意多边形 47124"/>
            <p:cNvSpPr/>
            <p:nvPr/>
          </p:nvSpPr>
          <p:spPr>
            <a:xfrm>
              <a:off x="2128" y="1088"/>
              <a:ext cx="96" cy="96"/>
            </a:xfrm>
            <a:custGeom>
              <a:avLst/>
              <a:gdLst/>
              <a:ahLst/>
              <a:cxnLst>
                <a:cxn ang="0">
                  <a:pos x="96" y="0"/>
                </a:cxn>
                <a:cxn ang="0">
                  <a:pos x="0" y="0"/>
                </a:cxn>
                <a:cxn ang="0">
                  <a:pos x="0" y="96"/>
                </a:cxn>
              </a:cxnLst>
              <a:rect l="0" t="0" r="0" b="0"/>
              <a:pathLst>
                <a:path w="96" h="96">
                  <a:moveTo>
                    <a:pt x="96" y="0"/>
                  </a:moveTo>
                  <a:lnTo>
                    <a:pt x="0" y="0"/>
                  </a:lnTo>
                  <a:lnTo>
                    <a:pt x="0" y="96"/>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3283" name="直接连接符 47125"/>
            <p:cNvSpPr/>
            <p:nvPr/>
          </p:nvSpPr>
          <p:spPr>
            <a:xfrm>
              <a:off x="2084" y="1177"/>
              <a:ext cx="96" cy="0"/>
            </a:xfrm>
            <a:prstGeom prst="line">
              <a:avLst/>
            </a:prstGeom>
            <a:ln w="19050" cap="flat" cmpd="sng">
              <a:solidFill>
                <a:schemeClr val="hlink"/>
              </a:solidFill>
              <a:prstDash val="solid"/>
              <a:headEnd type="none" w="med" len="med"/>
              <a:tailEnd type="none" w="med" len="med"/>
            </a:ln>
          </p:spPr>
        </p:sp>
        <p:sp>
          <p:nvSpPr>
            <p:cNvPr id="53284" name="任意多边形 47126"/>
            <p:cNvSpPr/>
            <p:nvPr/>
          </p:nvSpPr>
          <p:spPr>
            <a:xfrm>
              <a:off x="1488" y="956"/>
              <a:ext cx="1264" cy="480"/>
            </a:xfrm>
            <a:custGeom>
              <a:avLst/>
              <a:gdLst/>
              <a:ahLst/>
              <a:cxnLst>
                <a:cxn ang="0">
                  <a:pos x="1138" y="0"/>
                </a:cxn>
                <a:cxn ang="0">
                  <a:pos x="1264" y="0"/>
                </a:cxn>
                <a:cxn ang="0">
                  <a:pos x="1264" y="293"/>
                </a:cxn>
                <a:cxn ang="0">
                  <a:pos x="0" y="293"/>
                </a:cxn>
                <a:cxn ang="0">
                  <a:pos x="0" y="480"/>
                </a:cxn>
              </a:cxnLst>
              <a:rect l="0" t="0" r="0" b="0"/>
              <a:pathLst>
                <a:path w="960" h="480">
                  <a:moveTo>
                    <a:pt x="864" y="0"/>
                  </a:moveTo>
                  <a:lnTo>
                    <a:pt x="960" y="0"/>
                  </a:lnTo>
                  <a:lnTo>
                    <a:pt x="960" y="293"/>
                  </a:lnTo>
                  <a:lnTo>
                    <a:pt x="0" y="293"/>
                  </a:lnTo>
                  <a:lnTo>
                    <a:pt x="0" y="480"/>
                  </a:lnTo>
                </a:path>
              </a:pathLst>
            </a:custGeom>
            <a:noFill/>
            <a:ln w="19050" cap="flat" cmpd="sng">
              <a:solidFill>
                <a:schemeClr val="hlink">
                  <a:alpha val="100000"/>
                </a:schemeClr>
              </a:solidFill>
              <a:prstDash val="solid"/>
              <a:round/>
              <a:headEnd type="none" w="med" len="med"/>
              <a:tailEnd type="triangle" w="med" len="med"/>
            </a:ln>
          </p:spPr>
          <p:txBody>
            <a:bodyPr/>
            <a:lstStyle/>
            <a:p>
              <a:endParaRPr lang="zh-CN" altLang="en-US"/>
            </a:p>
          </p:txBody>
        </p:sp>
        <p:sp>
          <p:nvSpPr>
            <p:cNvPr id="53285" name="直接连接符 47127"/>
            <p:cNvSpPr/>
            <p:nvPr/>
          </p:nvSpPr>
          <p:spPr>
            <a:xfrm>
              <a:off x="1968" y="1532"/>
              <a:ext cx="336" cy="0"/>
            </a:xfrm>
            <a:prstGeom prst="line">
              <a:avLst/>
            </a:prstGeom>
            <a:ln w="19050" cap="flat" cmpd="sng">
              <a:solidFill>
                <a:schemeClr val="hlink"/>
              </a:solidFill>
              <a:prstDash val="solid"/>
              <a:headEnd type="none" w="med" len="med"/>
              <a:tailEnd type="triangle" w="med" len="med"/>
            </a:ln>
          </p:spPr>
        </p:sp>
        <p:sp>
          <p:nvSpPr>
            <p:cNvPr id="53286" name="直接连接符 47128"/>
            <p:cNvSpPr/>
            <p:nvPr/>
          </p:nvSpPr>
          <p:spPr>
            <a:xfrm>
              <a:off x="1942" y="1676"/>
              <a:ext cx="336" cy="0"/>
            </a:xfrm>
            <a:prstGeom prst="line">
              <a:avLst/>
            </a:prstGeom>
            <a:ln w="19050" cap="flat" cmpd="sng">
              <a:solidFill>
                <a:schemeClr val="hlink"/>
              </a:solidFill>
              <a:prstDash val="solid"/>
              <a:headEnd type="triangle" w="med" len="med"/>
              <a:tailEnd type="none" w="med" len="med"/>
            </a:ln>
          </p:spPr>
        </p:sp>
        <p:sp>
          <p:nvSpPr>
            <p:cNvPr id="53287" name="直接连接符 47129"/>
            <p:cNvSpPr/>
            <p:nvPr/>
          </p:nvSpPr>
          <p:spPr>
            <a:xfrm flipV="1">
              <a:off x="1765" y="1724"/>
              <a:ext cx="0" cy="192"/>
            </a:xfrm>
            <a:prstGeom prst="line">
              <a:avLst/>
            </a:prstGeom>
            <a:ln w="19050" cap="flat" cmpd="sng">
              <a:solidFill>
                <a:schemeClr val="hlink"/>
              </a:solidFill>
              <a:prstDash val="solid"/>
              <a:headEnd type="none" w="med" len="med"/>
              <a:tailEnd type="triangle" w="med" len="med"/>
            </a:ln>
          </p:spPr>
        </p:sp>
        <p:sp>
          <p:nvSpPr>
            <p:cNvPr id="53288" name="任意多边形 47130"/>
            <p:cNvSpPr/>
            <p:nvPr/>
          </p:nvSpPr>
          <p:spPr>
            <a:xfrm>
              <a:off x="657" y="1724"/>
              <a:ext cx="576" cy="240"/>
            </a:xfrm>
            <a:custGeom>
              <a:avLst/>
              <a:gdLst/>
              <a:ahLst/>
              <a:cxnLst>
                <a:cxn ang="0">
                  <a:pos x="0" y="240"/>
                </a:cxn>
                <a:cxn ang="0">
                  <a:pos x="576" y="240"/>
                </a:cxn>
                <a:cxn ang="0">
                  <a:pos x="576" y="0"/>
                </a:cxn>
              </a:cxnLst>
              <a:rect l="0" t="0" r="0" b="0"/>
              <a:pathLst>
                <a:path w="576" h="240">
                  <a:moveTo>
                    <a:pt x="0" y="240"/>
                  </a:moveTo>
                  <a:lnTo>
                    <a:pt x="576" y="240"/>
                  </a:lnTo>
                  <a:lnTo>
                    <a:pt x="576" y="0"/>
                  </a:lnTo>
                </a:path>
              </a:pathLst>
            </a:custGeom>
            <a:noFill/>
            <a:ln w="19050" cap="flat" cmpd="sng">
              <a:solidFill>
                <a:schemeClr val="hlink">
                  <a:alpha val="100000"/>
                </a:schemeClr>
              </a:solidFill>
              <a:prstDash val="solid"/>
              <a:round/>
              <a:headEnd type="none" w="med" len="med"/>
              <a:tailEnd type="triangle" w="med" len="med"/>
            </a:ln>
          </p:spPr>
          <p:txBody>
            <a:bodyPr/>
            <a:lstStyle/>
            <a:p>
              <a:endParaRPr lang="zh-CN" altLang="en-US"/>
            </a:p>
          </p:txBody>
        </p:sp>
        <p:sp>
          <p:nvSpPr>
            <p:cNvPr id="53289" name="直接连接符 47131"/>
            <p:cNvSpPr/>
            <p:nvPr/>
          </p:nvSpPr>
          <p:spPr>
            <a:xfrm flipH="1">
              <a:off x="842" y="1484"/>
              <a:ext cx="192" cy="0"/>
            </a:xfrm>
            <a:prstGeom prst="line">
              <a:avLst/>
            </a:prstGeom>
            <a:ln w="19050" cap="flat" cmpd="sng">
              <a:solidFill>
                <a:schemeClr val="hlink"/>
              </a:solidFill>
              <a:prstDash val="solid"/>
              <a:headEnd type="none" w="med" len="med"/>
              <a:tailEnd type="triangle" w="med" len="med"/>
            </a:ln>
          </p:spPr>
        </p:sp>
        <p:sp>
          <p:nvSpPr>
            <p:cNvPr id="53290" name="直接连接符 47132"/>
            <p:cNvSpPr/>
            <p:nvPr/>
          </p:nvSpPr>
          <p:spPr>
            <a:xfrm flipH="1">
              <a:off x="842" y="1650"/>
              <a:ext cx="192" cy="0"/>
            </a:xfrm>
            <a:prstGeom prst="line">
              <a:avLst/>
            </a:prstGeom>
            <a:ln w="19050" cap="flat" cmpd="sng">
              <a:solidFill>
                <a:schemeClr val="hlink"/>
              </a:solidFill>
              <a:prstDash val="solid"/>
              <a:headEnd type="none" w="med" len="med"/>
              <a:tailEnd type="triangle" w="med" len="med"/>
            </a:ln>
          </p:spPr>
        </p:sp>
        <p:sp>
          <p:nvSpPr>
            <p:cNvPr id="53291" name="文本框 47133"/>
            <p:cNvSpPr txBox="1"/>
            <p:nvPr/>
          </p:nvSpPr>
          <p:spPr>
            <a:xfrm>
              <a:off x="624" y="1340"/>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0</a:t>
              </a:r>
            </a:p>
          </p:txBody>
        </p:sp>
        <p:sp>
          <p:nvSpPr>
            <p:cNvPr id="53292" name="文本框 47134"/>
            <p:cNvSpPr txBox="1"/>
            <p:nvPr/>
          </p:nvSpPr>
          <p:spPr>
            <a:xfrm>
              <a:off x="607" y="1532"/>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1</a:t>
              </a:r>
            </a:p>
          </p:txBody>
        </p:sp>
        <p:sp>
          <p:nvSpPr>
            <p:cNvPr id="53293" name="矩形 47135"/>
            <p:cNvSpPr/>
            <p:nvPr/>
          </p:nvSpPr>
          <p:spPr>
            <a:xfrm>
              <a:off x="1920" y="1244"/>
              <a:ext cx="290"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G</a:t>
              </a:r>
            </a:p>
          </p:txBody>
        </p:sp>
        <p:sp>
          <p:nvSpPr>
            <p:cNvPr id="53294" name="矩形 47136"/>
            <p:cNvSpPr/>
            <p:nvPr/>
          </p:nvSpPr>
          <p:spPr>
            <a:xfrm>
              <a:off x="45" y="384"/>
              <a:ext cx="446"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I</a:t>
              </a:r>
              <a:r>
                <a:rPr lang="en-US" altLang="zh-CN" sz="2400" dirty="0">
                  <a:latin typeface="Times New Roman" panose="02020603050405020304" pitchFamily="18" charset="0"/>
                  <a:ea typeface="宋体" panose="02010600030101010101" pitchFamily="2" charset="-122"/>
                </a:rPr>
                <a:t>&gt;0</a:t>
              </a:r>
              <a:endParaRPr lang="en-US" altLang="zh-CN" sz="2400" baseline="-25000" dirty="0">
                <a:latin typeface="Times New Roman" panose="02020603050405020304" pitchFamily="18" charset="0"/>
                <a:ea typeface="宋体" panose="02010600030101010101" pitchFamily="2" charset="-122"/>
              </a:endParaRPr>
            </a:p>
          </p:txBody>
        </p:sp>
        <p:sp>
          <p:nvSpPr>
            <p:cNvPr id="53295" name="等腰三角形 47138"/>
            <p:cNvSpPr/>
            <p:nvPr/>
          </p:nvSpPr>
          <p:spPr>
            <a:xfrm rot="-5400000" flipV="1">
              <a:off x="1250" y="664"/>
              <a:ext cx="393" cy="410"/>
            </a:xfrm>
            <a:prstGeom prst="triangle">
              <a:avLst>
                <a:gd name="adj" fmla="val 50000"/>
              </a:avLst>
            </a:prstGeom>
            <a:solidFill>
              <a:srgbClr val="FFFFCC"/>
            </a:solid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296" name="文本框 47139"/>
            <p:cNvSpPr txBox="1"/>
            <p:nvPr/>
          </p:nvSpPr>
          <p:spPr>
            <a:xfrm>
              <a:off x="1285" y="732"/>
              <a:ext cx="352"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A</a:t>
              </a:r>
            </a:p>
          </p:txBody>
        </p:sp>
        <p:sp>
          <p:nvSpPr>
            <p:cNvPr id="53297" name="文本框 47140"/>
            <p:cNvSpPr txBox="1"/>
            <p:nvPr/>
          </p:nvSpPr>
          <p:spPr>
            <a:xfrm>
              <a:off x="1185" y="542"/>
              <a:ext cx="352"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_</a:t>
              </a:r>
            </a:p>
          </p:txBody>
        </p:sp>
        <p:sp>
          <p:nvSpPr>
            <p:cNvPr id="53298" name="文本框 47141"/>
            <p:cNvSpPr txBox="1"/>
            <p:nvPr/>
          </p:nvSpPr>
          <p:spPr>
            <a:xfrm>
              <a:off x="1175" y="789"/>
              <a:ext cx="352"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a:t>
              </a:r>
            </a:p>
          </p:txBody>
        </p:sp>
        <p:grpSp>
          <p:nvGrpSpPr>
            <p:cNvPr id="53299" name="组合 47142"/>
            <p:cNvGrpSpPr/>
            <p:nvPr/>
          </p:nvGrpSpPr>
          <p:grpSpPr>
            <a:xfrm>
              <a:off x="1109" y="974"/>
              <a:ext cx="140" cy="96"/>
              <a:chOff x="1204" y="1296"/>
              <a:chExt cx="140" cy="96"/>
            </a:xfrm>
          </p:grpSpPr>
          <p:sp>
            <p:nvSpPr>
              <p:cNvPr id="53330" name="任意多边形 47143"/>
              <p:cNvSpPr/>
              <p:nvPr/>
            </p:nvSpPr>
            <p:spPr>
              <a:xfrm>
                <a:off x="1248" y="1296"/>
                <a:ext cx="96" cy="96"/>
              </a:xfrm>
              <a:custGeom>
                <a:avLst/>
                <a:gdLst/>
                <a:ahLst/>
                <a:cxnLst>
                  <a:cxn ang="0">
                    <a:pos x="96" y="0"/>
                  </a:cxn>
                  <a:cxn ang="0">
                    <a:pos x="0" y="0"/>
                  </a:cxn>
                  <a:cxn ang="0">
                    <a:pos x="0" y="96"/>
                  </a:cxn>
                </a:cxnLst>
                <a:rect l="0" t="0" r="0" b="0"/>
                <a:pathLst>
                  <a:path w="96" h="96">
                    <a:moveTo>
                      <a:pt x="96" y="0"/>
                    </a:moveTo>
                    <a:lnTo>
                      <a:pt x="0" y="0"/>
                    </a:lnTo>
                    <a:lnTo>
                      <a:pt x="0" y="96"/>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3331" name="直接连接符 47144"/>
              <p:cNvSpPr/>
              <p:nvPr/>
            </p:nvSpPr>
            <p:spPr>
              <a:xfrm>
                <a:off x="1204" y="1385"/>
                <a:ext cx="96" cy="0"/>
              </a:xfrm>
              <a:prstGeom prst="line">
                <a:avLst/>
              </a:prstGeom>
              <a:ln w="19050" cap="flat" cmpd="sng">
                <a:solidFill>
                  <a:schemeClr val="hlink"/>
                </a:solidFill>
                <a:prstDash val="solid"/>
                <a:headEnd type="none" w="med" len="med"/>
                <a:tailEnd type="none" w="med" len="med"/>
              </a:ln>
            </p:spPr>
          </p:sp>
        </p:grpSp>
        <p:sp>
          <p:nvSpPr>
            <p:cNvPr id="53300" name="任意多边形 47145"/>
            <p:cNvSpPr/>
            <p:nvPr/>
          </p:nvSpPr>
          <p:spPr>
            <a:xfrm>
              <a:off x="1083" y="288"/>
              <a:ext cx="218" cy="478"/>
            </a:xfrm>
            <a:custGeom>
              <a:avLst/>
              <a:gdLst/>
              <a:ahLst/>
              <a:cxnLst>
                <a:cxn ang="0">
                  <a:pos x="0" y="478"/>
                </a:cxn>
                <a:cxn ang="0">
                  <a:pos x="0" y="0"/>
                </a:cxn>
                <a:cxn ang="0">
                  <a:pos x="218" y="0"/>
                </a:cxn>
              </a:cxnLst>
              <a:rect l="0" t="0" r="0" b="0"/>
              <a:pathLst>
                <a:path w="192" h="384">
                  <a:moveTo>
                    <a:pt x="0" y="384"/>
                  </a:moveTo>
                  <a:lnTo>
                    <a:pt x="0" y="0"/>
                  </a:lnTo>
                  <a:lnTo>
                    <a:pt x="192" y="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3301" name="任意多边形 47146"/>
            <p:cNvSpPr/>
            <p:nvPr/>
          </p:nvSpPr>
          <p:spPr>
            <a:xfrm flipH="1">
              <a:off x="1563" y="288"/>
              <a:ext cx="192" cy="576"/>
            </a:xfrm>
            <a:custGeom>
              <a:avLst/>
              <a:gdLst/>
              <a:ahLst/>
              <a:cxnLst>
                <a:cxn ang="0">
                  <a:pos x="0" y="576"/>
                </a:cxn>
                <a:cxn ang="0">
                  <a:pos x="0" y="0"/>
                </a:cxn>
                <a:cxn ang="0">
                  <a:pos x="192" y="0"/>
                </a:cxn>
              </a:cxnLst>
              <a:rect l="0" t="0" r="0" b="0"/>
              <a:pathLst>
                <a:path w="192" h="384">
                  <a:moveTo>
                    <a:pt x="0" y="384"/>
                  </a:moveTo>
                  <a:lnTo>
                    <a:pt x="0" y="0"/>
                  </a:lnTo>
                  <a:lnTo>
                    <a:pt x="192" y="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3302" name="直接连接符 47147"/>
            <p:cNvSpPr/>
            <p:nvPr/>
          </p:nvSpPr>
          <p:spPr>
            <a:xfrm flipH="1" flipV="1">
              <a:off x="603" y="768"/>
              <a:ext cx="639" cy="0"/>
            </a:xfrm>
            <a:prstGeom prst="line">
              <a:avLst/>
            </a:prstGeom>
            <a:ln w="19050" cap="flat" cmpd="sng">
              <a:solidFill>
                <a:schemeClr val="hlink"/>
              </a:solidFill>
              <a:prstDash val="solid"/>
              <a:headEnd type="none" w="med" len="med"/>
              <a:tailEnd type="none" w="med" len="med"/>
            </a:ln>
          </p:spPr>
        </p:sp>
        <p:grpSp>
          <p:nvGrpSpPr>
            <p:cNvPr id="53303" name="组合 47148"/>
            <p:cNvGrpSpPr/>
            <p:nvPr/>
          </p:nvGrpSpPr>
          <p:grpSpPr>
            <a:xfrm>
              <a:off x="1371" y="447"/>
              <a:ext cx="96" cy="192"/>
              <a:chOff x="2182" y="1056"/>
              <a:chExt cx="74" cy="144"/>
            </a:xfrm>
          </p:grpSpPr>
          <p:sp>
            <p:nvSpPr>
              <p:cNvPr id="53328" name="直接连接符 47149"/>
              <p:cNvSpPr/>
              <p:nvPr/>
            </p:nvSpPr>
            <p:spPr>
              <a:xfrm>
                <a:off x="2182" y="1056"/>
                <a:ext cx="0" cy="144"/>
              </a:xfrm>
              <a:prstGeom prst="line">
                <a:avLst/>
              </a:prstGeom>
              <a:ln w="19050" cap="flat" cmpd="sng">
                <a:solidFill>
                  <a:schemeClr val="hlink"/>
                </a:solidFill>
                <a:prstDash val="solid"/>
                <a:headEnd type="none" w="med" len="med"/>
                <a:tailEnd type="none" w="med" len="med"/>
              </a:ln>
            </p:spPr>
          </p:sp>
          <p:sp>
            <p:nvSpPr>
              <p:cNvPr id="53329" name="直接连接符 47150"/>
              <p:cNvSpPr/>
              <p:nvPr/>
            </p:nvSpPr>
            <p:spPr>
              <a:xfrm>
                <a:off x="2256" y="1056"/>
                <a:ext cx="0" cy="144"/>
              </a:xfrm>
              <a:prstGeom prst="line">
                <a:avLst/>
              </a:prstGeom>
              <a:ln w="19050" cap="flat" cmpd="sng">
                <a:solidFill>
                  <a:schemeClr val="hlink"/>
                </a:solidFill>
                <a:prstDash val="solid"/>
                <a:headEnd type="none" w="med" len="med"/>
                <a:tailEnd type="none" w="med" len="med"/>
              </a:ln>
            </p:spPr>
          </p:sp>
        </p:grpSp>
        <p:sp>
          <p:nvSpPr>
            <p:cNvPr id="53304" name="直接连接符 47151"/>
            <p:cNvSpPr/>
            <p:nvPr/>
          </p:nvSpPr>
          <p:spPr>
            <a:xfrm>
              <a:off x="1083" y="543"/>
              <a:ext cx="288" cy="0"/>
            </a:xfrm>
            <a:prstGeom prst="line">
              <a:avLst/>
            </a:prstGeom>
            <a:ln w="19050" cap="flat" cmpd="sng">
              <a:solidFill>
                <a:schemeClr val="hlink"/>
              </a:solidFill>
              <a:prstDash val="solid"/>
              <a:headEnd type="none" w="med" len="med"/>
              <a:tailEnd type="none" w="med" len="med"/>
            </a:ln>
          </p:spPr>
        </p:sp>
        <p:sp>
          <p:nvSpPr>
            <p:cNvPr id="53305" name="直接连接符 47152"/>
            <p:cNvSpPr/>
            <p:nvPr/>
          </p:nvSpPr>
          <p:spPr>
            <a:xfrm>
              <a:off x="1467" y="528"/>
              <a:ext cx="288" cy="0"/>
            </a:xfrm>
            <a:prstGeom prst="line">
              <a:avLst/>
            </a:prstGeom>
            <a:ln w="19050" cap="flat" cmpd="sng">
              <a:solidFill>
                <a:schemeClr val="hlink"/>
              </a:solidFill>
              <a:prstDash val="solid"/>
              <a:headEnd type="none" w="med" len="med"/>
              <a:tailEnd type="none" w="med" len="med"/>
            </a:ln>
          </p:spPr>
        </p:sp>
        <p:grpSp>
          <p:nvGrpSpPr>
            <p:cNvPr id="53306" name="组合 47153"/>
            <p:cNvGrpSpPr/>
            <p:nvPr/>
          </p:nvGrpSpPr>
          <p:grpSpPr>
            <a:xfrm>
              <a:off x="1297" y="181"/>
              <a:ext cx="229" cy="133"/>
              <a:chOff x="2134" y="757"/>
              <a:chExt cx="229" cy="133"/>
            </a:xfrm>
          </p:grpSpPr>
          <p:sp>
            <p:nvSpPr>
              <p:cNvPr id="53326" name="椭圆 47154"/>
              <p:cNvSpPr/>
              <p:nvPr/>
            </p:nvSpPr>
            <p:spPr>
              <a:xfrm>
                <a:off x="2134" y="842"/>
                <a:ext cx="48" cy="48"/>
              </a:xfrm>
              <a:prstGeom prst="ellipse">
                <a:avLst/>
              </a:prstGeom>
              <a:no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327" name="直接连接符 47155"/>
              <p:cNvSpPr/>
              <p:nvPr/>
            </p:nvSpPr>
            <p:spPr>
              <a:xfrm flipV="1">
                <a:off x="2171" y="757"/>
                <a:ext cx="192" cy="96"/>
              </a:xfrm>
              <a:prstGeom prst="line">
                <a:avLst/>
              </a:prstGeom>
              <a:ln w="19050" cap="flat" cmpd="sng">
                <a:solidFill>
                  <a:schemeClr val="hlink"/>
                </a:solidFill>
                <a:prstDash val="solid"/>
                <a:headEnd type="none" w="med" len="med"/>
                <a:tailEnd type="none" w="med" len="med"/>
              </a:ln>
            </p:spPr>
          </p:sp>
        </p:grpSp>
        <p:grpSp>
          <p:nvGrpSpPr>
            <p:cNvPr id="53307" name="组合 47156"/>
            <p:cNvGrpSpPr/>
            <p:nvPr/>
          </p:nvGrpSpPr>
          <p:grpSpPr>
            <a:xfrm flipH="1">
              <a:off x="370" y="661"/>
              <a:ext cx="229" cy="133"/>
              <a:chOff x="2134" y="757"/>
              <a:chExt cx="229" cy="133"/>
            </a:xfrm>
          </p:grpSpPr>
          <p:sp>
            <p:nvSpPr>
              <p:cNvPr id="53324" name="椭圆 47157"/>
              <p:cNvSpPr/>
              <p:nvPr/>
            </p:nvSpPr>
            <p:spPr>
              <a:xfrm>
                <a:off x="2134" y="842"/>
                <a:ext cx="48" cy="48"/>
              </a:xfrm>
              <a:prstGeom prst="ellipse">
                <a:avLst/>
              </a:prstGeom>
              <a:no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325" name="直接连接符 47158"/>
              <p:cNvSpPr/>
              <p:nvPr/>
            </p:nvSpPr>
            <p:spPr>
              <a:xfrm flipV="1">
                <a:off x="2171" y="757"/>
                <a:ext cx="192" cy="96"/>
              </a:xfrm>
              <a:prstGeom prst="line">
                <a:avLst/>
              </a:prstGeom>
              <a:ln w="19050" cap="flat" cmpd="sng">
                <a:solidFill>
                  <a:schemeClr val="hlink"/>
                </a:solidFill>
                <a:prstDash val="solid"/>
                <a:headEnd type="none" w="med" len="med"/>
                <a:tailEnd type="none" w="med" len="med"/>
              </a:ln>
            </p:spPr>
          </p:sp>
        </p:grpSp>
        <p:sp>
          <p:nvSpPr>
            <p:cNvPr id="53308" name="矩形 47159"/>
            <p:cNvSpPr/>
            <p:nvPr/>
          </p:nvSpPr>
          <p:spPr>
            <a:xfrm>
              <a:off x="773" y="723"/>
              <a:ext cx="192" cy="96"/>
            </a:xfrm>
            <a:prstGeom prst="rect">
              <a:avLst/>
            </a:prstGeom>
            <a:solidFill>
              <a:schemeClr val="accent1"/>
            </a:solid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nvGrpSpPr>
            <p:cNvPr id="53309" name="组合 47160"/>
            <p:cNvGrpSpPr/>
            <p:nvPr/>
          </p:nvGrpSpPr>
          <p:grpSpPr>
            <a:xfrm>
              <a:off x="238" y="698"/>
              <a:ext cx="202" cy="166"/>
              <a:chOff x="1902" y="1178"/>
              <a:chExt cx="384" cy="166"/>
            </a:xfrm>
          </p:grpSpPr>
          <p:sp>
            <p:nvSpPr>
              <p:cNvPr id="53322" name="直接连接符 47161"/>
              <p:cNvSpPr/>
              <p:nvPr/>
            </p:nvSpPr>
            <p:spPr>
              <a:xfrm>
                <a:off x="1902" y="1178"/>
                <a:ext cx="384" cy="0"/>
              </a:xfrm>
              <a:prstGeom prst="line">
                <a:avLst/>
              </a:prstGeom>
              <a:ln w="19050" cap="flat" cmpd="sng">
                <a:solidFill>
                  <a:schemeClr val="hlink"/>
                </a:solidFill>
                <a:prstDash val="solid"/>
                <a:headEnd type="none" w="med" len="med"/>
                <a:tailEnd type="none" w="med" len="med"/>
              </a:ln>
            </p:spPr>
          </p:sp>
          <p:sp>
            <p:nvSpPr>
              <p:cNvPr id="53323" name="直接连接符 47162"/>
              <p:cNvSpPr/>
              <p:nvPr/>
            </p:nvSpPr>
            <p:spPr>
              <a:xfrm>
                <a:off x="1902" y="1344"/>
                <a:ext cx="384" cy="0"/>
              </a:xfrm>
              <a:prstGeom prst="line">
                <a:avLst/>
              </a:prstGeom>
              <a:ln w="19050" cap="flat" cmpd="sng">
                <a:solidFill>
                  <a:schemeClr val="hlink"/>
                </a:solidFill>
                <a:prstDash val="solid"/>
                <a:headEnd type="none" w="med" len="med"/>
                <a:tailEnd type="none" w="med" len="med"/>
              </a:ln>
            </p:spPr>
          </p:sp>
        </p:grpSp>
        <p:sp>
          <p:nvSpPr>
            <p:cNvPr id="53310" name="文本框 47163"/>
            <p:cNvSpPr txBox="1"/>
            <p:nvPr/>
          </p:nvSpPr>
          <p:spPr>
            <a:xfrm>
              <a:off x="411" y="484"/>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1</a:t>
              </a:r>
            </a:p>
          </p:txBody>
        </p:sp>
        <p:sp>
          <p:nvSpPr>
            <p:cNvPr id="53311" name="文本框 47164"/>
            <p:cNvSpPr txBox="1"/>
            <p:nvPr/>
          </p:nvSpPr>
          <p:spPr>
            <a:xfrm>
              <a:off x="1205" y="0"/>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0</a:t>
              </a:r>
            </a:p>
          </p:txBody>
        </p:sp>
        <p:sp>
          <p:nvSpPr>
            <p:cNvPr id="53312" name="矩形 47165"/>
            <p:cNvSpPr/>
            <p:nvPr/>
          </p:nvSpPr>
          <p:spPr>
            <a:xfrm>
              <a:off x="758" y="529"/>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53313" name="矩形 47166"/>
            <p:cNvSpPr/>
            <p:nvPr/>
          </p:nvSpPr>
          <p:spPr>
            <a:xfrm>
              <a:off x="1312" y="260"/>
              <a:ext cx="222"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C</a:t>
              </a:r>
            </a:p>
          </p:txBody>
        </p:sp>
        <p:sp>
          <p:nvSpPr>
            <p:cNvPr id="53314" name="矩形 47167"/>
            <p:cNvSpPr/>
            <p:nvPr/>
          </p:nvSpPr>
          <p:spPr>
            <a:xfrm>
              <a:off x="699" y="22"/>
              <a:ext cx="1152" cy="1152"/>
            </a:xfrm>
            <a:prstGeom prst="rect">
              <a:avLst/>
            </a:prstGeom>
            <a:noFill/>
            <a:ln w="19050" cap="flat" cmpd="sng">
              <a:solidFill>
                <a:schemeClr val="tx1"/>
              </a:solidFill>
              <a:prstDash val="lgDash"/>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315" name="文本框 47168"/>
            <p:cNvSpPr txBox="1"/>
            <p:nvPr/>
          </p:nvSpPr>
          <p:spPr>
            <a:xfrm>
              <a:off x="1300" y="957"/>
              <a:ext cx="595" cy="251"/>
            </a:xfrm>
            <a:prstGeom prst="rect">
              <a:avLst/>
            </a:prstGeom>
            <a:noFill/>
            <a:ln w="19050">
              <a:noFill/>
            </a:ln>
          </p:spPr>
          <p:txBody>
            <a:bodyPr wrap="none">
              <a:spAutoFit/>
            </a:bodyPr>
            <a:lstStyle/>
            <a:p>
              <a:pPr eaLnBrk="1" hangingPunct="1"/>
              <a:r>
                <a:rPr lang="zh-CN" altLang="en-US" sz="2000" dirty="0">
                  <a:solidFill>
                    <a:srgbClr val="FF00FF"/>
                  </a:solidFill>
                  <a:latin typeface="Times New Roman" panose="02020603050405020304" pitchFamily="18" charset="0"/>
                  <a:ea typeface="宋体" panose="02010600030101010101" pitchFamily="2" charset="-122"/>
                </a:rPr>
                <a:t>积分器</a:t>
              </a:r>
            </a:p>
          </p:txBody>
        </p:sp>
        <p:sp>
          <p:nvSpPr>
            <p:cNvPr id="53316" name="矩形 47169"/>
            <p:cNvSpPr/>
            <p:nvPr/>
          </p:nvSpPr>
          <p:spPr>
            <a:xfrm>
              <a:off x="2320" y="624"/>
              <a:ext cx="595" cy="251"/>
            </a:xfrm>
            <a:prstGeom prst="rect">
              <a:avLst/>
            </a:prstGeom>
            <a:noFill/>
            <a:ln w="19050">
              <a:noFill/>
            </a:ln>
          </p:spPr>
          <p:txBody>
            <a:bodyPr wrap="none">
              <a:spAutoFit/>
            </a:bodyPr>
            <a:lstStyle/>
            <a:p>
              <a:pPr eaLnBrk="1" hangingPunct="1"/>
              <a:r>
                <a:rPr lang="zh-CN" altLang="en-US" sz="2000" dirty="0">
                  <a:solidFill>
                    <a:srgbClr val="FF00FF"/>
                  </a:solidFill>
                  <a:latin typeface="Times New Roman" panose="02020603050405020304" pitchFamily="18" charset="0"/>
                  <a:ea typeface="宋体" panose="02010600030101010101" pitchFamily="2" charset="-122"/>
                </a:rPr>
                <a:t>比较器</a:t>
              </a:r>
            </a:p>
          </p:txBody>
        </p:sp>
        <p:sp>
          <p:nvSpPr>
            <p:cNvPr id="53317" name="文本框 47170"/>
            <p:cNvSpPr txBox="1"/>
            <p:nvPr/>
          </p:nvSpPr>
          <p:spPr>
            <a:xfrm>
              <a:off x="0" y="823"/>
              <a:ext cx="730"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REF</a:t>
              </a:r>
              <a:r>
                <a:rPr lang="en-US" altLang="zh-CN" sz="2400" dirty="0">
                  <a:latin typeface="Times New Roman" panose="02020603050405020304" pitchFamily="18" charset="0"/>
                  <a:ea typeface="宋体" panose="02010600030101010101" pitchFamily="2" charset="-122"/>
                </a:rPr>
                <a:t>&lt;0</a:t>
              </a:r>
            </a:p>
          </p:txBody>
        </p:sp>
        <p:sp>
          <p:nvSpPr>
            <p:cNvPr id="53318" name="椭圆 47269"/>
            <p:cNvSpPr/>
            <p:nvPr/>
          </p:nvSpPr>
          <p:spPr>
            <a:xfrm>
              <a:off x="1067" y="526"/>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319" name="椭圆 47270"/>
            <p:cNvSpPr/>
            <p:nvPr/>
          </p:nvSpPr>
          <p:spPr>
            <a:xfrm>
              <a:off x="1067" y="751"/>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320" name="椭圆 47271"/>
            <p:cNvSpPr/>
            <p:nvPr/>
          </p:nvSpPr>
          <p:spPr>
            <a:xfrm>
              <a:off x="1726" y="502"/>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3321" name="椭圆 47272"/>
            <p:cNvSpPr/>
            <p:nvPr/>
          </p:nvSpPr>
          <p:spPr>
            <a:xfrm>
              <a:off x="1726" y="851"/>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sp>
        <p:nvSpPr>
          <p:cNvPr id="47276" name="文本框 47275"/>
          <p:cNvSpPr txBox="1"/>
          <p:nvPr/>
        </p:nvSpPr>
        <p:spPr>
          <a:xfrm>
            <a:off x="7848600" y="2971800"/>
            <a:ext cx="2176780" cy="460375"/>
          </a:xfrm>
          <a:prstGeom prst="rect">
            <a:avLst/>
          </a:prstGeom>
          <a:solidFill>
            <a:schemeClr val="accent1"/>
          </a:solidFill>
          <a:ln w="19050">
            <a:noFill/>
          </a:ln>
        </p:spPr>
        <p:txBody>
          <a:bodyPr wrap="none">
            <a:spAutoFit/>
          </a:bodyPr>
          <a:lstStyle/>
          <a:p>
            <a:pPr eaLnBrk="1" hangingPunct="1"/>
            <a:r>
              <a:rPr lang="zh-CN" altLang="en-US" sz="2400" dirty="0">
                <a:solidFill>
                  <a:srgbClr val="FF00FF"/>
                </a:solidFill>
                <a:latin typeface="Times New Roman" panose="02020603050405020304" pitchFamily="18" charset="0"/>
              </a:rPr>
              <a:t>可见</a:t>
            </a:r>
            <a:r>
              <a:rPr lang="en-US" altLang="zh-CN" sz="2400" i="1" dirty="0">
                <a:solidFill>
                  <a:srgbClr val="FF00FF"/>
                </a:solidFill>
                <a:latin typeface="Times New Roman" panose="02020603050405020304" pitchFamily="18" charset="0"/>
              </a:rPr>
              <a:t>T</a:t>
            </a:r>
            <a:r>
              <a:rPr lang="en-US" altLang="zh-CN" sz="2400" baseline="-25000" dirty="0">
                <a:solidFill>
                  <a:srgbClr val="FF00FF"/>
                </a:solidFill>
                <a:latin typeface="Times New Roman" panose="02020603050405020304" pitchFamily="18" charset="0"/>
              </a:rPr>
              <a:t>2</a:t>
            </a:r>
            <a:r>
              <a:rPr lang="zh-CN" altLang="en-US" sz="2400" dirty="0">
                <a:solidFill>
                  <a:srgbClr val="FF00FF"/>
                </a:solidFill>
                <a:latin typeface="Times New Roman" panose="02020603050405020304" pitchFamily="18" charset="0"/>
              </a:rPr>
              <a:t>正比于</a:t>
            </a:r>
            <a:r>
              <a:rPr lang="en-US" altLang="zh-CN" sz="2400" i="1" dirty="0">
                <a:solidFill>
                  <a:srgbClr val="FF00FF"/>
                </a:solidFill>
                <a:latin typeface="Times New Roman" panose="02020603050405020304" pitchFamily="18" charset="0"/>
              </a:rPr>
              <a:t>v</a:t>
            </a:r>
            <a:r>
              <a:rPr lang="en-US" altLang="zh-CN" sz="2400" baseline="-25000" dirty="0">
                <a:solidFill>
                  <a:srgbClr val="FF00FF"/>
                </a:solidFill>
                <a:latin typeface="Times New Roman" panose="02020603050405020304" pitchFamily="18" charset="0"/>
              </a:rPr>
              <a:t>I</a:t>
            </a:r>
          </a:p>
        </p:txBody>
      </p:sp>
      <p:grpSp>
        <p:nvGrpSpPr>
          <p:cNvPr id="47284" name="组合 47283"/>
          <p:cNvGrpSpPr/>
          <p:nvPr/>
        </p:nvGrpSpPr>
        <p:grpSpPr>
          <a:xfrm>
            <a:off x="7543800" y="1524000"/>
            <a:ext cx="1444625" cy="1295400"/>
            <a:chOff x="3792" y="960"/>
            <a:chExt cx="910" cy="816"/>
          </a:xfrm>
        </p:grpSpPr>
        <p:graphicFrame>
          <p:nvGraphicFramePr>
            <p:cNvPr id="53264" name="对象 47278"/>
            <p:cNvGraphicFramePr/>
            <p:nvPr/>
          </p:nvGraphicFramePr>
          <p:xfrm>
            <a:off x="3792" y="1248"/>
            <a:ext cx="910" cy="528"/>
          </p:xfrm>
          <a:graphic>
            <a:graphicData uri="http://schemas.openxmlformats.org/presentationml/2006/ole">
              <mc:AlternateContent xmlns:mc="http://schemas.openxmlformats.org/markup-compatibility/2006">
                <mc:Choice xmlns:v="urn:schemas-microsoft-com:vml" Requires="v">
                  <p:oleObj spid="_x0000_s345095" r:id="rId7" imgW="697865" imgH="405765" progId="Equation.3">
                    <p:embed/>
                  </p:oleObj>
                </mc:Choice>
                <mc:Fallback>
                  <p:oleObj r:id="rId7" imgW="697865" imgH="405765" progId="Equation.3">
                    <p:embed/>
                    <p:pic>
                      <p:nvPicPr>
                        <p:cNvPr id="0" name="图片 3095"/>
                        <p:cNvPicPr/>
                        <p:nvPr/>
                      </p:nvPicPr>
                      <p:blipFill>
                        <a:blip r:embed="rId8"/>
                        <a:stretch>
                          <a:fillRect/>
                        </a:stretch>
                      </p:blipFill>
                      <p:spPr>
                        <a:xfrm>
                          <a:off x="3792" y="1248"/>
                          <a:ext cx="910" cy="528"/>
                        </a:xfrm>
                        <a:prstGeom prst="rect">
                          <a:avLst/>
                        </a:prstGeom>
                        <a:noFill/>
                        <a:ln w="38100">
                          <a:noFill/>
                          <a:miter/>
                        </a:ln>
                      </p:spPr>
                    </p:pic>
                  </p:oleObj>
                </mc:Fallback>
              </mc:AlternateContent>
            </a:graphicData>
          </a:graphic>
        </p:graphicFrame>
        <p:sp>
          <p:nvSpPr>
            <p:cNvPr id="53265" name="直接连接符 47282"/>
            <p:cNvSpPr/>
            <p:nvPr/>
          </p:nvSpPr>
          <p:spPr>
            <a:xfrm flipH="1">
              <a:off x="4176" y="960"/>
              <a:ext cx="240" cy="432"/>
            </a:xfrm>
            <a:prstGeom prst="line">
              <a:avLst/>
            </a:prstGeom>
            <a:ln w="19050" cap="flat" cmpd="sng">
              <a:solidFill>
                <a:schemeClr val="hlink"/>
              </a:solidFill>
              <a:prstDash val="solid"/>
              <a:headEnd type="triangle" w="med" len="med"/>
              <a:tailEnd type="none" w="med" len="med"/>
            </a:ln>
          </p:spPr>
        </p:sp>
      </p:grpSp>
      <p:grpSp>
        <p:nvGrpSpPr>
          <p:cNvPr id="47286" name="组合 47285"/>
          <p:cNvGrpSpPr/>
          <p:nvPr/>
        </p:nvGrpSpPr>
        <p:grpSpPr>
          <a:xfrm>
            <a:off x="9275763" y="1447800"/>
            <a:ext cx="1392237" cy="1371600"/>
            <a:chOff x="4883" y="912"/>
            <a:chExt cx="877" cy="864"/>
          </a:xfrm>
        </p:grpSpPr>
        <p:graphicFrame>
          <p:nvGraphicFramePr>
            <p:cNvPr id="53262" name="对象 47281"/>
            <p:cNvGraphicFramePr/>
            <p:nvPr/>
          </p:nvGraphicFramePr>
          <p:xfrm>
            <a:off x="4883" y="1248"/>
            <a:ext cx="877" cy="528"/>
          </p:xfrm>
          <a:graphic>
            <a:graphicData uri="http://schemas.openxmlformats.org/presentationml/2006/ole">
              <mc:AlternateContent xmlns:mc="http://schemas.openxmlformats.org/markup-compatibility/2006">
                <mc:Choice xmlns:v="urn:schemas-microsoft-com:vml" Requires="v">
                  <p:oleObj spid="_x0000_s345096" r:id="rId9" imgW="672465" imgH="405765" progId="Equation.3">
                    <p:embed/>
                  </p:oleObj>
                </mc:Choice>
                <mc:Fallback>
                  <p:oleObj r:id="rId9" imgW="672465" imgH="405765" progId="Equation.3">
                    <p:embed/>
                    <p:pic>
                      <p:nvPicPr>
                        <p:cNvPr id="0" name="图片 3097"/>
                        <p:cNvPicPr/>
                        <p:nvPr/>
                      </p:nvPicPr>
                      <p:blipFill>
                        <a:blip r:embed="rId10"/>
                        <a:stretch>
                          <a:fillRect/>
                        </a:stretch>
                      </p:blipFill>
                      <p:spPr>
                        <a:xfrm>
                          <a:off x="4883" y="1248"/>
                          <a:ext cx="877" cy="528"/>
                        </a:xfrm>
                        <a:prstGeom prst="rect">
                          <a:avLst/>
                        </a:prstGeom>
                        <a:noFill/>
                        <a:ln w="38100">
                          <a:noFill/>
                          <a:miter/>
                        </a:ln>
                      </p:spPr>
                    </p:pic>
                  </p:oleObj>
                </mc:Fallback>
              </mc:AlternateContent>
            </a:graphicData>
          </a:graphic>
        </p:graphicFrame>
        <p:sp>
          <p:nvSpPr>
            <p:cNvPr id="53263" name="直接连接符 47284"/>
            <p:cNvSpPr/>
            <p:nvPr/>
          </p:nvSpPr>
          <p:spPr>
            <a:xfrm flipH="1" flipV="1">
              <a:off x="4944" y="912"/>
              <a:ext cx="384" cy="336"/>
            </a:xfrm>
            <a:prstGeom prst="line">
              <a:avLst/>
            </a:prstGeom>
            <a:ln w="19050" cap="flat" cmpd="sng">
              <a:solidFill>
                <a:schemeClr val="hlink"/>
              </a:solidFill>
              <a:prstDash val="solid"/>
              <a:headEnd type="none" w="med" len="med"/>
              <a:tailEnd type="triangle" w="med" len="med"/>
            </a:ln>
          </p:spPr>
        </p:sp>
      </p:grpSp>
      <p:sp>
        <p:nvSpPr>
          <p:cNvPr id="53261" name="任意多边形 47286"/>
          <p:cNvSpPr/>
          <p:nvPr/>
        </p:nvSpPr>
        <p:spPr>
          <a:xfrm>
            <a:off x="2927350" y="3213100"/>
            <a:ext cx="720725" cy="215900"/>
          </a:xfrm>
          <a:custGeom>
            <a:avLst/>
            <a:gdLst/>
            <a:ahLst/>
            <a:cxnLst>
              <a:cxn ang="0">
                <a:pos x="0" y="215900"/>
              </a:cxn>
              <a:cxn ang="0">
                <a:pos x="144463" y="215900"/>
              </a:cxn>
              <a:cxn ang="0">
                <a:pos x="144463" y="0"/>
              </a:cxn>
              <a:cxn ang="0">
                <a:pos x="576263" y="0"/>
              </a:cxn>
              <a:cxn ang="0">
                <a:pos x="576263" y="215900"/>
              </a:cxn>
              <a:cxn ang="0">
                <a:pos x="720725" y="215900"/>
              </a:cxn>
            </a:cxnLst>
            <a:rect l="0" t="0" r="0" b="0"/>
            <a:pathLst>
              <a:path w="454" h="91">
                <a:moveTo>
                  <a:pt x="0" y="91"/>
                </a:moveTo>
                <a:lnTo>
                  <a:pt x="91" y="91"/>
                </a:lnTo>
                <a:lnTo>
                  <a:pt x="91" y="0"/>
                </a:lnTo>
                <a:lnTo>
                  <a:pt x="363" y="0"/>
                </a:lnTo>
                <a:lnTo>
                  <a:pt x="363" y="91"/>
                </a:lnTo>
                <a:lnTo>
                  <a:pt x="454" y="91"/>
                </a:lnTo>
              </a:path>
            </a:pathLst>
          </a:custGeom>
          <a:noFill/>
          <a:ln w="28575" cap="flat" cmpd="sng">
            <a:solidFill>
              <a:srgbClr val="006600">
                <a:alpha val="100000"/>
              </a:srgbClr>
            </a:solidFill>
            <a:prstDash val="solid"/>
            <a:round/>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72"/>
                                        </p:tgtEl>
                                        <p:attrNameLst>
                                          <p:attrName>style.visibility</p:attrName>
                                        </p:attrNameLst>
                                      </p:cBhvr>
                                      <p:to>
                                        <p:strVal val="visible"/>
                                      </p:to>
                                    </p:set>
                                    <p:animEffect transition="in" filter="wipe(left)">
                                      <p:cBhvr>
                                        <p:cTn id="7" dur="500"/>
                                        <p:tgtEl>
                                          <p:spTgt spid="471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73"/>
                                        </p:tgtEl>
                                        <p:attrNameLst>
                                          <p:attrName>style.visibility</p:attrName>
                                        </p:attrNameLst>
                                      </p:cBhvr>
                                      <p:to>
                                        <p:strVal val="visible"/>
                                      </p:to>
                                    </p:set>
                                    <p:animEffect transition="in" filter="wipe(left)">
                                      <p:cBhvr>
                                        <p:cTn id="12" dur="500"/>
                                        <p:tgtEl>
                                          <p:spTgt spid="4717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7266"/>
                                        </p:tgtEl>
                                        <p:attrNameLst>
                                          <p:attrName>style.visibility</p:attrName>
                                        </p:attrNameLst>
                                      </p:cBhvr>
                                      <p:to>
                                        <p:strVal val="visible"/>
                                      </p:to>
                                    </p:set>
                                    <p:animEffect transition="in" filter="wipe(left)">
                                      <p:cBhvr>
                                        <p:cTn id="17" dur="500"/>
                                        <p:tgtEl>
                                          <p:spTgt spid="4726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7267"/>
                                        </p:tgtEl>
                                        <p:attrNameLst>
                                          <p:attrName>style.visibility</p:attrName>
                                        </p:attrNameLst>
                                      </p:cBhvr>
                                      <p:to>
                                        <p:strVal val="visible"/>
                                      </p:to>
                                    </p:set>
                                    <p:animEffect transition="in" filter="wipe(left)">
                                      <p:cBhvr>
                                        <p:cTn id="22" dur="500"/>
                                        <p:tgtEl>
                                          <p:spTgt spid="4726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7284"/>
                                        </p:tgtEl>
                                        <p:attrNameLst>
                                          <p:attrName>style.visibility</p:attrName>
                                        </p:attrNameLst>
                                      </p:cBhvr>
                                      <p:to>
                                        <p:strVal val="visible"/>
                                      </p:to>
                                    </p:set>
                                    <p:animEffect transition="in" filter="wipe(left)">
                                      <p:cBhvr>
                                        <p:cTn id="27" dur="500"/>
                                        <p:tgtEl>
                                          <p:spTgt spid="4728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7176"/>
                                        </p:tgtEl>
                                        <p:attrNameLst>
                                          <p:attrName>style.visibility</p:attrName>
                                        </p:attrNameLst>
                                      </p:cBhvr>
                                      <p:to>
                                        <p:strVal val="visible"/>
                                      </p:to>
                                    </p:set>
                                    <p:animEffect transition="in" filter="wipe(left)">
                                      <p:cBhvr>
                                        <p:cTn id="32" dur="500"/>
                                        <p:tgtEl>
                                          <p:spTgt spid="4717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7268"/>
                                        </p:tgtEl>
                                        <p:attrNameLst>
                                          <p:attrName>style.visibility</p:attrName>
                                        </p:attrNameLst>
                                      </p:cBhvr>
                                      <p:to>
                                        <p:strVal val="visible"/>
                                      </p:to>
                                    </p:set>
                                    <p:animEffect transition="in" filter="wipe(left)">
                                      <p:cBhvr>
                                        <p:cTn id="37" dur="500"/>
                                        <p:tgtEl>
                                          <p:spTgt spid="4726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7286"/>
                                        </p:tgtEl>
                                        <p:attrNameLst>
                                          <p:attrName>style.visibility</p:attrName>
                                        </p:attrNameLst>
                                      </p:cBhvr>
                                      <p:to>
                                        <p:strVal val="visible"/>
                                      </p:to>
                                    </p:set>
                                    <p:animEffect transition="in" filter="wipe(left)">
                                      <p:cBhvr>
                                        <p:cTn id="42" dur="500"/>
                                        <p:tgtEl>
                                          <p:spTgt spid="4728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47276"/>
                                        </p:tgtEl>
                                        <p:attrNameLst>
                                          <p:attrName>style.visibility</p:attrName>
                                        </p:attrNameLst>
                                      </p:cBhvr>
                                      <p:to>
                                        <p:strVal val="visible"/>
                                      </p:to>
                                    </p:set>
                                    <p:animEffect transition="in" filter="wipe(left)">
                                      <p:cBhvr>
                                        <p:cTn id="47" dur="500"/>
                                        <p:tgtEl>
                                          <p:spTgt spid="4727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7275"/>
                                        </p:tgtEl>
                                        <p:attrNameLst>
                                          <p:attrName>style.visibility</p:attrName>
                                        </p:attrNameLst>
                                      </p:cBhvr>
                                      <p:to>
                                        <p:strVal val="visible"/>
                                      </p:to>
                                    </p:set>
                                    <p:animEffect transition="in" filter="wipe(left)">
                                      <p:cBhvr>
                                        <p:cTn id="52" dur="500"/>
                                        <p:tgtEl>
                                          <p:spTgt spid="47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72" grpId="0" bldLvl="0" animBg="1"/>
      <p:bldP spid="47173" grpId="0" bldLvl="0" animBg="1"/>
      <p:bldP spid="47176" grpId="0" bldLvl="0" animBg="1"/>
      <p:bldP spid="47276"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框 36865"/>
          <p:cNvSpPr txBox="1"/>
          <p:nvPr/>
        </p:nvSpPr>
        <p:spPr>
          <a:xfrm>
            <a:off x="1703388" y="4076700"/>
            <a:ext cx="7162800" cy="460375"/>
          </a:xfrm>
          <a:prstGeom prst="rect">
            <a:avLst/>
          </a:prstGeom>
          <a:noFill/>
          <a:ln w="19050">
            <a:noFill/>
          </a:ln>
        </p:spPr>
        <p:txBody>
          <a:bodyPr>
            <a:spAutoFit/>
          </a:bodyPr>
          <a:lstStyle/>
          <a:p>
            <a:pPr eaLnBrk="1" hangingPunct="1">
              <a:spcBef>
                <a:spcPct val="50000"/>
              </a:spcBef>
            </a:pPr>
            <a:r>
              <a:rPr lang="zh-CN" altLang="en-US" sz="2400" dirty="0">
                <a:solidFill>
                  <a:srgbClr val="0000CC"/>
                </a:solidFill>
                <a:latin typeface="Times New Roman" panose="02020603050405020304" pitchFamily="18" charset="0"/>
              </a:rPr>
              <a:t>令计数器在</a:t>
            </a:r>
            <a:r>
              <a:rPr lang="en-US" altLang="zh-CN" sz="2400" i="1" dirty="0">
                <a:solidFill>
                  <a:srgbClr val="0000CC"/>
                </a:solidFill>
                <a:latin typeface="Times New Roman" panose="02020603050405020304" pitchFamily="18" charset="0"/>
              </a:rPr>
              <a:t>T</a:t>
            </a:r>
            <a:r>
              <a:rPr lang="en-US" altLang="zh-CN" sz="2400" baseline="-25000" dirty="0">
                <a:solidFill>
                  <a:srgbClr val="0000CC"/>
                </a:solidFill>
                <a:latin typeface="Times New Roman" panose="02020603050405020304" pitchFamily="18" charset="0"/>
              </a:rPr>
              <a:t>2</a:t>
            </a:r>
            <a:r>
              <a:rPr lang="zh-CN" altLang="en-US" sz="2400" dirty="0">
                <a:solidFill>
                  <a:srgbClr val="0000CC"/>
                </a:solidFill>
                <a:latin typeface="Times New Roman" panose="02020603050405020304" pitchFamily="18" charset="0"/>
              </a:rPr>
              <a:t>时间里对频率为</a:t>
            </a:r>
            <a:r>
              <a:rPr lang="en-US" altLang="zh-CN" sz="2400" i="1" dirty="0">
                <a:solidFill>
                  <a:srgbClr val="0000CC"/>
                </a:solidFill>
                <a:latin typeface="Times New Roman" panose="02020603050405020304" pitchFamily="18" charset="0"/>
              </a:rPr>
              <a:t>f</a:t>
            </a:r>
            <a:r>
              <a:rPr lang="en-US" altLang="zh-CN" sz="2400" baseline="-25000" dirty="0">
                <a:solidFill>
                  <a:srgbClr val="0000CC"/>
                </a:solidFill>
                <a:latin typeface="Times New Roman" panose="02020603050405020304" pitchFamily="18" charset="0"/>
              </a:rPr>
              <a:t>C</a:t>
            </a:r>
            <a:r>
              <a:rPr lang="zh-CN" altLang="en-US" sz="2400" dirty="0">
                <a:solidFill>
                  <a:srgbClr val="0000CC"/>
                </a:solidFill>
                <a:latin typeface="Times New Roman" panose="02020603050405020304" pitchFamily="18" charset="0"/>
              </a:rPr>
              <a:t>的脉冲进行计数，</a:t>
            </a:r>
          </a:p>
        </p:txBody>
      </p:sp>
      <p:graphicFrame>
        <p:nvGraphicFramePr>
          <p:cNvPr id="36868" name="对象 36867"/>
          <p:cNvGraphicFramePr/>
          <p:nvPr/>
        </p:nvGraphicFramePr>
        <p:xfrm>
          <a:off x="3097213" y="4598988"/>
          <a:ext cx="2654300" cy="917575"/>
        </p:xfrm>
        <a:graphic>
          <a:graphicData uri="http://schemas.openxmlformats.org/presentationml/2006/ole">
            <mc:AlternateContent xmlns:mc="http://schemas.openxmlformats.org/markup-compatibility/2006">
              <mc:Choice xmlns:v="urn:schemas-microsoft-com:vml" Requires="v">
                <p:oleObj spid="_x0000_s346115" r:id="rId3" imgW="1282065" imgH="444500" progId="Equation.3">
                  <p:embed/>
                </p:oleObj>
              </mc:Choice>
              <mc:Fallback>
                <p:oleObj r:id="rId3" imgW="1282065" imgH="444500" progId="Equation.3">
                  <p:embed/>
                  <p:pic>
                    <p:nvPicPr>
                      <p:cNvPr id="0" name="图片 3096"/>
                      <p:cNvPicPr/>
                      <p:nvPr/>
                    </p:nvPicPr>
                    <p:blipFill>
                      <a:blip r:embed="rId4"/>
                      <a:stretch>
                        <a:fillRect/>
                      </a:stretch>
                    </p:blipFill>
                    <p:spPr>
                      <a:xfrm>
                        <a:off x="3097213" y="4598988"/>
                        <a:ext cx="2654300" cy="917575"/>
                      </a:xfrm>
                      <a:prstGeom prst="rect">
                        <a:avLst/>
                      </a:prstGeom>
                      <a:noFill/>
                      <a:ln w="38100">
                        <a:noFill/>
                        <a:miter/>
                      </a:ln>
                    </p:spPr>
                  </p:pic>
                </p:oleObj>
              </mc:Fallback>
            </mc:AlternateContent>
          </a:graphicData>
        </a:graphic>
      </p:graphicFrame>
      <p:sp>
        <p:nvSpPr>
          <p:cNvPr id="37094" name="矩形 37093"/>
          <p:cNvSpPr/>
          <p:nvPr/>
        </p:nvSpPr>
        <p:spPr>
          <a:xfrm>
            <a:off x="1703388" y="4797425"/>
            <a:ext cx="1584325" cy="460375"/>
          </a:xfrm>
          <a:prstGeom prst="rect">
            <a:avLst/>
          </a:prstGeom>
          <a:noFill/>
          <a:ln w="19050">
            <a:noFill/>
          </a:ln>
        </p:spPr>
        <p:txBody>
          <a:bodyPr>
            <a:spAutoFit/>
          </a:bodyPr>
          <a:lstStyle/>
          <a:p>
            <a:pPr eaLnBrk="1" hangingPunct="1">
              <a:spcBef>
                <a:spcPct val="50000"/>
              </a:spcBef>
            </a:pPr>
            <a:r>
              <a:rPr lang="zh-CN" altLang="en-US" sz="2400" dirty="0">
                <a:solidFill>
                  <a:srgbClr val="FF00FF"/>
                </a:solidFill>
                <a:latin typeface="Times New Roman" panose="02020603050405020304" pitchFamily="18" charset="0"/>
              </a:rPr>
              <a:t>计数值：</a:t>
            </a:r>
          </a:p>
        </p:txBody>
      </p:sp>
      <p:sp>
        <p:nvSpPr>
          <p:cNvPr id="37103" name="文本框 37102"/>
          <p:cNvSpPr txBox="1"/>
          <p:nvPr/>
        </p:nvSpPr>
        <p:spPr>
          <a:xfrm>
            <a:off x="6024563" y="4868863"/>
            <a:ext cx="3042920" cy="460375"/>
          </a:xfrm>
          <a:prstGeom prst="rect">
            <a:avLst/>
          </a:prstGeom>
          <a:solidFill>
            <a:schemeClr val="accent1"/>
          </a:solidFill>
          <a:ln w="19050">
            <a:noFill/>
          </a:ln>
        </p:spPr>
        <p:txBody>
          <a:bodyPr wrap="none">
            <a:spAutoFit/>
          </a:bodyPr>
          <a:lstStyle/>
          <a:p>
            <a:pPr eaLnBrk="1" hangingPunct="1"/>
            <a:r>
              <a:rPr lang="zh-CN" altLang="en-US" sz="2400" dirty="0">
                <a:solidFill>
                  <a:srgbClr val="FF00FF"/>
                </a:solidFill>
                <a:latin typeface="Times New Roman" panose="02020603050405020304" pitchFamily="18" charset="0"/>
              </a:rPr>
              <a:t>可见计数值</a:t>
            </a:r>
            <a:r>
              <a:rPr lang="en-US" altLang="zh-CN" sz="2400" i="1" dirty="0">
                <a:solidFill>
                  <a:srgbClr val="FF00FF"/>
                </a:solidFill>
                <a:latin typeface="Times New Roman" panose="02020603050405020304" pitchFamily="18" charset="0"/>
              </a:rPr>
              <a:t>D</a:t>
            </a:r>
            <a:r>
              <a:rPr lang="zh-CN" altLang="en-US" sz="2400" dirty="0">
                <a:solidFill>
                  <a:srgbClr val="FF00FF"/>
                </a:solidFill>
                <a:latin typeface="Times New Roman" panose="02020603050405020304" pitchFamily="18" charset="0"/>
              </a:rPr>
              <a:t>正比于</a:t>
            </a:r>
            <a:r>
              <a:rPr lang="en-US" altLang="zh-CN" sz="2400" i="1" dirty="0">
                <a:solidFill>
                  <a:srgbClr val="FF00FF"/>
                </a:solidFill>
                <a:latin typeface="Times New Roman" panose="02020603050405020304" pitchFamily="18" charset="0"/>
              </a:rPr>
              <a:t>v</a:t>
            </a:r>
            <a:r>
              <a:rPr lang="en-US" altLang="zh-CN" sz="2400" baseline="-25000" dirty="0">
                <a:solidFill>
                  <a:srgbClr val="FF00FF"/>
                </a:solidFill>
                <a:latin typeface="Times New Roman" panose="02020603050405020304" pitchFamily="18" charset="0"/>
              </a:rPr>
              <a:t>I</a:t>
            </a:r>
          </a:p>
        </p:txBody>
      </p:sp>
      <p:grpSp>
        <p:nvGrpSpPr>
          <p:cNvPr id="54278" name="组合 37179"/>
          <p:cNvGrpSpPr/>
          <p:nvPr/>
        </p:nvGrpSpPr>
        <p:grpSpPr>
          <a:xfrm>
            <a:off x="1524000" y="0"/>
            <a:ext cx="5518150" cy="3498851"/>
            <a:chOff x="0" y="0"/>
            <a:chExt cx="3476" cy="2204"/>
          </a:xfrm>
        </p:grpSpPr>
        <p:sp>
          <p:nvSpPr>
            <p:cNvPr id="54337" name="等腰三角形 37180"/>
            <p:cNvSpPr/>
            <p:nvPr/>
          </p:nvSpPr>
          <p:spPr>
            <a:xfrm rot="-5400000" flipV="1">
              <a:off x="2250" y="755"/>
              <a:ext cx="388" cy="417"/>
            </a:xfrm>
            <a:prstGeom prst="triangle">
              <a:avLst>
                <a:gd name="adj" fmla="val 50000"/>
              </a:avLst>
            </a:prstGeom>
            <a:solidFill>
              <a:srgbClr val="FFCCFF"/>
            </a:solid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38" name="文本框 37181"/>
            <p:cNvSpPr txBox="1"/>
            <p:nvPr/>
          </p:nvSpPr>
          <p:spPr>
            <a:xfrm>
              <a:off x="3167" y="1248"/>
              <a:ext cx="309" cy="912"/>
            </a:xfrm>
            <a:prstGeom prst="rect">
              <a:avLst/>
            </a:prstGeom>
            <a:noFill/>
            <a:ln w="19050">
              <a:noFill/>
            </a:ln>
          </p:spPr>
          <p:txBody>
            <a:bodyPr vert="eaVert">
              <a:spAutoFit/>
            </a:bodyPr>
            <a:lstStyle/>
            <a:p>
              <a:pPr eaLnBrk="1" hangingPunct="1">
                <a:spcBef>
                  <a:spcPct val="50000"/>
                </a:spcBef>
              </a:pPr>
              <a:r>
                <a:rPr lang="zh-CN" altLang="en-US" sz="2000" dirty="0">
                  <a:latin typeface="Times New Roman" panose="02020603050405020304" pitchFamily="18" charset="0"/>
                  <a:ea typeface="宋体" panose="02010600030101010101" pitchFamily="2" charset="-122"/>
                </a:rPr>
                <a:t>数字量输出</a:t>
              </a:r>
            </a:p>
          </p:txBody>
        </p:sp>
        <p:sp>
          <p:nvSpPr>
            <p:cNvPr id="54339" name="矩形 37182"/>
            <p:cNvSpPr/>
            <p:nvPr/>
          </p:nvSpPr>
          <p:spPr>
            <a:xfrm>
              <a:off x="1840" y="587"/>
              <a:ext cx="290"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O</a:t>
              </a:r>
            </a:p>
          </p:txBody>
        </p:sp>
        <p:sp>
          <p:nvSpPr>
            <p:cNvPr id="54340" name="文本框 37183"/>
            <p:cNvSpPr txBox="1"/>
            <p:nvPr/>
          </p:nvSpPr>
          <p:spPr>
            <a:xfrm>
              <a:off x="1754" y="1724"/>
              <a:ext cx="311"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CP</a:t>
              </a:r>
            </a:p>
          </p:txBody>
        </p:sp>
        <p:sp>
          <p:nvSpPr>
            <p:cNvPr id="54341" name="上箭头 37184"/>
            <p:cNvSpPr/>
            <p:nvPr/>
          </p:nvSpPr>
          <p:spPr>
            <a:xfrm rot="5400000">
              <a:off x="2653" y="1474"/>
              <a:ext cx="288" cy="336"/>
            </a:xfrm>
            <a:prstGeom prst="upArrow">
              <a:avLst>
                <a:gd name="adj1" fmla="val 50000"/>
                <a:gd name="adj2" fmla="val 29150"/>
              </a:avLst>
            </a:prstGeom>
            <a:no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42" name="文本框 37185"/>
            <p:cNvSpPr txBox="1"/>
            <p:nvPr/>
          </p:nvSpPr>
          <p:spPr>
            <a:xfrm>
              <a:off x="1392" y="1930"/>
              <a:ext cx="768" cy="251"/>
            </a:xfrm>
            <a:prstGeom prst="rect">
              <a:avLst/>
            </a:prstGeom>
            <a:solidFill>
              <a:schemeClr val="bg1"/>
            </a:solidFill>
            <a:ln w="19050" cap="flat" cmpd="sng">
              <a:solidFill>
                <a:schemeClr val="tx1"/>
              </a:solidFill>
              <a:prstDash val="solid"/>
              <a:miter/>
              <a:headEnd type="none" w="med" len="med"/>
              <a:tailEnd type="none" w="med" len="med"/>
            </a:ln>
          </p:spPr>
          <p:txBody>
            <a:bodyPr>
              <a:spAutoFit/>
            </a:bodyPr>
            <a:lstStyle/>
            <a:p>
              <a:pPr algn="ctr" eaLnBrk="1" hangingPunct="1">
                <a:spcBef>
                  <a:spcPct val="50000"/>
                </a:spcBef>
              </a:pPr>
              <a:r>
                <a:rPr lang="zh-CN" altLang="en-US" sz="2000" dirty="0">
                  <a:latin typeface="Times New Roman" panose="02020603050405020304" pitchFamily="18" charset="0"/>
                  <a:ea typeface="宋体" panose="02010600030101010101" pitchFamily="2" charset="-122"/>
                </a:rPr>
                <a:t>脉冲源</a:t>
              </a:r>
            </a:p>
          </p:txBody>
        </p:sp>
        <p:sp>
          <p:nvSpPr>
            <p:cNvPr id="54343" name="矩形 37186"/>
            <p:cNvSpPr/>
            <p:nvPr/>
          </p:nvSpPr>
          <p:spPr>
            <a:xfrm>
              <a:off x="160" y="1759"/>
              <a:ext cx="755" cy="445"/>
            </a:xfrm>
            <a:prstGeom prst="rect">
              <a:avLst/>
            </a:prstGeom>
            <a:noFill/>
            <a:ln w="19050">
              <a:noFill/>
            </a:ln>
          </p:spPr>
          <p:txBody>
            <a:bodyPr wrap="none">
              <a:spAutoFit/>
            </a:bodyPr>
            <a:lstStyle/>
            <a:p>
              <a:pPr algn="ctr" eaLnBrk="1" hangingPunct="1"/>
              <a:r>
                <a:rPr lang="en-US" altLang="zh-CN" sz="2000" i="1" dirty="0">
                  <a:solidFill>
                    <a:srgbClr val="FF00FF"/>
                  </a:solidFill>
                  <a:latin typeface="Times New Roman" panose="02020603050405020304" pitchFamily="18" charset="0"/>
                  <a:ea typeface="宋体" panose="02010600030101010101" pitchFamily="2" charset="-122"/>
                </a:rPr>
                <a:t>v</a:t>
              </a:r>
              <a:r>
                <a:rPr lang="en-US" altLang="zh-CN" sz="2000" baseline="-25000" dirty="0">
                  <a:solidFill>
                    <a:srgbClr val="FF00FF"/>
                  </a:solidFill>
                  <a:latin typeface="Times New Roman" panose="02020603050405020304" pitchFamily="18" charset="0"/>
                  <a:ea typeface="宋体" panose="02010600030101010101" pitchFamily="2" charset="-122"/>
                </a:rPr>
                <a:t>L</a:t>
              </a:r>
              <a:endParaRPr lang="en-US" altLang="zh-CN" sz="2000" dirty="0">
                <a:solidFill>
                  <a:srgbClr val="FF00FF"/>
                </a:solidFill>
                <a:latin typeface="Times New Roman" panose="02020603050405020304" pitchFamily="18" charset="0"/>
                <a:ea typeface="宋体" panose="02010600030101010101" pitchFamily="2" charset="-122"/>
              </a:endParaRPr>
            </a:p>
            <a:p>
              <a:pPr algn="ctr" eaLnBrk="1" hangingPunct="1"/>
              <a:r>
                <a:rPr lang="zh-CN" altLang="en-US" sz="2000" dirty="0">
                  <a:solidFill>
                    <a:srgbClr val="FF00FF"/>
                  </a:solidFill>
                  <a:latin typeface="Times New Roman" panose="02020603050405020304" pitchFamily="18" charset="0"/>
                  <a:ea typeface="宋体" panose="02010600030101010101" pitchFamily="2" charset="-122"/>
                </a:rPr>
                <a:t>控制转换</a:t>
              </a:r>
              <a:endParaRPr lang="zh-CN" altLang="en-US" sz="2000" baseline="-25000" dirty="0">
                <a:solidFill>
                  <a:srgbClr val="FF00FF"/>
                </a:solidFill>
                <a:latin typeface="Times New Roman" panose="02020603050405020304" pitchFamily="18" charset="0"/>
                <a:ea typeface="宋体" panose="02010600030101010101" pitchFamily="2" charset="-122"/>
              </a:endParaRPr>
            </a:p>
          </p:txBody>
        </p:sp>
        <p:sp>
          <p:nvSpPr>
            <p:cNvPr id="54344" name="文本框 37187"/>
            <p:cNvSpPr txBox="1"/>
            <p:nvPr/>
          </p:nvSpPr>
          <p:spPr>
            <a:xfrm>
              <a:off x="1037" y="1450"/>
              <a:ext cx="912" cy="251"/>
            </a:xfrm>
            <a:prstGeom prst="rect">
              <a:avLst/>
            </a:prstGeom>
            <a:solidFill>
              <a:srgbClr val="CCCCFF"/>
            </a:solidFill>
            <a:ln w="19050" cap="flat" cmpd="sng">
              <a:solidFill>
                <a:schemeClr val="hlink"/>
              </a:solidFill>
              <a:prstDash val="solid"/>
              <a:miter/>
              <a:headEnd type="none" w="med" len="med"/>
              <a:tailEnd type="none" w="med" len="med"/>
            </a:ln>
          </p:spPr>
          <p:txBody>
            <a:bodyPr>
              <a:spAutoFit/>
            </a:bodyPr>
            <a:lstStyle/>
            <a:p>
              <a:pPr algn="ctr" eaLnBrk="1" hangingPunct="1">
                <a:spcBef>
                  <a:spcPct val="50000"/>
                </a:spcBef>
              </a:pPr>
              <a:r>
                <a:rPr lang="zh-CN" altLang="en-US" sz="2000" dirty="0">
                  <a:latin typeface="Times New Roman" panose="02020603050405020304" pitchFamily="18" charset="0"/>
                  <a:ea typeface="宋体" panose="02010600030101010101" pitchFamily="2" charset="-122"/>
                </a:rPr>
                <a:t>控制逻辑</a:t>
              </a:r>
            </a:p>
          </p:txBody>
        </p:sp>
        <p:sp>
          <p:nvSpPr>
            <p:cNvPr id="54345" name="矩形 37188"/>
            <p:cNvSpPr/>
            <p:nvPr/>
          </p:nvSpPr>
          <p:spPr>
            <a:xfrm>
              <a:off x="2640" y="1269"/>
              <a:ext cx="453"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MSB</a:t>
              </a:r>
            </a:p>
          </p:txBody>
        </p:sp>
        <p:sp>
          <p:nvSpPr>
            <p:cNvPr id="54346" name="矩形 37189"/>
            <p:cNvSpPr/>
            <p:nvPr/>
          </p:nvSpPr>
          <p:spPr>
            <a:xfrm>
              <a:off x="2640" y="1808"/>
              <a:ext cx="408"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LSB</a:t>
              </a:r>
            </a:p>
          </p:txBody>
        </p:sp>
        <p:sp>
          <p:nvSpPr>
            <p:cNvPr id="54347" name="右大括号 37190"/>
            <p:cNvSpPr/>
            <p:nvPr/>
          </p:nvSpPr>
          <p:spPr>
            <a:xfrm>
              <a:off x="3072" y="1328"/>
              <a:ext cx="96" cy="672"/>
            </a:xfrm>
            <a:prstGeom prst="rightBrace">
              <a:avLst>
                <a:gd name="adj1" fmla="val 58236"/>
                <a:gd name="adj2" fmla="val 50000"/>
              </a:avLst>
            </a:prstGeom>
            <a:no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48" name="文本框 37191"/>
            <p:cNvSpPr txBox="1"/>
            <p:nvPr/>
          </p:nvSpPr>
          <p:spPr>
            <a:xfrm>
              <a:off x="2189" y="652"/>
              <a:ext cx="358"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_</a:t>
              </a:r>
            </a:p>
          </p:txBody>
        </p:sp>
        <p:sp>
          <p:nvSpPr>
            <p:cNvPr id="54349" name="文本框 37192"/>
            <p:cNvSpPr txBox="1"/>
            <p:nvPr/>
          </p:nvSpPr>
          <p:spPr>
            <a:xfrm>
              <a:off x="2280" y="828"/>
              <a:ext cx="357"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C</a:t>
              </a:r>
            </a:p>
          </p:txBody>
        </p:sp>
        <p:sp>
          <p:nvSpPr>
            <p:cNvPr id="54350" name="文本框 37193"/>
            <p:cNvSpPr txBox="1"/>
            <p:nvPr/>
          </p:nvSpPr>
          <p:spPr>
            <a:xfrm>
              <a:off x="2179" y="918"/>
              <a:ext cx="358"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a:t>
              </a:r>
            </a:p>
          </p:txBody>
        </p:sp>
        <p:sp>
          <p:nvSpPr>
            <p:cNvPr id="54351" name="直接连接符 37194"/>
            <p:cNvSpPr/>
            <p:nvPr/>
          </p:nvSpPr>
          <p:spPr>
            <a:xfrm>
              <a:off x="1648" y="871"/>
              <a:ext cx="587" cy="0"/>
            </a:xfrm>
            <a:prstGeom prst="line">
              <a:avLst/>
            </a:prstGeom>
            <a:ln w="19050" cap="flat" cmpd="sng">
              <a:solidFill>
                <a:schemeClr val="hlink"/>
              </a:solidFill>
              <a:prstDash val="solid"/>
              <a:headEnd type="none" w="med" len="med"/>
              <a:tailEnd type="none" w="med" len="med"/>
            </a:ln>
          </p:spPr>
        </p:sp>
        <p:sp>
          <p:nvSpPr>
            <p:cNvPr id="54352" name="文本框 37195"/>
            <p:cNvSpPr txBox="1"/>
            <p:nvPr/>
          </p:nvSpPr>
          <p:spPr>
            <a:xfrm>
              <a:off x="2315" y="1306"/>
              <a:ext cx="309" cy="672"/>
            </a:xfrm>
            <a:prstGeom prst="rect">
              <a:avLst/>
            </a:prstGeom>
            <a:solidFill>
              <a:srgbClr val="CCFFCC"/>
            </a:solidFill>
            <a:ln w="19050" cap="flat" cmpd="sng">
              <a:solidFill>
                <a:schemeClr val="tx1"/>
              </a:solidFill>
              <a:prstDash val="solid"/>
              <a:miter/>
              <a:headEnd type="none" w="med" len="med"/>
              <a:tailEnd type="none" w="med" len="med"/>
            </a:ln>
          </p:spPr>
          <p:txBody>
            <a:bodyPr vert="eaVert">
              <a:spAutoFit/>
            </a:bodyPr>
            <a:lstStyle/>
            <a:p>
              <a:pPr algn="ctr" eaLnBrk="1" hangingPunct="1">
                <a:spcBef>
                  <a:spcPct val="50000"/>
                </a:spcBef>
              </a:pPr>
              <a:r>
                <a:rPr lang="zh-CN" altLang="en-US" sz="2000" dirty="0">
                  <a:latin typeface="Times New Roman" panose="02020603050405020304" pitchFamily="18" charset="0"/>
                  <a:ea typeface="宋体" panose="02010600030101010101" pitchFamily="2" charset="-122"/>
                </a:rPr>
                <a:t>计数器</a:t>
              </a:r>
            </a:p>
          </p:txBody>
        </p:sp>
        <p:sp>
          <p:nvSpPr>
            <p:cNvPr id="54353" name="任意多边形 37196"/>
            <p:cNvSpPr/>
            <p:nvPr/>
          </p:nvSpPr>
          <p:spPr>
            <a:xfrm>
              <a:off x="2128" y="1088"/>
              <a:ext cx="96" cy="96"/>
            </a:xfrm>
            <a:custGeom>
              <a:avLst/>
              <a:gdLst/>
              <a:ahLst/>
              <a:cxnLst>
                <a:cxn ang="0">
                  <a:pos x="96" y="0"/>
                </a:cxn>
                <a:cxn ang="0">
                  <a:pos x="0" y="0"/>
                </a:cxn>
                <a:cxn ang="0">
                  <a:pos x="0" y="96"/>
                </a:cxn>
              </a:cxnLst>
              <a:rect l="0" t="0" r="0" b="0"/>
              <a:pathLst>
                <a:path w="96" h="96">
                  <a:moveTo>
                    <a:pt x="96" y="0"/>
                  </a:moveTo>
                  <a:lnTo>
                    <a:pt x="0" y="0"/>
                  </a:lnTo>
                  <a:lnTo>
                    <a:pt x="0" y="96"/>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354" name="直接连接符 37197"/>
            <p:cNvSpPr/>
            <p:nvPr/>
          </p:nvSpPr>
          <p:spPr>
            <a:xfrm>
              <a:off x="2084" y="1177"/>
              <a:ext cx="96" cy="0"/>
            </a:xfrm>
            <a:prstGeom prst="line">
              <a:avLst/>
            </a:prstGeom>
            <a:ln w="19050" cap="flat" cmpd="sng">
              <a:solidFill>
                <a:schemeClr val="hlink"/>
              </a:solidFill>
              <a:prstDash val="solid"/>
              <a:headEnd type="none" w="med" len="med"/>
              <a:tailEnd type="none" w="med" len="med"/>
            </a:ln>
          </p:spPr>
        </p:sp>
        <p:sp>
          <p:nvSpPr>
            <p:cNvPr id="54355" name="任意多边形 37198"/>
            <p:cNvSpPr/>
            <p:nvPr/>
          </p:nvSpPr>
          <p:spPr>
            <a:xfrm>
              <a:off x="1488" y="956"/>
              <a:ext cx="1264" cy="480"/>
            </a:xfrm>
            <a:custGeom>
              <a:avLst/>
              <a:gdLst/>
              <a:ahLst/>
              <a:cxnLst>
                <a:cxn ang="0">
                  <a:pos x="1138" y="0"/>
                </a:cxn>
                <a:cxn ang="0">
                  <a:pos x="1264" y="0"/>
                </a:cxn>
                <a:cxn ang="0">
                  <a:pos x="1264" y="293"/>
                </a:cxn>
                <a:cxn ang="0">
                  <a:pos x="0" y="293"/>
                </a:cxn>
                <a:cxn ang="0">
                  <a:pos x="0" y="480"/>
                </a:cxn>
              </a:cxnLst>
              <a:rect l="0" t="0" r="0" b="0"/>
              <a:pathLst>
                <a:path w="960" h="480">
                  <a:moveTo>
                    <a:pt x="864" y="0"/>
                  </a:moveTo>
                  <a:lnTo>
                    <a:pt x="960" y="0"/>
                  </a:lnTo>
                  <a:lnTo>
                    <a:pt x="960" y="293"/>
                  </a:lnTo>
                  <a:lnTo>
                    <a:pt x="0" y="293"/>
                  </a:lnTo>
                  <a:lnTo>
                    <a:pt x="0" y="480"/>
                  </a:lnTo>
                </a:path>
              </a:pathLst>
            </a:custGeom>
            <a:noFill/>
            <a:ln w="19050" cap="flat" cmpd="sng">
              <a:solidFill>
                <a:schemeClr val="hlink">
                  <a:alpha val="100000"/>
                </a:schemeClr>
              </a:solidFill>
              <a:prstDash val="solid"/>
              <a:round/>
              <a:headEnd type="none" w="med" len="med"/>
              <a:tailEnd type="triangle" w="med" len="med"/>
            </a:ln>
          </p:spPr>
          <p:txBody>
            <a:bodyPr/>
            <a:lstStyle/>
            <a:p>
              <a:endParaRPr lang="zh-CN" altLang="en-US"/>
            </a:p>
          </p:txBody>
        </p:sp>
        <p:sp>
          <p:nvSpPr>
            <p:cNvPr id="54356" name="直接连接符 37199"/>
            <p:cNvSpPr/>
            <p:nvPr/>
          </p:nvSpPr>
          <p:spPr>
            <a:xfrm>
              <a:off x="1968" y="1532"/>
              <a:ext cx="336" cy="0"/>
            </a:xfrm>
            <a:prstGeom prst="line">
              <a:avLst/>
            </a:prstGeom>
            <a:ln w="19050" cap="flat" cmpd="sng">
              <a:solidFill>
                <a:schemeClr val="hlink"/>
              </a:solidFill>
              <a:prstDash val="solid"/>
              <a:headEnd type="none" w="med" len="med"/>
              <a:tailEnd type="triangle" w="med" len="med"/>
            </a:ln>
          </p:spPr>
        </p:sp>
        <p:sp>
          <p:nvSpPr>
            <p:cNvPr id="54357" name="直接连接符 37200"/>
            <p:cNvSpPr/>
            <p:nvPr/>
          </p:nvSpPr>
          <p:spPr>
            <a:xfrm>
              <a:off x="1942" y="1676"/>
              <a:ext cx="336" cy="0"/>
            </a:xfrm>
            <a:prstGeom prst="line">
              <a:avLst/>
            </a:prstGeom>
            <a:ln w="19050" cap="flat" cmpd="sng">
              <a:solidFill>
                <a:schemeClr val="hlink"/>
              </a:solidFill>
              <a:prstDash val="solid"/>
              <a:headEnd type="triangle" w="med" len="med"/>
              <a:tailEnd type="none" w="med" len="med"/>
            </a:ln>
          </p:spPr>
        </p:sp>
        <p:sp>
          <p:nvSpPr>
            <p:cNvPr id="54358" name="直接连接符 37201"/>
            <p:cNvSpPr/>
            <p:nvPr/>
          </p:nvSpPr>
          <p:spPr>
            <a:xfrm flipV="1">
              <a:off x="1765" y="1724"/>
              <a:ext cx="0" cy="192"/>
            </a:xfrm>
            <a:prstGeom prst="line">
              <a:avLst/>
            </a:prstGeom>
            <a:ln w="19050" cap="flat" cmpd="sng">
              <a:solidFill>
                <a:schemeClr val="hlink"/>
              </a:solidFill>
              <a:prstDash val="solid"/>
              <a:headEnd type="none" w="med" len="med"/>
              <a:tailEnd type="triangle" w="med" len="med"/>
            </a:ln>
          </p:spPr>
        </p:sp>
        <p:sp>
          <p:nvSpPr>
            <p:cNvPr id="54359" name="任意多边形 37202"/>
            <p:cNvSpPr/>
            <p:nvPr/>
          </p:nvSpPr>
          <p:spPr>
            <a:xfrm>
              <a:off x="657" y="1724"/>
              <a:ext cx="576" cy="240"/>
            </a:xfrm>
            <a:custGeom>
              <a:avLst/>
              <a:gdLst/>
              <a:ahLst/>
              <a:cxnLst>
                <a:cxn ang="0">
                  <a:pos x="0" y="240"/>
                </a:cxn>
                <a:cxn ang="0">
                  <a:pos x="576" y="240"/>
                </a:cxn>
                <a:cxn ang="0">
                  <a:pos x="576" y="0"/>
                </a:cxn>
              </a:cxnLst>
              <a:rect l="0" t="0" r="0" b="0"/>
              <a:pathLst>
                <a:path w="576" h="240">
                  <a:moveTo>
                    <a:pt x="0" y="240"/>
                  </a:moveTo>
                  <a:lnTo>
                    <a:pt x="576" y="240"/>
                  </a:lnTo>
                  <a:lnTo>
                    <a:pt x="576" y="0"/>
                  </a:lnTo>
                </a:path>
              </a:pathLst>
            </a:custGeom>
            <a:noFill/>
            <a:ln w="19050" cap="flat" cmpd="sng">
              <a:solidFill>
                <a:schemeClr val="hlink">
                  <a:alpha val="100000"/>
                </a:schemeClr>
              </a:solidFill>
              <a:prstDash val="solid"/>
              <a:round/>
              <a:headEnd type="none" w="med" len="med"/>
              <a:tailEnd type="triangle" w="med" len="med"/>
            </a:ln>
          </p:spPr>
          <p:txBody>
            <a:bodyPr/>
            <a:lstStyle/>
            <a:p>
              <a:endParaRPr lang="zh-CN" altLang="en-US"/>
            </a:p>
          </p:txBody>
        </p:sp>
        <p:sp>
          <p:nvSpPr>
            <p:cNvPr id="54360" name="直接连接符 37203"/>
            <p:cNvSpPr/>
            <p:nvPr/>
          </p:nvSpPr>
          <p:spPr>
            <a:xfrm flipH="1">
              <a:off x="842" y="1484"/>
              <a:ext cx="192" cy="0"/>
            </a:xfrm>
            <a:prstGeom prst="line">
              <a:avLst/>
            </a:prstGeom>
            <a:ln w="19050" cap="flat" cmpd="sng">
              <a:solidFill>
                <a:schemeClr val="hlink"/>
              </a:solidFill>
              <a:prstDash val="solid"/>
              <a:headEnd type="none" w="med" len="med"/>
              <a:tailEnd type="triangle" w="med" len="med"/>
            </a:ln>
          </p:spPr>
        </p:sp>
        <p:sp>
          <p:nvSpPr>
            <p:cNvPr id="54361" name="直接连接符 37204"/>
            <p:cNvSpPr/>
            <p:nvPr/>
          </p:nvSpPr>
          <p:spPr>
            <a:xfrm flipH="1">
              <a:off x="842" y="1650"/>
              <a:ext cx="192" cy="0"/>
            </a:xfrm>
            <a:prstGeom prst="line">
              <a:avLst/>
            </a:prstGeom>
            <a:ln w="19050" cap="flat" cmpd="sng">
              <a:solidFill>
                <a:schemeClr val="hlink"/>
              </a:solidFill>
              <a:prstDash val="solid"/>
              <a:headEnd type="none" w="med" len="med"/>
              <a:tailEnd type="triangle" w="med" len="med"/>
            </a:ln>
          </p:spPr>
        </p:sp>
        <p:sp>
          <p:nvSpPr>
            <p:cNvPr id="54362" name="文本框 37205"/>
            <p:cNvSpPr txBox="1"/>
            <p:nvPr/>
          </p:nvSpPr>
          <p:spPr>
            <a:xfrm>
              <a:off x="624" y="1340"/>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0</a:t>
              </a:r>
            </a:p>
          </p:txBody>
        </p:sp>
        <p:sp>
          <p:nvSpPr>
            <p:cNvPr id="54363" name="文本框 37206"/>
            <p:cNvSpPr txBox="1"/>
            <p:nvPr/>
          </p:nvSpPr>
          <p:spPr>
            <a:xfrm>
              <a:off x="607" y="1532"/>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1</a:t>
              </a:r>
            </a:p>
          </p:txBody>
        </p:sp>
        <p:sp>
          <p:nvSpPr>
            <p:cNvPr id="54364" name="矩形 37207"/>
            <p:cNvSpPr/>
            <p:nvPr/>
          </p:nvSpPr>
          <p:spPr>
            <a:xfrm>
              <a:off x="1920" y="1244"/>
              <a:ext cx="290"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G</a:t>
              </a:r>
            </a:p>
          </p:txBody>
        </p:sp>
        <p:sp>
          <p:nvSpPr>
            <p:cNvPr id="54365" name="矩形 37208"/>
            <p:cNvSpPr/>
            <p:nvPr/>
          </p:nvSpPr>
          <p:spPr>
            <a:xfrm>
              <a:off x="45" y="384"/>
              <a:ext cx="446"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I</a:t>
              </a:r>
              <a:r>
                <a:rPr lang="en-US" altLang="zh-CN" sz="2400" dirty="0">
                  <a:latin typeface="Times New Roman" panose="02020603050405020304" pitchFamily="18" charset="0"/>
                  <a:ea typeface="宋体" panose="02010600030101010101" pitchFamily="2" charset="-122"/>
                </a:rPr>
                <a:t>&gt;0</a:t>
              </a:r>
              <a:endParaRPr lang="en-US" altLang="zh-CN" sz="2400" baseline="-25000" dirty="0">
                <a:latin typeface="Times New Roman" panose="02020603050405020304" pitchFamily="18" charset="0"/>
                <a:ea typeface="宋体" panose="02010600030101010101" pitchFamily="2" charset="-122"/>
              </a:endParaRPr>
            </a:p>
          </p:txBody>
        </p:sp>
        <p:sp>
          <p:nvSpPr>
            <p:cNvPr id="54366" name="等腰三角形 37209"/>
            <p:cNvSpPr/>
            <p:nvPr/>
          </p:nvSpPr>
          <p:spPr>
            <a:xfrm rot="-5400000" flipV="1">
              <a:off x="1250" y="664"/>
              <a:ext cx="393" cy="410"/>
            </a:xfrm>
            <a:prstGeom prst="triangle">
              <a:avLst>
                <a:gd name="adj" fmla="val 50000"/>
              </a:avLst>
            </a:prstGeom>
            <a:solidFill>
              <a:srgbClr val="FFFFCC"/>
            </a:solid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67" name="文本框 37210"/>
            <p:cNvSpPr txBox="1"/>
            <p:nvPr/>
          </p:nvSpPr>
          <p:spPr>
            <a:xfrm>
              <a:off x="1285" y="732"/>
              <a:ext cx="352"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A</a:t>
              </a:r>
            </a:p>
          </p:txBody>
        </p:sp>
        <p:sp>
          <p:nvSpPr>
            <p:cNvPr id="54368" name="文本框 37211"/>
            <p:cNvSpPr txBox="1"/>
            <p:nvPr/>
          </p:nvSpPr>
          <p:spPr>
            <a:xfrm>
              <a:off x="1185" y="542"/>
              <a:ext cx="352"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_</a:t>
              </a:r>
            </a:p>
          </p:txBody>
        </p:sp>
        <p:sp>
          <p:nvSpPr>
            <p:cNvPr id="54369" name="文本框 37212"/>
            <p:cNvSpPr txBox="1"/>
            <p:nvPr/>
          </p:nvSpPr>
          <p:spPr>
            <a:xfrm>
              <a:off x="1175" y="789"/>
              <a:ext cx="352" cy="251"/>
            </a:xfrm>
            <a:prstGeom prst="rect">
              <a:avLst/>
            </a:prstGeom>
            <a:noFill/>
            <a:ln w="19050">
              <a:noFill/>
            </a:ln>
          </p:spPr>
          <p:txBody>
            <a:bodyPr>
              <a:spAutoFit/>
            </a:bodyPr>
            <a:lstStyle/>
            <a:p>
              <a:pPr eaLnBrk="1" hangingPunct="1">
                <a:spcBef>
                  <a:spcPct val="50000"/>
                </a:spcBef>
              </a:pPr>
              <a:r>
                <a:rPr lang="en-US" altLang="zh-CN" sz="2000" dirty="0">
                  <a:latin typeface="Times New Roman" panose="02020603050405020304" pitchFamily="18" charset="0"/>
                  <a:ea typeface="宋体" panose="02010600030101010101" pitchFamily="2" charset="-122"/>
                </a:rPr>
                <a:t>+</a:t>
              </a:r>
            </a:p>
          </p:txBody>
        </p:sp>
        <p:grpSp>
          <p:nvGrpSpPr>
            <p:cNvPr id="54370" name="组合 37213"/>
            <p:cNvGrpSpPr/>
            <p:nvPr/>
          </p:nvGrpSpPr>
          <p:grpSpPr>
            <a:xfrm>
              <a:off x="1109" y="974"/>
              <a:ext cx="140" cy="96"/>
              <a:chOff x="1204" y="1296"/>
              <a:chExt cx="140" cy="96"/>
            </a:xfrm>
          </p:grpSpPr>
          <p:sp>
            <p:nvSpPr>
              <p:cNvPr id="54401" name="任意多边形 37214"/>
              <p:cNvSpPr/>
              <p:nvPr/>
            </p:nvSpPr>
            <p:spPr>
              <a:xfrm>
                <a:off x="1248" y="1296"/>
                <a:ext cx="96" cy="96"/>
              </a:xfrm>
              <a:custGeom>
                <a:avLst/>
                <a:gdLst/>
                <a:ahLst/>
                <a:cxnLst>
                  <a:cxn ang="0">
                    <a:pos x="96" y="0"/>
                  </a:cxn>
                  <a:cxn ang="0">
                    <a:pos x="0" y="0"/>
                  </a:cxn>
                  <a:cxn ang="0">
                    <a:pos x="0" y="96"/>
                  </a:cxn>
                </a:cxnLst>
                <a:rect l="0" t="0" r="0" b="0"/>
                <a:pathLst>
                  <a:path w="96" h="96">
                    <a:moveTo>
                      <a:pt x="96" y="0"/>
                    </a:moveTo>
                    <a:lnTo>
                      <a:pt x="0" y="0"/>
                    </a:lnTo>
                    <a:lnTo>
                      <a:pt x="0" y="96"/>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402" name="直接连接符 37215"/>
              <p:cNvSpPr/>
              <p:nvPr/>
            </p:nvSpPr>
            <p:spPr>
              <a:xfrm>
                <a:off x="1204" y="1385"/>
                <a:ext cx="96" cy="0"/>
              </a:xfrm>
              <a:prstGeom prst="line">
                <a:avLst/>
              </a:prstGeom>
              <a:ln w="19050" cap="flat" cmpd="sng">
                <a:solidFill>
                  <a:schemeClr val="hlink"/>
                </a:solidFill>
                <a:prstDash val="solid"/>
                <a:headEnd type="none" w="med" len="med"/>
                <a:tailEnd type="none" w="med" len="med"/>
              </a:ln>
            </p:spPr>
          </p:sp>
        </p:grpSp>
        <p:sp>
          <p:nvSpPr>
            <p:cNvPr id="54371" name="任意多边形 37216"/>
            <p:cNvSpPr/>
            <p:nvPr/>
          </p:nvSpPr>
          <p:spPr>
            <a:xfrm>
              <a:off x="1083" y="288"/>
              <a:ext cx="218" cy="478"/>
            </a:xfrm>
            <a:custGeom>
              <a:avLst/>
              <a:gdLst/>
              <a:ahLst/>
              <a:cxnLst>
                <a:cxn ang="0">
                  <a:pos x="0" y="478"/>
                </a:cxn>
                <a:cxn ang="0">
                  <a:pos x="0" y="0"/>
                </a:cxn>
                <a:cxn ang="0">
                  <a:pos x="218" y="0"/>
                </a:cxn>
              </a:cxnLst>
              <a:rect l="0" t="0" r="0" b="0"/>
              <a:pathLst>
                <a:path w="192" h="384">
                  <a:moveTo>
                    <a:pt x="0" y="384"/>
                  </a:moveTo>
                  <a:lnTo>
                    <a:pt x="0" y="0"/>
                  </a:lnTo>
                  <a:lnTo>
                    <a:pt x="192" y="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372" name="任意多边形 37217"/>
            <p:cNvSpPr/>
            <p:nvPr/>
          </p:nvSpPr>
          <p:spPr>
            <a:xfrm flipH="1">
              <a:off x="1563" y="288"/>
              <a:ext cx="192" cy="576"/>
            </a:xfrm>
            <a:custGeom>
              <a:avLst/>
              <a:gdLst/>
              <a:ahLst/>
              <a:cxnLst>
                <a:cxn ang="0">
                  <a:pos x="0" y="576"/>
                </a:cxn>
                <a:cxn ang="0">
                  <a:pos x="0" y="0"/>
                </a:cxn>
                <a:cxn ang="0">
                  <a:pos x="192" y="0"/>
                </a:cxn>
              </a:cxnLst>
              <a:rect l="0" t="0" r="0" b="0"/>
              <a:pathLst>
                <a:path w="192" h="384">
                  <a:moveTo>
                    <a:pt x="0" y="384"/>
                  </a:moveTo>
                  <a:lnTo>
                    <a:pt x="0" y="0"/>
                  </a:lnTo>
                  <a:lnTo>
                    <a:pt x="192" y="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373" name="直接连接符 37218"/>
            <p:cNvSpPr/>
            <p:nvPr/>
          </p:nvSpPr>
          <p:spPr>
            <a:xfrm flipH="1" flipV="1">
              <a:off x="603" y="768"/>
              <a:ext cx="639" cy="0"/>
            </a:xfrm>
            <a:prstGeom prst="line">
              <a:avLst/>
            </a:prstGeom>
            <a:ln w="19050" cap="flat" cmpd="sng">
              <a:solidFill>
                <a:schemeClr val="hlink"/>
              </a:solidFill>
              <a:prstDash val="solid"/>
              <a:headEnd type="none" w="med" len="med"/>
              <a:tailEnd type="none" w="med" len="med"/>
            </a:ln>
          </p:spPr>
        </p:sp>
        <p:grpSp>
          <p:nvGrpSpPr>
            <p:cNvPr id="54374" name="组合 37219"/>
            <p:cNvGrpSpPr/>
            <p:nvPr/>
          </p:nvGrpSpPr>
          <p:grpSpPr>
            <a:xfrm>
              <a:off x="1371" y="447"/>
              <a:ext cx="96" cy="192"/>
              <a:chOff x="2182" y="1056"/>
              <a:chExt cx="74" cy="144"/>
            </a:xfrm>
          </p:grpSpPr>
          <p:sp>
            <p:nvSpPr>
              <p:cNvPr id="54399" name="直接连接符 37220"/>
              <p:cNvSpPr/>
              <p:nvPr/>
            </p:nvSpPr>
            <p:spPr>
              <a:xfrm>
                <a:off x="2182" y="1056"/>
                <a:ext cx="0" cy="144"/>
              </a:xfrm>
              <a:prstGeom prst="line">
                <a:avLst/>
              </a:prstGeom>
              <a:ln w="19050" cap="flat" cmpd="sng">
                <a:solidFill>
                  <a:schemeClr val="hlink"/>
                </a:solidFill>
                <a:prstDash val="solid"/>
                <a:headEnd type="none" w="med" len="med"/>
                <a:tailEnd type="none" w="med" len="med"/>
              </a:ln>
            </p:spPr>
          </p:sp>
          <p:sp>
            <p:nvSpPr>
              <p:cNvPr id="54400" name="直接连接符 37221"/>
              <p:cNvSpPr/>
              <p:nvPr/>
            </p:nvSpPr>
            <p:spPr>
              <a:xfrm>
                <a:off x="2256" y="1056"/>
                <a:ext cx="0" cy="144"/>
              </a:xfrm>
              <a:prstGeom prst="line">
                <a:avLst/>
              </a:prstGeom>
              <a:ln w="19050" cap="flat" cmpd="sng">
                <a:solidFill>
                  <a:schemeClr val="hlink"/>
                </a:solidFill>
                <a:prstDash val="solid"/>
                <a:headEnd type="none" w="med" len="med"/>
                <a:tailEnd type="none" w="med" len="med"/>
              </a:ln>
            </p:spPr>
          </p:sp>
        </p:grpSp>
        <p:sp>
          <p:nvSpPr>
            <p:cNvPr id="54375" name="直接连接符 37222"/>
            <p:cNvSpPr/>
            <p:nvPr/>
          </p:nvSpPr>
          <p:spPr>
            <a:xfrm>
              <a:off x="1083" y="543"/>
              <a:ext cx="288" cy="0"/>
            </a:xfrm>
            <a:prstGeom prst="line">
              <a:avLst/>
            </a:prstGeom>
            <a:ln w="19050" cap="flat" cmpd="sng">
              <a:solidFill>
                <a:schemeClr val="hlink"/>
              </a:solidFill>
              <a:prstDash val="solid"/>
              <a:headEnd type="none" w="med" len="med"/>
              <a:tailEnd type="none" w="med" len="med"/>
            </a:ln>
          </p:spPr>
        </p:sp>
        <p:sp>
          <p:nvSpPr>
            <p:cNvPr id="54376" name="直接连接符 37223"/>
            <p:cNvSpPr/>
            <p:nvPr/>
          </p:nvSpPr>
          <p:spPr>
            <a:xfrm>
              <a:off x="1467" y="528"/>
              <a:ext cx="288" cy="0"/>
            </a:xfrm>
            <a:prstGeom prst="line">
              <a:avLst/>
            </a:prstGeom>
            <a:ln w="19050" cap="flat" cmpd="sng">
              <a:solidFill>
                <a:schemeClr val="hlink"/>
              </a:solidFill>
              <a:prstDash val="solid"/>
              <a:headEnd type="none" w="med" len="med"/>
              <a:tailEnd type="none" w="med" len="med"/>
            </a:ln>
          </p:spPr>
        </p:sp>
        <p:grpSp>
          <p:nvGrpSpPr>
            <p:cNvPr id="54377" name="组合 37224"/>
            <p:cNvGrpSpPr/>
            <p:nvPr/>
          </p:nvGrpSpPr>
          <p:grpSpPr>
            <a:xfrm>
              <a:off x="1297" y="181"/>
              <a:ext cx="229" cy="133"/>
              <a:chOff x="2134" y="757"/>
              <a:chExt cx="229" cy="133"/>
            </a:xfrm>
          </p:grpSpPr>
          <p:sp>
            <p:nvSpPr>
              <p:cNvPr id="54397" name="椭圆 37225"/>
              <p:cNvSpPr/>
              <p:nvPr/>
            </p:nvSpPr>
            <p:spPr>
              <a:xfrm>
                <a:off x="2134" y="842"/>
                <a:ext cx="48" cy="48"/>
              </a:xfrm>
              <a:prstGeom prst="ellipse">
                <a:avLst/>
              </a:prstGeom>
              <a:no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98" name="直接连接符 37226"/>
              <p:cNvSpPr/>
              <p:nvPr/>
            </p:nvSpPr>
            <p:spPr>
              <a:xfrm flipV="1">
                <a:off x="2171" y="757"/>
                <a:ext cx="192" cy="96"/>
              </a:xfrm>
              <a:prstGeom prst="line">
                <a:avLst/>
              </a:prstGeom>
              <a:ln w="19050" cap="flat" cmpd="sng">
                <a:solidFill>
                  <a:schemeClr val="hlink"/>
                </a:solidFill>
                <a:prstDash val="solid"/>
                <a:headEnd type="none" w="med" len="med"/>
                <a:tailEnd type="none" w="med" len="med"/>
              </a:ln>
            </p:spPr>
          </p:sp>
        </p:grpSp>
        <p:grpSp>
          <p:nvGrpSpPr>
            <p:cNvPr id="54378" name="组合 37227"/>
            <p:cNvGrpSpPr/>
            <p:nvPr/>
          </p:nvGrpSpPr>
          <p:grpSpPr>
            <a:xfrm flipH="1">
              <a:off x="370" y="661"/>
              <a:ext cx="229" cy="133"/>
              <a:chOff x="2134" y="757"/>
              <a:chExt cx="229" cy="133"/>
            </a:xfrm>
          </p:grpSpPr>
          <p:sp>
            <p:nvSpPr>
              <p:cNvPr id="54395" name="椭圆 37228"/>
              <p:cNvSpPr/>
              <p:nvPr/>
            </p:nvSpPr>
            <p:spPr>
              <a:xfrm>
                <a:off x="2134" y="842"/>
                <a:ext cx="48" cy="48"/>
              </a:xfrm>
              <a:prstGeom prst="ellipse">
                <a:avLst/>
              </a:prstGeom>
              <a:no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96" name="直接连接符 37229"/>
              <p:cNvSpPr/>
              <p:nvPr/>
            </p:nvSpPr>
            <p:spPr>
              <a:xfrm flipV="1">
                <a:off x="2171" y="757"/>
                <a:ext cx="192" cy="96"/>
              </a:xfrm>
              <a:prstGeom prst="line">
                <a:avLst/>
              </a:prstGeom>
              <a:ln w="19050" cap="flat" cmpd="sng">
                <a:solidFill>
                  <a:schemeClr val="hlink"/>
                </a:solidFill>
                <a:prstDash val="solid"/>
                <a:headEnd type="none" w="med" len="med"/>
                <a:tailEnd type="none" w="med" len="med"/>
              </a:ln>
            </p:spPr>
          </p:sp>
        </p:grpSp>
        <p:sp>
          <p:nvSpPr>
            <p:cNvPr id="54379" name="矩形 37230"/>
            <p:cNvSpPr/>
            <p:nvPr/>
          </p:nvSpPr>
          <p:spPr>
            <a:xfrm>
              <a:off x="773" y="723"/>
              <a:ext cx="192" cy="96"/>
            </a:xfrm>
            <a:prstGeom prst="rect">
              <a:avLst/>
            </a:prstGeom>
            <a:solidFill>
              <a:schemeClr val="accent1"/>
            </a:solidFill>
            <a:ln w="19050" cap="flat" cmpd="sng">
              <a:solidFill>
                <a:schemeClr val="hlink"/>
              </a:solidFill>
              <a:prstDash val="solid"/>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nvGrpSpPr>
            <p:cNvPr id="54380" name="组合 37231"/>
            <p:cNvGrpSpPr/>
            <p:nvPr/>
          </p:nvGrpSpPr>
          <p:grpSpPr>
            <a:xfrm>
              <a:off x="238" y="698"/>
              <a:ext cx="202" cy="166"/>
              <a:chOff x="1902" y="1178"/>
              <a:chExt cx="384" cy="166"/>
            </a:xfrm>
          </p:grpSpPr>
          <p:sp>
            <p:nvSpPr>
              <p:cNvPr id="54393" name="直接连接符 37232"/>
              <p:cNvSpPr/>
              <p:nvPr/>
            </p:nvSpPr>
            <p:spPr>
              <a:xfrm>
                <a:off x="1902" y="1178"/>
                <a:ext cx="384" cy="0"/>
              </a:xfrm>
              <a:prstGeom prst="line">
                <a:avLst/>
              </a:prstGeom>
              <a:ln w="19050" cap="flat" cmpd="sng">
                <a:solidFill>
                  <a:schemeClr val="hlink"/>
                </a:solidFill>
                <a:prstDash val="solid"/>
                <a:headEnd type="none" w="med" len="med"/>
                <a:tailEnd type="none" w="med" len="med"/>
              </a:ln>
            </p:spPr>
          </p:sp>
          <p:sp>
            <p:nvSpPr>
              <p:cNvPr id="54394" name="直接连接符 37233"/>
              <p:cNvSpPr/>
              <p:nvPr/>
            </p:nvSpPr>
            <p:spPr>
              <a:xfrm>
                <a:off x="1902" y="1344"/>
                <a:ext cx="384" cy="0"/>
              </a:xfrm>
              <a:prstGeom prst="line">
                <a:avLst/>
              </a:prstGeom>
              <a:ln w="19050" cap="flat" cmpd="sng">
                <a:solidFill>
                  <a:schemeClr val="hlink"/>
                </a:solidFill>
                <a:prstDash val="solid"/>
                <a:headEnd type="none" w="med" len="med"/>
                <a:tailEnd type="none" w="med" len="med"/>
              </a:ln>
            </p:spPr>
          </p:sp>
        </p:grpSp>
        <p:sp>
          <p:nvSpPr>
            <p:cNvPr id="54381" name="文本框 37234"/>
            <p:cNvSpPr txBox="1"/>
            <p:nvPr/>
          </p:nvSpPr>
          <p:spPr>
            <a:xfrm>
              <a:off x="411" y="484"/>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1</a:t>
              </a:r>
            </a:p>
          </p:txBody>
        </p:sp>
        <p:sp>
          <p:nvSpPr>
            <p:cNvPr id="54382" name="文本框 37235"/>
            <p:cNvSpPr txBox="1"/>
            <p:nvPr/>
          </p:nvSpPr>
          <p:spPr>
            <a:xfrm>
              <a:off x="1205" y="0"/>
              <a:ext cx="256" cy="251"/>
            </a:xfrm>
            <a:prstGeom prst="rect">
              <a:avLst/>
            </a:prstGeom>
            <a:noFill/>
            <a:ln w="19050">
              <a:noFill/>
            </a:ln>
          </p:spPr>
          <p:txBody>
            <a:bodyPr wrap="none">
              <a:spAutoFit/>
            </a:bodyPr>
            <a:lstStyle/>
            <a:p>
              <a:pPr eaLnBrk="1" hangingPunct="1"/>
              <a:r>
                <a:rPr lang="en-US" altLang="zh-CN" sz="2000" dirty="0">
                  <a:latin typeface="Times New Roman" panose="02020603050405020304" pitchFamily="18" charset="0"/>
                  <a:ea typeface="宋体" panose="02010600030101010101" pitchFamily="2" charset="-122"/>
                </a:rPr>
                <a:t>S</a:t>
              </a:r>
              <a:r>
                <a:rPr lang="en-US" altLang="zh-CN" sz="2000" baseline="-25000" dirty="0">
                  <a:latin typeface="Times New Roman" panose="02020603050405020304" pitchFamily="18" charset="0"/>
                  <a:ea typeface="宋体" panose="02010600030101010101" pitchFamily="2" charset="-122"/>
                </a:rPr>
                <a:t>0</a:t>
              </a:r>
            </a:p>
          </p:txBody>
        </p:sp>
        <p:sp>
          <p:nvSpPr>
            <p:cNvPr id="54383" name="矩形 37236"/>
            <p:cNvSpPr/>
            <p:nvPr/>
          </p:nvSpPr>
          <p:spPr>
            <a:xfrm>
              <a:off x="758" y="529"/>
              <a:ext cx="213"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R</a:t>
              </a:r>
            </a:p>
          </p:txBody>
        </p:sp>
        <p:sp>
          <p:nvSpPr>
            <p:cNvPr id="54384" name="矩形 37237"/>
            <p:cNvSpPr/>
            <p:nvPr/>
          </p:nvSpPr>
          <p:spPr>
            <a:xfrm>
              <a:off x="1312" y="260"/>
              <a:ext cx="222"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C</a:t>
              </a:r>
            </a:p>
          </p:txBody>
        </p:sp>
        <p:sp>
          <p:nvSpPr>
            <p:cNvPr id="54385" name="矩形 37238"/>
            <p:cNvSpPr/>
            <p:nvPr/>
          </p:nvSpPr>
          <p:spPr>
            <a:xfrm>
              <a:off x="699" y="22"/>
              <a:ext cx="1152" cy="1152"/>
            </a:xfrm>
            <a:prstGeom prst="rect">
              <a:avLst/>
            </a:prstGeom>
            <a:noFill/>
            <a:ln w="19050" cap="flat" cmpd="sng">
              <a:solidFill>
                <a:schemeClr val="tx1"/>
              </a:solidFill>
              <a:prstDash val="lgDash"/>
              <a:miter/>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86" name="文本框 37239"/>
            <p:cNvSpPr txBox="1"/>
            <p:nvPr/>
          </p:nvSpPr>
          <p:spPr>
            <a:xfrm>
              <a:off x="1300" y="957"/>
              <a:ext cx="595" cy="251"/>
            </a:xfrm>
            <a:prstGeom prst="rect">
              <a:avLst/>
            </a:prstGeom>
            <a:noFill/>
            <a:ln w="19050">
              <a:noFill/>
            </a:ln>
          </p:spPr>
          <p:txBody>
            <a:bodyPr wrap="none">
              <a:spAutoFit/>
            </a:bodyPr>
            <a:lstStyle/>
            <a:p>
              <a:pPr eaLnBrk="1" hangingPunct="1"/>
              <a:r>
                <a:rPr lang="zh-CN" altLang="en-US" sz="2000" dirty="0">
                  <a:solidFill>
                    <a:srgbClr val="FF00FF"/>
                  </a:solidFill>
                  <a:latin typeface="Times New Roman" panose="02020603050405020304" pitchFamily="18" charset="0"/>
                  <a:ea typeface="宋体" panose="02010600030101010101" pitchFamily="2" charset="-122"/>
                </a:rPr>
                <a:t>积分器</a:t>
              </a:r>
            </a:p>
          </p:txBody>
        </p:sp>
        <p:sp>
          <p:nvSpPr>
            <p:cNvPr id="54387" name="矩形 37240"/>
            <p:cNvSpPr/>
            <p:nvPr/>
          </p:nvSpPr>
          <p:spPr>
            <a:xfrm>
              <a:off x="2320" y="624"/>
              <a:ext cx="595" cy="251"/>
            </a:xfrm>
            <a:prstGeom prst="rect">
              <a:avLst/>
            </a:prstGeom>
            <a:noFill/>
            <a:ln w="19050">
              <a:noFill/>
            </a:ln>
          </p:spPr>
          <p:txBody>
            <a:bodyPr wrap="none">
              <a:spAutoFit/>
            </a:bodyPr>
            <a:lstStyle/>
            <a:p>
              <a:pPr eaLnBrk="1" hangingPunct="1"/>
              <a:r>
                <a:rPr lang="zh-CN" altLang="en-US" sz="2000" dirty="0">
                  <a:solidFill>
                    <a:srgbClr val="FF00FF"/>
                  </a:solidFill>
                  <a:latin typeface="Times New Roman" panose="02020603050405020304" pitchFamily="18" charset="0"/>
                  <a:ea typeface="宋体" panose="02010600030101010101" pitchFamily="2" charset="-122"/>
                </a:rPr>
                <a:t>比较器</a:t>
              </a:r>
            </a:p>
          </p:txBody>
        </p:sp>
        <p:sp>
          <p:nvSpPr>
            <p:cNvPr id="54388" name="文本框 37241"/>
            <p:cNvSpPr txBox="1"/>
            <p:nvPr/>
          </p:nvSpPr>
          <p:spPr>
            <a:xfrm>
              <a:off x="0" y="823"/>
              <a:ext cx="730"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REF</a:t>
              </a:r>
              <a:r>
                <a:rPr lang="en-US" altLang="zh-CN" sz="2400" dirty="0">
                  <a:latin typeface="Times New Roman" panose="02020603050405020304" pitchFamily="18" charset="0"/>
                  <a:ea typeface="宋体" panose="02010600030101010101" pitchFamily="2" charset="-122"/>
                </a:rPr>
                <a:t>&lt;0</a:t>
              </a:r>
            </a:p>
          </p:txBody>
        </p:sp>
        <p:sp>
          <p:nvSpPr>
            <p:cNvPr id="54389" name="椭圆 37242"/>
            <p:cNvSpPr/>
            <p:nvPr/>
          </p:nvSpPr>
          <p:spPr>
            <a:xfrm>
              <a:off x="1067" y="526"/>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90" name="椭圆 37243"/>
            <p:cNvSpPr/>
            <p:nvPr/>
          </p:nvSpPr>
          <p:spPr>
            <a:xfrm>
              <a:off x="1067" y="751"/>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91" name="椭圆 37244"/>
            <p:cNvSpPr/>
            <p:nvPr/>
          </p:nvSpPr>
          <p:spPr>
            <a:xfrm>
              <a:off x="1726" y="502"/>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sp>
          <p:nvSpPr>
            <p:cNvPr id="54392" name="椭圆 37245"/>
            <p:cNvSpPr/>
            <p:nvPr/>
          </p:nvSpPr>
          <p:spPr>
            <a:xfrm>
              <a:off x="1726" y="851"/>
              <a:ext cx="50" cy="50"/>
            </a:xfrm>
            <a:prstGeom prst="ellipse">
              <a:avLst/>
            </a:prstGeom>
            <a:solidFill>
              <a:schemeClr val="hlink"/>
            </a:solidFill>
            <a:ln w="19050" cap="flat" cmpd="sng">
              <a:solidFill>
                <a:schemeClr val="hlink"/>
              </a:solidFill>
              <a:prstDash val="solid"/>
              <a:headEnd type="none" w="med" len="med"/>
              <a:tailEnd type="none" w="med" len="med"/>
            </a:ln>
          </p:spPr>
          <p:txBody>
            <a:bodyPr/>
            <a:lstStyle/>
            <a:p>
              <a:pPr eaLnBrk="1" hangingPunct="1"/>
              <a:endParaRPr lang="zh-CN" altLang="en-US" dirty="0">
                <a:latin typeface="Times New Roman" panose="02020603050405020304" pitchFamily="18" charset="0"/>
              </a:endParaRPr>
            </a:p>
          </p:txBody>
        </p:sp>
      </p:grpSp>
      <p:grpSp>
        <p:nvGrpSpPr>
          <p:cNvPr id="37247" name="组合 37246"/>
          <p:cNvGrpSpPr/>
          <p:nvPr/>
        </p:nvGrpSpPr>
        <p:grpSpPr>
          <a:xfrm>
            <a:off x="7010400" y="44450"/>
            <a:ext cx="3657600" cy="4032250"/>
            <a:chOff x="3456" y="336"/>
            <a:chExt cx="2304" cy="2640"/>
          </a:xfrm>
        </p:grpSpPr>
        <p:grpSp>
          <p:nvGrpSpPr>
            <p:cNvPr id="54315" name="组合 37247"/>
            <p:cNvGrpSpPr/>
            <p:nvPr/>
          </p:nvGrpSpPr>
          <p:grpSpPr>
            <a:xfrm>
              <a:off x="3456" y="336"/>
              <a:ext cx="2304" cy="2640"/>
              <a:chOff x="3456" y="336"/>
              <a:chExt cx="2304" cy="2640"/>
            </a:xfrm>
          </p:grpSpPr>
          <p:sp>
            <p:nvSpPr>
              <p:cNvPr id="54319" name="矩形 37248"/>
              <p:cNvSpPr/>
              <p:nvPr/>
            </p:nvSpPr>
            <p:spPr>
              <a:xfrm>
                <a:off x="3456" y="336"/>
                <a:ext cx="2304" cy="2640"/>
              </a:xfrm>
              <a:prstGeom prst="rect">
                <a:avLst/>
              </a:prstGeom>
              <a:solidFill>
                <a:srgbClr val="CCFFCC"/>
              </a:solidFill>
              <a:ln w="19050">
                <a:noFill/>
              </a:ln>
            </p:spPr>
            <p:txBody>
              <a:bodyPr/>
              <a:lstStyle/>
              <a:p>
                <a:pPr eaLnBrk="1" hangingPunct="1"/>
                <a:endParaRPr lang="zh-CN" altLang="en-US" dirty="0">
                  <a:latin typeface="Times New Roman" panose="02020603050405020304" pitchFamily="18" charset="0"/>
                </a:endParaRPr>
              </a:p>
            </p:txBody>
          </p:sp>
          <p:grpSp>
            <p:nvGrpSpPr>
              <p:cNvPr id="54320" name="组合 37249"/>
              <p:cNvGrpSpPr/>
              <p:nvPr/>
            </p:nvGrpSpPr>
            <p:grpSpPr>
              <a:xfrm>
                <a:off x="3559" y="384"/>
                <a:ext cx="2010" cy="1188"/>
                <a:chOff x="3559" y="384"/>
                <a:chExt cx="2010" cy="1188"/>
              </a:xfrm>
            </p:grpSpPr>
            <p:sp>
              <p:nvSpPr>
                <p:cNvPr id="54321" name="直接连接符 37250"/>
                <p:cNvSpPr/>
                <p:nvPr/>
              </p:nvSpPr>
              <p:spPr>
                <a:xfrm>
                  <a:off x="3917" y="864"/>
                  <a:ext cx="1632" cy="0"/>
                </a:xfrm>
                <a:prstGeom prst="line">
                  <a:avLst/>
                </a:prstGeom>
                <a:ln w="19050" cap="flat" cmpd="sng">
                  <a:solidFill>
                    <a:schemeClr val="hlink"/>
                  </a:solidFill>
                  <a:prstDash val="solid"/>
                  <a:headEnd type="none" w="med" len="med"/>
                  <a:tailEnd type="triangle" w="med" len="med"/>
                </a:ln>
              </p:spPr>
            </p:sp>
            <p:sp>
              <p:nvSpPr>
                <p:cNvPr id="54322" name="直接连接符 37251"/>
                <p:cNvSpPr/>
                <p:nvPr/>
              </p:nvSpPr>
              <p:spPr>
                <a:xfrm flipV="1">
                  <a:off x="3917" y="384"/>
                  <a:ext cx="4" cy="1152"/>
                </a:xfrm>
                <a:prstGeom prst="line">
                  <a:avLst/>
                </a:prstGeom>
                <a:ln w="19050" cap="flat" cmpd="sng">
                  <a:solidFill>
                    <a:schemeClr val="hlink"/>
                  </a:solidFill>
                  <a:prstDash val="solid"/>
                  <a:headEnd type="none" w="med" len="med"/>
                  <a:tailEnd type="triangle" w="med" len="med"/>
                </a:ln>
              </p:spPr>
            </p:sp>
            <p:sp>
              <p:nvSpPr>
                <p:cNvPr id="54323" name="任意多边形 37252"/>
                <p:cNvSpPr/>
                <p:nvPr/>
              </p:nvSpPr>
              <p:spPr>
                <a:xfrm>
                  <a:off x="3917" y="864"/>
                  <a:ext cx="1200" cy="624"/>
                </a:xfrm>
                <a:custGeom>
                  <a:avLst/>
                  <a:gdLst/>
                  <a:ahLst/>
                  <a:cxnLst>
                    <a:cxn ang="0">
                      <a:pos x="0" y="0"/>
                    </a:cxn>
                    <a:cxn ang="0">
                      <a:pos x="720" y="624"/>
                    </a:cxn>
                    <a:cxn ang="0">
                      <a:pos x="1200" y="0"/>
                    </a:cxn>
                  </a:cxnLst>
                  <a:rect l="0" t="0" r="0" b="0"/>
                  <a:pathLst>
                    <a:path w="1200" h="528">
                      <a:moveTo>
                        <a:pt x="0" y="0"/>
                      </a:moveTo>
                      <a:lnTo>
                        <a:pt x="720" y="528"/>
                      </a:lnTo>
                      <a:lnTo>
                        <a:pt x="1200" y="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324" name="文本框 37253"/>
                <p:cNvSpPr txBox="1"/>
                <p:nvPr/>
              </p:nvSpPr>
              <p:spPr>
                <a:xfrm>
                  <a:off x="4755" y="407"/>
                  <a:ext cx="256" cy="26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T</a:t>
                  </a:r>
                  <a:r>
                    <a:rPr lang="en-US" altLang="zh-CN" sz="2000" baseline="-25000" dirty="0">
                      <a:solidFill>
                        <a:schemeClr val="hlink"/>
                      </a:solidFill>
                      <a:latin typeface="Times New Roman" panose="02020603050405020304" pitchFamily="18" charset="0"/>
                      <a:ea typeface="宋体" panose="02010600030101010101" pitchFamily="2" charset="-122"/>
                    </a:rPr>
                    <a:t>2</a:t>
                  </a:r>
                </a:p>
              </p:txBody>
            </p:sp>
            <p:sp>
              <p:nvSpPr>
                <p:cNvPr id="54325" name="文本框 37254"/>
                <p:cNvSpPr txBox="1"/>
                <p:nvPr/>
              </p:nvSpPr>
              <p:spPr>
                <a:xfrm>
                  <a:off x="4157" y="407"/>
                  <a:ext cx="256" cy="26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r>
                    <a:rPr lang="en-US" altLang="zh-CN" sz="2000" baseline="-25000" dirty="0">
                      <a:latin typeface="Times New Roman" panose="02020603050405020304" pitchFamily="18" charset="0"/>
                      <a:ea typeface="宋体" panose="02010600030101010101" pitchFamily="2" charset="-122"/>
                    </a:rPr>
                    <a:t>1</a:t>
                  </a:r>
                </a:p>
              </p:txBody>
            </p:sp>
            <p:sp>
              <p:nvSpPr>
                <p:cNvPr id="54326" name="直接连接符 37255"/>
                <p:cNvSpPr/>
                <p:nvPr/>
              </p:nvSpPr>
              <p:spPr>
                <a:xfrm flipH="1">
                  <a:off x="3917" y="1477"/>
                  <a:ext cx="720" cy="0"/>
                </a:xfrm>
                <a:prstGeom prst="line">
                  <a:avLst/>
                </a:prstGeom>
                <a:ln w="19050" cap="flat" cmpd="sng">
                  <a:solidFill>
                    <a:schemeClr val="hlink"/>
                  </a:solidFill>
                  <a:prstDash val="lgDash"/>
                  <a:headEnd type="none" w="med" len="med"/>
                  <a:tailEnd type="none" w="med" len="med"/>
                </a:ln>
              </p:spPr>
            </p:sp>
            <p:sp>
              <p:nvSpPr>
                <p:cNvPr id="54327" name="文本框 37256"/>
                <p:cNvSpPr txBox="1"/>
                <p:nvPr/>
              </p:nvSpPr>
              <p:spPr>
                <a:xfrm>
                  <a:off x="3559" y="1311"/>
                  <a:ext cx="340" cy="26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V</a:t>
                  </a:r>
                  <a:r>
                    <a:rPr lang="en-US" altLang="zh-CN" sz="2000" baseline="-25000" dirty="0">
                      <a:solidFill>
                        <a:schemeClr val="hlink"/>
                      </a:solidFill>
                      <a:latin typeface="Times New Roman" panose="02020603050405020304" pitchFamily="18" charset="0"/>
                      <a:ea typeface="宋体" panose="02010600030101010101" pitchFamily="2" charset="-122"/>
                    </a:rPr>
                    <a:t>O1</a:t>
                  </a:r>
                </a:p>
              </p:txBody>
            </p:sp>
            <p:sp>
              <p:nvSpPr>
                <p:cNvPr id="54328" name="文本框 37257"/>
                <p:cNvSpPr txBox="1"/>
                <p:nvPr/>
              </p:nvSpPr>
              <p:spPr>
                <a:xfrm>
                  <a:off x="3633" y="432"/>
                  <a:ext cx="262" cy="262"/>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baseline="-25000" dirty="0">
                      <a:latin typeface="Times New Roman" panose="02020603050405020304" pitchFamily="18" charset="0"/>
                      <a:ea typeface="宋体" panose="02010600030101010101" pitchFamily="2" charset="-122"/>
                    </a:rPr>
                    <a:t>O</a:t>
                  </a:r>
                </a:p>
              </p:txBody>
            </p:sp>
            <p:sp>
              <p:nvSpPr>
                <p:cNvPr id="54329" name="文本框 37258"/>
                <p:cNvSpPr txBox="1"/>
                <p:nvPr/>
              </p:nvSpPr>
              <p:spPr>
                <a:xfrm>
                  <a:off x="5409" y="854"/>
                  <a:ext cx="160" cy="262"/>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endParaRPr lang="en-US" altLang="zh-CN" sz="2000" baseline="-25000" dirty="0">
                    <a:latin typeface="Times New Roman" panose="02020603050405020304" pitchFamily="18" charset="0"/>
                    <a:ea typeface="宋体" panose="02010600030101010101" pitchFamily="2" charset="-122"/>
                  </a:endParaRPr>
                </a:p>
              </p:txBody>
            </p:sp>
            <p:sp>
              <p:nvSpPr>
                <p:cNvPr id="54330" name="文本框 37259"/>
                <p:cNvSpPr txBox="1"/>
                <p:nvPr/>
              </p:nvSpPr>
              <p:spPr>
                <a:xfrm>
                  <a:off x="4449" y="857"/>
                  <a:ext cx="195" cy="191"/>
                </a:xfrm>
                <a:prstGeom prst="rect">
                  <a:avLst/>
                </a:prstGeom>
                <a:noFill/>
                <a:ln w="19050">
                  <a:noFill/>
                </a:ln>
              </p:spPr>
              <p:txBody>
                <a:bodyPr wrap="none">
                  <a:spAutoFit/>
                </a:bodyPr>
                <a:lstStyle/>
                <a:p>
                  <a:pPr eaLnBrk="1" hangingPunct="1"/>
                  <a:endParaRPr lang="zh-CN" altLang="zh-CN" sz="2000" baseline="-25000" dirty="0">
                    <a:latin typeface="Times New Roman" panose="02020603050405020304" pitchFamily="18" charset="0"/>
                    <a:ea typeface="宋体" panose="02010600030101010101" pitchFamily="2" charset="-122"/>
                  </a:endParaRPr>
                </a:p>
              </p:txBody>
            </p:sp>
            <p:sp>
              <p:nvSpPr>
                <p:cNvPr id="54331" name="文本框 37260"/>
                <p:cNvSpPr txBox="1"/>
                <p:nvPr/>
              </p:nvSpPr>
              <p:spPr>
                <a:xfrm>
                  <a:off x="4833" y="857"/>
                  <a:ext cx="195" cy="191"/>
                </a:xfrm>
                <a:prstGeom prst="rect">
                  <a:avLst/>
                </a:prstGeom>
                <a:noFill/>
                <a:ln w="19050">
                  <a:noFill/>
                </a:ln>
              </p:spPr>
              <p:txBody>
                <a:bodyPr wrap="none">
                  <a:spAutoFit/>
                </a:bodyPr>
                <a:lstStyle/>
                <a:p>
                  <a:pPr eaLnBrk="1" hangingPunct="1"/>
                  <a:endParaRPr lang="zh-CN" altLang="zh-CN" sz="2000" baseline="-25000" dirty="0">
                    <a:latin typeface="Times New Roman" panose="02020603050405020304" pitchFamily="18" charset="0"/>
                    <a:ea typeface="宋体" panose="02010600030101010101" pitchFamily="2" charset="-122"/>
                  </a:endParaRPr>
                </a:p>
              </p:txBody>
            </p:sp>
            <p:sp>
              <p:nvSpPr>
                <p:cNvPr id="54332" name="文本框 37261"/>
                <p:cNvSpPr txBox="1"/>
                <p:nvPr/>
              </p:nvSpPr>
              <p:spPr>
                <a:xfrm>
                  <a:off x="5099" y="857"/>
                  <a:ext cx="195" cy="191"/>
                </a:xfrm>
                <a:prstGeom prst="rect">
                  <a:avLst/>
                </a:prstGeom>
                <a:noFill/>
                <a:ln w="19050">
                  <a:noFill/>
                </a:ln>
              </p:spPr>
              <p:txBody>
                <a:bodyPr wrap="none">
                  <a:spAutoFit/>
                </a:bodyPr>
                <a:lstStyle/>
                <a:p>
                  <a:pPr eaLnBrk="1" hangingPunct="1"/>
                  <a:endParaRPr lang="zh-CN" altLang="zh-CN" sz="2000" baseline="-25000" dirty="0">
                    <a:latin typeface="Times New Roman" panose="02020603050405020304" pitchFamily="18" charset="0"/>
                    <a:ea typeface="宋体" panose="02010600030101010101" pitchFamily="2" charset="-122"/>
                  </a:endParaRPr>
                </a:p>
              </p:txBody>
            </p:sp>
            <p:sp>
              <p:nvSpPr>
                <p:cNvPr id="54333" name="直接连接符 37262"/>
                <p:cNvSpPr/>
                <p:nvPr/>
              </p:nvSpPr>
              <p:spPr>
                <a:xfrm>
                  <a:off x="4401" y="543"/>
                  <a:ext cx="240" cy="0"/>
                </a:xfrm>
                <a:prstGeom prst="line">
                  <a:avLst/>
                </a:prstGeom>
                <a:ln w="19050" cap="flat" cmpd="sng">
                  <a:solidFill>
                    <a:schemeClr val="hlink"/>
                  </a:solidFill>
                  <a:prstDash val="solid"/>
                  <a:headEnd type="none" w="med" len="med"/>
                  <a:tailEnd type="triangle" w="med" len="med"/>
                </a:ln>
              </p:spPr>
            </p:sp>
            <p:sp>
              <p:nvSpPr>
                <p:cNvPr id="54334" name="直接连接符 37263"/>
                <p:cNvSpPr/>
                <p:nvPr/>
              </p:nvSpPr>
              <p:spPr>
                <a:xfrm flipH="1">
                  <a:off x="3921" y="543"/>
                  <a:ext cx="240" cy="0"/>
                </a:xfrm>
                <a:prstGeom prst="line">
                  <a:avLst/>
                </a:prstGeom>
                <a:ln w="19050" cap="flat" cmpd="sng">
                  <a:solidFill>
                    <a:schemeClr val="hlink"/>
                  </a:solidFill>
                  <a:prstDash val="solid"/>
                  <a:headEnd type="none" w="med" len="med"/>
                  <a:tailEnd type="triangle" w="med" len="med"/>
                </a:ln>
              </p:spPr>
            </p:sp>
            <p:sp>
              <p:nvSpPr>
                <p:cNvPr id="54335" name="直接连接符 37264"/>
                <p:cNvSpPr/>
                <p:nvPr/>
              </p:nvSpPr>
              <p:spPr>
                <a:xfrm>
                  <a:off x="4977" y="539"/>
                  <a:ext cx="144" cy="0"/>
                </a:xfrm>
                <a:prstGeom prst="line">
                  <a:avLst/>
                </a:prstGeom>
                <a:ln w="19050" cap="flat" cmpd="sng">
                  <a:solidFill>
                    <a:schemeClr val="hlink"/>
                  </a:solidFill>
                  <a:prstDash val="solid"/>
                  <a:headEnd type="none" w="med" len="med"/>
                  <a:tailEnd type="triangle" w="med" len="med"/>
                </a:ln>
              </p:spPr>
            </p:sp>
            <p:sp>
              <p:nvSpPr>
                <p:cNvPr id="54336" name="直接连接符 37265"/>
                <p:cNvSpPr/>
                <p:nvPr/>
              </p:nvSpPr>
              <p:spPr>
                <a:xfrm flipH="1">
                  <a:off x="4641" y="539"/>
                  <a:ext cx="144" cy="0"/>
                </a:xfrm>
                <a:prstGeom prst="line">
                  <a:avLst/>
                </a:prstGeom>
                <a:ln w="19050" cap="flat" cmpd="sng">
                  <a:solidFill>
                    <a:schemeClr val="hlink"/>
                  </a:solidFill>
                  <a:prstDash val="solid"/>
                  <a:headEnd type="none" w="med" len="med"/>
                  <a:tailEnd type="triangle" w="med" len="med"/>
                </a:ln>
              </p:spPr>
            </p:sp>
          </p:grpSp>
        </p:grpSp>
        <p:grpSp>
          <p:nvGrpSpPr>
            <p:cNvPr id="54316" name="组合 37266"/>
            <p:cNvGrpSpPr/>
            <p:nvPr/>
          </p:nvGrpSpPr>
          <p:grpSpPr>
            <a:xfrm>
              <a:off x="4637" y="432"/>
              <a:ext cx="495" cy="1584"/>
              <a:chOff x="4637" y="432"/>
              <a:chExt cx="495" cy="2688"/>
            </a:xfrm>
          </p:grpSpPr>
          <p:sp>
            <p:nvSpPr>
              <p:cNvPr id="54317" name="直接连接符 37267"/>
              <p:cNvSpPr/>
              <p:nvPr/>
            </p:nvSpPr>
            <p:spPr>
              <a:xfrm flipH="1">
                <a:off x="4637" y="432"/>
                <a:ext cx="15" cy="2688"/>
              </a:xfrm>
              <a:prstGeom prst="line">
                <a:avLst/>
              </a:prstGeom>
              <a:ln w="19050" cap="flat" cmpd="sng">
                <a:solidFill>
                  <a:schemeClr val="hlink"/>
                </a:solidFill>
                <a:prstDash val="lgDash"/>
                <a:headEnd type="none" w="med" len="med"/>
                <a:tailEnd type="none" w="med" len="med"/>
              </a:ln>
            </p:spPr>
          </p:sp>
          <p:sp>
            <p:nvSpPr>
              <p:cNvPr id="54318" name="直接连接符 37268"/>
              <p:cNvSpPr/>
              <p:nvPr/>
            </p:nvSpPr>
            <p:spPr>
              <a:xfrm flipH="1">
                <a:off x="5117" y="432"/>
                <a:ext cx="15" cy="2688"/>
              </a:xfrm>
              <a:prstGeom prst="line">
                <a:avLst/>
              </a:prstGeom>
              <a:ln w="19050" cap="flat" cmpd="sng">
                <a:solidFill>
                  <a:schemeClr val="hlink"/>
                </a:solidFill>
                <a:prstDash val="lgDash"/>
                <a:headEnd type="none" w="med" len="med"/>
                <a:tailEnd type="none" w="med" len="med"/>
              </a:ln>
            </p:spPr>
          </p:sp>
        </p:grpSp>
      </p:grpSp>
      <p:grpSp>
        <p:nvGrpSpPr>
          <p:cNvPr id="37270" name="组合 37269"/>
          <p:cNvGrpSpPr/>
          <p:nvPr/>
        </p:nvGrpSpPr>
        <p:grpSpPr>
          <a:xfrm>
            <a:off x="7138988" y="509588"/>
            <a:ext cx="2216150" cy="1076324"/>
            <a:chOff x="3537" y="629"/>
            <a:chExt cx="1396" cy="678"/>
          </a:xfrm>
        </p:grpSpPr>
        <p:sp>
          <p:nvSpPr>
            <p:cNvPr id="54311" name="任意多边形 37270"/>
            <p:cNvSpPr/>
            <p:nvPr/>
          </p:nvSpPr>
          <p:spPr>
            <a:xfrm>
              <a:off x="3917" y="864"/>
              <a:ext cx="1008" cy="384"/>
            </a:xfrm>
            <a:custGeom>
              <a:avLst/>
              <a:gdLst/>
              <a:ahLst/>
              <a:cxnLst>
                <a:cxn ang="0">
                  <a:pos x="0" y="0"/>
                </a:cxn>
                <a:cxn ang="0">
                  <a:pos x="720" y="384"/>
                </a:cxn>
                <a:cxn ang="0">
                  <a:pos x="1008" y="0"/>
                </a:cxn>
              </a:cxnLst>
              <a:rect l="0" t="0" r="0" b="0"/>
              <a:pathLst>
                <a:path w="1008" h="384">
                  <a:moveTo>
                    <a:pt x="0" y="0"/>
                  </a:moveTo>
                  <a:lnTo>
                    <a:pt x="720" y="384"/>
                  </a:lnTo>
                  <a:lnTo>
                    <a:pt x="1008" y="0"/>
                  </a:lnTo>
                </a:path>
              </a:pathLst>
            </a:custGeom>
            <a:noFill/>
            <a:ln w="19050" cap="flat" cmpd="sng">
              <a:solidFill>
                <a:srgbClr val="FF00FF">
                  <a:alpha val="100000"/>
                </a:srgbClr>
              </a:solidFill>
              <a:prstDash val="lgDash"/>
              <a:round/>
              <a:headEnd type="none" w="med" len="med"/>
              <a:tailEnd type="none" w="med" len="med"/>
            </a:ln>
          </p:spPr>
          <p:txBody>
            <a:bodyPr/>
            <a:lstStyle/>
            <a:p>
              <a:endParaRPr lang="zh-CN" altLang="en-US"/>
            </a:p>
          </p:txBody>
        </p:sp>
        <p:sp>
          <p:nvSpPr>
            <p:cNvPr id="54312" name="文本框 37271"/>
            <p:cNvSpPr txBox="1"/>
            <p:nvPr/>
          </p:nvSpPr>
          <p:spPr>
            <a:xfrm>
              <a:off x="4643" y="629"/>
              <a:ext cx="290" cy="251"/>
            </a:xfrm>
            <a:prstGeom prst="rect">
              <a:avLst/>
            </a:prstGeom>
            <a:noFill/>
            <a:ln w="19050">
              <a:noFill/>
            </a:ln>
          </p:spPr>
          <p:txBody>
            <a:bodyPr wrap="none">
              <a:spAutoFit/>
            </a:bodyPr>
            <a:lstStyle/>
            <a:p>
              <a:pPr eaLnBrk="1" hangingPunct="1"/>
              <a:r>
                <a:rPr lang="en-US" altLang="zh-CN" sz="2000" i="1" dirty="0">
                  <a:solidFill>
                    <a:srgbClr val="FF00FF"/>
                  </a:solidFill>
                  <a:latin typeface="Times New Roman" panose="02020603050405020304" pitchFamily="18" charset="0"/>
                  <a:ea typeface="宋体" panose="02010600030101010101" pitchFamily="2" charset="-122"/>
                </a:rPr>
                <a:t>T'</a:t>
              </a:r>
              <a:r>
                <a:rPr lang="en-US" altLang="zh-CN" sz="2000" baseline="-25000" dirty="0">
                  <a:solidFill>
                    <a:srgbClr val="FF00FF"/>
                  </a:solidFill>
                  <a:latin typeface="Times New Roman" panose="02020603050405020304" pitchFamily="18" charset="0"/>
                  <a:ea typeface="宋体" panose="02010600030101010101" pitchFamily="2" charset="-122"/>
                </a:rPr>
                <a:t>2</a:t>
              </a:r>
            </a:p>
          </p:txBody>
        </p:sp>
        <p:sp>
          <p:nvSpPr>
            <p:cNvPr id="54313" name="直接连接符 37272"/>
            <p:cNvSpPr/>
            <p:nvPr/>
          </p:nvSpPr>
          <p:spPr>
            <a:xfrm flipH="1">
              <a:off x="3917" y="1248"/>
              <a:ext cx="720" cy="0"/>
            </a:xfrm>
            <a:prstGeom prst="line">
              <a:avLst/>
            </a:prstGeom>
            <a:ln w="19050" cap="flat" cmpd="sng">
              <a:solidFill>
                <a:srgbClr val="FF00FF"/>
              </a:solidFill>
              <a:prstDash val="lgDash"/>
              <a:headEnd type="none" w="med" len="med"/>
              <a:tailEnd type="none" w="med" len="med"/>
            </a:ln>
          </p:spPr>
        </p:sp>
        <p:sp>
          <p:nvSpPr>
            <p:cNvPr id="54314" name="文本框 37273"/>
            <p:cNvSpPr txBox="1"/>
            <p:nvPr/>
          </p:nvSpPr>
          <p:spPr>
            <a:xfrm>
              <a:off x="3537" y="1056"/>
              <a:ext cx="374" cy="251"/>
            </a:xfrm>
            <a:prstGeom prst="rect">
              <a:avLst/>
            </a:prstGeom>
            <a:noFill/>
            <a:ln w="19050">
              <a:noFill/>
            </a:ln>
          </p:spPr>
          <p:txBody>
            <a:bodyPr wrap="none">
              <a:spAutoFit/>
            </a:bodyPr>
            <a:lstStyle/>
            <a:p>
              <a:pPr eaLnBrk="1" hangingPunct="1"/>
              <a:r>
                <a:rPr lang="en-US" altLang="zh-CN" sz="2000" i="1" dirty="0">
                  <a:solidFill>
                    <a:srgbClr val="FF00FF"/>
                  </a:solidFill>
                  <a:latin typeface="Times New Roman" panose="02020603050405020304" pitchFamily="18" charset="0"/>
                  <a:ea typeface="宋体" panose="02010600030101010101" pitchFamily="2" charset="-122"/>
                </a:rPr>
                <a:t>V'</a:t>
              </a:r>
              <a:r>
                <a:rPr lang="en-US" altLang="zh-CN" sz="2000" baseline="-25000" dirty="0">
                  <a:solidFill>
                    <a:srgbClr val="FF00FF"/>
                  </a:solidFill>
                  <a:latin typeface="Times New Roman" panose="02020603050405020304" pitchFamily="18" charset="0"/>
                  <a:ea typeface="宋体" panose="02010600030101010101" pitchFamily="2" charset="-122"/>
                </a:rPr>
                <a:t>O1</a:t>
              </a:r>
            </a:p>
          </p:txBody>
        </p:sp>
      </p:grpSp>
      <p:grpSp>
        <p:nvGrpSpPr>
          <p:cNvPr id="37275" name="组合 37274"/>
          <p:cNvGrpSpPr/>
          <p:nvPr/>
        </p:nvGrpSpPr>
        <p:grpSpPr>
          <a:xfrm>
            <a:off x="8897938" y="619125"/>
            <a:ext cx="450850" cy="3006725"/>
            <a:chOff x="4645" y="698"/>
            <a:chExt cx="284" cy="2448"/>
          </a:xfrm>
        </p:grpSpPr>
        <p:sp>
          <p:nvSpPr>
            <p:cNvPr id="54309" name="直接连接符 37275"/>
            <p:cNvSpPr/>
            <p:nvPr/>
          </p:nvSpPr>
          <p:spPr>
            <a:xfrm flipH="1">
              <a:off x="4910" y="698"/>
              <a:ext cx="19" cy="2448"/>
            </a:xfrm>
            <a:prstGeom prst="line">
              <a:avLst/>
            </a:prstGeom>
            <a:ln w="19050" cap="flat" cmpd="sng">
              <a:solidFill>
                <a:srgbClr val="FF00FF"/>
              </a:solidFill>
              <a:prstDash val="lgDash"/>
              <a:headEnd type="none" w="med" len="med"/>
              <a:tailEnd type="none" w="med" len="med"/>
            </a:ln>
          </p:spPr>
        </p:sp>
        <p:sp>
          <p:nvSpPr>
            <p:cNvPr id="54310" name="直接连接符 37276"/>
            <p:cNvSpPr/>
            <p:nvPr/>
          </p:nvSpPr>
          <p:spPr>
            <a:xfrm>
              <a:off x="4645" y="2544"/>
              <a:ext cx="0" cy="576"/>
            </a:xfrm>
            <a:prstGeom prst="line">
              <a:avLst/>
            </a:prstGeom>
            <a:ln w="19050" cap="flat" cmpd="sng">
              <a:solidFill>
                <a:srgbClr val="FF00FF"/>
              </a:solidFill>
              <a:prstDash val="lgDash"/>
              <a:headEnd type="none" w="med" len="med"/>
              <a:tailEnd type="none" w="med" len="med"/>
            </a:ln>
          </p:spPr>
        </p:sp>
      </p:grpSp>
      <p:grpSp>
        <p:nvGrpSpPr>
          <p:cNvPr id="37278" name="组合 37277"/>
          <p:cNvGrpSpPr/>
          <p:nvPr/>
        </p:nvGrpSpPr>
        <p:grpSpPr>
          <a:xfrm>
            <a:off x="7086600" y="1873250"/>
            <a:ext cx="3398838" cy="1184276"/>
            <a:chOff x="3504" y="1488"/>
            <a:chExt cx="2141" cy="746"/>
          </a:xfrm>
        </p:grpSpPr>
        <p:sp>
          <p:nvSpPr>
            <p:cNvPr id="54296" name="直接连接符 37278"/>
            <p:cNvSpPr/>
            <p:nvPr/>
          </p:nvSpPr>
          <p:spPr>
            <a:xfrm>
              <a:off x="3917" y="2000"/>
              <a:ext cx="1728" cy="0"/>
            </a:xfrm>
            <a:prstGeom prst="line">
              <a:avLst/>
            </a:prstGeom>
            <a:ln w="19050" cap="flat" cmpd="sng">
              <a:solidFill>
                <a:schemeClr val="hlink"/>
              </a:solidFill>
              <a:prstDash val="solid"/>
              <a:headEnd type="none" w="med" len="med"/>
              <a:tailEnd type="triangle" w="med" len="med"/>
            </a:ln>
          </p:spPr>
        </p:sp>
        <p:sp>
          <p:nvSpPr>
            <p:cNvPr id="54297" name="直接连接符 37279"/>
            <p:cNvSpPr/>
            <p:nvPr/>
          </p:nvSpPr>
          <p:spPr>
            <a:xfrm flipV="1">
              <a:off x="3917" y="1587"/>
              <a:ext cx="0" cy="413"/>
            </a:xfrm>
            <a:prstGeom prst="line">
              <a:avLst/>
            </a:prstGeom>
            <a:ln w="19050" cap="flat" cmpd="sng">
              <a:solidFill>
                <a:schemeClr val="hlink"/>
              </a:solidFill>
              <a:prstDash val="solid"/>
              <a:headEnd type="none" w="med" len="med"/>
              <a:tailEnd type="triangle" w="med" len="med"/>
            </a:ln>
          </p:spPr>
        </p:sp>
        <p:sp>
          <p:nvSpPr>
            <p:cNvPr id="54298" name="任意多边形 37280"/>
            <p:cNvSpPr/>
            <p:nvPr/>
          </p:nvSpPr>
          <p:spPr>
            <a:xfrm>
              <a:off x="3915" y="1712"/>
              <a:ext cx="779" cy="288"/>
            </a:xfrm>
            <a:custGeom>
              <a:avLst/>
              <a:gdLst/>
              <a:ahLst/>
              <a:cxnLst>
                <a:cxn ang="0">
                  <a:pos x="0" y="283"/>
                </a:cxn>
                <a:cxn ang="0">
                  <a:pos x="732" y="288"/>
                </a:cxn>
                <a:cxn ang="0">
                  <a:pos x="732" y="0"/>
                </a:cxn>
                <a:cxn ang="0">
                  <a:pos x="779" y="0"/>
                </a:cxn>
                <a:cxn ang="0">
                  <a:pos x="779" y="288"/>
                </a:cxn>
              </a:cxnLst>
              <a:rect l="0" t="0" r="0" b="0"/>
              <a:pathLst>
                <a:path w="779" h="288">
                  <a:moveTo>
                    <a:pt x="0" y="283"/>
                  </a:moveTo>
                  <a:lnTo>
                    <a:pt x="732" y="288"/>
                  </a:lnTo>
                  <a:lnTo>
                    <a:pt x="732" y="0"/>
                  </a:lnTo>
                  <a:lnTo>
                    <a:pt x="779" y="0"/>
                  </a:lnTo>
                  <a:lnTo>
                    <a:pt x="779" y="288"/>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grpSp>
          <p:nvGrpSpPr>
            <p:cNvPr id="54299" name="组合 37281"/>
            <p:cNvGrpSpPr/>
            <p:nvPr/>
          </p:nvGrpSpPr>
          <p:grpSpPr>
            <a:xfrm>
              <a:off x="4694" y="1712"/>
              <a:ext cx="187" cy="288"/>
              <a:chOff x="720" y="3072"/>
              <a:chExt cx="384" cy="288"/>
            </a:xfrm>
          </p:grpSpPr>
          <p:sp>
            <p:nvSpPr>
              <p:cNvPr id="54307" name="任意多边形 37282"/>
              <p:cNvSpPr/>
              <p:nvPr/>
            </p:nvSpPr>
            <p:spPr>
              <a:xfrm>
                <a:off x="720"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308" name="任意多边形 37283"/>
              <p:cNvSpPr/>
              <p:nvPr/>
            </p:nvSpPr>
            <p:spPr>
              <a:xfrm>
                <a:off x="912" y="3072"/>
                <a:ext cx="192" cy="288"/>
              </a:xfrm>
              <a:custGeom>
                <a:avLst/>
                <a:gdLst/>
                <a:ahLst/>
                <a:cxnLst>
                  <a:cxn ang="0">
                    <a:pos x="0" y="288"/>
                  </a:cxn>
                  <a:cxn ang="0">
                    <a:pos x="96" y="288"/>
                  </a:cxn>
                  <a:cxn ang="0">
                    <a:pos x="96" y="0"/>
                  </a:cxn>
                  <a:cxn ang="0">
                    <a:pos x="192" y="0"/>
                  </a:cxn>
                  <a:cxn ang="0">
                    <a:pos x="192" y="288"/>
                  </a:cxn>
                </a:cxnLst>
                <a:rect l="0" t="0" r="0" b="0"/>
                <a:pathLst>
                  <a:path w="192" h="288">
                    <a:moveTo>
                      <a:pt x="0" y="288"/>
                    </a:moveTo>
                    <a:lnTo>
                      <a:pt x="96" y="288"/>
                    </a:lnTo>
                    <a:lnTo>
                      <a:pt x="96" y="0"/>
                    </a:lnTo>
                    <a:lnTo>
                      <a:pt x="192" y="0"/>
                    </a:lnTo>
                    <a:lnTo>
                      <a:pt x="192" y="288"/>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grpSp>
        <p:sp>
          <p:nvSpPr>
            <p:cNvPr id="54300" name="任意多边形 37284"/>
            <p:cNvSpPr/>
            <p:nvPr/>
          </p:nvSpPr>
          <p:spPr>
            <a:xfrm>
              <a:off x="4881" y="1712"/>
              <a:ext cx="94" cy="288"/>
            </a:xfrm>
            <a:custGeom>
              <a:avLst/>
              <a:gdLst/>
              <a:ahLst/>
              <a:cxnLst>
                <a:cxn ang="0">
                  <a:pos x="0" y="288"/>
                </a:cxn>
                <a:cxn ang="0">
                  <a:pos x="47" y="288"/>
                </a:cxn>
                <a:cxn ang="0">
                  <a:pos x="47" y="0"/>
                </a:cxn>
                <a:cxn ang="0">
                  <a:pos x="94" y="0"/>
                </a:cxn>
                <a:cxn ang="0">
                  <a:pos x="94" y="288"/>
                </a:cxn>
              </a:cxnLst>
              <a:rect l="0" t="0" r="0" b="0"/>
              <a:pathLst>
                <a:path w="192" h="288">
                  <a:moveTo>
                    <a:pt x="0" y="288"/>
                  </a:moveTo>
                  <a:lnTo>
                    <a:pt x="96" y="288"/>
                  </a:lnTo>
                  <a:lnTo>
                    <a:pt x="96" y="0"/>
                  </a:lnTo>
                  <a:lnTo>
                    <a:pt x="192" y="0"/>
                  </a:lnTo>
                  <a:lnTo>
                    <a:pt x="192" y="288"/>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301" name="任意多边形 37285"/>
            <p:cNvSpPr/>
            <p:nvPr/>
          </p:nvSpPr>
          <p:spPr>
            <a:xfrm>
              <a:off x="4975" y="1712"/>
              <a:ext cx="94" cy="293"/>
            </a:xfrm>
            <a:custGeom>
              <a:avLst/>
              <a:gdLst/>
              <a:ahLst/>
              <a:cxnLst>
                <a:cxn ang="0">
                  <a:pos x="0" y="288"/>
                </a:cxn>
                <a:cxn ang="0">
                  <a:pos x="47" y="288"/>
                </a:cxn>
                <a:cxn ang="0">
                  <a:pos x="47" y="0"/>
                </a:cxn>
                <a:cxn ang="0">
                  <a:pos x="94" y="0"/>
                </a:cxn>
                <a:cxn ang="0">
                  <a:pos x="92" y="293"/>
                </a:cxn>
              </a:cxnLst>
              <a:rect l="0" t="0" r="0" b="0"/>
              <a:pathLst>
                <a:path w="94" h="293">
                  <a:moveTo>
                    <a:pt x="0" y="288"/>
                  </a:moveTo>
                  <a:lnTo>
                    <a:pt x="47" y="288"/>
                  </a:lnTo>
                  <a:lnTo>
                    <a:pt x="47" y="0"/>
                  </a:lnTo>
                  <a:lnTo>
                    <a:pt x="94" y="0"/>
                  </a:lnTo>
                  <a:lnTo>
                    <a:pt x="92" y="293"/>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4302" name="直接连接符 37286"/>
            <p:cNvSpPr/>
            <p:nvPr/>
          </p:nvSpPr>
          <p:spPr>
            <a:xfrm>
              <a:off x="5069" y="2000"/>
              <a:ext cx="384" cy="0"/>
            </a:xfrm>
            <a:prstGeom prst="line">
              <a:avLst/>
            </a:prstGeom>
            <a:ln w="19050" cap="flat" cmpd="sng">
              <a:solidFill>
                <a:schemeClr val="hlink"/>
              </a:solidFill>
              <a:prstDash val="solid"/>
              <a:headEnd type="none" w="med" len="med"/>
              <a:tailEnd type="none" w="med" len="med"/>
            </a:ln>
          </p:spPr>
        </p:sp>
        <p:sp>
          <p:nvSpPr>
            <p:cNvPr id="54303" name="文本框 37287"/>
            <p:cNvSpPr txBox="1"/>
            <p:nvPr/>
          </p:nvSpPr>
          <p:spPr>
            <a:xfrm>
              <a:off x="3627" y="1488"/>
              <a:ext cx="262"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baseline="-25000" dirty="0">
                  <a:latin typeface="Times New Roman" panose="02020603050405020304" pitchFamily="18" charset="0"/>
                  <a:ea typeface="宋体" panose="02010600030101010101" pitchFamily="2" charset="-122"/>
                </a:rPr>
                <a:t>G</a:t>
              </a:r>
            </a:p>
          </p:txBody>
        </p:sp>
        <p:sp>
          <p:nvSpPr>
            <p:cNvPr id="54304" name="文本框 37288"/>
            <p:cNvSpPr txBox="1"/>
            <p:nvPr/>
          </p:nvSpPr>
          <p:spPr>
            <a:xfrm>
              <a:off x="3504" y="1688"/>
              <a:ext cx="418"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v</a:t>
              </a:r>
              <a:r>
                <a:rPr lang="en-US" altLang="zh-CN" sz="2000" baseline="-25000" dirty="0">
                  <a:solidFill>
                    <a:schemeClr val="hlink"/>
                  </a:solidFill>
                  <a:latin typeface="Times New Roman" panose="02020603050405020304" pitchFamily="18" charset="0"/>
                  <a:ea typeface="宋体" panose="02010600030101010101" pitchFamily="2" charset="-122"/>
                </a:rPr>
                <a:t>I</a:t>
              </a:r>
              <a:r>
                <a:rPr lang="en-US" altLang="zh-CN" sz="2000" dirty="0">
                  <a:solidFill>
                    <a:schemeClr val="hlink"/>
                  </a:solidFill>
                  <a:latin typeface="Times New Roman" panose="02020603050405020304" pitchFamily="18" charset="0"/>
                  <a:ea typeface="宋体" panose="02010600030101010101" pitchFamily="2" charset="-122"/>
                </a:rPr>
                <a:t>=</a:t>
              </a:r>
              <a:r>
                <a:rPr lang="en-US" altLang="zh-CN" sz="2000" i="1" dirty="0">
                  <a:solidFill>
                    <a:schemeClr val="hlink"/>
                  </a:solidFill>
                  <a:latin typeface="Times New Roman" panose="02020603050405020304" pitchFamily="18" charset="0"/>
                  <a:ea typeface="宋体" panose="02010600030101010101" pitchFamily="2" charset="-122"/>
                </a:rPr>
                <a:t>v</a:t>
              </a:r>
              <a:r>
                <a:rPr lang="en-US" altLang="zh-CN" sz="2000" baseline="-25000" dirty="0">
                  <a:solidFill>
                    <a:schemeClr val="hlink"/>
                  </a:solidFill>
                  <a:latin typeface="Times New Roman" panose="02020603050405020304" pitchFamily="18" charset="0"/>
                  <a:ea typeface="宋体" panose="02010600030101010101" pitchFamily="2" charset="-122"/>
                </a:rPr>
                <a:t>I</a:t>
              </a:r>
            </a:p>
          </p:txBody>
        </p:sp>
        <p:sp>
          <p:nvSpPr>
            <p:cNvPr id="54305" name="文本框 37289"/>
            <p:cNvSpPr txBox="1"/>
            <p:nvPr/>
          </p:nvSpPr>
          <p:spPr>
            <a:xfrm>
              <a:off x="5409" y="1983"/>
              <a:ext cx="160"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endParaRPr lang="en-US" altLang="zh-CN" sz="2000" baseline="-25000" dirty="0">
                <a:latin typeface="Times New Roman" panose="02020603050405020304" pitchFamily="18" charset="0"/>
                <a:ea typeface="宋体" panose="02010600030101010101" pitchFamily="2" charset="-122"/>
              </a:endParaRPr>
            </a:p>
          </p:txBody>
        </p:sp>
        <p:sp>
          <p:nvSpPr>
            <p:cNvPr id="54306" name="直接连接符 37290"/>
            <p:cNvSpPr/>
            <p:nvPr/>
          </p:nvSpPr>
          <p:spPr>
            <a:xfrm>
              <a:off x="5066" y="2000"/>
              <a:ext cx="336" cy="0"/>
            </a:xfrm>
            <a:prstGeom prst="line">
              <a:avLst/>
            </a:prstGeom>
            <a:ln w="19050" cap="flat" cmpd="sng">
              <a:solidFill>
                <a:schemeClr val="hlink"/>
              </a:solidFill>
              <a:prstDash val="solid"/>
              <a:headEnd type="none" w="med" len="med"/>
              <a:tailEnd type="none" w="med" len="med"/>
            </a:ln>
          </p:spPr>
        </p:sp>
      </p:grpSp>
      <p:grpSp>
        <p:nvGrpSpPr>
          <p:cNvPr id="37292" name="组合 37291"/>
          <p:cNvGrpSpPr/>
          <p:nvPr/>
        </p:nvGrpSpPr>
        <p:grpSpPr>
          <a:xfrm>
            <a:off x="7027863" y="2787650"/>
            <a:ext cx="3452812" cy="1225551"/>
            <a:chOff x="3216" y="3021"/>
            <a:chExt cx="2175" cy="772"/>
          </a:xfrm>
        </p:grpSpPr>
        <p:sp>
          <p:nvSpPr>
            <p:cNvPr id="54287" name="直接连接符 37292"/>
            <p:cNvSpPr/>
            <p:nvPr/>
          </p:nvSpPr>
          <p:spPr>
            <a:xfrm flipV="1">
              <a:off x="3663" y="3544"/>
              <a:ext cx="1728" cy="0"/>
            </a:xfrm>
            <a:prstGeom prst="line">
              <a:avLst/>
            </a:prstGeom>
            <a:ln w="19050" cap="flat" cmpd="sng">
              <a:solidFill>
                <a:schemeClr val="hlink"/>
              </a:solidFill>
              <a:prstDash val="solid"/>
              <a:headEnd type="none" w="med" len="med"/>
              <a:tailEnd type="triangle" w="med" len="med"/>
            </a:ln>
          </p:spPr>
        </p:sp>
        <p:sp>
          <p:nvSpPr>
            <p:cNvPr id="54288" name="直接连接符 37293"/>
            <p:cNvSpPr/>
            <p:nvPr/>
          </p:nvSpPr>
          <p:spPr>
            <a:xfrm flipV="1">
              <a:off x="3659" y="3131"/>
              <a:ext cx="0" cy="413"/>
            </a:xfrm>
            <a:prstGeom prst="line">
              <a:avLst/>
            </a:prstGeom>
            <a:ln w="19050" cap="flat" cmpd="sng">
              <a:solidFill>
                <a:schemeClr val="hlink"/>
              </a:solidFill>
              <a:prstDash val="solid"/>
              <a:headEnd type="none" w="med" len="med"/>
              <a:tailEnd type="triangle" w="med" len="med"/>
            </a:ln>
          </p:spPr>
        </p:sp>
        <p:sp>
          <p:nvSpPr>
            <p:cNvPr id="54289" name="任意多边形 37294"/>
            <p:cNvSpPr/>
            <p:nvPr/>
          </p:nvSpPr>
          <p:spPr>
            <a:xfrm>
              <a:off x="3669" y="3245"/>
              <a:ext cx="765" cy="288"/>
            </a:xfrm>
            <a:custGeom>
              <a:avLst/>
              <a:gdLst/>
              <a:ahLst/>
              <a:cxnLst>
                <a:cxn ang="0">
                  <a:pos x="0" y="286"/>
                </a:cxn>
                <a:cxn ang="0">
                  <a:pos x="719" y="288"/>
                </a:cxn>
                <a:cxn ang="0">
                  <a:pos x="719" y="0"/>
                </a:cxn>
                <a:cxn ang="0">
                  <a:pos x="765" y="0"/>
                </a:cxn>
                <a:cxn ang="0">
                  <a:pos x="765" y="288"/>
                </a:cxn>
              </a:cxnLst>
              <a:rect l="0" t="0" r="0" b="0"/>
              <a:pathLst>
                <a:path w="765" h="288">
                  <a:moveTo>
                    <a:pt x="0" y="286"/>
                  </a:moveTo>
                  <a:lnTo>
                    <a:pt x="719" y="288"/>
                  </a:lnTo>
                  <a:lnTo>
                    <a:pt x="719" y="0"/>
                  </a:lnTo>
                  <a:lnTo>
                    <a:pt x="765" y="0"/>
                  </a:lnTo>
                  <a:lnTo>
                    <a:pt x="765" y="288"/>
                  </a:lnTo>
                </a:path>
              </a:pathLst>
            </a:custGeom>
            <a:noFill/>
            <a:ln w="19050" cap="flat" cmpd="sng">
              <a:solidFill>
                <a:srgbClr val="FF00FF">
                  <a:alpha val="100000"/>
                </a:srgbClr>
              </a:solidFill>
              <a:prstDash val="solid"/>
              <a:round/>
              <a:headEnd type="none" w="med" len="med"/>
              <a:tailEnd type="none" w="med" len="med"/>
            </a:ln>
          </p:spPr>
          <p:txBody>
            <a:bodyPr/>
            <a:lstStyle/>
            <a:p>
              <a:endParaRPr lang="zh-CN" altLang="en-US"/>
            </a:p>
          </p:txBody>
        </p:sp>
        <p:sp>
          <p:nvSpPr>
            <p:cNvPr id="54290" name="任意多边形 37295"/>
            <p:cNvSpPr/>
            <p:nvPr/>
          </p:nvSpPr>
          <p:spPr>
            <a:xfrm>
              <a:off x="4434" y="3245"/>
              <a:ext cx="93" cy="288"/>
            </a:xfrm>
            <a:custGeom>
              <a:avLst/>
              <a:gdLst/>
              <a:ahLst/>
              <a:cxnLst>
                <a:cxn ang="0">
                  <a:pos x="0" y="288"/>
                </a:cxn>
                <a:cxn ang="0">
                  <a:pos x="47" y="288"/>
                </a:cxn>
                <a:cxn ang="0">
                  <a:pos x="47" y="0"/>
                </a:cxn>
                <a:cxn ang="0">
                  <a:pos x="93" y="0"/>
                </a:cxn>
                <a:cxn ang="0">
                  <a:pos x="93" y="288"/>
                </a:cxn>
              </a:cxnLst>
              <a:rect l="0" t="0" r="0" b="0"/>
              <a:pathLst>
                <a:path w="192" h="288">
                  <a:moveTo>
                    <a:pt x="0" y="288"/>
                  </a:moveTo>
                  <a:lnTo>
                    <a:pt x="96" y="288"/>
                  </a:lnTo>
                  <a:lnTo>
                    <a:pt x="96" y="0"/>
                  </a:lnTo>
                  <a:lnTo>
                    <a:pt x="192" y="0"/>
                  </a:lnTo>
                  <a:lnTo>
                    <a:pt x="192" y="288"/>
                  </a:lnTo>
                </a:path>
              </a:pathLst>
            </a:custGeom>
            <a:noFill/>
            <a:ln w="19050" cap="flat" cmpd="sng">
              <a:solidFill>
                <a:srgbClr val="FF00FF">
                  <a:alpha val="100000"/>
                </a:srgbClr>
              </a:solidFill>
              <a:prstDash val="solid"/>
              <a:round/>
              <a:headEnd type="none" w="med" len="med"/>
              <a:tailEnd type="none" w="med" len="med"/>
            </a:ln>
          </p:spPr>
          <p:txBody>
            <a:bodyPr/>
            <a:lstStyle/>
            <a:p>
              <a:endParaRPr lang="zh-CN" altLang="en-US"/>
            </a:p>
          </p:txBody>
        </p:sp>
        <p:sp>
          <p:nvSpPr>
            <p:cNvPr id="54291" name="任意多边形 37296"/>
            <p:cNvSpPr/>
            <p:nvPr/>
          </p:nvSpPr>
          <p:spPr>
            <a:xfrm>
              <a:off x="4527" y="3245"/>
              <a:ext cx="92" cy="288"/>
            </a:xfrm>
            <a:custGeom>
              <a:avLst/>
              <a:gdLst/>
              <a:ahLst/>
              <a:cxnLst>
                <a:cxn ang="0">
                  <a:pos x="0" y="288"/>
                </a:cxn>
                <a:cxn ang="0">
                  <a:pos x="46" y="288"/>
                </a:cxn>
                <a:cxn ang="0">
                  <a:pos x="46" y="0"/>
                </a:cxn>
                <a:cxn ang="0">
                  <a:pos x="92" y="0"/>
                </a:cxn>
                <a:cxn ang="0">
                  <a:pos x="92" y="288"/>
                </a:cxn>
              </a:cxnLst>
              <a:rect l="0" t="0" r="0" b="0"/>
              <a:pathLst>
                <a:path w="192" h="288">
                  <a:moveTo>
                    <a:pt x="0" y="288"/>
                  </a:moveTo>
                  <a:lnTo>
                    <a:pt x="96" y="288"/>
                  </a:lnTo>
                  <a:lnTo>
                    <a:pt x="96" y="0"/>
                  </a:lnTo>
                  <a:lnTo>
                    <a:pt x="192" y="0"/>
                  </a:lnTo>
                  <a:lnTo>
                    <a:pt x="192" y="288"/>
                  </a:lnTo>
                </a:path>
              </a:pathLst>
            </a:custGeom>
            <a:noFill/>
            <a:ln w="19050" cap="flat" cmpd="sng">
              <a:solidFill>
                <a:srgbClr val="FF00FF">
                  <a:alpha val="100000"/>
                </a:srgbClr>
              </a:solidFill>
              <a:prstDash val="solid"/>
              <a:round/>
              <a:headEnd type="none" w="med" len="med"/>
              <a:tailEnd type="none" w="med" len="med"/>
            </a:ln>
          </p:spPr>
          <p:txBody>
            <a:bodyPr/>
            <a:lstStyle/>
            <a:p>
              <a:endParaRPr lang="zh-CN" altLang="en-US"/>
            </a:p>
          </p:txBody>
        </p:sp>
        <p:sp>
          <p:nvSpPr>
            <p:cNvPr id="54292" name="文本框 37297"/>
            <p:cNvSpPr txBox="1"/>
            <p:nvPr/>
          </p:nvSpPr>
          <p:spPr>
            <a:xfrm>
              <a:off x="3366" y="3021"/>
              <a:ext cx="262"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baseline="-25000" dirty="0">
                  <a:latin typeface="Times New Roman" panose="02020603050405020304" pitchFamily="18" charset="0"/>
                  <a:ea typeface="宋体" panose="02010600030101010101" pitchFamily="2" charset="-122"/>
                </a:rPr>
                <a:t>G</a:t>
              </a:r>
            </a:p>
          </p:txBody>
        </p:sp>
        <p:sp>
          <p:nvSpPr>
            <p:cNvPr id="54293" name="文本框 37298"/>
            <p:cNvSpPr txBox="1"/>
            <p:nvPr/>
          </p:nvSpPr>
          <p:spPr>
            <a:xfrm>
              <a:off x="5151" y="3542"/>
              <a:ext cx="160"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endParaRPr lang="en-US" altLang="zh-CN" sz="2000" baseline="-25000" dirty="0">
                <a:latin typeface="Times New Roman" panose="02020603050405020304" pitchFamily="18" charset="0"/>
                <a:ea typeface="宋体" panose="02010600030101010101" pitchFamily="2" charset="-122"/>
              </a:endParaRPr>
            </a:p>
          </p:txBody>
        </p:sp>
        <p:sp>
          <p:nvSpPr>
            <p:cNvPr id="54294" name="矩形 37299"/>
            <p:cNvSpPr/>
            <p:nvPr/>
          </p:nvSpPr>
          <p:spPr>
            <a:xfrm>
              <a:off x="3216" y="3219"/>
              <a:ext cx="452" cy="251"/>
            </a:xfrm>
            <a:prstGeom prst="rect">
              <a:avLst/>
            </a:prstGeom>
            <a:noFill/>
            <a:ln w="19050">
              <a:noFill/>
            </a:ln>
          </p:spPr>
          <p:txBody>
            <a:bodyPr wrap="none">
              <a:spAutoFit/>
            </a:bodyPr>
            <a:lstStyle/>
            <a:p>
              <a:pPr eaLnBrk="1" hangingPunct="1"/>
              <a:r>
                <a:rPr lang="en-US" altLang="zh-CN" sz="2000" i="1" dirty="0">
                  <a:solidFill>
                    <a:srgbClr val="FF00FF"/>
                  </a:solidFill>
                  <a:latin typeface="Times New Roman" panose="02020603050405020304" pitchFamily="18" charset="0"/>
                  <a:ea typeface="宋体" panose="02010600030101010101" pitchFamily="2" charset="-122"/>
                </a:rPr>
                <a:t>v</a:t>
              </a:r>
              <a:r>
                <a:rPr lang="en-US" altLang="zh-CN" sz="2000" baseline="-25000" dirty="0">
                  <a:solidFill>
                    <a:srgbClr val="FF00FF"/>
                  </a:solidFill>
                  <a:latin typeface="Times New Roman" panose="02020603050405020304" pitchFamily="18" charset="0"/>
                  <a:ea typeface="宋体" panose="02010600030101010101" pitchFamily="2" charset="-122"/>
                </a:rPr>
                <a:t>I</a:t>
              </a:r>
              <a:r>
                <a:rPr lang="en-US" altLang="zh-CN" sz="2000" dirty="0">
                  <a:solidFill>
                    <a:srgbClr val="FF00FF"/>
                  </a:solidFill>
                  <a:latin typeface="Times New Roman" panose="02020603050405020304" pitchFamily="18" charset="0"/>
                  <a:ea typeface="宋体" panose="02010600030101010101" pitchFamily="2" charset="-122"/>
                </a:rPr>
                <a:t>=</a:t>
              </a:r>
              <a:r>
                <a:rPr lang="en-US" altLang="zh-CN" sz="2000" i="1" dirty="0">
                  <a:solidFill>
                    <a:srgbClr val="FF00FF"/>
                  </a:solidFill>
                  <a:latin typeface="Times New Roman" panose="02020603050405020304" pitchFamily="18" charset="0"/>
                  <a:ea typeface="宋体" panose="02010600030101010101" pitchFamily="2" charset="-122"/>
                </a:rPr>
                <a:t>v'</a:t>
              </a:r>
              <a:r>
                <a:rPr lang="en-US" altLang="zh-CN" sz="2000" baseline="-25000" dirty="0">
                  <a:solidFill>
                    <a:srgbClr val="FF00FF"/>
                  </a:solidFill>
                  <a:latin typeface="Times New Roman" panose="02020603050405020304" pitchFamily="18" charset="0"/>
                  <a:ea typeface="宋体" panose="02010600030101010101" pitchFamily="2" charset="-122"/>
                </a:rPr>
                <a:t>I</a:t>
              </a:r>
            </a:p>
          </p:txBody>
        </p:sp>
        <p:sp>
          <p:nvSpPr>
            <p:cNvPr id="54295" name="直接连接符 37300"/>
            <p:cNvSpPr/>
            <p:nvPr/>
          </p:nvSpPr>
          <p:spPr>
            <a:xfrm>
              <a:off x="4619" y="3527"/>
              <a:ext cx="528" cy="0"/>
            </a:xfrm>
            <a:prstGeom prst="line">
              <a:avLst/>
            </a:prstGeom>
            <a:ln w="19050" cap="flat" cmpd="sng">
              <a:solidFill>
                <a:srgbClr val="FF00FF"/>
              </a:solidFill>
              <a:prstDash val="solid"/>
              <a:headEnd type="none" w="med" len="med"/>
              <a:tailEnd type="none" w="med" len="med"/>
            </a:ln>
          </p:spPr>
        </p:sp>
      </p:grpSp>
      <p:sp>
        <p:nvSpPr>
          <p:cNvPr id="37302" name="文本框 37301"/>
          <p:cNvSpPr txBox="1"/>
          <p:nvPr/>
        </p:nvSpPr>
        <p:spPr>
          <a:xfrm>
            <a:off x="1847850" y="5680075"/>
            <a:ext cx="5051425" cy="460375"/>
          </a:xfrm>
          <a:prstGeom prst="rect">
            <a:avLst/>
          </a:prstGeom>
          <a:noFill/>
          <a:ln w="19050">
            <a:noFill/>
          </a:ln>
        </p:spPr>
        <p:txBody>
          <a:bodyPr wrap="none">
            <a:spAutoFit/>
          </a:bodyPr>
          <a:lstStyle/>
          <a:p>
            <a:pPr eaLnBrk="1" hangingPunct="1"/>
            <a:r>
              <a:rPr lang="zh-CN" altLang="en-US" sz="2400" dirty="0">
                <a:solidFill>
                  <a:srgbClr val="0000CC"/>
                </a:solidFill>
                <a:latin typeface="Times New Roman" panose="02020603050405020304" pitchFamily="18" charset="0"/>
              </a:rPr>
              <a:t>若取</a:t>
            </a:r>
            <a:r>
              <a:rPr lang="en-US" altLang="zh-CN" sz="2400" i="1" dirty="0">
                <a:solidFill>
                  <a:srgbClr val="0000CC"/>
                </a:solidFill>
                <a:latin typeface="Times New Roman" panose="02020603050405020304" pitchFamily="18" charset="0"/>
              </a:rPr>
              <a:t>T</a:t>
            </a:r>
            <a:r>
              <a:rPr lang="en-US" altLang="zh-CN" sz="2400" baseline="-25000" dirty="0">
                <a:solidFill>
                  <a:srgbClr val="0000CC"/>
                </a:solidFill>
                <a:latin typeface="Times New Roman" panose="02020603050405020304" pitchFamily="18" charset="0"/>
              </a:rPr>
              <a:t>1</a:t>
            </a:r>
            <a:r>
              <a:rPr lang="zh-CN" altLang="en-US" sz="2400" dirty="0">
                <a:solidFill>
                  <a:srgbClr val="0000CC"/>
                </a:solidFill>
                <a:latin typeface="Times New Roman" panose="02020603050405020304" pitchFamily="18" charset="0"/>
              </a:rPr>
              <a:t>为</a:t>
            </a:r>
            <a:r>
              <a:rPr lang="en-US" altLang="zh-CN" sz="2400" i="1" dirty="0">
                <a:solidFill>
                  <a:srgbClr val="0000CC"/>
                </a:solidFill>
                <a:latin typeface="Times New Roman" panose="02020603050405020304" pitchFamily="18" charset="0"/>
              </a:rPr>
              <a:t>T</a:t>
            </a:r>
            <a:r>
              <a:rPr lang="en-US" altLang="zh-CN" sz="2400" baseline="-25000" dirty="0">
                <a:solidFill>
                  <a:srgbClr val="0000CC"/>
                </a:solidFill>
                <a:latin typeface="Times New Roman" panose="02020603050405020304" pitchFamily="18" charset="0"/>
              </a:rPr>
              <a:t>C</a:t>
            </a:r>
            <a:r>
              <a:rPr lang="zh-CN" altLang="en-US" sz="2400" dirty="0">
                <a:solidFill>
                  <a:srgbClr val="0000CC"/>
                </a:solidFill>
                <a:latin typeface="Times New Roman" panose="02020603050405020304" pitchFamily="18" charset="0"/>
              </a:rPr>
              <a:t>的整数倍，即</a:t>
            </a:r>
            <a:r>
              <a:rPr lang="en-US" altLang="zh-CN" sz="2400" i="1" dirty="0">
                <a:solidFill>
                  <a:srgbClr val="0000CC"/>
                </a:solidFill>
                <a:latin typeface="Times New Roman" panose="02020603050405020304" pitchFamily="18" charset="0"/>
              </a:rPr>
              <a:t>T</a:t>
            </a:r>
            <a:r>
              <a:rPr lang="en-US" altLang="zh-CN" sz="2400" baseline="-25000" dirty="0">
                <a:solidFill>
                  <a:srgbClr val="0000CC"/>
                </a:solidFill>
                <a:latin typeface="Times New Roman" panose="02020603050405020304" pitchFamily="18" charset="0"/>
              </a:rPr>
              <a:t>1</a:t>
            </a:r>
            <a:r>
              <a:rPr lang="en-US" altLang="zh-CN" sz="2400" dirty="0">
                <a:solidFill>
                  <a:srgbClr val="0000CC"/>
                </a:solidFill>
                <a:latin typeface="Times New Roman" panose="02020603050405020304" pitchFamily="18" charset="0"/>
              </a:rPr>
              <a:t>=</a:t>
            </a:r>
            <a:r>
              <a:rPr lang="en-US" altLang="zh-CN" sz="2400" i="1" dirty="0">
                <a:solidFill>
                  <a:srgbClr val="0000CC"/>
                </a:solidFill>
                <a:latin typeface="Times New Roman" panose="02020603050405020304" pitchFamily="18" charset="0"/>
              </a:rPr>
              <a:t>NT</a:t>
            </a:r>
            <a:r>
              <a:rPr lang="en-US" altLang="zh-CN" sz="2400" baseline="-25000" dirty="0">
                <a:solidFill>
                  <a:srgbClr val="0000CC"/>
                </a:solidFill>
                <a:latin typeface="Times New Roman" panose="02020603050405020304" pitchFamily="18" charset="0"/>
              </a:rPr>
              <a:t>C</a:t>
            </a:r>
            <a:r>
              <a:rPr lang="zh-CN" altLang="en-US" sz="2400" dirty="0">
                <a:solidFill>
                  <a:srgbClr val="0000CC"/>
                </a:solidFill>
                <a:latin typeface="Times New Roman" panose="02020603050405020304" pitchFamily="18" charset="0"/>
              </a:rPr>
              <a:t>，则</a:t>
            </a:r>
            <a:endParaRPr lang="zh-CN" altLang="en-US" sz="2400" baseline="-25000" dirty="0">
              <a:solidFill>
                <a:srgbClr val="0000CC"/>
              </a:solidFill>
              <a:latin typeface="Times New Roman" panose="02020603050405020304" pitchFamily="18" charset="0"/>
            </a:endParaRPr>
          </a:p>
        </p:txBody>
      </p:sp>
      <p:graphicFrame>
        <p:nvGraphicFramePr>
          <p:cNvPr id="37303" name="对象 37302"/>
          <p:cNvGraphicFramePr/>
          <p:nvPr/>
        </p:nvGraphicFramePr>
        <p:xfrm>
          <a:off x="7175500" y="5464175"/>
          <a:ext cx="1628775" cy="917575"/>
        </p:xfrm>
        <a:graphic>
          <a:graphicData uri="http://schemas.openxmlformats.org/presentationml/2006/ole">
            <mc:AlternateContent xmlns:mc="http://schemas.openxmlformats.org/markup-compatibility/2006">
              <mc:Choice xmlns:v="urn:schemas-microsoft-com:vml" Requires="v">
                <p:oleObj spid="_x0000_s346116" r:id="rId5" imgW="786765" imgH="444500" progId="Equation.3">
                  <p:embed/>
                </p:oleObj>
              </mc:Choice>
              <mc:Fallback>
                <p:oleObj r:id="rId5" imgW="786765" imgH="444500" progId="Equation.3">
                  <p:embed/>
                  <p:pic>
                    <p:nvPicPr>
                      <p:cNvPr id="0" name="图片 3099"/>
                      <p:cNvPicPr/>
                      <p:nvPr/>
                    </p:nvPicPr>
                    <p:blipFill>
                      <a:blip r:embed="rId6"/>
                      <a:stretch>
                        <a:fillRect/>
                      </a:stretch>
                    </p:blipFill>
                    <p:spPr>
                      <a:xfrm>
                        <a:off x="7175500" y="5464175"/>
                        <a:ext cx="1628775" cy="917575"/>
                      </a:xfrm>
                      <a:prstGeom prst="rect">
                        <a:avLst/>
                      </a:prstGeom>
                      <a:noFill/>
                      <a:ln w="38100">
                        <a:noFill/>
                        <a:miter/>
                      </a:ln>
                    </p:spPr>
                  </p:pic>
                </p:oleObj>
              </mc:Fallback>
            </mc:AlternateContent>
          </a:graphicData>
        </a:graphic>
      </p:graphicFrame>
      <p:sp>
        <p:nvSpPr>
          <p:cNvPr id="54286" name="任意多边形 37303"/>
          <p:cNvSpPr/>
          <p:nvPr/>
        </p:nvSpPr>
        <p:spPr>
          <a:xfrm>
            <a:off x="2927350" y="3213100"/>
            <a:ext cx="720725" cy="215900"/>
          </a:xfrm>
          <a:custGeom>
            <a:avLst/>
            <a:gdLst/>
            <a:ahLst/>
            <a:cxnLst>
              <a:cxn ang="0">
                <a:pos x="0" y="215900"/>
              </a:cxn>
              <a:cxn ang="0">
                <a:pos x="144463" y="215900"/>
              </a:cxn>
              <a:cxn ang="0">
                <a:pos x="144463" y="0"/>
              </a:cxn>
              <a:cxn ang="0">
                <a:pos x="576263" y="0"/>
              </a:cxn>
              <a:cxn ang="0">
                <a:pos x="576263" y="215900"/>
              </a:cxn>
              <a:cxn ang="0">
                <a:pos x="720725" y="215900"/>
              </a:cxn>
            </a:cxnLst>
            <a:rect l="0" t="0" r="0" b="0"/>
            <a:pathLst>
              <a:path w="454" h="91">
                <a:moveTo>
                  <a:pt x="0" y="91"/>
                </a:moveTo>
                <a:lnTo>
                  <a:pt x="91" y="91"/>
                </a:lnTo>
                <a:lnTo>
                  <a:pt x="91" y="0"/>
                </a:lnTo>
                <a:lnTo>
                  <a:pt x="363" y="0"/>
                </a:lnTo>
                <a:lnTo>
                  <a:pt x="363" y="91"/>
                </a:lnTo>
                <a:lnTo>
                  <a:pt x="454" y="91"/>
                </a:lnTo>
              </a:path>
            </a:pathLst>
          </a:custGeom>
          <a:noFill/>
          <a:ln w="28575" cap="flat" cmpd="sng">
            <a:solidFill>
              <a:srgbClr val="006600">
                <a:alpha val="100000"/>
              </a:srgbClr>
            </a:solidFill>
            <a:prstDash val="solid"/>
            <a:round/>
            <a:headEnd type="none" w="med" len="med"/>
            <a:tailEnd type="none" w="med" len="me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6">
                                            <p:txEl>
                                              <p:pRg st="0" end="0"/>
                                            </p:txEl>
                                          </p:spTgt>
                                        </p:tgtEl>
                                        <p:attrNameLst>
                                          <p:attrName>style.visibility</p:attrName>
                                        </p:attrNameLst>
                                      </p:cBhvr>
                                      <p:to>
                                        <p:strVal val="visible"/>
                                      </p:to>
                                    </p:set>
                                    <p:animEffect transition="in" filter="wipe(left)">
                                      <p:cBhvr>
                                        <p:cTn id="7" dur="500"/>
                                        <p:tgtEl>
                                          <p:spTgt spid="3686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094">
                                            <p:txEl>
                                              <p:pRg st="0" end="0"/>
                                            </p:txEl>
                                          </p:spTgt>
                                        </p:tgtEl>
                                        <p:attrNameLst>
                                          <p:attrName>style.visibility</p:attrName>
                                        </p:attrNameLst>
                                      </p:cBhvr>
                                      <p:to>
                                        <p:strVal val="visible"/>
                                      </p:to>
                                    </p:set>
                                    <p:animEffect transition="in" filter="wipe(left)">
                                      <p:cBhvr>
                                        <p:cTn id="12" dur="500"/>
                                        <p:tgtEl>
                                          <p:spTgt spid="3709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6868"/>
                                        </p:tgtEl>
                                        <p:attrNameLst>
                                          <p:attrName>style.visibility</p:attrName>
                                        </p:attrNameLst>
                                      </p:cBhvr>
                                      <p:to>
                                        <p:strVal val="visible"/>
                                      </p:to>
                                    </p:set>
                                    <p:animEffect transition="in" filter="wipe(left)">
                                      <p:cBhvr>
                                        <p:cTn id="17" dur="500"/>
                                        <p:tgtEl>
                                          <p:spTgt spid="368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103"/>
                                        </p:tgtEl>
                                        <p:attrNameLst>
                                          <p:attrName>style.visibility</p:attrName>
                                        </p:attrNameLst>
                                      </p:cBhvr>
                                      <p:to>
                                        <p:strVal val="visible"/>
                                      </p:to>
                                    </p:set>
                                    <p:animEffect transition="in" filter="wipe(left)">
                                      <p:cBhvr>
                                        <p:cTn id="22" dur="500"/>
                                        <p:tgtEl>
                                          <p:spTgt spid="3710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7247"/>
                                        </p:tgtEl>
                                        <p:attrNameLst>
                                          <p:attrName>style.visibility</p:attrName>
                                        </p:attrNameLst>
                                      </p:cBhvr>
                                      <p:to>
                                        <p:strVal val="visible"/>
                                      </p:to>
                                    </p:set>
                                    <p:animEffect transition="in" filter="wipe(left)">
                                      <p:cBhvr>
                                        <p:cTn id="27" dur="500"/>
                                        <p:tgtEl>
                                          <p:spTgt spid="3724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7278"/>
                                        </p:tgtEl>
                                        <p:attrNameLst>
                                          <p:attrName>style.visibility</p:attrName>
                                        </p:attrNameLst>
                                      </p:cBhvr>
                                      <p:to>
                                        <p:strVal val="visible"/>
                                      </p:to>
                                    </p:set>
                                    <p:animEffect transition="in" filter="wipe(left)">
                                      <p:cBhvr>
                                        <p:cTn id="32" dur="500"/>
                                        <p:tgtEl>
                                          <p:spTgt spid="3727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7270"/>
                                        </p:tgtEl>
                                        <p:attrNameLst>
                                          <p:attrName>style.visibility</p:attrName>
                                        </p:attrNameLst>
                                      </p:cBhvr>
                                      <p:to>
                                        <p:strVal val="visible"/>
                                      </p:to>
                                    </p:set>
                                    <p:animEffect transition="in" filter="wipe(left)">
                                      <p:cBhvr>
                                        <p:cTn id="37" dur="500"/>
                                        <p:tgtEl>
                                          <p:spTgt spid="3727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7275"/>
                                        </p:tgtEl>
                                        <p:attrNameLst>
                                          <p:attrName>style.visibility</p:attrName>
                                        </p:attrNameLst>
                                      </p:cBhvr>
                                      <p:to>
                                        <p:strVal val="visible"/>
                                      </p:to>
                                    </p:set>
                                    <p:animEffect transition="in" filter="wipe(left)">
                                      <p:cBhvr>
                                        <p:cTn id="42" dur="500"/>
                                        <p:tgtEl>
                                          <p:spTgt spid="3727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7292"/>
                                        </p:tgtEl>
                                        <p:attrNameLst>
                                          <p:attrName>style.visibility</p:attrName>
                                        </p:attrNameLst>
                                      </p:cBhvr>
                                      <p:to>
                                        <p:strVal val="visible"/>
                                      </p:to>
                                    </p:set>
                                    <p:animEffect transition="in" filter="wipe(left)">
                                      <p:cBhvr>
                                        <p:cTn id="47" dur="500"/>
                                        <p:tgtEl>
                                          <p:spTgt spid="3729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7302">
                                            <p:txEl>
                                              <p:pRg st="0" end="0"/>
                                            </p:txEl>
                                          </p:spTgt>
                                        </p:tgtEl>
                                        <p:attrNameLst>
                                          <p:attrName>style.visibility</p:attrName>
                                        </p:attrNameLst>
                                      </p:cBhvr>
                                      <p:to>
                                        <p:strVal val="visible"/>
                                      </p:to>
                                    </p:set>
                                    <p:animEffect transition="in" filter="wipe(left)">
                                      <p:cBhvr>
                                        <p:cTn id="52" dur="500"/>
                                        <p:tgtEl>
                                          <p:spTgt spid="3730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7303"/>
                                        </p:tgtEl>
                                        <p:attrNameLst>
                                          <p:attrName>style.visibility</p:attrName>
                                        </p:attrNameLst>
                                      </p:cBhvr>
                                      <p:to>
                                        <p:strVal val="visible"/>
                                      </p:to>
                                    </p:set>
                                    <p:animEffect transition="in" filter="wipe(left)">
                                      <p:cBhvr>
                                        <p:cTn id="57" dur="500"/>
                                        <p:tgtEl>
                                          <p:spTgt spid="37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build="p"/>
      <p:bldP spid="37094" grpId="0" build="p"/>
      <p:bldP spid="37103" grpId="0" bldLvl="0" animBg="1"/>
      <p:bldP spid="37302"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文本框 38913"/>
          <p:cNvSpPr txBox="1"/>
          <p:nvPr/>
        </p:nvSpPr>
        <p:spPr>
          <a:xfrm>
            <a:off x="1635125" y="1905000"/>
            <a:ext cx="1097280" cy="460375"/>
          </a:xfrm>
          <a:prstGeom prst="rect">
            <a:avLst/>
          </a:prstGeom>
          <a:noFill/>
          <a:ln w="19050">
            <a:noFill/>
          </a:ln>
        </p:spPr>
        <p:txBody>
          <a:bodyPr wrap="none">
            <a:spAutoFit/>
          </a:bodyPr>
          <a:lstStyle/>
          <a:p>
            <a:pPr eaLnBrk="1" hangingPunct="1"/>
            <a:r>
              <a:rPr lang="zh-CN" altLang="en-US" sz="2400" dirty="0">
                <a:solidFill>
                  <a:schemeClr val="hlink"/>
                </a:solidFill>
                <a:latin typeface="Times New Roman" panose="02020603050405020304" pitchFamily="18" charset="0"/>
                <a:ea typeface="宋体" panose="02010600030101010101" pitchFamily="2" charset="-122"/>
              </a:rPr>
              <a:t>特点：</a:t>
            </a:r>
          </a:p>
        </p:txBody>
      </p:sp>
      <p:sp>
        <p:nvSpPr>
          <p:cNvPr id="38915" name="文本框 38914"/>
          <p:cNvSpPr txBox="1"/>
          <p:nvPr/>
        </p:nvSpPr>
        <p:spPr>
          <a:xfrm>
            <a:off x="1676400" y="2555875"/>
            <a:ext cx="792480" cy="460375"/>
          </a:xfrm>
          <a:prstGeom prst="rect">
            <a:avLst/>
          </a:prstGeom>
          <a:solidFill>
            <a:srgbClr val="FFFFCC"/>
          </a:solidFill>
          <a:ln w="19050">
            <a:noFill/>
          </a:ln>
        </p:spPr>
        <p:txBody>
          <a:bodyPr wrap="none">
            <a:spAutoFit/>
          </a:bodyPr>
          <a:lstStyle/>
          <a:p>
            <a:pPr eaLnBrk="1" hangingPunct="1"/>
            <a:r>
              <a:rPr lang="zh-CN" altLang="en-US" sz="2400" dirty="0">
                <a:solidFill>
                  <a:schemeClr val="hlink"/>
                </a:solidFill>
                <a:latin typeface="Times New Roman" panose="02020603050405020304" pitchFamily="18" charset="0"/>
                <a:ea typeface="宋体" panose="02010600030101010101" pitchFamily="2" charset="-122"/>
              </a:rPr>
              <a:t>稳定</a:t>
            </a:r>
          </a:p>
        </p:txBody>
      </p:sp>
      <p:sp>
        <p:nvSpPr>
          <p:cNvPr id="38916" name="文本框 38915"/>
          <p:cNvSpPr txBox="1"/>
          <p:nvPr/>
        </p:nvSpPr>
        <p:spPr>
          <a:xfrm>
            <a:off x="2590800" y="2555875"/>
            <a:ext cx="4836160" cy="460375"/>
          </a:xfrm>
          <a:prstGeom prst="rect">
            <a:avLst/>
          </a:prstGeom>
          <a:solidFill>
            <a:srgbClr val="CCFFCC"/>
          </a:solid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R</a:t>
            </a:r>
            <a:r>
              <a:rPr lang="zh-CN" altLang="en-US"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C</a:t>
            </a:r>
            <a:r>
              <a:rPr lang="zh-CN" altLang="en-US"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T</a:t>
            </a:r>
            <a:r>
              <a:rPr lang="en-US" altLang="zh-CN" sz="2400" baseline="-25000" dirty="0">
                <a:latin typeface="Times New Roman" panose="02020603050405020304" pitchFamily="18" charset="0"/>
                <a:ea typeface="宋体" panose="02010600030101010101" pitchFamily="2" charset="-122"/>
              </a:rPr>
              <a:t>C</a:t>
            </a:r>
            <a:r>
              <a:rPr lang="zh-CN" altLang="en-US" sz="2400" dirty="0">
                <a:latin typeface="Times New Roman" panose="02020603050405020304" pitchFamily="18" charset="0"/>
                <a:ea typeface="宋体" panose="02010600030101010101" pitchFamily="2" charset="-122"/>
              </a:rPr>
              <a:t>的变化不会影响转换结果</a:t>
            </a:r>
          </a:p>
        </p:txBody>
      </p:sp>
      <p:sp>
        <p:nvSpPr>
          <p:cNvPr id="38917" name="文本框 38916"/>
          <p:cNvSpPr txBox="1"/>
          <p:nvPr/>
        </p:nvSpPr>
        <p:spPr>
          <a:xfrm>
            <a:off x="1676400" y="3048000"/>
            <a:ext cx="1706880" cy="460375"/>
          </a:xfrm>
          <a:prstGeom prst="rect">
            <a:avLst/>
          </a:prstGeom>
          <a:solidFill>
            <a:srgbClr val="FFFFCC"/>
          </a:solidFill>
          <a:ln w="19050">
            <a:noFill/>
          </a:ln>
        </p:spPr>
        <p:txBody>
          <a:bodyPr wrap="none">
            <a:spAutoFit/>
          </a:bodyPr>
          <a:lstStyle/>
          <a:p>
            <a:pPr eaLnBrk="1" hangingPunct="1"/>
            <a:r>
              <a:rPr lang="zh-CN" altLang="en-US" sz="2400" dirty="0">
                <a:solidFill>
                  <a:schemeClr val="hlink"/>
                </a:solidFill>
                <a:latin typeface="Times New Roman" panose="02020603050405020304" pitchFamily="18" charset="0"/>
                <a:ea typeface="宋体" panose="02010600030101010101" pitchFamily="2" charset="-122"/>
              </a:rPr>
              <a:t>抗干扰性强</a:t>
            </a:r>
          </a:p>
        </p:txBody>
      </p:sp>
      <p:sp>
        <p:nvSpPr>
          <p:cNvPr id="38918" name="文本框 38917"/>
          <p:cNvSpPr txBox="1"/>
          <p:nvPr/>
        </p:nvSpPr>
        <p:spPr>
          <a:xfrm>
            <a:off x="3429000" y="3089275"/>
            <a:ext cx="7162800" cy="829945"/>
          </a:xfrm>
          <a:prstGeom prst="rect">
            <a:avLst/>
          </a:prstGeom>
          <a:solidFill>
            <a:srgbClr val="CCFFCC"/>
          </a:solidFill>
          <a:ln w="19050">
            <a:noFill/>
          </a:ln>
        </p:spPr>
        <p:txBody>
          <a:bodyPr>
            <a:spAutoFit/>
          </a:bodyPr>
          <a:lstStyle/>
          <a:p>
            <a:pPr eaLnBrk="1" hangingPunct="1"/>
            <a:r>
              <a:rPr lang="zh-CN" altLang="en-US" sz="2400" dirty="0">
                <a:latin typeface="Times New Roman" panose="02020603050405020304" pitchFamily="18" charset="0"/>
                <a:ea typeface="宋体" panose="02010600030101010101" pitchFamily="2" charset="-122"/>
              </a:rPr>
              <a:t>若</a:t>
            </a:r>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引进对称干扰，在</a:t>
            </a:r>
            <a:r>
              <a:rPr lang="en-US" altLang="zh-CN" sz="2400" i="1" dirty="0">
                <a:latin typeface="Times New Roman" panose="02020603050405020304" pitchFamily="18" charset="0"/>
                <a:ea typeface="宋体" panose="02010600030101010101" pitchFamily="2" charset="-122"/>
              </a:rPr>
              <a:t>T</a:t>
            </a:r>
            <a:r>
              <a:rPr lang="en-US" altLang="zh-CN" sz="2400" baseline="-25000" dirty="0">
                <a:latin typeface="Times New Roman" panose="02020603050405020304" pitchFamily="18" charset="0"/>
                <a:ea typeface="宋体" panose="02010600030101010101" pitchFamily="2" charset="-122"/>
              </a:rPr>
              <a:t>1</a:t>
            </a:r>
            <a:r>
              <a:rPr lang="zh-CN" altLang="en-US" sz="2400" dirty="0">
                <a:latin typeface="Times New Roman" panose="02020603050405020304" pitchFamily="18" charset="0"/>
                <a:ea typeface="宋体" panose="02010600030101010101" pitchFamily="2" charset="-122"/>
              </a:rPr>
              <a:t>期间积分值为</a:t>
            </a:r>
            <a:r>
              <a:rPr lang="en-US" altLang="zh-CN" sz="2400" dirty="0">
                <a:latin typeface="Times New Roman" panose="02020603050405020304" pitchFamily="18" charset="0"/>
                <a:ea typeface="宋体" panose="02010600030101010101" pitchFamily="2" charset="-122"/>
              </a:rPr>
              <a:t>0</a:t>
            </a:r>
            <a:r>
              <a:rPr lang="zh-CN" altLang="en-US" sz="2400" dirty="0">
                <a:latin typeface="Times New Roman" panose="02020603050405020304" pitchFamily="18" charset="0"/>
                <a:ea typeface="宋体" panose="02010600030101010101" pitchFamily="2" charset="-122"/>
              </a:rPr>
              <a:t>，故</a:t>
            </a:r>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O1</a:t>
            </a:r>
          </a:p>
          <a:p>
            <a:pPr eaLnBrk="1" hangingPunct="1"/>
            <a:r>
              <a:rPr lang="zh-CN" altLang="en-US" sz="2400" dirty="0">
                <a:latin typeface="Times New Roman" panose="02020603050405020304" pitchFamily="18" charset="0"/>
                <a:ea typeface="宋体" panose="02010600030101010101" pitchFamily="2" charset="-122"/>
              </a:rPr>
              <a:t>不变，转换结果不变。</a:t>
            </a:r>
          </a:p>
        </p:txBody>
      </p:sp>
      <p:sp>
        <p:nvSpPr>
          <p:cNvPr id="38919" name="文本框 38918"/>
          <p:cNvSpPr txBox="1"/>
          <p:nvPr/>
        </p:nvSpPr>
        <p:spPr>
          <a:xfrm>
            <a:off x="3429000" y="3962400"/>
            <a:ext cx="7162800" cy="460375"/>
          </a:xfrm>
          <a:prstGeom prst="rect">
            <a:avLst/>
          </a:prstGeom>
          <a:solidFill>
            <a:srgbClr val="CCFFCC"/>
          </a:solidFill>
          <a:ln w="19050">
            <a:noFill/>
          </a:ln>
        </p:spPr>
        <p:txBody>
          <a:bodyPr>
            <a:spAutoFit/>
          </a:bodyPr>
          <a:lstStyle/>
          <a:p>
            <a:pPr eaLnBrk="1" hangingPunct="1"/>
            <a:r>
              <a:rPr lang="zh-CN" altLang="en-US" sz="2400" dirty="0">
                <a:latin typeface="Times New Roman" panose="02020603050405020304" pitchFamily="18" charset="0"/>
                <a:ea typeface="宋体" panose="02010600030101010101" pitchFamily="2" charset="-122"/>
              </a:rPr>
              <a:t>常见干扰为</a:t>
            </a:r>
            <a:r>
              <a:rPr lang="en-US" altLang="zh-CN" sz="2400" dirty="0">
                <a:latin typeface="Times New Roman" panose="02020603050405020304" pitchFamily="18" charset="0"/>
                <a:ea typeface="宋体" panose="02010600030101010101" pitchFamily="2" charset="-122"/>
              </a:rPr>
              <a:t>50</a:t>
            </a:r>
            <a:r>
              <a:rPr lang="en-US" altLang="zh-CN" sz="2400" i="1" dirty="0">
                <a:latin typeface="Times New Roman" panose="02020603050405020304" pitchFamily="18" charset="0"/>
                <a:ea typeface="宋体" panose="02010600030101010101" pitchFamily="2" charset="-122"/>
              </a:rPr>
              <a:t>H</a:t>
            </a:r>
            <a:r>
              <a:rPr lang="en-US" altLang="zh-CN" sz="2400" dirty="0">
                <a:latin typeface="Times New Roman" panose="02020603050405020304" pitchFamily="18" charset="0"/>
                <a:ea typeface="宋体" panose="02010600030101010101" pitchFamily="2" charset="-122"/>
              </a:rPr>
              <a:t>z</a:t>
            </a:r>
            <a:r>
              <a:rPr lang="zh-CN" altLang="en-US" sz="2400" dirty="0">
                <a:latin typeface="Times New Roman" panose="02020603050405020304" pitchFamily="18" charset="0"/>
                <a:ea typeface="宋体" panose="02010600030101010101" pitchFamily="2" charset="-122"/>
              </a:rPr>
              <a:t>干扰，故应取</a:t>
            </a:r>
            <a:r>
              <a:rPr lang="en-US" altLang="zh-CN" sz="2400" i="1" dirty="0">
                <a:latin typeface="Times New Roman" panose="02020603050405020304" pitchFamily="18" charset="0"/>
                <a:ea typeface="宋体" panose="02010600030101010101" pitchFamily="2" charset="-122"/>
              </a:rPr>
              <a:t>T</a:t>
            </a:r>
            <a:r>
              <a:rPr lang="en-US" altLang="zh-CN" sz="2400" baseline="-25000" dirty="0">
                <a:latin typeface="Times New Roman" panose="02020603050405020304" pitchFamily="18" charset="0"/>
                <a:ea typeface="宋体" panose="02010600030101010101" pitchFamily="2" charset="-122"/>
              </a:rPr>
              <a:t>C</a:t>
            </a:r>
            <a:r>
              <a:rPr lang="zh-CN" altLang="en-US" sz="2400" dirty="0">
                <a:latin typeface="Times New Roman" panose="02020603050405020304" pitchFamily="18" charset="0"/>
                <a:ea typeface="宋体" panose="02010600030101010101" pitchFamily="2" charset="-122"/>
              </a:rPr>
              <a:t>为</a:t>
            </a:r>
            <a:r>
              <a:rPr lang="en-US" altLang="zh-CN" sz="2400" dirty="0">
                <a:latin typeface="Times New Roman" panose="02020603050405020304" pitchFamily="18" charset="0"/>
                <a:ea typeface="宋体" panose="02010600030101010101" pitchFamily="2" charset="-122"/>
              </a:rPr>
              <a:t>0.02s</a:t>
            </a:r>
            <a:r>
              <a:rPr lang="zh-CN" altLang="en-US" sz="2400" dirty="0">
                <a:latin typeface="Times New Roman" panose="02020603050405020304" pitchFamily="18" charset="0"/>
                <a:ea typeface="宋体" panose="02010600030101010101" pitchFamily="2" charset="-122"/>
              </a:rPr>
              <a:t>的整数倍。</a:t>
            </a:r>
          </a:p>
        </p:txBody>
      </p:sp>
      <p:sp>
        <p:nvSpPr>
          <p:cNvPr id="38920" name="文本框 38919"/>
          <p:cNvSpPr txBox="1"/>
          <p:nvPr/>
        </p:nvSpPr>
        <p:spPr>
          <a:xfrm>
            <a:off x="1676400" y="4495800"/>
            <a:ext cx="1097280" cy="460375"/>
          </a:xfrm>
          <a:prstGeom prst="rect">
            <a:avLst/>
          </a:prstGeom>
          <a:solidFill>
            <a:srgbClr val="FFFFCC"/>
          </a:solidFill>
          <a:ln w="19050">
            <a:noFill/>
          </a:ln>
        </p:spPr>
        <p:txBody>
          <a:bodyPr wrap="none">
            <a:spAutoFit/>
          </a:bodyPr>
          <a:lstStyle/>
          <a:p>
            <a:pPr eaLnBrk="1" hangingPunct="1"/>
            <a:r>
              <a:rPr lang="zh-CN" altLang="en-US" sz="2400" dirty="0">
                <a:solidFill>
                  <a:schemeClr val="hlink"/>
                </a:solidFill>
                <a:latin typeface="Times New Roman" panose="02020603050405020304" pitchFamily="18" charset="0"/>
                <a:ea typeface="宋体" panose="02010600030101010101" pitchFamily="2" charset="-122"/>
              </a:rPr>
              <a:t>速度慢</a:t>
            </a:r>
          </a:p>
        </p:txBody>
      </p:sp>
      <p:sp>
        <p:nvSpPr>
          <p:cNvPr id="38921" name="文本框 38920"/>
          <p:cNvSpPr txBox="1"/>
          <p:nvPr/>
        </p:nvSpPr>
        <p:spPr>
          <a:xfrm>
            <a:off x="2819400" y="4495800"/>
            <a:ext cx="3673475" cy="460375"/>
          </a:xfrm>
          <a:prstGeom prst="rect">
            <a:avLst/>
          </a:prstGeom>
          <a:solidFill>
            <a:srgbClr val="CCFFCC"/>
          </a:solidFill>
          <a:ln w="19050">
            <a:noFill/>
          </a:ln>
        </p:spPr>
        <p:txBody>
          <a:bodyPr wrap="none">
            <a:spAutoFit/>
          </a:bodyPr>
          <a:lstStyle/>
          <a:p>
            <a:pPr eaLnBrk="1" hangingPunct="1"/>
            <a:r>
              <a:rPr lang="zh-CN" altLang="en-US" sz="2400" dirty="0">
                <a:latin typeface="Times New Roman" panose="02020603050405020304" pitchFamily="18" charset="0"/>
                <a:ea typeface="宋体" panose="02010600030101010101" pitchFamily="2" charset="-122"/>
              </a:rPr>
              <a:t>最长积分时间：</a:t>
            </a:r>
            <a:r>
              <a:rPr lang="en-US" altLang="zh-CN" sz="2400" dirty="0">
                <a:latin typeface="Times New Roman" panose="02020603050405020304" pitchFamily="18" charset="0"/>
                <a:ea typeface="宋体" panose="02010600030101010101" pitchFamily="2" charset="-122"/>
              </a:rPr>
              <a:t>2</a:t>
            </a:r>
            <a:r>
              <a:rPr lang="en-US" altLang="zh-CN" sz="2400" i="1" dirty="0">
                <a:latin typeface="Times New Roman" panose="02020603050405020304" pitchFamily="18" charset="0"/>
                <a:ea typeface="宋体" panose="02010600030101010101" pitchFamily="2" charset="-122"/>
              </a:rPr>
              <a:t>T</a:t>
            </a:r>
            <a:r>
              <a:rPr lang="en-US" altLang="zh-CN" sz="2400" baseline="-25000" dirty="0">
                <a:latin typeface="Times New Roman" panose="02020603050405020304" pitchFamily="18" charset="0"/>
                <a:ea typeface="宋体" panose="02010600030101010101" pitchFamily="2" charset="-122"/>
              </a:rPr>
              <a:t>1</a:t>
            </a:r>
            <a:r>
              <a:rPr lang="en-US" altLang="zh-CN" sz="2400" dirty="0">
                <a:latin typeface="Times New Roman" panose="02020603050405020304" pitchFamily="18" charset="0"/>
                <a:ea typeface="宋体" panose="02010600030101010101" pitchFamily="2" charset="-122"/>
              </a:rPr>
              <a:t>=2</a:t>
            </a:r>
            <a:r>
              <a:rPr lang="en-US" altLang="zh-CN" sz="2400" baseline="30000" dirty="0">
                <a:latin typeface="Times New Roman" panose="02020603050405020304" pitchFamily="18" charset="0"/>
                <a:ea typeface="宋体" panose="02010600030101010101" pitchFamily="2" charset="-122"/>
              </a:rPr>
              <a:t>n+1</a:t>
            </a:r>
            <a:r>
              <a:rPr lang="en-US" altLang="zh-CN" sz="2400" i="1" dirty="0">
                <a:latin typeface="Times New Roman" panose="02020603050405020304" pitchFamily="18" charset="0"/>
                <a:ea typeface="宋体" panose="02010600030101010101" pitchFamily="2" charset="-122"/>
              </a:rPr>
              <a:t>T</a:t>
            </a:r>
            <a:r>
              <a:rPr lang="en-US" altLang="zh-CN" sz="2400" baseline="-25000" dirty="0">
                <a:latin typeface="Times New Roman" panose="02020603050405020304" pitchFamily="18" charset="0"/>
                <a:ea typeface="宋体" panose="02010600030101010101" pitchFamily="2" charset="-122"/>
              </a:rPr>
              <a:t>C</a:t>
            </a:r>
          </a:p>
        </p:txBody>
      </p:sp>
      <p:sp>
        <p:nvSpPr>
          <p:cNvPr id="38922" name="文本框 38921"/>
          <p:cNvSpPr txBox="1"/>
          <p:nvPr/>
        </p:nvSpPr>
        <p:spPr>
          <a:xfrm>
            <a:off x="1676400" y="5334000"/>
            <a:ext cx="4763770" cy="460375"/>
          </a:xfrm>
          <a:prstGeom prst="rect">
            <a:avLst/>
          </a:prstGeom>
          <a:noFill/>
          <a:ln w="19050">
            <a:noFill/>
          </a:ln>
        </p:spPr>
        <p:txBody>
          <a:bodyPr wrap="none">
            <a:spAutoFit/>
          </a:bodyPr>
          <a:lstStyle/>
          <a:p>
            <a:pPr eaLnBrk="1" hangingPunct="1"/>
            <a:r>
              <a:rPr lang="zh-CN" altLang="en-US" sz="2400" dirty="0">
                <a:latin typeface="Times New Roman" panose="02020603050405020304" pitchFamily="18" charset="0"/>
                <a:ea typeface="宋体" panose="02010600030101010101" pitchFamily="2" charset="-122"/>
              </a:rPr>
              <a:t>由此也可得出该电路要求：</a:t>
            </a:r>
            <a:r>
              <a:rPr lang="en-US" altLang="zh-CN" sz="2400" i="1" dirty="0">
                <a:solidFill>
                  <a:srgbClr val="FF00FF"/>
                </a:solidFill>
                <a:latin typeface="Times New Roman" panose="02020603050405020304" pitchFamily="18" charset="0"/>
                <a:ea typeface="宋体" panose="02010600030101010101" pitchFamily="2" charset="-122"/>
              </a:rPr>
              <a:t>v</a:t>
            </a:r>
            <a:r>
              <a:rPr lang="en-US" altLang="zh-CN" sz="2400" baseline="-25000" dirty="0">
                <a:solidFill>
                  <a:srgbClr val="FF00FF"/>
                </a:solidFill>
                <a:latin typeface="Times New Roman" panose="02020603050405020304" pitchFamily="18" charset="0"/>
                <a:ea typeface="宋体" panose="02010600030101010101" pitchFamily="2" charset="-122"/>
              </a:rPr>
              <a:t>I</a:t>
            </a:r>
            <a:r>
              <a:rPr lang="en-US" altLang="zh-CN" sz="2400" dirty="0">
                <a:solidFill>
                  <a:srgbClr val="FF00FF"/>
                </a:solidFill>
                <a:latin typeface="Times New Roman" panose="02020603050405020304" pitchFamily="18" charset="0"/>
                <a:ea typeface="宋体" panose="02010600030101010101" pitchFamily="2" charset="-122"/>
              </a:rPr>
              <a:t>&lt;</a:t>
            </a:r>
            <a:r>
              <a:rPr lang="en-US" altLang="zh-CN" sz="2400" i="1" dirty="0">
                <a:solidFill>
                  <a:srgbClr val="FF00FF"/>
                </a:solidFill>
                <a:latin typeface="Times New Roman" panose="02020603050405020304" pitchFamily="18" charset="0"/>
                <a:ea typeface="宋体" panose="02010600030101010101" pitchFamily="2" charset="-122"/>
              </a:rPr>
              <a:t>V</a:t>
            </a:r>
            <a:r>
              <a:rPr lang="en-US" altLang="zh-CN" sz="2400" baseline="-25000" dirty="0">
                <a:solidFill>
                  <a:srgbClr val="FF00FF"/>
                </a:solidFill>
                <a:latin typeface="Times New Roman" panose="02020603050405020304" pitchFamily="18" charset="0"/>
                <a:ea typeface="宋体" panose="02010600030101010101" pitchFamily="2" charset="-122"/>
              </a:rPr>
              <a:t>REF</a:t>
            </a:r>
          </a:p>
        </p:txBody>
      </p:sp>
      <p:sp>
        <p:nvSpPr>
          <p:cNvPr id="38923" name="文本框 38922"/>
          <p:cNvSpPr txBox="1"/>
          <p:nvPr/>
        </p:nvSpPr>
        <p:spPr>
          <a:xfrm>
            <a:off x="1676400" y="6096000"/>
            <a:ext cx="7825105" cy="460375"/>
          </a:xfrm>
          <a:prstGeom prst="rect">
            <a:avLst/>
          </a:prstGeom>
          <a:noFill/>
          <a:ln w="19050">
            <a:noFill/>
          </a:ln>
        </p:spPr>
        <p:txBody>
          <a:bodyPr wrap="none">
            <a:spAutoFit/>
          </a:bodyPr>
          <a:lstStyle/>
          <a:p>
            <a:pPr eaLnBrk="1" hangingPunct="1"/>
            <a:r>
              <a:rPr lang="zh-CN" altLang="en-US" sz="2400" dirty="0">
                <a:latin typeface="Times New Roman" panose="02020603050405020304" pitchFamily="18" charset="0"/>
                <a:ea typeface="宋体" panose="02010600030101010101" pitchFamily="2" charset="-122"/>
              </a:rPr>
              <a:t>否则计数器计满值时，</a:t>
            </a:r>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O</a:t>
            </a:r>
            <a:r>
              <a:rPr lang="zh-CN" altLang="en-US" sz="2400" dirty="0">
                <a:latin typeface="Times New Roman" panose="02020603050405020304" pitchFamily="18" charset="0"/>
                <a:ea typeface="宋体" panose="02010600030101010101" pitchFamily="2" charset="-122"/>
              </a:rPr>
              <a:t>也不会上升到</a:t>
            </a:r>
            <a:r>
              <a:rPr lang="en-US" altLang="zh-CN" sz="2400" dirty="0">
                <a:latin typeface="Times New Roman" panose="02020603050405020304" pitchFamily="18" charset="0"/>
                <a:ea typeface="宋体" panose="02010600030101010101" pitchFamily="2" charset="-122"/>
              </a:rPr>
              <a:t>0</a:t>
            </a:r>
            <a:r>
              <a:rPr lang="zh-CN" altLang="en-US" sz="2400" dirty="0">
                <a:latin typeface="Times New Roman" panose="02020603050405020304" pitchFamily="18" charset="0"/>
                <a:ea typeface="宋体" panose="02010600030101010101" pitchFamily="2" charset="-122"/>
              </a:rPr>
              <a:t>，转而又对</a:t>
            </a:r>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积分</a:t>
            </a:r>
          </a:p>
        </p:txBody>
      </p:sp>
      <p:graphicFrame>
        <p:nvGraphicFramePr>
          <p:cNvPr id="55308" name="对象 38934"/>
          <p:cNvGraphicFramePr/>
          <p:nvPr/>
        </p:nvGraphicFramePr>
        <p:xfrm>
          <a:off x="1828800" y="304800"/>
          <a:ext cx="1628775" cy="944563"/>
        </p:xfrm>
        <a:graphic>
          <a:graphicData uri="http://schemas.openxmlformats.org/presentationml/2006/ole">
            <mc:AlternateContent xmlns:mc="http://schemas.openxmlformats.org/markup-compatibility/2006">
              <mc:Choice xmlns:v="urn:schemas-microsoft-com:vml" Requires="v">
                <p:oleObj spid="_x0000_s347138" r:id="rId3" imgW="787400" imgH="457200" progId="Equation.3">
                  <p:embed/>
                </p:oleObj>
              </mc:Choice>
              <mc:Fallback>
                <p:oleObj r:id="rId3" imgW="787400" imgH="457200" progId="Equation.3">
                  <p:embed/>
                  <p:pic>
                    <p:nvPicPr>
                      <p:cNvPr id="0" name="图片 3098"/>
                      <p:cNvPicPr/>
                      <p:nvPr/>
                    </p:nvPicPr>
                    <p:blipFill>
                      <a:blip r:embed="rId4"/>
                      <a:stretch>
                        <a:fillRect/>
                      </a:stretch>
                    </p:blipFill>
                    <p:spPr>
                      <a:xfrm>
                        <a:off x="1828800" y="304800"/>
                        <a:ext cx="1628775" cy="944563"/>
                      </a:xfrm>
                      <a:prstGeom prst="rect">
                        <a:avLst/>
                      </a:prstGeom>
                      <a:noFill/>
                      <a:ln w="38100">
                        <a:noFill/>
                        <a:miter/>
                      </a:ln>
                    </p:spPr>
                  </p:pic>
                </p:oleObj>
              </mc:Fallback>
            </mc:AlternateContent>
          </a:graphicData>
        </a:graphic>
      </p:graphicFrame>
      <p:grpSp>
        <p:nvGrpSpPr>
          <p:cNvPr id="55309" name="组合 38935"/>
          <p:cNvGrpSpPr/>
          <p:nvPr/>
        </p:nvGrpSpPr>
        <p:grpSpPr>
          <a:xfrm>
            <a:off x="3581400" y="228600"/>
            <a:ext cx="3429000" cy="2133600"/>
            <a:chOff x="3600" y="0"/>
            <a:chExt cx="2160" cy="1344"/>
          </a:xfrm>
        </p:grpSpPr>
        <p:sp>
          <p:nvSpPr>
            <p:cNvPr id="55337" name="矩形 38936"/>
            <p:cNvSpPr/>
            <p:nvPr/>
          </p:nvSpPr>
          <p:spPr>
            <a:xfrm>
              <a:off x="3600" y="0"/>
              <a:ext cx="2160" cy="1344"/>
            </a:xfrm>
            <a:prstGeom prst="rect">
              <a:avLst/>
            </a:prstGeom>
            <a:solidFill>
              <a:srgbClr val="CCFFCC"/>
            </a:solidFill>
            <a:ln w="19050">
              <a:noFill/>
            </a:ln>
          </p:spPr>
          <p:txBody>
            <a:bodyPr/>
            <a:lstStyle/>
            <a:p>
              <a:pPr eaLnBrk="1" hangingPunct="1"/>
              <a:endParaRPr lang="zh-CN" altLang="en-US" dirty="0">
                <a:latin typeface="Times New Roman" panose="02020603050405020304" pitchFamily="18" charset="0"/>
              </a:endParaRPr>
            </a:p>
          </p:txBody>
        </p:sp>
        <p:sp>
          <p:nvSpPr>
            <p:cNvPr id="55338" name="直接连接符 38937"/>
            <p:cNvSpPr/>
            <p:nvPr/>
          </p:nvSpPr>
          <p:spPr>
            <a:xfrm>
              <a:off x="3980" y="528"/>
              <a:ext cx="1632" cy="0"/>
            </a:xfrm>
            <a:prstGeom prst="line">
              <a:avLst/>
            </a:prstGeom>
            <a:ln w="19050" cap="flat" cmpd="sng">
              <a:solidFill>
                <a:schemeClr val="hlink"/>
              </a:solidFill>
              <a:prstDash val="solid"/>
              <a:headEnd type="none" w="med" len="med"/>
              <a:tailEnd type="triangle" w="med" len="med"/>
            </a:ln>
          </p:spPr>
        </p:sp>
        <p:sp>
          <p:nvSpPr>
            <p:cNvPr id="55339" name="直接连接符 38938"/>
            <p:cNvSpPr/>
            <p:nvPr/>
          </p:nvSpPr>
          <p:spPr>
            <a:xfrm flipV="1">
              <a:off x="3980" y="48"/>
              <a:ext cx="4" cy="1152"/>
            </a:xfrm>
            <a:prstGeom prst="line">
              <a:avLst/>
            </a:prstGeom>
            <a:ln w="19050" cap="flat" cmpd="sng">
              <a:solidFill>
                <a:schemeClr val="hlink"/>
              </a:solidFill>
              <a:prstDash val="solid"/>
              <a:headEnd type="none" w="med" len="med"/>
              <a:tailEnd type="triangle" w="med" len="med"/>
            </a:ln>
          </p:spPr>
        </p:sp>
        <p:sp>
          <p:nvSpPr>
            <p:cNvPr id="55340" name="任意多边形 38939"/>
            <p:cNvSpPr/>
            <p:nvPr/>
          </p:nvSpPr>
          <p:spPr>
            <a:xfrm>
              <a:off x="3980" y="528"/>
              <a:ext cx="1200" cy="624"/>
            </a:xfrm>
            <a:custGeom>
              <a:avLst/>
              <a:gdLst/>
              <a:ahLst/>
              <a:cxnLst>
                <a:cxn ang="0">
                  <a:pos x="0" y="0"/>
                </a:cxn>
                <a:cxn ang="0">
                  <a:pos x="720" y="624"/>
                </a:cxn>
                <a:cxn ang="0">
                  <a:pos x="1200" y="0"/>
                </a:cxn>
              </a:cxnLst>
              <a:rect l="0" t="0" r="0" b="0"/>
              <a:pathLst>
                <a:path w="1200" h="528">
                  <a:moveTo>
                    <a:pt x="0" y="0"/>
                  </a:moveTo>
                  <a:lnTo>
                    <a:pt x="720" y="528"/>
                  </a:lnTo>
                  <a:lnTo>
                    <a:pt x="1200" y="0"/>
                  </a:lnTo>
                </a:path>
              </a:pathLst>
            </a:custGeom>
            <a:noFill/>
            <a:ln w="19050" cap="flat" cmpd="sng">
              <a:solidFill>
                <a:schemeClr val="hlink">
                  <a:alpha val="100000"/>
                </a:schemeClr>
              </a:solidFill>
              <a:prstDash val="solid"/>
              <a:round/>
              <a:headEnd type="none" w="med" len="med"/>
              <a:tailEnd type="none" w="med" len="med"/>
            </a:ln>
          </p:spPr>
          <p:txBody>
            <a:bodyPr/>
            <a:lstStyle/>
            <a:p>
              <a:endParaRPr lang="zh-CN" altLang="en-US"/>
            </a:p>
          </p:txBody>
        </p:sp>
        <p:sp>
          <p:nvSpPr>
            <p:cNvPr id="55341" name="直接连接符 38940"/>
            <p:cNvSpPr/>
            <p:nvPr/>
          </p:nvSpPr>
          <p:spPr>
            <a:xfrm flipH="1">
              <a:off x="4704" y="96"/>
              <a:ext cx="11" cy="1056"/>
            </a:xfrm>
            <a:prstGeom prst="line">
              <a:avLst/>
            </a:prstGeom>
            <a:ln w="19050" cap="flat" cmpd="sng">
              <a:solidFill>
                <a:schemeClr val="hlink"/>
              </a:solidFill>
              <a:prstDash val="lgDash"/>
              <a:headEnd type="none" w="med" len="med"/>
              <a:tailEnd type="none" w="med" len="med"/>
            </a:ln>
          </p:spPr>
        </p:sp>
        <p:sp>
          <p:nvSpPr>
            <p:cNvPr id="55342" name="直接连接符 38941"/>
            <p:cNvSpPr/>
            <p:nvPr/>
          </p:nvSpPr>
          <p:spPr>
            <a:xfrm flipH="1">
              <a:off x="5184" y="96"/>
              <a:ext cx="11" cy="432"/>
            </a:xfrm>
            <a:prstGeom prst="line">
              <a:avLst/>
            </a:prstGeom>
            <a:ln w="19050" cap="flat" cmpd="sng">
              <a:solidFill>
                <a:schemeClr val="hlink"/>
              </a:solidFill>
              <a:prstDash val="lgDash"/>
              <a:headEnd type="none" w="med" len="med"/>
              <a:tailEnd type="none" w="med" len="med"/>
            </a:ln>
          </p:spPr>
        </p:sp>
        <p:sp>
          <p:nvSpPr>
            <p:cNvPr id="55343" name="文本框 38942"/>
            <p:cNvSpPr txBox="1"/>
            <p:nvPr/>
          </p:nvSpPr>
          <p:spPr>
            <a:xfrm>
              <a:off x="4818" y="71"/>
              <a:ext cx="256"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T</a:t>
              </a:r>
              <a:r>
                <a:rPr lang="en-US" altLang="zh-CN" sz="2000" baseline="-25000" dirty="0">
                  <a:solidFill>
                    <a:schemeClr val="hlink"/>
                  </a:solidFill>
                  <a:latin typeface="Times New Roman" panose="02020603050405020304" pitchFamily="18" charset="0"/>
                  <a:ea typeface="宋体" panose="02010600030101010101" pitchFamily="2" charset="-122"/>
                </a:rPr>
                <a:t>2</a:t>
              </a:r>
            </a:p>
          </p:txBody>
        </p:sp>
        <p:sp>
          <p:nvSpPr>
            <p:cNvPr id="55344" name="文本框 38943"/>
            <p:cNvSpPr txBox="1"/>
            <p:nvPr/>
          </p:nvSpPr>
          <p:spPr>
            <a:xfrm>
              <a:off x="4220" y="71"/>
              <a:ext cx="256"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r>
                <a:rPr lang="en-US" altLang="zh-CN" sz="2000" baseline="-25000" dirty="0">
                  <a:latin typeface="Times New Roman" panose="02020603050405020304" pitchFamily="18" charset="0"/>
                  <a:ea typeface="宋体" panose="02010600030101010101" pitchFamily="2" charset="-122"/>
                </a:rPr>
                <a:t>1</a:t>
              </a:r>
            </a:p>
          </p:txBody>
        </p:sp>
        <p:sp>
          <p:nvSpPr>
            <p:cNvPr id="55345" name="直接连接符 38944"/>
            <p:cNvSpPr/>
            <p:nvPr/>
          </p:nvSpPr>
          <p:spPr>
            <a:xfrm flipH="1">
              <a:off x="3980" y="1141"/>
              <a:ext cx="720" cy="0"/>
            </a:xfrm>
            <a:prstGeom prst="line">
              <a:avLst/>
            </a:prstGeom>
            <a:ln w="19050" cap="flat" cmpd="sng">
              <a:solidFill>
                <a:srgbClr val="009900"/>
              </a:solidFill>
              <a:prstDash val="lgDash"/>
              <a:headEnd type="none" w="med" len="med"/>
              <a:tailEnd type="none" w="med" len="med"/>
            </a:ln>
          </p:spPr>
        </p:sp>
        <p:sp>
          <p:nvSpPr>
            <p:cNvPr id="55346" name="文本框 38945"/>
            <p:cNvSpPr txBox="1"/>
            <p:nvPr/>
          </p:nvSpPr>
          <p:spPr>
            <a:xfrm>
              <a:off x="3622" y="975"/>
              <a:ext cx="340"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V</a:t>
              </a:r>
              <a:r>
                <a:rPr lang="en-US" altLang="zh-CN" sz="2000" baseline="-25000" dirty="0">
                  <a:solidFill>
                    <a:schemeClr val="hlink"/>
                  </a:solidFill>
                  <a:latin typeface="Times New Roman" panose="02020603050405020304" pitchFamily="18" charset="0"/>
                  <a:ea typeface="宋体" panose="02010600030101010101" pitchFamily="2" charset="-122"/>
                </a:rPr>
                <a:t>O1</a:t>
              </a:r>
            </a:p>
          </p:txBody>
        </p:sp>
        <p:sp>
          <p:nvSpPr>
            <p:cNvPr id="55347" name="文本框 38946"/>
            <p:cNvSpPr txBox="1"/>
            <p:nvPr/>
          </p:nvSpPr>
          <p:spPr>
            <a:xfrm>
              <a:off x="3696" y="96"/>
              <a:ext cx="262"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v</a:t>
              </a:r>
              <a:r>
                <a:rPr lang="en-US" altLang="zh-CN" sz="2000" baseline="-25000" dirty="0">
                  <a:latin typeface="Times New Roman" panose="02020603050405020304" pitchFamily="18" charset="0"/>
                  <a:ea typeface="宋体" panose="02010600030101010101" pitchFamily="2" charset="-122"/>
                </a:rPr>
                <a:t>O</a:t>
              </a:r>
            </a:p>
          </p:txBody>
        </p:sp>
        <p:sp>
          <p:nvSpPr>
            <p:cNvPr id="55348" name="文本框 38947"/>
            <p:cNvSpPr txBox="1"/>
            <p:nvPr/>
          </p:nvSpPr>
          <p:spPr>
            <a:xfrm>
              <a:off x="5472" y="518"/>
              <a:ext cx="160"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endParaRPr lang="en-US" altLang="zh-CN" sz="2000" baseline="-25000" dirty="0">
                <a:latin typeface="Times New Roman" panose="02020603050405020304" pitchFamily="18" charset="0"/>
                <a:ea typeface="宋体" panose="02010600030101010101" pitchFamily="2" charset="-122"/>
              </a:endParaRPr>
            </a:p>
          </p:txBody>
        </p:sp>
        <p:sp>
          <p:nvSpPr>
            <p:cNvPr id="55349" name="文本框 38948"/>
            <p:cNvSpPr txBox="1"/>
            <p:nvPr/>
          </p:nvSpPr>
          <p:spPr>
            <a:xfrm>
              <a:off x="5162" y="521"/>
              <a:ext cx="195" cy="184"/>
            </a:xfrm>
            <a:prstGeom prst="rect">
              <a:avLst/>
            </a:prstGeom>
            <a:noFill/>
            <a:ln w="19050">
              <a:noFill/>
            </a:ln>
          </p:spPr>
          <p:txBody>
            <a:bodyPr wrap="none">
              <a:spAutoFit/>
            </a:bodyPr>
            <a:lstStyle/>
            <a:p>
              <a:pPr eaLnBrk="1" hangingPunct="1"/>
              <a:endParaRPr lang="zh-CN" altLang="zh-CN" sz="2000" baseline="-25000" dirty="0">
                <a:latin typeface="Times New Roman" panose="02020603050405020304" pitchFamily="18" charset="0"/>
                <a:ea typeface="宋体" panose="02010600030101010101" pitchFamily="2" charset="-122"/>
              </a:endParaRPr>
            </a:p>
          </p:txBody>
        </p:sp>
        <p:sp>
          <p:nvSpPr>
            <p:cNvPr id="55350" name="直接连接符 38949"/>
            <p:cNvSpPr/>
            <p:nvPr/>
          </p:nvSpPr>
          <p:spPr>
            <a:xfrm>
              <a:off x="4464" y="207"/>
              <a:ext cx="240" cy="0"/>
            </a:xfrm>
            <a:prstGeom prst="line">
              <a:avLst/>
            </a:prstGeom>
            <a:ln w="19050" cap="flat" cmpd="sng">
              <a:solidFill>
                <a:schemeClr val="hlink"/>
              </a:solidFill>
              <a:prstDash val="solid"/>
              <a:headEnd type="none" w="med" len="med"/>
              <a:tailEnd type="triangle" w="med" len="med"/>
            </a:ln>
          </p:spPr>
        </p:sp>
        <p:sp>
          <p:nvSpPr>
            <p:cNvPr id="55351" name="直接连接符 38950"/>
            <p:cNvSpPr/>
            <p:nvPr/>
          </p:nvSpPr>
          <p:spPr>
            <a:xfrm flipH="1">
              <a:off x="3984" y="207"/>
              <a:ext cx="240" cy="0"/>
            </a:xfrm>
            <a:prstGeom prst="line">
              <a:avLst/>
            </a:prstGeom>
            <a:ln w="19050" cap="flat" cmpd="sng">
              <a:solidFill>
                <a:schemeClr val="hlink"/>
              </a:solidFill>
              <a:prstDash val="solid"/>
              <a:headEnd type="none" w="med" len="med"/>
              <a:tailEnd type="triangle" w="med" len="med"/>
            </a:ln>
          </p:spPr>
        </p:sp>
        <p:sp>
          <p:nvSpPr>
            <p:cNvPr id="55352" name="直接连接符 38951"/>
            <p:cNvSpPr/>
            <p:nvPr/>
          </p:nvSpPr>
          <p:spPr>
            <a:xfrm>
              <a:off x="5040" y="203"/>
              <a:ext cx="144" cy="0"/>
            </a:xfrm>
            <a:prstGeom prst="line">
              <a:avLst/>
            </a:prstGeom>
            <a:ln w="19050" cap="flat" cmpd="sng">
              <a:solidFill>
                <a:schemeClr val="hlink"/>
              </a:solidFill>
              <a:prstDash val="solid"/>
              <a:headEnd type="none" w="med" len="med"/>
              <a:tailEnd type="triangle" w="med" len="med"/>
            </a:ln>
          </p:spPr>
        </p:sp>
        <p:sp>
          <p:nvSpPr>
            <p:cNvPr id="55353" name="直接连接符 38952"/>
            <p:cNvSpPr/>
            <p:nvPr/>
          </p:nvSpPr>
          <p:spPr>
            <a:xfrm flipH="1">
              <a:off x="4704" y="203"/>
              <a:ext cx="144" cy="0"/>
            </a:xfrm>
            <a:prstGeom prst="line">
              <a:avLst/>
            </a:prstGeom>
            <a:ln w="19050" cap="flat" cmpd="sng">
              <a:solidFill>
                <a:schemeClr val="hlink"/>
              </a:solidFill>
              <a:prstDash val="solid"/>
              <a:headEnd type="none" w="med" len="med"/>
              <a:tailEnd type="triangle" w="med" len="med"/>
            </a:ln>
          </p:spPr>
        </p:sp>
      </p:grpSp>
      <p:grpSp>
        <p:nvGrpSpPr>
          <p:cNvPr id="38995" name="组合 38994"/>
          <p:cNvGrpSpPr/>
          <p:nvPr/>
        </p:nvGrpSpPr>
        <p:grpSpPr>
          <a:xfrm>
            <a:off x="7283450" y="304800"/>
            <a:ext cx="2546350" cy="1606550"/>
            <a:chOff x="3452" y="192"/>
            <a:chExt cx="1604" cy="1012"/>
          </a:xfrm>
        </p:grpSpPr>
        <p:sp>
          <p:nvSpPr>
            <p:cNvPr id="55325" name="直接连接符 38972"/>
            <p:cNvSpPr/>
            <p:nvPr/>
          </p:nvSpPr>
          <p:spPr>
            <a:xfrm flipH="1" flipV="1">
              <a:off x="4176" y="624"/>
              <a:ext cx="192" cy="240"/>
            </a:xfrm>
            <a:prstGeom prst="line">
              <a:avLst/>
            </a:prstGeom>
            <a:ln w="19050" cap="flat" cmpd="sng">
              <a:solidFill>
                <a:schemeClr val="tx1"/>
              </a:solidFill>
              <a:prstDash val="solid"/>
              <a:headEnd type="none" w="med" len="med"/>
              <a:tailEnd type="triangle" w="med" len="med"/>
            </a:ln>
          </p:spPr>
        </p:sp>
        <p:sp>
          <p:nvSpPr>
            <p:cNvPr id="55326" name="矩形 38973"/>
            <p:cNvSpPr/>
            <p:nvPr/>
          </p:nvSpPr>
          <p:spPr>
            <a:xfrm>
              <a:off x="3984" y="914"/>
              <a:ext cx="883" cy="290"/>
            </a:xfrm>
            <a:prstGeom prst="rect">
              <a:avLst/>
            </a:prstGeom>
            <a:noFill/>
            <a:ln w="19050">
              <a:noFill/>
            </a:ln>
          </p:spPr>
          <p:txBody>
            <a:bodyPr wrap="none">
              <a:spAutoFit/>
            </a:bodyPr>
            <a:lstStyle/>
            <a:p>
              <a:pPr eaLnBrk="1" hangingPunct="1"/>
              <a:r>
                <a:rPr lang="zh-CN" altLang="en-US" sz="2400" dirty="0">
                  <a:latin typeface="Times New Roman" panose="02020603050405020304" pitchFamily="18" charset="0"/>
                  <a:ea typeface="宋体" panose="02010600030101010101" pitchFamily="2" charset="-122"/>
                </a:rPr>
                <a:t>对称干扰</a:t>
              </a:r>
            </a:p>
          </p:txBody>
        </p:sp>
        <p:sp>
          <p:nvSpPr>
            <p:cNvPr id="55327" name="直接连接符 38976"/>
            <p:cNvSpPr/>
            <p:nvPr/>
          </p:nvSpPr>
          <p:spPr>
            <a:xfrm>
              <a:off x="3692" y="672"/>
              <a:ext cx="1360" cy="0"/>
            </a:xfrm>
            <a:prstGeom prst="line">
              <a:avLst/>
            </a:prstGeom>
            <a:ln w="19050" cap="flat" cmpd="sng">
              <a:solidFill>
                <a:schemeClr val="hlink"/>
              </a:solidFill>
              <a:prstDash val="solid"/>
              <a:headEnd type="none" w="med" len="med"/>
              <a:tailEnd type="triangle" w="med" len="med"/>
            </a:ln>
          </p:spPr>
        </p:sp>
        <p:sp>
          <p:nvSpPr>
            <p:cNvPr id="55328" name="直接连接符 38977"/>
            <p:cNvSpPr/>
            <p:nvPr/>
          </p:nvSpPr>
          <p:spPr>
            <a:xfrm flipV="1">
              <a:off x="3692" y="192"/>
              <a:ext cx="4" cy="768"/>
            </a:xfrm>
            <a:prstGeom prst="line">
              <a:avLst/>
            </a:prstGeom>
            <a:ln w="19050" cap="flat" cmpd="sng">
              <a:solidFill>
                <a:schemeClr val="hlink"/>
              </a:solidFill>
              <a:prstDash val="solid"/>
              <a:headEnd type="none" w="med" len="med"/>
              <a:tailEnd type="triangle" w="med" len="med"/>
            </a:ln>
          </p:spPr>
        </p:sp>
        <p:sp>
          <p:nvSpPr>
            <p:cNvPr id="55329" name="直接连接符 38979"/>
            <p:cNvSpPr/>
            <p:nvPr/>
          </p:nvSpPr>
          <p:spPr>
            <a:xfrm flipH="1">
              <a:off x="4416" y="235"/>
              <a:ext cx="11" cy="448"/>
            </a:xfrm>
            <a:prstGeom prst="line">
              <a:avLst/>
            </a:prstGeom>
            <a:ln w="19050" cap="flat" cmpd="sng">
              <a:solidFill>
                <a:schemeClr val="hlink"/>
              </a:solidFill>
              <a:prstDash val="lgDash"/>
              <a:headEnd type="none" w="med" len="med"/>
              <a:tailEnd type="none" w="med" len="med"/>
            </a:ln>
          </p:spPr>
        </p:sp>
        <p:sp>
          <p:nvSpPr>
            <p:cNvPr id="55330" name="文本框 38982"/>
            <p:cNvSpPr txBox="1"/>
            <p:nvPr/>
          </p:nvSpPr>
          <p:spPr>
            <a:xfrm>
              <a:off x="3932" y="215"/>
              <a:ext cx="256"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r>
                <a:rPr lang="en-US" altLang="zh-CN" sz="2000" baseline="-25000" dirty="0">
                  <a:latin typeface="Times New Roman" panose="02020603050405020304" pitchFamily="18" charset="0"/>
                  <a:ea typeface="宋体" panose="02010600030101010101" pitchFamily="2" charset="-122"/>
                </a:rPr>
                <a:t>1</a:t>
              </a:r>
            </a:p>
          </p:txBody>
        </p:sp>
        <p:sp>
          <p:nvSpPr>
            <p:cNvPr id="55331" name="文本框 38985"/>
            <p:cNvSpPr txBox="1"/>
            <p:nvPr/>
          </p:nvSpPr>
          <p:spPr>
            <a:xfrm>
              <a:off x="3452" y="207"/>
              <a:ext cx="221" cy="251"/>
            </a:xfrm>
            <a:prstGeom prst="rect">
              <a:avLst/>
            </a:prstGeom>
            <a:noFill/>
            <a:ln w="19050">
              <a:noFill/>
            </a:ln>
          </p:spPr>
          <p:txBody>
            <a:bodyPr wrap="none">
              <a:spAutoFit/>
            </a:bodyPr>
            <a:lstStyle/>
            <a:p>
              <a:pPr eaLnBrk="1" hangingPunct="1"/>
              <a:r>
                <a:rPr lang="en-US" altLang="zh-CN" sz="2000" i="1" dirty="0">
                  <a:solidFill>
                    <a:schemeClr val="hlink"/>
                  </a:solidFill>
                  <a:latin typeface="Times New Roman" panose="02020603050405020304" pitchFamily="18" charset="0"/>
                  <a:ea typeface="宋体" panose="02010600030101010101" pitchFamily="2" charset="-122"/>
                </a:rPr>
                <a:t>v</a:t>
              </a:r>
              <a:r>
                <a:rPr lang="en-US" altLang="zh-CN" sz="2000" baseline="-25000" dirty="0">
                  <a:solidFill>
                    <a:schemeClr val="hlink"/>
                  </a:solidFill>
                  <a:latin typeface="Times New Roman" panose="02020603050405020304" pitchFamily="18" charset="0"/>
                  <a:ea typeface="宋体" panose="02010600030101010101" pitchFamily="2" charset="-122"/>
                </a:rPr>
                <a:t>I</a:t>
              </a:r>
            </a:p>
          </p:txBody>
        </p:sp>
        <p:sp>
          <p:nvSpPr>
            <p:cNvPr id="55332" name="文本框 38986"/>
            <p:cNvSpPr txBox="1"/>
            <p:nvPr/>
          </p:nvSpPr>
          <p:spPr>
            <a:xfrm>
              <a:off x="4896" y="662"/>
              <a:ext cx="160"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endParaRPr lang="en-US" altLang="zh-CN" sz="2000" baseline="-25000" dirty="0">
                <a:latin typeface="Times New Roman" panose="02020603050405020304" pitchFamily="18" charset="0"/>
                <a:ea typeface="宋体" panose="02010600030101010101" pitchFamily="2" charset="-122"/>
              </a:endParaRPr>
            </a:p>
          </p:txBody>
        </p:sp>
        <p:sp>
          <p:nvSpPr>
            <p:cNvPr id="55333" name="直接连接符 38988"/>
            <p:cNvSpPr/>
            <p:nvPr/>
          </p:nvSpPr>
          <p:spPr>
            <a:xfrm>
              <a:off x="4176" y="351"/>
              <a:ext cx="240" cy="0"/>
            </a:xfrm>
            <a:prstGeom prst="line">
              <a:avLst/>
            </a:prstGeom>
            <a:ln w="19050" cap="flat" cmpd="sng">
              <a:solidFill>
                <a:schemeClr val="hlink"/>
              </a:solidFill>
              <a:prstDash val="solid"/>
              <a:headEnd type="none" w="med" len="med"/>
              <a:tailEnd type="triangle" w="med" len="med"/>
            </a:ln>
          </p:spPr>
        </p:sp>
        <p:sp>
          <p:nvSpPr>
            <p:cNvPr id="55334" name="直接连接符 38989"/>
            <p:cNvSpPr/>
            <p:nvPr/>
          </p:nvSpPr>
          <p:spPr>
            <a:xfrm flipH="1">
              <a:off x="3696" y="351"/>
              <a:ext cx="240" cy="0"/>
            </a:xfrm>
            <a:prstGeom prst="line">
              <a:avLst/>
            </a:prstGeom>
            <a:ln w="19050" cap="flat" cmpd="sng">
              <a:solidFill>
                <a:schemeClr val="hlink"/>
              </a:solidFill>
              <a:prstDash val="solid"/>
              <a:headEnd type="none" w="med" len="med"/>
              <a:tailEnd type="triangle" w="med" len="med"/>
            </a:ln>
          </p:spPr>
        </p:sp>
        <p:sp>
          <p:nvSpPr>
            <p:cNvPr id="55335" name="任意多边形 38971"/>
            <p:cNvSpPr/>
            <p:nvPr/>
          </p:nvSpPr>
          <p:spPr>
            <a:xfrm>
              <a:off x="3696" y="432"/>
              <a:ext cx="720" cy="192"/>
            </a:xfrm>
            <a:custGeom>
              <a:avLst/>
              <a:gdLst/>
              <a:ahLst/>
              <a:cxnLst>
                <a:cxn ang="0">
                  <a:pos x="0" y="96"/>
                </a:cxn>
                <a:cxn ang="0">
                  <a:pos x="192" y="0"/>
                </a:cxn>
                <a:cxn ang="0">
                  <a:pos x="336" y="96"/>
                </a:cxn>
                <a:cxn ang="0">
                  <a:pos x="528" y="192"/>
                </a:cxn>
                <a:cxn ang="0">
                  <a:pos x="720" y="96"/>
                </a:cxn>
              </a:cxnLst>
              <a:rect l="0" t="0" r="0" b="0"/>
              <a:pathLst>
                <a:path w="720" h="192">
                  <a:moveTo>
                    <a:pt x="0" y="96"/>
                  </a:moveTo>
                  <a:cubicBezTo>
                    <a:pt x="68" y="48"/>
                    <a:pt x="136" y="0"/>
                    <a:pt x="192" y="0"/>
                  </a:cubicBezTo>
                  <a:cubicBezTo>
                    <a:pt x="248" y="0"/>
                    <a:pt x="280" y="64"/>
                    <a:pt x="336" y="96"/>
                  </a:cubicBezTo>
                  <a:cubicBezTo>
                    <a:pt x="392" y="128"/>
                    <a:pt x="464" y="192"/>
                    <a:pt x="528" y="192"/>
                  </a:cubicBezTo>
                  <a:cubicBezTo>
                    <a:pt x="592" y="192"/>
                    <a:pt x="656" y="144"/>
                    <a:pt x="720" y="96"/>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5336" name="直接连接符 38993"/>
            <p:cNvSpPr/>
            <p:nvPr/>
          </p:nvSpPr>
          <p:spPr>
            <a:xfrm>
              <a:off x="3696" y="528"/>
              <a:ext cx="720" cy="0"/>
            </a:xfrm>
            <a:prstGeom prst="line">
              <a:avLst/>
            </a:prstGeom>
            <a:ln w="19050" cap="flat" cmpd="sng">
              <a:solidFill>
                <a:schemeClr val="hlink"/>
              </a:solidFill>
              <a:prstDash val="solid"/>
              <a:headEnd type="none" w="med" len="med"/>
              <a:tailEnd type="none" w="med" len="med"/>
            </a:ln>
          </p:spPr>
        </p:sp>
      </p:grpSp>
      <p:grpSp>
        <p:nvGrpSpPr>
          <p:cNvPr id="38999" name="组合 38998"/>
          <p:cNvGrpSpPr/>
          <p:nvPr/>
        </p:nvGrpSpPr>
        <p:grpSpPr>
          <a:xfrm>
            <a:off x="7010400" y="4267200"/>
            <a:ext cx="2768600" cy="1752600"/>
            <a:chOff x="3456" y="2688"/>
            <a:chExt cx="1744" cy="1104"/>
          </a:xfrm>
        </p:grpSpPr>
        <p:grpSp>
          <p:nvGrpSpPr>
            <p:cNvPr id="55312" name="组合 38933"/>
            <p:cNvGrpSpPr/>
            <p:nvPr/>
          </p:nvGrpSpPr>
          <p:grpSpPr>
            <a:xfrm>
              <a:off x="3456" y="2688"/>
              <a:ext cx="1728" cy="1104"/>
              <a:chOff x="3888" y="1872"/>
              <a:chExt cx="1728" cy="1104"/>
            </a:xfrm>
          </p:grpSpPr>
          <p:grpSp>
            <p:nvGrpSpPr>
              <p:cNvPr id="55316" name="组合 38931"/>
              <p:cNvGrpSpPr/>
              <p:nvPr/>
            </p:nvGrpSpPr>
            <p:grpSpPr>
              <a:xfrm>
                <a:off x="3888" y="2064"/>
                <a:ext cx="1728" cy="912"/>
                <a:chOff x="3888" y="2496"/>
                <a:chExt cx="1728" cy="912"/>
              </a:xfrm>
            </p:grpSpPr>
            <p:sp>
              <p:nvSpPr>
                <p:cNvPr id="55318" name="直接连接符 38923"/>
                <p:cNvSpPr/>
                <p:nvPr/>
              </p:nvSpPr>
              <p:spPr>
                <a:xfrm>
                  <a:off x="3888" y="2688"/>
                  <a:ext cx="1728" cy="0"/>
                </a:xfrm>
                <a:prstGeom prst="line">
                  <a:avLst/>
                </a:prstGeom>
                <a:ln w="19050" cap="flat" cmpd="sng">
                  <a:solidFill>
                    <a:schemeClr val="hlink"/>
                  </a:solidFill>
                  <a:prstDash val="solid"/>
                  <a:headEnd type="none" w="med" len="med"/>
                  <a:tailEnd type="triangle" w="med" len="med"/>
                </a:ln>
              </p:spPr>
            </p:sp>
            <p:sp>
              <p:nvSpPr>
                <p:cNvPr id="55319" name="直接连接符 38924"/>
                <p:cNvSpPr/>
                <p:nvPr/>
              </p:nvSpPr>
              <p:spPr>
                <a:xfrm>
                  <a:off x="3984" y="2496"/>
                  <a:ext cx="0" cy="912"/>
                </a:xfrm>
                <a:prstGeom prst="line">
                  <a:avLst/>
                </a:prstGeom>
                <a:ln w="19050" cap="flat" cmpd="sng">
                  <a:solidFill>
                    <a:schemeClr val="hlink"/>
                  </a:solidFill>
                  <a:prstDash val="solid"/>
                  <a:headEnd type="triangle" w="med" len="med"/>
                  <a:tailEnd type="none" w="med" len="med"/>
                </a:ln>
              </p:spPr>
            </p:sp>
            <p:sp>
              <p:nvSpPr>
                <p:cNvPr id="55320" name="直接连接符 38926"/>
                <p:cNvSpPr/>
                <p:nvPr/>
              </p:nvSpPr>
              <p:spPr>
                <a:xfrm>
                  <a:off x="4304" y="2592"/>
                  <a:ext cx="0" cy="816"/>
                </a:xfrm>
                <a:prstGeom prst="line">
                  <a:avLst/>
                </a:prstGeom>
                <a:ln w="19050" cap="flat" cmpd="sng">
                  <a:solidFill>
                    <a:schemeClr val="hlink"/>
                  </a:solidFill>
                  <a:prstDash val="lgDash"/>
                  <a:headEnd type="none" w="med" len="med"/>
                  <a:tailEnd type="none" w="med" len="med"/>
                </a:ln>
              </p:spPr>
            </p:sp>
            <p:sp>
              <p:nvSpPr>
                <p:cNvPr id="55321" name="直接连接符 38927"/>
                <p:cNvSpPr/>
                <p:nvPr/>
              </p:nvSpPr>
              <p:spPr>
                <a:xfrm>
                  <a:off x="4624" y="2592"/>
                  <a:ext cx="0" cy="816"/>
                </a:xfrm>
                <a:prstGeom prst="line">
                  <a:avLst/>
                </a:prstGeom>
                <a:ln w="19050" cap="flat" cmpd="sng">
                  <a:solidFill>
                    <a:schemeClr val="hlink"/>
                  </a:solidFill>
                  <a:prstDash val="lgDash"/>
                  <a:headEnd type="none" w="med" len="med"/>
                  <a:tailEnd type="none" w="med" len="med"/>
                </a:ln>
              </p:spPr>
            </p:sp>
            <p:sp>
              <p:nvSpPr>
                <p:cNvPr id="55322" name="直接连接符 38928"/>
                <p:cNvSpPr/>
                <p:nvPr/>
              </p:nvSpPr>
              <p:spPr>
                <a:xfrm>
                  <a:off x="4944" y="2592"/>
                  <a:ext cx="0" cy="816"/>
                </a:xfrm>
                <a:prstGeom prst="line">
                  <a:avLst/>
                </a:prstGeom>
                <a:ln w="19050" cap="flat" cmpd="sng">
                  <a:solidFill>
                    <a:schemeClr val="hlink"/>
                  </a:solidFill>
                  <a:prstDash val="lgDash"/>
                  <a:headEnd type="none" w="med" len="med"/>
                  <a:tailEnd type="none" w="med" len="med"/>
                </a:ln>
              </p:spPr>
            </p:sp>
            <p:sp>
              <p:nvSpPr>
                <p:cNvPr id="55323" name="任意多边形 38929"/>
                <p:cNvSpPr/>
                <p:nvPr/>
              </p:nvSpPr>
              <p:spPr>
                <a:xfrm>
                  <a:off x="3984" y="2688"/>
                  <a:ext cx="624" cy="384"/>
                </a:xfrm>
                <a:custGeom>
                  <a:avLst/>
                  <a:gdLst/>
                  <a:ahLst/>
                  <a:cxnLst>
                    <a:cxn ang="0">
                      <a:pos x="0" y="0"/>
                    </a:cxn>
                    <a:cxn ang="0">
                      <a:pos x="336" y="384"/>
                    </a:cxn>
                    <a:cxn ang="0">
                      <a:pos x="624" y="192"/>
                    </a:cxn>
                  </a:cxnLst>
                  <a:rect l="0" t="0" r="0" b="0"/>
                  <a:pathLst>
                    <a:path w="624" h="384">
                      <a:moveTo>
                        <a:pt x="0" y="0"/>
                      </a:moveTo>
                      <a:lnTo>
                        <a:pt x="336" y="384"/>
                      </a:lnTo>
                      <a:lnTo>
                        <a:pt x="624" y="192"/>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sp>
              <p:nvSpPr>
                <p:cNvPr id="55324" name="任意多边形 38930"/>
                <p:cNvSpPr/>
                <p:nvPr/>
              </p:nvSpPr>
              <p:spPr>
                <a:xfrm>
                  <a:off x="4608" y="2880"/>
                  <a:ext cx="624" cy="384"/>
                </a:xfrm>
                <a:custGeom>
                  <a:avLst/>
                  <a:gdLst/>
                  <a:ahLst/>
                  <a:cxnLst>
                    <a:cxn ang="0">
                      <a:pos x="0" y="0"/>
                    </a:cxn>
                    <a:cxn ang="0">
                      <a:pos x="336" y="384"/>
                    </a:cxn>
                    <a:cxn ang="0">
                      <a:pos x="624" y="192"/>
                    </a:cxn>
                  </a:cxnLst>
                  <a:rect l="0" t="0" r="0" b="0"/>
                  <a:pathLst>
                    <a:path w="624" h="384">
                      <a:moveTo>
                        <a:pt x="0" y="0"/>
                      </a:moveTo>
                      <a:lnTo>
                        <a:pt x="336" y="384"/>
                      </a:lnTo>
                      <a:lnTo>
                        <a:pt x="624" y="192"/>
                      </a:lnTo>
                    </a:path>
                  </a:pathLst>
                </a:custGeom>
                <a:noFill/>
                <a:ln w="19050" cap="flat" cmpd="sng">
                  <a:solidFill>
                    <a:srgbClr val="009900">
                      <a:alpha val="100000"/>
                    </a:srgbClr>
                  </a:solidFill>
                  <a:prstDash val="solid"/>
                  <a:round/>
                  <a:headEnd type="none" w="med" len="med"/>
                  <a:tailEnd type="none" w="med" len="med"/>
                </a:ln>
              </p:spPr>
              <p:txBody>
                <a:bodyPr/>
                <a:lstStyle/>
                <a:p>
                  <a:endParaRPr lang="zh-CN" altLang="en-US"/>
                </a:p>
              </p:txBody>
            </p:sp>
          </p:grpSp>
          <p:sp>
            <p:nvSpPr>
              <p:cNvPr id="55317" name="矩形 38932"/>
              <p:cNvSpPr/>
              <p:nvPr/>
            </p:nvSpPr>
            <p:spPr>
              <a:xfrm>
                <a:off x="3999" y="1872"/>
                <a:ext cx="290" cy="290"/>
              </a:xfrm>
              <a:prstGeom prst="rect">
                <a:avLst/>
              </a:prstGeom>
              <a:noFill/>
              <a:ln w="19050">
                <a:noFill/>
              </a:ln>
            </p:spPr>
            <p:txBody>
              <a:bodyPr wrap="none">
                <a:spAutoFit/>
              </a:bodyPr>
              <a:lstStyle/>
              <a:p>
                <a:pPr eaLnBrk="1" hangingPunct="1"/>
                <a:r>
                  <a:rPr lang="en-US" altLang="zh-CN" sz="2400" i="1" dirty="0">
                    <a:latin typeface="Times New Roman" panose="02020603050405020304" pitchFamily="18" charset="0"/>
                    <a:ea typeface="宋体" panose="02010600030101010101" pitchFamily="2" charset="-122"/>
                  </a:rPr>
                  <a:t>v</a:t>
                </a:r>
                <a:r>
                  <a:rPr lang="en-US" altLang="zh-CN" sz="2400" baseline="-25000" dirty="0">
                    <a:latin typeface="Times New Roman" panose="02020603050405020304" pitchFamily="18" charset="0"/>
                    <a:ea typeface="宋体" panose="02010600030101010101" pitchFamily="2" charset="-122"/>
                  </a:rPr>
                  <a:t>O</a:t>
                </a:r>
              </a:p>
            </p:txBody>
          </p:sp>
        </p:grpSp>
        <p:sp>
          <p:nvSpPr>
            <p:cNvPr id="55313" name="矩形 38995"/>
            <p:cNvSpPr/>
            <p:nvPr/>
          </p:nvSpPr>
          <p:spPr>
            <a:xfrm>
              <a:off x="5040" y="3120"/>
              <a:ext cx="160"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p>
          </p:txBody>
        </p:sp>
        <p:sp>
          <p:nvSpPr>
            <p:cNvPr id="55314" name="矩形 38996"/>
            <p:cNvSpPr/>
            <p:nvPr/>
          </p:nvSpPr>
          <p:spPr>
            <a:xfrm>
              <a:off x="3574" y="3456"/>
              <a:ext cx="256"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r>
                <a:rPr lang="en-US" altLang="zh-CN" sz="2000" baseline="-25000" dirty="0">
                  <a:latin typeface="Times New Roman" panose="02020603050405020304" pitchFamily="18" charset="0"/>
                  <a:ea typeface="宋体" panose="02010600030101010101" pitchFamily="2" charset="-122"/>
                </a:rPr>
                <a:t>1</a:t>
              </a:r>
            </a:p>
          </p:txBody>
        </p:sp>
        <p:sp>
          <p:nvSpPr>
            <p:cNvPr id="55315" name="矩形 38997"/>
            <p:cNvSpPr/>
            <p:nvPr/>
          </p:nvSpPr>
          <p:spPr>
            <a:xfrm>
              <a:off x="3910" y="3456"/>
              <a:ext cx="256" cy="251"/>
            </a:xfrm>
            <a:prstGeom prst="rect">
              <a:avLst/>
            </a:prstGeom>
            <a:noFill/>
            <a:ln w="19050">
              <a:noFill/>
            </a:ln>
          </p:spPr>
          <p:txBody>
            <a:bodyPr wrap="none">
              <a:spAutoFit/>
            </a:bodyPr>
            <a:lstStyle/>
            <a:p>
              <a:pPr eaLnBrk="1" hangingPunct="1"/>
              <a:r>
                <a:rPr lang="en-US" altLang="zh-CN" sz="2000" i="1" dirty="0">
                  <a:latin typeface="Times New Roman" panose="02020603050405020304" pitchFamily="18" charset="0"/>
                  <a:ea typeface="宋体" panose="02010600030101010101" pitchFamily="2" charset="-122"/>
                </a:rPr>
                <a:t>T</a:t>
              </a:r>
              <a:r>
                <a:rPr lang="en-US" altLang="zh-CN" sz="2000" baseline="-25000" dirty="0">
                  <a:latin typeface="Times New Roman" panose="02020603050405020304" pitchFamily="18" charset="0"/>
                  <a:ea typeface="宋体" panose="02010600030101010101" pitchFamily="2" charset="-122"/>
                </a:rPr>
                <a:t>1</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animEffect transition="in" filter="wipe(left)">
                                      <p:cBhvr>
                                        <p:cTn id="7" dur="500"/>
                                        <p:tgtEl>
                                          <p:spTgt spid="389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5"/>
                                        </p:tgtEl>
                                        <p:attrNameLst>
                                          <p:attrName>style.visibility</p:attrName>
                                        </p:attrNameLst>
                                      </p:cBhvr>
                                      <p:to>
                                        <p:strVal val="visible"/>
                                      </p:to>
                                    </p:set>
                                    <p:animEffect transition="in" filter="wipe(left)">
                                      <p:cBhvr>
                                        <p:cTn id="12" dur="500"/>
                                        <p:tgtEl>
                                          <p:spTgt spid="389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8916"/>
                                        </p:tgtEl>
                                        <p:attrNameLst>
                                          <p:attrName>style.visibility</p:attrName>
                                        </p:attrNameLst>
                                      </p:cBhvr>
                                      <p:to>
                                        <p:strVal val="visible"/>
                                      </p:to>
                                    </p:set>
                                    <p:animEffect transition="in" filter="wipe(left)">
                                      <p:cBhvr>
                                        <p:cTn id="17" dur="500"/>
                                        <p:tgtEl>
                                          <p:spTgt spid="389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8917"/>
                                        </p:tgtEl>
                                        <p:attrNameLst>
                                          <p:attrName>style.visibility</p:attrName>
                                        </p:attrNameLst>
                                      </p:cBhvr>
                                      <p:to>
                                        <p:strVal val="visible"/>
                                      </p:to>
                                    </p:set>
                                    <p:animEffect transition="in" filter="wipe(left)">
                                      <p:cBhvr>
                                        <p:cTn id="22" dur="500"/>
                                        <p:tgtEl>
                                          <p:spTgt spid="389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8918"/>
                                        </p:tgtEl>
                                        <p:attrNameLst>
                                          <p:attrName>style.visibility</p:attrName>
                                        </p:attrNameLst>
                                      </p:cBhvr>
                                      <p:to>
                                        <p:strVal val="visible"/>
                                      </p:to>
                                    </p:set>
                                    <p:animEffect transition="in" filter="wipe(left)">
                                      <p:cBhvr>
                                        <p:cTn id="27" dur="500"/>
                                        <p:tgtEl>
                                          <p:spTgt spid="389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8995"/>
                                        </p:tgtEl>
                                        <p:attrNameLst>
                                          <p:attrName>style.visibility</p:attrName>
                                        </p:attrNameLst>
                                      </p:cBhvr>
                                      <p:to>
                                        <p:strVal val="visible"/>
                                      </p:to>
                                    </p:set>
                                    <p:animEffect transition="in" filter="wipe(left)">
                                      <p:cBhvr>
                                        <p:cTn id="32" dur="500"/>
                                        <p:tgtEl>
                                          <p:spTgt spid="3899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8919"/>
                                        </p:tgtEl>
                                        <p:attrNameLst>
                                          <p:attrName>style.visibility</p:attrName>
                                        </p:attrNameLst>
                                      </p:cBhvr>
                                      <p:to>
                                        <p:strVal val="visible"/>
                                      </p:to>
                                    </p:set>
                                    <p:animEffect transition="in" filter="wipe(left)">
                                      <p:cBhvr>
                                        <p:cTn id="37" dur="500"/>
                                        <p:tgtEl>
                                          <p:spTgt spid="389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8920"/>
                                        </p:tgtEl>
                                        <p:attrNameLst>
                                          <p:attrName>style.visibility</p:attrName>
                                        </p:attrNameLst>
                                      </p:cBhvr>
                                      <p:to>
                                        <p:strVal val="visible"/>
                                      </p:to>
                                    </p:set>
                                    <p:animEffect transition="in" filter="wipe(left)">
                                      <p:cBhvr>
                                        <p:cTn id="42" dur="500"/>
                                        <p:tgtEl>
                                          <p:spTgt spid="3892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8921"/>
                                        </p:tgtEl>
                                        <p:attrNameLst>
                                          <p:attrName>style.visibility</p:attrName>
                                        </p:attrNameLst>
                                      </p:cBhvr>
                                      <p:to>
                                        <p:strVal val="visible"/>
                                      </p:to>
                                    </p:set>
                                    <p:animEffect transition="in" filter="wipe(left)">
                                      <p:cBhvr>
                                        <p:cTn id="47" dur="500"/>
                                        <p:tgtEl>
                                          <p:spTgt spid="389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8922">
                                            <p:txEl>
                                              <p:pRg st="0" end="0"/>
                                            </p:txEl>
                                          </p:spTgt>
                                        </p:tgtEl>
                                        <p:attrNameLst>
                                          <p:attrName>style.visibility</p:attrName>
                                        </p:attrNameLst>
                                      </p:cBhvr>
                                      <p:to>
                                        <p:strVal val="visible"/>
                                      </p:to>
                                    </p:set>
                                    <p:animEffect transition="in" filter="wipe(left)">
                                      <p:cBhvr>
                                        <p:cTn id="52" dur="500"/>
                                        <p:tgtEl>
                                          <p:spTgt spid="3892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8923">
                                            <p:txEl>
                                              <p:pRg st="0" end="0"/>
                                            </p:txEl>
                                          </p:spTgt>
                                        </p:tgtEl>
                                        <p:attrNameLst>
                                          <p:attrName>style.visibility</p:attrName>
                                        </p:attrNameLst>
                                      </p:cBhvr>
                                      <p:to>
                                        <p:strVal val="visible"/>
                                      </p:to>
                                    </p:set>
                                    <p:animEffect transition="in" filter="wipe(left)">
                                      <p:cBhvr>
                                        <p:cTn id="57" dur="500"/>
                                        <p:tgtEl>
                                          <p:spTgt spid="3892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8999"/>
                                        </p:tgtEl>
                                        <p:attrNameLst>
                                          <p:attrName>style.visibility</p:attrName>
                                        </p:attrNameLst>
                                      </p:cBhvr>
                                      <p:to>
                                        <p:strVal val="visible"/>
                                      </p:to>
                                    </p:set>
                                    <p:animEffect transition="in" filter="wipe(left)">
                                      <p:cBhvr>
                                        <p:cTn id="62" dur="500"/>
                                        <p:tgtEl>
                                          <p:spTgt spid="38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P spid="38915" grpId="0" bldLvl="0" animBg="1"/>
      <p:bldP spid="38916" grpId="0" bldLvl="0" animBg="1"/>
      <p:bldP spid="38917" grpId="0" bldLvl="0" animBg="1"/>
      <p:bldP spid="38918" grpId="0" bldLvl="0" animBg="1"/>
      <p:bldP spid="38919" grpId="0" bldLvl="0" animBg="1"/>
      <p:bldP spid="38920" grpId="0" bldLvl="0" animBg="1"/>
      <p:bldP spid="38921" grpId="0" bldLvl="0" animBg="1"/>
      <p:bldP spid="38922" grpId="0" build="p"/>
      <p:bldP spid="38923" grpId="0" build="p"/>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11091</Words>
  <Application>Microsoft Office PowerPoint</Application>
  <PresentationFormat>宽屏</PresentationFormat>
  <Paragraphs>1772</Paragraphs>
  <Slides>81</Slides>
  <Notes>50</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9</vt:i4>
      </vt:variant>
      <vt:variant>
        <vt:lpstr>幻灯片标题</vt:lpstr>
      </vt:variant>
      <vt:variant>
        <vt:i4>81</vt:i4>
      </vt:variant>
    </vt:vector>
  </HeadingPairs>
  <TitlesOfParts>
    <vt:vector size="114" baseType="lpstr">
      <vt:lpstr>Gulim</vt:lpstr>
      <vt:lpstr>맑은 고딕</vt:lpstr>
      <vt:lpstr>等线</vt:lpstr>
      <vt:lpstr>等线 Light</vt:lpstr>
      <vt:lpstr>黑体</vt:lpstr>
      <vt:lpstr>华康简宋</vt:lpstr>
      <vt:lpstr>华文行楷</vt:lpstr>
      <vt:lpstr>华文楷体</vt:lpstr>
      <vt:lpstr>华文新魏</vt:lpstr>
      <vt:lpstr>楷体</vt:lpstr>
      <vt:lpstr>楷体_GB2312</vt:lpstr>
      <vt:lpstr>隶书</vt:lpstr>
      <vt:lpstr>宋体</vt:lpstr>
      <vt:lpstr>宋体-18030</vt:lpstr>
      <vt:lpstr>幼圆</vt:lpstr>
      <vt:lpstr>Arial</vt:lpstr>
      <vt:lpstr>Arial Narrow</vt:lpstr>
      <vt:lpstr>Lucida Sans Unicode</vt:lpstr>
      <vt:lpstr>Tahoma</vt:lpstr>
      <vt:lpstr>Times New Roman</vt:lpstr>
      <vt:lpstr>Verdana</vt:lpstr>
      <vt:lpstr>Wingdings</vt:lpstr>
      <vt:lpstr>Wingdings 2</vt:lpstr>
      <vt:lpstr>Office 主题​​</vt:lpstr>
      <vt:lpstr>图片</vt:lpstr>
      <vt:lpstr>Bitmap Image</vt:lpstr>
      <vt:lpstr>Equation.3</vt:lpstr>
      <vt:lpstr>Microsoft Word 97 - 2003 文档</vt:lpstr>
      <vt:lpstr>公式</vt:lpstr>
      <vt:lpstr>Microsoft Word Picture</vt:lpstr>
      <vt:lpstr>Document</vt:lpstr>
      <vt:lpstr>Equation</vt:lpstr>
      <vt:lpstr>位图图像</vt:lpstr>
      <vt:lpstr>2026年数字系统设计</vt:lpstr>
      <vt:lpstr>逻辑代数基础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6.2.6  奇偶校验器</vt:lpstr>
      <vt:lpstr>4位奇偶校验器</vt:lpstr>
      <vt:lpstr>“模2加”运算</vt:lpstr>
      <vt:lpstr>8位奇偶校验器</vt:lpstr>
      <vt:lpstr>集成8位奇偶校验器/产生器（74180）</vt:lpstr>
      <vt:lpstr>奇偶校验系统</vt:lpstr>
      <vt:lpstr>奇偶校验系统的工作原理</vt:lpstr>
      <vt:lpstr>奇偶校验器（74180）的HDL设计</vt:lpstr>
      <vt:lpstr>74180的Verilog HDL源程序（1/2）</vt:lpstr>
      <vt:lpstr>74180的Verilog HDL源程序（2/2）</vt:lpstr>
      <vt:lpstr>6.3.3  钟控JK触发器</vt:lpstr>
      <vt:lpstr>6.3.4  钟控T触发器</vt:lpstr>
      <vt:lpstr>钟控T触发器的逻辑功能表示</vt:lpstr>
      <vt:lpstr>钟控T触发器的HDL设计</vt:lpstr>
      <vt:lpstr>  钟控D触发器（D锁存器）</vt:lpstr>
      <vt:lpstr>钟控D触发器的逻辑功能表示</vt:lpstr>
      <vt:lpstr>钟控D触发器又称为D锁存器</vt:lpstr>
      <vt:lpstr>（集成）D触发器的特点</vt:lpstr>
      <vt:lpstr>D锁存器的HDL设计</vt:lpstr>
      <vt:lpstr>7.3.3  钟控JK触发器</vt:lpstr>
      <vt:lpstr>7.2.1  有限状态机概述</vt:lpstr>
      <vt:lpstr>有限状态机的分类</vt:lpstr>
      <vt:lpstr>有限状态机的表示方法</vt:lpstr>
      <vt:lpstr>有限状态机的设计方法</vt:lpstr>
      <vt:lpstr>状态机的设计要点</vt:lpstr>
      <vt:lpstr>对8个状态三种编码方式的对比</vt:lpstr>
      <vt:lpstr>状态编码的HDL定义</vt:lpstr>
      <vt:lpstr>状态转换的描述</vt:lpstr>
      <vt:lpstr>有限状态机的描述风格（1/3）</vt:lpstr>
      <vt:lpstr>有限状态机的描述风格（2/3）</vt:lpstr>
      <vt:lpstr>有限状态机的描述风格（3/3）</vt:lpstr>
      <vt:lpstr>7.2.2  Moore型有限状态机</vt:lpstr>
      <vt:lpstr>Moore型有限状态机设计举例1</vt:lpstr>
      <vt:lpstr>第2步：画出状态图</vt:lpstr>
      <vt:lpstr>第3步：用Verilog语言描述状态机</vt:lpstr>
      <vt:lpstr>序列检测器源程序（ Moore型状态机）</vt:lpstr>
      <vt:lpstr>状态机的输出信号描述 </vt:lpstr>
      <vt:lpstr>7.2.3  Mealy型有限状态机</vt:lpstr>
      <vt:lpstr>序列检测器的Mealy型有限状态机状态图</vt:lpstr>
      <vt:lpstr>序列检测器源程序（Mealy型状态机）</vt:lpstr>
      <vt:lpstr>序列检测器源程序及仿真波形</vt:lpstr>
      <vt:lpstr>同步计数器的分析方法</vt:lpstr>
      <vt:lpstr>状态转换表</vt:lpstr>
      <vt:lpstr>状态转换图和时序图</vt:lpstr>
      <vt:lpstr>电路功能</vt:lpstr>
      <vt:lpstr>【例8.13】同步计数器的分析</vt:lpstr>
      <vt:lpstr>状态转换表</vt:lpstr>
      <vt:lpstr>状态转换图和时序图</vt:lpstr>
      <vt:lpstr>【例8.4】 1K×4位 SRAM 扩展为4K×8位存储器</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2026年数字系统设计</dc:title>
  <dc:creator>hong mu</dc:creator>
  <cp:lastModifiedBy>User</cp:lastModifiedBy>
  <cp:revision>20</cp:revision>
  <dcterms:created xsi:type="dcterms:W3CDTF">2024-06-11T12:40:00Z</dcterms:created>
  <dcterms:modified xsi:type="dcterms:W3CDTF">2026-06-04T05:23:18Z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FBD32A47847A42BDB20A3FDB7DE8E002_12</vt:lpwstr>
  </property>
  <property fmtid="{D5CDD505-2E9C-101B-9397-08002B2CF9AE}" pid="3" name="KSOProductBuildVer">
    <vt:lpwstr>2052-12.1.0.26375</vt:lpwstr>
  </property>
</Properties>
</file>